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30"/>
  </p:handoutMasterIdLst>
  <p:sldIdLst>
    <p:sldId id="257" r:id="rId2"/>
    <p:sldId id="258" r:id="rId3"/>
    <p:sldId id="284" r:id="rId4"/>
    <p:sldId id="283" r:id="rId5"/>
    <p:sldId id="282" r:id="rId6"/>
    <p:sldId id="259" r:id="rId7"/>
    <p:sldId id="260" r:id="rId8"/>
    <p:sldId id="261" r:id="rId9"/>
    <p:sldId id="277" r:id="rId10"/>
    <p:sldId id="278" r:id="rId11"/>
    <p:sldId id="262" r:id="rId12"/>
    <p:sldId id="263" r:id="rId13"/>
    <p:sldId id="285" r:id="rId14"/>
    <p:sldId id="275" r:id="rId15"/>
    <p:sldId id="276" r:id="rId16"/>
    <p:sldId id="266" r:id="rId17"/>
    <p:sldId id="267" r:id="rId18"/>
    <p:sldId id="268" r:id="rId19"/>
    <p:sldId id="286" r:id="rId20"/>
    <p:sldId id="279" r:id="rId21"/>
    <p:sldId id="280" r:id="rId22"/>
    <p:sldId id="281" r:id="rId23"/>
    <p:sldId id="270" r:id="rId24"/>
    <p:sldId id="271" r:id="rId25"/>
    <p:sldId id="273" r:id="rId26"/>
    <p:sldId id="274" r:id="rId27"/>
    <p:sldId id="272" r:id="rId28"/>
    <p:sldId id="269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maheshkumarsg1/few-shot-prompting-and-chain-of-thought-prompting-462201ab60ff" TargetMode="External"/><Relationship Id="rId2" Type="http://schemas.openxmlformats.org/officeDocument/2006/relationships/hyperlink" Target="https://www.prompthub.us/blog/chain-of-thought-prompting-guide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CC5AA4-1E9C-99DC-AFA2-54F7AD62956A}"/>
              </a:ext>
            </a:extLst>
          </p:cNvPr>
          <p:cNvSpPr txBox="1"/>
          <p:nvPr/>
        </p:nvSpPr>
        <p:spPr>
          <a:xfrm>
            <a:off x="694944" y="789813"/>
            <a:ext cx="9637776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 Engineering</a:t>
            </a:r>
          </a:p>
          <a:p>
            <a:pPr algn="ctr"/>
            <a:r>
              <a:rPr lang="en-US" sz="4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Techniques</a:t>
            </a:r>
          </a:p>
          <a:p>
            <a:pPr algn="ctr"/>
            <a:endParaRPr lang="en-US" sz="4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algn="ctr"/>
            <a:r>
              <a:rPr lang="en-US" sz="4000" kern="10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Zero Shot Prompting</a:t>
            </a:r>
          </a:p>
          <a:p>
            <a:pPr algn="ctr"/>
            <a:r>
              <a:rPr lang="en-US" sz="4000" kern="10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One Shot Prompting</a:t>
            </a:r>
          </a:p>
          <a:p>
            <a:pPr algn="ctr"/>
            <a:r>
              <a:rPr lang="en-US" sz="4000" kern="10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Few-Shot Prompting</a:t>
            </a:r>
          </a:p>
          <a:p>
            <a:pPr algn="ctr"/>
            <a:r>
              <a:rPr lang="en-US" sz="4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Chain-of-Thought (CoT) Prompting</a:t>
            </a:r>
          </a:p>
          <a:p>
            <a:pPr algn="ctr"/>
            <a:r>
              <a:rPr lang="en-US" sz="4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Role Prompting</a:t>
            </a: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C4EE4-7CB9-DC2F-6583-CEFEBED4E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14C9829-382A-0F6F-8B3B-24AFC3195283}"/>
              </a:ext>
            </a:extLst>
          </p:cNvPr>
          <p:cNvSpPr txBox="1"/>
          <p:nvPr/>
        </p:nvSpPr>
        <p:spPr>
          <a:xfrm>
            <a:off x="658368" y="1849088"/>
            <a:ext cx="9144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Zero-Shot Prompting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a prompting technique where you ask an AI model to perform a task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without providing any examples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of how to do it.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model relies entirely on its pre-trained knowledge and the instructions in your prompt.</a:t>
            </a:r>
          </a:p>
        </p:txBody>
      </p:sp>
    </p:spTree>
    <p:extLst>
      <p:ext uri="{BB962C8B-B14F-4D97-AF65-F5344CB8AC3E}">
        <p14:creationId xmlns:p14="http://schemas.microsoft.com/office/powerpoint/2010/main" val="3227882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2ECF2-ACF4-E7A8-9BC1-36135A3D0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4FE8FD8-5CB6-21EB-F899-B8C08E8B2C81}"/>
              </a:ext>
            </a:extLst>
          </p:cNvPr>
          <p:cNvSpPr txBox="1"/>
          <p:nvPr/>
        </p:nvSpPr>
        <p:spPr>
          <a:xfrm>
            <a:off x="393192" y="166592"/>
            <a:ext cx="45079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Zero-Shot Prompting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2287A0-895D-9613-E92C-9F5C53A16290}"/>
              </a:ext>
            </a:extLst>
          </p:cNvPr>
          <p:cNvSpPr txBox="1"/>
          <p:nvPr/>
        </p:nvSpPr>
        <p:spPr>
          <a:xfrm>
            <a:off x="228600" y="1158609"/>
            <a:ext cx="1067562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Prompt:</a:t>
            </a:r>
          </a:p>
          <a:p>
            <a:r>
              <a:rPr lang="en-US" sz="2400" dirty="0">
                <a:solidFill>
                  <a:srgbClr val="FFC000"/>
                </a:solidFill>
              </a:rPr>
              <a:t>Classify the sentiment of the following review as Positive, Negative, or Neutral.</a:t>
            </a:r>
          </a:p>
          <a:p>
            <a:endParaRPr lang="en-US" sz="2400" dirty="0">
              <a:solidFill>
                <a:srgbClr val="FFC000"/>
              </a:solidFill>
            </a:endParaRPr>
          </a:p>
          <a:p>
            <a:r>
              <a:rPr lang="en-US" sz="2400" dirty="0">
                <a:solidFill>
                  <a:srgbClr val="FFC000"/>
                </a:solidFill>
              </a:rPr>
              <a:t>Review:</a:t>
            </a:r>
          </a:p>
          <a:p>
            <a:r>
              <a:rPr lang="en-US" sz="2400" dirty="0">
                <a:solidFill>
                  <a:srgbClr val="FFC000"/>
                </a:solidFill>
              </a:rPr>
              <a:t>"The food was delicious and the service was excellent."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3ADF30-9968-0B0A-63EB-139621A1CD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8765" y="3429000"/>
            <a:ext cx="7234236" cy="3388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33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0B75D-3B28-6B06-5E6D-D625B7070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2EBE96A-3383-D60F-7EDB-0F63529F0430}"/>
              </a:ext>
            </a:extLst>
          </p:cNvPr>
          <p:cNvSpPr txBox="1"/>
          <p:nvPr/>
        </p:nvSpPr>
        <p:spPr>
          <a:xfrm>
            <a:off x="274320" y="139160"/>
            <a:ext cx="9144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One-Shot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One example provided.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A563EB-64AA-5A3B-92B3-8A0D140B0DBD}"/>
              </a:ext>
            </a:extLst>
          </p:cNvPr>
          <p:cNvSpPr txBox="1"/>
          <p:nvPr/>
        </p:nvSpPr>
        <p:spPr>
          <a:xfrm>
            <a:off x="274320" y="1190720"/>
            <a:ext cx="1067562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Prompt:</a:t>
            </a:r>
          </a:p>
          <a:p>
            <a:r>
              <a:rPr lang="en-US" sz="2400" dirty="0">
                <a:solidFill>
                  <a:srgbClr val="FFC000"/>
                </a:solidFill>
              </a:rPr>
              <a:t>Example:</a:t>
            </a:r>
          </a:p>
          <a:p>
            <a:r>
              <a:rPr lang="en-US" sz="2400" dirty="0">
                <a:solidFill>
                  <a:srgbClr val="FFC000"/>
                </a:solidFill>
              </a:rPr>
              <a:t>Statement: "John lives in Tokyo."</a:t>
            </a:r>
          </a:p>
          <a:p>
            <a:r>
              <a:rPr lang="en-US" sz="2400" dirty="0">
                <a:solidFill>
                  <a:srgbClr val="FFC000"/>
                </a:solidFill>
              </a:rPr>
              <a:t>Question: "Where does John live?"</a:t>
            </a:r>
          </a:p>
          <a:p>
            <a:endParaRPr lang="en-US" sz="2400" dirty="0">
              <a:solidFill>
                <a:srgbClr val="FFC000"/>
              </a:solidFill>
            </a:endParaRPr>
          </a:p>
          <a:p>
            <a:r>
              <a:rPr lang="en-US" sz="2400" dirty="0">
                <a:solidFill>
                  <a:srgbClr val="FFC000"/>
                </a:solidFill>
              </a:rPr>
              <a:t>Statement: "The meeting starts at 10 AM."</a:t>
            </a:r>
          </a:p>
          <a:p>
            <a:r>
              <a:rPr lang="en-US" sz="2400" dirty="0">
                <a:solidFill>
                  <a:srgbClr val="FFC000"/>
                </a:solidFill>
              </a:rPr>
              <a:t>Question: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662B86-F5C5-E47C-3384-4F8FF377E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8833" y="3941900"/>
            <a:ext cx="7306823" cy="2776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9090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23E5B-B170-ECBE-7FB4-24309B462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47AD98B-2034-3D00-BCB8-55FB1593441A}"/>
              </a:ext>
            </a:extLst>
          </p:cNvPr>
          <p:cNvSpPr txBox="1"/>
          <p:nvPr/>
        </p:nvSpPr>
        <p:spPr>
          <a:xfrm>
            <a:off x="705612" y="1958794"/>
            <a:ext cx="10780776" cy="19715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400" b="1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3. Few-Shot Prompting – Giving Examples to Set Patterns</a:t>
            </a:r>
            <a:endParaRPr lang="en-US" sz="2400" kern="100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endParaRPr lang="en-US" sz="2400" kern="100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400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 this technique we provide </a:t>
            </a:r>
            <a:r>
              <a:rPr lang="en-US" sz="2400" b="1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few examples</a:t>
            </a:r>
            <a:r>
              <a:rPr lang="en-US" sz="2400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to the AI before asking it to perform a task. </a:t>
            </a:r>
          </a:p>
        </p:txBody>
      </p:sp>
    </p:spTree>
    <p:extLst>
      <p:ext uri="{BB962C8B-B14F-4D97-AF65-F5344CB8AC3E}">
        <p14:creationId xmlns:p14="http://schemas.microsoft.com/office/powerpoint/2010/main" val="36413276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C0A6F-D909-5B84-1C71-49704119C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1333E31-0DC4-A0DE-B446-20AB4F3518FC}"/>
              </a:ext>
            </a:extLst>
          </p:cNvPr>
          <p:cNvSpPr txBox="1"/>
          <p:nvPr/>
        </p:nvSpPr>
        <p:spPr>
          <a:xfrm>
            <a:off x="658368" y="1657042"/>
            <a:ext cx="4736592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Few-Shot Prompting Works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prompt usually contains:</a:t>
            </a:r>
          </a:p>
          <a:p>
            <a:pPr lvl="0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Inputs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Outputs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New Input for AI to solve</a:t>
            </a:r>
          </a:p>
        </p:txBody>
      </p:sp>
    </p:spTree>
    <p:extLst>
      <p:ext uri="{BB962C8B-B14F-4D97-AF65-F5344CB8AC3E}">
        <p14:creationId xmlns:p14="http://schemas.microsoft.com/office/powerpoint/2010/main" val="20798624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F0C6E-6928-C400-D97B-BE4331479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CEE7EA1-24A8-21FF-74C3-7B1C9CE17E95}"/>
              </a:ext>
            </a:extLst>
          </p:cNvPr>
          <p:cNvSpPr txBox="1"/>
          <p:nvPr/>
        </p:nvSpPr>
        <p:spPr>
          <a:xfrm>
            <a:off x="365760" y="413458"/>
            <a:ext cx="11759184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Without Few-Shot Prompting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Prompt: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Convert the sentence into a positive sentiment.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"I hate rainy days.“</a:t>
            </a:r>
          </a:p>
          <a:p>
            <a:endParaRPr lang="en-US" sz="2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 from run1 -&gt; "I enjoy the calm and refreshing atmosphere that rainy days bring”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 from run2 -&gt; "I love sunny days." (Alternatively: "I love rainy days.")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output may vary and may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not follow consistent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structure.</a:t>
            </a:r>
          </a:p>
        </p:txBody>
      </p:sp>
    </p:spTree>
    <p:extLst>
      <p:ext uri="{BB962C8B-B14F-4D97-AF65-F5344CB8AC3E}">
        <p14:creationId xmlns:p14="http://schemas.microsoft.com/office/powerpoint/2010/main" val="34159910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9AE34-5ADF-406F-9263-FC242ED45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9293096-147D-9C1F-22BB-D0A06255A9D0}"/>
              </a:ext>
            </a:extLst>
          </p:cNvPr>
          <p:cNvSpPr txBox="1"/>
          <p:nvPr/>
        </p:nvSpPr>
        <p:spPr>
          <a:xfrm>
            <a:off x="137234" y="0"/>
            <a:ext cx="7900416" cy="6801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With Few-Shot Prompting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Prompt:</a:t>
            </a:r>
          </a:p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Convert sentences into positive sentiment.</a:t>
            </a:r>
          </a:p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 </a:t>
            </a:r>
          </a:p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Example 1:</a:t>
            </a:r>
          </a:p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Input: I hate waking up early.</a:t>
            </a:r>
          </a:p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Output: Waking up early helps me stay productive.</a:t>
            </a:r>
          </a:p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 </a:t>
            </a:r>
          </a:p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Example 2:</a:t>
            </a:r>
          </a:p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Input: I dislike travelling.</a:t>
            </a:r>
          </a:p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Output: Traveling gives me time to listen to music.</a:t>
            </a:r>
          </a:p>
          <a:p>
            <a:endParaRPr lang="en-US" sz="2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Example 3:</a:t>
            </a:r>
          </a:p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Input: I dislike waking up early</a:t>
            </a:r>
          </a:p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Output: Waking up early makes my day longer and exciting </a:t>
            </a:r>
          </a:p>
          <a:p>
            <a:endParaRPr lang="en-US" sz="2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Now convert:</a:t>
            </a:r>
          </a:p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Input: I hate rainy days.</a:t>
            </a:r>
          </a:p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Output: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is now more likely to follow the pattern.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59D6EE-B514-5C7D-4A39-F0A60F9360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800" y="5769864"/>
            <a:ext cx="6602207" cy="4509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44B484-5DC8-422F-916E-AE18911987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6633" y="89681"/>
            <a:ext cx="5439534" cy="5028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80490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DF787-DC16-D58B-A611-151645A7F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6AE7996-6609-A283-5CAE-229A6D451206}"/>
              </a:ext>
            </a:extLst>
          </p:cNvPr>
          <p:cNvSpPr txBox="1"/>
          <p:nvPr/>
        </p:nvSpPr>
        <p:spPr>
          <a:xfrm>
            <a:off x="594360" y="312874"/>
            <a:ext cx="10780776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: With Few-Shot Prompting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Prompt: 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Categorize the sentiment of customer reviews based on the examples below.</a:t>
            </a:r>
          </a:p>
          <a:p>
            <a:endParaRPr lang="en-US" sz="2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Review: The interface is confusing and slow.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Sentiment: Negative</a:t>
            </a:r>
          </a:p>
          <a:p>
            <a:endParaRPr lang="en-US" sz="2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Review: I absolutely love the new design, it's so sleek!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Sentiment: Positive</a:t>
            </a:r>
          </a:p>
          <a:p>
            <a:endParaRPr lang="en-US" sz="2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Review: It arrived on time and works as expected.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Sentiment: Neutral</a:t>
            </a:r>
          </a:p>
          <a:p>
            <a:endParaRPr lang="en-US" sz="2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Review: The battery life is terrible.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Sentiment:</a:t>
            </a:r>
          </a:p>
        </p:txBody>
      </p:sp>
    </p:spTree>
    <p:extLst>
      <p:ext uri="{BB962C8B-B14F-4D97-AF65-F5344CB8AC3E}">
        <p14:creationId xmlns:p14="http://schemas.microsoft.com/office/powerpoint/2010/main" val="36874735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84F60-1B89-663F-CB41-28A110581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6BAB9E-DD48-63FD-FB9C-C9D3EDE2AB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6249" y="173863"/>
            <a:ext cx="5220429" cy="36390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3073980-98D5-4AC6-0139-D0BFC81A72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7037" y="4566647"/>
            <a:ext cx="924054" cy="266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84919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EE8FD-19B3-8712-8149-244445476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9549B8E-0FAD-4816-01A2-28222DCC5CB1}"/>
              </a:ext>
            </a:extLst>
          </p:cNvPr>
          <p:cNvSpPr txBox="1"/>
          <p:nvPr/>
        </p:nvSpPr>
        <p:spPr>
          <a:xfrm>
            <a:off x="493776" y="1785058"/>
            <a:ext cx="1078077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Few-Shot Prompting is Important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models learn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patterns very effectively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When we provide examples:</a:t>
            </a:r>
          </a:p>
          <a:p>
            <a:pPr lvl="0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understands formatting better: AI adapts to specific styles or formats or tones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produces more accurate responses</a:t>
            </a:r>
          </a:p>
        </p:txBody>
      </p:sp>
    </p:spTree>
    <p:extLst>
      <p:ext uri="{BB962C8B-B14F-4D97-AF65-F5344CB8AC3E}">
        <p14:creationId xmlns:p14="http://schemas.microsoft.com/office/powerpoint/2010/main" val="4978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9A02F-A3ED-C438-623D-4A48D2AF0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D006E6F-1F15-33BC-3C50-65F78C977C21}"/>
              </a:ext>
            </a:extLst>
          </p:cNvPr>
          <p:cNvSpPr txBox="1"/>
          <p:nvPr/>
        </p:nvSpPr>
        <p:spPr>
          <a:xfrm>
            <a:off x="91440" y="2708602"/>
            <a:ext cx="117134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Chain-of-Thought (CoT) Prompting</a:t>
            </a:r>
          </a:p>
        </p:txBody>
      </p:sp>
    </p:spTree>
    <p:extLst>
      <p:ext uri="{BB962C8B-B14F-4D97-AF65-F5344CB8AC3E}">
        <p14:creationId xmlns:p14="http://schemas.microsoft.com/office/powerpoint/2010/main" val="37448976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DC248-CCF1-96C3-CF58-F3EEC6093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4F24D1F-70F7-786E-1E0E-20A7392E3C9D}"/>
              </a:ext>
            </a:extLst>
          </p:cNvPr>
          <p:cNvSpPr txBox="1"/>
          <p:nvPr/>
        </p:nvSpPr>
        <p:spPr>
          <a:xfrm>
            <a:off x="182880" y="312874"/>
            <a:ext cx="1171346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Chain-of-Thought (CoT) Prompting – Making AI Show Its Reasoning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Chain-of-Thought Prompting?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Chain-of-Thought Prompting is a technique where we ask AI to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explain its reasoning step-by-step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before giving the final answer.</a:t>
            </a:r>
          </a:p>
        </p:txBody>
      </p:sp>
    </p:spTree>
    <p:extLst>
      <p:ext uri="{BB962C8B-B14F-4D97-AF65-F5344CB8AC3E}">
        <p14:creationId xmlns:p14="http://schemas.microsoft.com/office/powerpoint/2010/main" val="26385539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AD66E-4735-F0B2-FD16-5C2E583EF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E8A084-C1C2-60E7-9A69-234F3B4E8DF9}"/>
              </a:ext>
            </a:extLst>
          </p:cNvPr>
          <p:cNvSpPr txBox="1"/>
          <p:nvPr/>
        </p:nvSpPr>
        <p:spPr>
          <a:xfrm>
            <a:off x="182880" y="312874"/>
            <a:ext cx="1171346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With Chain-of-Thought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Without COT Prompt: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"I have 10 apples. I give 2 to a neighbor and 2 to a repairman. Then I buy 5 more and eat 1. How many do I have left?“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Typical AI Response: "You have 11 apples." (Incorrect; often occurs when models skip steps) </a:t>
            </a:r>
          </a:p>
        </p:txBody>
      </p:sp>
    </p:spTree>
    <p:extLst>
      <p:ext uri="{BB962C8B-B14F-4D97-AF65-F5344CB8AC3E}">
        <p14:creationId xmlns:p14="http://schemas.microsoft.com/office/powerpoint/2010/main" val="17052167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828E2-B714-E3DC-B4B9-C5A276C32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7F0E350-AE08-2071-0515-5F146B18A8FD}"/>
              </a:ext>
            </a:extLst>
          </p:cNvPr>
          <p:cNvSpPr txBox="1"/>
          <p:nvPr/>
        </p:nvSpPr>
        <p:spPr>
          <a:xfrm>
            <a:off x="182880" y="312874"/>
            <a:ext cx="4956048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With Chain-of-Thought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With COT Prompt: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You are math instructor.</a:t>
            </a:r>
            <a:r>
              <a:rPr lang="en-US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Solve following math problem </a:t>
            </a:r>
            <a:r>
              <a:rPr lang="en-US" sz="2400" b="1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step by step. Show me the reasoning:</a:t>
            </a:r>
          </a:p>
          <a:p>
            <a:endParaRPr lang="en-US" sz="2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 have 10 apples. I give 2 to a neighbor and 2 to a repairman. Then I buy 5 more and eat 1. </a:t>
            </a:r>
          </a:p>
          <a:p>
            <a:endParaRPr lang="en-US" sz="2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How many do I have left?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3017B84-9ED9-1E5E-521F-50C7D8F580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6721" y="0"/>
            <a:ext cx="5005935" cy="6720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19013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0DAB8-1196-1DFF-6862-48D6BE6CB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CD6C9A4-7859-7A75-4849-6F8954B1F027}"/>
              </a:ext>
            </a:extLst>
          </p:cNvPr>
          <p:cNvSpPr txBox="1"/>
          <p:nvPr/>
        </p:nvSpPr>
        <p:spPr>
          <a:xfrm>
            <a:off x="182880" y="312874"/>
            <a:ext cx="1171346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Powerful CoT Keywords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can force reasoning by adding phrases such as: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Explain step-by-step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”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“Show your reasoning”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“Break the solution into steps”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“Think through the problem logically”</a:t>
            </a:r>
          </a:p>
        </p:txBody>
      </p:sp>
    </p:spTree>
    <p:extLst>
      <p:ext uri="{BB962C8B-B14F-4D97-AF65-F5344CB8AC3E}">
        <p14:creationId xmlns:p14="http://schemas.microsoft.com/office/powerpoint/2010/main" val="38763797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A783B-65B3-6866-9AF7-68A45701C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2F85767-73F3-0B96-45CC-9276F994B9A3}"/>
              </a:ext>
            </a:extLst>
          </p:cNvPr>
          <p:cNvSpPr txBox="1"/>
          <p:nvPr/>
        </p:nvSpPr>
        <p:spPr>
          <a:xfrm>
            <a:off x="182880" y="312874"/>
            <a:ext cx="11713464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Chain-of-Thought Prompting is Important ?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Normally, AI may jump directly to an answer.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we ask AI to show steps: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Errors reduce significantly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Reasoning becomes transparent and Output becomes more reliable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Complex tasks become easier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lvl="0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method improves accuracy, especially in: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Logical problems: Coding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Mathematical calculations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Complex reasoning tasks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Decision making and Data analysis</a:t>
            </a:r>
          </a:p>
        </p:txBody>
      </p:sp>
    </p:spTree>
    <p:extLst>
      <p:ext uri="{BB962C8B-B14F-4D97-AF65-F5344CB8AC3E}">
        <p14:creationId xmlns:p14="http://schemas.microsoft.com/office/powerpoint/2010/main" val="40250505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4B431-DB2B-494E-CD62-A786A1262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059FA9C-6DE1-4803-908E-DEA31C7422B5}"/>
              </a:ext>
            </a:extLst>
          </p:cNvPr>
          <p:cNvSpPr txBox="1"/>
          <p:nvPr/>
        </p:nvSpPr>
        <p:spPr>
          <a:xfrm>
            <a:off x="356616" y="2059378"/>
            <a:ext cx="1171346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Role Prompting</a:t>
            </a:r>
            <a:endParaRPr lang="en-US" sz="72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87378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40065-0EF3-25AD-A60E-DF3C28C6B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B388673-288B-194D-125B-54439427A58A}"/>
              </a:ext>
            </a:extLst>
          </p:cNvPr>
          <p:cNvSpPr txBox="1"/>
          <p:nvPr/>
        </p:nvSpPr>
        <p:spPr>
          <a:xfrm>
            <a:off x="182880" y="312874"/>
            <a:ext cx="1171346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Role Prompting – Assigning AI a Professional Identity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Role Prompting?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Role Prompting is a technique where we assign AI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specific role, profession, or expertise level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before asking it to perform a task.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C335AA-6FA9-9373-E0F6-618C3920D176}"/>
              </a:ext>
            </a:extLst>
          </p:cNvPr>
          <p:cNvSpPr txBox="1"/>
          <p:nvPr/>
        </p:nvSpPr>
        <p:spPr>
          <a:xfrm>
            <a:off x="182880" y="2544474"/>
            <a:ext cx="503377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(Without Role Prompting):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 want to import a csv file into a list. 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Write me a code that would do this.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FB77FA-F893-8A27-E83D-9B9CB396B195}"/>
              </a:ext>
            </a:extLst>
          </p:cNvPr>
          <p:cNvSpPr txBox="1"/>
          <p:nvPr/>
        </p:nvSpPr>
        <p:spPr>
          <a:xfrm>
            <a:off x="6443472" y="2544474"/>
            <a:ext cx="503377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(With Role Prompting):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Act as a </a:t>
            </a:r>
            <a:r>
              <a:rPr lang="en-US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Python Software Developer.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You are cautious and like to handle all types of unforeseen problems.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 want to import a csv file into a list. 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Write me a code that would do this </a:t>
            </a:r>
          </a:p>
        </p:txBody>
      </p:sp>
    </p:spTree>
    <p:extLst>
      <p:ext uri="{BB962C8B-B14F-4D97-AF65-F5344CB8AC3E}">
        <p14:creationId xmlns:p14="http://schemas.microsoft.com/office/powerpoint/2010/main" val="40042559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54328-619F-95AF-71BB-D1967A135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6779894-EEED-9FFB-166E-A57AF7AA81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967685"/>
            <a:ext cx="4178134" cy="45371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1D7854E-06A7-1CC4-376A-D2901C1C92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409" y="1278184"/>
            <a:ext cx="4115374" cy="1009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3027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22B99-F0D2-69F8-5A22-9A1B892F4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D07FD04-CD44-B989-E5A1-542AE33C89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81" y="213784"/>
            <a:ext cx="4115374" cy="19052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C7BD846-B36C-D830-67F6-6579E8034A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18625"/>
            <a:ext cx="4810796" cy="48393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8534774-BC14-C9B9-B910-8F1028D41D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0280" y="213784"/>
            <a:ext cx="7259063" cy="448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46213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38A8F-DB85-F46E-ECB4-2299235E8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BC31BF0-9161-27D6-4D8F-26678A085E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686" y="0"/>
            <a:ext cx="6820852" cy="464884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BC9E14F-F130-AAD9-7464-C629376EB0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9710" y="1094045"/>
            <a:ext cx="5229955" cy="540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0996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CE555-C010-2543-DFFC-F5D5D5BD2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2C5F2D7-4594-AE38-A9A4-72FEA6A3F207}"/>
              </a:ext>
            </a:extLst>
          </p:cNvPr>
          <p:cNvSpPr txBox="1"/>
          <p:nvPr/>
        </p:nvSpPr>
        <p:spPr>
          <a:xfrm>
            <a:off x="182880" y="312874"/>
            <a:ext cx="117134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Without Role Prompting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24B8A1-C3E8-C753-CBE0-AE3A30B1CDF2}"/>
              </a:ext>
            </a:extLst>
          </p:cNvPr>
          <p:cNvSpPr txBox="1"/>
          <p:nvPr/>
        </p:nvSpPr>
        <p:spPr>
          <a:xfrm>
            <a:off x="5705856" y="1607326"/>
            <a:ext cx="619048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 (with role prompting):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Act as a Cybersecurity Expert. Explain API security risks and best practices.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 will be more professional and detailed.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78A184-7E84-E67B-52CA-5793956214C5}"/>
              </a:ext>
            </a:extLst>
          </p:cNvPr>
          <p:cNvSpPr txBox="1"/>
          <p:nvPr/>
        </p:nvSpPr>
        <p:spPr>
          <a:xfrm>
            <a:off x="295656" y="1607326"/>
            <a:ext cx="440283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 (no role prompting):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Explain API security.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 may be generic or basic.</a:t>
            </a:r>
          </a:p>
        </p:txBody>
      </p:sp>
    </p:spTree>
    <p:extLst>
      <p:ext uri="{BB962C8B-B14F-4D97-AF65-F5344CB8AC3E}">
        <p14:creationId xmlns:p14="http://schemas.microsoft.com/office/powerpoint/2010/main" val="23431170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08B20-43FC-E4DC-A0ED-2F8D986AC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BCBBB84-87FB-0D88-6817-2E89677B46BE}"/>
              </a:ext>
            </a:extLst>
          </p:cNvPr>
          <p:cNvSpPr txBox="1"/>
          <p:nvPr/>
        </p:nvSpPr>
        <p:spPr>
          <a:xfrm>
            <a:off x="182880" y="312874"/>
            <a:ext cx="622706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Common Roles Used in Prompt Engineering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lvl="0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Senior Software Developer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Data Scientist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Medical Professional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Financial Advisor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Teacher or Trainer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Business Consultant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Research Analyst</a:t>
            </a:r>
          </a:p>
        </p:txBody>
      </p:sp>
    </p:spTree>
    <p:extLst>
      <p:ext uri="{BB962C8B-B14F-4D97-AF65-F5344CB8AC3E}">
        <p14:creationId xmlns:p14="http://schemas.microsoft.com/office/powerpoint/2010/main" val="17718110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76AD8-5CB7-BC88-7211-D0A370258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8BCE0B1-AE9F-627B-53CE-964E44D738FF}"/>
              </a:ext>
            </a:extLst>
          </p:cNvPr>
          <p:cNvSpPr txBox="1"/>
          <p:nvPr/>
        </p:nvSpPr>
        <p:spPr>
          <a:xfrm>
            <a:off x="182880" y="221434"/>
            <a:ext cx="11713464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Combining All Three Techniques: 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These techniques can be used together for best results.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Bad Prompt: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 customer buys a laptop for $1,200. 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There is a 15% discount, but a 7% sales tax is applied to the final discounted price. 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How much is the final total?</a:t>
            </a:r>
          </a:p>
        </p:txBody>
      </p:sp>
    </p:spTree>
    <p:extLst>
      <p:ext uri="{BB962C8B-B14F-4D97-AF65-F5344CB8AC3E}">
        <p14:creationId xmlns:p14="http://schemas.microsoft.com/office/powerpoint/2010/main" val="10838130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26A62-6028-AA5B-2AD1-131C122F3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71AE716-8E24-10C3-AB93-348C2533D191}"/>
              </a:ext>
            </a:extLst>
          </p:cNvPr>
          <p:cNvSpPr txBox="1"/>
          <p:nvPr/>
        </p:nvSpPr>
        <p:spPr>
          <a:xfrm>
            <a:off x="82296" y="166570"/>
            <a:ext cx="11548872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Combining All Three Techniques: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These techniques can be used together for best results.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Good Prompt: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Role Prompt: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Act as a Senior Tax Accountant with 20 years of experience in retail finance. 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Few-Shot Examples (Pattern Consistency):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Scenario A: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 Buy a $100 shirt, 10% discount, 5% tax.</a:t>
            </a:r>
          </a:p>
          <a:p>
            <a:pPr lvl="1"/>
            <a:r>
              <a:rPr lang="en-US" sz="2400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Reasoning: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 Discount is $100 * 0.10 = $10. Subtotal is $90. Tax is $90 * 0.05 = $4.50. Total is $94.50. 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1.2.7</a:t>
            </a:r>
            <a:endParaRPr lang="en-US" sz="2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Scenario B: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 Buy a $50 book, 20% discount, 10% tax.</a:t>
            </a:r>
          </a:p>
          <a:p>
            <a:pPr lvl="1"/>
            <a:r>
              <a:rPr lang="en-US" sz="2400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Reasoning: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 Discount is $50 * 0.20 = $10. Subtotal is $40. Tax is $40 * 0.10 = $4. Total is $44. 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1.1.4</a:t>
            </a:r>
            <a:endParaRPr lang="en-US" sz="2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Task: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Now, calculate the final total for a customer buying a laptop for $1,200 with a 15% discount and 7% sales tax.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Chain-of-Thought Instruction: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Please </a:t>
            </a:r>
            <a:r>
              <a:rPr lang="en-US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think step-by-step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, breaking down each calculation clearly before stating the final answer. </a:t>
            </a:r>
          </a:p>
        </p:txBody>
      </p:sp>
    </p:spTree>
    <p:extLst>
      <p:ext uri="{BB962C8B-B14F-4D97-AF65-F5344CB8AC3E}">
        <p14:creationId xmlns:p14="http://schemas.microsoft.com/office/powerpoint/2010/main" val="23707962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B4D79-9005-9CB8-9582-FE1E84822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4B3DECA-C761-7214-4C5B-83C792E570DA}"/>
              </a:ext>
            </a:extLst>
          </p:cNvPr>
          <p:cNvSpPr txBox="1"/>
          <p:nvPr/>
        </p:nvSpPr>
        <p:spPr>
          <a:xfrm>
            <a:off x="182880" y="312874"/>
            <a:ext cx="11713464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Combining All Three Techniques: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These techniques can be used together for best results.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Combined Prompt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Act as a Senior Data Scientist.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 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Below are examples of sentiment classification: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 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Example 1: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Text: I love this product.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Sentiment: Positive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 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Example 2: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Text: This service is terrible.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Sentiment: Negative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 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Now classify the following text step-by-step: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 Text: The experience was okay but could improve.</a:t>
            </a:r>
          </a:p>
        </p:txBody>
      </p:sp>
    </p:spTree>
    <p:extLst>
      <p:ext uri="{BB962C8B-B14F-4D97-AF65-F5344CB8AC3E}">
        <p14:creationId xmlns:p14="http://schemas.microsoft.com/office/powerpoint/2010/main" val="19852230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25ABB-866E-4103-D915-9B3C4FBDA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3544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470</TotalTime>
  <Words>1221</Words>
  <Application>Microsoft Office PowerPoint</Application>
  <PresentationFormat>Widescreen</PresentationFormat>
  <Paragraphs>204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87</cp:revision>
  <dcterms:created xsi:type="dcterms:W3CDTF">2025-09-22T02:44:38Z</dcterms:created>
  <dcterms:modified xsi:type="dcterms:W3CDTF">2026-09-20T07:01:30Z</dcterms:modified>
</cp:coreProperties>
</file>