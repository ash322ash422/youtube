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60" r:id="rId2"/>
    <p:sldId id="261" r:id="rId3"/>
    <p:sldId id="262" r:id="rId4"/>
    <p:sldId id="284" r:id="rId5"/>
    <p:sldId id="259" r:id="rId6"/>
    <p:sldId id="283" r:id="rId7"/>
    <p:sldId id="263" r:id="rId8"/>
    <p:sldId id="265" r:id="rId9"/>
    <p:sldId id="266" r:id="rId10"/>
    <p:sldId id="267" r:id="rId11"/>
    <p:sldId id="275" r:id="rId12"/>
    <p:sldId id="268" r:id="rId13"/>
    <p:sldId id="276" r:id="rId14"/>
    <p:sldId id="277" r:id="rId15"/>
    <p:sldId id="274" r:id="rId16"/>
    <p:sldId id="278" r:id="rId17"/>
    <p:sldId id="279" r:id="rId18"/>
    <p:sldId id="269" r:id="rId19"/>
    <p:sldId id="281" r:id="rId20"/>
    <p:sldId id="280" r:id="rId21"/>
    <p:sldId id="270" r:id="rId22"/>
    <p:sldId id="271" r:id="rId23"/>
    <p:sldId id="285" r:id="rId24"/>
    <p:sldId id="282" r:id="rId25"/>
    <p:sldId id="272" r:id="rId26"/>
    <p:sldId id="273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75C0EAF-0950-0760-9C6E-195DBA10CA9C}"/>
              </a:ext>
            </a:extLst>
          </p:cNvPr>
          <p:cNvSpPr txBox="1"/>
          <p:nvPr/>
        </p:nvSpPr>
        <p:spPr>
          <a:xfrm>
            <a:off x="502920" y="1883326"/>
            <a:ext cx="111778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Today we will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actually processes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how to design better prompts.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and optimization involve designing, testing, and refining input text (prompts) to guide AI models like LLMs to produce accurate, relevant, and high-quality output</a:t>
            </a:r>
          </a:p>
        </p:txBody>
      </p:sp>
    </p:spTree>
    <p:extLst>
      <p:ext uri="{BB962C8B-B14F-4D97-AF65-F5344CB8AC3E}">
        <p14:creationId xmlns:p14="http://schemas.microsoft.com/office/powerpoint/2010/main" val="17839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4F6F-FF16-B480-353A-FD9A5B95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66140D9-FCDC-B3BB-C84D-13761381A495}"/>
              </a:ext>
            </a:extLst>
          </p:cNvPr>
          <p:cNvSpPr txBox="1"/>
          <p:nvPr/>
        </p:nvSpPr>
        <p:spPr>
          <a:xfrm>
            <a:off x="164592" y="1698209"/>
            <a:ext cx="114025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– Why AI Sees Numbers, Not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understand language like humans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convert text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basically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representing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pieces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see: I love 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it-IT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sees:  [101, 1045, 2293, 3698, 4083, 102]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3B0AF-F93F-C6A5-2CCD-85B96BE53AE3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51335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2779-FCFB-257D-1625-5188847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7D412D5-F2E2-B9C2-6BAC-F6F233D04336}"/>
              </a:ext>
            </a:extLst>
          </p:cNvPr>
          <p:cNvSpPr txBox="1"/>
          <p:nvPr/>
        </p:nvSpPr>
        <p:spPr>
          <a:xfrm>
            <a:off x="693168" y="920969"/>
            <a:ext cx="104271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Tokenization?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(tokens).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 can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Parts of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Symbols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Punctuation</a:t>
            </a:r>
          </a:p>
        </p:txBody>
      </p:sp>
    </p:spTree>
    <p:extLst>
      <p:ext uri="{BB962C8B-B14F-4D97-AF65-F5344CB8AC3E}">
        <p14:creationId xmlns:p14="http://schemas.microsoft.com/office/powerpoint/2010/main" val="140996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8D98-C003-6054-D9E4-E77C65AC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5901341-7519-ABF2-BFDF-828C4C9FE4C5}"/>
              </a:ext>
            </a:extLst>
          </p:cNvPr>
          <p:cNvSpPr txBox="1"/>
          <p:nvPr/>
        </p:nvSpPr>
        <p:spPr>
          <a:xfrm>
            <a:off x="235968" y="171161"/>
            <a:ext cx="10800840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 Unbelievable performance!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Possible tokens: ["Un", "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believ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"able", "performance", "!"]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                     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[1012,  45892,    672,         9834,                0]   -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these are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ID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token id is a vector (say in 4D)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1012   → [0.12, -0.45, 0.88, 0.33]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45892 → [0.91, 0.02, -0.11, 0.76]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672     → [0.55, -0.66, 0.14, 0.99]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9834   → [0.20, 0.77, -0.88, 0.10]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         → [0.01, 0.02, 0.03, 0.04]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final input becomes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[0.12, -0.45, 0.88, 0.33],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[0.91, 0.02, -0.11, 0.76],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[0.55, -0.66, 0.14, 0.99],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[0.20, 0.77, -0.88, 0.10],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[0.01, 0.02, 0.03, 0.04]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0BC90-49F3-2B18-FD52-5C114DD674AD}"/>
              </a:ext>
            </a:extLst>
          </p:cNvPr>
          <p:cNvSpPr txBox="1"/>
          <p:nvPr/>
        </p:nvSpPr>
        <p:spPr>
          <a:xfrm>
            <a:off x="4021836" y="5214237"/>
            <a:ext cx="8170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Into LLM: Text → tokens → IDs → vectors → N. network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 LLM: IDs → tokens → text</a:t>
            </a:r>
          </a:p>
        </p:txBody>
      </p:sp>
    </p:spTree>
    <p:extLst>
      <p:ext uri="{BB962C8B-B14F-4D97-AF65-F5344CB8AC3E}">
        <p14:creationId xmlns:p14="http://schemas.microsoft.com/office/powerpoint/2010/main" val="343753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100965" y="394347"/>
            <a:ext cx="71685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Tokenization Matters in Prompt Engineering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Token Limit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AI model has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token capacity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models have input + output token limits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is too long → information gets cut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Cost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APIs charge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 token used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tokens = More cost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1E7E-7BFD-8D61-7F2B-2EBA62F8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9C3A5-AB16-3997-40D8-1C650FD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7" y="237122"/>
            <a:ext cx="8087854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1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1784-DCE9-DCB5-0C31-7F2F4C20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94085-449A-2646-3ED7-B509E94B3A12}"/>
              </a:ext>
            </a:extLst>
          </p:cNvPr>
          <p:cNvSpPr txBox="1"/>
          <p:nvPr/>
        </p:nvSpPr>
        <p:spPr>
          <a:xfrm>
            <a:off x="292989" y="257187"/>
            <a:ext cx="98596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Prompt Clarity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tokenization can change meaning.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 grandma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grandma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 changes tokens → meaning changes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first case      : Tokens could be [234, 12, 0,   34]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second case: Tokens could be [215, 12, 37, 892]</a:t>
            </a:r>
          </a:p>
        </p:txBody>
      </p:sp>
    </p:spTree>
    <p:extLst>
      <p:ext uri="{BB962C8B-B14F-4D97-AF65-F5344CB8AC3E}">
        <p14:creationId xmlns:p14="http://schemas.microsoft.com/office/powerpoint/2010/main" val="2127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646A-C09A-9147-0AE2-A7C2894B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4FB20C-BEAB-7BCE-2467-E1A631605A9E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0FEAD-D15B-0BAB-D85D-50029C280FEE}"/>
              </a:ext>
            </a:extLst>
          </p:cNvPr>
          <p:cNvSpPr txBox="1"/>
          <p:nvPr/>
        </p:nvSpPr>
        <p:spPr>
          <a:xfrm>
            <a:off x="306864" y="894117"/>
            <a:ext cx="98596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Hallucination?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won FIFA World Cup 2050?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confidently give wrong 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FIFA was won by Argentina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B7C94-F54C-433D-740E-B3350BEF7CBB}"/>
              </a:ext>
            </a:extLst>
          </p:cNvPr>
          <p:cNvSpPr txBox="1"/>
          <p:nvPr/>
        </p:nvSpPr>
        <p:spPr>
          <a:xfrm>
            <a:off x="690372" y="4580466"/>
            <a:ext cx="7758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happens when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false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Sounds confident, but information is incorrect or invented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predicting text, NOT verifying facts.</a:t>
            </a:r>
          </a:p>
        </p:txBody>
      </p:sp>
    </p:spTree>
    <p:extLst>
      <p:ext uri="{BB962C8B-B14F-4D97-AF65-F5344CB8AC3E}">
        <p14:creationId xmlns:p14="http://schemas.microsoft.com/office/powerpoint/2010/main" val="129778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605F-B7B7-01EA-6F91-2D463EBE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04368B-2ECD-27F8-FF60-D39049CA2C1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C5F40-6196-BAAF-9D14-D8C4A4CC6487}"/>
              </a:ext>
            </a:extLst>
          </p:cNvPr>
          <p:cNvSpPr txBox="1"/>
          <p:nvPr/>
        </p:nvSpPr>
        <p:spPr>
          <a:xfrm>
            <a:off x="334297" y="1305597"/>
            <a:ext cx="88637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Hallucination Happens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Prediction Based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probable next 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truth.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Missing Information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lacks details → AI guesses.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Ambiguous Prompts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Vague instructions lead to creative (but wrong) answers.</a:t>
            </a:r>
          </a:p>
        </p:txBody>
      </p:sp>
    </p:spTree>
    <p:extLst>
      <p:ext uri="{BB962C8B-B14F-4D97-AF65-F5344CB8AC3E}">
        <p14:creationId xmlns:p14="http://schemas.microsoft.com/office/powerpoint/2010/main" val="62954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F4EE-EB17-42EE-3881-A7470ADF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C1745C-9086-2BCE-D857-A54E004A4A4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998F6-9734-7D0E-E5C3-B94558928266}"/>
              </a:ext>
            </a:extLst>
          </p:cNvPr>
          <p:cNvSpPr txBox="1"/>
          <p:nvPr/>
        </p:nvSpPr>
        <p:spPr>
          <a:xfrm>
            <a:off x="325152" y="958125"/>
            <a:ext cx="112328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Context</a:t>
            </a:r>
          </a:p>
          <a:p>
            <a:pPr marL="457200" indent="-457200">
              <a:buAutoNum type="arabicParenR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diabetes.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Type 2 diabetes for class 11 students in 100 words. The students are all majoring in biology.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2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325F-72AF-C394-E6D8-E4C98D42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596D14-62E2-D55A-2A0A-1D76598CE28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223F-7261-59E1-C8E6-DD8A9DADA604}"/>
              </a:ext>
            </a:extLst>
          </p:cNvPr>
          <p:cNvSpPr txBox="1"/>
          <p:nvPr/>
        </p:nvSpPr>
        <p:spPr>
          <a:xfrm>
            <a:off x="334296" y="1305597"/>
            <a:ext cx="112328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Ask AI to Admit Uncertainty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cure for Type 2 diabetes?  If unsure, say "I don’t know".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18701-1E98-864B-2380-83BBC8BC029F}"/>
              </a:ext>
            </a:extLst>
          </p:cNvPr>
          <p:cNvSpPr txBox="1"/>
          <p:nvPr/>
        </p:nvSpPr>
        <p:spPr>
          <a:xfrm>
            <a:off x="224028" y="4144232"/>
            <a:ext cx="10703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Use Source Requirement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cure for Type 2 diabetes. If unsure, say "I don’t know".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answer with references.</a:t>
            </a:r>
          </a:p>
        </p:txBody>
      </p:sp>
    </p:spTree>
    <p:extLst>
      <p:ext uri="{BB962C8B-B14F-4D97-AF65-F5344CB8AC3E}">
        <p14:creationId xmlns:p14="http://schemas.microsoft.com/office/powerpoint/2010/main" val="214816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F40F-4786-72BA-7DDF-19A844E1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B0D61-1992-C963-5A44-97132CF54A9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43C40-96BD-393C-A4D2-2DE6E52198D7}"/>
              </a:ext>
            </a:extLst>
          </p:cNvPr>
          <p:cNvSpPr txBox="1"/>
          <p:nvPr/>
        </p:nvSpPr>
        <p:spPr>
          <a:xfrm>
            <a:off x="242857" y="912405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Break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research paper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will give you a general idea, and you will propose 3 specific, researchable angles.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Ask AI to create outline 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expand sections</a:t>
            </a:r>
          </a:p>
        </p:txBody>
      </p:sp>
    </p:spTree>
    <p:extLst>
      <p:ext uri="{BB962C8B-B14F-4D97-AF65-F5344CB8AC3E}">
        <p14:creationId xmlns:p14="http://schemas.microsoft.com/office/powerpoint/2010/main" val="145874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BFB2-46E8-B79D-9A58-BFC9CE55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43C62C-A737-D781-009F-90634BF23F14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DACC5-CC78-019E-56C5-1FA40ED6A840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7D3FE-8439-7855-D83C-47A8F41B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65" y="3044952"/>
            <a:ext cx="6926354" cy="26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1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6E27-13F8-6CFD-6473-98DF024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F4C98F-9FE3-4601-AACB-F2E71EA21969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59A4C-093F-5FED-E93E-C9CBB49B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3" y="80491"/>
            <a:ext cx="6043544" cy="500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CEF6F-8159-71E9-216D-BCE62ABC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745" y="5285232"/>
            <a:ext cx="6281678" cy="149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94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B92B-BAA8-64F1-6DD8-35B76DD4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1140F2-2819-299B-9758-1E687AEBE8F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628B-1C64-58F0-7445-95AC2E5018B2}"/>
              </a:ext>
            </a:extLst>
          </p:cNvPr>
          <p:cNvSpPr txBox="1"/>
          <p:nvPr/>
        </p:nvSpPr>
        <p:spPr>
          <a:xfrm>
            <a:off x="334297" y="1305597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medical professional.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having a running and high fever. I have rash on my head.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chartered accountant.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late in  filing ITR by 3 months.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49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EC01-868E-51D5-AFC2-04601CBF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DE7F71-4BCB-3293-30E2-B234F9E82116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1AFE8-D07E-2ABA-986F-EDCAE0FC3DA3}"/>
              </a:ext>
            </a:extLst>
          </p:cNvPr>
          <p:cNvSpPr txBox="1"/>
          <p:nvPr/>
        </p:nvSpPr>
        <p:spPr>
          <a:xfrm>
            <a:off x="334296" y="1305597"/>
            <a:ext cx="1033675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"Generic" Prompt (High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"What should I do if my heart is racing?“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Risk: The AI might give overly cautious, irrelevant, or dangerously vague advice because it's pulling from its entire training set—which includes forums, blog posts, and fiction.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885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B357-E497-DF01-124A-B0781F1B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15BF9-1F39-844F-1575-041EF59759EA}"/>
              </a:ext>
            </a:extLst>
          </p:cNvPr>
          <p:cNvSpPr txBox="1"/>
          <p:nvPr/>
        </p:nvSpPr>
        <p:spPr>
          <a:xfrm>
            <a:off x="334296" y="116877"/>
            <a:ext cx="113791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"Role-Prompted" Example (Lower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"You are a board-certified cardiologist with 20 years of experience. Based on clinical emergency protocols, what is the step-by-step procedure for a patient experiencing a sudden resting heart rate over 120 BPM? If you are unsure of specific diagnostic criteria, state that you cannot provide medical advice for that detail."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works: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Alignment: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assuming the role, the model weights "medical journal" data more heavily than "internet forum" data.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 Shift: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shifts from a conversational buddy to a professional authority, which often suppresses the AI's tendency to "people please" with made-up answers.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Constraints: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You’ve combined the role with an "uncertainty" clause, which is proven to reduce hallucinations by up to 30–50%.</a:t>
            </a:r>
          </a:p>
        </p:txBody>
      </p:sp>
    </p:spTree>
    <p:extLst>
      <p:ext uri="{BB962C8B-B14F-4D97-AF65-F5344CB8AC3E}">
        <p14:creationId xmlns:p14="http://schemas.microsoft.com/office/powerpoint/2010/main" val="1734586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2C5E-367C-D7D8-A5DB-EAFD2E61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A24F56-4986-6B09-716A-D2F09625D23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EB8E0-9237-B4A6-C1B7-45971732F65D}"/>
              </a:ext>
            </a:extLst>
          </p:cNvPr>
          <p:cNvSpPr txBox="1"/>
          <p:nvPr/>
        </p:nvSpPr>
        <p:spPr>
          <a:xfrm>
            <a:off x="334296" y="830109"/>
            <a:ext cx="103367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Context (Background Information)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AI situation or environment.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context → AI guesses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"No Context" Prompt (The Guessing Game)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"Write a plan to improve customer retention.“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The AI doesn't know if you are a local coffee shop, a billion-dollar SaaS company, or a non-profit.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will likely give you a "generic list" (loyalty cards, email newsletters) that might be totally irrelevant to your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813288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D755-196A-D016-8E69-CCCD17E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BDEF69-878C-AE3B-E950-6C1686609CE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A18B4-25EE-0E35-77F7-5B0E974A326D}"/>
              </a:ext>
            </a:extLst>
          </p:cNvPr>
          <p:cNvSpPr txBox="1"/>
          <p:nvPr/>
        </p:nvSpPr>
        <p:spPr>
          <a:xfrm>
            <a:off x="334296" y="830109"/>
            <a:ext cx="103367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"High Context" Example (The Grounded Response)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[Background]: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 are a mid-sized B2B software company that sells a project management tool to construction firms. Our subscription is $500/month.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[The Situation]: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We’ve noticed that customers usually leave (churn) after the 3rd month because the software feels too complex for their field workers.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[Goal]: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Create a 30-day retention plan specifically focused on simplifying the 'onboarding' phase for non-technical users."</a:t>
            </a:r>
          </a:p>
        </p:txBody>
      </p:sp>
    </p:spTree>
    <p:extLst>
      <p:ext uri="{BB962C8B-B14F-4D97-AF65-F5344CB8AC3E}">
        <p14:creationId xmlns:p14="http://schemas.microsoft.com/office/powerpoint/2010/main" val="1629387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0D9C-6AA7-1B04-8873-C4C98611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BF1571-0D70-554F-342C-AFB2107BB1D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A8BAF-41E1-6BBC-E16F-8D64B25EB437}"/>
              </a:ext>
            </a:extLst>
          </p:cNvPr>
          <p:cNvSpPr txBox="1"/>
          <p:nvPr/>
        </p:nvSpPr>
        <p:spPr>
          <a:xfrm>
            <a:off x="334296" y="884973"/>
            <a:ext cx="111322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Task (What AI Should Do)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action instruction.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Analyze the dataset and find trends in sales from the column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monthly_sales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28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AA41-F939-98FE-A90D-5341B5CE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0ADDDA-F15C-4140-8576-8E9336785F8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16668-708F-9B3A-9401-B6B4F4EA4E70}"/>
              </a:ext>
            </a:extLst>
          </p:cNvPr>
          <p:cNvSpPr txBox="1"/>
          <p:nvPr/>
        </p:nvSpPr>
        <p:spPr>
          <a:xfrm>
            <a:off x="334296" y="766101"/>
            <a:ext cx="98596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Constraint (Rules &amp; Limitations)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AI output.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limit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Audience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Technology restriction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Explain in simple language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 150 words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concept of calculus. My audience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school students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 math background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 complex math formulas.</a:t>
            </a:r>
          </a:p>
        </p:txBody>
      </p:sp>
    </p:spTree>
    <p:extLst>
      <p:ext uri="{BB962C8B-B14F-4D97-AF65-F5344CB8AC3E}">
        <p14:creationId xmlns:p14="http://schemas.microsoft.com/office/powerpoint/2010/main" val="3973849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70BF-11AC-D158-95CA-D69482D7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CC46AD-353B-E9B0-DBC3-9EE0EE447951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E7542-8957-F3C2-DB3D-05ED1D5A72C9}"/>
              </a:ext>
            </a:extLst>
          </p:cNvPr>
          <p:cNvSpPr txBox="1"/>
          <p:nvPr/>
        </p:nvSpPr>
        <p:spPr>
          <a:xfrm>
            <a:off x="334297" y="811821"/>
            <a:ext cx="88637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Output Format (Structure)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dramatically improves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 guide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Provide output in table format.</a:t>
            </a:r>
          </a:p>
        </p:txBody>
      </p:sp>
    </p:spTree>
    <p:extLst>
      <p:ext uri="{BB962C8B-B14F-4D97-AF65-F5344CB8AC3E}">
        <p14:creationId xmlns:p14="http://schemas.microsoft.com/office/powerpoint/2010/main" val="3464606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84D7-D621-9624-104A-B73AB0ED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30DAA-2DF2-0DB5-25CE-79ED1B40FB5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43549-7C4E-34E2-CE0E-76EF872A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41" y="768032"/>
            <a:ext cx="6039693" cy="914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9CF3DA-6520-6C20-0F9A-3A59DE4F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473091"/>
            <a:ext cx="7556938" cy="48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4629-A020-65DF-9DF3-A80D3E1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CB36B4-2BFD-4FF8-C4D6-52B6FCF10F43}"/>
              </a:ext>
            </a:extLst>
          </p:cNvPr>
          <p:cNvSpPr txBox="1"/>
          <p:nvPr/>
        </p:nvSpPr>
        <p:spPr>
          <a:xfrm>
            <a:off x="334297" y="1305597"/>
            <a:ext cx="88637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neural networks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Strong Prompt Using Formula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Context: You are teaching beginners in AI.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Explain neural networks.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Constraint: Use simple language and include real-life analogy. Do not use heavy math.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Format: Provide explanation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0897C-3829-DE19-EC11-A952E81869E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93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9C13-7261-4EDE-8D72-129D9A0E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4A52E-FA6F-CC96-C2CD-1B5DC06F3903}"/>
              </a:ext>
            </a:extLst>
          </p:cNvPr>
          <p:cNvSpPr txBox="1"/>
          <p:nvPr/>
        </p:nvSpPr>
        <p:spPr>
          <a:xfrm>
            <a:off x="334297" y="766101"/>
            <a:ext cx="8863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[ROLE]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 ___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[TASK]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[CONTEXT]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the context: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[CONSTRAINTS]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 these rules: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[OUTPUT FORMAT]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answer as: 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D52DE-DDE1-6112-954C-4CCF6C9626F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(Add On) Prompt Template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7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8A72-F8D3-9203-795E-98C76B75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248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E9D7-16AF-61C3-A56D-933DA14F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97DE48-6EA1-1DA7-C6A0-000AD358FC46}"/>
              </a:ext>
            </a:extLst>
          </p:cNvPr>
          <p:cNvSpPr txBox="1"/>
          <p:nvPr/>
        </p:nvSpPr>
        <p:spPr>
          <a:xfrm>
            <a:off x="238125" y="1244739"/>
            <a:ext cx="9859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Demo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students: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tokens in: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show them using tokenizer tools like: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tokenizer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tokenizer</a:t>
            </a:r>
          </a:p>
        </p:txBody>
      </p:sp>
    </p:spTree>
    <p:extLst>
      <p:ext uri="{BB962C8B-B14F-4D97-AF65-F5344CB8AC3E}">
        <p14:creationId xmlns:p14="http://schemas.microsoft.com/office/powerpoint/2010/main" val="191165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298</TotalTime>
  <Words>1590</Words>
  <Application>Microsoft Office PowerPoint</Application>
  <PresentationFormat>Widescreen</PresentationFormat>
  <Paragraphs>251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64</cp:revision>
  <dcterms:created xsi:type="dcterms:W3CDTF">2025-09-22T02:44:38Z</dcterms:created>
  <dcterms:modified xsi:type="dcterms:W3CDTF">2026-05-08T17:29:03Z</dcterms:modified>
</cp:coreProperties>
</file>