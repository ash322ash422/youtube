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handoutMasterIdLst>
    <p:handoutMasterId r:id="rId5"/>
  </p:handoutMasterIdLst>
  <p:sldIdLst>
    <p:sldId id="257" r:id="rId2"/>
    <p:sldId id="269" r:id="rId3"/>
    <p:sldId id="270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054" y="9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1ACA3A45-07AA-881E-EBAC-FAE1FFF9B3B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2C2385-62BD-1B9C-A617-554DDB21E0F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BAEECA8-D063-486F-AE31-5020270C1449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5328A6F-7933-1F9C-E9F6-B4A61026FBA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6F9A57F-3A38-6EDA-B76D-A3DB4F6978A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93F6CE-D1D9-4B7B-9040-C7CAC074A6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61335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EB0F26-247A-F2E0-8FBA-6EA7974D69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394F308-CEE8-92BC-D91A-4212DEA015D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2794D3-11DF-A675-8D28-EC65EF275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53FDAF-B83A-AE0A-B811-B7195D37F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9530BD-9515-D107-426C-B72742CBF0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92826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CE7E77-8771-0BA4-B1D5-7F1DE0138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43F30B-85C4-D934-2F30-179E3FCE94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8EF7AF-5CE7-4387-31F9-79D3562060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FCCC03-E434-4684-B55E-3F2D399169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1F3B05-B983-07A3-4B58-9D2E184388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60364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23C21-D6A5-2D17-9BFA-70B3353D6A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2D89B8-191B-6AAD-5D5E-32B3572657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CC528A-1563-9376-E089-4DA80AD11D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19A01D-6FDA-C269-FF95-3FDB205C8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980A21-61AC-4B39-D886-3A327DB734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11140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903C29-6DED-2A1F-5B4D-128B63652F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494ECB-0FCA-1AD0-F19A-27A4C16DC0F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07402C2-E657-5A54-9627-8C9CBCBBE0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01FADA-AE3E-B30F-6353-BF0478CF0E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16B517-96D7-6416-0C24-B14942ADD4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546F179-BF2F-393A-1AA6-C893B7B9F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58523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950483-A0C8-BF5B-61DE-39BC6FF9C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6DB55B-C040-F211-BC81-97628EA484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93EEAE-1CB3-AAC8-5818-D61E389EF1E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ACE50F0-1141-D645-3892-2DA29633A3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2E976C-52C7-C22D-28F7-B21E29518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97D00B-0B76-5C50-686B-A01396FCD6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B842B8D-3B74-4B67-9462-6D2C7ED9AD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992D4BE-CE8C-0250-FE7D-1F370E25F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7502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CDBE28-2732-66A2-163C-433854615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270F3D6-B4BC-015F-96FA-1720B040CC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168A87-13A5-0A5A-4D74-C75E277755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D6D7CB-BD93-54BE-CB47-7FBA06B18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46508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4114B-4550-9F52-0EF5-D1E9CF2FD3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BF3136E-0C79-F4F5-F24E-D5FF71CDB5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2E2157-F670-A339-0CB7-7399568D5A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5014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802A98-8738-1E16-A16E-D8858EEA76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FC67E5-1169-257D-D9E7-C7B952C213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0B2CF6C-0F85-566A-86BC-CBFEB17E75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64F0FC-ECB8-638F-A224-98FFA82707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095B89-4DC8-435E-3545-6187AD3E00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1B68CF-9592-FB7C-B517-0CC962C8B6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43007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3E2BC2-F728-2BA5-C848-31FA3458AD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957B909-12C3-703B-57E9-008076312F6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AE4D7A-BC41-33D0-D36D-08BB5C2C59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17FB83-437D-9293-0B99-2DC89A047D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DF5674-4DC1-3171-8FEB-C280686D41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D431F6-5490-78BA-7028-0BD08BF1A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08603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002A-A21A-4F99-1BCE-F61C85D7B6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0E85D03-9A7F-4A9E-379E-2DEA86D21F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DEEFB4-95FB-FEDD-75E7-143E7ED29C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BCE0D7-1712-FF0C-D965-BFD5AE1610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2632A1-4243-F65B-A2B0-3F2142C341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50797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2293F13-2480-AB35-1A68-57A54CE6CD6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DA286C-2521-2961-CABA-5684DF43FB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D5FF44-F63B-872A-DC8D-A873790A64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653A11-7793-38C6-0506-A6FBE9A02A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0962C0-F018-7629-445C-DDCA8AE140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29988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3CEE1C2-DF65-6CAD-D1EF-2245084043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AFB6A6-8766-C849-1846-0F38750241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55176B-E136-1615-D0B5-186783ACB8F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83FAE1-13DE-4511-8C1B-C8AFB720664C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5AAAF6-4731-DB91-AB26-A07CEF1B9D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14165E-BEE7-F086-BE90-50642610F0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F3932AB-6107-98C9-CEDA-32A7DF597298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08" t="39529" r="41606" b="46715"/>
          <a:stretch>
            <a:fillRect/>
          </a:stretch>
        </p:blipFill>
        <p:spPr>
          <a:xfrm>
            <a:off x="212435" y="136524"/>
            <a:ext cx="1330037" cy="1025209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CA22C5A-FA6D-B699-950E-8D249A969331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08" t="39529" r="41606" b="46715"/>
          <a:stretch>
            <a:fillRect/>
          </a:stretch>
        </p:blipFill>
        <p:spPr>
          <a:xfrm>
            <a:off x="10855909" y="185738"/>
            <a:ext cx="1123656" cy="866128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14999731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accent6">
              <a:lumMod val="60000"/>
              <a:lumOff val="40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8CC5AA4-1E9C-99DC-AFA2-54F7AD62956A}"/>
              </a:ext>
            </a:extLst>
          </p:cNvPr>
          <p:cNvSpPr txBox="1"/>
          <p:nvPr/>
        </p:nvSpPr>
        <p:spPr>
          <a:xfrm>
            <a:off x="3028950" y="1247013"/>
            <a:ext cx="640080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ReAct</a:t>
            </a:r>
            <a:endParaRPr lang="en-US" sz="40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algn="ctr"/>
            <a:r>
              <a:rPr lang="en-US" sz="4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Prompting</a:t>
            </a:r>
          </a:p>
        </p:txBody>
      </p:sp>
    </p:spTree>
    <p:extLst>
      <p:ext uri="{BB962C8B-B14F-4D97-AF65-F5344CB8AC3E}">
        <p14:creationId xmlns:p14="http://schemas.microsoft.com/office/powerpoint/2010/main" val="23406421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D25ABB-866E-4103-D915-9B3C4FBDA8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20D5E61-F514-F783-C474-9CA4CD628E61}"/>
              </a:ext>
            </a:extLst>
          </p:cNvPr>
          <p:cNvSpPr txBox="1"/>
          <p:nvPr/>
        </p:nvSpPr>
        <p:spPr>
          <a:xfrm>
            <a:off x="731520" y="428179"/>
            <a:ext cx="10287000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rtl="0"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</a:rPr>
              <a:t>What is </a:t>
            </a:r>
            <a:r>
              <a:rPr lang="en-US" sz="2400" b="1" dirty="0" err="1">
                <a:solidFill>
                  <a:schemeClr val="accent6">
                    <a:lumMod val="60000"/>
                    <a:lumOff val="40000"/>
                  </a:schemeClr>
                </a:solidFill>
                <a:effectLst/>
              </a:rPr>
              <a:t>ReAct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</a:rPr>
              <a:t> Prompting?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  <a:effectLst/>
            </a:endParaRPr>
          </a:p>
          <a:p>
            <a:pPr marL="0" marR="0" rtl="0">
              <a:buNone/>
            </a:pPr>
            <a:r>
              <a:rPr lang="en-US" sz="2400" b="1" dirty="0" err="1">
                <a:solidFill>
                  <a:schemeClr val="accent6">
                    <a:lumMod val="60000"/>
                    <a:lumOff val="40000"/>
                  </a:schemeClr>
                </a:solidFill>
                <a:effectLst/>
              </a:rPr>
              <a:t>ReAct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</a:rPr>
              <a:t> = Reasoning + Acting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  <a:effectLst/>
            </a:endParaRPr>
          </a:p>
          <a:p>
            <a:pPr marL="0" marR="0" rtl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</a:rPr>
              <a:t>It is a method where an AI:</a:t>
            </a:r>
          </a:p>
          <a:p>
            <a:pPr marL="742950" lvl="1" indent="-285750" rtl="0" fontAlgn="ctr">
              <a:buFont typeface="+mj-lt"/>
              <a:buAutoNum type="arabicPeriod"/>
            </a:pPr>
            <a:r>
              <a:rPr lang="en-US" sz="2400" b="1" i="0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</a:rPr>
              <a:t>Thinks (Reasoning)</a:t>
            </a:r>
            <a:r>
              <a:rPr lang="en-US" sz="2400" b="0" i="0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</a:rPr>
              <a:t> → breaks down the problem step-by-step </a:t>
            </a:r>
            <a:endParaRPr lang="en-US" sz="2400" b="1" i="0" dirty="0">
              <a:solidFill>
                <a:schemeClr val="accent6">
                  <a:lumMod val="60000"/>
                  <a:lumOff val="40000"/>
                </a:schemeClr>
              </a:solidFill>
              <a:effectLst/>
            </a:endParaRPr>
          </a:p>
          <a:p>
            <a:pPr marL="742950" lvl="1" indent="-285750" rtl="0" fontAlgn="ctr">
              <a:buFont typeface="+mj-lt"/>
              <a:buAutoNum type="arabicPeriod"/>
            </a:pPr>
            <a:r>
              <a:rPr lang="en-US" sz="2400" b="1" i="0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</a:rPr>
              <a:t>Acts (Action)</a:t>
            </a:r>
            <a:r>
              <a:rPr lang="en-US" sz="2400" b="0" i="0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</a:rPr>
              <a:t> → uses tools, searches, calculations, or decisions </a:t>
            </a:r>
            <a:endParaRPr lang="en-US" sz="2400" b="1" i="0" dirty="0">
              <a:solidFill>
                <a:schemeClr val="accent6">
                  <a:lumMod val="60000"/>
                  <a:lumOff val="40000"/>
                </a:schemeClr>
              </a:solidFill>
              <a:effectLst/>
            </a:endParaRPr>
          </a:p>
          <a:p>
            <a:pPr marL="742950" lvl="1" indent="-285750" rtl="0" fontAlgn="ctr">
              <a:buFont typeface="+mj-lt"/>
              <a:buAutoNum type="arabicPeriod"/>
            </a:pPr>
            <a:r>
              <a:rPr lang="en-US" sz="2400" b="1" i="0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</a:rPr>
              <a:t>Observes results</a:t>
            </a:r>
            <a:r>
              <a:rPr lang="en-US" sz="2400" b="0" i="0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</a:rPr>
              <a:t> → then continues reasoning </a:t>
            </a:r>
            <a:endParaRPr lang="en-US" sz="2400" b="1" i="0" dirty="0">
              <a:solidFill>
                <a:schemeClr val="accent6">
                  <a:lumMod val="60000"/>
                  <a:lumOff val="40000"/>
                </a:schemeClr>
              </a:solidFill>
              <a:effectLst/>
            </a:endParaRPr>
          </a:p>
          <a:p>
            <a:pPr marL="0" marR="0" rtl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</a:rPr>
              <a:t>This makes the model behave more like a problem-solving agent instead of just generating text.</a:t>
            </a:r>
          </a:p>
          <a:p>
            <a:pPr marL="0" marR="0" rtl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</a:rPr>
              <a:t> </a:t>
            </a:r>
          </a:p>
          <a:p>
            <a:pPr marL="0" marR="0" rtl="0"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</a:rPr>
              <a:t>🔁 Simple Idea Flow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  <a:effectLst/>
            </a:endParaRPr>
          </a:p>
          <a:p>
            <a:pPr marL="0" marR="0" rtl="0"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  <a:effectLst/>
              </a:rPr>
              <a:t>Thought → Action → Observation → Thought → Action → Answer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0135446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289A46-0E4D-9434-331B-B6F271EF38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DA8CDD6-17CF-B0DE-C74F-5199A81CD426}"/>
              </a:ext>
            </a:extLst>
          </p:cNvPr>
          <p:cNvSpPr txBox="1"/>
          <p:nvPr/>
        </p:nvSpPr>
        <p:spPr>
          <a:xfrm>
            <a:off x="731520" y="428179"/>
            <a:ext cx="10287000" cy="4893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 1: Math Problem (No tools)</a:t>
            </a: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Prompt (</a:t>
            </a:r>
            <a:r>
              <a:rPr lang="en-US" sz="2400" b="1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ReAct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style):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Solve the problem step by step using </a:t>
            </a:r>
            <a:r>
              <a:rPr lang="en-US" sz="2400" b="1" u="sng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Re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asoning and show your </a:t>
            </a:r>
            <a:r>
              <a:rPr lang="en-US" sz="2400" b="1" u="sng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ACT</a:t>
            </a: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ions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clearly.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User Question:</a:t>
            </a:r>
            <a:b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</a:b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 shop gives 20% discount on ₹500. What is final price?</a:t>
            </a:r>
          </a:p>
          <a:p>
            <a:endParaRPr lang="en-US" sz="2400" b="1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>
                <a:solidFill>
                  <a:schemeClr val="accent6">
                    <a:lumMod val="60000"/>
                    <a:lumOff val="40000"/>
                  </a:schemeClr>
                </a:solidFill>
              </a:rPr>
              <a:t>ReAct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Output: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Thought: I need to find 20% of 500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Action: 500 × 0.20 = 100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Thought: Subtract discount from original price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Action: 500 − 100 = 400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Final Answer: ₹400</a:t>
            </a:r>
          </a:p>
        </p:txBody>
      </p:sp>
    </p:spTree>
    <p:extLst>
      <p:ext uri="{BB962C8B-B14F-4D97-AF65-F5344CB8AC3E}">
        <p14:creationId xmlns:p14="http://schemas.microsoft.com/office/powerpoint/2010/main" val="15423188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What is Statistics</Template>
  <TotalTime>322</TotalTime>
  <Words>168</Words>
  <Application>Microsoft Office PowerPoint</Application>
  <PresentationFormat>Widescreen</PresentationFormat>
  <Paragraphs>24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Ashwani Kumar</dc:creator>
  <cp:lastModifiedBy>Ashwani Kumar</cp:lastModifiedBy>
  <cp:revision>113</cp:revision>
  <dcterms:created xsi:type="dcterms:W3CDTF">2025-09-22T02:44:38Z</dcterms:created>
  <dcterms:modified xsi:type="dcterms:W3CDTF">2026-06-16T07:15:32Z</dcterms:modified>
</cp:coreProperties>
</file>