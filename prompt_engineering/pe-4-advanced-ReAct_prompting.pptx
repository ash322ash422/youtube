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7" r:id="rId2"/>
    <p:sldId id="269" r:id="rId3"/>
    <p:sldId id="270" r:id="rId4"/>
    <p:sldId id="280" r:id="rId5"/>
    <p:sldId id="271" r:id="rId6"/>
    <p:sldId id="272" r:id="rId7"/>
    <p:sldId id="273" r:id="rId8"/>
    <p:sldId id="274" r:id="rId9"/>
    <p:sldId id="275" r:id="rId10"/>
    <p:sldId id="276" r:id="rId11"/>
    <p:sldId id="278" r:id="rId12"/>
    <p:sldId id="279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1247013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0D5E61-F514-F783-C474-9CA4CD628E61}"/>
              </a:ext>
            </a:extLst>
          </p:cNvPr>
          <p:cNvSpPr txBox="1"/>
          <p:nvPr/>
        </p:nvSpPr>
        <p:spPr>
          <a:xfrm>
            <a:off x="220218" y="110215"/>
            <a:ext cx="80093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rtl="0"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= Reasoning + Acting –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Mainly used by AI Agents</a:t>
            </a:r>
          </a:p>
          <a:p>
            <a:pPr marL="0" marR="0"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It is a method where an AI:</a:t>
            </a:r>
            <a:endParaRPr lang="en-US" sz="2400" b="1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099C8E-5B9A-4C31-29DB-A245DBE84C9F}"/>
              </a:ext>
            </a:extLst>
          </p:cNvPr>
          <p:cNvSpPr/>
          <p:nvPr/>
        </p:nvSpPr>
        <p:spPr>
          <a:xfrm>
            <a:off x="3499104" y="1578335"/>
            <a:ext cx="3470148" cy="14309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 fontAlgn="ctr">
              <a:buFont typeface="+mj-lt"/>
              <a:buAutoNum type="arabicPeriod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Thinks (Reasoning)</a:t>
            </a:r>
          </a:p>
          <a:p>
            <a:pPr lvl="1" font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Breaks down the problem step-by-step </a:t>
            </a:r>
            <a:endParaRPr lang="en-US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F90B82-41B6-0A96-17CB-E349E7AA5383}"/>
              </a:ext>
            </a:extLst>
          </p:cNvPr>
          <p:cNvSpPr/>
          <p:nvPr/>
        </p:nvSpPr>
        <p:spPr>
          <a:xfrm>
            <a:off x="7815072" y="1578336"/>
            <a:ext cx="4005072" cy="13829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font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2. Acts (Action)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lvl="1" font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Uses tools, searches, calculations, or decisions </a:t>
            </a:r>
            <a:endParaRPr lang="en-US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4E1642-4C2F-CE3B-C3FE-434DF60A70B6}"/>
              </a:ext>
            </a:extLst>
          </p:cNvPr>
          <p:cNvSpPr/>
          <p:nvPr/>
        </p:nvSpPr>
        <p:spPr>
          <a:xfrm>
            <a:off x="5184648" y="3896671"/>
            <a:ext cx="4306824" cy="1220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font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3. Observes results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lvl="1" font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Check if task is finished, else continue with reasoning </a:t>
            </a:r>
            <a:endParaRPr lang="en-US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C30E3D-8621-B9E9-78A8-44F2DC42A479}"/>
              </a:ext>
            </a:extLst>
          </p:cNvPr>
          <p:cNvSpPr txBox="1"/>
          <p:nvPr/>
        </p:nvSpPr>
        <p:spPr>
          <a:xfrm>
            <a:off x="371474" y="5719698"/>
            <a:ext cx="94491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This makes the model behave more like a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problem-solving AI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instead of just generating text.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31DFEEB-EE6B-014B-D3CA-52AF80E42326}"/>
              </a:ext>
            </a:extLst>
          </p:cNvPr>
          <p:cNvSpPr/>
          <p:nvPr/>
        </p:nvSpPr>
        <p:spPr>
          <a:xfrm>
            <a:off x="7050024" y="2146573"/>
            <a:ext cx="603504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24A503F-3EDC-5817-AA7B-315592531993}"/>
              </a:ext>
            </a:extLst>
          </p:cNvPr>
          <p:cNvSpPr/>
          <p:nvPr/>
        </p:nvSpPr>
        <p:spPr>
          <a:xfrm rot="7200228">
            <a:off x="8391144" y="3237671"/>
            <a:ext cx="603504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18BB33A-F9CC-35CA-C460-F339F4CA0FE4}"/>
              </a:ext>
            </a:extLst>
          </p:cNvPr>
          <p:cNvSpPr/>
          <p:nvPr/>
        </p:nvSpPr>
        <p:spPr>
          <a:xfrm rot="13644797">
            <a:off x="5925868" y="3194797"/>
            <a:ext cx="603504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9A46-0E4D-9434-331B-B6F271EF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8CDD6-17CF-B0DE-C74F-5199A81CD426}"/>
              </a:ext>
            </a:extLst>
          </p:cNvPr>
          <p:cNvSpPr txBox="1"/>
          <p:nvPr/>
        </p:nvSpPr>
        <p:spPr>
          <a:xfrm>
            <a:off x="320040" y="126427"/>
            <a:ext cx="10287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Math Problem (No tools)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: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Solve the problem step by step using Reasoning and show your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clearly.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Question: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shop gives 20% discount on ₹500. What is final price?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this format: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Thought: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31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EDF0-4688-3A97-F726-7F61DCB8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FBF7A6-7729-94A1-81D7-276D4661782D}"/>
              </a:ext>
            </a:extLst>
          </p:cNvPr>
          <p:cNvSpPr txBox="1"/>
          <p:nvPr/>
        </p:nvSpPr>
        <p:spPr>
          <a:xfrm>
            <a:off x="1522476" y="1225296"/>
            <a:ext cx="2034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2B843-D946-94A4-5670-93293ECA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263" y="146304"/>
            <a:ext cx="5595850" cy="3403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1A1F29-D276-4B8A-5D03-949872B23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4114800"/>
            <a:ext cx="7979039" cy="2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0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48AB7-0C53-EAEF-76D1-26B8A8AA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5AC32F-39A4-6FCB-A011-45B287CA25CE}"/>
              </a:ext>
            </a:extLst>
          </p:cNvPr>
          <p:cNvSpPr txBox="1"/>
          <p:nvPr/>
        </p:nvSpPr>
        <p:spPr>
          <a:xfrm>
            <a:off x="301752" y="1214563"/>
            <a:ext cx="60716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(Traditional Prompt):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May Hallucination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trustworthy response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7D493-76B8-4797-41BC-BF7C21D37A15}"/>
              </a:ext>
            </a:extLst>
          </p:cNvPr>
          <p:cNvSpPr txBox="1"/>
          <p:nvPr/>
        </p:nvSpPr>
        <p:spPr>
          <a:xfrm>
            <a:off x="8077200" y="1214563"/>
            <a:ext cx="3700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Trustworthy response</a:t>
            </a:r>
          </a:p>
        </p:txBody>
      </p:sp>
    </p:spTree>
    <p:extLst>
      <p:ext uri="{BB962C8B-B14F-4D97-AF65-F5344CB8AC3E}">
        <p14:creationId xmlns:p14="http://schemas.microsoft.com/office/powerpoint/2010/main" val="418999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3D75-9063-24B1-DBE2-9F3C5770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DEF840-99C1-F908-84C0-C6B3B9944371}"/>
              </a:ext>
            </a:extLst>
          </p:cNvPr>
          <p:cNvSpPr txBox="1"/>
          <p:nvPr/>
        </p:nvSpPr>
        <p:spPr>
          <a:xfrm>
            <a:off x="1650492" y="365760"/>
            <a:ext cx="8182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Research Assistant - Answering Factual Questions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C34156-9823-A53C-69E4-4ECD8013A5AA}"/>
              </a:ext>
            </a:extLst>
          </p:cNvPr>
          <p:cNvSpPr txBox="1"/>
          <p:nvPr/>
        </p:nvSpPr>
        <p:spPr>
          <a:xfrm>
            <a:off x="2359152" y="1140750"/>
            <a:ext cx="869594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AI using the </a:t>
            </a:r>
            <a:r>
              <a:rPr lang="en-IN" sz="2400" b="1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(Reason + Act)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framework.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step, think through your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then decide on an</a:t>
            </a:r>
          </a:p>
          <a:p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note your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concluding.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 Who won the Nobel Prize in Physics in 1921?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this format:</a:t>
            </a:r>
          </a:p>
          <a:p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Thought:</a:t>
            </a:r>
          </a:p>
          <a:p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Action:</a:t>
            </a:r>
          </a:p>
          <a:p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Observation:</a:t>
            </a:r>
          </a:p>
          <a:p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</a:t>
            </a:r>
          </a:p>
        </p:txBody>
      </p:sp>
    </p:spTree>
    <p:extLst>
      <p:ext uri="{BB962C8B-B14F-4D97-AF65-F5344CB8AC3E}">
        <p14:creationId xmlns:p14="http://schemas.microsoft.com/office/powerpoint/2010/main" val="344603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0B332-CB67-64DB-5713-DC84F3E0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38A60-2889-3056-1B2B-F0D02A227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55" y="246888"/>
            <a:ext cx="5821778" cy="3467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7367FA-E0B7-6243-7033-8578E5315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64" y="4281734"/>
            <a:ext cx="9070696" cy="2210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C9963D-C96C-38E1-6F4E-16110CA91DC9}"/>
              </a:ext>
            </a:extLst>
          </p:cNvPr>
          <p:cNvSpPr txBox="1"/>
          <p:nvPr/>
        </p:nvSpPr>
        <p:spPr>
          <a:xfrm>
            <a:off x="1522476" y="1225296"/>
            <a:ext cx="2034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798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03D0-9F24-1815-27FB-A9A2250A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E75B379-10CE-6BF0-2347-86E880B51AB8}"/>
              </a:ext>
            </a:extLst>
          </p:cNvPr>
          <p:cNvSpPr txBox="1"/>
          <p:nvPr/>
        </p:nvSpPr>
        <p:spPr>
          <a:xfrm>
            <a:off x="672084" y="1335024"/>
            <a:ext cx="104104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AI that uses </a:t>
            </a:r>
            <a:r>
              <a:rPr lang="en-US" sz="2400" b="1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prompting. At each step, explain your reasoning, perform the next action (like calculating or verifying), and then observe the result. Stop when you reach the final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 If Sarah is twice as old as Mike, and their combined age is 36, how old is Sarah?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this format: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Thought: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585B0-F791-25A4-73A5-77235B20D030}"/>
              </a:ext>
            </a:extLst>
          </p:cNvPr>
          <p:cNvSpPr txBox="1"/>
          <p:nvPr/>
        </p:nvSpPr>
        <p:spPr>
          <a:xfrm>
            <a:off x="1897380" y="20808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Logical Problem Multistep Reasoning</a:t>
            </a:r>
          </a:p>
        </p:txBody>
      </p:sp>
    </p:spTree>
    <p:extLst>
      <p:ext uri="{BB962C8B-B14F-4D97-AF65-F5344CB8AC3E}">
        <p14:creationId xmlns:p14="http://schemas.microsoft.com/office/powerpoint/2010/main" val="1316833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AC3E0-3DC0-AF12-7391-C43F6EEF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6CE5696-499B-347E-BCF1-049A12CC8C65}"/>
              </a:ext>
            </a:extLst>
          </p:cNvPr>
          <p:cNvSpPr txBox="1"/>
          <p:nvPr/>
        </p:nvSpPr>
        <p:spPr>
          <a:xfrm>
            <a:off x="1522476" y="1225296"/>
            <a:ext cx="2034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7B7676-DD1F-6517-91F2-767B92527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660" y="226147"/>
            <a:ext cx="6374539" cy="3660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59A2D8-6E70-3017-5133-3D75C6A1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54" y="4473056"/>
            <a:ext cx="9342404" cy="201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74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C65E-E261-096A-EF02-B094DEC1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0DA9EC-FAE7-F36A-0777-541061301F09}"/>
              </a:ext>
            </a:extLst>
          </p:cNvPr>
          <p:cNvSpPr txBox="1"/>
          <p:nvPr/>
        </p:nvSpPr>
        <p:spPr>
          <a:xfrm>
            <a:off x="672084" y="1335024"/>
            <a:ext cx="1041044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AI travel assistant using </a:t>
            </a:r>
            <a:r>
              <a:rPr lang="en-US" sz="2400" b="1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every query, think step-by-step (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Thought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take an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(like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checking flight data or filtering results),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your findings, and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 until the final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Find the cheapest non-stop flight from New Delhi to Tokyo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 weekend, and summarize your reasoning.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this format: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Thought: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F080C-F5A5-A929-96ED-EFEC1FE7B173}"/>
              </a:ext>
            </a:extLst>
          </p:cNvPr>
          <p:cNvSpPr txBox="1"/>
          <p:nvPr/>
        </p:nvSpPr>
        <p:spPr>
          <a:xfrm>
            <a:off x="1897380" y="20808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An agent style query</a:t>
            </a:r>
          </a:p>
        </p:txBody>
      </p:sp>
    </p:spTree>
    <p:extLst>
      <p:ext uri="{BB962C8B-B14F-4D97-AF65-F5344CB8AC3E}">
        <p14:creationId xmlns:p14="http://schemas.microsoft.com/office/powerpoint/2010/main" val="40557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235A-49EF-AA72-F62F-4A3167F4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4FBBBB2-7421-A789-4AD6-3CCA4474E133}"/>
              </a:ext>
            </a:extLst>
          </p:cNvPr>
          <p:cNvSpPr txBox="1"/>
          <p:nvPr/>
        </p:nvSpPr>
        <p:spPr>
          <a:xfrm>
            <a:off x="379476" y="1335024"/>
            <a:ext cx="2034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D8F5BB-2EC5-60A1-339C-AD8B43AD0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508743"/>
            <a:ext cx="5307115" cy="397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78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0CD6C-C45C-ED87-A37E-33105FB1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F7A162-ADAB-FC27-297C-FB47CFA86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225" y="109728"/>
            <a:ext cx="8786951" cy="64687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3468B6-D055-D5BB-F660-CA7CB615A807}"/>
              </a:ext>
            </a:extLst>
          </p:cNvPr>
          <p:cNvSpPr txBox="1"/>
          <p:nvPr/>
        </p:nvSpPr>
        <p:spPr>
          <a:xfrm>
            <a:off x="379476" y="1335024"/>
            <a:ext cx="2034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9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8F51-F66B-E004-D0B2-45D66933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151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520</TotalTime>
  <Words>402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124</cp:revision>
  <dcterms:created xsi:type="dcterms:W3CDTF">2025-09-22T02:44:38Z</dcterms:created>
  <dcterms:modified xsi:type="dcterms:W3CDTF">2026-10-29T12:03:49Z</dcterms:modified>
</cp:coreProperties>
</file>