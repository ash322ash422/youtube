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0" r:id="rId2"/>
    <p:sldId id="293" r:id="rId3"/>
    <p:sldId id="289" r:id="rId4"/>
    <p:sldId id="261" r:id="rId5"/>
    <p:sldId id="262" r:id="rId6"/>
    <p:sldId id="284" r:id="rId7"/>
    <p:sldId id="259" r:id="rId8"/>
    <p:sldId id="283" r:id="rId9"/>
    <p:sldId id="290" r:id="rId10"/>
    <p:sldId id="263" r:id="rId11"/>
    <p:sldId id="265" r:id="rId12"/>
    <p:sldId id="291" r:id="rId13"/>
    <p:sldId id="266" r:id="rId14"/>
    <p:sldId id="267" r:id="rId15"/>
    <p:sldId id="275" r:id="rId16"/>
    <p:sldId id="268" r:id="rId17"/>
    <p:sldId id="286" r:id="rId18"/>
    <p:sldId id="276" r:id="rId19"/>
    <p:sldId id="277" r:id="rId20"/>
    <p:sldId id="274" r:id="rId21"/>
    <p:sldId id="278" r:id="rId22"/>
    <p:sldId id="279" r:id="rId23"/>
    <p:sldId id="269" r:id="rId24"/>
    <p:sldId id="292" r:id="rId25"/>
    <p:sldId id="281" r:id="rId26"/>
    <p:sldId id="280" r:id="rId27"/>
    <p:sldId id="270" r:id="rId28"/>
    <p:sldId id="271" r:id="rId29"/>
    <p:sldId id="287" r:id="rId30"/>
    <p:sldId id="288" r:id="rId31"/>
    <p:sldId id="285" r:id="rId32"/>
    <p:sldId id="282" r:id="rId33"/>
    <p:sldId id="272" r:id="rId34"/>
    <p:sldId id="273" r:id="rId35"/>
    <p:sldId id="2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4:28:43.6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 24575,'73'-8'0,"-59"6"0,0 0 0,1 0 0,-1 2 0,1 0 0,14 1 0,16 8 0,77 26 0,-88-23 0,0-1 0,1-3 0,0 0 0,40 2 0,-69-10 0,0 0 0,-1 1 0,1 0 0,-1-1 0,1 2 0,-1-1 0,1 1 0,-1 0 0,0 0 0,7 4 0,-9-4 0,0 0 0,-1 1 0,1-1 0,-1 1 0,0 0 0,0 0 0,0 0 0,0 0 0,0 0 0,-1 1 0,1-1 0,-1 0 0,0 1 0,0-1 0,0 1 0,0-1 0,-1 7 0,9 86 0,-5 0 0,-9 109 0,1-55 0,4-143 0,-2 107 0,19 175 0,-5-175 0,-8-58 0,18 83 0,-4-73 0,-9-34 0,-1 1 0,-1 0 0,4 67 0,-7-44 0,18 97 0,-12-101 0,-3 1 0,2 71 0,-9-35 0,19 134 0,-12-136 0,-6 159 0,-4-107 0,24 343 0,-15-378 0,-5-58 0,13 76 0,2-19 0,-6 0 0,-2 137 0,-4-56 0,3-117 0,3-1 0,3 0 0,31 97 0,5 22 0,-40-113 0,-7-55 0,0 0 0,0 0 0,2 0 0,6 20 0,11 24 0,-3 0 0,-2 1 0,-3 1 0,5 73 0,-14-107 0,13 48 0,-12-58 0,0 0 0,-1 0 0,-1 0 0,-1 0 0,-1 0 0,-1 22 0,-1-37 0,0 1 0,0-1 0,-1 0 0,1 0 0,-1 1 0,0-1 0,0-1 0,-1 1 0,1 0 0,-1 0 0,0-1 0,0 0 0,0 1 0,0-1 0,0 0 0,-1 0 0,0-1 0,1 1 0,-9 3 0,-8 4 0,0-1 0,-40 12 0,18-6 0,19-6 0,2 1 0,-32 19 0,38-22 0,0-1 0,0-1 0,-1 0 0,1-1 0,-1 0 0,0-1 0,0-1 0,-17 0 0,-13 3 0,15 1 0,1 1 0,-54 21 0,49-15 0,-54 12 0,77-23 0,1-1 0,-1 0 0,0 0 0,0-1 0,1-1 0,-1 0 0,0-1 0,1 0 0,-1 0 0,1-2 0,0 1 0,0-1 0,0-1 0,0 0 0,1 0 0,-1-1 0,2-1 0,-1 1 0,-13-14 0,21 19-8,1-1-1,-1 0 1,1 1-1,-1-1 1,1 0-1,0 0 0,0 0 1,0 0-1,0 0 1,0 0-1,-1-4 1,2 5 15,0 1 1,0-1 0,0 0-1,0 0 1,0 0-1,0 1 1,0-1-1,1 0 1,-1 0 0,0 1-1,0-1 1,1 0-1,-1 0 1,0 1 0,1-1-1,-1 0 1,1 1-1,-1-1 1,1 1 0,-1-1-1,1 1 1,0-2-1,4 0-71,-1-1 0,1 1 0,0 0-1,0 0 1,0 0 0,0 1 0,8-2-1,4-1-858,2-1-5903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EEAA7-AFB7-4D13-AC6E-D387B4394DA4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BD907-10E1-4554-8631-1965B6043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BD907-10E1-4554-8631-1965B6043C4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94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7FC1-BD8D-2E47-B477-1CB23EB5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DA90D-F3E5-E911-5F40-3207ACC58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D6F99-28A0-6B5C-9848-5B3D8D92E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887CA-761A-5947-E606-D8FF2EE51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BD907-10E1-4554-8631-1965B6043C4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4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B96CF-7863-A672-7821-8B6CF3FA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014E1-E22D-3E71-C9A5-C4188A7F4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6AAA-4903-C056-CC76-A63B36E74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616AB-4991-7EE0-7430-CA3BF088A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BD907-10E1-4554-8631-1965B6043C4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149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75C0EAF-0950-0760-9C6E-195DBA10CA9C}"/>
              </a:ext>
            </a:extLst>
          </p:cNvPr>
          <p:cNvSpPr txBox="1"/>
          <p:nvPr/>
        </p:nvSpPr>
        <p:spPr>
          <a:xfrm>
            <a:off x="507098" y="1224958"/>
            <a:ext cx="111778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 and optimization involve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designing, testing, and refining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text (prompts) to guide AI models like LLMs to produce output that 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accurate,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high-quality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37F8F9-E1A5-1EF5-0306-688B17BF7F71}"/>
              </a:ext>
            </a:extLst>
          </p:cNvPr>
          <p:cNvSpPr/>
          <p:nvPr/>
        </p:nvSpPr>
        <p:spPr>
          <a:xfrm>
            <a:off x="4361688" y="3813048"/>
            <a:ext cx="3154680" cy="1490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LLM</a:t>
            </a:r>
          </a:p>
          <a:p>
            <a:pPr algn="ctr"/>
            <a:r>
              <a:rPr lang="en-US" sz="2400" dirty="0"/>
              <a:t>(ChatGPT, Gemini, Claude AI,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152CAF7-63FF-9D4F-627B-E71F0244D650}"/>
              </a:ext>
            </a:extLst>
          </p:cNvPr>
          <p:cNvSpPr/>
          <p:nvPr/>
        </p:nvSpPr>
        <p:spPr>
          <a:xfrm>
            <a:off x="2807208" y="4206240"/>
            <a:ext cx="1188720" cy="640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56796D8-0137-50C5-5868-116E7CB1A337}"/>
              </a:ext>
            </a:extLst>
          </p:cNvPr>
          <p:cNvSpPr/>
          <p:nvPr/>
        </p:nvSpPr>
        <p:spPr>
          <a:xfrm>
            <a:off x="7729728" y="4130040"/>
            <a:ext cx="1130808" cy="640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A1EE3B-13A3-01FA-407E-6CA0BC9E9992}"/>
              </a:ext>
            </a:extLst>
          </p:cNvPr>
          <p:cNvSpPr/>
          <p:nvPr/>
        </p:nvSpPr>
        <p:spPr>
          <a:xfrm>
            <a:off x="777240" y="3933444"/>
            <a:ext cx="1664208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871A8B-AC69-4DB3-3EA0-FB268C1A9952}"/>
              </a:ext>
            </a:extLst>
          </p:cNvPr>
          <p:cNvSpPr/>
          <p:nvPr/>
        </p:nvSpPr>
        <p:spPr>
          <a:xfrm>
            <a:off x="9168384" y="3933444"/>
            <a:ext cx="1664208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91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2058-02CD-D02E-638E-43BBE6F2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5222DD9C-EBA0-B2B0-C888-2B414F30A020}"/>
              </a:ext>
            </a:extLst>
          </p:cNvPr>
          <p:cNvSpPr txBox="1"/>
          <p:nvPr/>
        </p:nvSpPr>
        <p:spPr>
          <a:xfrm>
            <a:off x="134565" y="197669"/>
            <a:ext cx="118429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why prompt matters through a simple example</a:t>
            </a:r>
          </a:p>
          <a:p>
            <a:pPr>
              <a:buNone/>
            </a:pPr>
            <a:r>
              <a:rPr lang="en-US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pPr>
              <a:buNone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leaders choose AI Vendors.</a:t>
            </a:r>
          </a:p>
          <a:p>
            <a:pPr>
              <a:buNone/>
            </a:pP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 can be 5 different types answering the above question with </a:t>
            </a:r>
            <a:r>
              <a:rPr lang="en-US" sz="2400" b="1" u="sng">
                <a:solidFill>
                  <a:schemeClr val="accent4">
                    <a:lumMod val="60000"/>
                    <a:lumOff val="40000"/>
                  </a:schemeClr>
                </a:solidFill>
              </a:rPr>
              <a:t>“same”</a:t>
            </a:r>
            <a:r>
              <a:rPr lang="en-US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 content</a:t>
            </a:r>
          </a:p>
          <a:p>
            <a:pPr>
              <a:buNone/>
            </a:pPr>
            <a:endParaRPr lang="en-US" sz="2400" b="1" u="sng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Leaders must be able </a:t>
            </a:r>
            <a:r>
              <a:rPr lang="en-US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to cut through marketing hype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to evaluate the technical foundations of enterprise agent platforms.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Leaders must be able                                                        </a:t>
            </a:r>
            <a:r>
              <a:rPr lang="en-US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to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evaluate the technical foundations of enterprise agent platforms.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Leaders must                                                                           </a:t>
            </a:r>
            <a:r>
              <a:rPr lang="en-US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the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technical foundations of enterprise agent platforms.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                                                                                     </a:t>
            </a:r>
            <a:r>
              <a:rPr lang="en-US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Technical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foundations of enterprise agent platforms.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                                                                                                      Foundations of enterprise agent platforms.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F972B-45B3-288C-BF4F-846F01419AA3}"/>
              </a:ext>
            </a:extLst>
          </p:cNvPr>
          <p:cNvSpPr txBox="1"/>
          <p:nvPr/>
        </p:nvSpPr>
        <p:spPr>
          <a:xfrm>
            <a:off x="1857022" y="5684545"/>
            <a:ext cx="619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With prompting, we control the output of LLM.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ask it to be concise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9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0731C-F97B-1C41-5A63-33D4A3A9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8E8A41AF-7468-7869-1ED8-1B24AE4C6DFC}"/>
              </a:ext>
            </a:extLst>
          </p:cNvPr>
          <p:cNvSpPr txBox="1"/>
          <p:nvPr/>
        </p:nvSpPr>
        <p:spPr>
          <a:xfrm>
            <a:off x="88957" y="242852"/>
            <a:ext cx="78139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Follows the Engineering Method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 Gathering: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Defining exactly what the AI needs to accomplish.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Prototyping: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Writing an initial version of the prompt.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Testing and Iteration: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Running the prompt multiple times against different inputs.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Debugging: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Identifying why the model failed (e.g., hallucination, ignoring constraints) and fixing the prompt to eliminate that error.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6A4AA-A100-7D4C-C221-4F3DDF5E60A6}"/>
              </a:ext>
            </a:extLst>
          </p:cNvPr>
          <p:cNvSpPr/>
          <p:nvPr/>
        </p:nvSpPr>
        <p:spPr>
          <a:xfrm>
            <a:off x="4361688" y="3813048"/>
            <a:ext cx="3154680" cy="1490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LLM</a:t>
            </a:r>
          </a:p>
          <a:p>
            <a:pPr algn="ctr"/>
            <a:r>
              <a:rPr lang="en-US" sz="2400" dirty="0"/>
              <a:t>(ChatGPT, Gemini, Claude AI,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BC0DB2E-91C6-6D3A-AA74-DA9B321762AD}"/>
              </a:ext>
            </a:extLst>
          </p:cNvPr>
          <p:cNvSpPr/>
          <p:nvPr/>
        </p:nvSpPr>
        <p:spPr>
          <a:xfrm>
            <a:off x="2807208" y="4206240"/>
            <a:ext cx="1188720" cy="640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07C3C08-BC3F-CFAD-419B-C2AC9019493E}"/>
              </a:ext>
            </a:extLst>
          </p:cNvPr>
          <p:cNvSpPr/>
          <p:nvPr/>
        </p:nvSpPr>
        <p:spPr>
          <a:xfrm>
            <a:off x="7729728" y="4130040"/>
            <a:ext cx="1130808" cy="640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BF0BA1-42E3-ACC4-E978-A8DF06E27B66}"/>
              </a:ext>
            </a:extLst>
          </p:cNvPr>
          <p:cNvSpPr/>
          <p:nvPr/>
        </p:nvSpPr>
        <p:spPr>
          <a:xfrm>
            <a:off x="777240" y="3933444"/>
            <a:ext cx="1664208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6591A3-4491-63D2-ED0A-D0183076390D}"/>
              </a:ext>
            </a:extLst>
          </p:cNvPr>
          <p:cNvSpPr/>
          <p:nvPr/>
        </p:nvSpPr>
        <p:spPr>
          <a:xfrm>
            <a:off x="9168384" y="3933444"/>
            <a:ext cx="1664208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Output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44E24-BD87-E7E3-313F-7A271B22ECD1}"/>
              </a:ext>
            </a:extLst>
          </p:cNvPr>
          <p:cNvSpPr txBox="1"/>
          <p:nvPr/>
        </p:nvSpPr>
        <p:spPr>
          <a:xfrm>
            <a:off x="8153400" y="653212"/>
            <a:ext cx="306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an email for client that is late on payments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6AF69-5E46-F68A-C513-060CFF5B7C45}"/>
              </a:ext>
            </a:extLst>
          </p:cNvPr>
          <p:cNvSpPr txBox="1"/>
          <p:nvPr/>
        </p:nvSpPr>
        <p:spPr>
          <a:xfrm>
            <a:off x="8096250" y="1447245"/>
            <a:ext cx="3681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Generate email for XYZ. He is late on payment.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B8633-10E3-F226-867D-889497375D14}"/>
              </a:ext>
            </a:extLst>
          </p:cNvPr>
          <p:cNvSpPr txBox="1"/>
          <p:nvPr/>
        </p:nvSpPr>
        <p:spPr>
          <a:xfrm>
            <a:off x="8295132" y="2404794"/>
            <a:ext cx="348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Keep refining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Keep it under 80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Keep the tone friendly.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82B3943-9643-E5EE-4DC5-F31C685897E8}"/>
              </a:ext>
            </a:extLst>
          </p:cNvPr>
          <p:cNvSpPr/>
          <p:nvPr/>
        </p:nvSpPr>
        <p:spPr>
          <a:xfrm rot="11148238">
            <a:off x="7542207" y="727880"/>
            <a:ext cx="448056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893A6BF-3741-7C44-9AE9-A6DC2CD52BF0}"/>
              </a:ext>
            </a:extLst>
          </p:cNvPr>
          <p:cNvSpPr/>
          <p:nvPr/>
        </p:nvSpPr>
        <p:spPr>
          <a:xfrm rot="11148238">
            <a:off x="7678871" y="1577903"/>
            <a:ext cx="448056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054E7A0-1C95-112B-E0DF-DF77F8760D50}"/>
              </a:ext>
            </a:extLst>
          </p:cNvPr>
          <p:cNvSpPr/>
          <p:nvPr/>
        </p:nvSpPr>
        <p:spPr>
          <a:xfrm rot="11148238">
            <a:off x="7743375" y="2418139"/>
            <a:ext cx="448056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6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4F6F-FF16-B480-353A-FD9A5B95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66140D9-FCDC-B3BB-C84D-13761381A495}"/>
              </a:ext>
            </a:extLst>
          </p:cNvPr>
          <p:cNvSpPr txBox="1"/>
          <p:nvPr/>
        </p:nvSpPr>
        <p:spPr>
          <a:xfrm>
            <a:off x="164592" y="1698209"/>
            <a:ext cx="114025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understand language like humans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convert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into tokens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are basically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 representing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pieces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Humans see: I love machine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it-IT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sees         :  [101, 1045, 2293, 3698, 4083, 102]</a:t>
            </a:r>
          </a:p>
        </p:txBody>
      </p:sp>
    </p:spTree>
    <p:extLst>
      <p:ext uri="{BB962C8B-B14F-4D97-AF65-F5344CB8AC3E}">
        <p14:creationId xmlns:p14="http://schemas.microsoft.com/office/powerpoint/2010/main" val="51335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2779-FCFB-257D-1625-51888470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17D412D5-F2E2-B9C2-6BAC-F6F233D04336}"/>
              </a:ext>
            </a:extLst>
          </p:cNvPr>
          <p:cNvSpPr txBox="1"/>
          <p:nvPr/>
        </p:nvSpPr>
        <p:spPr>
          <a:xfrm>
            <a:off x="693168" y="920969"/>
            <a:ext cx="104271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Tokenization?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Tokenization = Breaking text into smaller units (tokens).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Tokens can be: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– happy, fish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Parts of words – ungodly (un + godly)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Characters – 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Symbols – smiling emoji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Punctuation – what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09961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8D98-C003-6054-D9E4-E77C65AC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5901341-7519-ABF2-BFDF-828C4C9FE4C5}"/>
              </a:ext>
            </a:extLst>
          </p:cNvPr>
          <p:cNvSpPr txBox="1"/>
          <p:nvPr/>
        </p:nvSpPr>
        <p:spPr>
          <a:xfrm>
            <a:off x="290048" y="25360"/>
            <a:ext cx="116119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  Unbelievable performance!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Possible tokens: ["Un", "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believ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"able", "performance", "!"]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                     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[1012,  45892,    672,         9834,                0]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(5 tokens) these are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0BC90-49F3-2B18-FD52-5C114DD674AD}"/>
              </a:ext>
            </a:extLst>
          </p:cNvPr>
          <p:cNvSpPr txBox="1"/>
          <p:nvPr/>
        </p:nvSpPr>
        <p:spPr>
          <a:xfrm>
            <a:off x="4277868" y="5291590"/>
            <a:ext cx="8170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Into LLM: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tokens → IDs → vectors → N. network</a:t>
            </a:r>
          </a:p>
          <a:p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from  LLM: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IDs → tokens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AC6DA-4A97-5168-6274-B61B4A0EF06B}"/>
              </a:ext>
            </a:extLst>
          </p:cNvPr>
          <p:cNvSpPr txBox="1"/>
          <p:nvPr/>
        </p:nvSpPr>
        <p:spPr>
          <a:xfrm>
            <a:off x="132588" y="4298002"/>
            <a:ext cx="484174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final input becomes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b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[0.12, -0.45, 0.88, 0.33],</a:t>
            </a:r>
            <a:b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[0.91, 0.02, -0.11, 0.76],</a:t>
            </a:r>
            <a:b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[0.55, -0.66, 0.14, 0.99],</a:t>
            </a:r>
            <a:b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[0.20, 0.77, -0.88, 0.10],</a:t>
            </a:r>
            <a:b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[0.01, 0.02, 0.03, 0.04]</a:t>
            </a:r>
            <a:b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1E945-27ED-032B-88AF-720557EFCF40}"/>
              </a:ext>
            </a:extLst>
          </p:cNvPr>
          <p:cNvSpPr txBox="1"/>
          <p:nvPr/>
        </p:nvSpPr>
        <p:spPr>
          <a:xfrm>
            <a:off x="132588" y="1792349"/>
            <a:ext cx="46664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token id is a vector (say in 4D)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1012   → [0.12, -0.45, 0.88, 0.33]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45892 → [0.91, 0.02, -0.11, 0.76]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672     → [0.55, -0.66, 0.14, 0.99]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9834   → [0.20, 0.77, -0.88, 0.10]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         → [0.01, 0.02, 0.03, 0.04]</a:t>
            </a:r>
          </a:p>
        </p:txBody>
      </p:sp>
    </p:spTree>
    <p:extLst>
      <p:ext uri="{BB962C8B-B14F-4D97-AF65-F5344CB8AC3E}">
        <p14:creationId xmlns:p14="http://schemas.microsoft.com/office/powerpoint/2010/main" val="343753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100965" y="394347"/>
            <a:ext cx="71685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Tokenization Matters in Prompt Engineering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Token Limit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AI model has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token capacity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models have input + output token limits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is too long → information gets cut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token limit is 20.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44E76-456E-DCE6-EC3C-C9DB5C0EE503}"/>
              </a:ext>
            </a:extLst>
          </p:cNvPr>
          <p:cNvSpPr txBox="1"/>
          <p:nvPr/>
        </p:nvSpPr>
        <p:spPr>
          <a:xfrm>
            <a:off x="310896" y="4544568"/>
            <a:ext cx="7790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want to go to London. I am living in  </a:t>
            </a: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Moscow. I do not want to live in Moscow. </a:t>
            </a:r>
            <a:r>
              <a:rPr lang="en-US" sz="2400" b="1" i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was thinking of taking train. How can I go there in London ?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5A2014-6F7B-4BBE-A11A-8A227BD0BD6D}"/>
              </a:ext>
            </a:extLst>
          </p:cNvPr>
          <p:cNvSpPr txBox="1"/>
          <p:nvPr/>
        </p:nvSpPr>
        <p:spPr>
          <a:xfrm>
            <a:off x="8970264" y="4828032"/>
            <a:ext cx="3221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part exceeds the token limit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74BC77F-9F15-3498-2411-24AEE479669E}"/>
              </a:ext>
            </a:extLst>
          </p:cNvPr>
          <p:cNvSpPr/>
          <p:nvPr/>
        </p:nvSpPr>
        <p:spPr>
          <a:xfrm rot="5400000" flipH="1">
            <a:off x="8086344" y="4812499"/>
            <a:ext cx="457199" cy="6644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1E7E-7BFD-8D61-7F2B-2EBA62F8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39C3A5-AB16-3997-40D8-1C650FDF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545" y="163970"/>
            <a:ext cx="8087854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1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986E-A5B8-72C2-A3A8-8AFC2CEA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07BBEC-A291-BDD8-EDEE-B1F2F0464E5C}"/>
              </a:ext>
            </a:extLst>
          </p:cNvPr>
          <p:cNvSpPr txBox="1"/>
          <p:nvPr/>
        </p:nvSpPr>
        <p:spPr>
          <a:xfrm>
            <a:off x="96012" y="1040398"/>
            <a:ext cx="2623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Cost Calculation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APIs charge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 token used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tokens = More cost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6430BF-0CE8-3A3F-6F38-7B88B4EC8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442101"/>
              </p:ext>
            </p:extLst>
          </p:nvPr>
        </p:nvGraphicFramePr>
        <p:xfrm>
          <a:off x="3116580" y="1296430"/>
          <a:ext cx="8979408" cy="4898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7944">
                  <a:extLst>
                    <a:ext uri="{9D8B030D-6E8A-4147-A177-3AD203B41FA5}">
                      <a16:colId xmlns:a16="http://schemas.microsoft.com/office/drawing/2014/main" val="162351804"/>
                    </a:ext>
                  </a:extLst>
                </a:gridCol>
                <a:gridCol w="1905610">
                  <a:extLst>
                    <a:ext uri="{9D8B030D-6E8A-4147-A177-3AD203B41FA5}">
                      <a16:colId xmlns:a16="http://schemas.microsoft.com/office/drawing/2014/main" val="1868725405"/>
                    </a:ext>
                  </a:extLst>
                </a:gridCol>
                <a:gridCol w="1647749">
                  <a:extLst>
                    <a:ext uri="{9D8B030D-6E8A-4147-A177-3AD203B41FA5}">
                      <a16:colId xmlns:a16="http://schemas.microsoft.com/office/drawing/2014/main" val="595734976"/>
                    </a:ext>
                  </a:extLst>
                </a:gridCol>
                <a:gridCol w="1647749">
                  <a:extLst>
                    <a:ext uri="{9D8B030D-6E8A-4147-A177-3AD203B41FA5}">
                      <a16:colId xmlns:a16="http://schemas.microsoft.com/office/drawing/2014/main" val="3040923979"/>
                    </a:ext>
                  </a:extLst>
                </a:gridCol>
                <a:gridCol w="1940356">
                  <a:extLst>
                    <a:ext uri="{9D8B030D-6E8A-4147-A177-3AD203B41FA5}">
                      <a16:colId xmlns:a16="http://schemas.microsoft.com/office/drawing/2014/main" val="283644905"/>
                    </a:ext>
                  </a:extLst>
                </a:gridCol>
              </a:tblGrid>
              <a:tr h="37939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sng" strike="noStrike" dirty="0">
                          <a:effectLst/>
                        </a:rPr>
                        <a:t>Provider &amp; Model</a:t>
                      </a:r>
                      <a:endParaRPr lang="en-IN" sz="1600" b="1" i="0" u="sng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sng" strike="noStrike">
                          <a:effectLst/>
                        </a:rPr>
                        <a:t>Specific Model Example</a:t>
                      </a:r>
                      <a:endParaRPr lang="en-IN" sz="1600" b="1" i="0" u="sng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sng" strike="noStrike" dirty="0">
                          <a:effectLst/>
                        </a:rPr>
                        <a:t>Input Cost 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600" b="1" u="sng" strike="noStrike" dirty="0">
                          <a:effectLst/>
                        </a:rPr>
                        <a:t>(per 1M tokens)</a:t>
                      </a:r>
                      <a:endParaRPr lang="en-IN" sz="1600" b="1" i="0" u="sng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sng" strike="noStrike" dirty="0">
                          <a:effectLst/>
                        </a:rPr>
                        <a:t>Output Cost 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1600" b="1" u="sng" strike="noStrike" dirty="0">
                          <a:effectLst/>
                        </a:rPr>
                        <a:t>(per 1M tokens)</a:t>
                      </a:r>
                      <a:endParaRPr lang="en-IN" sz="1600" b="1" i="0" u="sng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sng" strike="noStrike" dirty="0">
                          <a:effectLst/>
                        </a:rPr>
                        <a:t>Key Advantage / Feature</a:t>
                      </a:r>
                      <a:endParaRPr lang="en-IN" sz="1600" b="1" i="0" u="sng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1766403730"/>
                  </a:ext>
                </a:extLst>
              </a:tr>
              <a:tr h="37939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OpenAI (Frontier)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GPT-6 Astra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$10.00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$50.00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Next-gen flagship reasoning.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956420105"/>
                  </a:ext>
                </a:extLst>
              </a:tr>
              <a:tr h="4730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OpenAI (Flagship)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GPT-5.6 Sol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$4.00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$20.00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Standard production powerhouse.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2485462098"/>
                  </a:ext>
                </a:extLst>
              </a:tr>
              <a:tr h="4730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OpenAI (Flash/Mini)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GPT-5.6 Luna / GPT-4o mini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$0.15 – $0.20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$0.60 – $1.20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Deep cost efficiency for high volume.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2993704714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Anthropic (Frontier)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Claude Fable 5.1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$10.00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$50.00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Complex logic and long agentic workflows.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4103317175"/>
                  </a:ext>
                </a:extLst>
              </a:tr>
              <a:tr h="37939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Anthropic (Flagship)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Claude Sonnet 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$2.00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$10.00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Premium coding and analysis.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3783575096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Anthropic (Flash/Mini)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Claude Haiku 4.5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$1.00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$5.00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Fast, balanced mid-tier workloads.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1010356693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 err="1">
                          <a:effectLst/>
                        </a:rPr>
                        <a:t>Groq</a:t>
                      </a:r>
                      <a:r>
                        <a:rPr lang="en-IN" sz="1600" b="1" u="none" strike="noStrike" dirty="0">
                          <a:effectLst/>
                        </a:rPr>
                        <a:t> (Open-Weights)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Llama 3.3 70B Versatile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$0.59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$0.79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Sub-100ms ultra-low latency inference.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3106289381"/>
                  </a:ext>
                </a:extLst>
              </a:tr>
              <a:tr h="5667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 err="1">
                          <a:effectLst/>
                        </a:rPr>
                        <a:t>Groq</a:t>
                      </a:r>
                      <a:r>
                        <a:rPr lang="en-IN" sz="1600" b="1" u="none" strike="noStrike" dirty="0">
                          <a:effectLst/>
                        </a:rPr>
                        <a:t> (Lightweight)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Llama 3.1 8B Instant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$0.05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$0.08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Extreme speed, highly affordable open-source.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84" marR="4684" marT="4684" marB="0"/>
                </a:tc>
                <a:extLst>
                  <a:ext uri="{0D108BD9-81ED-4DB2-BD59-A6C34878D82A}">
                    <a16:rowId xmlns:a16="http://schemas.microsoft.com/office/drawing/2014/main" val="36326745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D370FB-A370-2A3D-174C-88B7AFFB7391}"/>
              </a:ext>
            </a:extLst>
          </p:cNvPr>
          <p:cNvSpPr txBox="1"/>
          <p:nvPr/>
        </p:nvSpPr>
        <p:spPr>
          <a:xfrm>
            <a:off x="1988820" y="427982"/>
            <a:ext cx="78226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2026 API Token Price Comparison (Per 1 Million Tokens)</a:t>
            </a:r>
          </a:p>
        </p:txBody>
      </p:sp>
    </p:spTree>
    <p:extLst>
      <p:ext uri="{BB962C8B-B14F-4D97-AF65-F5344CB8AC3E}">
        <p14:creationId xmlns:p14="http://schemas.microsoft.com/office/powerpoint/2010/main" val="318962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1784-DCE9-DCB5-0C31-7F2F4C20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D94085-449A-2646-3ED7-B509E94B3A12}"/>
              </a:ext>
            </a:extLst>
          </p:cNvPr>
          <p:cNvSpPr txBox="1"/>
          <p:nvPr/>
        </p:nvSpPr>
        <p:spPr>
          <a:xfrm>
            <a:off x="292989" y="257187"/>
            <a:ext cx="98596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Prompt Clarity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tokenization can change meaning.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 grandma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eat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grandma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 changes tokens → meaning changes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first case      : Tokens could be [234, 12, 0,   34]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second case: Tokens could be [215, 12, 6, 37, 892]</a:t>
            </a:r>
          </a:p>
        </p:txBody>
      </p:sp>
    </p:spTree>
    <p:extLst>
      <p:ext uri="{BB962C8B-B14F-4D97-AF65-F5344CB8AC3E}">
        <p14:creationId xmlns:p14="http://schemas.microsoft.com/office/powerpoint/2010/main" val="21276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646A-C09A-9147-0AE2-A7C2894B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64FB20C-BEAB-7BCE-2467-E1A631605A9E}"/>
              </a:ext>
            </a:extLst>
          </p:cNvPr>
          <p:cNvSpPr txBox="1"/>
          <p:nvPr/>
        </p:nvSpPr>
        <p:spPr>
          <a:xfrm>
            <a:off x="720103" y="2583594"/>
            <a:ext cx="9859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</p:spTree>
    <p:extLst>
      <p:ext uri="{BB962C8B-B14F-4D97-AF65-F5344CB8AC3E}">
        <p14:creationId xmlns:p14="http://schemas.microsoft.com/office/powerpoint/2010/main" val="129778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432F-274F-0CFC-28E9-9E416DA7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8D2F8-5C15-4749-D603-6D9795F025D6}"/>
              </a:ext>
            </a:extLst>
          </p:cNvPr>
          <p:cNvSpPr txBox="1"/>
          <p:nvPr/>
        </p:nvSpPr>
        <p:spPr>
          <a:xfrm>
            <a:off x="1395000" y="537501"/>
            <a:ext cx="98596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Hallucination?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won FIFA World Cup 2050?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confidently give wrong answer: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FIFA was won by Argentina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0AAA0-61DA-2DE3-8EA8-8A5CC3E380BC}"/>
              </a:ext>
            </a:extLst>
          </p:cNvPr>
          <p:cNvSpPr txBox="1"/>
          <p:nvPr/>
        </p:nvSpPr>
        <p:spPr>
          <a:xfrm>
            <a:off x="690372" y="4580466"/>
            <a:ext cx="7758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 happens when AI: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false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Sounds confident, but information is incorrect or invented</a:t>
            </a:r>
          </a:p>
        </p:txBody>
      </p:sp>
    </p:spTree>
    <p:extLst>
      <p:ext uri="{BB962C8B-B14F-4D97-AF65-F5344CB8AC3E}">
        <p14:creationId xmlns:p14="http://schemas.microsoft.com/office/powerpoint/2010/main" val="70100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605F-B7B7-01EA-6F91-2D463EBE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0C5F40-6196-BAAF-9D14-D8C4A4CC6487}"/>
              </a:ext>
            </a:extLst>
          </p:cNvPr>
          <p:cNvSpPr txBox="1"/>
          <p:nvPr/>
        </p:nvSpPr>
        <p:spPr>
          <a:xfrm>
            <a:off x="470916" y="3344709"/>
            <a:ext cx="88637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Missing Information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prompt lacks details → AI guesses.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lacking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Details: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am trying to go to London. Tell me cheapest travel mode.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E5D72-C9D5-F53F-0846-7B1FA5D468E7}"/>
              </a:ext>
            </a:extLst>
          </p:cNvPr>
          <p:cNvSpPr txBox="1"/>
          <p:nvPr/>
        </p:nvSpPr>
        <p:spPr>
          <a:xfrm>
            <a:off x="470916" y="1074510"/>
            <a:ext cx="97429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Hallucination Happens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Prediction Based Model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predicts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probable next 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truth. It is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verifying.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09C277-96F1-DFD7-3575-4B2BD3CDB29C}"/>
              </a:ext>
            </a:extLst>
          </p:cNvPr>
          <p:cNvSpPr txBox="1"/>
          <p:nvPr/>
        </p:nvSpPr>
        <p:spPr>
          <a:xfrm>
            <a:off x="9334696" y="4118140"/>
            <a:ext cx="28047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does not know where you are living and when you have to be there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A44C26F-5025-80DB-C5BE-4653520D3B34}"/>
              </a:ext>
            </a:extLst>
          </p:cNvPr>
          <p:cNvSpPr/>
          <p:nvPr/>
        </p:nvSpPr>
        <p:spPr>
          <a:xfrm>
            <a:off x="8174072" y="4853487"/>
            <a:ext cx="1097280" cy="384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CAB3AC-E25E-A57A-BE26-F9157DA0DFC4}"/>
              </a:ext>
            </a:extLst>
          </p:cNvPr>
          <p:cNvSpPr txBox="1"/>
          <p:nvPr/>
        </p:nvSpPr>
        <p:spPr>
          <a:xfrm>
            <a:off x="413004" y="5496420"/>
            <a:ext cx="110505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Details: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am living in Berlin. I have to reach London between Sep 21 to 23, of this year.  Tell me cheapest train or flight.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40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F4EE-EB17-42EE-3881-A7470ADF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998F6-9734-7D0E-E5C3-B94558928266}"/>
              </a:ext>
            </a:extLst>
          </p:cNvPr>
          <p:cNvSpPr txBox="1"/>
          <p:nvPr/>
        </p:nvSpPr>
        <p:spPr>
          <a:xfrm>
            <a:off x="178848" y="308750"/>
            <a:ext cx="93217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Context + Constraint</a:t>
            </a:r>
          </a:p>
          <a:p>
            <a:pPr marL="457200" indent="-457200">
              <a:buAutoNum type="arabicParenR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diabetes.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You are a high school biology textbook author.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 Type 2 diabetes for class 11 students in exactly 100 words.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students are all majoring in biology.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Base your explanation strictly on standard, globally accepted medical guidelines (like the WHO or ADA).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a specific physiological mechanism is still scientifically debated or unknown, do not speculate; stick only to proven facts.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 Filler: Do not include introductory sentences. Start directly with the definition.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3A07B-4B48-72BA-A863-CEE75E08F252}"/>
              </a:ext>
            </a:extLst>
          </p:cNvPr>
          <p:cNvSpPr txBox="1"/>
          <p:nvPr/>
        </p:nvSpPr>
        <p:spPr>
          <a:xfrm>
            <a:off x="9841442" y="5058642"/>
            <a:ext cx="24511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Constraints to reduce hallucination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BE64D9-954A-7B28-7BC8-E5790269EA39}"/>
                  </a:ext>
                </a:extLst>
              </p14:cNvPr>
              <p14:cNvContentPartPr/>
              <p14:nvPr/>
            </p14:nvContentPartPr>
            <p14:xfrm>
              <a:off x="9294658" y="4378131"/>
              <a:ext cx="430920" cy="2153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BE64D9-954A-7B28-7BC8-E5790269EA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76658" y="4360491"/>
                <a:ext cx="466560" cy="218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032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325F-72AF-C394-E6D8-E4C98D42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9223F-7261-59E1-C8E6-DD8A9DADA604}"/>
              </a:ext>
            </a:extLst>
          </p:cNvPr>
          <p:cNvSpPr txBox="1"/>
          <p:nvPr/>
        </p:nvSpPr>
        <p:spPr>
          <a:xfrm>
            <a:off x="224028" y="921549"/>
            <a:ext cx="112328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Ask AI to Admit Uncertainty</a:t>
            </a: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the cure for Type 2 diabetes? 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If unsure, say "I don’t know"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18701-1E98-864B-2380-83BBC8BC029F}"/>
              </a:ext>
            </a:extLst>
          </p:cNvPr>
          <p:cNvSpPr txBox="1"/>
          <p:nvPr/>
        </p:nvSpPr>
        <p:spPr>
          <a:xfrm>
            <a:off x="170363" y="3705320"/>
            <a:ext cx="107030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Use Source Requirement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 is the cure for Type 2 diabetes. If unsure, say "I don’t know".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following source to answer: &lt;</a:t>
            </a:r>
            <a:r>
              <a:rPr lang="en-US" sz="2400" b="1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copy_paste_text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</a:t>
            </a:r>
          </a:p>
          <a:p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Provide answer with references.</a:t>
            </a:r>
          </a:p>
        </p:txBody>
      </p:sp>
    </p:spTree>
    <p:extLst>
      <p:ext uri="{BB962C8B-B14F-4D97-AF65-F5344CB8AC3E}">
        <p14:creationId xmlns:p14="http://schemas.microsoft.com/office/powerpoint/2010/main" val="2148167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1F40F-4786-72BA-7DDF-19A844E1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C43C40-96BD-393C-A4D2-2DE6E52198D7}"/>
              </a:ext>
            </a:extLst>
          </p:cNvPr>
          <p:cNvSpPr txBox="1"/>
          <p:nvPr/>
        </p:nvSpPr>
        <p:spPr>
          <a:xfrm>
            <a:off x="197137" y="537501"/>
            <a:ext cx="8863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Reduce Hallucinations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Break Complicated Tasks into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research paper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Steps 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Step1 -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will give you a general idea, and you will propose 3 specific, researchable angles…..[Write you general idea]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2 -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Ask AI to create outline on each of 3 research angles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3 -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Ask AI to expand sections for each research topic</a:t>
            </a:r>
          </a:p>
        </p:txBody>
      </p:sp>
    </p:spTree>
    <p:extLst>
      <p:ext uri="{BB962C8B-B14F-4D97-AF65-F5344CB8AC3E}">
        <p14:creationId xmlns:p14="http://schemas.microsoft.com/office/powerpoint/2010/main" val="1458740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C7AF-AB77-1C07-7828-B14197FF1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59EFF-6895-31D6-08D5-72C563082AC9}"/>
              </a:ext>
            </a:extLst>
          </p:cNvPr>
          <p:cNvSpPr txBox="1"/>
          <p:nvPr/>
        </p:nvSpPr>
        <p:spPr>
          <a:xfrm>
            <a:off x="242857" y="912405"/>
            <a:ext cx="88637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Break Tasks into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me a python code that analyzes the iris dataset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should I load a iris data into pandas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dataframe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do I print the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dataframe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df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can I identify the datatype 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do I remove duplicates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can I visualize the numeric columns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6: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do I print descriptive statistics</a:t>
            </a:r>
          </a:p>
        </p:txBody>
      </p:sp>
    </p:spTree>
    <p:extLst>
      <p:ext uri="{BB962C8B-B14F-4D97-AF65-F5344CB8AC3E}">
        <p14:creationId xmlns:p14="http://schemas.microsoft.com/office/powerpoint/2010/main" val="329899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4BFB2-46E8-B79D-9A58-BFC9CE55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0DACC5-CC78-019E-56C5-1FA40ED6A840}"/>
              </a:ext>
            </a:extLst>
          </p:cNvPr>
          <p:cNvSpPr txBox="1"/>
          <p:nvPr/>
        </p:nvSpPr>
        <p:spPr>
          <a:xfrm>
            <a:off x="334297" y="1305597"/>
            <a:ext cx="4886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 -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7D3FE-8439-7855-D83C-47A8F41BC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525" y="2286000"/>
            <a:ext cx="6926354" cy="264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11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6E27-13F8-6CFD-6473-98DF024B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9A4C-093F-5FED-E93E-C9CBB49B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3" y="80491"/>
            <a:ext cx="6043544" cy="500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CEF6F-8159-71E9-216D-BCE62ABC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185" y="5285232"/>
            <a:ext cx="6281678" cy="1492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3F5923-FAF3-DDC2-135D-A04EA4663ED7}"/>
              </a:ext>
            </a:extLst>
          </p:cNvPr>
          <p:cNvSpPr txBox="1"/>
          <p:nvPr/>
        </p:nvSpPr>
        <p:spPr>
          <a:xfrm>
            <a:off x="334297" y="1305597"/>
            <a:ext cx="4886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 Tasks into Steps - EXAMPLE</a:t>
            </a:r>
          </a:p>
        </p:txBody>
      </p:sp>
    </p:spTree>
    <p:extLst>
      <p:ext uri="{BB962C8B-B14F-4D97-AF65-F5344CB8AC3E}">
        <p14:creationId xmlns:p14="http://schemas.microsoft.com/office/powerpoint/2010/main" val="2922794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B92B-BAA8-64F1-6DD8-35B76DD4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0628B-1C64-58F0-7445-95AC2E5018B2}"/>
              </a:ext>
            </a:extLst>
          </p:cNvPr>
          <p:cNvSpPr txBox="1"/>
          <p:nvPr/>
        </p:nvSpPr>
        <p:spPr>
          <a:xfrm>
            <a:off x="334297" y="1305597"/>
            <a:ext cx="88637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 - Example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medical professional.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am having a running nose and high fever. I have rash on my head. What should I do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certified chartered accountant.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am late in  filing ITR by 3 months. What should I do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49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EC01-868E-51D5-AFC2-04601CBF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DE7F71-4BCB-3293-30E2-B234F9E82116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Hallucinations – Why AI Lies &amp; How to Stop 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1AFE8-D07E-2ABA-986F-EDCAE0FC3DA3}"/>
              </a:ext>
            </a:extLst>
          </p:cNvPr>
          <p:cNvSpPr txBox="1"/>
          <p:nvPr/>
        </p:nvSpPr>
        <p:spPr>
          <a:xfrm>
            <a:off x="334296" y="1305597"/>
            <a:ext cx="103367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Prompt (High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"What should I do if my heart is racing?“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Risk: The AI might give overly cautious, irrelevant, or dangerously vague advice because it's pulling from its entire training set—which includes forums, blog posts, and fiction.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885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B357-E497-DF01-124A-B0781F1B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415BF9-1F39-844F-1575-041EF59759EA}"/>
              </a:ext>
            </a:extLst>
          </p:cNvPr>
          <p:cNvSpPr txBox="1"/>
          <p:nvPr/>
        </p:nvSpPr>
        <p:spPr>
          <a:xfrm>
            <a:off x="334296" y="116877"/>
            <a:ext cx="113791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"Role-Prompted" Example (Lower Hallucination Risk)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Prompt: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"You are a board-certified cardiologist with 20 years of experience.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Based on clinical emergency protocols, what is the step-by-step procedure for a patient experiencing a sudden resting heart rate over 120 BPM? If you are unsure of specific diagnostic criteria, state that you cannot provide medical advice for that detail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D8C63-60B9-7002-C7A3-9E98DEA0AA6D}"/>
              </a:ext>
            </a:extLst>
          </p:cNvPr>
          <p:cNvSpPr txBox="1"/>
          <p:nvPr/>
        </p:nvSpPr>
        <p:spPr>
          <a:xfrm>
            <a:off x="571500" y="3160235"/>
            <a:ext cx="104104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this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 Alignment: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assuming the role, the model weights "medical journal" data more heavily than "internet forum"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Constraints: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You’ve combined the role with an "uncertainty" clause, which is proven to reduce hallucinations by up to 30–50%.</a:t>
            </a:r>
          </a:p>
        </p:txBody>
      </p:sp>
    </p:spTree>
    <p:extLst>
      <p:ext uri="{BB962C8B-B14F-4D97-AF65-F5344CB8AC3E}">
        <p14:creationId xmlns:p14="http://schemas.microsoft.com/office/powerpoint/2010/main" val="1734586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2C5E-367C-D7D8-A5DB-EAFD2E61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A24F56-4986-6B09-716A-D2F09625D23C}"/>
              </a:ext>
            </a:extLst>
          </p:cNvPr>
          <p:cNvSpPr txBox="1"/>
          <p:nvPr/>
        </p:nvSpPr>
        <p:spPr>
          <a:xfrm>
            <a:off x="930415" y="2281842"/>
            <a:ext cx="985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288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40C9-5836-9616-9193-C4C731FF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FC1F84D-1637-4F29-477A-E9FC9817A89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ED15-FB22-1A40-3D21-D2AACED571C7}"/>
              </a:ext>
            </a:extLst>
          </p:cNvPr>
          <p:cNvSpPr txBox="1"/>
          <p:nvPr/>
        </p:nvSpPr>
        <p:spPr>
          <a:xfrm>
            <a:off x="334296" y="830109"/>
            <a:ext cx="1033675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Context (Background Information)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Gives AI situation or environment.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context → AI guesses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"No Context" Prompt (The Guessing Game)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"Write a plan to improve customer retention.“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Problem: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The AI doesn't know if you are a local coffee shop, a billion-dollar SaaS company, or a non-profit.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will likely give you a "generic list" (loyalty cards, email newsletters) that might be totally irrelevant to your business model.</a:t>
            </a:r>
          </a:p>
        </p:txBody>
      </p:sp>
    </p:spTree>
    <p:extLst>
      <p:ext uri="{BB962C8B-B14F-4D97-AF65-F5344CB8AC3E}">
        <p14:creationId xmlns:p14="http://schemas.microsoft.com/office/powerpoint/2010/main" val="3974240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D755-196A-D016-8E69-CCCD17E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BDEF69-878C-AE3B-E950-6C1686609CE5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A18B4-25EE-0E35-77F7-5B0E974A326D}"/>
              </a:ext>
            </a:extLst>
          </p:cNvPr>
          <p:cNvSpPr txBox="1"/>
          <p:nvPr/>
        </p:nvSpPr>
        <p:spPr>
          <a:xfrm>
            <a:off x="334296" y="830109"/>
            <a:ext cx="103367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"High Context" Example (The Grounded Response)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Better Prompt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[Background]: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 are a mid-sized B2B software company that sells a project management tool to construction firms. Our subscription is $500/month.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[The Situation]: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We’ve noticed that customers usually leave (churn) after the 3rd month because the software feels too complex for their field workers.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[Goal]: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Create a 30-day retention plan specifically focused on simplifying the 'onboarding' phase for non-technical users."</a:t>
            </a:r>
          </a:p>
        </p:txBody>
      </p:sp>
    </p:spTree>
    <p:extLst>
      <p:ext uri="{BB962C8B-B14F-4D97-AF65-F5344CB8AC3E}">
        <p14:creationId xmlns:p14="http://schemas.microsoft.com/office/powerpoint/2010/main" val="1629387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0D9C-6AA7-1B04-8873-C4C98611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8BF1571-0D70-554F-342C-AFB2107BB1DF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A8BAF-41E1-6BBC-E16F-8D64B25EB437}"/>
              </a:ext>
            </a:extLst>
          </p:cNvPr>
          <p:cNvSpPr txBox="1"/>
          <p:nvPr/>
        </p:nvSpPr>
        <p:spPr>
          <a:xfrm>
            <a:off x="334296" y="884973"/>
            <a:ext cx="111322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Task (What AI Should Do)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action instruction.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the dataset and find trends in sales from the column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monthly_sales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028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AA41-F939-98FE-A90D-5341B5CE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0ADDDA-F15C-4140-8576-8E9336785F8C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16668-708F-9B3A-9401-B6B4F4EA4E70}"/>
              </a:ext>
            </a:extLst>
          </p:cNvPr>
          <p:cNvSpPr txBox="1"/>
          <p:nvPr/>
        </p:nvSpPr>
        <p:spPr>
          <a:xfrm>
            <a:off x="334296" y="766101"/>
            <a:ext cx="985960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Constraint (Rules &amp; Limitations)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AI output.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limit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Audience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Style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Technology restriction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language under 150 words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concept of calculus. My audience is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school students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weak math background.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use complex math formulas.</a:t>
            </a:r>
          </a:p>
        </p:txBody>
      </p:sp>
    </p:spTree>
    <p:extLst>
      <p:ext uri="{BB962C8B-B14F-4D97-AF65-F5344CB8AC3E}">
        <p14:creationId xmlns:p14="http://schemas.microsoft.com/office/powerpoint/2010/main" val="3973849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70BF-11AC-D158-95CA-D69482D7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CC46AD-353B-E9B0-DBC3-9EE0EE447951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E7542-8957-F3C2-DB3D-05ED1D5A72C9}"/>
              </a:ext>
            </a:extLst>
          </p:cNvPr>
          <p:cNvSpPr txBox="1"/>
          <p:nvPr/>
        </p:nvSpPr>
        <p:spPr>
          <a:xfrm>
            <a:off x="334297" y="811821"/>
            <a:ext cx="74233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Output Format (Structure)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dramatically improves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 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 guide</a:t>
            </a:r>
          </a:p>
        </p:txBody>
      </p:sp>
    </p:spTree>
    <p:extLst>
      <p:ext uri="{BB962C8B-B14F-4D97-AF65-F5344CB8AC3E}">
        <p14:creationId xmlns:p14="http://schemas.microsoft.com/office/powerpoint/2010/main" val="3464606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C570-E0A4-B9C5-988A-7FC8B367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2CD7745-5608-5569-FDDD-A46EA0CF672E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581D1-28DA-28B5-FFEB-DB6C8CF66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913" y="3104883"/>
            <a:ext cx="8917158" cy="2637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FC0898-4A59-3995-001A-ED66D933E0DB}"/>
              </a:ext>
            </a:extLst>
          </p:cNvPr>
          <p:cNvSpPr txBox="1"/>
          <p:nvPr/>
        </p:nvSpPr>
        <p:spPr>
          <a:xfrm>
            <a:off x="522487" y="985427"/>
            <a:ext cx="9358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Tell me the 3 difference between regular data and time series data. Provide output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8689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FC16-BBA0-79DD-C2FC-9366F81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6287935-100C-6EFD-8B11-DF4E66C594D9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F6A72-B2F4-C9D3-C352-AF37A5A9C3E2}"/>
              </a:ext>
            </a:extLst>
          </p:cNvPr>
          <p:cNvSpPr txBox="1"/>
          <p:nvPr/>
        </p:nvSpPr>
        <p:spPr>
          <a:xfrm>
            <a:off x="522487" y="985427"/>
            <a:ext cx="93589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Tell me the 3 difference between regular data and time series data. Provide output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90310-7D1E-9F76-1D77-780F01CA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49" y="3289745"/>
            <a:ext cx="8284794" cy="27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53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84D7-D621-9624-104A-B73AB0ED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C30DAA-2DF2-0DB5-25CE-79ED1B40FB5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43549-7C4E-34E2-CE0E-76EF872A9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41" y="768032"/>
            <a:ext cx="6039693" cy="914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9CF3DA-6520-6C20-0F9A-3A59DE4F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753" y="1803514"/>
            <a:ext cx="7556938" cy="48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621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4629-A020-65DF-9DF3-A80D3E1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CB36B4-2BFD-4FF8-C4D6-52B6FCF10F43}"/>
              </a:ext>
            </a:extLst>
          </p:cNvPr>
          <p:cNvSpPr txBox="1"/>
          <p:nvPr/>
        </p:nvSpPr>
        <p:spPr>
          <a:xfrm>
            <a:off x="334297" y="1305597"/>
            <a:ext cx="88637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Prompt = Context + Task + Constraint + Output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Weak 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neural networks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Strong Prompt Using Formula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Context: You are teaching beginners in AI.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Explain neural networks.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Constraint: Use simple language and include real-life analogy. Do not use heavy math.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Format: Provide explanation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points.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0897C-3829-DE19-EC11-A952E81869E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Golden Prompt Formula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093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9C13-7261-4EDE-8D72-129D9A0E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4A52E-FA6F-CC96-C2CD-1B5DC06F3903}"/>
              </a:ext>
            </a:extLst>
          </p:cNvPr>
          <p:cNvSpPr txBox="1"/>
          <p:nvPr/>
        </p:nvSpPr>
        <p:spPr>
          <a:xfrm>
            <a:off x="334297" y="766101"/>
            <a:ext cx="8863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[ROLE]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a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[TASK]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task is to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[CONTEXT]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the context: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[CONSTRAINTS]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 these rules: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___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[OUTPUT FORMAT]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answer as: 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2D52DE-DDE1-6112-954C-4CCF6C9626F7}"/>
              </a:ext>
            </a:extLst>
          </p:cNvPr>
          <p:cNvSpPr txBox="1"/>
          <p:nvPr/>
        </p:nvSpPr>
        <p:spPr>
          <a:xfrm>
            <a:off x="592087" y="123858"/>
            <a:ext cx="985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(Add On) Prompt Template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7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8A72-F8D3-9203-795E-98C76B75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248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E9D7-16AF-61C3-A56D-933DA14F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97DE48-6EA1-1DA7-C6A0-000AD358FC46}"/>
              </a:ext>
            </a:extLst>
          </p:cNvPr>
          <p:cNvSpPr txBox="1"/>
          <p:nvPr/>
        </p:nvSpPr>
        <p:spPr>
          <a:xfrm>
            <a:off x="238125" y="1244739"/>
            <a:ext cx="98596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Practical Demo Idea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students: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Count tokens in: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"Machine learning is powerful.“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show them using tokenizer tools like: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tokenizer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HuggingFace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tokenizer</a:t>
            </a:r>
          </a:p>
        </p:txBody>
      </p:sp>
    </p:spTree>
    <p:extLst>
      <p:ext uri="{BB962C8B-B14F-4D97-AF65-F5344CB8AC3E}">
        <p14:creationId xmlns:p14="http://schemas.microsoft.com/office/powerpoint/2010/main" val="191165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514</TotalTime>
  <Words>2226</Words>
  <Application>Microsoft Office PowerPoint</Application>
  <PresentationFormat>Widescreen</PresentationFormat>
  <Paragraphs>347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 Narrow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103</cp:revision>
  <dcterms:created xsi:type="dcterms:W3CDTF">2025-09-22T02:44:38Z</dcterms:created>
  <dcterms:modified xsi:type="dcterms:W3CDTF">2026-10-14T08:21:01Z</dcterms:modified>
</cp:coreProperties>
</file>