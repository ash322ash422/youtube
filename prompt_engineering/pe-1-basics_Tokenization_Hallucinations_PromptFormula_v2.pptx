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ink/ink1.xml" ContentType="application/inkml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6"/>
  </p:notesMasterIdLst>
  <p:handoutMasterIdLst>
    <p:handoutMasterId r:id="rId37"/>
  </p:handoutMasterIdLst>
  <p:sldIdLst>
    <p:sldId id="260" r:id="rId2"/>
    <p:sldId id="289" r:id="rId3"/>
    <p:sldId id="261" r:id="rId4"/>
    <p:sldId id="262" r:id="rId5"/>
    <p:sldId id="284" r:id="rId6"/>
    <p:sldId id="259" r:id="rId7"/>
    <p:sldId id="283" r:id="rId8"/>
    <p:sldId id="290" r:id="rId9"/>
    <p:sldId id="263" r:id="rId10"/>
    <p:sldId id="265" r:id="rId11"/>
    <p:sldId id="291" r:id="rId12"/>
    <p:sldId id="266" r:id="rId13"/>
    <p:sldId id="267" r:id="rId14"/>
    <p:sldId id="275" r:id="rId15"/>
    <p:sldId id="268" r:id="rId16"/>
    <p:sldId id="286" r:id="rId17"/>
    <p:sldId id="276" r:id="rId18"/>
    <p:sldId id="277" r:id="rId19"/>
    <p:sldId id="274" r:id="rId20"/>
    <p:sldId id="278" r:id="rId21"/>
    <p:sldId id="279" r:id="rId22"/>
    <p:sldId id="269" r:id="rId23"/>
    <p:sldId id="292" r:id="rId24"/>
    <p:sldId id="281" r:id="rId25"/>
    <p:sldId id="280" r:id="rId26"/>
    <p:sldId id="270" r:id="rId27"/>
    <p:sldId id="271" r:id="rId28"/>
    <p:sldId id="287" r:id="rId29"/>
    <p:sldId id="288" r:id="rId30"/>
    <p:sldId id="285" r:id="rId31"/>
    <p:sldId id="282" r:id="rId32"/>
    <p:sldId id="272" r:id="rId33"/>
    <p:sldId id="273" r:id="rId34"/>
    <p:sldId id="264" r:id="rId3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84" d="100"/>
          <a:sy n="84" d="100"/>
        </p:scale>
        <p:origin x="3054" y="96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viewProps" Target="view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handoutMaster" Target="handoutMasters/handoutMaster1.xml"/><Relationship Id="rId40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presProps" Target="presProps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1ACA3A45-07AA-881E-EBAC-FAE1FFF9B3B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72C2385-62BD-1B9C-A617-554DDB21E0F4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BAEECA8-D063-486F-AE31-5020270C1449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5328A6F-7933-1F9C-E9F6-B4A61026FBA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6F9A57F-3A38-6EDA-B76D-A3DB4F6978A7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93F6CE-D1D9-4B7B-9040-C7CAC074A6C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761335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6-09-22T14:28:43.674"/>
    </inkml:context>
    <inkml:brush xml:id="br0">
      <inkml:brushProperty name="width" value="0.1" units="cm"/>
      <inkml:brushProperty name="height" value="0.1" units="cm"/>
      <inkml:brushProperty name="color" value="#FFC114"/>
    </inkml:brush>
  </inkml:definitions>
  <inkml:trace contextRef="#ctx0" brushRef="#br0">0 15 24575,'73'-8'0,"-59"6"0,0 0 0,1 0 0,-1 2 0,1 0 0,14 1 0,16 8 0,77 26 0,-88-23 0,0-1 0,1-3 0,0 0 0,40 2 0,-69-10 0,0 0 0,-1 1 0,1 0 0,-1-1 0,1 2 0,-1-1 0,1 1 0,-1 0 0,0 0 0,7 4 0,-9-4 0,0 0 0,-1 1 0,1-1 0,-1 1 0,0 0 0,0 0 0,0 0 0,0 0 0,0 0 0,-1 1 0,1-1 0,-1 0 0,0 1 0,0-1 0,0 1 0,0-1 0,-1 7 0,9 86 0,-5 0 0,-9 109 0,1-55 0,4-143 0,-2 107 0,19 175 0,-5-175 0,-8-58 0,18 83 0,-4-73 0,-9-34 0,-1 1 0,-1 0 0,4 67 0,-7-44 0,18 97 0,-12-101 0,-3 1 0,2 71 0,-9-35 0,19 134 0,-12-136 0,-6 159 0,-4-107 0,24 343 0,-15-378 0,-5-58 0,13 76 0,2-19 0,-6 0 0,-2 137 0,-4-56 0,3-117 0,3-1 0,3 0 0,31 97 0,5 22 0,-40-113 0,-7-55 0,0 0 0,0 0 0,2 0 0,6 20 0,11 24 0,-3 0 0,-2 1 0,-3 1 0,5 73 0,-14-107 0,13 48 0,-12-58 0,0 0 0,-1 0 0,-1 0 0,-1 0 0,-1 0 0,-1 22 0,-1-37 0,0 1 0,0-1 0,-1 0 0,1 0 0,-1 1 0,0-1 0,0-1 0,-1 1 0,1 0 0,-1 0 0,0-1 0,0 0 0,0 1 0,0-1 0,0 0 0,-1 0 0,0-1 0,1 1 0,-9 3 0,-8 4 0,0-1 0,-40 12 0,18-6 0,19-6 0,2 1 0,-32 19 0,38-22 0,0-1 0,0-1 0,-1 0 0,1-1 0,-1 0 0,0-1 0,0-1 0,-17 0 0,-13 3 0,15 1 0,1 1 0,-54 21 0,49-15 0,-54 12 0,77-23 0,1-1 0,-1 0 0,0 0 0,0-1 0,1-1 0,-1 0 0,0-1 0,1 0 0,-1 0 0,1-2 0,0 1 0,0-1 0,0-1 0,0 0 0,1 0 0,-1-1 0,2-1 0,-1 1 0,-13-14 0,21 19-8,1-1-1,-1 0 1,1 1-1,-1-1 1,1 0-1,0 0 0,0 0 1,0 0-1,0 0 1,0 0-1,-1-4 1,2 5 15,0 1 1,0-1 0,0 0-1,0 0 1,0 0-1,0 1 1,0-1-1,1 0 1,-1 0 0,0 1-1,0-1 1,1 0-1,-1 0 1,0 1 0,1-1-1,-1 0 1,1 1-1,-1-1 1,1 1 0,-1-1-1,1 1 1,0-2-1,4 0-71,-1-1 0,1 1 0,0 0-1,0 0 1,0 0 0,0 1 0,8-2-1,4-1-858,2-1-5903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73EEAA7-AFB7-4D13-AC6E-D387B4394DA4}" type="datetimeFigureOut">
              <a:rPr lang="en-IN" smtClean="0"/>
              <a:t>22-09-2026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E7BD907-10E1-4554-8631-1965B6043C47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516231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7BD907-10E1-4554-8631-1965B6043C47}" type="slidenum">
              <a:rPr lang="en-IN" smtClean="0"/>
              <a:t>27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39594716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D37FC1-BD8D-2E47-B477-1CB23EB548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21DA90D-F3E5-E911-5F40-3207ACC58DC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8ED6F99-28A0-6B5C-9848-5B3D8D92EE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863887CA-761A-5947-E606-D8FF2EE51BD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7BD907-10E1-4554-8631-1965B6043C47}" type="slidenum">
              <a:rPr lang="en-IN" smtClean="0"/>
              <a:t>28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23084460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7B96CF-7863-A672-7821-8B6CF3FA62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2014E1-E22D-3E71-C9A5-C4188A7F406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88816AAA-4903-C056-CC76-A63B36E748C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IN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CB616AB-4991-7EE0-7430-CA3BF088AD9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E7BD907-10E1-4554-8631-1965B6043C47}" type="slidenum">
              <a:rPr lang="en-IN" smtClean="0"/>
              <a:t>29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42414959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5EB0F26-247A-F2E0-8FBA-6EA7974D69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394F308-CEE8-92BC-D91A-4212DEA015D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2794D3-11DF-A675-8D28-EC65EF27521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53FDAF-B83A-AE0A-B811-B7195D37FD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9530BD-9515-D107-426C-B72742CBF0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928269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4CE7E77-8771-0BA4-B1D5-7F1DE0138C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543F30B-85C4-D934-2F30-179E3FCE942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C8EF7AF-5CE7-4387-31F9-79D3562060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FCCC03-E434-4684-B55E-3F2D3991692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A1F3B05-B983-07A3-4B58-9D2E18438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03644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F223C21-D6A5-2D17-9BFA-70B3353D6A0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92D89B8-191B-6AAD-5D5E-32B35726574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4CC528A-1563-9376-E089-4DA80AD11D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519A01D-6FDA-C269-FF95-3FDB205C8E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A980A21-61AC-4B39-D886-3A327DB734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111402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903C29-6DED-2A1F-5B4D-128B63652F7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6494ECB-0FCA-1AD0-F19A-27A4C16DC0F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07402C2-E657-5A54-9627-8C9CBCBBE0A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501FADA-AE3E-B30F-6353-BF0478CF0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F16B517-96D7-6416-0C24-B14942ADD4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546F179-BF2F-393A-1AA6-C893B7B9FA3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58523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950483-A0C8-BF5B-61DE-39BC6FF9C1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46DB55B-C040-F211-BC81-97628EA484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593EEAE-1CB3-AAC8-5818-D61E389EF1E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ACE50F0-1141-D645-3892-2DA29633A37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32E976C-52C7-C22D-28F7-B21E295185E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797D00B-0B76-5C50-686B-A01396FCD6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B842B8D-3B74-4B67-9462-6D2C7ED9AD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992D4BE-CE8C-0250-FE7D-1F370E25FE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657502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CDBE28-2732-66A2-163C-433854615E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270F3D6-B4BC-015F-96FA-1720B040CC9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21168A87-13A5-0A5A-4D74-C75E277755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D6D7CB-BD93-54BE-CB47-7FBA06B184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3465083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4114B-4550-9F52-0EF5-D1E9CF2FD38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BF3136E-0C79-F4F5-F24E-D5FF71CDB55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F2E2157-F670-A339-0CB7-7399568D5A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65014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5802A98-8738-1E16-A16E-D8858EEA76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FC67E5-1169-257D-D9E7-C7B952C213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90B2CF6C-0F85-566A-86BC-CBFEB17E755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A64F0FC-ECB8-638F-A224-98FFA827073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A8095B89-4DC8-435E-3545-6187AD3E00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71B68CF-9592-FB7C-B517-0CC962C8B6D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443007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3E2BC2-F728-2BA5-C848-31FA3458ADF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B957B909-12C3-703B-57E9-008076312F6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DAE4D7A-BC41-33D0-D36D-08BB5C2C59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FB17FB83-437D-9293-0B99-2DC89A047D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EDF5674-4DC1-3171-8FEB-C280686D41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DD431F6-5490-78BA-7028-0BD08BF1A0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086031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3002A-A21A-4F99-1BCE-F61C85D7B65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0E85D03-9A7F-4A9E-379E-2DEA86D21FC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DEEFB4-95FB-FEDD-75E7-143E7ED29C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1BCE0D7-1712-FF0C-D965-BFD5AE1610F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32632A1-4243-F65B-A2B0-3F2142C3415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50797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72293F13-2480-AB35-1A68-57A54CE6CD6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BDA286C-2521-2961-CABA-5684DF43FB2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4D5FF44-F63B-872A-DC8D-A873790A64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83FAE1-13DE-4511-8C1B-C8AFB720664C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E653A11-7793-38C6-0506-A6FBE9A02A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0962C0-F018-7629-445C-DDCA8AE140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299880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3CEE1C2-DF65-6CAD-D1EF-22450840439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AFB6A6-8766-C849-1846-0F387502412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B55176B-E136-1615-D0B5-186783ACB8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83FAE1-13DE-4511-8C1B-C8AFB720664C}" type="datetimeFigureOut">
              <a:rPr lang="en-US" smtClean="0"/>
              <a:t>9/22/2026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E5AAAF6-4731-DB91-AB26-A07CEF1B9D2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814165E-BEE7-F086-BE90-50642610F09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1BC7A09-79EE-44A0-8F92-750D7C83D871}" type="slidenum">
              <a:rPr lang="en-US" smtClean="0"/>
              <a:t>‹#›</a:t>
            </a:fld>
            <a:endParaRPr lang="en-US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9F3932AB-6107-98C9-CEDA-32A7DF597298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212435" y="136524"/>
            <a:ext cx="1330037" cy="1025209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2CA22C5A-FA6D-B699-950E-8D249A969331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alphaModFix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6008" t="39529" r="41606" b="46715"/>
          <a:stretch>
            <a:fillRect/>
          </a:stretch>
        </p:blipFill>
        <p:spPr>
          <a:xfrm>
            <a:off x="10855909" y="185738"/>
            <a:ext cx="1123656" cy="866128"/>
          </a:xfrm>
          <a:prstGeom prst="ellipse">
            <a:avLst/>
          </a:prstGeom>
          <a:ln w="63500" cap="rnd">
            <a:solidFill>
              <a:srgbClr val="333333"/>
            </a:solidFill>
          </a:ln>
          <a:effectLst>
            <a:outerShdw blurRad="381000" dist="292100" dir="5400000" sx="-80000" sy="-18000" rotWithShape="0">
              <a:srgbClr val="000000">
                <a:alpha val="22000"/>
              </a:srgbClr>
            </a:outerShdw>
          </a:effectLst>
          <a:scene3d>
            <a:camera prst="orthographicFront"/>
            <a:lightRig rig="contrasting" dir="t">
              <a:rot lat="0" lon="0" rev="3000000"/>
            </a:lightRig>
          </a:scene3d>
          <a:sp3d contourW="7620">
            <a:bevelT w="95250" h="31750"/>
            <a:contourClr>
              <a:srgbClr val="333333"/>
            </a:contourClr>
          </a:sp3d>
        </p:spPr>
      </p:pic>
    </p:spTree>
    <p:extLst>
      <p:ext uri="{BB962C8B-B14F-4D97-AF65-F5344CB8AC3E}">
        <p14:creationId xmlns:p14="http://schemas.microsoft.com/office/powerpoint/2010/main" val="149997318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accent6">
              <a:lumMod val="60000"/>
              <a:lumOff val="40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accent6">
              <a:lumMod val="60000"/>
              <a:lumOff val="40000"/>
            </a:schemeClr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customXml" Target="../ink/ink1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2FE76-D580-9068-C451-7535C32C32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extBox 7">
            <a:extLst>
              <a:ext uri="{FF2B5EF4-FFF2-40B4-BE49-F238E27FC236}">
                <a16:creationId xmlns:a16="http://schemas.microsoft.com/office/drawing/2014/main" id="{552EEE62-CF19-9EE0-E4D2-7F9C16B8046B}"/>
              </a:ext>
            </a:extLst>
          </p:cNvPr>
          <p:cNvSpPr txBox="1"/>
          <p:nvPr/>
        </p:nvSpPr>
        <p:spPr>
          <a:xfrm>
            <a:off x="3028950" y="85725"/>
            <a:ext cx="6400800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Prompt Engineering</a:t>
            </a:r>
          </a:p>
        </p:txBody>
      </p:sp>
      <p:sp>
        <p:nvSpPr>
          <p:cNvPr id="118" name="TextBox 117">
            <a:extLst>
              <a:ext uri="{FF2B5EF4-FFF2-40B4-BE49-F238E27FC236}">
                <a16:creationId xmlns:a16="http://schemas.microsoft.com/office/drawing/2014/main" id="{175C0EAF-0950-0760-9C6E-195DBA10CA9C}"/>
              </a:ext>
            </a:extLst>
          </p:cNvPr>
          <p:cNvSpPr txBox="1"/>
          <p:nvPr/>
        </p:nvSpPr>
        <p:spPr>
          <a:xfrm>
            <a:off x="507098" y="1224958"/>
            <a:ext cx="11177803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Prompt engineering and optimization involve </a:t>
            </a:r>
            <a:r>
              <a:rPr lang="en-US" sz="2400" b="1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designing, testing, and refining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input text (prompts) to guide AI models like LLMs to produce output that is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accurate,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high-quality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D37F8F9-E1A5-1EF5-0306-688B17BF7F71}"/>
              </a:ext>
            </a:extLst>
          </p:cNvPr>
          <p:cNvSpPr/>
          <p:nvPr/>
        </p:nvSpPr>
        <p:spPr>
          <a:xfrm>
            <a:off x="4361688" y="3813048"/>
            <a:ext cx="3154680" cy="14904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LLM</a:t>
            </a:r>
          </a:p>
          <a:p>
            <a:pPr algn="ctr"/>
            <a:r>
              <a:rPr lang="en-US" sz="2400" dirty="0"/>
              <a:t>(ChatGPT, Gemini, Claude AI, </a:t>
            </a:r>
            <a:r>
              <a:rPr lang="en-US" sz="2400" dirty="0" err="1"/>
              <a:t>etc</a:t>
            </a:r>
            <a:r>
              <a:rPr lang="en-US" sz="2400" dirty="0"/>
              <a:t>)</a:t>
            </a:r>
          </a:p>
        </p:txBody>
      </p:sp>
      <p:sp>
        <p:nvSpPr>
          <p:cNvPr id="3" name="Arrow: Right 2">
            <a:extLst>
              <a:ext uri="{FF2B5EF4-FFF2-40B4-BE49-F238E27FC236}">
                <a16:creationId xmlns:a16="http://schemas.microsoft.com/office/drawing/2014/main" id="{F152CAF7-63FF-9D4F-627B-E71F0244D650}"/>
              </a:ext>
            </a:extLst>
          </p:cNvPr>
          <p:cNvSpPr/>
          <p:nvPr/>
        </p:nvSpPr>
        <p:spPr>
          <a:xfrm>
            <a:off x="2807208" y="4206240"/>
            <a:ext cx="1188720" cy="64008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A56796D8-0137-50C5-5868-116E7CB1A337}"/>
              </a:ext>
            </a:extLst>
          </p:cNvPr>
          <p:cNvSpPr/>
          <p:nvPr/>
        </p:nvSpPr>
        <p:spPr>
          <a:xfrm>
            <a:off x="7729728" y="4130040"/>
            <a:ext cx="1130808" cy="64008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BA1EE3B-13A3-01FA-407E-6CA0BC9E9992}"/>
              </a:ext>
            </a:extLst>
          </p:cNvPr>
          <p:cNvSpPr/>
          <p:nvPr/>
        </p:nvSpPr>
        <p:spPr>
          <a:xfrm>
            <a:off x="777240" y="3933444"/>
            <a:ext cx="1664208" cy="103327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Prompt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45871A8B-AC69-4DB3-3EA0-FB268C1A9952}"/>
              </a:ext>
            </a:extLst>
          </p:cNvPr>
          <p:cNvSpPr/>
          <p:nvPr/>
        </p:nvSpPr>
        <p:spPr>
          <a:xfrm>
            <a:off x="9168384" y="3933444"/>
            <a:ext cx="1664208" cy="103327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Output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391367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A40731C-F97B-1C41-5A63-33D4A3A9E7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TextBox 117">
            <a:extLst>
              <a:ext uri="{FF2B5EF4-FFF2-40B4-BE49-F238E27FC236}">
                <a16:creationId xmlns:a16="http://schemas.microsoft.com/office/drawing/2014/main" id="{8E8A41AF-7468-7869-1ED8-1B24AE4C6DFC}"/>
              </a:ext>
            </a:extLst>
          </p:cNvPr>
          <p:cNvSpPr txBox="1"/>
          <p:nvPr/>
        </p:nvSpPr>
        <p:spPr>
          <a:xfrm>
            <a:off x="88957" y="242852"/>
            <a:ext cx="7813942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It Follows the Engineering Method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Requirement Gathering:</a:t>
            </a:r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Defining exactly what the AI needs to accomplish.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Prototyping:</a:t>
            </a:r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Writing an initial version of the prompt.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Testing and Iteration:</a:t>
            </a:r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Running the prompt multiple times against different inputs.</a:t>
            </a:r>
          </a:p>
          <a:p>
            <a:pPr marL="342900" lvl="0" indent="-342900">
              <a:buFont typeface="Arial" panose="020B0604020202020204" pitchFamily="34" charset="0"/>
              <a:buChar char="•"/>
            </a:pPr>
            <a:r>
              <a:rPr lang="en-IN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Debugging:</a:t>
            </a:r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Identifying why the model failed (e.g., hallucination, ignoring constraints) and fixing the prompt to eliminate that error.</a:t>
            </a: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4D26A4AA-A100-7D4C-C221-4F3DDF5E60A6}"/>
              </a:ext>
            </a:extLst>
          </p:cNvPr>
          <p:cNvSpPr/>
          <p:nvPr/>
        </p:nvSpPr>
        <p:spPr>
          <a:xfrm>
            <a:off x="4361688" y="3813048"/>
            <a:ext cx="3154680" cy="149047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400" dirty="0"/>
              <a:t>LLM</a:t>
            </a:r>
          </a:p>
          <a:p>
            <a:pPr algn="ctr"/>
            <a:r>
              <a:rPr lang="en-US" sz="2400" dirty="0"/>
              <a:t>(ChatGPT, Gemini, Claude AI, </a:t>
            </a:r>
            <a:r>
              <a:rPr lang="en-US" sz="2400" dirty="0" err="1"/>
              <a:t>etc</a:t>
            </a:r>
            <a:r>
              <a:rPr lang="en-US" sz="2400" dirty="0"/>
              <a:t>)</a:t>
            </a:r>
          </a:p>
        </p:txBody>
      </p:sp>
      <p:sp>
        <p:nvSpPr>
          <p:cNvPr id="3" name="Arrow: Right 2">
            <a:extLst>
              <a:ext uri="{FF2B5EF4-FFF2-40B4-BE49-F238E27FC236}">
                <a16:creationId xmlns:a16="http://schemas.microsoft.com/office/drawing/2014/main" id="{1BC0DB2E-91C6-6D3A-AA74-DA9B321762AD}"/>
              </a:ext>
            </a:extLst>
          </p:cNvPr>
          <p:cNvSpPr/>
          <p:nvPr/>
        </p:nvSpPr>
        <p:spPr>
          <a:xfrm>
            <a:off x="2807208" y="4206240"/>
            <a:ext cx="1188720" cy="64008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Arrow: Right 4">
            <a:extLst>
              <a:ext uri="{FF2B5EF4-FFF2-40B4-BE49-F238E27FC236}">
                <a16:creationId xmlns:a16="http://schemas.microsoft.com/office/drawing/2014/main" id="{F07C3C08-BC3F-CFAD-419B-C2AC9019493E}"/>
              </a:ext>
            </a:extLst>
          </p:cNvPr>
          <p:cNvSpPr/>
          <p:nvPr/>
        </p:nvSpPr>
        <p:spPr>
          <a:xfrm>
            <a:off x="7729728" y="4130040"/>
            <a:ext cx="1130808" cy="640080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8BF0BA1-42E3-ACC4-E978-A8DF06E27B66}"/>
              </a:ext>
            </a:extLst>
          </p:cNvPr>
          <p:cNvSpPr/>
          <p:nvPr/>
        </p:nvSpPr>
        <p:spPr>
          <a:xfrm>
            <a:off x="777240" y="3933444"/>
            <a:ext cx="1664208" cy="103327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Prompt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FA6591A3-4491-63D2-ED0A-D0183076390D}"/>
              </a:ext>
            </a:extLst>
          </p:cNvPr>
          <p:cNvSpPr/>
          <p:nvPr/>
        </p:nvSpPr>
        <p:spPr>
          <a:xfrm>
            <a:off x="9168384" y="3933444"/>
            <a:ext cx="1664208" cy="1033272"/>
          </a:xfrm>
          <a:prstGeom prst="ellipse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/>
              <a:t>Output</a:t>
            </a:r>
            <a:endParaRPr lang="en-US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A344E24-BD87-E7E3-313F-7A271B22ECD1}"/>
              </a:ext>
            </a:extLst>
          </p:cNvPr>
          <p:cNvSpPr txBox="1"/>
          <p:nvPr/>
        </p:nvSpPr>
        <p:spPr>
          <a:xfrm>
            <a:off x="8153400" y="653212"/>
            <a:ext cx="30632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Create an email for client that is late on payments</a:t>
            </a:r>
            <a:endParaRPr lang="en-IN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826AF69-5E46-F68A-C513-060CFF5B7C45}"/>
              </a:ext>
            </a:extLst>
          </p:cNvPr>
          <p:cNvSpPr txBox="1"/>
          <p:nvPr/>
        </p:nvSpPr>
        <p:spPr>
          <a:xfrm>
            <a:off x="8096250" y="1447245"/>
            <a:ext cx="3681222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Generate email for XYZ. He is late on payment.</a:t>
            </a:r>
            <a:endParaRPr lang="en-IN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D1B8633-10E3-F226-867D-889497375D14}"/>
              </a:ext>
            </a:extLst>
          </p:cNvPr>
          <p:cNvSpPr txBox="1"/>
          <p:nvPr/>
        </p:nvSpPr>
        <p:spPr>
          <a:xfrm>
            <a:off x="8295132" y="2404794"/>
            <a:ext cx="348234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Keep refining prompts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Keep it under 80 words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Keep the tone friendly.</a:t>
            </a:r>
          </a:p>
        </p:txBody>
      </p:sp>
      <p:sp>
        <p:nvSpPr>
          <p:cNvPr id="13" name="Arrow: Right 12">
            <a:extLst>
              <a:ext uri="{FF2B5EF4-FFF2-40B4-BE49-F238E27FC236}">
                <a16:creationId xmlns:a16="http://schemas.microsoft.com/office/drawing/2014/main" id="{582B3943-9643-E5EE-4DC5-F31C685897E8}"/>
              </a:ext>
            </a:extLst>
          </p:cNvPr>
          <p:cNvSpPr/>
          <p:nvPr/>
        </p:nvSpPr>
        <p:spPr>
          <a:xfrm rot="11148238">
            <a:off x="7542207" y="727880"/>
            <a:ext cx="448056" cy="29260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5" name="Arrow: Right 14">
            <a:extLst>
              <a:ext uri="{FF2B5EF4-FFF2-40B4-BE49-F238E27FC236}">
                <a16:creationId xmlns:a16="http://schemas.microsoft.com/office/drawing/2014/main" id="{F893A6BF-3741-7C44-9AE9-A6DC2CD52BF0}"/>
              </a:ext>
            </a:extLst>
          </p:cNvPr>
          <p:cNvSpPr/>
          <p:nvPr/>
        </p:nvSpPr>
        <p:spPr>
          <a:xfrm rot="11148238">
            <a:off x="7678871" y="1577903"/>
            <a:ext cx="448056" cy="29260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7" name="Arrow: Right 16">
            <a:extLst>
              <a:ext uri="{FF2B5EF4-FFF2-40B4-BE49-F238E27FC236}">
                <a16:creationId xmlns:a16="http://schemas.microsoft.com/office/drawing/2014/main" id="{1054E7A0-1C95-112B-E0DF-DF77F8760D50}"/>
              </a:ext>
            </a:extLst>
          </p:cNvPr>
          <p:cNvSpPr/>
          <p:nvPr/>
        </p:nvSpPr>
        <p:spPr>
          <a:xfrm rot="11148238">
            <a:off x="7743375" y="2418139"/>
            <a:ext cx="448056" cy="29260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03606331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E5E4F6F-FF16-B480-353A-FD9A5B9599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E66140D9-FCDC-B3BB-C84D-13761381A495}"/>
              </a:ext>
            </a:extLst>
          </p:cNvPr>
          <p:cNvSpPr txBox="1"/>
          <p:nvPr/>
        </p:nvSpPr>
        <p:spPr>
          <a:xfrm>
            <a:off x="164592" y="1698209"/>
            <a:ext cx="11402568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Tokenization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AI models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do not understand language like humans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</a:t>
            </a:r>
            <a:b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They convert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text into tokens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, which are basically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numbers representing </a:t>
            </a:r>
            <a:r>
              <a:rPr lang="en-US" sz="2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pieces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of words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Humans see: I love machine learning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it-IT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AI sees         :  [101, 1045, 2293, 3698, 4083, 102]</a:t>
            </a:r>
          </a:p>
        </p:txBody>
      </p:sp>
    </p:spTree>
    <p:extLst>
      <p:ext uri="{BB962C8B-B14F-4D97-AF65-F5344CB8AC3E}">
        <p14:creationId xmlns:p14="http://schemas.microsoft.com/office/powerpoint/2010/main" val="51335884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A82779-FCFB-257D-1625-51888470414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17D412D5-F2E2-B9C2-6BAC-F6F233D04336}"/>
              </a:ext>
            </a:extLst>
          </p:cNvPr>
          <p:cNvSpPr txBox="1"/>
          <p:nvPr/>
        </p:nvSpPr>
        <p:spPr>
          <a:xfrm>
            <a:off x="693168" y="920969"/>
            <a:ext cx="10427115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What is Tokenization?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Tokenization = Breaking text into smaller units (tokens).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Tokens can be: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Words – happy, fish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Parts of words – ungodly (un + godly)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Characters – a 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Symbols – smiling emoji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Punctuation – what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!</a:t>
            </a:r>
          </a:p>
        </p:txBody>
      </p:sp>
    </p:spTree>
    <p:extLst>
      <p:ext uri="{BB962C8B-B14F-4D97-AF65-F5344CB8AC3E}">
        <p14:creationId xmlns:p14="http://schemas.microsoft.com/office/powerpoint/2010/main" val="140996114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A38D98-C003-6054-D9E4-E77C65ACF7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TextBox 19">
            <a:extLst>
              <a:ext uri="{FF2B5EF4-FFF2-40B4-BE49-F238E27FC236}">
                <a16:creationId xmlns:a16="http://schemas.microsoft.com/office/drawing/2014/main" id="{05901341-7519-ABF2-BFDF-828C4C9FE4C5}"/>
              </a:ext>
            </a:extLst>
          </p:cNvPr>
          <p:cNvSpPr txBox="1"/>
          <p:nvPr/>
        </p:nvSpPr>
        <p:spPr>
          <a:xfrm>
            <a:off x="290048" y="25360"/>
            <a:ext cx="11611903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</a:t>
            </a:r>
          </a:p>
          <a:p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Sentence:   Unbelievable performance!</a:t>
            </a:r>
          </a:p>
          <a:p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Possible tokens: ["Un", "</a:t>
            </a:r>
            <a:r>
              <a:rPr lang="en-IN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believ</a:t>
            </a:r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", "able", "performance", "!"]</a:t>
            </a:r>
          </a:p>
          <a:p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-&gt;                         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[1012,  45892,    672,         9834,                0]  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  <a:sym typeface="Wingdings" panose="05000000000000000000" pitchFamily="2" charset="2"/>
              </a:rPr>
              <a:t> (5 tokens) these are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token ID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A80BC90-49F3-2B18-FD52-5C114DD674AD}"/>
              </a:ext>
            </a:extLst>
          </p:cNvPr>
          <p:cNvSpPr txBox="1"/>
          <p:nvPr/>
        </p:nvSpPr>
        <p:spPr>
          <a:xfrm>
            <a:off x="4277868" y="5291590"/>
            <a:ext cx="8170164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i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Input Into LLM:</a:t>
            </a:r>
            <a:r>
              <a:rPr lang="en-US" sz="2400" b="1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 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Text → </a:t>
            </a:r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tokens → IDs → vectors → N. network</a:t>
            </a:r>
          </a:p>
          <a:p>
            <a:r>
              <a:rPr lang="en-US" sz="2400" b="1" i="1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Output from  LLM: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  </a:t>
            </a:r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IDs → tokens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→ text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4C7AC6DA-4A97-5168-6274-B61B4A0EF06B}"/>
              </a:ext>
            </a:extLst>
          </p:cNvPr>
          <p:cNvSpPr txBox="1"/>
          <p:nvPr/>
        </p:nvSpPr>
        <p:spPr>
          <a:xfrm>
            <a:off x="132588" y="4298002"/>
            <a:ext cx="4841748" cy="240065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So final input becomes a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matrix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</a:t>
            </a:r>
          </a:p>
          <a:p>
            <a:r>
              <a:rPr lang="en-US" sz="1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[</a:t>
            </a:r>
            <a:br>
              <a:rPr lang="en-US" sz="18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1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[0.12, -0.45, 0.88, 0.33],</a:t>
            </a:r>
            <a:br>
              <a:rPr lang="en-US" sz="18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1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[0.91, 0.02, -0.11, 0.76],</a:t>
            </a:r>
            <a:br>
              <a:rPr lang="en-US" sz="18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1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[0.55, -0.66, 0.14, 0.99],</a:t>
            </a:r>
            <a:br>
              <a:rPr lang="en-US" sz="18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1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[0.20, 0.77, -0.88, 0.10],</a:t>
            </a:r>
            <a:br>
              <a:rPr lang="en-US" sz="18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1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[0.01, 0.02, 0.03, 0.04]</a:t>
            </a:r>
            <a:br>
              <a:rPr lang="en-US" sz="18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1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]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231E945-27ED-032B-88AF-720557EFCF40}"/>
              </a:ext>
            </a:extLst>
          </p:cNvPr>
          <p:cNvSpPr txBox="1"/>
          <p:nvPr/>
        </p:nvSpPr>
        <p:spPr>
          <a:xfrm>
            <a:off x="132588" y="1792349"/>
            <a:ext cx="4666489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Each token id is a vector (say in 4D)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1012   → [0.12, -0.45, 0.88, 0.33]</a:t>
            </a:r>
            <a:b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45892 → [0.91, 0.02, -0.11, 0.76]</a:t>
            </a:r>
            <a:b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672     → [0.55, -0.66, 0.14, 0.99]</a:t>
            </a:r>
            <a:b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9834   → [0.20, 0.77, -0.88, 0.10]</a:t>
            </a:r>
            <a:b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</a:b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0          → [0.01, 0.02, 0.03, 0.04]</a:t>
            </a:r>
          </a:p>
        </p:txBody>
      </p:sp>
    </p:spTree>
    <p:extLst>
      <p:ext uri="{BB962C8B-B14F-4D97-AF65-F5344CB8AC3E}">
        <p14:creationId xmlns:p14="http://schemas.microsoft.com/office/powerpoint/2010/main" val="343753601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A2FE76-D580-9068-C451-7535C32C32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7F60ACD6-1EC9-227E-5DA1-EBD6C3DF7290}"/>
              </a:ext>
            </a:extLst>
          </p:cNvPr>
          <p:cNvSpPr txBox="1"/>
          <p:nvPr/>
        </p:nvSpPr>
        <p:spPr>
          <a:xfrm>
            <a:off x="100965" y="394347"/>
            <a:ext cx="7168515" cy="378565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Why Tokenization Matters in Prompt Engineering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1) Token Limit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Every AI model has a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maximum token capacity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GPT models have input + output token limits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If prompt is too long → information gets cut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 Suppose token limit is 20.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95F44E76-456E-DCE6-EC3C-C9DB5C0EE503}"/>
              </a:ext>
            </a:extLst>
          </p:cNvPr>
          <p:cNvSpPr txBox="1"/>
          <p:nvPr/>
        </p:nvSpPr>
        <p:spPr>
          <a:xfrm>
            <a:off x="310896" y="4544568"/>
            <a:ext cx="7790688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i="1" u="sng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I want to go to London. I am living in  </a:t>
            </a:r>
            <a:r>
              <a:rPr lang="en-US" sz="2400" b="1" u="sng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Moscow. I do not want to live in Moscow. </a:t>
            </a:r>
            <a:r>
              <a:rPr lang="en-US" sz="2400" b="1" i="1" u="sng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 I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was thinking of taking train. How can I go there in London ?</a:t>
            </a:r>
            <a:endParaRPr lang="en-IN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B5A2014-6F7B-4BBE-A11A-8A227BD0BD6D}"/>
              </a:ext>
            </a:extLst>
          </p:cNvPr>
          <p:cNvSpPr txBox="1"/>
          <p:nvPr/>
        </p:nvSpPr>
        <p:spPr>
          <a:xfrm>
            <a:off x="8970264" y="4828032"/>
            <a:ext cx="3221736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This part exceeds the token limit</a:t>
            </a:r>
            <a:endParaRPr lang="en-IN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5" name="Arrow: Down 4">
            <a:extLst>
              <a:ext uri="{FF2B5EF4-FFF2-40B4-BE49-F238E27FC236}">
                <a16:creationId xmlns:a16="http://schemas.microsoft.com/office/drawing/2014/main" id="{D74BC77F-9F15-3498-2411-24AEE479669E}"/>
              </a:ext>
            </a:extLst>
          </p:cNvPr>
          <p:cNvSpPr/>
          <p:nvPr/>
        </p:nvSpPr>
        <p:spPr>
          <a:xfrm rot="5400000" flipH="1">
            <a:off x="8086344" y="4812499"/>
            <a:ext cx="457199" cy="664464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8037658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431E7E-7BFD-8D61-7F2B-2EBA62F823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C39C3A5-AB16-3997-40D8-1C650FDF984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80545" y="163970"/>
            <a:ext cx="8087854" cy="618258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9931533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E2986E-A5B8-72C2-A3A8-8AFC2CEA862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A707BBEC-A291-BDD8-EDEE-B1F2F0464E5C}"/>
              </a:ext>
            </a:extLst>
          </p:cNvPr>
          <p:cNvSpPr txBox="1"/>
          <p:nvPr/>
        </p:nvSpPr>
        <p:spPr>
          <a:xfrm>
            <a:off x="96012" y="1040398"/>
            <a:ext cx="2623573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2) Cost Calculation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Most APIs charge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per token used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More tokens = More cost</a:t>
            </a: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036430BF-0CE8-3A3F-6F38-7B88B4EC834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47442101"/>
              </p:ext>
            </p:extLst>
          </p:nvPr>
        </p:nvGraphicFramePr>
        <p:xfrm>
          <a:off x="3116580" y="1296430"/>
          <a:ext cx="8979408" cy="4898277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37944">
                  <a:extLst>
                    <a:ext uri="{9D8B030D-6E8A-4147-A177-3AD203B41FA5}">
                      <a16:colId xmlns:a16="http://schemas.microsoft.com/office/drawing/2014/main" val="162351804"/>
                    </a:ext>
                  </a:extLst>
                </a:gridCol>
                <a:gridCol w="1905610">
                  <a:extLst>
                    <a:ext uri="{9D8B030D-6E8A-4147-A177-3AD203B41FA5}">
                      <a16:colId xmlns:a16="http://schemas.microsoft.com/office/drawing/2014/main" val="1868725405"/>
                    </a:ext>
                  </a:extLst>
                </a:gridCol>
                <a:gridCol w="1647749">
                  <a:extLst>
                    <a:ext uri="{9D8B030D-6E8A-4147-A177-3AD203B41FA5}">
                      <a16:colId xmlns:a16="http://schemas.microsoft.com/office/drawing/2014/main" val="595734976"/>
                    </a:ext>
                  </a:extLst>
                </a:gridCol>
                <a:gridCol w="1647749">
                  <a:extLst>
                    <a:ext uri="{9D8B030D-6E8A-4147-A177-3AD203B41FA5}">
                      <a16:colId xmlns:a16="http://schemas.microsoft.com/office/drawing/2014/main" val="3040923979"/>
                    </a:ext>
                  </a:extLst>
                </a:gridCol>
                <a:gridCol w="1940356">
                  <a:extLst>
                    <a:ext uri="{9D8B030D-6E8A-4147-A177-3AD203B41FA5}">
                      <a16:colId xmlns:a16="http://schemas.microsoft.com/office/drawing/2014/main" val="283644905"/>
                    </a:ext>
                  </a:extLst>
                </a:gridCol>
              </a:tblGrid>
              <a:tr h="379395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IN" sz="1600" b="1" u="sng" strike="noStrike" dirty="0">
                          <a:effectLst/>
                        </a:rPr>
                        <a:t>Provider &amp; Model</a:t>
                      </a:r>
                      <a:endParaRPr lang="en-IN" sz="1600" b="1" i="0" u="sng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84" marR="4684" marT="4684" marB="0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IN" sz="1600" b="1" u="sng" strike="noStrike">
                          <a:effectLst/>
                        </a:rPr>
                        <a:t>Specific Model Example</a:t>
                      </a:r>
                      <a:endParaRPr lang="en-IN" sz="1600" b="1" i="0" u="sng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84" marR="4684" marT="4684" marB="0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IN" sz="1600" b="1" u="sng" strike="noStrike" dirty="0">
                          <a:effectLst/>
                        </a:rPr>
                        <a:t>Input Cost </a:t>
                      </a:r>
                    </a:p>
                    <a:p>
                      <a:pPr algn="l" fontAlgn="t">
                        <a:buNone/>
                      </a:pPr>
                      <a:r>
                        <a:rPr lang="en-IN" sz="1600" b="1" u="sng" strike="noStrike" dirty="0">
                          <a:effectLst/>
                        </a:rPr>
                        <a:t>(per 1M tokens)</a:t>
                      </a:r>
                      <a:endParaRPr lang="en-IN" sz="1600" b="1" i="0" u="sng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84" marR="4684" marT="4684" marB="0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IN" sz="1600" b="1" u="sng" strike="noStrike" dirty="0">
                          <a:effectLst/>
                        </a:rPr>
                        <a:t>Output Cost </a:t>
                      </a:r>
                    </a:p>
                    <a:p>
                      <a:pPr algn="l" fontAlgn="t">
                        <a:buNone/>
                      </a:pPr>
                      <a:r>
                        <a:rPr lang="en-IN" sz="1600" b="1" u="sng" strike="noStrike" dirty="0">
                          <a:effectLst/>
                        </a:rPr>
                        <a:t>(per 1M tokens)</a:t>
                      </a:r>
                      <a:endParaRPr lang="en-IN" sz="1600" b="1" i="0" u="sng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84" marR="4684" marT="4684" marB="0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IN" sz="1600" b="1" u="sng" strike="noStrike" dirty="0">
                          <a:effectLst/>
                        </a:rPr>
                        <a:t>Key Advantage / Feature</a:t>
                      </a:r>
                      <a:endParaRPr lang="en-IN" sz="1600" b="1" i="0" u="sng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84" marR="4684" marT="4684" marB="0"/>
                </a:tc>
                <a:extLst>
                  <a:ext uri="{0D108BD9-81ED-4DB2-BD59-A6C34878D82A}">
                    <a16:rowId xmlns:a16="http://schemas.microsoft.com/office/drawing/2014/main" val="1766403730"/>
                  </a:ext>
                </a:extLst>
              </a:tr>
              <a:tr h="379395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IN" sz="1600" b="1" u="none" strike="noStrike" dirty="0">
                          <a:effectLst/>
                        </a:rPr>
                        <a:t>OpenAI (Frontier)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84" marR="4684" marT="4684" marB="0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IN" sz="1600" u="none" strike="noStrike" dirty="0">
                          <a:effectLst/>
                        </a:rPr>
                        <a:t>GPT-6 Astra</a:t>
                      </a:r>
                      <a:endParaRPr lang="en-IN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84" marR="4684" marT="4684" marB="0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IN" sz="1600" u="none" strike="noStrike" dirty="0">
                          <a:effectLst/>
                        </a:rPr>
                        <a:t>$10.00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84" marR="4684" marT="4684" marB="0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IN" sz="1600" u="none" strike="noStrike" dirty="0">
                          <a:effectLst/>
                        </a:rPr>
                        <a:t>$50.00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84" marR="4684" marT="4684" marB="0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IN" sz="1600" u="none" strike="noStrike" dirty="0">
                          <a:effectLst/>
                        </a:rPr>
                        <a:t>Next-gen flagship reasoning.</a:t>
                      </a:r>
                      <a:endParaRPr lang="en-IN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84" marR="4684" marT="4684" marB="0"/>
                </a:tc>
                <a:extLst>
                  <a:ext uri="{0D108BD9-81ED-4DB2-BD59-A6C34878D82A}">
                    <a16:rowId xmlns:a16="http://schemas.microsoft.com/office/drawing/2014/main" val="956420105"/>
                  </a:ext>
                </a:extLst>
              </a:tr>
              <a:tr h="473073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IN" sz="1600" b="1" u="none" strike="noStrike" dirty="0">
                          <a:effectLst/>
                        </a:rPr>
                        <a:t>OpenAI (Flagship)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84" marR="4684" marT="4684" marB="0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IN" sz="1600" u="none" strike="noStrike">
                          <a:effectLst/>
                        </a:rPr>
                        <a:t>GPT-5.6 Sol</a:t>
                      </a:r>
                      <a:endParaRPr lang="en-IN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84" marR="4684" marT="4684" marB="0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IN" sz="1600" u="none" strike="noStrike">
                          <a:effectLst/>
                        </a:rPr>
                        <a:t>$4.00</a:t>
                      </a:r>
                      <a:endParaRPr lang="en-IN" sz="16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84" marR="4684" marT="4684" marB="0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IN" sz="1600" u="none" strike="noStrike">
                          <a:effectLst/>
                        </a:rPr>
                        <a:t>$20.00</a:t>
                      </a:r>
                      <a:endParaRPr lang="en-IN" sz="16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84" marR="4684" marT="4684" marB="0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IN" sz="1600" u="none" strike="noStrike">
                          <a:effectLst/>
                        </a:rPr>
                        <a:t>Standard production powerhouse.</a:t>
                      </a:r>
                      <a:endParaRPr lang="en-IN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84" marR="4684" marT="4684" marB="0"/>
                </a:tc>
                <a:extLst>
                  <a:ext uri="{0D108BD9-81ED-4DB2-BD59-A6C34878D82A}">
                    <a16:rowId xmlns:a16="http://schemas.microsoft.com/office/drawing/2014/main" val="2485462098"/>
                  </a:ext>
                </a:extLst>
              </a:tr>
              <a:tr h="473073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IN" sz="1600" b="1" u="none" strike="noStrike" dirty="0">
                          <a:effectLst/>
                        </a:rPr>
                        <a:t>OpenAI (Flash/Mini)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84" marR="4684" marT="4684" marB="0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IN" sz="1600" u="none" strike="noStrike" dirty="0">
                          <a:effectLst/>
                        </a:rPr>
                        <a:t>GPT-5.6 Luna / GPT-4o mini</a:t>
                      </a:r>
                      <a:endParaRPr lang="en-IN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84" marR="4684" marT="4684" marB="0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IN" sz="1600" u="none" strike="noStrike" dirty="0">
                          <a:effectLst/>
                        </a:rPr>
                        <a:t>$0.15 – $0.20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84" marR="4684" marT="4684" marB="0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IN" sz="1600" u="none" strike="noStrike">
                          <a:effectLst/>
                        </a:rPr>
                        <a:t>$0.60 – $1.20</a:t>
                      </a:r>
                      <a:endParaRPr lang="en-IN" sz="16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84" marR="4684" marT="4684" marB="0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IN" sz="1600" u="none" strike="noStrike">
                          <a:effectLst/>
                        </a:rPr>
                        <a:t>Deep cost efficiency for high volume.</a:t>
                      </a:r>
                      <a:endParaRPr lang="en-IN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84" marR="4684" marT="4684" marB="0"/>
                </a:tc>
                <a:extLst>
                  <a:ext uri="{0D108BD9-81ED-4DB2-BD59-A6C34878D82A}">
                    <a16:rowId xmlns:a16="http://schemas.microsoft.com/office/drawing/2014/main" val="2993704714"/>
                  </a:ext>
                </a:extLst>
              </a:tr>
              <a:tr h="566751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IN" sz="1600" b="1" u="none" strike="noStrike" dirty="0">
                          <a:effectLst/>
                        </a:rPr>
                        <a:t>Anthropic (Frontier)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84" marR="4684" marT="4684" marB="0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IN" sz="1600" u="none" strike="noStrike">
                          <a:effectLst/>
                        </a:rPr>
                        <a:t>Claude Fable 5.1</a:t>
                      </a:r>
                      <a:endParaRPr lang="en-IN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84" marR="4684" marT="4684" marB="0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IN" sz="1600" u="none" strike="noStrike">
                          <a:effectLst/>
                        </a:rPr>
                        <a:t>$10.00</a:t>
                      </a:r>
                      <a:endParaRPr lang="en-IN" sz="16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84" marR="4684" marT="4684" marB="0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IN" sz="1600" u="none" strike="noStrike">
                          <a:effectLst/>
                        </a:rPr>
                        <a:t>$50.00</a:t>
                      </a:r>
                      <a:endParaRPr lang="en-IN" sz="16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84" marR="4684" marT="4684" marB="0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IN" sz="1600" u="none" strike="noStrike">
                          <a:effectLst/>
                        </a:rPr>
                        <a:t>Complex logic and long agentic workflows.</a:t>
                      </a:r>
                      <a:endParaRPr lang="en-IN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84" marR="4684" marT="4684" marB="0"/>
                </a:tc>
                <a:extLst>
                  <a:ext uri="{0D108BD9-81ED-4DB2-BD59-A6C34878D82A}">
                    <a16:rowId xmlns:a16="http://schemas.microsoft.com/office/drawing/2014/main" val="4103317175"/>
                  </a:ext>
                </a:extLst>
              </a:tr>
              <a:tr h="379395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IN" sz="1600" b="1" u="none" strike="noStrike" dirty="0">
                          <a:effectLst/>
                        </a:rPr>
                        <a:t>Anthropic (Flagship)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84" marR="4684" marT="4684" marB="0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IN" sz="1600" u="none" strike="noStrike">
                          <a:effectLst/>
                        </a:rPr>
                        <a:t>Claude Sonnet 5</a:t>
                      </a:r>
                      <a:endParaRPr lang="en-IN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84" marR="4684" marT="4684" marB="0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IN" sz="1600" u="none" strike="noStrike">
                          <a:effectLst/>
                        </a:rPr>
                        <a:t>$2.00</a:t>
                      </a:r>
                      <a:endParaRPr lang="en-IN" sz="16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84" marR="4684" marT="4684" marB="0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IN" sz="1600" u="none" strike="noStrike">
                          <a:effectLst/>
                        </a:rPr>
                        <a:t>$10.00</a:t>
                      </a:r>
                      <a:endParaRPr lang="en-IN" sz="16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84" marR="4684" marT="4684" marB="0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IN" sz="1600" u="none" strike="noStrike">
                          <a:effectLst/>
                        </a:rPr>
                        <a:t>Premium coding and analysis.</a:t>
                      </a:r>
                      <a:endParaRPr lang="en-IN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84" marR="4684" marT="4684" marB="0"/>
                </a:tc>
                <a:extLst>
                  <a:ext uri="{0D108BD9-81ED-4DB2-BD59-A6C34878D82A}">
                    <a16:rowId xmlns:a16="http://schemas.microsoft.com/office/drawing/2014/main" val="3783575096"/>
                  </a:ext>
                </a:extLst>
              </a:tr>
              <a:tr h="566751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IN" sz="1600" b="1" u="none" strike="noStrike" dirty="0">
                          <a:effectLst/>
                        </a:rPr>
                        <a:t>Anthropic (Flash/Mini)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84" marR="4684" marT="4684" marB="0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IN" sz="1600" u="none" strike="noStrike">
                          <a:effectLst/>
                        </a:rPr>
                        <a:t>Claude Haiku 4.5</a:t>
                      </a:r>
                      <a:endParaRPr lang="en-IN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84" marR="4684" marT="4684" marB="0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IN" sz="1600" u="none" strike="noStrike">
                          <a:effectLst/>
                        </a:rPr>
                        <a:t>$1.00</a:t>
                      </a:r>
                      <a:endParaRPr lang="en-IN" sz="16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84" marR="4684" marT="4684" marB="0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IN" sz="1600" u="none" strike="noStrike">
                          <a:effectLst/>
                        </a:rPr>
                        <a:t>$5.00</a:t>
                      </a:r>
                      <a:endParaRPr lang="en-IN" sz="16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84" marR="4684" marT="4684" marB="0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IN" sz="1600" u="none" strike="noStrike">
                          <a:effectLst/>
                        </a:rPr>
                        <a:t>Fast, balanced mid-tier workloads.</a:t>
                      </a:r>
                      <a:endParaRPr lang="en-IN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84" marR="4684" marT="4684" marB="0"/>
                </a:tc>
                <a:extLst>
                  <a:ext uri="{0D108BD9-81ED-4DB2-BD59-A6C34878D82A}">
                    <a16:rowId xmlns:a16="http://schemas.microsoft.com/office/drawing/2014/main" val="1010356693"/>
                  </a:ext>
                </a:extLst>
              </a:tr>
              <a:tr h="566751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IN" sz="1600" b="1" u="none" strike="noStrike" dirty="0" err="1">
                          <a:effectLst/>
                        </a:rPr>
                        <a:t>Groq</a:t>
                      </a:r>
                      <a:r>
                        <a:rPr lang="en-IN" sz="1600" b="1" u="none" strike="noStrike" dirty="0">
                          <a:effectLst/>
                        </a:rPr>
                        <a:t> (Open-Weights)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84" marR="4684" marT="4684" marB="0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IN" sz="1600" u="none" strike="noStrike">
                          <a:effectLst/>
                        </a:rPr>
                        <a:t>Llama 3.3 70B Versatile</a:t>
                      </a:r>
                      <a:endParaRPr lang="en-IN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84" marR="4684" marT="4684" marB="0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IN" sz="1600" u="none" strike="noStrike">
                          <a:effectLst/>
                        </a:rPr>
                        <a:t>$0.59</a:t>
                      </a:r>
                      <a:endParaRPr lang="en-IN" sz="16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84" marR="4684" marT="4684" marB="0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IN" sz="1600" u="none" strike="noStrike">
                          <a:effectLst/>
                        </a:rPr>
                        <a:t>$0.79</a:t>
                      </a:r>
                      <a:endParaRPr lang="en-IN" sz="16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84" marR="4684" marT="4684" marB="0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IN" sz="1600" u="none" strike="noStrike">
                          <a:effectLst/>
                        </a:rPr>
                        <a:t>Sub-100ms ultra-low latency inference.</a:t>
                      </a:r>
                      <a:endParaRPr lang="en-IN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84" marR="4684" marT="4684" marB="0"/>
                </a:tc>
                <a:extLst>
                  <a:ext uri="{0D108BD9-81ED-4DB2-BD59-A6C34878D82A}">
                    <a16:rowId xmlns:a16="http://schemas.microsoft.com/office/drawing/2014/main" val="3106289381"/>
                  </a:ext>
                </a:extLst>
              </a:tr>
              <a:tr h="566751"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IN" sz="1600" b="1" u="none" strike="noStrike" dirty="0" err="1">
                          <a:effectLst/>
                        </a:rPr>
                        <a:t>Groq</a:t>
                      </a:r>
                      <a:r>
                        <a:rPr lang="en-IN" sz="1600" b="1" u="none" strike="noStrike" dirty="0">
                          <a:effectLst/>
                        </a:rPr>
                        <a:t> (Lightweight)</a:t>
                      </a:r>
                      <a:endParaRPr lang="en-IN" sz="1600" b="1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84" marR="4684" marT="4684" marB="0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IN" sz="1600" u="none" strike="noStrike">
                          <a:effectLst/>
                        </a:rPr>
                        <a:t>Llama 3.1 8B Instant</a:t>
                      </a:r>
                      <a:endParaRPr lang="en-IN" sz="1600" b="0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84" marR="4684" marT="4684" marB="0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IN" sz="1600" u="none" strike="noStrike">
                          <a:effectLst/>
                        </a:rPr>
                        <a:t>$0.05</a:t>
                      </a:r>
                      <a:endParaRPr lang="en-IN" sz="16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84" marR="4684" marT="4684" marB="0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IN" sz="1600" u="none" strike="noStrike">
                          <a:effectLst/>
                        </a:rPr>
                        <a:t>$0.08</a:t>
                      </a:r>
                      <a:endParaRPr lang="en-IN" sz="1600" b="1" i="0" u="none" strike="noStrike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84" marR="4684" marT="4684" marB="0"/>
                </a:tc>
                <a:tc>
                  <a:txBody>
                    <a:bodyPr/>
                    <a:lstStyle/>
                    <a:p>
                      <a:pPr algn="l" fontAlgn="t">
                        <a:buNone/>
                      </a:pPr>
                      <a:r>
                        <a:rPr lang="en-IN" sz="1600" u="none" strike="noStrike" dirty="0">
                          <a:effectLst/>
                        </a:rPr>
                        <a:t>Extreme speed, highly affordable open-source.</a:t>
                      </a:r>
                      <a:endParaRPr lang="en-IN" sz="1600" b="0" i="0" u="none" strike="noStrike" dirty="0">
                        <a:solidFill>
                          <a:srgbClr val="000000"/>
                        </a:solidFill>
                        <a:effectLst/>
                        <a:latin typeface="Aptos Narrow" panose="020B0004020202020204" pitchFamily="34" charset="0"/>
                      </a:endParaRPr>
                    </a:p>
                  </a:txBody>
                  <a:tcPr marL="4684" marR="4684" marT="4684" marB="0"/>
                </a:tc>
                <a:extLst>
                  <a:ext uri="{0D108BD9-81ED-4DB2-BD59-A6C34878D82A}">
                    <a16:rowId xmlns:a16="http://schemas.microsoft.com/office/drawing/2014/main" val="3632674510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1BD370FB-A370-2A3D-174C-88B7AFFB7391}"/>
              </a:ext>
            </a:extLst>
          </p:cNvPr>
          <p:cNvSpPr txBox="1"/>
          <p:nvPr/>
        </p:nvSpPr>
        <p:spPr>
          <a:xfrm>
            <a:off x="1988820" y="427982"/>
            <a:ext cx="7822692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2026 API Token Price Comparison (Per 1 Million Tokens)</a:t>
            </a:r>
          </a:p>
        </p:txBody>
      </p:sp>
    </p:spTree>
    <p:extLst>
      <p:ext uri="{BB962C8B-B14F-4D97-AF65-F5344CB8AC3E}">
        <p14:creationId xmlns:p14="http://schemas.microsoft.com/office/powerpoint/2010/main" val="318962158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171784-DCE9-DCB5-0C31-7F2F4C208B4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2BD94085-449A-2646-3ED7-B509E94B3A12}"/>
              </a:ext>
            </a:extLst>
          </p:cNvPr>
          <p:cNvSpPr txBox="1"/>
          <p:nvPr/>
        </p:nvSpPr>
        <p:spPr>
          <a:xfrm>
            <a:off x="292989" y="257187"/>
            <a:ext cx="9859604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3) Prompt Clarity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Bad tokenization can change meaning.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Let’s eat grandma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Let’s eat</a:t>
            </a:r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,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grandma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Comma changes tokens → meaning changes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 first case      : Tokens could be [234, 12, 0,   34]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 second case: Tokens could be [215, 12, 6, 37, 892]</a:t>
            </a:r>
          </a:p>
        </p:txBody>
      </p:sp>
    </p:spTree>
    <p:extLst>
      <p:ext uri="{BB962C8B-B14F-4D97-AF65-F5344CB8AC3E}">
        <p14:creationId xmlns:p14="http://schemas.microsoft.com/office/powerpoint/2010/main" val="21276717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37646A-C09A-9147-0AE2-A7C2894BAB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D64FB20C-BEAB-7BCE-2467-E1A631605A9E}"/>
              </a:ext>
            </a:extLst>
          </p:cNvPr>
          <p:cNvSpPr txBox="1"/>
          <p:nvPr/>
        </p:nvSpPr>
        <p:spPr>
          <a:xfrm>
            <a:off x="720103" y="2583594"/>
            <a:ext cx="985960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Hallucinations – Why AI Lies &amp; How to Stop It</a:t>
            </a:r>
          </a:p>
        </p:txBody>
      </p:sp>
    </p:spTree>
    <p:extLst>
      <p:ext uri="{BB962C8B-B14F-4D97-AF65-F5344CB8AC3E}">
        <p14:creationId xmlns:p14="http://schemas.microsoft.com/office/powerpoint/2010/main" val="129778294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969432F-274F-0CFC-28E9-9E416DA771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A38D2F8-5C15-4749-D603-6D9795F025D6}"/>
              </a:ext>
            </a:extLst>
          </p:cNvPr>
          <p:cNvSpPr txBox="1"/>
          <p:nvPr/>
        </p:nvSpPr>
        <p:spPr>
          <a:xfrm>
            <a:off x="1395000" y="537501"/>
            <a:ext cx="9859603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What is Hallucination?</a:t>
            </a:r>
          </a:p>
          <a:p>
            <a:pPr>
              <a:buNone/>
            </a:pP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Real Example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Prompt: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Who won FIFA World Cup 2050?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AI may confidently give wrong answer: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FIFA was won by Argentina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190AAA0-61DA-2DE3-8EA8-8A5CC3E380BC}"/>
              </a:ext>
            </a:extLst>
          </p:cNvPr>
          <p:cNvSpPr txBox="1"/>
          <p:nvPr/>
        </p:nvSpPr>
        <p:spPr>
          <a:xfrm>
            <a:off x="690372" y="4580466"/>
            <a:ext cx="7758684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buNone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Hallucination happens when AI: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Generates false information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Sounds confident, but information is incorrect or invented</a:t>
            </a:r>
          </a:p>
        </p:txBody>
      </p:sp>
    </p:spTree>
    <p:extLst>
      <p:ext uri="{BB962C8B-B14F-4D97-AF65-F5344CB8AC3E}">
        <p14:creationId xmlns:p14="http://schemas.microsoft.com/office/powerpoint/2010/main" val="70100871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A6605F-B7B7-01EA-6F91-2D463EBE20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BC0C5F40-6196-BAAF-9D14-D8C4A4CC6487}"/>
              </a:ext>
            </a:extLst>
          </p:cNvPr>
          <p:cNvSpPr txBox="1"/>
          <p:nvPr/>
        </p:nvSpPr>
        <p:spPr>
          <a:xfrm>
            <a:off x="470916" y="3344709"/>
            <a:ext cx="8863780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2. Missing Information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If prompt lacks details → AI guesses.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Prompt </a:t>
            </a:r>
            <a:r>
              <a:rPr lang="en-US" sz="2400" b="1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lacking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Details: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I am trying to go to London. Tell me cheapest travel mode.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EAAE5D72-C9D5-F53F-0846-7B1FA5D468E7}"/>
              </a:ext>
            </a:extLst>
          </p:cNvPr>
          <p:cNvSpPr txBox="1"/>
          <p:nvPr/>
        </p:nvSpPr>
        <p:spPr>
          <a:xfrm>
            <a:off x="470916" y="1074510"/>
            <a:ext cx="9742932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Why Hallucination Happens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1. Prediction Based Model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AI predicts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most probable next word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, not truth. It is </a:t>
            </a:r>
            <a:r>
              <a:rPr lang="en-US" sz="2400" b="1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not verifying.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FD09C277-96F1-DFD7-3575-4B2BD3CDB29C}"/>
              </a:ext>
            </a:extLst>
          </p:cNvPr>
          <p:cNvSpPr txBox="1"/>
          <p:nvPr/>
        </p:nvSpPr>
        <p:spPr>
          <a:xfrm>
            <a:off x="9334696" y="4118140"/>
            <a:ext cx="2804741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AI does not know where you are living and when you have to be there</a:t>
            </a:r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7" name="Arrow: Right 6">
            <a:extLst>
              <a:ext uri="{FF2B5EF4-FFF2-40B4-BE49-F238E27FC236}">
                <a16:creationId xmlns:a16="http://schemas.microsoft.com/office/drawing/2014/main" id="{EA44C26F-5025-80DB-C5BE-4653520D3B34}"/>
              </a:ext>
            </a:extLst>
          </p:cNvPr>
          <p:cNvSpPr/>
          <p:nvPr/>
        </p:nvSpPr>
        <p:spPr>
          <a:xfrm>
            <a:off x="8174072" y="4853487"/>
            <a:ext cx="1097280" cy="384048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IN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80CAB3AC-E25E-A57A-BE26-F9157DA0DFC4}"/>
              </a:ext>
            </a:extLst>
          </p:cNvPr>
          <p:cNvSpPr txBox="1"/>
          <p:nvPr/>
        </p:nvSpPr>
        <p:spPr>
          <a:xfrm>
            <a:off x="413004" y="5496420"/>
            <a:ext cx="11050524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Prompt </a:t>
            </a:r>
            <a:r>
              <a:rPr lang="en-US" sz="2400" b="1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with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Details: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I am living in Berlin. I have to reach London between Sep 21 to 23, of this year.  Tell me cheapest train or flight.</a:t>
            </a:r>
          </a:p>
          <a:p>
            <a:endParaRPr lang="en-US" sz="2400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62954045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C0F4EE-EB17-42EE-3881-A7470ADF2FF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E71998F6-9734-7D0E-E5C3-B94558928266}"/>
              </a:ext>
            </a:extLst>
          </p:cNvPr>
          <p:cNvSpPr txBox="1"/>
          <p:nvPr/>
        </p:nvSpPr>
        <p:spPr>
          <a:xfrm>
            <a:off x="178848" y="308750"/>
            <a:ext cx="9321768" cy="63709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How to Reduce Hallucinations</a:t>
            </a:r>
          </a:p>
          <a:p>
            <a:endParaRPr lang="en-IN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457200" indent="-457200">
              <a:buAutoNum type="arabicParenR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Provide Context + Constraint</a:t>
            </a:r>
          </a:p>
          <a:p>
            <a:pPr marL="457200" indent="-457200">
              <a:buAutoNum type="arabicParenR"/>
            </a:pPr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Bad Prompt: 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Explain diabetes.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Better Prompt: 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You are a high school biology textbook author. 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Explain Type 2 diabetes for class 11 students in exactly 100 words. 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The students are all majoring in biology.</a:t>
            </a:r>
          </a:p>
          <a:p>
            <a:pPr marL="457200" indent="-457200">
              <a:buAutoNum type="arabicPeriod"/>
            </a:pPr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Base your explanation strictly on standard, globally accepted medical guidelines (like the WHO or ADA). </a:t>
            </a:r>
          </a:p>
          <a:p>
            <a:pPr marL="457200" indent="-457200">
              <a:buAutoNum type="arabicPeriod"/>
            </a:pPr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If a specific physiological mechanism is still scientifically debated or unknown, do not speculate; stick only to proven facts.</a:t>
            </a:r>
          </a:p>
          <a:p>
            <a:pPr marL="457200" indent="-457200">
              <a:buAutoNum type="arabicPeriod"/>
            </a:pPr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No Filler: Do not include introductory sentences. Start directly with the definition.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A93A07B-4B48-72BA-A863-CEE75E08F252}"/>
              </a:ext>
            </a:extLst>
          </p:cNvPr>
          <p:cNvSpPr txBox="1"/>
          <p:nvPr/>
        </p:nvSpPr>
        <p:spPr>
          <a:xfrm>
            <a:off x="9841442" y="5058642"/>
            <a:ext cx="2451111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Constraints to reduce hallucination</a:t>
            </a:r>
          </a:p>
        </p:txBody>
      </p:sp>
      <mc:AlternateContent xmlns:mc="http://schemas.openxmlformats.org/markup-compatibility/2006">
        <mc:Choice xmlns:p14="http://schemas.microsoft.com/office/powerpoint/2010/main" Requires="p14">
          <p:contentPart p14:bwMode="auto" r:id="rId2">
            <p14:nvContentPartPr>
              <p14:cNvPr id="5" name="Ink 4">
                <a:extLst>
                  <a:ext uri="{FF2B5EF4-FFF2-40B4-BE49-F238E27FC236}">
                    <a16:creationId xmlns:a16="http://schemas.microsoft.com/office/drawing/2014/main" id="{E8BE64D9-954A-7B28-7BC8-E5790269EA39}"/>
                  </a:ext>
                </a:extLst>
              </p14:cNvPr>
              <p14:cNvContentPartPr/>
              <p14:nvPr/>
            </p14:nvContentPartPr>
            <p14:xfrm>
              <a:off x="9294658" y="4378131"/>
              <a:ext cx="430920" cy="2153520"/>
            </p14:xfrm>
          </p:contentPart>
        </mc:Choice>
        <mc:Fallback>
          <p:pic>
            <p:nvPicPr>
              <p:cNvPr id="5" name="Ink 4">
                <a:extLst>
                  <a:ext uri="{FF2B5EF4-FFF2-40B4-BE49-F238E27FC236}">
                    <a16:creationId xmlns:a16="http://schemas.microsoft.com/office/drawing/2014/main" id="{E8BE64D9-954A-7B28-7BC8-E5790269EA39}"/>
                  </a:ext>
                </a:extLst>
              </p:cNvPr>
              <p:cNvPicPr/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9276658" y="4360491"/>
                <a:ext cx="466560" cy="218916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52032190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64325F-72AF-C394-E6D8-E4C98D42F5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639223F-7261-59E1-C8E6-DD8A9DADA604}"/>
              </a:ext>
            </a:extLst>
          </p:cNvPr>
          <p:cNvSpPr txBox="1"/>
          <p:nvPr/>
        </p:nvSpPr>
        <p:spPr>
          <a:xfrm>
            <a:off x="224028" y="921549"/>
            <a:ext cx="11232864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How to Reduce Hallucinations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2) Ask AI to Admit Uncertainty</a:t>
            </a:r>
          </a:p>
          <a:p>
            <a:r>
              <a:rPr lang="en-US" sz="2400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 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What is the cure for Type 2 diabetes?  </a:t>
            </a:r>
            <a:r>
              <a:rPr lang="en-US" sz="2400" b="1" i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If unsure, say "I don’t know"</a:t>
            </a:r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A1918701-1E98-864B-2380-83BBC8BC029F}"/>
              </a:ext>
            </a:extLst>
          </p:cNvPr>
          <p:cNvSpPr txBox="1"/>
          <p:nvPr/>
        </p:nvSpPr>
        <p:spPr>
          <a:xfrm>
            <a:off x="170363" y="3705320"/>
            <a:ext cx="10703052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3) Use Source Requirement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 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What is the cure for Type 2 diabetes. If unsure, say "I don’t know". 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Use following source to answer: &lt;</a:t>
            </a:r>
            <a:r>
              <a:rPr lang="en-US" sz="2400" b="1" i="1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copy_paste_text</a:t>
            </a:r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&gt; </a:t>
            </a:r>
          </a:p>
          <a:p>
            <a:r>
              <a:rPr lang="en-US" sz="2400" b="1" i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Provide answer with references.</a:t>
            </a:r>
          </a:p>
        </p:txBody>
      </p:sp>
    </p:spTree>
    <p:extLst>
      <p:ext uri="{BB962C8B-B14F-4D97-AF65-F5344CB8AC3E}">
        <p14:creationId xmlns:p14="http://schemas.microsoft.com/office/powerpoint/2010/main" val="214816779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41F40F-4786-72BA-7DDF-19A844E151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82C43C40-96BD-393C-A4D2-2DE6E52198D7}"/>
              </a:ext>
            </a:extLst>
          </p:cNvPr>
          <p:cNvSpPr txBox="1"/>
          <p:nvPr/>
        </p:nvSpPr>
        <p:spPr>
          <a:xfrm>
            <a:off x="197137" y="537501"/>
            <a:ext cx="8863780" cy="60016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How to Reduce Hallucinations</a:t>
            </a:r>
          </a:p>
          <a:p>
            <a:endParaRPr lang="en-IN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4) Break Complicated Tasks into Steps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Instead of: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Write research paper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Use Steps : 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Step1 -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I will give you a general idea, and you will propose 3 specific, researchable angles…..[Write you general idea]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Step 2 -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Ask AI to create outline on each of 3 research angles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Step 3 -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Ask AI to expand sections for each research topic</a:t>
            </a:r>
          </a:p>
        </p:txBody>
      </p:sp>
    </p:spTree>
    <p:extLst>
      <p:ext uri="{BB962C8B-B14F-4D97-AF65-F5344CB8AC3E}">
        <p14:creationId xmlns:p14="http://schemas.microsoft.com/office/powerpoint/2010/main" val="145874008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59C7AF-AB77-1C07-7828-B14197FF1CC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FF59EFF-6895-31D6-08D5-72C563082AC9}"/>
              </a:ext>
            </a:extLst>
          </p:cNvPr>
          <p:cNvSpPr txBox="1"/>
          <p:nvPr/>
        </p:nvSpPr>
        <p:spPr>
          <a:xfrm>
            <a:off x="242857" y="912405"/>
            <a:ext cx="8863780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4) Break Tasks into Steps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Instead of: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Write me a python code that analyzes the iris dataset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Use: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Step 1: </a:t>
            </a:r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How should I load a iris data into pandas </a:t>
            </a:r>
            <a:r>
              <a:rPr lang="en-US" sz="2400" dirty="0" err="1">
                <a:solidFill>
                  <a:schemeClr val="accent4">
                    <a:lumMod val="60000"/>
                    <a:lumOff val="40000"/>
                  </a:schemeClr>
                </a:solidFill>
              </a:rPr>
              <a:t>dataframe</a:t>
            </a:r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2400" dirty="0" err="1">
                <a:solidFill>
                  <a:schemeClr val="accent4">
                    <a:lumMod val="60000"/>
                    <a:lumOff val="40000"/>
                  </a:schemeClr>
                </a:solidFill>
              </a:rPr>
              <a:t>df</a:t>
            </a:r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.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Step 2: </a:t>
            </a:r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How do I print the </a:t>
            </a:r>
            <a:r>
              <a:rPr lang="en-US" sz="2400" dirty="0" err="1">
                <a:solidFill>
                  <a:schemeClr val="accent4">
                    <a:lumMod val="60000"/>
                    <a:lumOff val="40000"/>
                  </a:schemeClr>
                </a:solidFill>
              </a:rPr>
              <a:t>dataframe</a:t>
            </a:r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2400" dirty="0" err="1">
                <a:solidFill>
                  <a:schemeClr val="accent4">
                    <a:lumMod val="60000"/>
                    <a:lumOff val="40000"/>
                  </a:schemeClr>
                </a:solidFill>
              </a:rPr>
              <a:t>df</a:t>
            </a:r>
            <a:endParaRPr lang="en-US" sz="2400" b="1" dirty="0">
              <a:solidFill>
                <a:schemeClr val="accent4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Step 3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 </a:t>
            </a:r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How can I identify the datatype  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Step 4: </a:t>
            </a:r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How do I remove duplicates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Step 5: </a:t>
            </a:r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How can I visualize the numeric columns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Step 6: </a:t>
            </a:r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How do I print descriptive statistics</a:t>
            </a:r>
          </a:p>
        </p:txBody>
      </p:sp>
    </p:spTree>
    <p:extLst>
      <p:ext uri="{BB962C8B-B14F-4D97-AF65-F5344CB8AC3E}">
        <p14:creationId xmlns:p14="http://schemas.microsoft.com/office/powerpoint/2010/main" val="32989947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44BFB2-46E8-B79D-9A58-BFC9CE55FC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740DACC5-CC78-019E-56C5-1FA40ED6A840}"/>
              </a:ext>
            </a:extLst>
          </p:cNvPr>
          <p:cNvSpPr txBox="1"/>
          <p:nvPr/>
        </p:nvSpPr>
        <p:spPr>
          <a:xfrm>
            <a:off x="334297" y="1305597"/>
            <a:ext cx="488692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Break Tasks into Steps - EXAMPLE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267D3FE-8439-7855-D83C-47A8F41BC1B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70525" y="2286000"/>
            <a:ext cx="6926354" cy="26421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3081190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8D6E27-13F8-6CFD-6473-98DF024BC3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30559A4C-093F-5FED-E93E-C9CBB49B80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82313" y="80491"/>
            <a:ext cx="6043544" cy="5005568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67FCEF6F-8159-71E9-216D-BCE62ABC803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0185" y="5285232"/>
            <a:ext cx="6281678" cy="1492277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C63F5923-FAF3-DDC2-135D-A04EA4663ED7}"/>
              </a:ext>
            </a:extLst>
          </p:cNvPr>
          <p:cNvSpPr txBox="1"/>
          <p:nvPr/>
        </p:nvSpPr>
        <p:spPr>
          <a:xfrm>
            <a:off x="334297" y="1305597"/>
            <a:ext cx="4886927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Break Tasks into Steps - EXAMPLE</a:t>
            </a:r>
          </a:p>
        </p:txBody>
      </p:sp>
    </p:spTree>
    <p:extLst>
      <p:ext uri="{BB962C8B-B14F-4D97-AF65-F5344CB8AC3E}">
        <p14:creationId xmlns:p14="http://schemas.microsoft.com/office/powerpoint/2010/main" val="292279486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FCB92B-BAA8-64F1-6DD8-35B76DD4D7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F850628B-1C64-58F0-7445-95AC2E5018B2}"/>
              </a:ext>
            </a:extLst>
          </p:cNvPr>
          <p:cNvSpPr txBox="1"/>
          <p:nvPr/>
        </p:nvSpPr>
        <p:spPr>
          <a:xfrm>
            <a:off x="334297" y="1305597"/>
            <a:ext cx="8863780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Role Prompting - Example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1)  </a:t>
            </a:r>
            <a:r>
              <a:rPr lang="en-US" sz="2400" b="1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You are a certified medical professional.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I am having a running nose and high fever. I have rash on my head. What should I do ?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2)  </a:t>
            </a:r>
            <a:r>
              <a:rPr lang="en-US" sz="2400" b="1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You are a certified chartered accountant.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I am late in  filing ITR by 3 months. What should I do ?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66249944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E7EC01-868E-51D5-AFC2-04601CBF6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F6DE7F71-4BCB-3293-30E2-B234F9E82116}"/>
              </a:ext>
            </a:extLst>
          </p:cNvPr>
          <p:cNvSpPr txBox="1"/>
          <p:nvPr/>
        </p:nvSpPr>
        <p:spPr>
          <a:xfrm>
            <a:off x="592087" y="123858"/>
            <a:ext cx="98596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Hallucinations – Why AI Lies &amp; How to Stop It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6141AFE8-D07E-2ABA-986F-EDCAE0FC3DA3}"/>
              </a:ext>
            </a:extLst>
          </p:cNvPr>
          <p:cNvSpPr txBox="1"/>
          <p:nvPr/>
        </p:nvSpPr>
        <p:spPr>
          <a:xfrm>
            <a:off x="334296" y="1305597"/>
            <a:ext cx="10336751" cy="37856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Role Prompting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"</a:t>
            </a:r>
            <a:r>
              <a:rPr lang="en-US" sz="2400" b="1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Generic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 Prompt (High Hallucination Risk)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Bad Prompt: </a:t>
            </a:r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"What should I do if my heart is racing?“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Risk: The AI might give overly cautious, irrelevant, or dangerously vague advice because it's pulling from its entire training set—which includes forums, blog posts, and fiction.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338688513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B66B357-E497-DF01-124A-B0781F1B11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44415BF9-1F39-844F-1575-041EF59759EA}"/>
              </a:ext>
            </a:extLst>
          </p:cNvPr>
          <p:cNvSpPr txBox="1"/>
          <p:nvPr/>
        </p:nvSpPr>
        <p:spPr>
          <a:xfrm>
            <a:off x="334296" y="116877"/>
            <a:ext cx="11379168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"Role-Prompted" Example (Lower Hallucination Risk)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Better Prompt: </a:t>
            </a:r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"You are a board-certified cardiologist with 20 years of experience. </a:t>
            </a:r>
          </a:p>
          <a:p>
            <a:r>
              <a:rPr lang="en-US" sz="2400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Based on clinical emergency protocols, what is the step-by-step procedure for a patient experiencing a sudden resting heart rate over 120 BPM? If you are unsure of specific diagnostic criteria, state that you cannot provide medical advice for that detail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."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2F7D8C63-60B9-7002-C7A3-9E98DEA0AA6D}"/>
              </a:ext>
            </a:extLst>
          </p:cNvPr>
          <p:cNvSpPr txBox="1"/>
          <p:nvPr/>
        </p:nvSpPr>
        <p:spPr>
          <a:xfrm>
            <a:off x="571500" y="3160235"/>
            <a:ext cx="10410444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u="sng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Why this works: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Domain Alignment: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By assuming the role, the model weights "medical journal" data more heavily than "internet forum" data.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Specific Constraints: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You’ve combined the role with an "uncertainty" clause, which is proven to reduce hallucinations by up to 30–50%.</a:t>
            </a:r>
          </a:p>
        </p:txBody>
      </p:sp>
    </p:spTree>
    <p:extLst>
      <p:ext uri="{BB962C8B-B14F-4D97-AF65-F5344CB8AC3E}">
        <p14:creationId xmlns:p14="http://schemas.microsoft.com/office/powerpoint/2010/main" val="173458665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FE62C5E-367C-D7D8-A5DB-EAFD2E61F5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55A24F56-4986-6B09-716A-D2F09625D23C}"/>
              </a:ext>
            </a:extLst>
          </p:cNvPr>
          <p:cNvSpPr txBox="1"/>
          <p:nvPr/>
        </p:nvSpPr>
        <p:spPr>
          <a:xfrm>
            <a:off x="930415" y="2281842"/>
            <a:ext cx="9859604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40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Golden Prompt Formula</a:t>
            </a:r>
            <a:endParaRPr lang="en-US" sz="40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1328829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0A40C9-5836-9616-9193-C4C731FF36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EFC1F84D-1637-4F29-477A-E9FC9817A89C}"/>
              </a:ext>
            </a:extLst>
          </p:cNvPr>
          <p:cNvSpPr txBox="1"/>
          <p:nvPr/>
        </p:nvSpPr>
        <p:spPr>
          <a:xfrm>
            <a:off x="592087" y="123858"/>
            <a:ext cx="98596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Golden Prompt Formula</a:t>
            </a:r>
            <a:endParaRPr lang="en-US" sz="28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ECCED15-FB22-1A40-3D21-D2AACED571C7}"/>
              </a:ext>
            </a:extLst>
          </p:cNvPr>
          <p:cNvSpPr txBox="1"/>
          <p:nvPr/>
        </p:nvSpPr>
        <p:spPr>
          <a:xfrm>
            <a:off x="334296" y="830109"/>
            <a:ext cx="10336751" cy="52629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Prompt = Context + Task + Constraint + Output Format</a:t>
            </a:r>
          </a:p>
          <a:p>
            <a:endParaRPr lang="en-IN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1. Context (Background Information)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Gives AI situation or environment.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Without context → AI guesses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"No Context" Prompt (The Guessing Game)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Bad Prompt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 "Write a plan to improve customer retention.“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Problem: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 The AI doesn't know if you are a local coffee shop, a billion-dollar SaaS company, or a non-profit.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It will likely give you a "generic list" (loyalty cards, email newsletters) that might be totally irrelevant to your business model.</a:t>
            </a:r>
          </a:p>
        </p:txBody>
      </p:sp>
    </p:spTree>
    <p:extLst>
      <p:ext uri="{BB962C8B-B14F-4D97-AF65-F5344CB8AC3E}">
        <p14:creationId xmlns:p14="http://schemas.microsoft.com/office/powerpoint/2010/main" val="3974240285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48ED755-196A-D016-8E69-CCCD17E3B2C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DCBDEF69-878C-AE3B-E950-6C1686609CE5}"/>
              </a:ext>
            </a:extLst>
          </p:cNvPr>
          <p:cNvSpPr txBox="1"/>
          <p:nvPr/>
        </p:nvSpPr>
        <p:spPr>
          <a:xfrm>
            <a:off x="592087" y="123858"/>
            <a:ext cx="98596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Golden Prompt Formula</a:t>
            </a:r>
            <a:endParaRPr lang="en-US" sz="28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D7A18B4-25EE-0E35-77F7-5B0E974A326D}"/>
              </a:ext>
            </a:extLst>
          </p:cNvPr>
          <p:cNvSpPr txBox="1"/>
          <p:nvPr/>
        </p:nvSpPr>
        <p:spPr>
          <a:xfrm>
            <a:off x="334296" y="830109"/>
            <a:ext cx="10336751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Prompt = Context + Task + Constraint + Output Format</a:t>
            </a:r>
          </a:p>
          <a:p>
            <a:endParaRPr lang="en-IN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"High Context" Example (The Grounded Response)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Better Prompt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: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 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[Background]: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 We are a mid-sized B2B software company that sells a project management tool to construction firms. Our subscription is $500/month.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[The Situation]: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 We’ve noticed that customers usually leave (churn) after the 3rd month because the software feels too complex for their field workers.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[Goal]: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 Create a 30-day retention plan specifically focused on simplifying the 'onboarding' phase for non-technical users."</a:t>
            </a:r>
          </a:p>
        </p:txBody>
      </p:sp>
    </p:spTree>
    <p:extLst>
      <p:ext uri="{BB962C8B-B14F-4D97-AF65-F5344CB8AC3E}">
        <p14:creationId xmlns:p14="http://schemas.microsoft.com/office/powerpoint/2010/main" val="1629387032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D30D9C-6AA7-1B04-8873-C4C9861176C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C8BF1571-0D70-554F-342C-AFB2107BB1DF}"/>
              </a:ext>
            </a:extLst>
          </p:cNvPr>
          <p:cNvSpPr txBox="1"/>
          <p:nvPr/>
        </p:nvSpPr>
        <p:spPr>
          <a:xfrm>
            <a:off x="592087" y="123858"/>
            <a:ext cx="98596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Golden Prompt Formula</a:t>
            </a:r>
            <a:endParaRPr lang="en-US" sz="28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5AA8BAF-41E1-6BBC-E16F-8D64B25EB437}"/>
              </a:ext>
            </a:extLst>
          </p:cNvPr>
          <p:cNvSpPr txBox="1"/>
          <p:nvPr/>
        </p:nvSpPr>
        <p:spPr>
          <a:xfrm>
            <a:off x="334296" y="884973"/>
            <a:ext cx="11132279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Prompt = Context + Task + Constraint + Output Format</a:t>
            </a:r>
          </a:p>
          <a:p>
            <a:endParaRPr lang="en-IN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2. Task (What AI Should Do)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Clear action instruction.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Analyze the dataset and find trends in sales from the column </a:t>
            </a:r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monthly_sales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1102820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62AA41-F939-98FE-A90D-5341B5CE38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3F0ADDDA-F15C-4140-8576-8E9336785F8C}"/>
              </a:ext>
            </a:extLst>
          </p:cNvPr>
          <p:cNvSpPr txBox="1"/>
          <p:nvPr/>
        </p:nvSpPr>
        <p:spPr>
          <a:xfrm>
            <a:off x="592087" y="123858"/>
            <a:ext cx="98596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Golden Prompt Formula</a:t>
            </a:r>
            <a:endParaRPr lang="en-US" sz="28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EA16668-708F-9B3A-9401-B6B4F4EA4E70}"/>
              </a:ext>
            </a:extLst>
          </p:cNvPr>
          <p:cNvSpPr txBox="1"/>
          <p:nvPr/>
        </p:nvSpPr>
        <p:spPr>
          <a:xfrm>
            <a:off x="334296" y="766101"/>
            <a:ext cx="9859603" cy="60016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Prompt = Context + Task + Constraint + Output Format</a:t>
            </a:r>
          </a:p>
          <a:p>
            <a:endParaRPr lang="en-IN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IN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3. Constraint (Rules &amp; Limitations)</a:t>
            </a:r>
          </a:p>
          <a:p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Controls AI output.</a:t>
            </a:r>
          </a:p>
          <a:p>
            <a:endParaRPr lang="en-IN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Word limit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Tone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Audience level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Style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IN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Technology restriction</a:t>
            </a:r>
          </a:p>
          <a:p>
            <a:endParaRPr lang="en-IN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Explain in </a:t>
            </a:r>
            <a:r>
              <a:rPr lang="en-US" sz="2400" b="1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simple language under 150 words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concept of calculus. My audience is </a:t>
            </a:r>
            <a:r>
              <a:rPr lang="en-US" sz="2400" b="1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high school students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with weak math background. </a:t>
            </a:r>
            <a:r>
              <a:rPr lang="en-US" sz="2400" b="1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Do not use complex math formulas.</a:t>
            </a:r>
          </a:p>
        </p:txBody>
      </p:sp>
    </p:spTree>
    <p:extLst>
      <p:ext uri="{BB962C8B-B14F-4D97-AF65-F5344CB8AC3E}">
        <p14:creationId xmlns:p14="http://schemas.microsoft.com/office/powerpoint/2010/main" val="3973849161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73670BF-11AC-D158-95CA-D69482D74C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61CC46AD-353B-E9B0-DBC3-9EE0EE447951}"/>
              </a:ext>
            </a:extLst>
          </p:cNvPr>
          <p:cNvSpPr txBox="1"/>
          <p:nvPr/>
        </p:nvSpPr>
        <p:spPr>
          <a:xfrm>
            <a:off x="592087" y="123858"/>
            <a:ext cx="98596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Golden Prompt Formula</a:t>
            </a:r>
            <a:endParaRPr lang="en-US" sz="28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129E7542-8957-F3C2-DB3D-05ED1D5A72C9}"/>
              </a:ext>
            </a:extLst>
          </p:cNvPr>
          <p:cNvSpPr txBox="1"/>
          <p:nvPr/>
        </p:nvSpPr>
        <p:spPr>
          <a:xfrm>
            <a:off x="334297" y="811821"/>
            <a:ext cx="7423355" cy="4154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Prompt = Context + Task + Constraint + Output Format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4. Output Format (Structure)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This dramatically improves results.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Output format examples: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Table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Bullet points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JSON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Code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Step-by-step guide</a:t>
            </a:r>
          </a:p>
        </p:txBody>
      </p:sp>
    </p:spTree>
    <p:extLst>
      <p:ext uri="{BB962C8B-B14F-4D97-AF65-F5344CB8AC3E}">
        <p14:creationId xmlns:p14="http://schemas.microsoft.com/office/powerpoint/2010/main" val="346460623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02DC570-E0A4-B9C5-988A-7FC8B36737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42CD7745-5608-5569-FDDD-A46EA0CF672E}"/>
              </a:ext>
            </a:extLst>
          </p:cNvPr>
          <p:cNvSpPr txBox="1"/>
          <p:nvPr/>
        </p:nvSpPr>
        <p:spPr>
          <a:xfrm>
            <a:off x="592087" y="123858"/>
            <a:ext cx="98596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Golden Prompt Formula</a:t>
            </a:r>
            <a:endParaRPr lang="en-US" sz="28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E6F581D1-28DA-28B5-FFEB-DB6C8CF6619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00913" y="3104883"/>
            <a:ext cx="8917158" cy="2637155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FFC0898-4A59-3995-001A-ED66D933E0DB}"/>
              </a:ext>
            </a:extLst>
          </p:cNvPr>
          <p:cNvSpPr txBox="1"/>
          <p:nvPr/>
        </p:nvSpPr>
        <p:spPr>
          <a:xfrm>
            <a:off x="522487" y="985427"/>
            <a:ext cx="935893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Tell me the 3 difference between regular data and time series data. Provide output in </a:t>
            </a:r>
            <a:r>
              <a:rPr lang="en-US" sz="2400" b="1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table format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378689541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BDFC16-BBA0-79DD-C2FC-9366F81DDA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06287935-100C-6EFD-8B11-DF4E66C594D9}"/>
              </a:ext>
            </a:extLst>
          </p:cNvPr>
          <p:cNvSpPr txBox="1"/>
          <p:nvPr/>
        </p:nvSpPr>
        <p:spPr>
          <a:xfrm>
            <a:off x="592087" y="123858"/>
            <a:ext cx="98596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Golden Prompt Formula</a:t>
            </a:r>
            <a:endParaRPr lang="en-US" sz="28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32F6A72-B2F4-C9D3-C352-AF37A5A9C3E2}"/>
              </a:ext>
            </a:extLst>
          </p:cNvPr>
          <p:cNvSpPr txBox="1"/>
          <p:nvPr/>
        </p:nvSpPr>
        <p:spPr>
          <a:xfrm>
            <a:off x="522487" y="985427"/>
            <a:ext cx="9358932" cy="12003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Example: 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Tell me the 3 difference between regular data and time series data. Provide output in </a:t>
            </a:r>
            <a:r>
              <a:rPr lang="en-US" sz="2400" b="1" i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bullet format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1A390310-7D1E-9F76-1D77-780F01CAFED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18149" y="3289745"/>
            <a:ext cx="8284794" cy="2764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1153417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4684D7-D621-9624-104A-B73AB0EDB5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CAC30DAA-2DF2-0DB5-25CE-79ED1B40FB57}"/>
              </a:ext>
            </a:extLst>
          </p:cNvPr>
          <p:cNvSpPr txBox="1"/>
          <p:nvPr/>
        </p:nvSpPr>
        <p:spPr>
          <a:xfrm>
            <a:off x="592087" y="123858"/>
            <a:ext cx="98596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Golden Prompt Formula</a:t>
            </a:r>
            <a:endParaRPr lang="en-US" sz="28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0543549-7C4E-34E2-CE0E-76EF872A96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441" y="768032"/>
            <a:ext cx="6039693" cy="914528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649CF3DA-6520-6C20-0F9A-3A59DE4FD15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4753" y="1803514"/>
            <a:ext cx="7556938" cy="48631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006215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B54629-A020-65DF-9DF3-A80D3E1EF8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94CB36B4-2BFD-4FF8-C4D6-52B6FCF10F43}"/>
              </a:ext>
            </a:extLst>
          </p:cNvPr>
          <p:cNvSpPr txBox="1"/>
          <p:nvPr/>
        </p:nvSpPr>
        <p:spPr>
          <a:xfrm>
            <a:off x="334297" y="1305597"/>
            <a:ext cx="8863780" cy="489364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IN" sz="2400" b="1" dirty="0">
                <a:solidFill>
                  <a:schemeClr val="accent4">
                    <a:lumMod val="60000"/>
                    <a:lumOff val="40000"/>
                  </a:schemeClr>
                </a:solidFill>
              </a:rPr>
              <a:t>Prompt = Context + Task + Constraint + Output Format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Weak Prompt: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Explain neural networks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Strong Prompt Using Formula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Context: You are teaching beginners in AI.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Task: Explain neural networks.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Constraint: Use simple language and include real-life analogy. Do not use heavy math.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Output Format: Provide explanation in </a:t>
            </a:r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bullet points.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D680897C-3829-DE19-EC11-A952E81869E7}"/>
              </a:ext>
            </a:extLst>
          </p:cNvPr>
          <p:cNvSpPr txBox="1"/>
          <p:nvPr/>
        </p:nvSpPr>
        <p:spPr>
          <a:xfrm>
            <a:off x="592087" y="123858"/>
            <a:ext cx="98596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 Golden Prompt Formula</a:t>
            </a:r>
            <a:endParaRPr lang="en-US" sz="28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885093460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3BD9C13-7261-4EDE-8D72-129D9A0E2C8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2">
            <a:extLst>
              <a:ext uri="{FF2B5EF4-FFF2-40B4-BE49-F238E27FC236}">
                <a16:creationId xmlns:a16="http://schemas.microsoft.com/office/drawing/2014/main" id="{5004A52E-FA6F-CC96-C2CD-1B5DC06F3903}"/>
              </a:ext>
            </a:extLst>
          </p:cNvPr>
          <p:cNvSpPr txBox="1"/>
          <p:nvPr/>
        </p:nvSpPr>
        <p:spPr>
          <a:xfrm>
            <a:off x="334297" y="766101"/>
            <a:ext cx="8863780" cy="60016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[ROLE]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You are a ___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[TASK]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Your task is to ___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[CONTEXT]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Here is the context: ___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[CONSTRAINTS]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Follow these rules: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- ___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- ___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[OUTPUT FORMAT]</a:t>
            </a:r>
          </a:p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Return answer as: ___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AB2D52DE-DDE1-6112-954C-4CCF6C9626F7}"/>
              </a:ext>
            </a:extLst>
          </p:cNvPr>
          <p:cNvSpPr txBox="1"/>
          <p:nvPr/>
        </p:nvSpPr>
        <p:spPr>
          <a:xfrm>
            <a:off x="592087" y="123858"/>
            <a:ext cx="9859604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IN" sz="28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(Add On) Prompt Template</a:t>
            </a:r>
            <a:endParaRPr lang="en-US" sz="28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90517847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C88A72-F8D3-9203-795E-98C76B7511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542248305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92E9D7-16AF-61C3-A56D-933DA14F1D5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extBox 8">
            <a:extLst>
              <a:ext uri="{FF2B5EF4-FFF2-40B4-BE49-F238E27FC236}">
                <a16:creationId xmlns:a16="http://schemas.microsoft.com/office/drawing/2014/main" id="{5997DE48-6EA1-1DA7-C6A0-000AD358FC46}"/>
              </a:ext>
            </a:extLst>
          </p:cNvPr>
          <p:cNvSpPr txBox="1"/>
          <p:nvPr/>
        </p:nvSpPr>
        <p:spPr>
          <a:xfrm>
            <a:off x="238125" y="1244739"/>
            <a:ext cx="9859604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Practical Demo Idea</a:t>
            </a:r>
          </a:p>
          <a:p>
            <a:endParaRPr lang="en-US" sz="2400" b="1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Ask students: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Count tokens in: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"Machine learning is powerful.“</a:t>
            </a:r>
          </a:p>
          <a:p>
            <a:endParaRPr lang="en-US" sz="2400" dirty="0">
              <a:solidFill>
                <a:schemeClr val="accent6">
                  <a:lumMod val="60000"/>
                  <a:lumOff val="40000"/>
                </a:schemeClr>
              </a:solidFill>
            </a:endParaRP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Then show them using tokenizer tools like:</a:t>
            </a:r>
          </a:p>
          <a:p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OpenAI tokenizer</a:t>
            </a:r>
          </a:p>
          <a:p>
            <a:r>
              <a:rPr lang="en-US" sz="2400" dirty="0" err="1">
                <a:solidFill>
                  <a:schemeClr val="accent6">
                    <a:lumMod val="60000"/>
                    <a:lumOff val="40000"/>
                  </a:schemeClr>
                </a:solidFill>
              </a:rPr>
              <a:t>HuggingFace</a:t>
            </a:r>
            <a:r>
              <a:rPr lang="en-US" sz="2400" dirty="0">
                <a:solidFill>
                  <a:schemeClr val="accent6">
                    <a:lumMod val="60000"/>
                    <a:lumOff val="40000"/>
                  </a:schemeClr>
                </a:solidFill>
              </a:rPr>
              <a:t> tokenizer</a:t>
            </a:r>
          </a:p>
        </p:txBody>
      </p:sp>
    </p:spTree>
    <p:extLst>
      <p:ext uri="{BB962C8B-B14F-4D97-AF65-F5344CB8AC3E}">
        <p14:creationId xmlns:p14="http://schemas.microsoft.com/office/powerpoint/2010/main" val="191165494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What is Statistics</Template>
  <TotalTime>502</TotalTime>
  <Words>2118</Words>
  <Application>Microsoft Office PowerPoint</Application>
  <PresentationFormat>Widescreen</PresentationFormat>
  <Paragraphs>334</Paragraphs>
  <Slides>34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40" baseType="lpstr">
      <vt:lpstr>Aptos Narrow</vt:lpstr>
      <vt:lpstr>Arial</vt:lpstr>
      <vt:lpstr>Calibri</vt:lpstr>
      <vt:lpstr>Calibri Light</vt:lpstr>
      <vt:lpstr>Wingdings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Ashwani Kumar</dc:creator>
  <cp:lastModifiedBy>Ashwani Kumar</cp:lastModifiedBy>
  <cp:revision>100</cp:revision>
  <dcterms:created xsi:type="dcterms:W3CDTF">2025-09-22T02:44:38Z</dcterms:created>
  <dcterms:modified xsi:type="dcterms:W3CDTF">2026-09-22T14:51:39Z</dcterms:modified>
</cp:coreProperties>
</file>