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5"/>
  </p:handoutMasterIdLst>
  <p:sldIdLst>
    <p:sldId id="257" r:id="rId2"/>
    <p:sldId id="258" r:id="rId3"/>
    <p:sldId id="270" r:id="rId4"/>
    <p:sldId id="271" r:id="rId5"/>
    <p:sldId id="272" r:id="rId6"/>
    <p:sldId id="273" r:id="rId7"/>
    <p:sldId id="276" r:id="rId8"/>
    <p:sldId id="290" r:id="rId9"/>
    <p:sldId id="274" r:id="rId10"/>
    <p:sldId id="275" r:id="rId11"/>
    <p:sldId id="277" r:id="rId12"/>
    <p:sldId id="278" r:id="rId13"/>
    <p:sldId id="292" r:id="rId14"/>
    <p:sldId id="294" r:id="rId15"/>
    <p:sldId id="291" r:id="rId16"/>
    <p:sldId id="279" r:id="rId17"/>
    <p:sldId id="280" r:id="rId18"/>
    <p:sldId id="281" r:id="rId19"/>
    <p:sldId id="282" r:id="rId20"/>
    <p:sldId id="283" r:id="rId21"/>
    <p:sldId id="289" r:id="rId22"/>
    <p:sldId id="293"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6/16/2026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6/16/2026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6/16/2026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C5AA4-1E9C-99DC-AFA2-54F7AD62956A}"/>
              </a:ext>
            </a:extLst>
          </p:cNvPr>
          <p:cNvSpPr txBox="1"/>
          <p:nvPr/>
        </p:nvSpPr>
        <p:spPr>
          <a:xfrm>
            <a:off x="3028950" y="85725"/>
            <a:ext cx="6400800" cy="1323439"/>
          </a:xfrm>
          <a:prstGeom prst="rect">
            <a:avLst/>
          </a:prstGeom>
          <a:noFill/>
        </p:spPr>
        <p:txBody>
          <a:bodyPr wrap="square" rtlCol="0">
            <a:spAutoFit/>
          </a:bodyPr>
          <a:lstStyle/>
          <a:p>
            <a:pPr algn="ctr"/>
            <a:r>
              <a:rPr lang="en-US" sz="4000" dirty="0">
                <a:solidFill>
                  <a:schemeClr val="accent6">
                    <a:lumMod val="60000"/>
                    <a:lumOff val="40000"/>
                  </a:schemeClr>
                </a:solidFill>
              </a:rPr>
              <a:t>Prompt Engineering</a:t>
            </a:r>
          </a:p>
          <a:p>
            <a:pPr algn="ctr"/>
            <a:r>
              <a:rPr lang="en-US" sz="4000" dirty="0">
                <a:solidFill>
                  <a:schemeClr val="accent6">
                    <a:lumMod val="60000"/>
                    <a:lumOff val="40000"/>
                  </a:schemeClr>
                </a:solidFill>
              </a:rPr>
              <a:t>Structure</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C4EE4-7CB9-DC2F-6583-CEFEBED4EA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4D9E2B6-28AD-DF63-1020-0A3F17443414}"/>
              </a:ext>
            </a:extLst>
          </p:cNvPr>
          <p:cNvSpPr txBox="1"/>
          <p:nvPr/>
        </p:nvSpPr>
        <p:spPr>
          <a:xfrm>
            <a:off x="594360" y="962098"/>
            <a:ext cx="10780776" cy="3785652"/>
          </a:xfrm>
          <a:prstGeom prst="rect">
            <a:avLst/>
          </a:prstGeom>
          <a:noFill/>
        </p:spPr>
        <p:txBody>
          <a:bodyPr wrap="square">
            <a:spAutoFit/>
          </a:bodyPr>
          <a:lstStyle/>
          <a:p>
            <a:pPr marL="457200" indent="-457200">
              <a:buAutoNum type="arabicPeriod"/>
            </a:pPr>
            <a:r>
              <a:rPr lang="en-US" sz="2400" b="1" dirty="0">
                <a:solidFill>
                  <a:schemeClr val="accent6">
                    <a:lumMod val="60000"/>
                    <a:lumOff val="40000"/>
                  </a:schemeClr>
                </a:solidFill>
              </a:rPr>
              <a:t>Delimiters – Separating Data Clearly</a:t>
            </a:r>
          </a:p>
          <a:p>
            <a:pPr marL="457200" indent="-457200">
              <a:buAutoNum type="arabicPeriod"/>
            </a:pPr>
            <a:endParaRPr lang="en-US" sz="2400" dirty="0">
              <a:solidFill>
                <a:schemeClr val="accent6">
                  <a:lumMod val="60000"/>
                  <a:lumOff val="40000"/>
                </a:schemeClr>
              </a:solidFill>
            </a:endParaRPr>
          </a:p>
          <a:p>
            <a:r>
              <a:rPr lang="en-US" sz="2400" b="1" dirty="0">
                <a:solidFill>
                  <a:schemeClr val="accent6">
                    <a:lumMod val="60000"/>
                    <a:lumOff val="40000"/>
                  </a:schemeClr>
                </a:solidFill>
              </a:rPr>
              <a:t>What are Delimiters?</a:t>
            </a:r>
            <a:endParaRPr lang="en-US" sz="2400" dirty="0">
              <a:solidFill>
                <a:schemeClr val="accent6">
                  <a:lumMod val="60000"/>
                  <a:lumOff val="40000"/>
                </a:schemeClr>
              </a:solidFill>
            </a:endParaRPr>
          </a:p>
          <a:p>
            <a:r>
              <a:rPr lang="en-US" sz="2400" dirty="0">
                <a:solidFill>
                  <a:schemeClr val="accent6">
                    <a:lumMod val="60000"/>
                    <a:lumOff val="40000"/>
                  </a:schemeClr>
                </a:solidFill>
              </a:rPr>
              <a:t>Delimiters are </a:t>
            </a:r>
            <a:r>
              <a:rPr lang="en-US" sz="2400" b="1" dirty="0">
                <a:solidFill>
                  <a:schemeClr val="accent6">
                    <a:lumMod val="60000"/>
                    <a:lumOff val="40000"/>
                  </a:schemeClr>
                </a:solidFill>
              </a:rPr>
              <a:t>special symbols or characters used to separate different parts of a prompt</a:t>
            </a:r>
            <a:r>
              <a:rPr lang="en-US" sz="2400" dirty="0">
                <a:solidFill>
                  <a:schemeClr val="accent6">
                    <a:lumMod val="60000"/>
                    <a:lumOff val="40000"/>
                  </a:schemeClr>
                </a:solidFill>
              </a:rPr>
              <a:t>. They help AI clearly distinguish between instructions, data, and examples.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Common delimiters include:</a:t>
            </a:r>
          </a:p>
          <a:p>
            <a:pPr marL="342900" lvl="0" indent="-342900">
              <a:buFont typeface="Arial" panose="020B0604020202020204" pitchFamily="34" charset="0"/>
              <a:buChar char="•"/>
            </a:pPr>
            <a:r>
              <a:rPr lang="en-US" sz="2400" dirty="0">
                <a:solidFill>
                  <a:schemeClr val="accent6">
                    <a:lumMod val="60000"/>
                    <a:lumOff val="40000"/>
                  </a:schemeClr>
                </a:solidFill>
              </a:rPr>
              <a:t>Triple quotes (""")</a:t>
            </a:r>
          </a:p>
          <a:p>
            <a:pPr marL="342900" lvl="0" indent="-342900">
              <a:buFont typeface="Arial" panose="020B0604020202020204" pitchFamily="34" charset="0"/>
              <a:buChar char="•"/>
            </a:pPr>
            <a:r>
              <a:rPr lang="en-US" sz="2400" dirty="0">
                <a:solidFill>
                  <a:schemeClr val="accent6">
                    <a:lumMod val="60000"/>
                    <a:lumOff val="40000"/>
                  </a:schemeClr>
                </a:solidFill>
              </a:rPr>
              <a:t>&lt;&lt;&lt;   &gt;&gt;&gt;</a:t>
            </a:r>
          </a:p>
          <a:p>
            <a:pPr marL="342900" lvl="0" indent="-342900">
              <a:buFont typeface="Arial" panose="020B0604020202020204" pitchFamily="34" charset="0"/>
              <a:buChar char="•"/>
            </a:pPr>
            <a:r>
              <a:rPr lang="en-US" sz="2400" dirty="0">
                <a:solidFill>
                  <a:schemeClr val="accent6">
                    <a:lumMod val="60000"/>
                    <a:lumOff val="40000"/>
                  </a:schemeClr>
                </a:solidFill>
              </a:rPr>
              <a:t>XML or JSON tags</a:t>
            </a:r>
          </a:p>
        </p:txBody>
      </p:sp>
    </p:spTree>
    <p:extLst>
      <p:ext uri="{BB962C8B-B14F-4D97-AF65-F5344CB8AC3E}">
        <p14:creationId xmlns:p14="http://schemas.microsoft.com/office/powerpoint/2010/main" val="3227882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63244-62B9-7037-20B6-F32E936E9A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59D51B-EC6F-3D0E-AEA2-3DF01D469399}"/>
              </a:ext>
            </a:extLst>
          </p:cNvPr>
          <p:cNvSpPr txBox="1"/>
          <p:nvPr/>
        </p:nvSpPr>
        <p:spPr>
          <a:xfrm>
            <a:off x="594360" y="962098"/>
            <a:ext cx="10780776" cy="3416320"/>
          </a:xfrm>
          <a:prstGeom prst="rect">
            <a:avLst/>
          </a:prstGeom>
          <a:noFill/>
        </p:spPr>
        <p:txBody>
          <a:bodyPr wrap="square">
            <a:spAutoFit/>
          </a:bodyPr>
          <a:lstStyle/>
          <a:p>
            <a:r>
              <a:rPr lang="en-US" sz="2400" b="1" dirty="0">
                <a:solidFill>
                  <a:schemeClr val="accent6">
                    <a:lumMod val="60000"/>
                    <a:lumOff val="40000"/>
                  </a:schemeClr>
                </a:solidFill>
              </a:rPr>
              <a:t>Example Without Delimiters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Summarize the following text. Here we explain how climate change affects agriculture. Climate change is causing unpredictable rainfall and crop damage. Species are disappearing because of climate change.</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prompt is confusing because </a:t>
            </a:r>
            <a:r>
              <a:rPr lang="en-US" sz="2400" b="1" dirty="0">
                <a:solidFill>
                  <a:schemeClr val="accent6">
                    <a:lumMod val="60000"/>
                    <a:lumOff val="40000"/>
                  </a:schemeClr>
                </a:solidFill>
              </a:rPr>
              <a:t>instructions and data are mixed.</a:t>
            </a:r>
          </a:p>
        </p:txBody>
      </p:sp>
    </p:spTree>
    <p:extLst>
      <p:ext uri="{BB962C8B-B14F-4D97-AF65-F5344CB8AC3E}">
        <p14:creationId xmlns:p14="http://schemas.microsoft.com/office/powerpoint/2010/main" val="265328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C872-59CE-A0E4-7B71-2C7F9672AD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57A1D8-D5CC-09D3-219A-C5F7DCD4FB5C}"/>
              </a:ext>
            </a:extLst>
          </p:cNvPr>
          <p:cNvSpPr txBox="1"/>
          <p:nvPr/>
        </p:nvSpPr>
        <p:spPr>
          <a:xfrm>
            <a:off x="594360" y="962098"/>
            <a:ext cx="10780776" cy="5262979"/>
          </a:xfrm>
          <a:prstGeom prst="rect">
            <a:avLst/>
          </a:prstGeom>
          <a:noFill/>
        </p:spPr>
        <p:txBody>
          <a:bodyPr wrap="square">
            <a:spAutoFit/>
          </a:bodyPr>
          <a:lstStyle/>
          <a:p>
            <a:r>
              <a:rPr lang="en-US" sz="2400" b="1" dirty="0">
                <a:solidFill>
                  <a:schemeClr val="accent6">
                    <a:lumMod val="60000"/>
                    <a:lumOff val="40000"/>
                  </a:schemeClr>
                </a:solidFill>
              </a:rPr>
              <a:t>Example With Delimiters</a:t>
            </a:r>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Summarize the text below.</a:t>
            </a:r>
          </a:p>
          <a:p>
            <a:r>
              <a:rPr lang="en-US" sz="2400" dirty="0">
                <a:solidFill>
                  <a:schemeClr val="accent6">
                    <a:lumMod val="60000"/>
                    <a:lumOff val="40000"/>
                  </a:schemeClr>
                </a:solidFill>
              </a:rPr>
              <a:t> </a:t>
            </a:r>
          </a:p>
          <a:p>
            <a:r>
              <a:rPr lang="en-US" sz="2400" dirty="0">
                <a:solidFill>
                  <a:schemeClr val="accent6">
                    <a:lumMod val="60000"/>
                    <a:lumOff val="40000"/>
                  </a:schemeClr>
                </a:solidFill>
              </a:rPr>
              <a:t>Text:</a:t>
            </a:r>
          </a:p>
          <a:p>
            <a:r>
              <a:rPr lang="en-US" sz="2400" dirty="0">
                <a:solidFill>
                  <a:schemeClr val="accent6">
                    <a:lumMod val="60000"/>
                    <a:lumOff val="40000"/>
                  </a:schemeClr>
                </a:solidFill>
              </a:rPr>
              <a:t>###</a:t>
            </a:r>
          </a:p>
          <a:p>
            <a:r>
              <a:rPr lang="en-US" sz="2400" dirty="0">
                <a:solidFill>
                  <a:schemeClr val="accent6">
                    <a:lumMod val="60000"/>
                    <a:lumOff val="40000"/>
                  </a:schemeClr>
                </a:solidFill>
              </a:rPr>
              <a:t>Here we explain how climate change affects agriculture.</a:t>
            </a:r>
          </a:p>
          <a:p>
            <a:r>
              <a:rPr lang="en-US" sz="2400" dirty="0">
                <a:solidFill>
                  <a:schemeClr val="accent6">
                    <a:lumMod val="60000"/>
                    <a:lumOff val="40000"/>
                  </a:schemeClr>
                </a:solidFill>
              </a:rPr>
              <a:t>Climate change is causing unpredictable rainfall and crop damage. Species are disappearing because of climate change. </a:t>
            </a:r>
          </a:p>
          <a:p>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Now AI clearly understands where the text starts and ends.</a:t>
            </a:r>
          </a:p>
        </p:txBody>
      </p:sp>
    </p:spTree>
    <p:extLst>
      <p:ext uri="{BB962C8B-B14F-4D97-AF65-F5344CB8AC3E}">
        <p14:creationId xmlns:p14="http://schemas.microsoft.com/office/powerpoint/2010/main" val="1277089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27BE3-926B-5900-7FB4-C0AD4A5FF4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7E4537-70CF-A8E2-BD5F-8909E4DD83C5}"/>
              </a:ext>
            </a:extLst>
          </p:cNvPr>
          <p:cNvSpPr txBox="1"/>
          <p:nvPr/>
        </p:nvSpPr>
        <p:spPr>
          <a:xfrm>
            <a:off x="557784" y="943810"/>
            <a:ext cx="10780776" cy="4524315"/>
          </a:xfrm>
          <a:prstGeom prst="rect">
            <a:avLst/>
          </a:prstGeom>
          <a:noFill/>
        </p:spPr>
        <p:txBody>
          <a:bodyPr wrap="square">
            <a:spAutoFit/>
          </a:bodyPr>
          <a:lstStyle/>
          <a:p>
            <a:r>
              <a:rPr lang="en-US" sz="2400" b="1" dirty="0">
                <a:solidFill>
                  <a:schemeClr val="accent6">
                    <a:lumMod val="60000"/>
                    <a:lumOff val="40000"/>
                  </a:schemeClr>
                </a:solidFill>
              </a:rPr>
              <a:t>Using Triple Quotes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Summarize the text inside </a:t>
            </a:r>
            <a:r>
              <a:rPr lang="en-US" sz="2400" b="1" dirty="0">
                <a:solidFill>
                  <a:schemeClr val="accent6">
                    <a:lumMod val="60000"/>
                    <a:lumOff val="40000"/>
                  </a:schemeClr>
                </a:solidFill>
              </a:rPr>
              <a:t>triple</a:t>
            </a:r>
            <a:r>
              <a:rPr lang="en-US" sz="2400" dirty="0">
                <a:solidFill>
                  <a:schemeClr val="accent6">
                    <a:lumMod val="60000"/>
                    <a:lumOff val="40000"/>
                  </a:schemeClr>
                </a:solidFill>
              </a:rPr>
              <a:t> quotes.</a:t>
            </a:r>
          </a:p>
          <a:p>
            <a:r>
              <a:rPr lang="en-US" sz="2400" dirty="0">
                <a:solidFill>
                  <a:schemeClr val="accent6">
                    <a:lumMod val="60000"/>
                    <a:lumOff val="40000"/>
                  </a:schemeClr>
                </a:solidFill>
              </a:rPr>
              <a:t> </a:t>
            </a:r>
          </a:p>
          <a:p>
            <a:r>
              <a:rPr lang="en-US" sz="2400" dirty="0">
                <a:solidFill>
                  <a:schemeClr val="accent6">
                    <a:lumMod val="60000"/>
                    <a:lumOff val="40000"/>
                  </a:schemeClr>
                </a:solidFill>
              </a:rPr>
              <a:t>“””</a:t>
            </a:r>
          </a:p>
          <a:p>
            <a:r>
              <a:rPr lang="en-US" sz="2400" dirty="0">
                <a:solidFill>
                  <a:schemeClr val="accent6">
                    <a:lumMod val="60000"/>
                    <a:lumOff val="40000"/>
                  </a:schemeClr>
                </a:solidFill>
              </a:rPr>
              <a:t>Artificial Intelligence is transforming healthcare through automation and predictive analytics. It is shaping the world in a way that is making positive difference in people lives.</a:t>
            </a:r>
          </a:p>
          <a:p>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Here </a:t>
            </a:r>
            <a:r>
              <a:rPr lang="en-US" sz="2400" b="1" dirty="0">
                <a:solidFill>
                  <a:schemeClr val="accent6">
                    <a:lumMod val="60000"/>
                    <a:lumOff val="40000"/>
                  </a:schemeClr>
                </a:solidFill>
              </a:rPr>
              <a:t>triple</a:t>
            </a:r>
            <a:r>
              <a:rPr lang="en-US" sz="2400" dirty="0">
                <a:solidFill>
                  <a:schemeClr val="accent6">
                    <a:lumMod val="60000"/>
                    <a:lumOff val="40000"/>
                  </a:schemeClr>
                </a:solidFill>
              </a:rPr>
              <a:t> quotes separates instructions from text</a:t>
            </a:r>
          </a:p>
        </p:txBody>
      </p:sp>
    </p:spTree>
    <p:extLst>
      <p:ext uri="{BB962C8B-B14F-4D97-AF65-F5344CB8AC3E}">
        <p14:creationId xmlns:p14="http://schemas.microsoft.com/office/powerpoint/2010/main" val="3290484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6CEE5-1A45-6307-5703-7A9F4B4B3A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48E253-224B-10D5-B608-B93ADD57F914}"/>
              </a:ext>
            </a:extLst>
          </p:cNvPr>
          <p:cNvSpPr txBox="1"/>
          <p:nvPr/>
        </p:nvSpPr>
        <p:spPr>
          <a:xfrm>
            <a:off x="594360" y="962098"/>
            <a:ext cx="10780776" cy="4524315"/>
          </a:xfrm>
          <a:prstGeom prst="rect">
            <a:avLst/>
          </a:prstGeom>
          <a:noFill/>
        </p:spPr>
        <p:txBody>
          <a:bodyPr wrap="square">
            <a:spAutoFit/>
          </a:bodyPr>
          <a:lstStyle/>
          <a:p>
            <a:r>
              <a:rPr lang="en-US" sz="2400" b="1" dirty="0">
                <a:solidFill>
                  <a:schemeClr val="accent6">
                    <a:lumMod val="60000"/>
                    <a:lumOff val="40000"/>
                  </a:schemeClr>
                </a:solidFill>
              </a:rPr>
              <a:t>Using Separator Lines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Analyze the data below and identify key trends.</a:t>
            </a:r>
          </a:p>
          <a:p>
            <a:r>
              <a:rPr lang="en-US" sz="2400" dirty="0">
                <a:solidFill>
                  <a:schemeClr val="accent6">
                    <a:lumMod val="60000"/>
                    <a:lumOff val="40000"/>
                  </a:schemeClr>
                </a:solidFill>
              </a:rPr>
              <a:t> </a:t>
            </a:r>
          </a:p>
          <a:p>
            <a:r>
              <a:rPr lang="en-US" sz="2400" b="1" dirty="0">
                <a:solidFill>
                  <a:schemeClr val="accent6">
                    <a:lumMod val="60000"/>
                    <a:lumOff val="40000"/>
                  </a:schemeClr>
                </a:solidFill>
              </a:rPr>
              <a:t>---</a:t>
            </a:r>
          </a:p>
          <a:p>
            <a:r>
              <a:rPr lang="en-US" sz="2400" dirty="0">
                <a:solidFill>
                  <a:schemeClr val="accent6">
                    <a:lumMod val="60000"/>
                    <a:lumOff val="40000"/>
                  </a:schemeClr>
                </a:solidFill>
              </a:rPr>
              <a:t>Sales increased by 20% in Q1.</a:t>
            </a:r>
          </a:p>
          <a:p>
            <a:r>
              <a:rPr lang="en-US" sz="2400" dirty="0">
                <a:solidFill>
                  <a:schemeClr val="accent6">
                    <a:lumMod val="60000"/>
                    <a:lumOff val="40000"/>
                  </a:schemeClr>
                </a:solidFill>
              </a:rPr>
              <a:t>Sales dropped by 5% in Q2.</a:t>
            </a:r>
          </a:p>
          <a:p>
            <a:r>
              <a:rPr lang="en-US" sz="2400" dirty="0">
                <a:solidFill>
                  <a:schemeClr val="accent6">
                    <a:lumMod val="60000"/>
                    <a:lumOff val="40000"/>
                  </a:schemeClr>
                </a:solidFill>
              </a:rPr>
              <a:t>Sales remained same in Q3.</a:t>
            </a:r>
          </a:p>
          <a:p>
            <a:r>
              <a:rPr lang="en-US" sz="2400" b="1" dirty="0">
                <a:solidFill>
                  <a:schemeClr val="accent6">
                    <a:lumMod val="60000"/>
                    <a:lumOff val="40000"/>
                  </a:schemeClr>
                </a:solidFill>
              </a:rPr>
              <a:t>---</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182523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AC8C6-B0FC-60C0-80C0-897386BC7A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A9A1AB-1A31-2ECB-010F-E1DCCC4BDA04}"/>
              </a:ext>
            </a:extLst>
          </p:cNvPr>
          <p:cNvSpPr txBox="1"/>
          <p:nvPr/>
        </p:nvSpPr>
        <p:spPr>
          <a:xfrm>
            <a:off x="310896" y="376882"/>
            <a:ext cx="4361688" cy="4524315"/>
          </a:xfrm>
          <a:prstGeom prst="rect">
            <a:avLst/>
          </a:prstGeom>
          <a:noFill/>
        </p:spPr>
        <p:txBody>
          <a:bodyPr wrap="square">
            <a:spAutoFit/>
          </a:bodyPr>
          <a:lstStyle/>
          <a:p>
            <a:r>
              <a:rPr lang="en-US" sz="2400" b="1" dirty="0">
                <a:solidFill>
                  <a:schemeClr val="accent6">
                    <a:lumMod val="60000"/>
                    <a:lumOff val="40000"/>
                  </a:schemeClr>
                </a:solidFill>
              </a:rPr>
              <a:t>Using tags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Explain the following code</a:t>
            </a:r>
          </a:p>
          <a:p>
            <a:r>
              <a:rPr lang="en-US" sz="2400" dirty="0">
                <a:solidFill>
                  <a:schemeClr val="accent6">
                    <a:lumMod val="60000"/>
                    <a:lumOff val="40000"/>
                  </a:schemeClr>
                </a:solidFill>
              </a:rPr>
              <a:t> </a:t>
            </a:r>
          </a:p>
          <a:p>
            <a:r>
              <a:rPr lang="en-US" sz="2400" dirty="0">
                <a:solidFill>
                  <a:schemeClr val="accent6">
                    <a:lumMod val="60000"/>
                    <a:lumOff val="40000"/>
                  </a:schemeClr>
                </a:solidFill>
              </a:rPr>
              <a:t>&lt;python&gt;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a=2</a:t>
            </a:r>
          </a:p>
          <a:p>
            <a:r>
              <a:rPr lang="en-US" sz="2400" dirty="0">
                <a:solidFill>
                  <a:schemeClr val="accent6">
                    <a:lumMod val="60000"/>
                    <a:lumOff val="40000"/>
                  </a:schemeClr>
                </a:solidFill>
              </a:rPr>
              <a:t>b=3</a:t>
            </a:r>
          </a:p>
          <a:p>
            <a:r>
              <a:rPr lang="en-US" sz="2400" dirty="0">
                <a:solidFill>
                  <a:schemeClr val="accent6">
                    <a:lumMod val="60000"/>
                    <a:lumOff val="40000"/>
                  </a:schemeClr>
                </a:solidFill>
              </a:rPr>
              <a:t>print(</a:t>
            </a:r>
            <a:r>
              <a:rPr lang="en-US" sz="2400" dirty="0" err="1">
                <a:solidFill>
                  <a:schemeClr val="accent6">
                    <a:lumMod val="60000"/>
                    <a:lumOff val="40000"/>
                  </a:schemeClr>
                </a:solidFill>
              </a:rPr>
              <a:t>a+b</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&lt;/python&gt;</a:t>
            </a:r>
          </a:p>
        </p:txBody>
      </p:sp>
    </p:spTree>
    <p:extLst>
      <p:ext uri="{BB962C8B-B14F-4D97-AF65-F5344CB8AC3E}">
        <p14:creationId xmlns:p14="http://schemas.microsoft.com/office/powerpoint/2010/main" val="1028928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4C8C4-D588-AEB5-D1C5-12184DDA4E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3D8008-7E4E-CD3B-D366-C0E345658CC0}"/>
              </a:ext>
            </a:extLst>
          </p:cNvPr>
          <p:cNvSpPr txBox="1"/>
          <p:nvPr/>
        </p:nvSpPr>
        <p:spPr>
          <a:xfrm>
            <a:off x="438912" y="227530"/>
            <a:ext cx="4114800" cy="6370975"/>
          </a:xfrm>
          <a:prstGeom prst="rect">
            <a:avLst/>
          </a:prstGeom>
          <a:noFill/>
        </p:spPr>
        <p:txBody>
          <a:bodyPr wrap="square">
            <a:spAutoFit/>
          </a:bodyPr>
          <a:lstStyle/>
          <a:p>
            <a:r>
              <a:rPr lang="en-US" sz="2400" b="1" dirty="0">
                <a:solidFill>
                  <a:schemeClr val="accent6">
                    <a:lumMod val="60000"/>
                    <a:lumOff val="40000"/>
                  </a:schemeClr>
                </a:solidFill>
              </a:rPr>
              <a:t>Using tags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Classify the sentiment of the text inside the &lt;review&gt; tags as Positive, Negative, or Neutral.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&lt;review&gt; </a:t>
            </a:r>
          </a:p>
          <a:p>
            <a:r>
              <a:rPr lang="en-US" sz="2400" dirty="0">
                <a:solidFill>
                  <a:schemeClr val="accent6">
                    <a:lumMod val="60000"/>
                    <a:lumOff val="40000"/>
                  </a:schemeClr>
                </a:solidFill>
              </a:rPr>
              <a:t>I hated the customer service, but the product itself works perfectly. I am conflicted. &lt;/review&gt;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&lt;output&gt;</a:t>
            </a:r>
          </a:p>
          <a:p>
            <a:r>
              <a:rPr lang="en-US" sz="2400" dirty="0">
                <a:solidFill>
                  <a:schemeClr val="accent6">
                    <a:lumMod val="60000"/>
                    <a:lumOff val="40000"/>
                  </a:schemeClr>
                </a:solidFill>
              </a:rPr>
              <a:t>Neutral</a:t>
            </a:r>
          </a:p>
          <a:p>
            <a:r>
              <a:rPr lang="en-US" sz="2400" dirty="0">
                <a:solidFill>
                  <a:schemeClr val="accent6">
                    <a:lumMod val="60000"/>
                    <a:lumOff val="40000"/>
                  </a:schemeClr>
                </a:solidFill>
              </a:rPr>
              <a:t>&lt;/output&gt;</a:t>
            </a:r>
          </a:p>
          <a:p>
            <a:endParaRPr lang="en-US" sz="2400" dirty="0">
              <a:solidFill>
                <a:schemeClr val="accent6">
                  <a:lumMod val="60000"/>
                  <a:lumOff val="40000"/>
                </a:schemeClr>
              </a:solidFill>
            </a:endParaRPr>
          </a:p>
        </p:txBody>
      </p:sp>
      <p:sp>
        <p:nvSpPr>
          <p:cNvPr id="5" name="TextBox 4">
            <a:extLst>
              <a:ext uri="{FF2B5EF4-FFF2-40B4-BE49-F238E27FC236}">
                <a16:creationId xmlns:a16="http://schemas.microsoft.com/office/drawing/2014/main" id="{C2855EA6-E343-58EA-F03B-D3980CDF69D4}"/>
              </a:ext>
            </a:extLst>
          </p:cNvPr>
          <p:cNvSpPr txBox="1"/>
          <p:nvPr/>
        </p:nvSpPr>
        <p:spPr>
          <a:xfrm>
            <a:off x="5682996" y="510046"/>
            <a:ext cx="6190488" cy="5632311"/>
          </a:xfrm>
          <a:prstGeom prst="rect">
            <a:avLst/>
          </a:prstGeom>
          <a:noFill/>
        </p:spPr>
        <p:txBody>
          <a:bodyPr wrap="square">
            <a:spAutoFit/>
          </a:bodyPr>
          <a:lstStyle/>
          <a:p>
            <a:r>
              <a:rPr lang="en-US" sz="2400" dirty="0">
                <a:solidFill>
                  <a:schemeClr val="accent6">
                    <a:lumMod val="60000"/>
                    <a:lumOff val="40000"/>
                  </a:schemeClr>
                </a:solidFill>
              </a:rPr>
              <a:t>&lt;review&gt; </a:t>
            </a:r>
          </a:p>
          <a:p>
            <a:r>
              <a:rPr lang="en-US" sz="2400" dirty="0">
                <a:solidFill>
                  <a:schemeClr val="accent6">
                    <a:lumMod val="60000"/>
                    <a:lumOff val="40000"/>
                  </a:schemeClr>
                </a:solidFill>
              </a:rPr>
              <a:t>I hated the customer service</a:t>
            </a:r>
          </a:p>
          <a:p>
            <a:r>
              <a:rPr lang="en-US" sz="2400" dirty="0">
                <a:solidFill>
                  <a:schemeClr val="accent6">
                    <a:lumMod val="60000"/>
                    <a:lumOff val="40000"/>
                  </a:schemeClr>
                </a:solidFill>
              </a:rPr>
              <a:t>&lt;/review&gt;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&lt;output&gt;</a:t>
            </a:r>
          </a:p>
          <a:p>
            <a:r>
              <a:rPr lang="en-US" sz="2400" dirty="0">
                <a:solidFill>
                  <a:schemeClr val="accent6">
                    <a:lumMod val="60000"/>
                    <a:lumOff val="40000"/>
                  </a:schemeClr>
                </a:solidFill>
              </a:rPr>
              <a:t>Negative</a:t>
            </a:r>
          </a:p>
          <a:p>
            <a:r>
              <a:rPr lang="en-US" sz="2400" dirty="0">
                <a:solidFill>
                  <a:schemeClr val="accent6">
                    <a:lumMod val="60000"/>
                    <a:lumOff val="40000"/>
                  </a:schemeClr>
                </a:solidFill>
              </a:rPr>
              <a:t>&lt;/output&gt;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&lt;review&gt; </a:t>
            </a:r>
          </a:p>
          <a:p>
            <a:r>
              <a:rPr lang="en-US" sz="2400" dirty="0">
                <a:solidFill>
                  <a:schemeClr val="accent6">
                    <a:lumMod val="60000"/>
                    <a:lumOff val="40000"/>
                  </a:schemeClr>
                </a:solidFill>
              </a:rPr>
              <a:t>I loved the product</a:t>
            </a:r>
          </a:p>
          <a:p>
            <a:r>
              <a:rPr lang="en-US" sz="2400" dirty="0">
                <a:solidFill>
                  <a:schemeClr val="accent6">
                    <a:lumMod val="60000"/>
                    <a:lumOff val="40000"/>
                  </a:schemeClr>
                </a:solidFill>
              </a:rPr>
              <a:t>&lt;/review&gt;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&lt;output&gt;</a:t>
            </a:r>
          </a:p>
          <a:p>
            <a:r>
              <a:rPr lang="en-US" sz="2400" dirty="0">
                <a:solidFill>
                  <a:schemeClr val="accent6">
                    <a:lumMod val="60000"/>
                    <a:lumOff val="40000"/>
                  </a:schemeClr>
                </a:solidFill>
              </a:rPr>
              <a:t>Positive</a:t>
            </a:r>
          </a:p>
          <a:p>
            <a:r>
              <a:rPr lang="en-US" sz="2400" dirty="0">
                <a:solidFill>
                  <a:schemeClr val="accent6">
                    <a:lumMod val="60000"/>
                    <a:lumOff val="40000"/>
                  </a:schemeClr>
                </a:solidFill>
              </a:rPr>
              <a:t>&lt;/output&gt;</a:t>
            </a:r>
          </a:p>
        </p:txBody>
      </p:sp>
    </p:spTree>
    <p:extLst>
      <p:ext uri="{BB962C8B-B14F-4D97-AF65-F5344CB8AC3E}">
        <p14:creationId xmlns:p14="http://schemas.microsoft.com/office/powerpoint/2010/main" val="1655330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2070F-529B-75E7-BC76-32472CC649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CE9A5A-2054-DA3E-70E1-2C6DC7B578BC}"/>
              </a:ext>
            </a:extLst>
          </p:cNvPr>
          <p:cNvSpPr txBox="1"/>
          <p:nvPr/>
        </p:nvSpPr>
        <p:spPr>
          <a:xfrm>
            <a:off x="594360" y="962098"/>
            <a:ext cx="10780776" cy="3046988"/>
          </a:xfrm>
          <a:prstGeom prst="rect">
            <a:avLst/>
          </a:prstGeom>
          <a:noFill/>
        </p:spPr>
        <p:txBody>
          <a:bodyPr wrap="square">
            <a:spAutoFit/>
          </a:bodyPr>
          <a:lstStyle/>
          <a:p>
            <a:r>
              <a:rPr lang="en-US" sz="2400" b="1" dirty="0">
                <a:solidFill>
                  <a:schemeClr val="accent6">
                    <a:lumMod val="60000"/>
                    <a:lumOff val="40000"/>
                  </a:schemeClr>
                </a:solidFill>
              </a:rPr>
              <a:t>Why Delimiters are Important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Without delimiters, AI may get confused between:</a:t>
            </a:r>
          </a:p>
          <a:p>
            <a:pPr marL="342900" lvl="0" indent="-342900">
              <a:buFont typeface="Arial" panose="020B0604020202020204" pitchFamily="34" charset="0"/>
              <a:buChar char="•"/>
            </a:pPr>
            <a:r>
              <a:rPr lang="en-US" sz="2400" dirty="0">
                <a:solidFill>
                  <a:schemeClr val="accent6">
                    <a:lumMod val="60000"/>
                    <a:lumOff val="40000"/>
                  </a:schemeClr>
                </a:solidFill>
              </a:rPr>
              <a:t>Instructions</a:t>
            </a:r>
          </a:p>
          <a:p>
            <a:pPr marL="342900" lvl="0" indent="-342900">
              <a:buFont typeface="Arial" panose="020B0604020202020204" pitchFamily="34" charset="0"/>
              <a:buChar char="•"/>
            </a:pPr>
            <a:r>
              <a:rPr lang="en-US" sz="2400" dirty="0">
                <a:solidFill>
                  <a:schemeClr val="accent6">
                    <a:lumMod val="60000"/>
                    <a:lumOff val="40000"/>
                  </a:schemeClr>
                </a:solidFill>
              </a:rPr>
              <a:t>Input data</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Using delimiters improves clarity, accuracy and parsing reliability</a:t>
            </a:r>
          </a:p>
        </p:txBody>
      </p:sp>
    </p:spTree>
    <p:extLst>
      <p:ext uri="{BB962C8B-B14F-4D97-AF65-F5344CB8AC3E}">
        <p14:creationId xmlns:p14="http://schemas.microsoft.com/office/powerpoint/2010/main" val="313390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E7710-6E70-9107-DA21-E5E4D4F961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BABCEC-4C9F-CF95-52DD-87B0C24484D3}"/>
              </a:ext>
            </a:extLst>
          </p:cNvPr>
          <p:cNvSpPr txBox="1"/>
          <p:nvPr/>
        </p:nvSpPr>
        <p:spPr>
          <a:xfrm>
            <a:off x="594360" y="962098"/>
            <a:ext cx="10780776" cy="3046988"/>
          </a:xfrm>
          <a:prstGeom prst="rect">
            <a:avLst/>
          </a:prstGeom>
          <a:noFill/>
        </p:spPr>
        <p:txBody>
          <a:bodyPr wrap="square">
            <a:spAutoFit/>
          </a:bodyPr>
          <a:lstStyle/>
          <a:p>
            <a:r>
              <a:rPr lang="en-US" sz="2400" b="1" dirty="0">
                <a:solidFill>
                  <a:schemeClr val="accent6">
                    <a:lumMod val="60000"/>
                    <a:lumOff val="40000"/>
                  </a:schemeClr>
                </a:solidFill>
              </a:rPr>
              <a:t>When to Use Delimiters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Delimiters are especially useful when:</a:t>
            </a:r>
          </a:p>
          <a:p>
            <a:pPr marL="342900" lvl="0" indent="-342900">
              <a:buFont typeface="Arial" panose="020B0604020202020204" pitchFamily="34" charset="0"/>
              <a:buChar char="•"/>
            </a:pPr>
            <a:r>
              <a:rPr lang="en-US" sz="2400" dirty="0">
                <a:solidFill>
                  <a:schemeClr val="accent6">
                    <a:lumMod val="60000"/>
                    <a:lumOff val="40000"/>
                  </a:schemeClr>
                </a:solidFill>
              </a:rPr>
              <a:t>Working with long text inputs</a:t>
            </a:r>
          </a:p>
          <a:p>
            <a:pPr marL="342900" lvl="0" indent="-342900">
              <a:buFont typeface="Arial" panose="020B0604020202020204" pitchFamily="34" charset="0"/>
              <a:buChar char="•"/>
            </a:pPr>
            <a:r>
              <a:rPr lang="en-US" sz="2400" dirty="0">
                <a:solidFill>
                  <a:schemeClr val="accent6">
                    <a:lumMod val="60000"/>
                    <a:lumOff val="40000"/>
                  </a:schemeClr>
                </a:solidFill>
              </a:rPr>
              <a:t>Handling structured data</a:t>
            </a:r>
          </a:p>
          <a:p>
            <a:pPr marL="342900" lvl="0" indent="-342900">
              <a:buFont typeface="Arial" panose="020B0604020202020204" pitchFamily="34" charset="0"/>
              <a:buChar char="•"/>
            </a:pPr>
            <a:r>
              <a:rPr lang="en-US" sz="2400" dirty="0">
                <a:solidFill>
                  <a:schemeClr val="accent6">
                    <a:lumMod val="60000"/>
                    <a:lumOff val="40000"/>
                  </a:schemeClr>
                </a:solidFill>
              </a:rPr>
              <a:t>Passing code snippets</a:t>
            </a:r>
          </a:p>
          <a:p>
            <a:pPr marL="342900" lvl="0" indent="-342900">
              <a:buFont typeface="Arial" panose="020B0604020202020204" pitchFamily="34" charset="0"/>
              <a:buChar char="•"/>
            </a:pPr>
            <a:r>
              <a:rPr lang="en-US" sz="2400" dirty="0">
                <a:solidFill>
                  <a:schemeClr val="accent6">
                    <a:lumMod val="60000"/>
                    <a:lumOff val="40000"/>
                  </a:schemeClr>
                </a:solidFill>
              </a:rPr>
              <a:t>Providing multiple examples</a:t>
            </a:r>
          </a:p>
          <a:p>
            <a:pPr marL="342900" lvl="0" indent="-342900">
              <a:buFont typeface="Arial" panose="020B0604020202020204" pitchFamily="34" charset="0"/>
              <a:buChar char="•"/>
            </a:pPr>
            <a:r>
              <a:rPr lang="en-US" sz="2400" dirty="0">
                <a:solidFill>
                  <a:schemeClr val="accent6">
                    <a:lumMod val="60000"/>
                    <a:lumOff val="40000"/>
                  </a:schemeClr>
                </a:solidFill>
              </a:rPr>
              <a:t>Preventing instruction mixing</a:t>
            </a:r>
          </a:p>
        </p:txBody>
      </p:sp>
    </p:spTree>
    <p:extLst>
      <p:ext uri="{BB962C8B-B14F-4D97-AF65-F5344CB8AC3E}">
        <p14:creationId xmlns:p14="http://schemas.microsoft.com/office/powerpoint/2010/main" val="2196425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D04B5-0536-12F2-9638-B13E8D3677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6EB8C9-DA3C-F773-BF17-87EF647A08A9}"/>
              </a:ext>
            </a:extLst>
          </p:cNvPr>
          <p:cNvSpPr txBox="1"/>
          <p:nvPr/>
        </p:nvSpPr>
        <p:spPr>
          <a:xfrm>
            <a:off x="594360" y="962098"/>
            <a:ext cx="10780776" cy="5262979"/>
          </a:xfrm>
          <a:prstGeom prst="rect">
            <a:avLst/>
          </a:prstGeom>
          <a:noFill/>
        </p:spPr>
        <p:txBody>
          <a:bodyPr wrap="square">
            <a:spAutoFit/>
          </a:bodyPr>
          <a:lstStyle/>
          <a:p>
            <a:r>
              <a:rPr lang="en-US" sz="2400" b="1" dirty="0">
                <a:solidFill>
                  <a:schemeClr val="accent6">
                    <a:lumMod val="60000"/>
                    <a:lumOff val="40000"/>
                  </a:schemeClr>
                </a:solidFill>
              </a:rPr>
              <a:t>2. Format Constraint – Forcing Structured Output</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is Format Constraint?</a:t>
            </a:r>
            <a:endParaRPr lang="en-US" sz="2400" dirty="0">
              <a:solidFill>
                <a:schemeClr val="accent6">
                  <a:lumMod val="60000"/>
                  <a:lumOff val="40000"/>
                </a:schemeClr>
              </a:solidFill>
            </a:endParaRPr>
          </a:p>
          <a:p>
            <a:r>
              <a:rPr lang="en-US" sz="2400" dirty="0">
                <a:solidFill>
                  <a:schemeClr val="accent6">
                    <a:lumMod val="60000"/>
                    <a:lumOff val="40000"/>
                  </a:schemeClr>
                </a:solidFill>
              </a:rPr>
              <a:t>Format Constraint is a prompting technique where we </a:t>
            </a:r>
            <a:r>
              <a:rPr lang="en-US" sz="2400" b="1" dirty="0">
                <a:solidFill>
                  <a:schemeClr val="accent6">
                    <a:lumMod val="60000"/>
                    <a:lumOff val="40000"/>
                  </a:schemeClr>
                </a:solidFill>
              </a:rPr>
              <a:t>force AI to provide output in a specific structure or format</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Common formats include:</a:t>
            </a:r>
          </a:p>
          <a:p>
            <a:pPr marL="342900" lvl="0" indent="-342900">
              <a:buFont typeface="Arial" panose="020B0604020202020204" pitchFamily="34" charset="0"/>
              <a:buChar char="•"/>
            </a:pPr>
            <a:r>
              <a:rPr lang="en-US" sz="2400" dirty="0">
                <a:solidFill>
                  <a:schemeClr val="accent6">
                    <a:lumMod val="60000"/>
                    <a:lumOff val="40000"/>
                  </a:schemeClr>
                </a:solidFill>
              </a:rPr>
              <a:t>JSON, CSV</a:t>
            </a:r>
          </a:p>
          <a:p>
            <a:pPr marL="342900" lvl="0" indent="-342900">
              <a:buFont typeface="Arial" panose="020B0604020202020204" pitchFamily="34" charset="0"/>
              <a:buChar char="•"/>
            </a:pPr>
            <a:r>
              <a:rPr lang="en-US" sz="2400" dirty="0">
                <a:solidFill>
                  <a:schemeClr val="accent6">
                    <a:lumMod val="60000"/>
                    <a:lumOff val="40000"/>
                  </a:schemeClr>
                </a:solidFill>
              </a:rPr>
              <a:t>Markdown</a:t>
            </a:r>
          </a:p>
          <a:p>
            <a:pPr marL="342900" lvl="0" indent="-342900">
              <a:buFont typeface="Arial" panose="020B0604020202020204" pitchFamily="34" charset="0"/>
              <a:buChar char="•"/>
            </a:pPr>
            <a:r>
              <a:rPr lang="en-US" sz="2400" dirty="0">
                <a:solidFill>
                  <a:schemeClr val="accent6">
                    <a:lumMod val="60000"/>
                    <a:lumOff val="40000"/>
                  </a:schemeClr>
                </a:solidFill>
              </a:rPr>
              <a:t>Tables</a:t>
            </a:r>
          </a:p>
          <a:p>
            <a:pPr marL="342900" lvl="0" indent="-342900">
              <a:buFont typeface="Arial" panose="020B0604020202020204" pitchFamily="34" charset="0"/>
              <a:buChar char="•"/>
            </a:pPr>
            <a:r>
              <a:rPr lang="en-US" sz="2400" dirty="0">
                <a:solidFill>
                  <a:schemeClr val="accent6">
                    <a:lumMod val="60000"/>
                    <a:lumOff val="40000"/>
                  </a:schemeClr>
                </a:solidFill>
              </a:rPr>
              <a:t>Bullet Points, tabular format</a:t>
            </a:r>
          </a:p>
          <a:p>
            <a:pPr marL="342900" lvl="0" indent="-342900">
              <a:buFont typeface="Arial" panose="020B0604020202020204" pitchFamily="34" charset="0"/>
              <a:buChar char="•"/>
            </a:pPr>
            <a:r>
              <a:rPr lang="en-US" sz="2400" dirty="0">
                <a:solidFill>
                  <a:schemeClr val="accent6">
                    <a:lumMod val="60000"/>
                    <a:lumOff val="40000"/>
                  </a:schemeClr>
                </a:solidFill>
              </a:rPr>
              <a:t>XML</a:t>
            </a:r>
          </a:p>
          <a:p>
            <a:pPr marL="342900" lvl="0" indent="-342900">
              <a:buFont typeface="Arial" panose="020B0604020202020204" pitchFamily="34" charset="0"/>
              <a:buChar char="•"/>
            </a:pPr>
            <a:r>
              <a:rPr lang="en-US" sz="2400" dirty="0">
                <a:solidFill>
                  <a:schemeClr val="accent6">
                    <a:lumMod val="60000"/>
                    <a:lumOff val="40000"/>
                  </a:schemeClr>
                </a:solidFill>
              </a:rPr>
              <a:t>Code Blocks</a:t>
            </a:r>
          </a:p>
        </p:txBody>
      </p:sp>
    </p:spTree>
    <p:extLst>
      <p:ext uri="{BB962C8B-B14F-4D97-AF65-F5344CB8AC3E}">
        <p14:creationId xmlns:p14="http://schemas.microsoft.com/office/powerpoint/2010/main" val="103065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57A4B-C4C2-2E4E-15AA-B70E3FE849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BE6AAB-3871-F41A-DA28-E1DFFF5A1A06}"/>
              </a:ext>
            </a:extLst>
          </p:cNvPr>
          <p:cNvPicPr>
            <a:picLocks noChangeAspect="1"/>
          </p:cNvPicPr>
          <p:nvPr/>
        </p:nvPicPr>
        <p:blipFill>
          <a:blip r:embed="rId2"/>
          <a:stretch>
            <a:fillRect/>
          </a:stretch>
        </p:blipFill>
        <p:spPr>
          <a:xfrm>
            <a:off x="0" y="105713"/>
            <a:ext cx="10223420" cy="3753055"/>
          </a:xfrm>
          <a:prstGeom prst="rect">
            <a:avLst/>
          </a:prstGeom>
        </p:spPr>
      </p:pic>
      <p:pic>
        <p:nvPicPr>
          <p:cNvPr id="6" name="Picture 5">
            <a:extLst>
              <a:ext uri="{FF2B5EF4-FFF2-40B4-BE49-F238E27FC236}">
                <a16:creationId xmlns:a16="http://schemas.microsoft.com/office/drawing/2014/main" id="{11670B2F-8F15-C4F4-BA37-9B091A966B55}"/>
              </a:ext>
            </a:extLst>
          </p:cNvPr>
          <p:cNvPicPr>
            <a:picLocks noChangeAspect="1"/>
          </p:cNvPicPr>
          <p:nvPr/>
        </p:nvPicPr>
        <p:blipFill>
          <a:blip r:embed="rId3"/>
          <a:stretch>
            <a:fillRect/>
          </a:stretch>
        </p:blipFill>
        <p:spPr>
          <a:xfrm>
            <a:off x="3511296" y="3215350"/>
            <a:ext cx="8482569" cy="3536937"/>
          </a:xfrm>
          <a:prstGeom prst="rect">
            <a:avLst/>
          </a:prstGeom>
        </p:spPr>
      </p:pic>
    </p:spTree>
    <p:extLst>
      <p:ext uri="{BB962C8B-B14F-4D97-AF65-F5344CB8AC3E}">
        <p14:creationId xmlns:p14="http://schemas.microsoft.com/office/powerpoint/2010/main" val="3774681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7C704-F5A5-875F-7C63-CD1F4373EB9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367890-964B-259A-D1D7-D3853F59F84B}"/>
              </a:ext>
            </a:extLst>
          </p:cNvPr>
          <p:cNvPicPr>
            <a:picLocks noChangeAspect="1"/>
          </p:cNvPicPr>
          <p:nvPr/>
        </p:nvPicPr>
        <p:blipFill>
          <a:blip r:embed="rId2"/>
          <a:stretch>
            <a:fillRect/>
          </a:stretch>
        </p:blipFill>
        <p:spPr>
          <a:xfrm>
            <a:off x="237744" y="171610"/>
            <a:ext cx="10241280" cy="6280149"/>
          </a:xfrm>
          <a:prstGeom prst="rect">
            <a:avLst/>
          </a:prstGeom>
        </p:spPr>
      </p:pic>
    </p:spTree>
    <p:extLst>
      <p:ext uri="{BB962C8B-B14F-4D97-AF65-F5344CB8AC3E}">
        <p14:creationId xmlns:p14="http://schemas.microsoft.com/office/powerpoint/2010/main" val="3401114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DB15-94B5-77FD-8778-82A81F24475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E31653-2525-6ED7-4101-7408FB0D68E3}"/>
              </a:ext>
            </a:extLst>
          </p:cNvPr>
          <p:cNvPicPr>
            <a:picLocks noChangeAspect="1"/>
          </p:cNvPicPr>
          <p:nvPr/>
        </p:nvPicPr>
        <p:blipFill>
          <a:blip r:embed="rId2"/>
          <a:stretch>
            <a:fillRect/>
          </a:stretch>
        </p:blipFill>
        <p:spPr>
          <a:xfrm>
            <a:off x="1887781" y="246888"/>
            <a:ext cx="7762623" cy="1147827"/>
          </a:xfrm>
          <a:prstGeom prst="rect">
            <a:avLst/>
          </a:prstGeom>
        </p:spPr>
      </p:pic>
      <p:pic>
        <p:nvPicPr>
          <p:cNvPr id="6" name="Picture 5">
            <a:extLst>
              <a:ext uri="{FF2B5EF4-FFF2-40B4-BE49-F238E27FC236}">
                <a16:creationId xmlns:a16="http://schemas.microsoft.com/office/drawing/2014/main" id="{38E5B17D-ED53-724C-E128-C435054A80C2}"/>
              </a:ext>
            </a:extLst>
          </p:cNvPr>
          <p:cNvPicPr>
            <a:picLocks noChangeAspect="1"/>
          </p:cNvPicPr>
          <p:nvPr/>
        </p:nvPicPr>
        <p:blipFill>
          <a:blip r:embed="rId3"/>
          <a:stretch>
            <a:fillRect/>
          </a:stretch>
        </p:blipFill>
        <p:spPr>
          <a:xfrm>
            <a:off x="5060696" y="778057"/>
            <a:ext cx="4589708" cy="5675904"/>
          </a:xfrm>
          <a:prstGeom prst="rect">
            <a:avLst/>
          </a:prstGeom>
        </p:spPr>
      </p:pic>
    </p:spTree>
    <p:extLst>
      <p:ext uri="{BB962C8B-B14F-4D97-AF65-F5344CB8AC3E}">
        <p14:creationId xmlns:p14="http://schemas.microsoft.com/office/powerpoint/2010/main" val="3189505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76F89-52CF-6B8A-6A4D-F3B44A0A60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D1EBA0-88CB-9F5B-C2AF-116C9F2E8312}"/>
              </a:ext>
            </a:extLst>
          </p:cNvPr>
          <p:cNvSpPr txBox="1"/>
          <p:nvPr/>
        </p:nvSpPr>
        <p:spPr>
          <a:xfrm>
            <a:off x="594360" y="962098"/>
            <a:ext cx="10780776" cy="3046988"/>
          </a:xfrm>
          <a:prstGeom prst="rect">
            <a:avLst/>
          </a:prstGeom>
          <a:noFill/>
        </p:spPr>
        <p:txBody>
          <a:bodyPr wrap="square">
            <a:spAutoFit/>
          </a:bodyPr>
          <a:lstStyle/>
          <a:p>
            <a:r>
              <a:rPr lang="en-US" sz="2400" b="1" dirty="0">
                <a:solidFill>
                  <a:schemeClr val="accent6">
                    <a:lumMod val="60000"/>
                    <a:lumOff val="40000"/>
                  </a:schemeClr>
                </a:solidFill>
              </a:rPr>
              <a:t>Example Without Format Constraint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I have uploaded a csv file. The file contains student data.</a:t>
            </a:r>
          </a:p>
          <a:p>
            <a:r>
              <a:rPr lang="en-US" sz="2400" dirty="0">
                <a:solidFill>
                  <a:schemeClr val="accent6">
                    <a:lumMod val="60000"/>
                    <a:lumOff val="40000"/>
                  </a:schemeClr>
                </a:solidFill>
              </a:rPr>
              <a:t>Provide student information for John, Age 20, Course AI.</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AI might respond in random format.</a:t>
            </a:r>
          </a:p>
        </p:txBody>
      </p:sp>
    </p:spTree>
    <p:extLst>
      <p:ext uri="{BB962C8B-B14F-4D97-AF65-F5344CB8AC3E}">
        <p14:creationId xmlns:p14="http://schemas.microsoft.com/office/powerpoint/2010/main" val="1196178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C219-12FD-80C5-4106-F4C35F1D55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69F05E-D260-0F91-A107-18CEE88C0C75}"/>
              </a:ext>
            </a:extLst>
          </p:cNvPr>
          <p:cNvSpPr txBox="1"/>
          <p:nvPr/>
        </p:nvSpPr>
        <p:spPr>
          <a:xfrm>
            <a:off x="594360" y="632914"/>
            <a:ext cx="10780776" cy="6001643"/>
          </a:xfrm>
          <a:prstGeom prst="rect">
            <a:avLst/>
          </a:prstGeom>
          <a:noFill/>
        </p:spPr>
        <p:txBody>
          <a:bodyPr wrap="square">
            <a:spAutoFit/>
          </a:bodyPr>
          <a:lstStyle/>
          <a:p>
            <a:r>
              <a:rPr lang="en-US" sz="2400" b="1" dirty="0">
                <a:solidFill>
                  <a:schemeClr val="accent6">
                    <a:lumMod val="60000"/>
                    <a:lumOff val="40000"/>
                  </a:schemeClr>
                </a:solidFill>
              </a:rPr>
              <a:t>Example With JSON Format Constraint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I have uploaded a csv file. The file contains student data.</a:t>
            </a:r>
          </a:p>
          <a:p>
            <a:r>
              <a:rPr lang="en-US" sz="2400" dirty="0">
                <a:solidFill>
                  <a:schemeClr val="accent6">
                    <a:lumMod val="60000"/>
                    <a:lumOff val="40000"/>
                  </a:schemeClr>
                </a:solidFill>
              </a:rPr>
              <a:t>Provide student information in JSON format.</a:t>
            </a:r>
          </a:p>
          <a:p>
            <a:r>
              <a:rPr lang="en-US" sz="2400" dirty="0">
                <a:solidFill>
                  <a:schemeClr val="accent6">
                    <a:lumMod val="60000"/>
                    <a:lumOff val="40000"/>
                  </a:schemeClr>
                </a:solidFill>
              </a:rPr>
              <a:t>Student Details:</a:t>
            </a:r>
          </a:p>
          <a:p>
            <a:r>
              <a:rPr lang="en-US" sz="2400" dirty="0">
                <a:solidFill>
                  <a:schemeClr val="accent6">
                    <a:lumMod val="60000"/>
                    <a:lumOff val="40000"/>
                  </a:schemeClr>
                </a:solidFill>
              </a:rPr>
              <a:t>Name: John</a:t>
            </a:r>
          </a:p>
          <a:p>
            <a:r>
              <a:rPr lang="en-US" sz="2400" dirty="0">
                <a:solidFill>
                  <a:schemeClr val="accent6">
                    <a:lumMod val="60000"/>
                    <a:lumOff val="40000"/>
                  </a:schemeClr>
                </a:solidFill>
              </a:rPr>
              <a:t>Age: 20</a:t>
            </a:r>
          </a:p>
          <a:p>
            <a:r>
              <a:rPr lang="en-US" sz="2400" dirty="0">
                <a:solidFill>
                  <a:schemeClr val="accent6">
                    <a:lumMod val="60000"/>
                    <a:lumOff val="40000"/>
                  </a:schemeClr>
                </a:solidFill>
              </a:rPr>
              <a:t>Course: AI</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Expected Output From AI:</a:t>
            </a:r>
          </a:p>
          <a:p>
            <a:r>
              <a:rPr lang="en-US" sz="2400" dirty="0">
                <a:solidFill>
                  <a:schemeClr val="accent6">
                    <a:lumMod val="60000"/>
                    <a:lumOff val="40000"/>
                  </a:schemeClr>
                </a:solidFill>
              </a:rPr>
              <a:t>{</a:t>
            </a:r>
          </a:p>
          <a:p>
            <a:r>
              <a:rPr lang="en-US" sz="2400" dirty="0">
                <a:solidFill>
                  <a:schemeClr val="accent6">
                    <a:lumMod val="60000"/>
                    <a:lumOff val="40000"/>
                  </a:schemeClr>
                </a:solidFill>
              </a:rPr>
              <a:t>  "name": "John",</a:t>
            </a:r>
          </a:p>
          <a:p>
            <a:r>
              <a:rPr lang="en-US" sz="2400" dirty="0">
                <a:solidFill>
                  <a:schemeClr val="accent6">
                    <a:lumMod val="60000"/>
                    <a:lumOff val="40000"/>
                  </a:schemeClr>
                </a:solidFill>
              </a:rPr>
              <a:t>  "age": 20,</a:t>
            </a:r>
          </a:p>
          <a:p>
            <a:r>
              <a:rPr lang="en-US" sz="2400" dirty="0">
                <a:solidFill>
                  <a:schemeClr val="accent6">
                    <a:lumMod val="60000"/>
                    <a:lumOff val="40000"/>
                  </a:schemeClr>
                </a:solidFill>
              </a:rPr>
              <a:t>  "course": "AI"</a:t>
            </a:r>
          </a:p>
          <a:p>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496349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28B4-2152-14AB-05D9-F8A5B10CEC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12BBAE-C8AC-4852-6C0F-FFAA13098845}"/>
              </a:ext>
            </a:extLst>
          </p:cNvPr>
          <p:cNvSpPr txBox="1"/>
          <p:nvPr/>
        </p:nvSpPr>
        <p:spPr>
          <a:xfrm>
            <a:off x="594360" y="303730"/>
            <a:ext cx="10780776" cy="6463308"/>
          </a:xfrm>
          <a:prstGeom prst="rect">
            <a:avLst/>
          </a:prstGeom>
          <a:noFill/>
        </p:spPr>
        <p:txBody>
          <a:bodyPr wrap="square">
            <a:spAutoFit/>
          </a:bodyPr>
          <a:lstStyle/>
          <a:p>
            <a:r>
              <a:rPr lang="en-US" sz="2400" b="1" dirty="0">
                <a:solidFill>
                  <a:schemeClr val="accent6">
                    <a:lumMod val="60000"/>
                    <a:lumOff val="40000"/>
                  </a:schemeClr>
                </a:solidFill>
              </a:rPr>
              <a:t>Example With Markdown Format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Explain Machine Learning in markdown format using </a:t>
            </a:r>
            <a:r>
              <a:rPr lang="en-US" sz="2400" b="1" dirty="0">
                <a:solidFill>
                  <a:schemeClr val="accent6">
                    <a:lumMod val="60000"/>
                    <a:lumOff val="40000"/>
                  </a:schemeClr>
                </a:solidFill>
              </a:rPr>
              <a:t>headings and bullet points</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Example Output:</a:t>
            </a:r>
          </a:p>
          <a:p>
            <a:r>
              <a:rPr lang="en-US" dirty="0">
                <a:solidFill>
                  <a:schemeClr val="accent6">
                    <a:lumMod val="60000"/>
                    <a:lumOff val="40000"/>
                  </a:schemeClr>
                </a:solidFill>
              </a:rPr>
              <a:t># Machine Learning</a:t>
            </a:r>
          </a:p>
          <a:p>
            <a:endParaRPr lang="en-US" dirty="0">
              <a:solidFill>
                <a:schemeClr val="accent6">
                  <a:lumMod val="60000"/>
                  <a:lumOff val="40000"/>
                </a:schemeClr>
              </a:solidFill>
            </a:endParaRPr>
          </a:p>
          <a:p>
            <a:r>
              <a:rPr lang="en-US" dirty="0">
                <a:solidFill>
                  <a:schemeClr val="accent6">
                    <a:lumMod val="60000"/>
                    <a:lumOff val="40000"/>
                  </a:schemeClr>
                </a:solidFill>
              </a:rPr>
              <a:t>## What is Machine Learning?</a:t>
            </a:r>
          </a:p>
          <a:p>
            <a:r>
              <a:rPr lang="en-US" dirty="0">
                <a:solidFill>
                  <a:schemeClr val="accent6">
                    <a:lumMod val="60000"/>
                    <a:lumOff val="40000"/>
                  </a:schemeClr>
                </a:solidFill>
              </a:rPr>
              <a:t>- Machine Learning (ML) is a branch of Artificial Intelligence (AI).</a:t>
            </a:r>
          </a:p>
          <a:p>
            <a:r>
              <a:rPr lang="en-US" dirty="0">
                <a:solidFill>
                  <a:schemeClr val="accent6">
                    <a:lumMod val="60000"/>
                    <a:lumOff val="40000"/>
                  </a:schemeClr>
                </a:solidFill>
              </a:rPr>
              <a:t>- It allows computers to learn patterns from data.</a:t>
            </a:r>
          </a:p>
          <a:p>
            <a:r>
              <a:rPr lang="en-US" dirty="0">
                <a:solidFill>
                  <a:schemeClr val="accent6">
                    <a:lumMod val="60000"/>
                    <a:lumOff val="40000"/>
                  </a:schemeClr>
                </a:solidFill>
              </a:rPr>
              <a:t>- ML models make predictions or decisions based on input data.</a:t>
            </a:r>
          </a:p>
          <a:p>
            <a:endParaRPr lang="en-US" dirty="0">
              <a:solidFill>
                <a:schemeClr val="accent6">
                  <a:lumMod val="60000"/>
                  <a:lumOff val="40000"/>
                </a:schemeClr>
              </a:solidFill>
            </a:endParaRPr>
          </a:p>
          <a:p>
            <a:r>
              <a:rPr lang="en-US" dirty="0">
                <a:solidFill>
                  <a:schemeClr val="accent6">
                    <a:lumMod val="60000"/>
                    <a:lumOff val="40000"/>
                  </a:schemeClr>
                </a:solidFill>
              </a:rPr>
              <a:t>---</a:t>
            </a:r>
          </a:p>
          <a:p>
            <a:endParaRPr lang="en-US" dirty="0">
              <a:solidFill>
                <a:schemeClr val="accent6">
                  <a:lumMod val="60000"/>
                  <a:lumOff val="40000"/>
                </a:schemeClr>
              </a:solidFill>
            </a:endParaRPr>
          </a:p>
          <a:p>
            <a:r>
              <a:rPr lang="en-US" dirty="0">
                <a:solidFill>
                  <a:schemeClr val="accent6">
                    <a:lumMod val="60000"/>
                    <a:lumOff val="40000"/>
                  </a:schemeClr>
                </a:solidFill>
              </a:rPr>
              <a:t>## Why is Machine Learning Important?</a:t>
            </a:r>
          </a:p>
          <a:p>
            <a:r>
              <a:rPr lang="en-US" dirty="0">
                <a:solidFill>
                  <a:schemeClr val="accent6">
                    <a:lumMod val="60000"/>
                    <a:lumOff val="40000"/>
                  </a:schemeClr>
                </a:solidFill>
              </a:rPr>
              <a:t>- Helps automate complex decision-making.</a:t>
            </a:r>
          </a:p>
          <a:p>
            <a:r>
              <a:rPr lang="en-US" dirty="0">
                <a:solidFill>
                  <a:schemeClr val="accent6">
                    <a:lumMod val="60000"/>
                    <a:lumOff val="40000"/>
                  </a:schemeClr>
                </a:solidFill>
              </a:rPr>
              <a:t>- Used in real-world applications such as:</a:t>
            </a:r>
          </a:p>
          <a:p>
            <a:r>
              <a:rPr lang="en-US" dirty="0">
                <a:solidFill>
                  <a:schemeClr val="accent6">
                    <a:lumMod val="60000"/>
                    <a:lumOff val="40000"/>
                  </a:schemeClr>
                </a:solidFill>
              </a:rPr>
              <a:t>  - Recommendation systems (Netflix, Amazon)</a:t>
            </a:r>
          </a:p>
          <a:p>
            <a:r>
              <a:rPr lang="en-US" dirty="0">
                <a:solidFill>
                  <a:schemeClr val="accent6">
                    <a:lumMod val="60000"/>
                    <a:lumOff val="40000"/>
                  </a:schemeClr>
                </a:solidFill>
              </a:rPr>
              <a:t>  - Fraud detection in banking</a:t>
            </a:r>
          </a:p>
          <a:p>
            <a:r>
              <a:rPr lang="en-US" dirty="0">
                <a:solidFill>
                  <a:schemeClr val="accent6">
                    <a:lumMod val="60000"/>
                    <a:lumOff val="40000"/>
                  </a:schemeClr>
                </a:solidFill>
              </a:rPr>
              <a:t>  - Speech recognition (Alexa, Siri)</a:t>
            </a:r>
          </a:p>
        </p:txBody>
      </p:sp>
    </p:spTree>
    <p:extLst>
      <p:ext uri="{BB962C8B-B14F-4D97-AF65-F5344CB8AC3E}">
        <p14:creationId xmlns:p14="http://schemas.microsoft.com/office/powerpoint/2010/main" val="3241877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45388-DCFC-42BF-E457-00E91E926D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16E7D3-3CEE-5DE8-AC4D-EDDA2BABC7F4}"/>
              </a:ext>
            </a:extLst>
          </p:cNvPr>
          <p:cNvSpPr txBox="1"/>
          <p:nvPr/>
        </p:nvSpPr>
        <p:spPr>
          <a:xfrm>
            <a:off x="594360" y="632914"/>
            <a:ext cx="10780776" cy="1569660"/>
          </a:xfrm>
          <a:prstGeom prst="rect">
            <a:avLst/>
          </a:prstGeom>
          <a:noFill/>
        </p:spPr>
        <p:txBody>
          <a:bodyPr wrap="square">
            <a:spAutoFit/>
          </a:bodyPr>
          <a:lstStyle/>
          <a:p>
            <a:r>
              <a:rPr lang="en-US" sz="2400" b="1" dirty="0">
                <a:solidFill>
                  <a:schemeClr val="accent6">
                    <a:lumMod val="60000"/>
                    <a:lumOff val="40000"/>
                  </a:schemeClr>
                </a:solidFill>
              </a:rPr>
              <a:t>Example With Table Format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Provide comparison of Python and Java in table format.</a:t>
            </a:r>
          </a:p>
        </p:txBody>
      </p:sp>
      <p:pic>
        <p:nvPicPr>
          <p:cNvPr id="3" name="Picture 2">
            <a:extLst>
              <a:ext uri="{FF2B5EF4-FFF2-40B4-BE49-F238E27FC236}">
                <a16:creationId xmlns:a16="http://schemas.microsoft.com/office/drawing/2014/main" id="{066CFEB9-0D34-DA0D-AEE6-29044C91E026}"/>
              </a:ext>
            </a:extLst>
          </p:cNvPr>
          <p:cNvPicPr>
            <a:picLocks noChangeAspect="1"/>
          </p:cNvPicPr>
          <p:nvPr/>
        </p:nvPicPr>
        <p:blipFill>
          <a:blip r:embed="rId2"/>
          <a:stretch>
            <a:fillRect/>
          </a:stretch>
        </p:blipFill>
        <p:spPr>
          <a:xfrm>
            <a:off x="701039" y="2669903"/>
            <a:ext cx="9436387" cy="2975018"/>
          </a:xfrm>
          <a:prstGeom prst="rect">
            <a:avLst/>
          </a:prstGeom>
        </p:spPr>
      </p:pic>
    </p:spTree>
    <p:extLst>
      <p:ext uri="{BB962C8B-B14F-4D97-AF65-F5344CB8AC3E}">
        <p14:creationId xmlns:p14="http://schemas.microsoft.com/office/powerpoint/2010/main" val="4224072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883F-6C92-D751-40DE-3AEDC35D68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DB39EC-8AA3-FEC1-3673-092E412C8D82}"/>
              </a:ext>
            </a:extLst>
          </p:cNvPr>
          <p:cNvSpPr txBox="1"/>
          <p:nvPr/>
        </p:nvSpPr>
        <p:spPr>
          <a:xfrm>
            <a:off x="594360" y="632914"/>
            <a:ext cx="10780776" cy="2308324"/>
          </a:xfrm>
          <a:prstGeom prst="rect">
            <a:avLst/>
          </a:prstGeom>
          <a:noFill/>
        </p:spPr>
        <p:txBody>
          <a:bodyPr wrap="square">
            <a:spAutoFit/>
          </a:bodyPr>
          <a:lstStyle/>
          <a:p>
            <a:r>
              <a:rPr lang="en-US" sz="2400" b="1" dirty="0">
                <a:solidFill>
                  <a:schemeClr val="accent6">
                    <a:lumMod val="60000"/>
                    <a:lumOff val="40000"/>
                  </a:schemeClr>
                </a:solidFill>
              </a:rPr>
              <a:t>Why Format Constraint is Important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Structured output helps:</a:t>
            </a:r>
          </a:p>
          <a:p>
            <a:pPr marL="342900" lvl="0" indent="-342900">
              <a:buFont typeface="Arial" panose="020B0604020202020204" pitchFamily="34" charset="0"/>
              <a:buChar char="•"/>
            </a:pPr>
            <a:r>
              <a:rPr lang="en-US" sz="2400" dirty="0">
                <a:solidFill>
                  <a:schemeClr val="accent6">
                    <a:lumMod val="60000"/>
                    <a:lumOff val="40000"/>
                  </a:schemeClr>
                </a:solidFill>
              </a:rPr>
              <a:t>Integrate AI output into applications</a:t>
            </a:r>
          </a:p>
          <a:p>
            <a:pPr marL="342900" lvl="0" indent="-342900">
              <a:buFont typeface="Arial" panose="020B0604020202020204" pitchFamily="34" charset="0"/>
              <a:buChar char="•"/>
            </a:pPr>
            <a:r>
              <a:rPr lang="en-US" sz="2400" dirty="0">
                <a:solidFill>
                  <a:schemeClr val="accent6">
                    <a:lumMod val="60000"/>
                    <a:lumOff val="40000"/>
                  </a:schemeClr>
                </a:solidFill>
              </a:rPr>
              <a:t>Automate workflows</a:t>
            </a:r>
          </a:p>
          <a:p>
            <a:pPr marL="342900" lvl="0" indent="-342900">
              <a:buFont typeface="Arial" panose="020B0604020202020204" pitchFamily="34" charset="0"/>
              <a:buChar char="•"/>
            </a:pPr>
            <a:r>
              <a:rPr lang="en-US" sz="2400" dirty="0">
                <a:solidFill>
                  <a:schemeClr val="accent6">
                    <a:lumMod val="60000"/>
                    <a:lumOff val="40000"/>
                  </a:schemeClr>
                </a:solidFill>
              </a:rPr>
              <a:t>Make data machine-readable</a:t>
            </a:r>
          </a:p>
        </p:txBody>
      </p:sp>
      <p:sp>
        <p:nvSpPr>
          <p:cNvPr id="2" name="Rectangle 1">
            <a:extLst>
              <a:ext uri="{FF2B5EF4-FFF2-40B4-BE49-F238E27FC236}">
                <a16:creationId xmlns:a16="http://schemas.microsoft.com/office/drawing/2014/main" id="{58A9B366-DFAB-3E79-D0E4-E8A0C95F84D9}"/>
              </a:ext>
            </a:extLst>
          </p:cNvPr>
          <p:cNvSpPr/>
          <p:nvPr/>
        </p:nvSpPr>
        <p:spPr>
          <a:xfrm>
            <a:off x="1444752" y="4005072"/>
            <a:ext cx="2542032" cy="10698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a:t>
            </a:r>
          </a:p>
          <a:p>
            <a:pPr algn="ctr"/>
            <a:r>
              <a:rPr lang="en-US" dirty="0"/>
              <a:t>Model</a:t>
            </a:r>
          </a:p>
        </p:txBody>
      </p:sp>
      <p:sp>
        <p:nvSpPr>
          <p:cNvPr id="3" name="Rectangle 2">
            <a:extLst>
              <a:ext uri="{FF2B5EF4-FFF2-40B4-BE49-F238E27FC236}">
                <a16:creationId xmlns:a16="http://schemas.microsoft.com/office/drawing/2014/main" id="{25FA321B-E8DE-BD54-C0C7-B3D304AA5716}"/>
              </a:ext>
            </a:extLst>
          </p:cNvPr>
          <p:cNvSpPr/>
          <p:nvPr/>
        </p:nvSpPr>
        <p:spPr>
          <a:xfrm>
            <a:off x="4824984" y="3916763"/>
            <a:ext cx="2542032" cy="146617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a:t>
            </a:r>
          </a:p>
          <a:p>
            <a:r>
              <a:rPr lang="en-US" dirty="0"/>
              <a:t>“name”: “John”,</a:t>
            </a:r>
          </a:p>
          <a:p>
            <a:r>
              <a:rPr lang="en-US" dirty="0"/>
              <a:t>“age”: “39”</a:t>
            </a:r>
          </a:p>
          <a:p>
            <a:r>
              <a:rPr lang="en-US" dirty="0"/>
              <a:t>} </a:t>
            </a:r>
          </a:p>
        </p:txBody>
      </p:sp>
      <p:sp>
        <p:nvSpPr>
          <p:cNvPr id="5" name="Rectangle 4">
            <a:extLst>
              <a:ext uri="{FF2B5EF4-FFF2-40B4-BE49-F238E27FC236}">
                <a16:creationId xmlns:a16="http://schemas.microsoft.com/office/drawing/2014/main" id="{AB3E13B7-CFF1-7EAB-E349-F604DDDB6DC3}"/>
              </a:ext>
            </a:extLst>
          </p:cNvPr>
          <p:cNvSpPr/>
          <p:nvPr/>
        </p:nvSpPr>
        <p:spPr>
          <a:xfrm>
            <a:off x="8625840" y="3944195"/>
            <a:ext cx="2542032" cy="10698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Web</a:t>
            </a:r>
          </a:p>
          <a:p>
            <a:pPr algn="ctr"/>
            <a:r>
              <a:rPr lang="en-US" dirty="0"/>
              <a:t> application</a:t>
            </a:r>
          </a:p>
        </p:txBody>
      </p:sp>
      <p:sp>
        <p:nvSpPr>
          <p:cNvPr id="6" name="Arrow: Right 5">
            <a:extLst>
              <a:ext uri="{FF2B5EF4-FFF2-40B4-BE49-F238E27FC236}">
                <a16:creationId xmlns:a16="http://schemas.microsoft.com/office/drawing/2014/main" id="{B0572F43-DC79-7670-2AD2-6EACBECF53ED}"/>
              </a:ext>
            </a:extLst>
          </p:cNvPr>
          <p:cNvSpPr/>
          <p:nvPr/>
        </p:nvSpPr>
        <p:spPr>
          <a:xfrm>
            <a:off x="4123944" y="4352544"/>
            <a:ext cx="563880" cy="4206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AF0E61A3-6413-98D2-8538-B4D70315119D}"/>
              </a:ext>
            </a:extLst>
          </p:cNvPr>
          <p:cNvSpPr/>
          <p:nvPr/>
        </p:nvSpPr>
        <p:spPr>
          <a:xfrm>
            <a:off x="7714488" y="4229224"/>
            <a:ext cx="563880" cy="4206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95D1AA4-61ED-632C-868D-AF1C39072598}"/>
              </a:ext>
            </a:extLst>
          </p:cNvPr>
          <p:cNvSpPr/>
          <p:nvPr/>
        </p:nvSpPr>
        <p:spPr>
          <a:xfrm>
            <a:off x="8833104" y="5482076"/>
            <a:ext cx="2542032" cy="10698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ML</a:t>
            </a:r>
          </a:p>
          <a:p>
            <a:pPr algn="ctr"/>
            <a:r>
              <a:rPr lang="en-US" dirty="0"/>
              <a:t>Model</a:t>
            </a:r>
          </a:p>
        </p:txBody>
      </p:sp>
      <p:sp>
        <p:nvSpPr>
          <p:cNvPr id="9" name="Arrow: Right 8">
            <a:extLst>
              <a:ext uri="{FF2B5EF4-FFF2-40B4-BE49-F238E27FC236}">
                <a16:creationId xmlns:a16="http://schemas.microsoft.com/office/drawing/2014/main" id="{F4F92DAA-6A76-8162-0901-9E17AD72D072}"/>
              </a:ext>
            </a:extLst>
          </p:cNvPr>
          <p:cNvSpPr/>
          <p:nvPr/>
        </p:nvSpPr>
        <p:spPr>
          <a:xfrm rot="1847438">
            <a:off x="7689067" y="5364080"/>
            <a:ext cx="924561" cy="4206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2542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1792-46E2-08F6-4A34-F263B0D1CF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5F1A3B-CEDA-7908-4BD2-B59FC14CC957}"/>
              </a:ext>
            </a:extLst>
          </p:cNvPr>
          <p:cNvSpPr txBox="1"/>
          <p:nvPr/>
        </p:nvSpPr>
        <p:spPr>
          <a:xfrm>
            <a:off x="594360" y="632914"/>
            <a:ext cx="5586984" cy="2677656"/>
          </a:xfrm>
          <a:prstGeom prst="rect">
            <a:avLst/>
          </a:prstGeom>
          <a:noFill/>
        </p:spPr>
        <p:txBody>
          <a:bodyPr wrap="square">
            <a:spAutoFit/>
          </a:bodyPr>
          <a:lstStyle/>
          <a:p>
            <a:r>
              <a:rPr lang="en-US" sz="2400" b="1" dirty="0">
                <a:solidFill>
                  <a:schemeClr val="accent6">
                    <a:lumMod val="60000"/>
                    <a:lumOff val="40000"/>
                  </a:schemeClr>
                </a:solidFill>
              </a:rPr>
              <a:t>When to Use Format Constraint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Use this technique when:</a:t>
            </a:r>
          </a:p>
          <a:p>
            <a:pPr marL="342900" lvl="0" indent="-342900">
              <a:buFont typeface="Arial" panose="020B0604020202020204" pitchFamily="34" charset="0"/>
              <a:buChar char="•"/>
            </a:pPr>
            <a:r>
              <a:rPr lang="en-US" sz="2400" dirty="0">
                <a:solidFill>
                  <a:schemeClr val="accent6">
                    <a:lumMod val="60000"/>
                    <a:lumOff val="40000"/>
                  </a:schemeClr>
                </a:solidFill>
              </a:rPr>
              <a:t>Building APIs</a:t>
            </a:r>
          </a:p>
          <a:p>
            <a:pPr marL="342900" lvl="0" indent="-342900">
              <a:buFont typeface="Arial" panose="020B0604020202020204" pitchFamily="34" charset="0"/>
              <a:buChar char="•"/>
            </a:pPr>
            <a:r>
              <a:rPr lang="en-US" sz="2400" dirty="0">
                <a:solidFill>
                  <a:schemeClr val="accent6">
                    <a:lumMod val="60000"/>
                    <a:lumOff val="40000"/>
                  </a:schemeClr>
                </a:solidFill>
              </a:rPr>
              <a:t>Exporting structured data</a:t>
            </a:r>
          </a:p>
          <a:p>
            <a:pPr marL="342900" lvl="0" indent="-342900">
              <a:buFont typeface="Arial" panose="020B0604020202020204" pitchFamily="34" charset="0"/>
              <a:buChar char="•"/>
            </a:pPr>
            <a:r>
              <a:rPr lang="en-US" sz="2400" dirty="0">
                <a:solidFill>
                  <a:schemeClr val="accent6">
                    <a:lumMod val="60000"/>
                    <a:lumOff val="40000"/>
                  </a:schemeClr>
                </a:solidFill>
              </a:rPr>
              <a:t>Automating reports</a:t>
            </a:r>
          </a:p>
          <a:p>
            <a:pPr marL="342900" lvl="0" indent="-342900">
              <a:buFont typeface="Arial" panose="020B0604020202020204" pitchFamily="34" charset="0"/>
              <a:buChar char="•"/>
            </a:pPr>
            <a:r>
              <a:rPr lang="en-US" sz="2400" dirty="0">
                <a:solidFill>
                  <a:schemeClr val="accent6">
                    <a:lumMod val="60000"/>
                    <a:lumOff val="40000"/>
                  </a:schemeClr>
                </a:solidFill>
              </a:rPr>
              <a:t>Developing AI applications</a:t>
            </a:r>
          </a:p>
        </p:txBody>
      </p:sp>
    </p:spTree>
    <p:extLst>
      <p:ext uri="{BB962C8B-B14F-4D97-AF65-F5344CB8AC3E}">
        <p14:creationId xmlns:p14="http://schemas.microsoft.com/office/powerpoint/2010/main" val="1592637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38584-4EF9-BDC1-20DD-11C6F042A9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084E19-8B71-7229-236F-C7F4FF7235A4}"/>
              </a:ext>
            </a:extLst>
          </p:cNvPr>
          <p:cNvSpPr txBox="1"/>
          <p:nvPr/>
        </p:nvSpPr>
        <p:spPr>
          <a:xfrm>
            <a:off x="594360" y="248866"/>
            <a:ext cx="10780776" cy="6740307"/>
          </a:xfrm>
          <a:prstGeom prst="rect">
            <a:avLst/>
          </a:prstGeom>
          <a:noFill/>
        </p:spPr>
        <p:txBody>
          <a:bodyPr wrap="square">
            <a:spAutoFit/>
          </a:bodyPr>
          <a:lstStyle/>
          <a:p>
            <a:r>
              <a:rPr lang="en-US" sz="2400" b="1" dirty="0">
                <a:solidFill>
                  <a:schemeClr val="accent6">
                    <a:lumMod val="60000"/>
                    <a:lumOff val="40000"/>
                  </a:schemeClr>
                </a:solidFill>
              </a:rPr>
              <a:t>Combining above Techniques</a:t>
            </a:r>
            <a:endParaRPr lang="en-US" sz="2400" dirty="0">
              <a:solidFill>
                <a:schemeClr val="accent6">
                  <a:lumMod val="60000"/>
                  <a:lumOff val="40000"/>
                </a:schemeClr>
              </a:solidFill>
            </a:endParaRPr>
          </a:p>
          <a:p>
            <a:r>
              <a:rPr lang="en-US" sz="2400" dirty="0">
                <a:solidFill>
                  <a:schemeClr val="accent6">
                    <a:lumMod val="60000"/>
                    <a:lumOff val="40000"/>
                  </a:schemeClr>
                </a:solidFill>
              </a:rPr>
              <a:t>These techniques work best when combined.</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Example Combined Prompt</a:t>
            </a:r>
            <a:endParaRPr lang="en-US" sz="2400" dirty="0">
              <a:solidFill>
                <a:schemeClr val="accent6">
                  <a:lumMod val="60000"/>
                  <a:lumOff val="40000"/>
                </a:schemeClr>
              </a:solidFill>
            </a:endParaRPr>
          </a:p>
          <a:p>
            <a:r>
              <a:rPr lang="en-US" sz="2400" dirty="0">
                <a:solidFill>
                  <a:schemeClr val="accent6">
                    <a:lumMod val="60000"/>
                    <a:lumOff val="40000"/>
                  </a:schemeClr>
                </a:solidFill>
              </a:rPr>
              <a:t>You are a professional data analyst who explains concepts clearly and formally.</a:t>
            </a:r>
          </a:p>
          <a:p>
            <a:r>
              <a:rPr lang="en-US" sz="2400" dirty="0">
                <a:solidFill>
                  <a:schemeClr val="accent6">
                    <a:lumMod val="60000"/>
                    <a:lumOff val="40000"/>
                  </a:schemeClr>
                </a:solidFill>
              </a:rPr>
              <a:t> </a:t>
            </a:r>
          </a:p>
          <a:p>
            <a:r>
              <a:rPr lang="en-US" sz="2400" dirty="0">
                <a:solidFill>
                  <a:schemeClr val="accent6">
                    <a:lumMod val="60000"/>
                    <a:lumOff val="40000"/>
                  </a:schemeClr>
                </a:solidFill>
              </a:rPr>
              <a:t>Analyze the dataset below.</a:t>
            </a:r>
          </a:p>
          <a:p>
            <a:r>
              <a:rPr lang="en-US" sz="2400" dirty="0">
                <a:solidFill>
                  <a:schemeClr val="accent6">
                    <a:lumMod val="60000"/>
                    <a:lumOff val="40000"/>
                  </a:schemeClr>
                </a:solidFill>
              </a:rPr>
              <a:t> </a:t>
            </a:r>
          </a:p>
          <a:p>
            <a:r>
              <a:rPr lang="en-US" sz="2400" dirty="0">
                <a:solidFill>
                  <a:schemeClr val="accent6">
                    <a:lumMod val="60000"/>
                    <a:lumOff val="40000"/>
                  </a:schemeClr>
                </a:solidFill>
              </a:rPr>
              <a:t>###</a:t>
            </a:r>
          </a:p>
          <a:p>
            <a:r>
              <a:rPr lang="en-US" sz="2400" dirty="0">
                <a:solidFill>
                  <a:schemeClr val="accent6">
                    <a:lumMod val="60000"/>
                    <a:lumOff val="40000"/>
                  </a:schemeClr>
                </a:solidFill>
              </a:rPr>
              <a:t>Sales increased by 15% in January.</a:t>
            </a:r>
          </a:p>
          <a:p>
            <a:r>
              <a:rPr lang="en-US" sz="2400" dirty="0">
                <a:solidFill>
                  <a:schemeClr val="accent6">
                    <a:lumMod val="60000"/>
                    <a:lumOff val="40000"/>
                  </a:schemeClr>
                </a:solidFill>
              </a:rPr>
              <a:t>Sales decreased by 3% in February.</a:t>
            </a:r>
          </a:p>
          <a:p>
            <a:r>
              <a:rPr lang="en-US" sz="2400" dirty="0">
                <a:solidFill>
                  <a:schemeClr val="accent6">
                    <a:lumMod val="60000"/>
                    <a:lumOff val="40000"/>
                  </a:schemeClr>
                </a:solidFill>
              </a:rPr>
              <a:t>Sales decreased by 1% in March.</a:t>
            </a:r>
          </a:p>
          <a:p>
            <a:r>
              <a:rPr lang="en-US" sz="2400" dirty="0">
                <a:solidFill>
                  <a:schemeClr val="accent6">
                    <a:lumMod val="60000"/>
                    <a:lumOff val="40000"/>
                  </a:schemeClr>
                </a:solidFill>
              </a:rPr>
              <a:t>###</a:t>
            </a:r>
          </a:p>
          <a:p>
            <a:r>
              <a:rPr lang="en-US" sz="2400" dirty="0">
                <a:solidFill>
                  <a:schemeClr val="accent6">
                    <a:lumMod val="60000"/>
                    <a:lumOff val="40000"/>
                  </a:schemeClr>
                </a:solidFill>
              </a:rPr>
              <a:t> </a:t>
            </a:r>
          </a:p>
          <a:p>
            <a:r>
              <a:rPr lang="en-US" sz="2400" dirty="0">
                <a:solidFill>
                  <a:schemeClr val="accent6">
                    <a:lumMod val="60000"/>
                    <a:lumOff val="40000"/>
                  </a:schemeClr>
                </a:solidFill>
              </a:rPr>
              <a:t>Provide output in JSON format with fields:</a:t>
            </a:r>
          </a:p>
          <a:p>
            <a:r>
              <a:rPr lang="en-US" sz="2400" dirty="0">
                <a:solidFill>
                  <a:schemeClr val="accent6">
                    <a:lumMod val="60000"/>
                    <a:lumOff val="40000"/>
                  </a:schemeClr>
                </a:solidFill>
              </a:rPr>
              <a:t>- Trend</a:t>
            </a:r>
          </a:p>
          <a:p>
            <a:r>
              <a:rPr lang="en-US" sz="2400" dirty="0">
                <a:solidFill>
                  <a:schemeClr val="accent6">
                    <a:lumMod val="60000"/>
                    <a:lumOff val="40000"/>
                  </a:schemeClr>
                </a:solidFill>
              </a:rPr>
              <a:t>- Insight</a:t>
            </a:r>
          </a:p>
          <a:p>
            <a:r>
              <a:rPr lang="en-US" sz="2400" dirty="0">
                <a:solidFill>
                  <a:schemeClr val="accent6">
                    <a:lumMod val="60000"/>
                    <a:lumOff val="40000"/>
                  </a:schemeClr>
                </a:solidFill>
              </a:rPr>
              <a:t>- Recommendation</a:t>
            </a:r>
          </a:p>
        </p:txBody>
      </p:sp>
    </p:spTree>
    <p:extLst>
      <p:ext uri="{BB962C8B-B14F-4D97-AF65-F5344CB8AC3E}">
        <p14:creationId xmlns:p14="http://schemas.microsoft.com/office/powerpoint/2010/main" val="3875739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2E48D-0637-E0ED-B3EF-F0B4713A52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2A61DA-9EDF-40A4-9CE4-E81E5546B511}"/>
              </a:ext>
            </a:extLst>
          </p:cNvPr>
          <p:cNvSpPr txBox="1"/>
          <p:nvPr/>
        </p:nvSpPr>
        <p:spPr>
          <a:xfrm>
            <a:off x="594360" y="248866"/>
            <a:ext cx="10780776" cy="461665"/>
          </a:xfrm>
          <a:prstGeom prst="rect">
            <a:avLst/>
          </a:prstGeom>
          <a:noFill/>
        </p:spPr>
        <p:txBody>
          <a:bodyPr wrap="square">
            <a:spAutoFit/>
          </a:bodyPr>
          <a:lstStyle/>
          <a:p>
            <a:r>
              <a:rPr lang="en-US" sz="2400" b="1" dirty="0">
                <a:solidFill>
                  <a:schemeClr val="accent6">
                    <a:lumMod val="60000"/>
                    <a:lumOff val="40000"/>
                  </a:schemeClr>
                </a:solidFill>
              </a:rPr>
              <a:t>Combining above Techniques</a:t>
            </a:r>
            <a:endParaRPr lang="en-US"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4C01E50D-7CD7-35FC-20EC-3E91E1EF9E67}"/>
              </a:ext>
            </a:extLst>
          </p:cNvPr>
          <p:cNvPicPr>
            <a:picLocks noChangeAspect="1"/>
          </p:cNvPicPr>
          <p:nvPr/>
        </p:nvPicPr>
        <p:blipFill>
          <a:blip r:embed="rId2"/>
          <a:stretch>
            <a:fillRect/>
          </a:stretch>
        </p:blipFill>
        <p:spPr>
          <a:xfrm>
            <a:off x="594360" y="646523"/>
            <a:ext cx="9328080" cy="2718469"/>
          </a:xfrm>
          <a:prstGeom prst="rect">
            <a:avLst/>
          </a:prstGeom>
        </p:spPr>
      </p:pic>
      <p:sp>
        <p:nvSpPr>
          <p:cNvPr id="6" name="TextBox 5">
            <a:extLst>
              <a:ext uri="{FF2B5EF4-FFF2-40B4-BE49-F238E27FC236}">
                <a16:creationId xmlns:a16="http://schemas.microsoft.com/office/drawing/2014/main" id="{31869E82-5DF1-2CD6-4B82-2317F091A3D4}"/>
              </a:ext>
            </a:extLst>
          </p:cNvPr>
          <p:cNvSpPr txBox="1"/>
          <p:nvPr/>
        </p:nvSpPr>
        <p:spPr>
          <a:xfrm>
            <a:off x="301752" y="3574393"/>
            <a:ext cx="10671048" cy="2862322"/>
          </a:xfrm>
          <a:prstGeom prst="rect">
            <a:avLst/>
          </a:prstGeom>
          <a:noFill/>
        </p:spPr>
        <p:txBody>
          <a:bodyPr wrap="square">
            <a:spAutoFit/>
          </a:bodyPr>
          <a:lstStyle/>
          <a:p>
            <a:r>
              <a:rPr lang="en-US" dirty="0">
                <a:solidFill>
                  <a:schemeClr val="accent6">
                    <a:lumMod val="60000"/>
                    <a:lumOff val="40000"/>
                  </a:schemeClr>
                </a:solidFill>
              </a:rPr>
              <a:t>{</a:t>
            </a:r>
          </a:p>
          <a:p>
            <a:r>
              <a:rPr lang="en-US" dirty="0">
                <a:solidFill>
                  <a:schemeClr val="accent6">
                    <a:lumMod val="60000"/>
                    <a:lumOff val="40000"/>
                  </a:schemeClr>
                </a:solidFill>
              </a:rPr>
              <a:t>  "Trend": "Sales show an initial increase followed by a gradual decline, indicating weakening momentum after January.",</a:t>
            </a:r>
          </a:p>
          <a:p>
            <a:r>
              <a:rPr lang="en-US" dirty="0">
                <a:solidFill>
                  <a:schemeClr val="accent6">
                    <a:lumMod val="60000"/>
                    <a:lumOff val="40000"/>
                  </a:schemeClr>
                </a:solidFill>
              </a:rPr>
              <a:t>  "Insight": "Although January experienced strong growth (+15%), the subsequent months show consecutive declines (-3% in February and -1% in March), suggesting that the initial boost was not sustained and demand may be stabilizing or weakening.",</a:t>
            </a:r>
          </a:p>
          <a:p>
            <a:r>
              <a:rPr lang="en-US" dirty="0">
                <a:solidFill>
                  <a:schemeClr val="accent6">
                    <a:lumMod val="60000"/>
                    <a:lumOff val="40000"/>
                  </a:schemeClr>
                </a:solidFill>
              </a:rPr>
              <a:t>  "Recommendation": "Investigate the drivers behind January's spike and assess why performance declined afterward. Focus on strengthening customer retention strategies, optimizing marketing campaigns, and identifying seasonal or operational factors affecting February and March performance."</a:t>
            </a:r>
          </a:p>
          <a:p>
            <a:r>
              <a:rPr lang="en-US" dirty="0">
                <a:solidFill>
                  <a:schemeClr val="accent6">
                    <a:lumMod val="60000"/>
                    <a:lumOff val="40000"/>
                  </a:schemeClr>
                </a:solidFill>
              </a:rPr>
              <a:t>}</a:t>
            </a:r>
          </a:p>
        </p:txBody>
      </p:sp>
    </p:spTree>
    <p:extLst>
      <p:ext uri="{BB962C8B-B14F-4D97-AF65-F5344CB8AC3E}">
        <p14:creationId xmlns:p14="http://schemas.microsoft.com/office/powerpoint/2010/main" val="3929211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25ABB-866E-4103-D915-9B3C4FBDA832}"/>
            </a:ext>
          </a:extLst>
        </p:cNvPr>
        <p:cNvGrpSpPr/>
        <p:nvPr/>
      </p:nvGrpSpPr>
      <p:grpSpPr>
        <a:xfrm>
          <a:off x="0" y="0"/>
          <a:ext cx="0" cy="0"/>
          <a:chOff x="0" y="0"/>
          <a:chExt cx="0" cy="0"/>
        </a:xfrm>
      </p:grpSpPr>
    </p:spTree>
    <p:extLst>
      <p:ext uri="{BB962C8B-B14F-4D97-AF65-F5344CB8AC3E}">
        <p14:creationId xmlns:p14="http://schemas.microsoft.com/office/powerpoint/2010/main" val="30135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331</TotalTime>
  <Words>943</Words>
  <Application>Microsoft Office PowerPoint</Application>
  <PresentationFormat>Widescreen</PresentationFormat>
  <Paragraphs>214</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96</cp:revision>
  <dcterms:created xsi:type="dcterms:W3CDTF">2025-09-22T02:44:38Z</dcterms:created>
  <dcterms:modified xsi:type="dcterms:W3CDTF">2026-06-16T06:05:49Z</dcterms:modified>
</cp:coreProperties>
</file>