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61" r:id="rId3"/>
    <p:sldId id="257" r:id="rId4"/>
    <p:sldId id="258" r:id="rId5"/>
    <p:sldId id="259" r:id="rId6"/>
    <p:sldId id="262"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B9DE0-307C-44AA-9A14-2F76096277F0}" type="datetimeFigureOut">
              <a:rPr lang="en-IN" smtClean="0"/>
              <a:t>13-10-2026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43FF3-6C40-4107-91BB-30F1D3636FBF}" type="slidenum">
              <a:rPr lang="en-IN" smtClean="0"/>
              <a:t>‹#›</a:t>
            </a:fld>
            <a:endParaRPr lang="en-IN"/>
          </a:p>
        </p:txBody>
      </p:sp>
    </p:spTree>
    <p:extLst>
      <p:ext uri="{BB962C8B-B14F-4D97-AF65-F5344CB8AC3E}">
        <p14:creationId xmlns:p14="http://schemas.microsoft.com/office/powerpoint/2010/main" val="2259534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12" name="Picture 11">
            <a:extLst>
              <a:ext uri="{FF2B5EF4-FFF2-40B4-BE49-F238E27FC236}">
                <a16:creationId xmlns:a16="http://schemas.microsoft.com/office/drawing/2014/main" id="{366CBFAF-C1DF-ECA1-1863-AD86FBEE5E5B}"/>
              </a:ext>
            </a:extLst>
          </p:cNvPr>
          <p:cNvPicPr>
            <a:picLocks noChangeAspect="1"/>
          </p:cNvPicPr>
          <p:nvPr userDrawn="1"/>
        </p:nvPicPr>
        <p:blipFill>
          <a:blip r:embed="rId2">
            <a:alphaModFix amt="66000"/>
            <a:extLst>
              <a:ext uri="{28A0092B-C50C-407E-A947-70E740481C1C}">
                <a14:useLocalDpi xmlns:a14="http://schemas.microsoft.com/office/drawing/2010/main" val="0"/>
              </a:ext>
            </a:extLst>
          </a:blip>
          <a:stretch>
            <a:fillRect/>
          </a:stretch>
        </p:blipFill>
        <p:spPr>
          <a:xfrm>
            <a:off x="10870541" y="17252"/>
            <a:ext cx="1295581" cy="924054"/>
          </a:xfrm>
          <a:prstGeom prst="rect">
            <a:avLst/>
          </a:prstGeom>
        </p:spPr>
      </p:pic>
    </p:spTree>
    <p:extLst>
      <p:ext uri="{BB962C8B-B14F-4D97-AF65-F5344CB8AC3E}">
        <p14:creationId xmlns:p14="http://schemas.microsoft.com/office/powerpoint/2010/main" val="269074662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13-10-2026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accent6">
                    <a:lumMod val="60000"/>
                    <a:lumOff val="40000"/>
                  </a:schemeClr>
                </a:solidFill>
              </a:defRPr>
            </a:lvl1pPr>
          </a:lstStyle>
          <a:p>
            <a:fld id="{6EBA79C2-4FE3-4D0C-AFFB-D4FCE050D5EA}" type="datetimeFigureOut">
              <a:rPr lang="en-IN" smtClean="0"/>
              <a:pPr/>
              <a:t>13-10-2026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accent6">
                    <a:lumMod val="60000"/>
                    <a:lumOff val="40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accent6">
                    <a:lumMod val="60000"/>
                    <a:lumOff val="40000"/>
                  </a:schemeClr>
                </a:solidFill>
              </a:defRPr>
            </a:lvl1pPr>
          </a:lstStyle>
          <a:p>
            <a:fld id="{023A53CF-6AA3-4EF6-9F05-A0E3059C583D}" type="slidenum">
              <a:rPr lang="en-IN" smtClean="0"/>
              <a:pPr/>
              <a:t>‹#›</a:t>
            </a:fld>
            <a:endParaRPr lang="en-IN"/>
          </a:p>
        </p:txBody>
      </p:sp>
      <p:pic>
        <p:nvPicPr>
          <p:cNvPr id="8" name="Picture 7">
            <a:extLst>
              <a:ext uri="{FF2B5EF4-FFF2-40B4-BE49-F238E27FC236}">
                <a16:creationId xmlns:a16="http://schemas.microsoft.com/office/drawing/2014/main" id="{9ED41020-D2C1-2A7A-0E52-12FBDC02B9EA}"/>
              </a:ext>
            </a:extLst>
          </p:cNvPr>
          <p:cNvPicPr>
            <a:picLocks noChangeAspect="1"/>
          </p:cNvPicPr>
          <p:nvPr userDrawn="1"/>
        </p:nvPicPr>
        <p:blipFill>
          <a:blip r:embed="rId13">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35BED9-2EE9-F5D0-0D9E-9CA5629FD6D7}"/>
              </a:ext>
            </a:extLst>
          </p:cNvPr>
          <p:cNvSpPr txBox="1"/>
          <p:nvPr/>
        </p:nvSpPr>
        <p:spPr>
          <a:xfrm>
            <a:off x="219456" y="241508"/>
            <a:ext cx="11512296" cy="1938992"/>
          </a:xfrm>
          <a:prstGeom prst="rect">
            <a:avLst/>
          </a:prstGeom>
          <a:noFill/>
        </p:spPr>
        <p:txBody>
          <a:bodyPr wrap="square">
            <a:spAutoFit/>
          </a:bodyPr>
          <a:lstStyle/>
          <a:p>
            <a:pPr marL="0" marR="0" rtl="0">
              <a:buNone/>
            </a:pPr>
            <a:r>
              <a:rPr lang="en-IN" sz="2400">
                <a:solidFill>
                  <a:schemeClr val="accent6">
                    <a:lumMod val="60000"/>
                    <a:lumOff val="40000"/>
                  </a:schemeClr>
                </a:solidFill>
              </a:rPr>
              <a:t>D</a:t>
            </a:r>
            <a:r>
              <a:rPr lang="en-IN" sz="2400" b="0" u="none" strike="noStrike">
                <a:solidFill>
                  <a:schemeClr val="accent6">
                    <a:lumMod val="60000"/>
                    <a:lumOff val="40000"/>
                  </a:schemeClr>
                </a:solidFill>
                <a:effectLst/>
                <a:latin typeface="+mn-lt"/>
              </a:rPr>
              <a:t>emonstration of </a:t>
            </a:r>
            <a:r>
              <a:rPr lang="en-IN" sz="2400" b="1" u="none" strike="noStrike">
                <a:solidFill>
                  <a:schemeClr val="accent6">
                    <a:lumMod val="60000"/>
                    <a:lumOff val="40000"/>
                  </a:schemeClr>
                </a:solidFill>
                <a:effectLst/>
                <a:latin typeface="+mn-lt"/>
              </a:rPr>
              <a:t>Vendor Invoice Reconciliation</a:t>
            </a:r>
            <a:r>
              <a:rPr lang="en-IN" sz="2400" b="0" u="none" strike="noStrike">
                <a:solidFill>
                  <a:schemeClr val="accent6">
                    <a:lumMod val="60000"/>
                    <a:lumOff val="40000"/>
                  </a:schemeClr>
                </a:solidFill>
                <a:effectLst/>
                <a:latin typeface="+mn-lt"/>
              </a:rPr>
              <a:t> using Microsoft Copilot</a:t>
            </a:r>
          </a:p>
          <a:p>
            <a:pPr marL="0" marR="0" rtl="0">
              <a:buNone/>
            </a:pPr>
            <a:endParaRPr lang="en-IN" sz="2400" b="1" u="none" strike="noStrike">
              <a:solidFill>
                <a:schemeClr val="accent6">
                  <a:lumMod val="60000"/>
                  <a:lumOff val="40000"/>
                </a:schemeClr>
              </a:solidFill>
              <a:effectLst/>
              <a:latin typeface="+mn-lt"/>
            </a:endParaRPr>
          </a:p>
          <a:p>
            <a:pPr marL="0" marR="0" rtl="0">
              <a:buNone/>
            </a:pPr>
            <a:r>
              <a:rPr lang="en-IN" sz="2400" b="1" u="none" strike="noStrike">
                <a:solidFill>
                  <a:schemeClr val="accent6">
                    <a:lumMod val="60000"/>
                    <a:lumOff val="40000"/>
                  </a:schemeClr>
                </a:solidFill>
                <a:effectLst/>
                <a:latin typeface="+mn-lt"/>
              </a:rPr>
              <a:t>📋 Scenario: </a:t>
            </a:r>
          </a:p>
          <a:p>
            <a:r>
              <a:rPr lang="en-IN" sz="2400">
                <a:solidFill>
                  <a:schemeClr val="accent6">
                    <a:lumMod val="60000"/>
                    <a:lumOff val="40000"/>
                  </a:schemeClr>
                </a:solidFill>
              </a:rPr>
              <a:t>You have 3 sample items( PO, Receipt, Invoice) with an error. </a:t>
            </a:r>
          </a:p>
          <a:p>
            <a:r>
              <a:rPr lang="en-IN" sz="2400">
                <a:solidFill>
                  <a:schemeClr val="accent6">
                    <a:lumMod val="60000"/>
                    <a:lumOff val="40000"/>
                  </a:schemeClr>
                </a:solidFill>
              </a:rPr>
              <a:t>You want to use AI to find that error and draft an email to the company regarding the error</a:t>
            </a:r>
          </a:p>
        </p:txBody>
      </p:sp>
    </p:spTree>
    <p:extLst>
      <p:ext uri="{BB962C8B-B14F-4D97-AF65-F5344CB8AC3E}">
        <p14:creationId xmlns:p14="http://schemas.microsoft.com/office/powerpoint/2010/main" val="368688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A9915F9-4F5A-F4DC-77CC-C6F1C0A1CF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653AD5-C6E6-4E75-FF82-F3ABB9ED9853}"/>
              </a:ext>
            </a:extLst>
          </p:cNvPr>
          <p:cNvSpPr txBox="1"/>
          <p:nvPr/>
        </p:nvSpPr>
        <p:spPr>
          <a:xfrm>
            <a:off x="219456" y="241508"/>
            <a:ext cx="11512296" cy="5632311"/>
          </a:xfrm>
          <a:prstGeom prst="rect">
            <a:avLst/>
          </a:prstGeom>
          <a:noFill/>
        </p:spPr>
        <p:txBody>
          <a:bodyPr wrap="square">
            <a:spAutoFit/>
          </a:bodyPr>
          <a:lstStyle/>
          <a:p>
            <a:pPr marL="0" marR="0" rtl="0">
              <a:buNone/>
            </a:pPr>
            <a:r>
              <a:rPr lang="en-IN" sz="2400">
                <a:solidFill>
                  <a:schemeClr val="accent6">
                    <a:lumMod val="60000"/>
                    <a:lumOff val="40000"/>
                  </a:schemeClr>
                </a:solidFill>
              </a:rPr>
              <a:t>D</a:t>
            </a:r>
            <a:r>
              <a:rPr lang="en-IN" sz="2400" b="0" u="none" strike="noStrike">
                <a:solidFill>
                  <a:schemeClr val="accent6">
                    <a:lumMod val="60000"/>
                    <a:lumOff val="40000"/>
                  </a:schemeClr>
                </a:solidFill>
                <a:effectLst/>
                <a:latin typeface="+mn-lt"/>
              </a:rPr>
              <a:t>emonstration of </a:t>
            </a:r>
            <a:r>
              <a:rPr lang="en-IN" sz="2400" b="1" u="none" strike="noStrike">
                <a:solidFill>
                  <a:schemeClr val="accent6">
                    <a:lumMod val="60000"/>
                    <a:lumOff val="40000"/>
                  </a:schemeClr>
                </a:solidFill>
                <a:effectLst/>
                <a:latin typeface="+mn-lt"/>
              </a:rPr>
              <a:t>Vendor Invoice Reconciliation</a:t>
            </a:r>
            <a:r>
              <a:rPr lang="en-IN" sz="2400" b="0" u="none" strike="noStrike">
                <a:solidFill>
                  <a:schemeClr val="accent6">
                    <a:lumMod val="60000"/>
                    <a:lumOff val="40000"/>
                  </a:schemeClr>
                </a:solidFill>
                <a:effectLst/>
                <a:latin typeface="+mn-lt"/>
              </a:rPr>
              <a:t> using Microsoft Copilot</a:t>
            </a:r>
          </a:p>
          <a:p>
            <a:pPr marL="0" marR="0" rtl="0">
              <a:buNone/>
            </a:pPr>
            <a:endParaRPr lang="en-IN" sz="2400" b="1" u="none" strike="noStrike">
              <a:solidFill>
                <a:schemeClr val="accent6">
                  <a:lumMod val="60000"/>
                  <a:lumOff val="40000"/>
                </a:schemeClr>
              </a:solidFill>
              <a:effectLst/>
              <a:latin typeface="+mn-lt"/>
            </a:endParaRPr>
          </a:p>
          <a:p>
            <a:pPr marL="0" marR="0" rtl="0">
              <a:buNone/>
            </a:pPr>
            <a:r>
              <a:rPr lang="en-IN" sz="2400" b="1" u="none" strike="noStrike">
                <a:solidFill>
                  <a:schemeClr val="accent6">
                    <a:lumMod val="60000"/>
                    <a:lumOff val="40000"/>
                  </a:schemeClr>
                </a:solidFill>
                <a:effectLst/>
                <a:latin typeface="+mn-lt"/>
              </a:rPr>
              <a:t>📋 Scenario: </a:t>
            </a:r>
          </a:p>
          <a:p>
            <a:r>
              <a:rPr lang="en-IN" sz="2400">
                <a:solidFill>
                  <a:schemeClr val="accent6">
                    <a:lumMod val="60000"/>
                    <a:lumOff val="40000"/>
                  </a:schemeClr>
                </a:solidFill>
              </a:rPr>
              <a:t>You have 3 sample items with a deliberate error:</a:t>
            </a:r>
          </a:p>
          <a:p>
            <a:pPr marL="342900" marR="0" lvl="0" indent="-342900" rtl="0">
              <a:buFont typeface="+mj-lt"/>
              <a:buAutoNum type="arabicPeriod"/>
            </a:pPr>
            <a:r>
              <a:rPr lang="en-IN" sz="2400" b="1" u="none" strike="noStrike">
                <a:solidFill>
                  <a:schemeClr val="accent6">
                    <a:lumMod val="60000"/>
                    <a:lumOff val="40000"/>
                  </a:schemeClr>
                </a:solidFill>
                <a:effectLst/>
                <a:latin typeface="+mn-lt"/>
              </a:rPr>
              <a:t>The PO (Excel): Purchase Order</a:t>
            </a:r>
            <a:r>
              <a:rPr lang="en-IN" sz="2400" b="0" u="none" strike="noStrike">
                <a:solidFill>
                  <a:schemeClr val="accent6">
                    <a:lumMod val="60000"/>
                    <a:lumOff val="40000"/>
                  </a:schemeClr>
                </a:solidFill>
                <a:effectLst/>
                <a:latin typeface="+mn-lt"/>
              </a:rPr>
              <a:t> </a:t>
            </a:r>
          </a:p>
          <a:p>
            <a:pPr marL="342900" lvl="0" indent="-342900">
              <a:buFontTx/>
              <a:buChar char="-"/>
            </a:pPr>
            <a:r>
              <a:rPr lang="en-IN" sz="2400">
                <a:solidFill>
                  <a:schemeClr val="accent6">
                    <a:lumMod val="60000"/>
                    <a:lumOff val="40000"/>
                  </a:schemeClr>
                </a:solidFill>
              </a:rPr>
              <a:t>Purchase Order #1042 for 100 Laptops at $1,000 each (Total: $100,000).</a:t>
            </a:r>
          </a:p>
          <a:p>
            <a:pPr marL="342900" lvl="0" indent="-342900">
              <a:buFontTx/>
              <a:buChar char="-"/>
            </a:pPr>
            <a:r>
              <a:rPr lang="en-IN" sz="2400">
                <a:solidFill>
                  <a:schemeClr val="accent6">
                    <a:lumMod val="60000"/>
                    <a:lumOff val="40000"/>
                  </a:schemeClr>
                </a:solidFill>
              </a:rPr>
              <a:t>PO # 1043 for 20 mouse at $100 each (Total: $2000)</a:t>
            </a:r>
          </a:p>
          <a:p>
            <a:pPr marR="0" lvl="0" rtl="0"/>
            <a:endParaRPr lang="en-IN" sz="2400" b="0" u="none" strike="noStrike">
              <a:solidFill>
                <a:schemeClr val="accent6">
                  <a:lumMod val="60000"/>
                  <a:lumOff val="40000"/>
                </a:schemeClr>
              </a:solidFill>
              <a:effectLst/>
              <a:latin typeface="+mn-lt"/>
            </a:endParaRPr>
          </a:p>
          <a:p>
            <a:pPr marL="457200" marR="0" lvl="0" indent="-457200" rtl="0">
              <a:buAutoNum type="arabicPeriod" startAt="2"/>
            </a:pPr>
            <a:r>
              <a:rPr lang="en-IN" sz="2400" b="1" u="none" strike="noStrike">
                <a:solidFill>
                  <a:schemeClr val="accent6">
                    <a:lumMod val="60000"/>
                    <a:lumOff val="40000"/>
                  </a:schemeClr>
                </a:solidFill>
                <a:effectLst/>
                <a:latin typeface="+mn-lt"/>
              </a:rPr>
              <a:t>The Receipt (Word / PDF):</a:t>
            </a:r>
            <a:r>
              <a:rPr lang="en-IN" sz="2400" b="0" u="none" strike="noStrike">
                <a:solidFill>
                  <a:schemeClr val="accent6">
                    <a:lumMod val="60000"/>
                    <a:lumOff val="40000"/>
                  </a:schemeClr>
                </a:solidFill>
                <a:effectLst/>
                <a:latin typeface="+mn-lt"/>
              </a:rPr>
              <a:t> </a:t>
            </a:r>
          </a:p>
          <a:p>
            <a:pPr marR="0" lvl="0" rtl="0"/>
            <a:r>
              <a:rPr lang="en-IN" sz="2400" b="0" u="none" strike="noStrike">
                <a:solidFill>
                  <a:schemeClr val="accent6">
                    <a:lumMod val="60000"/>
                    <a:lumOff val="40000"/>
                  </a:schemeClr>
                </a:solidFill>
                <a:effectLst/>
                <a:latin typeface="+mn-lt"/>
              </a:rPr>
              <a:t>- Goods Receipt showing only </a:t>
            </a:r>
            <a:r>
              <a:rPr lang="en-IN" sz="2400" b="1" u="none" strike="noStrike">
                <a:solidFill>
                  <a:schemeClr val="accent6">
                    <a:lumMod val="60000"/>
                    <a:lumOff val="40000"/>
                  </a:schemeClr>
                </a:solidFill>
                <a:effectLst/>
                <a:latin typeface="+mn-lt"/>
              </a:rPr>
              <a:t>95 Laptops arrived</a:t>
            </a:r>
            <a:r>
              <a:rPr lang="en-IN" sz="2400" b="0" u="none" strike="noStrike">
                <a:solidFill>
                  <a:schemeClr val="accent6">
                    <a:lumMod val="60000"/>
                    <a:lumOff val="40000"/>
                  </a:schemeClr>
                </a:solidFill>
                <a:effectLst/>
                <a:latin typeface="+mn-lt"/>
              </a:rPr>
              <a:t> due to shipping damage and all mouse arrived fine.</a:t>
            </a:r>
          </a:p>
          <a:p>
            <a:pPr marL="342900" marR="0" lvl="0" indent="-342900" rtl="0">
              <a:buFont typeface="+mj-lt"/>
              <a:buAutoNum type="arabicPeriod"/>
            </a:pPr>
            <a:endParaRPr lang="en-IN" sz="2400" b="1" u="none" strike="noStrike">
              <a:solidFill>
                <a:schemeClr val="accent6">
                  <a:lumMod val="60000"/>
                  <a:lumOff val="40000"/>
                </a:schemeClr>
              </a:solidFill>
              <a:effectLst/>
              <a:latin typeface="+mn-lt"/>
            </a:endParaRPr>
          </a:p>
          <a:p>
            <a:pPr lvl="0"/>
            <a:r>
              <a:rPr lang="en-IN" sz="2400" b="1" u="none" strike="noStrike">
                <a:solidFill>
                  <a:schemeClr val="accent6">
                    <a:lumMod val="60000"/>
                    <a:lumOff val="40000"/>
                  </a:schemeClr>
                </a:solidFill>
                <a:effectLst/>
                <a:latin typeface="+mn-lt"/>
              </a:rPr>
              <a:t>3.  The Invoice (</a:t>
            </a:r>
            <a:r>
              <a:rPr lang="en-IN" sz="2400" b="1">
                <a:solidFill>
                  <a:schemeClr val="accent6">
                    <a:lumMod val="60000"/>
                    <a:lumOff val="40000"/>
                  </a:schemeClr>
                </a:solidFill>
              </a:rPr>
              <a:t>Word / </a:t>
            </a:r>
            <a:r>
              <a:rPr lang="en-IN" sz="2400" b="1" u="none" strike="noStrike">
                <a:solidFill>
                  <a:schemeClr val="accent6">
                    <a:lumMod val="60000"/>
                    <a:lumOff val="40000"/>
                  </a:schemeClr>
                </a:solidFill>
                <a:effectLst/>
                <a:latin typeface="+mn-lt"/>
              </a:rPr>
              <a:t>PDF):</a:t>
            </a:r>
            <a:r>
              <a:rPr lang="en-IN" sz="2400" b="0" u="none" strike="noStrike">
                <a:solidFill>
                  <a:schemeClr val="accent6">
                    <a:lumMod val="60000"/>
                    <a:lumOff val="40000"/>
                  </a:schemeClr>
                </a:solidFill>
                <a:effectLst/>
                <a:latin typeface="+mn-lt"/>
              </a:rPr>
              <a:t> </a:t>
            </a:r>
          </a:p>
          <a:p>
            <a:pPr marR="0" lvl="0" rtl="0"/>
            <a:r>
              <a:rPr lang="en-IN" sz="2400" b="0" u="none" strike="noStrike">
                <a:solidFill>
                  <a:schemeClr val="accent6">
                    <a:lumMod val="60000"/>
                    <a:lumOff val="40000"/>
                  </a:schemeClr>
                </a:solidFill>
                <a:effectLst/>
                <a:latin typeface="+mn-lt"/>
              </a:rPr>
              <a:t>Vendor invoice charging for the full </a:t>
            </a:r>
            <a:r>
              <a:rPr lang="en-IN" sz="2400" b="1" u="none" strike="noStrike">
                <a:solidFill>
                  <a:schemeClr val="accent6">
                    <a:lumMod val="60000"/>
                    <a:lumOff val="40000"/>
                  </a:schemeClr>
                </a:solidFill>
                <a:effectLst/>
                <a:latin typeface="+mn-lt"/>
              </a:rPr>
              <a:t>100 Laptops at $1,000 each</a:t>
            </a:r>
            <a:r>
              <a:rPr lang="en-IN" sz="2400" b="0" u="none" strike="noStrike">
                <a:solidFill>
                  <a:schemeClr val="accent6">
                    <a:lumMod val="60000"/>
                    <a:lumOff val="40000"/>
                  </a:schemeClr>
                </a:solidFill>
                <a:effectLst/>
                <a:latin typeface="+mn-lt"/>
              </a:rPr>
              <a:t> (Total: $100,000) and charging full for the 20 mouse (Total: $2000)</a:t>
            </a:r>
          </a:p>
        </p:txBody>
      </p:sp>
    </p:spTree>
    <p:extLst>
      <p:ext uri="{BB962C8B-B14F-4D97-AF65-F5344CB8AC3E}">
        <p14:creationId xmlns:p14="http://schemas.microsoft.com/office/powerpoint/2010/main" val="280171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AD25CCB-BDF7-72BF-C712-F63E13EB30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F3F7A8-87CE-AAC8-AD06-673C0D8737BF}"/>
              </a:ext>
            </a:extLst>
          </p:cNvPr>
          <p:cNvSpPr txBox="1"/>
          <p:nvPr/>
        </p:nvSpPr>
        <p:spPr>
          <a:xfrm>
            <a:off x="219456" y="241508"/>
            <a:ext cx="11512296" cy="3824124"/>
          </a:xfrm>
          <a:prstGeom prst="rect">
            <a:avLst/>
          </a:prstGeom>
          <a:noFill/>
        </p:spPr>
        <p:txBody>
          <a:bodyPr wrap="square">
            <a:spAutoFit/>
          </a:bodyPr>
          <a:lstStyle/>
          <a:p>
            <a:pPr marL="0" marR="0" rtl="0">
              <a:buNone/>
            </a:pPr>
            <a:r>
              <a:rPr lang="en-IN" sz="2400" b="1" u="none" strike="noStrike">
                <a:solidFill>
                  <a:schemeClr val="accent6">
                    <a:lumMod val="60000"/>
                    <a:lumOff val="40000"/>
                  </a:schemeClr>
                </a:solidFill>
                <a:effectLst/>
                <a:latin typeface="+mn-lt"/>
              </a:rPr>
              <a:t>🛠️ Step-by-Step Copilot Prompt Sequence</a:t>
            </a:r>
          </a:p>
          <a:p>
            <a:pPr marL="0" marR="0" rtl="0">
              <a:buNone/>
            </a:pPr>
            <a:endParaRPr lang="en-IN" sz="2400" b="1" u="none" strike="noStrike">
              <a:solidFill>
                <a:schemeClr val="accent6">
                  <a:lumMod val="60000"/>
                  <a:lumOff val="40000"/>
                </a:schemeClr>
              </a:solidFill>
              <a:effectLst/>
              <a:latin typeface="+mn-lt"/>
            </a:endParaRPr>
          </a:p>
          <a:p>
            <a:pPr marL="0" marR="0" rtl="0">
              <a:buNone/>
            </a:pPr>
            <a:r>
              <a:rPr lang="en-IN" sz="2400" b="1" u="none" strike="noStrike">
                <a:solidFill>
                  <a:schemeClr val="accent6">
                    <a:lumMod val="60000"/>
                    <a:lumOff val="40000"/>
                  </a:schemeClr>
                </a:solidFill>
                <a:effectLst/>
                <a:latin typeface="+mn-lt"/>
              </a:rPr>
              <a:t>Step 1: Extract &amp; Structure Unstructured Invoice Data</a:t>
            </a:r>
          </a:p>
          <a:p>
            <a:pPr marL="342900" marR="0" lvl="0" indent="-342900" rtl="0">
              <a:buFont typeface="Arial" panose="020B0604020202020204" pitchFamily="34" charset="0"/>
              <a:buChar char="•"/>
            </a:pPr>
            <a:r>
              <a:rPr lang="en-IN" sz="2400" b="1" u="none" strike="noStrike">
                <a:solidFill>
                  <a:schemeClr val="accent6">
                    <a:lumMod val="60000"/>
                    <a:lumOff val="40000"/>
                  </a:schemeClr>
                </a:solidFill>
                <a:effectLst/>
                <a:latin typeface="+mn-lt"/>
              </a:rPr>
              <a:t>Where to open Copilot:</a:t>
            </a:r>
            <a:r>
              <a:rPr lang="en-IN" sz="2400" b="0" u="none" strike="noStrike">
                <a:solidFill>
                  <a:schemeClr val="accent6">
                    <a:lumMod val="60000"/>
                    <a:lumOff val="40000"/>
                  </a:schemeClr>
                </a:solidFill>
                <a:effectLst/>
                <a:latin typeface="+mn-lt"/>
              </a:rPr>
              <a:t> Copilot in Word or Copilot in Edge (with the Vendor Invoice PDF open).</a:t>
            </a:r>
          </a:p>
          <a:p>
            <a:pPr marR="0" lvl="0" rtl="0"/>
            <a:endParaRPr lang="en-IN" sz="2400" b="1" u="none" strike="noStrike">
              <a:solidFill>
                <a:schemeClr val="accent6">
                  <a:lumMod val="60000"/>
                  <a:lumOff val="40000"/>
                </a:schemeClr>
              </a:solidFill>
              <a:effectLst/>
              <a:latin typeface="+mn-lt"/>
            </a:endParaRPr>
          </a:p>
          <a:p>
            <a:pPr marR="0" lvl="0" rtl="0"/>
            <a:r>
              <a:rPr lang="en-IN" sz="2400" b="1" u="sng" strike="noStrike">
                <a:solidFill>
                  <a:schemeClr val="accent6">
                    <a:lumMod val="60000"/>
                    <a:lumOff val="40000"/>
                  </a:schemeClr>
                </a:solidFill>
                <a:effectLst/>
                <a:latin typeface="+mn-lt"/>
              </a:rPr>
              <a:t>The Prompt:</a:t>
            </a:r>
            <a:endParaRPr lang="en-IN" sz="2400" b="0" u="sng" strike="noStrike">
              <a:solidFill>
                <a:schemeClr val="accent6">
                  <a:lumMod val="60000"/>
                  <a:lumOff val="40000"/>
                </a:schemeClr>
              </a:solidFill>
              <a:effectLst/>
              <a:latin typeface="+mn-lt"/>
            </a:endParaRPr>
          </a:p>
          <a:p>
            <a:pPr marL="38100" marR="381000" lvl="0" rtl="0">
              <a:spcBef>
                <a:spcPts val="300"/>
              </a:spcBef>
            </a:pPr>
            <a:r>
              <a:rPr lang="en-IN" sz="2400" b="0" u="none" strike="noStrike">
                <a:solidFill>
                  <a:schemeClr val="accent6">
                    <a:lumMod val="60000"/>
                    <a:lumOff val="40000"/>
                  </a:schemeClr>
                </a:solidFill>
                <a:effectLst/>
                <a:latin typeface="+mn-lt"/>
              </a:rPr>
              <a:t>"</a:t>
            </a:r>
            <a:r>
              <a:rPr lang="en-IN" sz="2400" b="1" i="1" u="none" strike="noStrike">
                <a:solidFill>
                  <a:schemeClr val="accent6">
                    <a:lumMod val="60000"/>
                    <a:lumOff val="40000"/>
                  </a:schemeClr>
                </a:solidFill>
                <a:effectLst/>
                <a:latin typeface="+mn-lt"/>
              </a:rPr>
              <a:t>Extract the line items, quantities, unit prices, total amount, invoice number, and vendor name from this invoice. Present this data in a clean, structured markdown table ready to be copied into Excel</a:t>
            </a:r>
            <a:r>
              <a:rPr lang="en-IN" sz="2400" b="0" u="none" strike="noStrike">
                <a:solidFill>
                  <a:schemeClr val="accent6">
                    <a:lumMod val="60000"/>
                    <a:lumOff val="40000"/>
                  </a:schemeClr>
                </a:solidFill>
                <a:effectLst/>
                <a:latin typeface="+mn-lt"/>
              </a:rPr>
              <a:t>."</a:t>
            </a:r>
          </a:p>
        </p:txBody>
      </p:sp>
    </p:spTree>
    <p:extLst>
      <p:ext uri="{BB962C8B-B14F-4D97-AF65-F5344CB8AC3E}">
        <p14:creationId xmlns:p14="http://schemas.microsoft.com/office/powerpoint/2010/main" val="1390588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DC12FB2-BF89-1A39-019E-E510334985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85C2AD-33D2-706D-DA38-EA993A2BE3FD}"/>
              </a:ext>
            </a:extLst>
          </p:cNvPr>
          <p:cNvSpPr txBox="1"/>
          <p:nvPr/>
        </p:nvSpPr>
        <p:spPr>
          <a:xfrm>
            <a:off x="146304" y="744428"/>
            <a:ext cx="11512296" cy="4932119"/>
          </a:xfrm>
          <a:prstGeom prst="rect">
            <a:avLst/>
          </a:prstGeom>
          <a:noFill/>
        </p:spPr>
        <p:txBody>
          <a:bodyPr wrap="square">
            <a:spAutoFit/>
          </a:bodyPr>
          <a:lstStyle/>
          <a:p>
            <a:pPr marL="0" marR="0" rtl="0">
              <a:buNone/>
            </a:pPr>
            <a:r>
              <a:rPr lang="en-IN" sz="2400" b="1" u="none" strike="noStrike">
                <a:solidFill>
                  <a:schemeClr val="accent6">
                    <a:lumMod val="60000"/>
                    <a:lumOff val="40000"/>
                  </a:schemeClr>
                </a:solidFill>
                <a:effectLst/>
                <a:latin typeface="+mn-lt"/>
              </a:rPr>
              <a:t>Step 2: Run the Three-Way Match &amp; Highlight Discrepancies</a:t>
            </a:r>
          </a:p>
          <a:p>
            <a:pPr marL="0" marR="0" rtl="0">
              <a:buNone/>
            </a:pPr>
            <a:endParaRPr lang="en-IN" sz="2400" b="1" u="none" strike="noStrike">
              <a:solidFill>
                <a:schemeClr val="accent6">
                  <a:lumMod val="60000"/>
                  <a:lumOff val="40000"/>
                </a:schemeClr>
              </a:solidFill>
              <a:effectLst/>
              <a:latin typeface="+mn-lt"/>
            </a:endParaRPr>
          </a:p>
          <a:p>
            <a:pPr marL="342900" marR="0" lvl="0" indent="-342900" rtl="0">
              <a:buFont typeface="Arial" panose="020B0604020202020204" pitchFamily="34" charset="0"/>
              <a:buChar char="•"/>
            </a:pPr>
            <a:r>
              <a:rPr lang="en-IN" sz="2400" b="1" u="none" strike="noStrike">
                <a:solidFill>
                  <a:schemeClr val="accent6">
                    <a:lumMod val="60000"/>
                    <a:lumOff val="40000"/>
                  </a:schemeClr>
                </a:solidFill>
                <a:effectLst/>
                <a:latin typeface="+mn-lt"/>
              </a:rPr>
              <a:t>Where to open Copilot:</a:t>
            </a:r>
            <a:r>
              <a:rPr lang="en-IN" sz="2400" b="0" u="none" strike="noStrike">
                <a:solidFill>
                  <a:schemeClr val="accent6">
                    <a:lumMod val="60000"/>
                    <a:lumOff val="40000"/>
                  </a:schemeClr>
                </a:solidFill>
                <a:effectLst/>
                <a:latin typeface="+mn-lt"/>
              </a:rPr>
              <a:t> Copilot in Excel (Ensure your PO data, Receipt data, and newly pasted Invoice data are on the same sheet or workbook).</a:t>
            </a:r>
          </a:p>
          <a:p>
            <a:pPr marR="0" lvl="0" rtl="0"/>
            <a:endParaRPr lang="en-IN" sz="2400" b="1" u="none" strike="noStrike">
              <a:solidFill>
                <a:schemeClr val="accent6">
                  <a:lumMod val="60000"/>
                  <a:lumOff val="40000"/>
                </a:schemeClr>
              </a:solidFill>
              <a:effectLst/>
              <a:latin typeface="+mn-lt"/>
            </a:endParaRPr>
          </a:p>
          <a:p>
            <a:pPr marR="0" lvl="0" rtl="0"/>
            <a:r>
              <a:rPr lang="en-IN" sz="2400" b="1" u="sng" strike="noStrike">
                <a:solidFill>
                  <a:schemeClr val="accent6">
                    <a:lumMod val="60000"/>
                    <a:lumOff val="40000"/>
                  </a:schemeClr>
                </a:solidFill>
                <a:effectLst/>
                <a:latin typeface="+mn-lt"/>
              </a:rPr>
              <a:t>The Prompt:</a:t>
            </a:r>
            <a:endParaRPr lang="en-IN" sz="2400" b="0" u="sng" strike="noStrike">
              <a:solidFill>
                <a:schemeClr val="accent6">
                  <a:lumMod val="60000"/>
                  <a:lumOff val="40000"/>
                </a:schemeClr>
              </a:solidFill>
              <a:effectLst/>
              <a:latin typeface="+mn-lt"/>
            </a:endParaRPr>
          </a:p>
          <a:p>
            <a:pPr marL="38100" marR="381000" lvl="0" rtl="0">
              <a:spcBef>
                <a:spcPts val="300"/>
              </a:spcBef>
            </a:pPr>
            <a:r>
              <a:rPr lang="en-IN" sz="2400" b="0" u="none" strike="noStrike">
                <a:solidFill>
                  <a:schemeClr val="accent6">
                    <a:lumMod val="60000"/>
                    <a:lumOff val="40000"/>
                  </a:schemeClr>
                </a:solidFill>
                <a:effectLst/>
                <a:latin typeface="+mn-lt"/>
              </a:rPr>
              <a:t>"</a:t>
            </a:r>
            <a:r>
              <a:rPr lang="en-IN" sz="2400" b="1" i="1" u="none" strike="noStrike">
                <a:solidFill>
                  <a:schemeClr val="accent6">
                    <a:lumMod val="60000"/>
                    <a:lumOff val="40000"/>
                  </a:schemeClr>
                </a:solidFill>
                <a:effectLst/>
                <a:latin typeface="+mn-lt"/>
              </a:rPr>
              <a:t>Compare the quantities and totals across the Invoice, Purchase Order, and the Goods Receipt data on this sheet. Identify any variances where the invoiced quantity or amount exceeds what was actually received. </a:t>
            </a:r>
          </a:p>
          <a:p>
            <a:pPr marL="38100" marR="381000" lvl="0" rtl="0">
              <a:spcBef>
                <a:spcPts val="300"/>
              </a:spcBef>
            </a:pPr>
            <a:r>
              <a:rPr lang="en-IN" sz="2400" b="1" i="1" u="none" strike="noStrike">
                <a:solidFill>
                  <a:schemeClr val="accent6">
                    <a:lumMod val="60000"/>
                    <a:lumOff val="40000"/>
                  </a:schemeClr>
                </a:solidFill>
                <a:effectLst/>
                <a:latin typeface="+mn-lt"/>
              </a:rPr>
              <a:t>Highlight those rows in light red and summarize the financial discrepancy</a:t>
            </a:r>
            <a:r>
              <a:rPr lang="en-IN" sz="2400" b="0" u="none" strike="noStrike">
                <a:solidFill>
                  <a:schemeClr val="accent6">
                    <a:lumMod val="60000"/>
                    <a:lumOff val="40000"/>
                  </a:schemeClr>
                </a:solidFill>
                <a:effectLst/>
                <a:latin typeface="+mn-lt"/>
              </a:rPr>
              <a:t>."</a:t>
            </a:r>
          </a:p>
          <a:p>
            <a:pPr marR="0" lvl="0" rtl="0"/>
            <a:endParaRPr lang="en-IN" sz="2400" b="1" u="none" strike="noStrike">
              <a:solidFill>
                <a:schemeClr val="accent6">
                  <a:lumMod val="60000"/>
                  <a:lumOff val="40000"/>
                </a:schemeClr>
              </a:solidFill>
              <a:effectLst/>
              <a:latin typeface="+mn-lt"/>
            </a:endParaRPr>
          </a:p>
          <a:p>
            <a:pPr marR="0" lvl="0" rtl="0"/>
            <a:r>
              <a:rPr lang="en-IN" sz="2400" b="1" u="none" strike="noStrike">
                <a:solidFill>
                  <a:schemeClr val="accent6">
                    <a:lumMod val="60000"/>
                    <a:lumOff val="40000"/>
                  </a:schemeClr>
                </a:solidFill>
                <a:effectLst/>
                <a:latin typeface="+mn-lt"/>
              </a:rPr>
              <a:t>Expected Result:</a:t>
            </a:r>
            <a:r>
              <a:rPr lang="en-IN" sz="2400" b="0" u="none" strike="noStrike">
                <a:solidFill>
                  <a:schemeClr val="accent6">
                    <a:lumMod val="60000"/>
                    <a:lumOff val="40000"/>
                  </a:schemeClr>
                </a:solidFill>
                <a:effectLst/>
                <a:latin typeface="+mn-lt"/>
              </a:rPr>
              <a:t> Copilot flags that the vendor billed for 100 laptops, but operations only received 95, creating a </a:t>
            </a:r>
            <a:r>
              <a:rPr lang="en-IN" sz="2400" b="1" u="none" strike="noStrike">
                <a:solidFill>
                  <a:schemeClr val="accent6">
                    <a:lumMod val="60000"/>
                    <a:lumOff val="40000"/>
                  </a:schemeClr>
                </a:solidFill>
                <a:effectLst/>
                <a:latin typeface="+mn-lt"/>
              </a:rPr>
              <a:t>$5,000 overcharge</a:t>
            </a:r>
            <a:r>
              <a:rPr lang="en-IN" sz="2400" b="0" u="none" strike="noStrike">
                <a:solidFill>
                  <a:schemeClr val="accent6">
                    <a:lumMod val="60000"/>
                    <a:lumOff val="40000"/>
                  </a:schemeClr>
                </a:solidFill>
                <a:effectLst/>
                <a:latin typeface="+mn-lt"/>
              </a:rPr>
              <a:t>.</a:t>
            </a:r>
          </a:p>
        </p:txBody>
      </p:sp>
    </p:spTree>
    <p:extLst>
      <p:ext uri="{BB962C8B-B14F-4D97-AF65-F5344CB8AC3E}">
        <p14:creationId xmlns:p14="http://schemas.microsoft.com/office/powerpoint/2010/main" val="7443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AC8854A-FD15-0047-3970-6EF82A34E68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282487-B05B-6323-6A52-C61E10E0C47C}"/>
              </a:ext>
            </a:extLst>
          </p:cNvPr>
          <p:cNvSpPr txBox="1"/>
          <p:nvPr/>
        </p:nvSpPr>
        <p:spPr>
          <a:xfrm>
            <a:off x="219456" y="241508"/>
            <a:ext cx="11512296" cy="4678204"/>
          </a:xfrm>
          <a:prstGeom prst="rect">
            <a:avLst/>
          </a:prstGeom>
          <a:noFill/>
        </p:spPr>
        <p:txBody>
          <a:bodyPr wrap="square">
            <a:spAutoFit/>
          </a:bodyPr>
          <a:lstStyle/>
          <a:p>
            <a:pPr marL="0" marR="0" rtl="0">
              <a:buNone/>
            </a:pPr>
            <a:r>
              <a:rPr lang="en-IN" sz="2400" b="1" u="none" strike="noStrike">
                <a:solidFill>
                  <a:schemeClr val="accent6">
                    <a:lumMod val="60000"/>
                    <a:lumOff val="40000"/>
                  </a:schemeClr>
                </a:solidFill>
                <a:effectLst/>
                <a:latin typeface="+mn-lt"/>
              </a:rPr>
              <a:t>Step 3: Draft the Vendor Dispute Narrative</a:t>
            </a:r>
          </a:p>
          <a:p>
            <a:pPr marL="0" marR="0" rtl="0">
              <a:buNone/>
            </a:pPr>
            <a:endParaRPr lang="en-IN" sz="2400" b="1" u="none" strike="noStrike">
              <a:solidFill>
                <a:schemeClr val="accent6">
                  <a:lumMod val="60000"/>
                  <a:lumOff val="40000"/>
                </a:schemeClr>
              </a:solidFill>
              <a:effectLst/>
              <a:latin typeface="+mn-lt"/>
            </a:endParaRPr>
          </a:p>
          <a:p>
            <a:pPr marL="342900" marR="0" lvl="0" indent="-342900" rtl="0">
              <a:buFont typeface="Arial" panose="020B0604020202020204" pitchFamily="34" charset="0"/>
              <a:buChar char="•"/>
            </a:pPr>
            <a:r>
              <a:rPr lang="en-IN" sz="2400" b="1" u="none" strike="noStrike">
                <a:solidFill>
                  <a:schemeClr val="accent6">
                    <a:lumMod val="60000"/>
                    <a:lumOff val="40000"/>
                  </a:schemeClr>
                </a:solidFill>
                <a:effectLst/>
                <a:latin typeface="+mn-lt"/>
              </a:rPr>
              <a:t>Where to open Copilot:</a:t>
            </a:r>
            <a:r>
              <a:rPr lang="en-IN" sz="2400" b="0" u="none" strike="noStrike">
                <a:solidFill>
                  <a:schemeClr val="accent6">
                    <a:lumMod val="60000"/>
                    <a:lumOff val="40000"/>
                  </a:schemeClr>
                </a:solidFill>
                <a:effectLst/>
                <a:latin typeface="+mn-lt"/>
              </a:rPr>
              <a:t> Copilot in Outlook (or Copilot in Word).</a:t>
            </a:r>
          </a:p>
          <a:p>
            <a:pPr marL="342900" marR="0" lvl="0" indent="-342900" rtl="0">
              <a:buFont typeface="Arial" panose="020B0604020202020204" pitchFamily="34" charset="0"/>
              <a:buChar char="•"/>
            </a:pPr>
            <a:endParaRPr lang="en-IN" sz="2400" b="1" u="none" strike="noStrike">
              <a:solidFill>
                <a:schemeClr val="accent6">
                  <a:lumMod val="60000"/>
                  <a:lumOff val="40000"/>
                </a:schemeClr>
              </a:solidFill>
              <a:effectLst/>
              <a:latin typeface="+mn-lt"/>
            </a:endParaRPr>
          </a:p>
          <a:p>
            <a:pPr marR="0" lvl="0" rtl="0"/>
            <a:r>
              <a:rPr lang="en-IN" sz="2400" b="1" u="sng" strike="noStrike">
                <a:solidFill>
                  <a:schemeClr val="accent6">
                    <a:lumMod val="60000"/>
                    <a:lumOff val="40000"/>
                  </a:schemeClr>
                </a:solidFill>
                <a:effectLst/>
                <a:latin typeface="+mn-lt"/>
              </a:rPr>
              <a:t>The Prompt:</a:t>
            </a:r>
            <a:endParaRPr lang="en-IN" sz="2400" b="0" u="sng" strike="noStrike">
              <a:solidFill>
                <a:schemeClr val="accent6">
                  <a:lumMod val="60000"/>
                  <a:lumOff val="40000"/>
                </a:schemeClr>
              </a:solidFill>
              <a:effectLst/>
              <a:latin typeface="+mn-lt"/>
            </a:endParaRPr>
          </a:p>
          <a:p>
            <a:pPr marL="38100" marR="381000" lvl="0" rtl="0">
              <a:spcBef>
                <a:spcPts val="300"/>
              </a:spcBef>
            </a:pPr>
            <a:r>
              <a:rPr lang="en-IN" sz="2400" b="0" u="none" strike="noStrike">
                <a:solidFill>
                  <a:schemeClr val="accent6">
                    <a:lumMod val="60000"/>
                    <a:lumOff val="40000"/>
                  </a:schemeClr>
                </a:solidFill>
                <a:effectLst/>
                <a:latin typeface="+mn-lt"/>
              </a:rPr>
              <a:t>"</a:t>
            </a:r>
            <a:r>
              <a:rPr lang="en-IN" sz="2400" b="1" i="1" u="none" strike="noStrike">
                <a:solidFill>
                  <a:schemeClr val="accent6">
                    <a:lumMod val="60000"/>
                    <a:lumOff val="40000"/>
                  </a:schemeClr>
                </a:solidFill>
                <a:effectLst/>
                <a:latin typeface="+mn-lt"/>
              </a:rPr>
              <a:t>Draft a professional but firm email to our account manager at [Vendor Name] regarding a billing discrepancy on Invoice #[Number]. </a:t>
            </a:r>
          </a:p>
          <a:p>
            <a:pPr marL="38100" marR="381000" lvl="0" rtl="0">
              <a:spcBef>
                <a:spcPts val="300"/>
              </a:spcBef>
            </a:pPr>
            <a:r>
              <a:rPr lang="en-IN" sz="2400" b="1" i="1" u="none" strike="noStrike">
                <a:solidFill>
                  <a:schemeClr val="accent6">
                    <a:lumMod val="60000"/>
                    <a:lumOff val="40000"/>
                  </a:schemeClr>
                </a:solidFill>
                <a:effectLst/>
                <a:latin typeface="+mn-lt"/>
              </a:rPr>
              <a:t>State that we were invoiced for 100 units ($100,000) under PO #1042, but our warehouse receiving log shows only 95 units were delivered. </a:t>
            </a:r>
          </a:p>
          <a:p>
            <a:pPr marL="38100" marR="381000" lvl="0" rtl="0">
              <a:spcBef>
                <a:spcPts val="300"/>
              </a:spcBef>
            </a:pPr>
            <a:r>
              <a:rPr lang="en-IN" sz="2400" b="1" i="1" u="none" strike="noStrike">
                <a:solidFill>
                  <a:schemeClr val="accent6">
                    <a:lumMod val="60000"/>
                    <a:lumOff val="40000"/>
                  </a:schemeClr>
                </a:solidFill>
                <a:effectLst/>
                <a:latin typeface="+mn-lt"/>
              </a:rPr>
              <a:t>Ask them to reissue a corrected credit note or invoice for $95,000 before we process payment. </a:t>
            </a:r>
          </a:p>
          <a:p>
            <a:pPr marL="38100" marR="381000" lvl="0" rtl="0">
              <a:spcBef>
                <a:spcPts val="300"/>
              </a:spcBef>
            </a:pPr>
            <a:r>
              <a:rPr lang="en-IN" sz="2400" b="1" i="1" u="none" strike="noStrike">
                <a:solidFill>
                  <a:schemeClr val="accent6">
                    <a:lumMod val="60000"/>
                    <a:lumOff val="40000"/>
                  </a:schemeClr>
                </a:solidFill>
                <a:effectLst/>
                <a:latin typeface="+mn-lt"/>
              </a:rPr>
              <a:t>Keep it brief and polite</a:t>
            </a:r>
            <a:r>
              <a:rPr lang="en-IN" sz="2400" b="0" u="none" strike="noStrike">
                <a:solidFill>
                  <a:schemeClr val="accent6">
                    <a:lumMod val="60000"/>
                    <a:lumOff val="40000"/>
                  </a:schemeClr>
                </a:solidFill>
                <a:effectLst/>
                <a:latin typeface="+mn-lt"/>
              </a:rPr>
              <a:t>."</a:t>
            </a:r>
          </a:p>
        </p:txBody>
      </p:sp>
    </p:spTree>
    <p:extLst>
      <p:ext uri="{BB962C8B-B14F-4D97-AF65-F5344CB8AC3E}">
        <p14:creationId xmlns:p14="http://schemas.microsoft.com/office/powerpoint/2010/main" val="3964372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4266644-C1E5-AADB-7B67-184D75A724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D69687-4A60-AC71-3F7A-12BC784AE8AD}"/>
              </a:ext>
            </a:extLst>
          </p:cNvPr>
          <p:cNvSpPr txBox="1"/>
          <p:nvPr/>
        </p:nvSpPr>
        <p:spPr>
          <a:xfrm>
            <a:off x="219456" y="241508"/>
            <a:ext cx="11512296" cy="1200329"/>
          </a:xfrm>
          <a:prstGeom prst="rect">
            <a:avLst/>
          </a:prstGeom>
          <a:noFill/>
        </p:spPr>
        <p:txBody>
          <a:bodyPr wrap="square">
            <a:spAutoFit/>
          </a:bodyPr>
          <a:lstStyle/>
          <a:p>
            <a:pPr marL="0" marR="0" rtl="0">
              <a:buNone/>
            </a:pPr>
            <a:r>
              <a:rPr lang="en-IN" sz="2400" b="1" u="none" strike="noStrike">
                <a:solidFill>
                  <a:schemeClr val="accent6">
                    <a:lumMod val="60000"/>
                    <a:lumOff val="40000"/>
                  </a:schemeClr>
                </a:solidFill>
                <a:effectLst/>
                <a:latin typeface="+mn-lt"/>
              </a:rPr>
              <a:t>Step 4: Human-In-The-Loop  (HITL)</a:t>
            </a:r>
          </a:p>
          <a:p>
            <a:pPr marL="0" marR="0" rtl="0">
              <a:buNone/>
            </a:pPr>
            <a:endParaRPr lang="en-IN" sz="2400" b="1" u="none" strike="noStrike">
              <a:solidFill>
                <a:schemeClr val="accent6">
                  <a:lumMod val="60000"/>
                  <a:lumOff val="40000"/>
                </a:schemeClr>
              </a:solidFill>
              <a:effectLst/>
              <a:latin typeface="+mn-lt"/>
            </a:endParaRPr>
          </a:p>
          <a:p>
            <a:pPr marR="0" lvl="0" rtl="0"/>
            <a:r>
              <a:rPr lang="en-IN" sz="2400" u="none" strike="noStrike">
                <a:solidFill>
                  <a:schemeClr val="accent6">
                    <a:lumMod val="60000"/>
                    <a:lumOff val="40000"/>
                  </a:schemeClr>
                </a:solidFill>
                <a:effectLst/>
                <a:latin typeface="+mn-lt"/>
              </a:rPr>
              <a:t>This is where we need human in the loop to verify before sending the E-mail.</a:t>
            </a:r>
          </a:p>
        </p:txBody>
      </p:sp>
    </p:spTree>
    <p:extLst>
      <p:ext uri="{BB962C8B-B14F-4D97-AF65-F5344CB8AC3E}">
        <p14:creationId xmlns:p14="http://schemas.microsoft.com/office/powerpoint/2010/main" val="2240028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6ECF7F0-B16E-844D-4E42-FA68BCA5DA10}"/>
            </a:ext>
          </a:extLst>
        </p:cNvPr>
        <p:cNvGrpSpPr/>
        <p:nvPr/>
      </p:nvGrpSpPr>
      <p:grpSpPr>
        <a:xfrm>
          <a:off x="0" y="0"/>
          <a:ext cx="0" cy="0"/>
          <a:chOff x="0" y="0"/>
          <a:chExt cx="0" cy="0"/>
        </a:xfrm>
      </p:grpSpPr>
    </p:spTree>
    <p:extLst>
      <p:ext uri="{BB962C8B-B14F-4D97-AF65-F5344CB8AC3E}">
        <p14:creationId xmlns:p14="http://schemas.microsoft.com/office/powerpoint/2010/main" val="2293668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492</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37</cp:revision>
  <dcterms:created xsi:type="dcterms:W3CDTF">2026-09-25T02:37:34Z</dcterms:created>
  <dcterms:modified xsi:type="dcterms:W3CDTF">2026-10-13T17:38:37Z</dcterms:modified>
</cp:coreProperties>
</file>