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handoutMasterIdLst>
    <p:handoutMasterId r:id="rId9"/>
  </p:handoutMasterIdLst>
  <p:sldIdLst>
    <p:sldId id="257" r:id="rId2"/>
    <p:sldId id="290" r:id="rId3"/>
    <p:sldId id="291" r:id="rId4"/>
    <p:sldId id="286" r:id="rId5"/>
    <p:sldId id="287" r:id="rId6"/>
    <p:sldId id="289" r:id="rId7"/>
    <p:sldId id="288"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78"/>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7/2/2026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05T06:25:36.919"/>
    </inkml:context>
    <inkml:brush xml:id="br0">
      <inkml:brushProperty name="width" value="0.1" units="cm"/>
      <inkml:brushProperty name="height" value="0.1" units="cm"/>
      <inkml:brushProperty name="color" value="#F6630D"/>
    </inkml:brush>
  </inkml:definitions>
  <inkml:trace contextRef="#ctx0" brushRef="#br0">25 333 24575,'-2'0'0,"1"1"0,-1 0 0,1 0 0,0-1 0,0 1 0,-1 0 0,1 0 0,0 0 0,0 0 0,0 0 0,0 1 0,0-1 0,0 0 0,0 0 0,1 1 0,-1-1 0,0 1 0,1-1 0,-1 0 0,1 1 0,-1-1 0,1 1 0,0-1 0,0 1 0,-1-1 0,1 1 0,1 2 0,-3 42 0,1-45 0,1 0 0,0 0 0,0 1 0,0-1 0,0 0 0,0 0 0,1 0 0,-1 1 0,0-1 0,0 0 0,1 0 0,-1 0 0,1 0 0,-1 0 0,1 0 0,-1 0 0,1 0 0,0 0 0,-1 0 0,1 0 0,0 0 0,0 0 0,0 0 0,-1 0 0,1-1 0,0 1 0,0 0 0,0-1 0,1 1 0,-1-1 0,0 1 0,0-1 0,0 0 0,0 1 0,0-1 0,0 0 0,1 0 0,-1 0 0,0 1 0,0-1 0,0-1 0,1 1 0,-1 0 0,0 0 0,0 0 0,0-1 0,0 1 0,1 0 0,-1-1 0,0 1 0,0-1 0,0 0 0,0 1 0,0-1 0,0 0 0,0 1 0,1-2 0,8-5 0,-1-1 0,1 1 0,-1-1 0,9-11 0,13-18 0,36-55 0,-51 67 0,1 0 0,0 2 0,2 0 0,1 1 0,1 1 0,0 0 0,26-17 0,20-6-1365,-39 26-5461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05T06:25:38.857"/>
    </inkml:context>
    <inkml:brush xml:id="br0">
      <inkml:brushProperty name="width" value="0.1" units="cm"/>
      <inkml:brushProperty name="height" value="0.1" units="cm"/>
      <inkml:brushProperty name="color" value="#F6630D"/>
    </inkml:brush>
  </inkml:definitions>
  <inkml:trace contextRef="#ctx0" brushRef="#br0">0 307 24575,'2'0'0,"-1"1"0,1-1 0,-1 1 0,1-1 0,-1 1 0,0-1 0,1 1 0,-1 0 0,0 0 0,0 0 0,0 0 0,1 0 0,-1 0 0,0 0 0,0 0 0,0 0 0,0 0 0,-1 1 0,1-1 0,1 2 0,16 35 0,-11-22 0,1 0 0,-3-4 0,1 0 0,0-1 0,0 0 0,1 0 0,1-1 0,-1 1 0,2-2 0,17 18 0,-23-26 0,0 0 0,-1 0 0,1 0 0,-1 0 0,1 0 0,0 0 0,0-1 0,-1 1 0,1-1 0,0 0 0,0 0 0,0 0 0,0 0 0,-1-1 0,1 1 0,0-1 0,5-1 0,46-23 0,-46 21 0,406-257 132,-117 68-1629,-244 161-5329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05T06:26:09.348"/>
    </inkml:context>
    <inkml:brush xml:id="br0">
      <inkml:brushProperty name="width" value="0.1" units="cm"/>
      <inkml:brushProperty name="height" value="0.1" units="cm"/>
      <inkml:brushProperty name="color" value="#F6630D"/>
    </inkml:brush>
  </inkml:definitions>
  <inkml:trace contextRef="#ctx0" brushRef="#br0">0 0 24575</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7/2/2026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7/2/2026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customXml" Target="../ink/ink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C5AA4-1E9C-99DC-AFA2-54F7AD62956A}"/>
              </a:ext>
            </a:extLst>
          </p:cNvPr>
          <p:cNvSpPr txBox="1"/>
          <p:nvPr/>
        </p:nvSpPr>
        <p:spPr>
          <a:xfrm>
            <a:off x="3028950" y="1247013"/>
            <a:ext cx="6400800" cy="707886"/>
          </a:xfrm>
          <a:prstGeom prst="rect">
            <a:avLst/>
          </a:prstGeom>
          <a:noFill/>
        </p:spPr>
        <p:txBody>
          <a:bodyPr wrap="square" rtlCol="0">
            <a:spAutoFit/>
          </a:bodyPr>
          <a:lstStyle/>
          <a:p>
            <a:pPr algn="ctr"/>
            <a:r>
              <a:rPr lang="en-US" sz="4000" dirty="0">
                <a:solidFill>
                  <a:schemeClr val="accent6">
                    <a:lumMod val="60000"/>
                    <a:lumOff val="40000"/>
                  </a:schemeClr>
                </a:solidFill>
              </a:rPr>
              <a:t>Some Real-World Application</a:t>
            </a:r>
            <a:endParaRPr lang="en-US" sz="4000" b="1" dirty="0">
              <a:solidFill>
                <a:schemeClr val="accent6">
                  <a:lumMod val="60000"/>
                  <a:lumOff val="40000"/>
                </a:schemeClr>
              </a:solidFill>
            </a:endParaRP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90268-95CE-3996-80F2-D50E52AA653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C5AF45-1767-9D7E-C640-00823BB136FF}"/>
              </a:ext>
            </a:extLst>
          </p:cNvPr>
          <p:cNvSpPr txBox="1"/>
          <p:nvPr/>
        </p:nvSpPr>
        <p:spPr>
          <a:xfrm>
            <a:off x="155448" y="664798"/>
            <a:ext cx="11430000" cy="5909310"/>
          </a:xfrm>
          <a:prstGeom prst="rect">
            <a:avLst/>
          </a:prstGeom>
          <a:noFill/>
        </p:spPr>
        <p:txBody>
          <a:bodyPr wrap="square">
            <a:spAutoFit/>
          </a:bodyPr>
          <a:lstStyle/>
          <a:p>
            <a:r>
              <a:rPr lang="en-US" dirty="0">
                <a:solidFill>
                  <a:schemeClr val="accent6">
                    <a:lumMod val="60000"/>
                    <a:lumOff val="40000"/>
                  </a:schemeClr>
                </a:solidFill>
              </a:rPr>
              <a:t>Role: You are a Senior Python Developer and Data Engineer specializing in writing high-performance, production-grade data pipelines. You write exceptionally clean, memory-efficient code and prioritize robust error handling over quick hacks.</a:t>
            </a:r>
          </a:p>
          <a:p>
            <a:endParaRPr lang="en-US" dirty="0">
              <a:solidFill>
                <a:schemeClr val="accent6">
                  <a:lumMod val="60000"/>
                  <a:lumOff val="40000"/>
                </a:schemeClr>
              </a:solidFill>
            </a:endParaRPr>
          </a:p>
          <a:p>
            <a:r>
              <a:rPr lang="en-US" dirty="0">
                <a:solidFill>
                  <a:schemeClr val="accent6">
                    <a:lumMod val="60000"/>
                    <a:lumOff val="40000"/>
                  </a:schemeClr>
                </a:solidFill>
              </a:rPr>
              <a:t>Task: Write an optimized Python function to calculate the variance of a specific column in a CSV file. </a:t>
            </a:r>
          </a:p>
          <a:p>
            <a:endParaRPr lang="en-US" dirty="0">
              <a:solidFill>
                <a:schemeClr val="accent6">
                  <a:lumMod val="60000"/>
                  <a:lumOff val="40000"/>
                </a:schemeClr>
              </a:solidFill>
            </a:endParaRPr>
          </a:p>
          <a:p>
            <a:r>
              <a:rPr lang="en-US" dirty="0">
                <a:solidFill>
                  <a:schemeClr val="accent6">
                    <a:lumMod val="60000"/>
                    <a:lumOff val="40000"/>
                  </a:schemeClr>
                </a:solidFill>
              </a:rPr>
              <a:t>The function must meet the following requirements:</a:t>
            </a:r>
          </a:p>
          <a:p>
            <a:r>
              <a:rPr lang="en-US" dirty="0">
                <a:solidFill>
                  <a:schemeClr val="accent6">
                    <a:lumMod val="60000"/>
                    <a:lumOff val="40000"/>
                  </a:schemeClr>
                </a:solidFill>
              </a:rPr>
              <a:t>1. Input Parameters: Accept `filename`, `delimiter`, and `</a:t>
            </a:r>
            <a:r>
              <a:rPr lang="en-US" dirty="0" err="1">
                <a:solidFill>
                  <a:schemeClr val="accent6">
                    <a:lumMod val="60000"/>
                    <a:lumOff val="40000"/>
                  </a:schemeClr>
                </a:solidFill>
              </a:rPr>
              <a:t>column_name</a:t>
            </a:r>
            <a:r>
              <a:rPr lang="en-US" dirty="0">
                <a:solidFill>
                  <a:schemeClr val="accent6">
                    <a:lumMod val="60000"/>
                    <a:lumOff val="40000"/>
                  </a:schemeClr>
                </a:solidFill>
              </a:rPr>
              <a:t>`.</a:t>
            </a:r>
          </a:p>
          <a:p>
            <a:r>
              <a:rPr lang="en-US" dirty="0">
                <a:solidFill>
                  <a:schemeClr val="accent6">
                    <a:lumMod val="60000"/>
                    <a:lumOff val="40000"/>
                  </a:schemeClr>
                </a:solidFill>
              </a:rPr>
              <a:t>2. Functionality: Read the CSV file (default delimiter is a semi-colon ';') and compute the mathematical variance of the specified column (e.g., 'age').</a:t>
            </a:r>
          </a:p>
          <a:p>
            <a:r>
              <a:rPr lang="en-US" dirty="0">
                <a:solidFill>
                  <a:schemeClr val="accent6">
                    <a:lumMod val="60000"/>
                    <a:lumOff val="40000"/>
                  </a:schemeClr>
                </a:solidFill>
              </a:rPr>
              <a:t>3. Optimization: Optimize for memory efficiency and speed, handling potentially large files without loading the entire dataset into memory at once (e.g., using Welford's algorithm for online variance or streaming via the built-in `csv` module). </a:t>
            </a:r>
          </a:p>
          <a:p>
            <a:r>
              <a:rPr lang="en-US" dirty="0">
                <a:solidFill>
                  <a:schemeClr val="accent6">
                    <a:lumMod val="60000"/>
                    <a:lumOff val="40000"/>
                  </a:schemeClr>
                </a:solidFill>
              </a:rPr>
              <a:t>4. Robust Error Handling: Include try-except blocks to gracefully handle:</a:t>
            </a:r>
          </a:p>
          <a:p>
            <a:r>
              <a:rPr lang="en-US" dirty="0">
                <a:solidFill>
                  <a:schemeClr val="accent6">
                    <a:lumMod val="60000"/>
                    <a:lumOff val="40000"/>
                  </a:schemeClr>
                </a:solidFill>
              </a:rPr>
              <a:t>   - </a:t>
            </a:r>
            <a:r>
              <a:rPr lang="en-US" dirty="0" err="1">
                <a:solidFill>
                  <a:schemeClr val="accent6">
                    <a:lumMod val="60000"/>
                    <a:lumOff val="40000"/>
                  </a:schemeClr>
                </a:solidFill>
              </a:rPr>
              <a:t>FileNotFoundError</a:t>
            </a:r>
            <a:endParaRPr lang="en-US" dirty="0">
              <a:solidFill>
                <a:schemeClr val="accent6">
                  <a:lumMod val="60000"/>
                  <a:lumOff val="40000"/>
                </a:schemeClr>
              </a:solidFill>
            </a:endParaRPr>
          </a:p>
          <a:p>
            <a:r>
              <a:rPr lang="en-US" dirty="0">
                <a:solidFill>
                  <a:schemeClr val="accent6">
                    <a:lumMod val="60000"/>
                    <a:lumOff val="40000"/>
                  </a:schemeClr>
                </a:solidFill>
              </a:rPr>
              <a:t>   - </a:t>
            </a:r>
            <a:r>
              <a:rPr lang="en-US" dirty="0" err="1">
                <a:solidFill>
                  <a:schemeClr val="accent6">
                    <a:lumMod val="60000"/>
                    <a:lumOff val="40000"/>
                  </a:schemeClr>
                </a:solidFill>
              </a:rPr>
              <a:t>KeyError</a:t>
            </a:r>
            <a:r>
              <a:rPr lang="en-US" dirty="0">
                <a:solidFill>
                  <a:schemeClr val="accent6">
                    <a:lumMod val="60000"/>
                    <a:lumOff val="40000"/>
                  </a:schemeClr>
                </a:solidFill>
              </a:rPr>
              <a:t> (if the column name does not exist)</a:t>
            </a:r>
          </a:p>
          <a:p>
            <a:r>
              <a:rPr lang="en-US" dirty="0">
                <a:solidFill>
                  <a:schemeClr val="accent6">
                    <a:lumMod val="60000"/>
                    <a:lumOff val="40000"/>
                  </a:schemeClr>
                </a:solidFill>
              </a:rPr>
              <a:t>   - </a:t>
            </a:r>
            <a:r>
              <a:rPr lang="en-US" dirty="0" err="1">
                <a:solidFill>
                  <a:schemeClr val="accent6">
                    <a:lumMod val="60000"/>
                    <a:lumOff val="40000"/>
                  </a:schemeClr>
                </a:solidFill>
              </a:rPr>
              <a:t>ValueError</a:t>
            </a:r>
            <a:r>
              <a:rPr lang="en-US" dirty="0">
                <a:solidFill>
                  <a:schemeClr val="accent6">
                    <a:lumMod val="60000"/>
                    <a:lumOff val="40000"/>
                  </a:schemeClr>
                </a:solidFill>
              </a:rPr>
              <a:t> (if the column contains non-numeric data or has fewer than two valid data points)</a:t>
            </a:r>
          </a:p>
          <a:p>
            <a:r>
              <a:rPr lang="en-US" dirty="0">
                <a:solidFill>
                  <a:schemeClr val="accent6">
                    <a:lumMod val="60000"/>
                    <a:lumOff val="40000"/>
                  </a:schemeClr>
                </a:solidFill>
              </a:rPr>
              <a:t>   - Empty files</a:t>
            </a:r>
          </a:p>
          <a:p>
            <a:r>
              <a:rPr lang="en-US" dirty="0">
                <a:solidFill>
                  <a:schemeClr val="accent6">
                    <a:lumMod val="60000"/>
                    <a:lumOff val="40000"/>
                  </a:schemeClr>
                </a:solidFill>
              </a:rPr>
              <a:t>5. Output: Return the calculated variance as a float.</a:t>
            </a:r>
          </a:p>
          <a:p>
            <a:endParaRPr lang="en-US" dirty="0">
              <a:solidFill>
                <a:schemeClr val="accent6">
                  <a:lumMod val="60000"/>
                  <a:lumOff val="40000"/>
                </a:schemeClr>
              </a:solidFill>
            </a:endParaRPr>
          </a:p>
          <a:p>
            <a:r>
              <a:rPr lang="en-US" dirty="0">
                <a:solidFill>
                  <a:schemeClr val="accent6">
                    <a:lumMod val="60000"/>
                    <a:lumOff val="40000"/>
                  </a:schemeClr>
                </a:solidFill>
              </a:rPr>
              <a:t>Include clean code comments and a brief production-ready usage example.</a:t>
            </a:r>
          </a:p>
        </p:txBody>
      </p:sp>
    </p:spTree>
    <p:extLst>
      <p:ext uri="{BB962C8B-B14F-4D97-AF65-F5344CB8AC3E}">
        <p14:creationId xmlns:p14="http://schemas.microsoft.com/office/powerpoint/2010/main" val="2272493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1B203-7DB4-943D-830F-B45DF537BE6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F9333A0-2F45-3141-40E1-72A3499B0893}"/>
              </a:ext>
            </a:extLst>
          </p:cNvPr>
          <p:cNvSpPr txBox="1"/>
          <p:nvPr/>
        </p:nvSpPr>
        <p:spPr>
          <a:xfrm>
            <a:off x="182880" y="302359"/>
            <a:ext cx="11430000" cy="6555641"/>
          </a:xfrm>
          <a:prstGeom prst="rect">
            <a:avLst/>
          </a:prstGeom>
          <a:noFill/>
        </p:spPr>
        <p:txBody>
          <a:bodyPr wrap="square">
            <a:spAutoFit/>
          </a:bodyPr>
          <a:lstStyle/>
          <a:p>
            <a:r>
              <a:rPr lang="en-US" sz="2000" dirty="0">
                <a:solidFill>
                  <a:schemeClr val="accent6">
                    <a:lumMod val="60000"/>
                    <a:lumOff val="40000"/>
                  </a:schemeClr>
                </a:solidFill>
              </a:rPr>
              <a:t>[ROLE &amp; CONTEXT]</a:t>
            </a:r>
          </a:p>
          <a:p>
            <a:r>
              <a:rPr lang="en-US" sz="2000" dirty="0">
                <a:solidFill>
                  <a:schemeClr val="accent6">
                    <a:lumMod val="60000"/>
                    <a:lumOff val="40000"/>
                  </a:schemeClr>
                </a:solidFill>
              </a:rPr>
              <a:t>You are an expert Executive Research Assistant. Your task is to help a busy CEO quickly digest a long industry report without losing critical data.</a:t>
            </a:r>
          </a:p>
          <a:p>
            <a:endParaRPr lang="en-US" sz="2000" dirty="0">
              <a:solidFill>
                <a:schemeClr val="accent6">
                  <a:lumMod val="60000"/>
                  <a:lumOff val="40000"/>
                </a:schemeClr>
              </a:solidFill>
            </a:endParaRPr>
          </a:p>
          <a:p>
            <a:r>
              <a:rPr lang="en-US" sz="2000" dirty="0">
                <a:solidFill>
                  <a:schemeClr val="accent6">
                    <a:lumMod val="60000"/>
                    <a:lumOff val="40000"/>
                  </a:schemeClr>
                </a:solidFill>
              </a:rPr>
              <a:t>[TASK &amp; INPUT]</a:t>
            </a:r>
          </a:p>
          <a:p>
            <a:r>
              <a:rPr lang="en-US" sz="2000" dirty="0">
                <a:solidFill>
                  <a:schemeClr val="accent6">
                    <a:lumMod val="60000"/>
                    <a:lumOff val="40000"/>
                  </a:schemeClr>
                </a:solidFill>
              </a:rPr>
              <a:t>Analyze the attached 3-page document and summarize its core arguments, key findings, and major data points into a single, cohesive paragraph. </a:t>
            </a:r>
          </a:p>
          <a:p>
            <a:endParaRPr lang="en-US" sz="2000" dirty="0">
              <a:solidFill>
                <a:schemeClr val="accent6">
                  <a:lumMod val="60000"/>
                  <a:lumOff val="40000"/>
                </a:schemeClr>
              </a:solidFill>
            </a:endParaRPr>
          </a:p>
          <a:p>
            <a:r>
              <a:rPr lang="en-US" sz="2000" dirty="0">
                <a:solidFill>
                  <a:schemeClr val="accent6">
                    <a:lumMod val="60000"/>
                    <a:lumOff val="40000"/>
                  </a:schemeClr>
                </a:solidFill>
              </a:rPr>
              <a:t>[CONSTRAINTS &amp; FORMAT]</a:t>
            </a:r>
          </a:p>
          <a:p>
            <a:pPr marL="342900" indent="-342900">
              <a:buAutoNum type="arabicPeriod"/>
            </a:pPr>
            <a:r>
              <a:rPr lang="en-US" sz="2000" dirty="0">
                <a:solidFill>
                  <a:schemeClr val="accent6">
                    <a:lumMod val="60000"/>
                    <a:lumOff val="40000"/>
                  </a:schemeClr>
                </a:solidFill>
              </a:rPr>
              <a:t>Length: The final summary paragraph must be exactly 6 lines long.</a:t>
            </a:r>
          </a:p>
          <a:p>
            <a:pPr marL="342900" indent="-342900">
              <a:buAutoNum type="arabicPeriod"/>
            </a:pPr>
            <a:r>
              <a:rPr lang="en-US" sz="2000" dirty="0">
                <a:solidFill>
                  <a:schemeClr val="accent6">
                    <a:lumMod val="60000"/>
                    <a:lumOff val="40000"/>
                  </a:schemeClr>
                </a:solidFill>
              </a:rPr>
              <a:t>Structure: It must be a single, continuous paragraph (no bullet points).</a:t>
            </a:r>
          </a:p>
          <a:p>
            <a:pPr marL="342900" indent="-342900">
              <a:buAutoNum type="arabicPeriod"/>
            </a:pPr>
            <a:r>
              <a:rPr lang="en-US" sz="2000" dirty="0">
                <a:solidFill>
                  <a:schemeClr val="accent6">
                    <a:lumMod val="60000"/>
                    <a:lumOff val="40000"/>
                  </a:schemeClr>
                </a:solidFill>
              </a:rPr>
              <a:t>Quality: Avoid generic filler phrases like "This document discusses..." or "In conclusion...". Start directly with the primary thesis.</a:t>
            </a:r>
          </a:p>
          <a:p>
            <a:pPr marL="342900" indent="-342900">
              <a:buAutoNum type="arabicPeriod"/>
            </a:pPr>
            <a:endParaRPr lang="en-US" sz="2000" dirty="0">
              <a:solidFill>
                <a:schemeClr val="accent6">
                  <a:lumMod val="60000"/>
                  <a:lumOff val="40000"/>
                </a:schemeClr>
              </a:solidFill>
            </a:endParaRPr>
          </a:p>
          <a:p>
            <a:r>
              <a:rPr lang="en-US" sz="2000" dirty="0">
                <a:solidFill>
                  <a:schemeClr val="accent6">
                    <a:lumMod val="60000"/>
                    <a:lumOff val="40000"/>
                  </a:schemeClr>
                </a:solidFill>
              </a:rPr>
              <a:t>[INFORMATION PRIORITY]</a:t>
            </a:r>
          </a:p>
          <a:p>
            <a:r>
              <a:rPr lang="en-US" sz="2000" dirty="0">
                <a:solidFill>
                  <a:schemeClr val="accent6">
                    <a:lumMod val="60000"/>
                    <a:lumOff val="40000"/>
                  </a:schemeClr>
                </a:solidFill>
              </a:rPr>
              <a:t>Focus heavily on the "what" and the "why." Prioritize concrete metrics, financial figures, or statistical trends over general background information or historical context.</a:t>
            </a:r>
          </a:p>
          <a:p>
            <a:endParaRPr lang="en-US" sz="2000" dirty="0">
              <a:solidFill>
                <a:schemeClr val="accent6">
                  <a:lumMod val="60000"/>
                  <a:lumOff val="40000"/>
                </a:schemeClr>
              </a:solidFill>
            </a:endParaRPr>
          </a:p>
          <a:p>
            <a:r>
              <a:rPr lang="en-US" sz="2000" dirty="0">
                <a:solidFill>
                  <a:schemeClr val="accent6">
                    <a:lumMod val="60000"/>
                    <a:lumOff val="40000"/>
                  </a:schemeClr>
                </a:solidFill>
              </a:rPr>
              <a:t>[OUTPUT EXPECTATION]</a:t>
            </a:r>
          </a:p>
          <a:p>
            <a:r>
              <a:rPr lang="en-US" sz="2000" dirty="0">
                <a:solidFill>
                  <a:schemeClr val="accent6">
                    <a:lumMod val="60000"/>
                    <a:lumOff val="40000"/>
                  </a:schemeClr>
                </a:solidFill>
              </a:rPr>
              <a:t>Deliver a high-density, professional, and easily scannable paragraph that captures the absolute essence of the 3 pages.</a:t>
            </a:r>
          </a:p>
        </p:txBody>
      </p:sp>
    </p:spTree>
    <p:extLst>
      <p:ext uri="{BB962C8B-B14F-4D97-AF65-F5344CB8AC3E}">
        <p14:creationId xmlns:p14="http://schemas.microsoft.com/office/powerpoint/2010/main" val="10891852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3F83F-CC0B-EBD0-83A9-B6B5C6F1408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B601B9E-72A0-25B6-EA35-5C1B1DE552F5}"/>
              </a:ext>
            </a:extLst>
          </p:cNvPr>
          <p:cNvPicPr>
            <a:picLocks noChangeAspect="1"/>
          </p:cNvPicPr>
          <p:nvPr/>
        </p:nvPicPr>
        <p:blipFill>
          <a:blip r:embed="rId2"/>
          <a:stretch>
            <a:fillRect/>
          </a:stretch>
        </p:blipFill>
        <p:spPr>
          <a:xfrm>
            <a:off x="576072" y="875722"/>
            <a:ext cx="9815068" cy="5744533"/>
          </a:xfrm>
          <a:prstGeom prst="rect">
            <a:avLst/>
          </a:prstGeom>
        </p:spPr>
      </p:pic>
      <p:sp>
        <p:nvSpPr>
          <p:cNvPr id="4" name="TextBox 3">
            <a:extLst>
              <a:ext uri="{FF2B5EF4-FFF2-40B4-BE49-F238E27FC236}">
                <a16:creationId xmlns:a16="http://schemas.microsoft.com/office/drawing/2014/main" id="{4C479664-27AB-02A8-5B62-DB4EDD1CFB8A}"/>
              </a:ext>
            </a:extLst>
          </p:cNvPr>
          <p:cNvSpPr txBox="1"/>
          <p:nvPr/>
        </p:nvSpPr>
        <p:spPr>
          <a:xfrm>
            <a:off x="1316736" y="292608"/>
            <a:ext cx="9217010" cy="369332"/>
          </a:xfrm>
          <a:prstGeom prst="rect">
            <a:avLst/>
          </a:prstGeom>
          <a:noFill/>
        </p:spPr>
        <p:txBody>
          <a:bodyPr wrap="none" rtlCol="0">
            <a:spAutoFit/>
          </a:bodyPr>
          <a:lstStyle/>
          <a:p>
            <a:r>
              <a:rPr lang="en-US" dirty="0">
                <a:solidFill>
                  <a:schemeClr val="accent6">
                    <a:lumMod val="60000"/>
                    <a:lumOff val="40000"/>
                  </a:schemeClr>
                </a:solidFill>
              </a:rPr>
              <a:t>Problem: I want to remove the Student and Quiz part from the RHS menu. I am using </a:t>
            </a:r>
            <a:r>
              <a:rPr lang="en-US" dirty="0" err="1">
                <a:solidFill>
                  <a:schemeClr val="accent6">
                    <a:lumMod val="60000"/>
                    <a:lumOff val="40000"/>
                  </a:schemeClr>
                </a:solidFill>
              </a:rPr>
              <a:t>wordpress</a:t>
            </a:r>
            <a:r>
              <a:rPr lang="en-US" dirty="0">
                <a:solidFill>
                  <a:schemeClr val="accent6">
                    <a:lumMod val="60000"/>
                    <a:lumOff val="40000"/>
                  </a:schemeClr>
                </a:solidFill>
              </a:rPr>
              <a:t> </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02DBAE9C-3375-7499-7E4E-9091F7E929A9}"/>
                  </a:ext>
                </a:extLst>
              </p14:cNvPr>
              <p14:cNvContentPartPr/>
              <p14:nvPr/>
            </p14:nvContentPartPr>
            <p14:xfrm>
              <a:off x="8760384" y="4214376"/>
              <a:ext cx="171360" cy="161280"/>
            </p14:xfrm>
          </p:contentPart>
        </mc:Choice>
        <mc:Fallback xmlns="">
          <p:pic>
            <p:nvPicPr>
              <p:cNvPr id="5" name="Ink 4">
                <a:extLst>
                  <a:ext uri="{FF2B5EF4-FFF2-40B4-BE49-F238E27FC236}">
                    <a16:creationId xmlns:a16="http://schemas.microsoft.com/office/drawing/2014/main" id="{02DBAE9C-3375-7499-7E4E-9091F7E929A9}"/>
                  </a:ext>
                </a:extLst>
              </p:cNvPr>
              <p:cNvPicPr/>
              <p:nvPr/>
            </p:nvPicPr>
            <p:blipFill>
              <a:blip r:embed="rId4"/>
              <a:stretch>
                <a:fillRect/>
              </a:stretch>
            </p:blipFill>
            <p:spPr>
              <a:xfrm>
                <a:off x="8742384" y="4196736"/>
                <a:ext cx="207000" cy="196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4C04C310-D6F3-CB25-7EA5-749FD0757FB0}"/>
                  </a:ext>
                </a:extLst>
              </p14:cNvPr>
              <p14:cNvContentPartPr/>
              <p14:nvPr/>
            </p14:nvContentPartPr>
            <p14:xfrm>
              <a:off x="8503704" y="4982616"/>
              <a:ext cx="367560" cy="187200"/>
            </p14:xfrm>
          </p:contentPart>
        </mc:Choice>
        <mc:Fallback xmlns="">
          <p:pic>
            <p:nvPicPr>
              <p:cNvPr id="6" name="Ink 5">
                <a:extLst>
                  <a:ext uri="{FF2B5EF4-FFF2-40B4-BE49-F238E27FC236}">
                    <a16:creationId xmlns:a16="http://schemas.microsoft.com/office/drawing/2014/main" id="{4C04C310-D6F3-CB25-7EA5-749FD0757FB0}"/>
                  </a:ext>
                </a:extLst>
              </p:cNvPr>
              <p:cNvPicPr/>
              <p:nvPr/>
            </p:nvPicPr>
            <p:blipFill>
              <a:blip r:embed="rId6"/>
              <a:stretch>
                <a:fillRect/>
              </a:stretch>
            </p:blipFill>
            <p:spPr>
              <a:xfrm>
                <a:off x="8485704" y="4964616"/>
                <a:ext cx="403200" cy="222840"/>
              </a:xfrm>
              <a:prstGeom prst="rect">
                <a:avLst/>
              </a:prstGeom>
            </p:spPr>
          </p:pic>
        </mc:Fallback>
      </mc:AlternateContent>
    </p:spTree>
    <p:extLst>
      <p:ext uri="{BB962C8B-B14F-4D97-AF65-F5344CB8AC3E}">
        <p14:creationId xmlns:p14="http://schemas.microsoft.com/office/powerpoint/2010/main" val="38729591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59BDE-9240-0C96-8980-3291E35EE020}"/>
            </a:ext>
          </a:extLst>
        </p:cNvPr>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77D486EC-3082-1086-4644-5FE341A9DCD1}"/>
                  </a:ext>
                </a:extLst>
              </p14:cNvPr>
              <p14:cNvContentPartPr/>
              <p14:nvPr/>
            </p14:nvContentPartPr>
            <p14:xfrm>
              <a:off x="5038344" y="3355776"/>
              <a:ext cx="360" cy="360"/>
            </p14:xfrm>
          </p:contentPart>
        </mc:Choice>
        <mc:Fallback xmlns="">
          <p:pic>
            <p:nvPicPr>
              <p:cNvPr id="2" name="Ink 1">
                <a:extLst>
                  <a:ext uri="{FF2B5EF4-FFF2-40B4-BE49-F238E27FC236}">
                    <a16:creationId xmlns:a16="http://schemas.microsoft.com/office/drawing/2014/main" id="{77D486EC-3082-1086-4644-5FE341A9DCD1}"/>
                  </a:ext>
                </a:extLst>
              </p:cNvPr>
              <p:cNvPicPr/>
              <p:nvPr/>
            </p:nvPicPr>
            <p:blipFill>
              <a:blip r:embed="rId3"/>
              <a:stretch>
                <a:fillRect/>
              </a:stretch>
            </p:blipFill>
            <p:spPr>
              <a:xfrm>
                <a:off x="5020344" y="3337776"/>
                <a:ext cx="36000" cy="36000"/>
              </a:xfrm>
              <a:prstGeom prst="rect">
                <a:avLst/>
              </a:prstGeom>
            </p:spPr>
          </p:pic>
        </mc:Fallback>
      </mc:AlternateContent>
      <p:pic>
        <p:nvPicPr>
          <p:cNvPr id="4" name="Picture 3">
            <a:extLst>
              <a:ext uri="{FF2B5EF4-FFF2-40B4-BE49-F238E27FC236}">
                <a16:creationId xmlns:a16="http://schemas.microsoft.com/office/drawing/2014/main" id="{0F0E661C-EFDF-0AA0-51F8-DDFFBE4BAF24}"/>
              </a:ext>
            </a:extLst>
          </p:cNvPr>
          <p:cNvPicPr>
            <a:picLocks noChangeAspect="1"/>
          </p:cNvPicPr>
          <p:nvPr/>
        </p:nvPicPr>
        <p:blipFill>
          <a:blip r:embed="rId4"/>
          <a:stretch>
            <a:fillRect/>
          </a:stretch>
        </p:blipFill>
        <p:spPr>
          <a:xfrm>
            <a:off x="2287061" y="1042654"/>
            <a:ext cx="6630325" cy="4772691"/>
          </a:xfrm>
          <a:prstGeom prst="rect">
            <a:avLst/>
          </a:prstGeom>
        </p:spPr>
      </p:pic>
    </p:spTree>
    <p:extLst>
      <p:ext uri="{BB962C8B-B14F-4D97-AF65-F5344CB8AC3E}">
        <p14:creationId xmlns:p14="http://schemas.microsoft.com/office/powerpoint/2010/main" val="1618757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10530-2F23-96F7-75FF-2D13196402C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8084667-750B-5933-6D67-47D3D2484BF8}"/>
              </a:ext>
            </a:extLst>
          </p:cNvPr>
          <p:cNvPicPr>
            <a:picLocks noChangeAspect="1"/>
          </p:cNvPicPr>
          <p:nvPr/>
        </p:nvPicPr>
        <p:blipFill>
          <a:blip r:embed="rId2"/>
          <a:stretch>
            <a:fillRect/>
          </a:stretch>
        </p:blipFill>
        <p:spPr>
          <a:xfrm>
            <a:off x="289686" y="176236"/>
            <a:ext cx="9107171" cy="5115639"/>
          </a:xfrm>
          <a:prstGeom prst="rect">
            <a:avLst/>
          </a:prstGeom>
        </p:spPr>
      </p:pic>
      <p:pic>
        <p:nvPicPr>
          <p:cNvPr id="7" name="Picture 6">
            <a:extLst>
              <a:ext uri="{FF2B5EF4-FFF2-40B4-BE49-F238E27FC236}">
                <a16:creationId xmlns:a16="http://schemas.microsoft.com/office/drawing/2014/main" id="{FF889F92-9ACE-EB70-B5A8-466858B621FB}"/>
              </a:ext>
            </a:extLst>
          </p:cNvPr>
          <p:cNvPicPr>
            <a:picLocks noChangeAspect="1"/>
          </p:cNvPicPr>
          <p:nvPr/>
        </p:nvPicPr>
        <p:blipFill>
          <a:blip r:embed="rId3"/>
          <a:stretch>
            <a:fillRect/>
          </a:stretch>
        </p:blipFill>
        <p:spPr>
          <a:xfrm>
            <a:off x="5836382" y="3209544"/>
            <a:ext cx="5388367" cy="3396231"/>
          </a:xfrm>
          <a:prstGeom prst="rect">
            <a:avLst/>
          </a:prstGeom>
        </p:spPr>
      </p:pic>
    </p:spTree>
    <p:extLst>
      <p:ext uri="{BB962C8B-B14F-4D97-AF65-F5344CB8AC3E}">
        <p14:creationId xmlns:p14="http://schemas.microsoft.com/office/powerpoint/2010/main" val="1794073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D5412-6AA3-D8F4-4894-C565365CA935}"/>
            </a:ext>
          </a:extLst>
        </p:cNvPr>
        <p:cNvGrpSpPr/>
        <p:nvPr/>
      </p:nvGrpSpPr>
      <p:grpSpPr>
        <a:xfrm>
          <a:off x="0" y="0"/>
          <a:ext cx="0" cy="0"/>
          <a:chOff x="0" y="0"/>
          <a:chExt cx="0" cy="0"/>
        </a:xfrm>
      </p:grpSpPr>
    </p:spTree>
    <p:extLst>
      <p:ext uri="{BB962C8B-B14F-4D97-AF65-F5344CB8AC3E}">
        <p14:creationId xmlns:p14="http://schemas.microsoft.com/office/powerpoint/2010/main" val="33208698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648</TotalTime>
  <Words>432</Words>
  <Application>Microsoft Office PowerPoint</Application>
  <PresentationFormat>Widescreen</PresentationFormat>
  <Paragraphs>34</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113</cp:revision>
  <dcterms:created xsi:type="dcterms:W3CDTF">2025-09-22T02:44:38Z</dcterms:created>
  <dcterms:modified xsi:type="dcterms:W3CDTF">2026-07-02T17:46:39Z</dcterms:modified>
</cp:coreProperties>
</file>