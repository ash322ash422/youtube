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3"/>
  </p:handoutMasterIdLst>
  <p:sldIdLst>
    <p:sldId id="257" r:id="rId2"/>
    <p:sldId id="258" r:id="rId3"/>
    <p:sldId id="282" r:id="rId4"/>
    <p:sldId id="270" r:id="rId5"/>
    <p:sldId id="271" r:id="rId6"/>
    <p:sldId id="272" r:id="rId7"/>
    <p:sldId id="284" r:id="rId8"/>
    <p:sldId id="285" r:id="rId9"/>
    <p:sldId id="286" r:id="rId10"/>
    <p:sldId id="287" r:id="rId11"/>
    <p:sldId id="283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6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CC5AA4-1E9C-99DC-AFA2-54F7AD62956A}"/>
              </a:ext>
            </a:extLst>
          </p:cNvPr>
          <p:cNvSpPr txBox="1"/>
          <p:nvPr/>
        </p:nvSpPr>
        <p:spPr>
          <a:xfrm>
            <a:off x="3028950" y="1247013"/>
            <a:ext cx="64008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Tree Of Thought</a:t>
            </a:r>
          </a:p>
          <a:p>
            <a:pPr algn="ctr"/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Reflexion</a:t>
            </a:r>
          </a:p>
          <a:p>
            <a:pPr algn="ctr"/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Self-Consistency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C4EE4-7CB9-DC2F-6583-CEFEBED4E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7882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1BDB6-ED34-C4A8-E1B6-5AB18CCF1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C237422-8158-ADEB-D2AD-D3D3701C8C16}"/>
              </a:ext>
            </a:extLst>
          </p:cNvPr>
          <p:cNvSpPr txBox="1"/>
          <p:nvPr/>
        </p:nvSpPr>
        <p:spPr>
          <a:xfrm>
            <a:off x="594360" y="962098"/>
            <a:ext cx="1078077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AutoNum type="arabicPeriod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Tree of Thoughts (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ToT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 – Exploring Multiple Reasoning Paths</a:t>
            </a:r>
          </a:p>
          <a:p>
            <a:pPr marL="457200" indent="-457200">
              <a:buAutoNum type="arabicPeriod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Tree of Thoughts?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Tree of Thoughts (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ToT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 is a prompting technique where AI is encouraged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explore multiple possible reasoning paths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before choosing the best solution.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 following only one thinking path, AI: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Generates multiple ideas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Evaluates each idea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Selects the best possible answer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technique mimics human brainstorming.</a:t>
            </a:r>
          </a:p>
        </p:txBody>
      </p:sp>
    </p:spTree>
    <p:extLst>
      <p:ext uri="{BB962C8B-B14F-4D97-AF65-F5344CB8AC3E}">
        <p14:creationId xmlns:p14="http://schemas.microsoft.com/office/powerpoint/2010/main" val="5513505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3F274-D95C-6E00-5D39-3E376707C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0FBC02-FAA0-59F1-6A02-1825378FDBF6}"/>
              </a:ext>
            </a:extLst>
          </p:cNvPr>
          <p:cNvSpPr txBox="1"/>
          <p:nvPr/>
        </p:nvSpPr>
        <p:spPr>
          <a:xfrm>
            <a:off x="594360" y="962098"/>
            <a:ext cx="1078077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Without Tree of Thoughts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Suggest a business idea for a 50000 dollars.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might give only one idea without exploring alternatives.</a:t>
            </a:r>
          </a:p>
        </p:txBody>
      </p:sp>
    </p:spTree>
    <p:extLst>
      <p:ext uri="{BB962C8B-B14F-4D97-AF65-F5344CB8AC3E}">
        <p14:creationId xmlns:p14="http://schemas.microsoft.com/office/powerpoint/2010/main" val="1399453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700C3-1D24-EFD1-6D80-D2448EC0E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FABDA12-51D0-1016-9094-F550B1BE8333}"/>
              </a:ext>
            </a:extLst>
          </p:cNvPr>
          <p:cNvSpPr txBox="1"/>
          <p:nvPr/>
        </p:nvSpPr>
        <p:spPr>
          <a:xfrm>
            <a:off x="530352" y="669490"/>
            <a:ext cx="77724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 Tree of Thoughts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Suggest three different business ideas for a 50000 dollars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For each idea: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1. Explain benefits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2. Explain risks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3. Suggest expected profitability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Then choose the best idea and justify your choice.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forces AI to explore multiple reasoning paths.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E18379-A3C2-1E66-4198-AC6605DA09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689" y="2505456"/>
            <a:ext cx="4943235" cy="2785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193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0D9EA-8F6E-DF89-64AE-DD750C7B9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33490B-1022-FB66-9F87-E5E7F0353D82}"/>
              </a:ext>
            </a:extLst>
          </p:cNvPr>
          <p:cNvSpPr txBox="1"/>
          <p:nvPr/>
        </p:nvSpPr>
        <p:spPr>
          <a:xfrm>
            <a:off x="283464" y="117693"/>
            <a:ext cx="10780776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an AI Solution Architect.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Problem: Design an AI agent that can answer questions from PDF documents.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Tree of Thought reasoning.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1: Generate at least 4 different architectures.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2: For each architecture, explain: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How it works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Components required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Advantages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Limitations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3: Compare architectures on Accuracy, Cost, Scalability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4: Select the best architecture and explain why.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Show your reasoning as a decision tree.</a:t>
            </a:r>
          </a:p>
        </p:txBody>
      </p:sp>
    </p:spTree>
    <p:extLst>
      <p:ext uri="{BB962C8B-B14F-4D97-AF65-F5344CB8AC3E}">
        <p14:creationId xmlns:p14="http://schemas.microsoft.com/office/powerpoint/2010/main" val="2435447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F3AC7-673C-B945-18A0-B8D9983B6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70226-6D80-C125-0459-906F0B681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401" y="1568196"/>
            <a:ext cx="10849433" cy="3721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628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07943-5F8A-1629-9FA9-272DB983B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F7632DA-15B6-F526-ADE9-9095237D1E74}"/>
              </a:ext>
            </a:extLst>
          </p:cNvPr>
          <p:cNvSpPr txBox="1"/>
          <p:nvPr/>
        </p:nvSpPr>
        <p:spPr>
          <a:xfrm>
            <a:off x="210312" y="0"/>
            <a:ext cx="749808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Branch A: Direct PDF + LLM</a:t>
            </a:r>
          </a:p>
          <a:p>
            <a:pPr rtl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PDF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 ↓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Text Extraction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 ↓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Entire Text Sent to LLM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 ↓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Answer Generated</a:t>
            </a:r>
          </a:p>
          <a:p>
            <a:pPr rtl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Components Required: 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PDF Parser (PyPDF2, </a:t>
            </a: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pdfplumber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), LLM (GPT, Claude, Gemini) ,Simple Application Layer </a:t>
            </a:r>
          </a:p>
          <a:p>
            <a:pPr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Advantages</a:t>
            </a:r>
          </a:p>
          <a:p>
            <a:pPr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Easiest to build</a:t>
            </a:r>
          </a:p>
          <a:p>
            <a:pPr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No vector database required</a:t>
            </a:r>
          </a:p>
          <a:p>
            <a:pPr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Low development effort</a:t>
            </a:r>
          </a:p>
          <a:p>
            <a:pPr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Good for small documents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412F81-1357-B139-1D6F-2766206A6F31}"/>
              </a:ext>
            </a:extLst>
          </p:cNvPr>
          <p:cNvSpPr txBox="1"/>
          <p:nvPr/>
        </p:nvSpPr>
        <p:spPr>
          <a:xfrm>
            <a:off x="6348984" y="3093154"/>
            <a:ext cx="619048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Limitations</a:t>
            </a:r>
          </a:p>
          <a:p>
            <a:pPr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❌ Context window limitations</a:t>
            </a:r>
          </a:p>
          <a:p>
            <a:pPr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❌ Expensive for large PDFs</a:t>
            </a:r>
          </a:p>
          <a:p>
            <a:pPr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❌ Slow for hundreds of pages</a:t>
            </a:r>
          </a:p>
          <a:p>
            <a:pPr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❌ Cannot efficiently search documents</a:t>
            </a:r>
          </a:p>
          <a:p>
            <a:pPr>
              <a:buNone/>
            </a:pPr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  <a:p>
            <a:pPr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user uploads a 10-page report.</a:t>
            </a:r>
          </a:p>
          <a:p>
            <a:pPr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Entire report is sent to the LLM.</a:t>
            </a:r>
          </a:p>
          <a:p>
            <a:pPr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Question: What were the Q4 sales figures?</a:t>
            </a:r>
          </a:p>
          <a:p>
            <a:pPr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 reads all 10 pages and answers.</a:t>
            </a:r>
          </a:p>
        </p:txBody>
      </p:sp>
    </p:spTree>
    <p:extLst>
      <p:ext uri="{BB962C8B-B14F-4D97-AF65-F5344CB8AC3E}">
        <p14:creationId xmlns:p14="http://schemas.microsoft.com/office/powerpoint/2010/main" val="9469381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C1603-681D-B9E3-2BDC-FE1B0DE6B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52D91C9-3102-731E-1D49-9E084DC5564A}"/>
              </a:ext>
            </a:extLst>
          </p:cNvPr>
          <p:cNvSpPr txBox="1"/>
          <p:nvPr/>
        </p:nvSpPr>
        <p:spPr>
          <a:xfrm>
            <a:off x="210312" y="0"/>
            <a:ext cx="10479024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Branch B: RAG (Retrieval-Augmented Generation)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PDF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↓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Extraction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↓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Chunking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↓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Embeddings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↓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Vector Database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↓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Retriever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↓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LLM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↓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Answer</a:t>
            </a:r>
          </a:p>
          <a:p>
            <a:endParaRPr lang="en-US"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Components Required: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PDF Parser, Text Chunking, Embedding Model, Vector Database, Retriever, LLM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DE56D0-DEC8-B827-B5BA-D573CC29A0AC}"/>
              </a:ext>
            </a:extLst>
          </p:cNvPr>
          <p:cNvSpPr txBox="1"/>
          <p:nvPr/>
        </p:nvSpPr>
        <p:spPr>
          <a:xfrm>
            <a:off x="6614160" y="671691"/>
            <a:ext cx="6190488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Advantages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Handles thousands of pages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Much cheaper than sending entire PDFs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Fast retrieval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Scales well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Industry standard approach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Limitations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❌ Retrieval can miss relevant chunks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❌ Chunking strategy affects performance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❌ Requires vector database infrastructure</a:t>
            </a:r>
          </a:p>
        </p:txBody>
      </p:sp>
    </p:spTree>
    <p:extLst>
      <p:ext uri="{BB962C8B-B14F-4D97-AF65-F5344CB8AC3E}">
        <p14:creationId xmlns:p14="http://schemas.microsoft.com/office/powerpoint/2010/main" val="2987231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0EC34-2B2B-FF64-0BA0-92D68110C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E4F849B-B488-09ED-EE4A-4048B9B3D8CC}"/>
              </a:ext>
            </a:extLst>
          </p:cNvPr>
          <p:cNvSpPr txBox="1"/>
          <p:nvPr/>
        </p:nvSpPr>
        <p:spPr>
          <a:xfrm>
            <a:off x="210312" y="0"/>
            <a:ext cx="445312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Branch C: Multi-Agent RAG System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PDF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↓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Document Agent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↓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Retriever Agent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↓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Reasoning Agent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↓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Answer Agent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↓</a:t>
            </a:r>
            <a:b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Final Response</a:t>
            </a:r>
          </a:p>
          <a:p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Components Required: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PDF Parser , Vector Database , Multiple Specialized Agents, Agent Orchestrator (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LangGraph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CrewAI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), LLM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2CA489-50F3-F5CA-A881-E256D182A48B}"/>
              </a:ext>
            </a:extLst>
          </p:cNvPr>
          <p:cNvSpPr txBox="1"/>
          <p:nvPr/>
        </p:nvSpPr>
        <p:spPr>
          <a:xfrm>
            <a:off x="5742432" y="441174"/>
            <a:ext cx="671169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Agent Responsibilities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Document Agent: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Understands document structure and finds sections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Retriever Agent: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Retrieves relevant content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Reasoning Agent: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Synthesizes evidence and Resolves contradictions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Answer Agent: 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Creates final response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BCC52F-885C-0153-AC9F-F7E494A0D45A}"/>
              </a:ext>
            </a:extLst>
          </p:cNvPr>
          <p:cNvSpPr txBox="1"/>
          <p:nvPr/>
        </p:nvSpPr>
        <p:spPr>
          <a:xfrm>
            <a:off x="5923788" y="3054096"/>
            <a:ext cx="6268212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Advantages</a:t>
            </a:r>
          </a:p>
          <a:p>
            <a:pPr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Highest accuracy</a:t>
            </a:r>
          </a:p>
          <a:p>
            <a:pPr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Better reasoning</a:t>
            </a:r>
          </a:p>
          <a:p>
            <a:pPr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Handles complex questions</a:t>
            </a:r>
          </a:p>
          <a:p>
            <a:pPr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Easier to extend</a:t>
            </a:r>
          </a:p>
          <a:p>
            <a:pPr>
              <a:buNone/>
            </a:pPr>
            <a:endParaRPr lang="en-US" sz="2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Limitations</a:t>
            </a:r>
          </a:p>
          <a:p>
            <a:pPr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❌ Most expensive</a:t>
            </a:r>
          </a:p>
          <a:p>
            <a:pPr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❌ Higher latency</a:t>
            </a:r>
          </a:p>
          <a:p>
            <a:pPr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❌ More engineering effort</a:t>
            </a:r>
          </a:p>
          <a:p>
            <a:pPr>
              <a:buNone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❌ More infrastructure to maintain</a:t>
            </a:r>
          </a:p>
        </p:txBody>
      </p:sp>
    </p:spTree>
    <p:extLst>
      <p:ext uri="{BB962C8B-B14F-4D97-AF65-F5344CB8AC3E}">
        <p14:creationId xmlns:p14="http://schemas.microsoft.com/office/powerpoint/2010/main" val="1493802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8DE3D-BD4D-B02E-6934-4653680E6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CE65304-65B1-B40D-918A-D9D334B858D6}"/>
              </a:ext>
            </a:extLst>
          </p:cNvPr>
          <p:cNvSpPr txBox="1"/>
          <p:nvPr/>
        </p:nvSpPr>
        <p:spPr>
          <a:xfrm>
            <a:off x="594360" y="962098"/>
            <a:ext cx="1078077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to Use Tree of Thoughts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Tree of Thoughts is useful when: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Making strategic decisions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Brainstorming creative solutions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Solving complex business or technical problems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Evaluating multiple alternatives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Planning projects</a:t>
            </a:r>
          </a:p>
        </p:txBody>
      </p:sp>
    </p:spTree>
    <p:extLst>
      <p:ext uri="{BB962C8B-B14F-4D97-AF65-F5344CB8AC3E}">
        <p14:creationId xmlns:p14="http://schemas.microsoft.com/office/powerpoint/2010/main" val="35713081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51B52-7056-10DF-A6C3-BCC15C917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9E613FD-060E-9BB1-9F8E-690F34778479}"/>
              </a:ext>
            </a:extLst>
          </p:cNvPr>
          <p:cNvSpPr txBox="1"/>
          <p:nvPr/>
        </p:nvSpPr>
        <p:spPr>
          <a:xfrm>
            <a:off x="594360" y="962098"/>
            <a:ext cx="1078077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Reflexion – Asking AI to Critique and Improve Its Own Output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Reflexion?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Reflexion is a technique where AI is asked to: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 an answer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Critically analyze its answer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Improve or correct its response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technique helps AI simulate self-review and quality improvement.</a:t>
            </a:r>
          </a:p>
        </p:txBody>
      </p:sp>
    </p:spTree>
    <p:extLst>
      <p:ext uri="{BB962C8B-B14F-4D97-AF65-F5344CB8AC3E}">
        <p14:creationId xmlns:p14="http://schemas.microsoft.com/office/powerpoint/2010/main" val="3841657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56AD4-5FB2-D1D3-FCD5-4DF1BEF3D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729781D-9EE0-DEB0-55AD-8492AA6D98B1}"/>
              </a:ext>
            </a:extLst>
          </p:cNvPr>
          <p:cNvSpPr txBox="1"/>
          <p:nvPr/>
        </p:nvSpPr>
        <p:spPr>
          <a:xfrm>
            <a:off x="594360" y="962098"/>
            <a:ext cx="1078077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Without Reflexion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 an email requesting leave.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provides one response without quality review.</a:t>
            </a:r>
          </a:p>
        </p:txBody>
      </p:sp>
    </p:spTree>
    <p:extLst>
      <p:ext uri="{BB962C8B-B14F-4D97-AF65-F5344CB8AC3E}">
        <p14:creationId xmlns:p14="http://schemas.microsoft.com/office/powerpoint/2010/main" val="37421284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463A9-2625-55E3-688F-2A075A045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E34F403-E6E2-F064-D91B-F6920C2FA603}"/>
              </a:ext>
            </a:extLst>
          </p:cNvPr>
          <p:cNvSpPr txBox="1"/>
          <p:nvPr/>
        </p:nvSpPr>
        <p:spPr>
          <a:xfrm>
            <a:off x="594360" y="962098"/>
            <a:ext cx="1078077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 Reflexion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 an email requesting leave.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After writing the email: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1. Review the email for clarity and professionalism.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2. Suggest improvements.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3. Provide a revised version.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produces higher quality results.</a:t>
            </a:r>
          </a:p>
        </p:txBody>
      </p:sp>
    </p:spTree>
    <p:extLst>
      <p:ext uri="{BB962C8B-B14F-4D97-AF65-F5344CB8AC3E}">
        <p14:creationId xmlns:p14="http://schemas.microsoft.com/office/powerpoint/2010/main" val="19245864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CA13FA-1786-D429-BA05-3558AC573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03FB27-8A7A-B0AC-D783-939BCC710AD6}"/>
              </a:ext>
            </a:extLst>
          </p:cNvPr>
          <p:cNvSpPr txBox="1"/>
          <p:nvPr/>
        </p:nvSpPr>
        <p:spPr>
          <a:xfrm>
            <a:off x="594360" y="962098"/>
            <a:ext cx="1078077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to Use Reflexion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Reflexion is particularly useful for: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Writing tasks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Coding improvement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Research summaries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Report generation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Professional communication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0046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38637-34A4-5823-0295-B44C7D068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3231D9-4864-38C8-005A-92F70A4C42E9}"/>
              </a:ext>
            </a:extLst>
          </p:cNvPr>
          <p:cNvSpPr txBox="1"/>
          <p:nvPr/>
        </p:nvSpPr>
        <p:spPr>
          <a:xfrm>
            <a:off x="594360" y="962098"/>
            <a:ext cx="1078077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Self-Consistency – Generating Multiple Answers and Choosing the Best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Self-Consistency?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Self-Consistency is a technique where AI is asked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 multiple independent answers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the same question and then select the most reliable or common answer.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process usually involves: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Ask AI to generate multiple solutions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Compare the solutions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Choose the most logical or consistent answer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 trusting one output, this method relies on repeated reasoning.</a:t>
            </a:r>
          </a:p>
        </p:txBody>
      </p:sp>
    </p:spTree>
    <p:extLst>
      <p:ext uri="{BB962C8B-B14F-4D97-AF65-F5344CB8AC3E}">
        <p14:creationId xmlns:p14="http://schemas.microsoft.com/office/powerpoint/2010/main" val="1152736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BD0B6-B943-A5A3-DE01-60278E801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DCEF806-08E1-D525-BB87-813853BADFEC}"/>
              </a:ext>
            </a:extLst>
          </p:cNvPr>
          <p:cNvSpPr txBox="1"/>
          <p:nvPr/>
        </p:nvSpPr>
        <p:spPr>
          <a:xfrm>
            <a:off x="310896" y="962098"/>
            <a:ext cx="1106424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Without Self-Consistency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Solve this math problem: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 train travels at a speed of 40 km/h for 3 hours.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It then travels at 60 km/h for 2 hour.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What is the average speed of the train for the entire journey? 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may produce one answer without verification.</a:t>
            </a:r>
          </a:p>
        </p:txBody>
      </p:sp>
    </p:spTree>
    <p:extLst>
      <p:ext uri="{BB962C8B-B14F-4D97-AF65-F5344CB8AC3E}">
        <p14:creationId xmlns:p14="http://schemas.microsoft.com/office/powerpoint/2010/main" val="30968122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36EBE-FF25-3852-A129-5F721F67D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B7062CE-D549-AE2D-B7F3-0B0FC240089F}"/>
              </a:ext>
            </a:extLst>
          </p:cNvPr>
          <p:cNvSpPr txBox="1"/>
          <p:nvPr/>
        </p:nvSpPr>
        <p:spPr>
          <a:xfrm>
            <a:off x="310896" y="962098"/>
            <a:ext cx="1106424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 Self-Consistency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Solve this math problem using three different </a:t>
            </a:r>
            <a:r>
              <a:rPr 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reasoning methods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A train travels at a speed of 40 km/h for 3 hours.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It then travels at 60 km/h for 2 hour.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What is the average speed of the train for the entire journey? 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After solving:</a:t>
            </a:r>
          </a:p>
          <a:p>
            <a:r>
              <a:rPr 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Compare the results and select the most consistent answer.</a:t>
            </a:r>
          </a:p>
        </p:txBody>
      </p:sp>
    </p:spTree>
    <p:extLst>
      <p:ext uri="{BB962C8B-B14F-4D97-AF65-F5344CB8AC3E}">
        <p14:creationId xmlns:p14="http://schemas.microsoft.com/office/powerpoint/2010/main" val="37891204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0C800-01A3-BADF-538F-DE1775976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6FC2873-24DB-890D-63C8-7175414A54D4}"/>
              </a:ext>
            </a:extLst>
          </p:cNvPr>
          <p:cNvSpPr txBox="1"/>
          <p:nvPr/>
        </p:nvSpPr>
        <p:spPr>
          <a:xfrm>
            <a:off x="310896" y="962098"/>
            <a:ext cx="1106424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to Use Self-Consistency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Self-Consistency is useful for: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Mathematical problems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Logical reasoning tasks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Coding solutions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Data analysis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Scientific calculations</a:t>
            </a:r>
          </a:p>
        </p:txBody>
      </p:sp>
    </p:spTree>
    <p:extLst>
      <p:ext uri="{BB962C8B-B14F-4D97-AF65-F5344CB8AC3E}">
        <p14:creationId xmlns:p14="http://schemas.microsoft.com/office/powerpoint/2010/main" val="17254560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B7326-3770-F0BF-A4DC-89F69DBF6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21F0C0A-3B4F-F885-3134-4DAB1B02C32E}"/>
              </a:ext>
            </a:extLst>
          </p:cNvPr>
          <p:cNvSpPr txBox="1"/>
          <p:nvPr/>
        </p:nvSpPr>
        <p:spPr>
          <a:xfrm>
            <a:off x="310896" y="632914"/>
            <a:ext cx="11512296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Combining All Three Techniques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Combined Prompt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 three different marketing strategies for launching a new mobile app.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each strategy: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Explain implementation steps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Evaluate advantages and disadvantages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Then review all strategies and identify weaknesses.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Finally, choose the most effective strategy and explain why.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------------------------------------------------------------------</a:t>
            </a: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prompt uses: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Tree of Thoughts (multiple strategies)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Reflexion (review weaknesses)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Self-Consistency (choose best option)</a:t>
            </a:r>
          </a:p>
        </p:txBody>
      </p:sp>
    </p:spTree>
    <p:extLst>
      <p:ext uri="{BB962C8B-B14F-4D97-AF65-F5344CB8AC3E}">
        <p14:creationId xmlns:p14="http://schemas.microsoft.com/office/powerpoint/2010/main" val="9122286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25ABB-866E-4103-D915-9B3C4FBDA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3544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319</TotalTime>
  <Words>1055</Words>
  <Application>Microsoft Office PowerPoint</Application>
  <PresentationFormat>Widescreen</PresentationFormat>
  <Paragraphs>215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109</cp:revision>
  <dcterms:created xsi:type="dcterms:W3CDTF">2025-09-22T02:44:38Z</dcterms:created>
  <dcterms:modified xsi:type="dcterms:W3CDTF">2026-06-16T07:06:35Z</dcterms:modified>
</cp:coreProperties>
</file>