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38"/>
  </p:handoutMasterIdLst>
  <p:sldIdLst>
    <p:sldId id="257" r:id="rId2"/>
    <p:sldId id="269" r:id="rId3"/>
    <p:sldId id="281" r:id="rId4"/>
    <p:sldId id="282" r:id="rId5"/>
    <p:sldId id="285" r:id="rId6"/>
    <p:sldId id="286" r:id="rId7"/>
    <p:sldId id="283" r:id="rId8"/>
    <p:sldId id="287" r:id="rId9"/>
    <p:sldId id="288" r:id="rId10"/>
    <p:sldId id="280" r:id="rId11"/>
    <p:sldId id="289" r:id="rId12"/>
    <p:sldId id="270" r:id="rId13"/>
    <p:sldId id="290" r:id="rId14"/>
    <p:sldId id="291" r:id="rId15"/>
    <p:sldId id="293" r:id="rId16"/>
    <p:sldId id="292" r:id="rId17"/>
    <p:sldId id="295" r:id="rId18"/>
    <p:sldId id="294" r:id="rId19"/>
    <p:sldId id="271" r:id="rId20"/>
    <p:sldId id="305" r:id="rId21"/>
    <p:sldId id="296" r:id="rId22"/>
    <p:sldId id="298" r:id="rId23"/>
    <p:sldId id="297" r:id="rId24"/>
    <p:sldId id="272" r:id="rId25"/>
    <p:sldId id="304" r:id="rId26"/>
    <p:sldId id="300" r:id="rId27"/>
    <p:sldId id="274" r:id="rId28"/>
    <p:sldId id="275" r:id="rId29"/>
    <p:sldId id="277" r:id="rId30"/>
    <p:sldId id="301" r:id="rId31"/>
    <p:sldId id="302" r:id="rId32"/>
    <p:sldId id="278" r:id="rId33"/>
    <p:sldId id="276" r:id="rId34"/>
    <p:sldId id="303" r:id="rId35"/>
    <p:sldId id="279" r:id="rId36"/>
    <p:sldId id="273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25ABB-866E-4103-D915-9B3C4FBDA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616293C-CCDF-3858-4367-92B1FBE8A382}"/>
              </a:ext>
            </a:extLst>
          </p:cNvPr>
          <p:cNvSpPr txBox="1"/>
          <p:nvPr/>
        </p:nvSpPr>
        <p:spPr>
          <a:xfrm>
            <a:off x="740664" y="573920"/>
            <a:ext cx="10195560" cy="2008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US" sz="2800" b="1" i="0" u="sng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Content Creation</a:t>
            </a:r>
            <a:r>
              <a:rPr lang="en-US" sz="2800" b="1" u="sng" dirty="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 Prompt</a:t>
            </a:r>
            <a:endParaRPr lang="en-US" sz="2800" b="1" i="0" u="sng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Anthropic Sans"/>
            </a:endParaRPr>
          </a:p>
          <a:p>
            <a:pPr algn="l">
              <a:spcAft>
                <a:spcPts val="1200"/>
              </a:spcAft>
              <a:buNone/>
            </a:pPr>
            <a:r>
              <a:rPr lang="en-US" sz="28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Prompts that generate original text — blogs, emails, social posts, scripts, ad copy. </a:t>
            </a:r>
          </a:p>
          <a:p>
            <a:pPr algn="l">
              <a:spcAft>
                <a:spcPts val="1200"/>
              </a:spcAft>
              <a:buNone/>
            </a:pPr>
            <a:r>
              <a:rPr lang="en-US" sz="28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The key is specifying tone, audience, length, and format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.</a:t>
            </a:r>
            <a:endParaRPr lang="en-US" sz="2800" b="0" i="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Anthropic Sans"/>
            </a:endParaRPr>
          </a:p>
        </p:txBody>
      </p:sp>
    </p:spTree>
    <p:extLst>
      <p:ext uri="{BB962C8B-B14F-4D97-AF65-F5344CB8AC3E}">
        <p14:creationId xmlns:p14="http://schemas.microsoft.com/office/powerpoint/2010/main" val="3013544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5C5B0-BE14-4E59-874A-A41BBD846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C66B2F8-E182-B09C-950C-45CAA3664263}"/>
              </a:ext>
            </a:extLst>
          </p:cNvPr>
          <p:cNvSpPr txBox="1"/>
          <p:nvPr/>
        </p:nvSpPr>
        <p:spPr>
          <a:xfrm>
            <a:off x="438912" y="226448"/>
            <a:ext cx="10195560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Blog post:  Use case in content marketing &amp; SEO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are a content strategist and writer for a B2B SaaS company that sells project management software. 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Write a blog post with the following specs: </a:t>
            </a:r>
          </a:p>
          <a:p>
            <a:pPr marL="285750" indent="-285750">
              <a:buFontTx/>
              <a:buChar char="-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Topic: "{topic}“ (E.g.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"Selling towels to hotels“ 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</a:p>
          <a:p>
            <a:pPr marL="285750" indent="-285750">
              <a:buFontTx/>
              <a:buChar char="-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Target audience: {audience} (e.g.,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"mid-level project managers at tech companies"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 </a:t>
            </a:r>
          </a:p>
          <a:p>
            <a:pPr marL="285750" indent="-285750">
              <a:buFontTx/>
              <a:buChar char="-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Tone: Practical, confident, and conversational — no corporate fluff </a:t>
            </a:r>
          </a:p>
          <a:p>
            <a:pPr marL="285750" indent="-285750">
              <a:buFontTx/>
              <a:buChar char="-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Word count: 300-400 words </a:t>
            </a:r>
          </a:p>
          <a:p>
            <a:pPr marL="285750" indent="-285750">
              <a:buFontTx/>
              <a:buChar char="-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Structure: </a:t>
            </a:r>
          </a:p>
          <a:p>
            <a:pPr lvl="1"/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Hook (1–2 sentences that open with a relatable pain point) </a:t>
            </a:r>
          </a:p>
          <a:p>
            <a:pPr lvl="1"/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Why this matters now (1 short paragraph) </a:t>
            </a:r>
          </a:p>
          <a:p>
            <a:pPr lvl="1"/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3–5 actionable tips, each with a subheading and a real-world example </a:t>
            </a:r>
          </a:p>
          <a:p>
            <a:pPr lvl="1"/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Closing CTA encouraging readers to try the product 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SEO keyword to include naturally (do not stuff): “e.g.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{towels, linens, hotels, bedsheets}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 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 not use: buzzwords like "synergy", "game-changer", or "leverage".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 bullet walls — use prose paragraphs under each tip subheading.</a:t>
            </a:r>
          </a:p>
        </p:txBody>
      </p:sp>
    </p:spTree>
    <p:extLst>
      <p:ext uri="{BB962C8B-B14F-4D97-AF65-F5344CB8AC3E}">
        <p14:creationId xmlns:p14="http://schemas.microsoft.com/office/powerpoint/2010/main" val="3104041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BC622-467C-07A7-C699-38716E143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4E84AF6-8243-E643-BD9F-144FB4AD11BA}"/>
              </a:ext>
            </a:extLst>
          </p:cNvPr>
          <p:cNvSpPr txBox="1"/>
          <p:nvPr/>
        </p:nvSpPr>
        <p:spPr>
          <a:xfrm>
            <a:off x="438912" y="226448"/>
            <a:ext cx="11667744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Email: Use case in sales outreach &amp; CRM automation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are a senior sales development rep writing cold outreach emails. Your emails are short, human, and never sound like templates.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Write a cold outreach email using these inputs: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Sender name: {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sender_name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}, {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sender_title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} at {company}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Recipient: {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first_name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}, {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recipient_title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} at {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recipient_company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}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Context/trigger: {trigger} (e.g., "they just raised a Series B", "posted a LinkedIn article about hiring challenges")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Goal: Book a 20-minute discovery call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Product value proposition: {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value_prop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}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Rules: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Subject line: under 8 words, no clickbait, no all-caps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Body: 3 short paragraphs max (opener referencing the trigger, one-line value prop, low-friction CTA)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Total word count: 80–120 words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Do NOT open with "I hope this email finds you well" or "My name is…"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Sign off with first name only</a:t>
            </a:r>
          </a:p>
        </p:txBody>
      </p:sp>
    </p:spTree>
    <p:extLst>
      <p:ext uri="{BB962C8B-B14F-4D97-AF65-F5344CB8AC3E}">
        <p14:creationId xmlns:p14="http://schemas.microsoft.com/office/powerpoint/2010/main" val="922754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F6275-C370-82B5-14C2-1FF710CAD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465411A-F3FA-27ED-315D-85708FF507AA}"/>
              </a:ext>
            </a:extLst>
          </p:cNvPr>
          <p:cNvSpPr txBox="1"/>
          <p:nvPr/>
        </p:nvSpPr>
        <p:spPr>
          <a:xfrm>
            <a:off x="438912" y="226448"/>
            <a:ext cx="11667744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are a senior sales development rep writing cold outreach emails. Your emails are short, human, and never sound like templates.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Write a cold outreach email using these inputs: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Sender name: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Loxford, Manager at Loxford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Recipient: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John Doe, CEO at ABC Company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Context/trigger: {trigger}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("posted a LinkedIn article about hiring challenges")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Goal: Book a 10-minute discovery call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Product value proposition: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{Provide fresh interns} 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Rules: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Subject line: under 8 words, no clickbait, no all-caps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Body: 3 short paragraphs max (opener referencing the trigger, one-line value prop, low-friction CTA)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Total word count: 80–120 words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Do NOT open with "I hope this email finds you well" or "My name is…"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Sign off with first name only</a:t>
            </a:r>
          </a:p>
        </p:txBody>
      </p:sp>
    </p:spTree>
    <p:extLst>
      <p:ext uri="{BB962C8B-B14F-4D97-AF65-F5344CB8AC3E}">
        <p14:creationId xmlns:p14="http://schemas.microsoft.com/office/powerpoint/2010/main" val="1141231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634A4-04CD-F10A-864A-025AC4F82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EDCEE5-3245-92BA-D2EC-441CE1FCC8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9172" y="1225296"/>
            <a:ext cx="8921613" cy="4803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7053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74123-4DFF-3DD3-B91A-3EC546FB9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68B67E9-7DE1-0BE4-EFC7-3C57D2DFF62F}"/>
              </a:ext>
            </a:extLst>
          </p:cNvPr>
          <p:cNvSpPr txBox="1"/>
          <p:nvPr/>
        </p:nvSpPr>
        <p:spPr>
          <a:xfrm>
            <a:off x="438912" y="226448"/>
            <a:ext cx="11667744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Social media post Social: Use case in brand social media &amp; community building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manage the LinkedIn page for a fintech startup. Write a LinkedIn post about the following: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Topic: {topic} (e.g., "we just hit 10,000 customers")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Angle: {angle} (e.g., "lessons learned", "thank you moment", "surprising stat")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Tone: Authentic founder voice — honest, warm, slightly vulnerable. Not a press release.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Format rules: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First line: a single punchy sentence (no more than 12 words) that works as a standalone hook in the feed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Line break after the first sentence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Body: 3–5 short paragraphs, each 1–3 lines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End with a question to drive comments (genuine, not "What do you think?")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Hashtags: 3 max, placed at the very end on their own line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No emojis unless 1–2 are used purposefully (not decoratively)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Total length: 150–220 words</a:t>
            </a:r>
          </a:p>
        </p:txBody>
      </p:sp>
    </p:spTree>
    <p:extLst>
      <p:ext uri="{BB962C8B-B14F-4D97-AF65-F5344CB8AC3E}">
        <p14:creationId xmlns:p14="http://schemas.microsoft.com/office/powerpoint/2010/main" val="14831457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8F5AA-31C8-DE07-2A61-AFF96E66F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D771CED-E0C3-126B-7A24-FB25199552ED}"/>
              </a:ext>
            </a:extLst>
          </p:cNvPr>
          <p:cNvSpPr txBox="1"/>
          <p:nvPr/>
        </p:nvSpPr>
        <p:spPr>
          <a:xfrm>
            <a:off x="438912" y="226448"/>
            <a:ext cx="11667744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-&gt;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manage the LinkedIn page for a fintech startup. Write a LinkedIn post about the following: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Topic: "we just hit 10,000 customers"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Angle: {angle} (e.g., "lessons learned- be persistent, follow up on all leads, do not under estimate marketing campaign", "thank you all who read out article and reposted them")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Tone: Authentic founder voice — honest, warm, slightly vulnerable. Not a press release.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Format rules: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First line: a single punchy sentence (no more than 12 words) that works as a standalone hook in the feed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Line break after the first sentence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Body: 3–5 short paragraphs, each 1–3 lines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End with a question to drive comments (genuine, not "What do you think?")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Hashtags: 3 max, placed at the very end on their own line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No emojis unless 1–2 are used purposefully (not decoratively)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Total length: 150–220 words</a:t>
            </a:r>
          </a:p>
        </p:txBody>
      </p:sp>
    </p:spTree>
    <p:extLst>
      <p:ext uri="{BB962C8B-B14F-4D97-AF65-F5344CB8AC3E}">
        <p14:creationId xmlns:p14="http://schemas.microsoft.com/office/powerpoint/2010/main" val="5818464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7E08B-EC63-FFAC-28AC-C938B1DC8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439C90-E1DF-0BCC-EDDB-BF433AF089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3664" y="470591"/>
            <a:ext cx="8229006" cy="5668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1756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8FD3A-73B4-CDEA-BE93-EEEA339D3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8833248-D120-8FD2-DB09-FA651336CF80}"/>
              </a:ext>
            </a:extLst>
          </p:cNvPr>
          <p:cNvSpPr txBox="1"/>
          <p:nvPr/>
        </p:nvSpPr>
        <p:spPr>
          <a:xfrm>
            <a:off x="288036" y="618667"/>
            <a:ext cx="11903964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000" b="1" i="0" u="sng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Video </a:t>
            </a:r>
            <a:r>
              <a:rPr lang="en-US" sz="2000" b="1" i="0" u="sng" dirty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script:Use</a:t>
            </a:r>
            <a:r>
              <a:rPr lang="en-US" sz="2000" b="1" i="0" u="sng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 case in YouTube, product demos &amp; explainer videos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  <a:latin typeface="Anthropic Sans"/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You are a scriptwriter for short-form explainer videos. Write a video script with the following parameters: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  <a:latin typeface="Anthropic Sans"/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- Product/topic: {topic}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- Video length: {duration} (e.g., "60 seconds", "90 seconds")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- Platform: {platform} (e.g., YouTube, Instagram Reels, LinkedIn Video)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- Goal: {goal} (e.g., "explain a feature", "drive sign-ups", "build brand awareness")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- Viewer: {audience}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  <a:latin typeface="Anthropic Sans"/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Script format: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[HOOK] — 0:00–0:05: One provocative question or bold statement. No "Hi, I'm…" intros.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[PROBLEM] — 0:05–0:15: Name the pain point in one concrete sentence.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[SOLUTION] — 0:15–0:45: Explain the product/idea simply. Use an analogy if helpful.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[PROOF] — 0:45–0:55: One stat, testimonial snippet, or before/after result.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[CTA] — 0:55–1:00: Single, specific action. ("Link in bio." not "Check us out.")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  <a:latin typeface="Anthropic Sans"/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For each section, include a [VISUAL CUE] on a new line describing what should appear on screen.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Writing style: spoken word, not written word. Short sentences. No jargon.</a:t>
            </a:r>
            <a:endParaRPr lang="en-US" sz="2000" i="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Anthropic Sans"/>
            </a:endParaRPr>
          </a:p>
        </p:txBody>
      </p:sp>
    </p:spTree>
    <p:extLst>
      <p:ext uri="{BB962C8B-B14F-4D97-AF65-F5344CB8AC3E}">
        <p14:creationId xmlns:p14="http://schemas.microsoft.com/office/powerpoint/2010/main" val="25284659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B7C4C-31CB-041D-7D25-610D137E5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10645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0C417-AE3C-2FCE-3FBA-23B1F9100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1162D6-B14C-7CD0-DFA4-1D2B98A185C7}"/>
              </a:ext>
            </a:extLst>
          </p:cNvPr>
          <p:cNvSpPr txBox="1"/>
          <p:nvPr/>
        </p:nvSpPr>
        <p:spPr>
          <a:xfrm>
            <a:off x="762000" y="1579760"/>
            <a:ext cx="11430000" cy="157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US" sz="2800" b="1" i="0" u="sng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Coding</a:t>
            </a:r>
            <a:r>
              <a:rPr lang="en-US" sz="2800" b="1" u="sng" dirty="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 Prompt</a:t>
            </a:r>
            <a:endParaRPr lang="en-US" sz="2800" b="1" i="0" u="sng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Anthropic Sans"/>
            </a:endParaRPr>
          </a:p>
          <a:p>
            <a:pPr algn="l">
              <a:spcAft>
                <a:spcPts val="1200"/>
              </a:spcAft>
              <a:buNone/>
            </a:pPr>
            <a:r>
              <a:rPr lang="en-US" sz="28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Prompts for writing, debugging, explaining, or reviewing code. </a:t>
            </a:r>
          </a:p>
          <a:p>
            <a:pPr algn="l">
              <a:spcAft>
                <a:spcPts val="1200"/>
              </a:spcAft>
              <a:buNone/>
            </a:pPr>
            <a:r>
              <a:rPr lang="en-US" sz="28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Always specify the language, context, and what "done" looks like.</a:t>
            </a:r>
          </a:p>
        </p:txBody>
      </p:sp>
    </p:spTree>
    <p:extLst>
      <p:ext uri="{BB962C8B-B14F-4D97-AF65-F5344CB8AC3E}">
        <p14:creationId xmlns:p14="http://schemas.microsoft.com/office/powerpoint/2010/main" val="5235387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417C0-A3A6-1989-C852-4AEDEC169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0E9CF67-991A-B550-B917-3E2E8A8E94CC}"/>
              </a:ext>
            </a:extLst>
          </p:cNvPr>
          <p:cNvSpPr txBox="1"/>
          <p:nvPr/>
        </p:nvSpPr>
        <p:spPr>
          <a:xfrm>
            <a:off x="109728" y="166568"/>
            <a:ext cx="11710416" cy="6524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Writing code: Use case is in to generate a working Python function from requirements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are a senior Python developer. Write a Python function based on the following requirements.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Function name: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parse_csv_to_dict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Purpose: Read a CSV file and return its contents as a list of dictionaries, where each row is a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dict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keyed by column headers.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Requirements: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Use Python's built-in csv module (no pandas)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Handle missing values by replacing them with None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Strip leading/trailing whitespace from all keys and values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If the file does not exist, raise a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FileNotFoundError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with a clear message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If the file is empty, return an empty list []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Constraints: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Python 3.10+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Include type hints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Add a concise docstring (one-line summary +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Args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+ Returns + Raises)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Do not use global variables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No external dependencies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After the function, include 3 usage examples as inline comments showing different scenarios (normal file, missing file, empty file).</a:t>
            </a:r>
          </a:p>
        </p:txBody>
      </p:sp>
    </p:spTree>
    <p:extLst>
      <p:ext uri="{BB962C8B-B14F-4D97-AF65-F5344CB8AC3E}">
        <p14:creationId xmlns:p14="http://schemas.microsoft.com/office/powerpoint/2010/main" val="14124155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3F98D-D369-D6D1-AE95-9D90F54C8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8A82A9B-AE70-7E94-0125-1D847775C88B}"/>
              </a:ext>
            </a:extLst>
          </p:cNvPr>
          <p:cNvSpPr txBox="1"/>
          <p:nvPr/>
        </p:nvSpPr>
        <p:spPr>
          <a:xfrm>
            <a:off x="124968" y="135008"/>
            <a:ext cx="11430000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Review Python code for quality, safety, and best practices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are a senior Python engineer doing a code review. Review the function below as if it were a pull request submitted by a junior developer.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```python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import sqlite3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def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get_user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(username):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conn = sqlite3.connect("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app.db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")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cursor =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conn.cursor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()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query = "SELECT * FROM users WHERE username = '" + username + "'"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cursor.execute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(query)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result =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cursor.fetchone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()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return result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```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Continued..</a:t>
            </a:r>
          </a:p>
        </p:txBody>
      </p:sp>
    </p:spTree>
    <p:extLst>
      <p:ext uri="{BB962C8B-B14F-4D97-AF65-F5344CB8AC3E}">
        <p14:creationId xmlns:p14="http://schemas.microsoft.com/office/powerpoint/2010/main" val="41730669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7FD2F-C5CE-398C-E516-FE253A9BF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9F128E-0E89-3A97-B7E6-3EA55D4C0342}"/>
              </a:ext>
            </a:extLst>
          </p:cNvPr>
          <p:cNvSpPr txBox="1"/>
          <p:nvPr/>
        </p:nvSpPr>
        <p:spPr>
          <a:xfrm>
            <a:off x="124968" y="135008"/>
            <a:ext cx="1143000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…continued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Review criteria — evaluate and comment on each: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Security: any vulnerabilities? (be specific about attack vectors)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Error handling: what happens when things go wrong?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Resource management: are connections/cursors handled correctly?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Code style: PEP 8 compliance, naming, readability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Performance: any unnecessary operations?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Format your review as: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A severity rating per issue: Critical / Warning / Suggestion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A one-line description of the problem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A code snippet showing the fix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End with a rewritten version of the full function incorporating all fixes.</a:t>
            </a:r>
          </a:p>
        </p:txBody>
      </p:sp>
    </p:spTree>
    <p:extLst>
      <p:ext uri="{BB962C8B-B14F-4D97-AF65-F5344CB8AC3E}">
        <p14:creationId xmlns:p14="http://schemas.microsoft.com/office/powerpoint/2010/main" val="18330721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B721D-E9ED-26EB-D188-EBFD19748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621855B-6413-1DBB-B96B-3587EA996FC1}"/>
              </a:ext>
            </a:extLst>
          </p:cNvPr>
          <p:cNvSpPr txBox="1"/>
          <p:nvPr/>
        </p:nvSpPr>
        <p:spPr>
          <a:xfrm>
            <a:off x="298704" y="80144"/>
            <a:ext cx="114300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Explaining code: Understand unfamiliar or complex Python code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are a Python instructor explaining code to a beginner developer with 3 months of experience. They understand variables, loops, and functions — but not decorators, generators, or advanced concepts.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Explain the following code: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```python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from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functools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import wraps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import time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def retry(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max_attempts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=3, delay=1.0):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def decorator(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func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):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@wraps(func)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def wrapper(*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args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**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kwargs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):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for attempt in range(1,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max_attempts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+ 1):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    try: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        return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func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(*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args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**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kwargs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    except Exception as e: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        if attempt ==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max_attempts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            raise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       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time.sleep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(delay)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return wrapper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return decorator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```     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continued….</a:t>
            </a:r>
          </a:p>
        </p:txBody>
      </p:sp>
    </p:spTree>
    <p:extLst>
      <p:ext uri="{BB962C8B-B14F-4D97-AF65-F5344CB8AC3E}">
        <p14:creationId xmlns:p14="http://schemas.microsoft.com/office/powerpoint/2010/main" val="1246626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2112E-79D5-D4FA-B170-B66EDF244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C778FD6-FD91-687D-C4F9-BA334AC4A8AD}"/>
              </a:ext>
            </a:extLst>
          </p:cNvPr>
          <p:cNvSpPr txBox="1"/>
          <p:nvPr/>
        </p:nvSpPr>
        <p:spPr>
          <a:xfrm>
            <a:off x="381000" y="436760"/>
            <a:ext cx="11430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…continued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Explanation format: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One-sentence summary: what does this code do overall?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Line-by-line walkthrough: group related lines, explain each group in plain English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Analogy: use a real-world analogy to explain the concept of a retry decorator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When would you use this? Give one concrete real-world scenario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One thing to watch out for: a common mistake or gotcha a beginner might hit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 not use the words "decorator", "wrapper", or "closure" without first explaining what they mean in plain English.</a:t>
            </a:r>
          </a:p>
        </p:txBody>
      </p:sp>
    </p:spTree>
    <p:extLst>
      <p:ext uri="{BB962C8B-B14F-4D97-AF65-F5344CB8AC3E}">
        <p14:creationId xmlns:p14="http://schemas.microsoft.com/office/powerpoint/2010/main" val="20007510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743A4-3745-9E91-0165-4A79D6624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AEF1E75-EB0B-77FF-4E83-ECEC0FDB6AF6}"/>
              </a:ext>
            </a:extLst>
          </p:cNvPr>
          <p:cNvSpPr txBox="1"/>
          <p:nvPr/>
        </p:nvSpPr>
        <p:spPr>
          <a:xfrm>
            <a:off x="381000" y="436760"/>
            <a:ext cx="11430000" cy="2569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50"/>
              </a:spcAft>
              <a:buNone/>
            </a:pPr>
            <a:endParaRPr lang="en-US" b="0" i="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Anthropic Sans"/>
            </a:endParaRPr>
          </a:p>
          <a:p>
            <a:pPr algn="l">
              <a:spcAft>
                <a:spcPts val="450"/>
              </a:spcAft>
              <a:buNone/>
            </a:pPr>
            <a:r>
              <a:rPr lang="en-US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Debug Code</a:t>
            </a:r>
          </a:p>
          <a:p>
            <a:pPr algn="l">
              <a:spcAft>
                <a:spcPts val="750"/>
              </a:spcAft>
              <a:buNone/>
            </a:pPr>
            <a:r>
              <a:rPr lang="en-US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ui-monospace"/>
              </a:rPr>
              <a:t>This JavaScript function is supposed to return unique values from an array but it's returning duplicates. </a:t>
            </a:r>
          </a:p>
          <a:p>
            <a:pPr algn="l">
              <a:spcAft>
                <a:spcPts val="750"/>
              </a:spcAft>
              <a:buNone/>
            </a:pPr>
            <a:r>
              <a:rPr lang="en-US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ui-monospace"/>
              </a:rPr>
              <a:t>Here's the code: [paste code]. </a:t>
            </a:r>
          </a:p>
          <a:p>
            <a:pPr algn="l">
              <a:spcAft>
                <a:spcPts val="750"/>
              </a:spcAft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  <a:latin typeface="ui-monospace"/>
            </a:endParaRPr>
          </a:p>
          <a:p>
            <a:pPr algn="l">
              <a:spcAft>
                <a:spcPts val="750"/>
              </a:spcAft>
              <a:buNone/>
            </a:pPr>
            <a:r>
              <a:rPr lang="en-US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ui-monospace"/>
              </a:rPr>
              <a:t>Identify the bug, explain why it happens, and provide the fixed version.</a:t>
            </a:r>
          </a:p>
          <a:p>
            <a:pPr algn="l">
              <a:spcAft>
                <a:spcPts val="450"/>
              </a:spcAft>
              <a:buNone/>
            </a:pPr>
            <a:endParaRPr lang="en-US" b="0" i="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Anthropic Sans"/>
            </a:endParaRPr>
          </a:p>
        </p:txBody>
      </p:sp>
    </p:spTree>
    <p:extLst>
      <p:ext uri="{BB962C8B-B14F-4D97-AF65-F5344CB8AC3E}">
        <p14:creationId xmlns:p14="http://schemas.microsoft.com/office/powerpoint/2010/main" val="27932966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916B3-10E5-DE11-EA8B-098DFFC75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76370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25C7B-CC7E-5214-C029-20E6B2048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04932BC-83C9-ECF0-A2FD-21E36DC54DCD}"/>
              </a:ext>
            </a:extLst>
          </p:cNvPr>
          <p:cNvSpPr txBox="1"/>
          <p:nvPr/>
        </p:nvSpPr>
        <p:spPr>
          <a:xfrm>
            <a:off x="266700" y="728260"/>
            <a:ext cx="11658600" cy="3062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US" sz="2800" b="1" i="0" u="sng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Summarization</a:t>
            </a:r>
            <a:r>
              <a:rPr lang="en-US" sz="2800" b="1" u="sng" dirty="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 Prompt</a:t>
            </a:r>
          </a:p>
          <a:p>
            <a:pPr>
              <a:spcAft>
                <a:spcPts val="300"/>
              </a:spcAft>
            </a:pPr>
            <a:endParaRPr lang="en-US" sz="2800" b="1" i="0" u="sng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Anthropic Sans"/>
            </a:endParaRPr>
          </a:p>
          <a:p>
            <a:pPr algn="l">
              <a:spcAft>
                <a:spcPts val="1200"/>
              </a:spcAft>
              <a:buNone/>
            </a:pPr>
            <a:r>
              <a:rPr lang="en-US" sz="28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Prompts that condense long content. </a:t>
            </a:r>
          </a:p>
          <a:p>
            <a:pPr algn="l">
              <a:spcAft>
                <a:spcPts val="1200"/>
              </a:spcAft>
              <a:buNone/>
            </a:pP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  <a:latin typeface="Anthropic Sans"/>
            </a:endParaRPr>
          </a:p>
          <a:p>
            <a:pPr algn="l">
              <a:spcAft>
                <a:spcPts val="1200"/>
              </a:spcAft>
              <a:buNone/>
            </a:pPr>
            <a:r>
              <a:rPr lang="en-US" sz="28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Control the output by specifying length, format, audience, and what to preserve vs. omit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.</a:t>
            </a:r>
            <a:endParaRPr lang="en-US" sz="2800" b="0" i="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Anthropic Sans"/>
            </a:endParaRPr>
          </a:p>
        </p:txBody>
      </p:sp>
    </p:spTree>
    <p:extLst>
      <p:ext uri="{BB962C8B-B14F-4D97-AF65-F5344CB8AC3E}">
        <p14:creationId xmlns:p14="http://schemas.microsoft.com/office/powerpoint/2010/main" val="2569539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F4ECC-9CF9-D7EF-E8AC-761EAC41A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526BBCB-EE91-46E3-9F21-2A61518AFCCF}"/>
              </a:ext>
            </a:extLst>
          </p:cNvPr>
          <p:cNvSpPr txBox="1"/>
          <p:nvPr/>
        </p:nvSpPr>
        <p:spPr>
          <a:xfrm>
            <a:off x="193548" y="490516"/>
            <a:ext cx="1165860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Meeting transcript summarization:  Business intelligence — turning raw meeting transcripts into executive briefings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are a chief of staff summarizing meeting transcripts for a busy executive who has 2 minutes to read this.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Summarize the transcript below following this exact structure: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**1. Meeting in one sentence** (max 25 words)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State the meeting's purpose and primary outcome.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**2. Key decisions made** (bullet list, max 5 items)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Only include decisions that were explicitly agreed upon — not discussions or suggestions.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**3. Open issues / unresolved questions** (bullet list, max 4 items)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Items that were raised but NOT resolved in this meeting.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**4. Action items** (table with 3 columns: Task | Owner | Deadline)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Only include tasks with a named owner. If no deadline was stated, write "TBD".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**5. What the executive needs to do** (bullet list, max 3 items)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Only items that require the executive's direct input, approval, or attention.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Cont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…..</a:t>
            </a:r>
          </a:p>
        </p:txBody>
      </p:sp>
    </p:spTree>
    <p:extLst>
      <p:ext uri="{BB962C8B-B14F-4D97-AF65-F5344CB8AC3E}">
        <p14:creationId xmlns:p14="http://schemas.microsoft.com/office/powerpoint/2010/main" val="23771535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89E84-A0B7-1B0A-4D89-A2F164D92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7BCC73-F42E-A2FC-C4D3-62A498CA8BC1}"/>
              </a:ext>
            </a:extLst>
          </p:cNvPr>
          <p:cNvSpPr txBox="1"/>
          <p:nvPr/>
        </p:nvSpPr>
        <p:spPr>
          <a:xfrm>
            <a:off x="193548" y="490516"/>
            <a:ext cx="116586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…cont.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Rules: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Write in past tense for decisions; present tense for action items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Do not include filler, pleasantries, or off-topic tangents from the transcript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If a section has nothing to report, write "None" — do not omit the section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Do not infer decisions that were not explicitly stated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Maximum total length: 300 words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Transcript: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"""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{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transcript_text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}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"""</a:t>
            </a:r>
          </a:p>
        </p:txBody>
      </p:sp>
    </p:spTree>
    <p:extLst>
      <p:ext uri="{BB962C8B-B14F-4D97-AF65-F5344CB8AC3E}">
        <p14:creationId xmlns:p14="http://schemas.microsoft.com/office/powerpoint/2010/main" val="30276547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68A53-3041-62AE-2783-7C119B8D0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83F25C5-0D4D-0C35-C58A-F75629C92618}"/>
              </a:ext>
            </a:extLst>
          </p:cNvPr>
          <p:cNvSpPr txBox="1"/>
          <p:nvPr/>
        </p:nvSpPr>
        <p:spPr>
          <a:xfrm>
            <a:off x="266700" y="728260"/>
            <a:ext cx="11658600" cy="3690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US" b="1" i="0" u="sng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Summarization</a:t>
            </a:r>
            <a:r>
              <a:rPr lang="en-US" b="1" u="sng" dirty="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 Prompt</a:t>
            </a:r>
            <a:endParaRPr lang="en-US" b="1" i="0" u="sng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Anthropic Sans"/>
            </a:endParaRPr>
          </a:p>
          <a:p>
            <a:pPr algn="l">
              <a:spcAft>
                <a:spcPts val="1200"/>
              </a:spcAft>
              <a:buNone/>
            </a:pPr>
            <a:r>
              <a:rPr lang="en-US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Prompts that condense long content. Control the output by specifying length, format, audience, and what to preserve vs. omit.</a:t>
            </a:r>
          </a:p>
          <a:p>
            <a:pPr algn="l">
              <a:spcAft>
                <a:spcPts val="450"/>
              </a:spcAft>
              <a:buNone/>
            </a:pPr>
            <a:endParaRPr lang="en-US" b="0" i="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Anthropic Sans"/>
            </a:endParaRPr>
          </a:p>
          <a:p>
            <a:pPr algn="l">
              <a:spcAft>
                <a:spcPts val="450"/>
              </a:spcAft>
              <a:buNone/>
            </a:pPr>
            <a:r>
              <a:rPr lang="en-US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Article Summary</a:t>
            </a:r>
          </a:p>
          <a:p>
            <a:pPr algn="l">
              <a:spcAft>
                <a:spcPts val="750"/>
              </a:spcAft>
              <a:buNone/>
            </a:pPr>
            <a:r>
              <a:rPr lang="en-US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ui-monospace"/>
              </a:rPr>
              <a:t>Summarize the following research article in 5 bullet points for a non-technical audience. Each bullet should be one sentence. Preserve the key findings but avoid jargon. [paste article]</a:t>
            </a:r>
          </a:p>
          <a:p>
            <a:pPr algn="l">
              <a:spcAft>
                <a:spcPts val="450"/>
              </a:spcAft>
              <a:buNone/>
            </a:pPr>
            <a:endParaRPr lang="en-US" b="0" i="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Anthropic Sans"/>
            </a:endParaRPr>
          </a:p>
          <a:p>
            <a:pPr algn="l">
              <a:spcAft>
                <a:spcPts val="450"/>
              </a:spcAft>
              <a:buNone/>
            </a:pPr>
            <a:r>
              <a:rPr lang="en-US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Executive Summary</a:t>
            </a:r>
          </a:p>
          <a:p>
            <a:pPr algn="l">
              <a:spcAft>
                <a:spcPts val="750"/>
              </a:spcAft>
              <a:buNone/>
            </a:pPr>
            <a:r>
              <a:rPr lang="en-US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ui-monospace"/>
              </a:rPr>
              <a:t>Read the 10-page report below and write a 200-word executive summary. Lead with the most important conclusion. Use active voice and avoid passive constructions. [paste report]</a:t>
            </a:r>
          </a:p>
        </p:txBody>
      </p:sp>
    </p:spTree>
    <p:extLst>
      <p:ext uri="{BB962C8B-B14F-4D97-AF65-F5344CB8AC3E}">
        <p14:creationId xmlns:p14="http://schemas.microsoft.com/office/powerpoint/2010/main" val="28937177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EA40E-7444-9271-2DA8-1124C844D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41547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0E883-2E9C-22ED-561C-14380D32C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1F1C8C-F452-4FEB-B0B7-D69706925898}"/>
              </a:ext>
            </a:extLst>
          </p:cNvPr>
          <p:cNvSpPr txBox="1"/>
          <p:nvPr/>
        </p:nvSpPr>
        <p:spPr>
          <a:xfrm>
            <a:off x="338328" y="1461226"/>
            <a:ext cx="10588752" cy="25930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2800" b="1" i="0" u="sng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Q&amp;A Prompt</a:t>
            </a:r>
          </a:p>
          <a:p>
            <a:pPr algn="l">
              <a:spcAft>
                <a:spcPts val="1200"/>
              </a:spcAft>
              <a:buNone/>
            </a:pPr>
            <a:r>
              <a:rPr lang="en-US" sz="28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Prompts that get precise answers. </a:t>
            </a:r>
          </a:p>
          <a:p>
            <a:pPr algn="l">
              <a:spcAft>
                <a:spcPts val="1200"/>
              </a:spcAft>
              <a:buNone/>
            </a:pP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  <a:latin typeface="Anthropic Sans"/>
            </a:endParaRPr>
          </a:p>
          <a:p>
            <a:pPr algn="l">
              <a:spcAft>
                <a:spcPts val="1200"/>
              </a:spcAft>
              <a:buNone/>
            </a:pPr>
            <a:r>
              <a:rPr lang="en-US" sz="28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Add context, constraints, and format instructions to avoid vague or overly long responses.</a:t>
            </a:r>
          </a:p>
        </p:txBody>
      </p:sp>
    </p:spTree>
    <p:extLst>
      <p:ext uri="{BB962C8B-B14F-4D97-AF65-F5344CB8AC3E}">
        <p14:creationId xmlns:p14="http://schemas.microsoft.com/office/powerpoint/2010/main" val="12302461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610EC-6C72-3227-F215-B937CD616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BE20667-7AA9-7039-8CCA-4A0A02BBAA4B}"/>
              </a:ext>
            </a:extLst>
          </p:cNvPr>
          <p:cNvSpPr txBox="1"/>
          <p:nvPr/>
        </p:nvSpPr>
        <p:spPr>
          <a:xfrm>
            <a:off x="356616" y="299938"/>
            <a:ext cx="10588752" cy="5970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You are a friendly and professional customer support agent for an online electronics store called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TechNest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.</a:t>
            </a:r>
          </a:p>
          <a:p>
            <a:pPr>
              <a:spcAft>
                <a:spcPts val="300"/>
              </a:spcAft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  <a:latin typeface="Anthropic Sans"/>
            </a:endParaRPr>
          </a:p>
          <a:p>
            <a:pPr>
              <a:spcAft>
                <a:spcPts val="300"/>
              </a:spcAft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Your job is to answer customer questions using ONLY the information in the FAQ document below. Follow these rules strictly:</a:t>
            </a:r>
          </a:p>
          <a:p>
            <a:pPr>
              <a:spcAft>
                <a:spcPts val="300"/>
              </a:spcAft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  <a:latin typeface="Anthropic Sans"/>
            </a:endParaRPr>
          </a:p>
          <a:p>
            <a:pPr>
              <a:spcAft>
                <a:spcPts val="300"/>
              </a:spcAft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Rules:</a:t>
            </a:r>
          </a:p>
          <a:p>
            <a:pPr>
              <a:spcAft>
                <a:spcPts val="300"/>
              </a:spcAft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1. Answer only from the FAQ — do not use outside knowledge or make assumptions</a:t>
            </a:r>
          </a:p>
          <a:p>
            <a:pPr>
              <a:spcAft>
                <a:spcPts val="300"/>
              </a:spcAft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2. If the answer is not in the FAQ, say exactly: "I don't have that information right now. For further help, please contact support@technest.com or call 1-800-555-0199."</a:t>
            </a:r>
          </a:p>
          <a:p>
            <a:pPr>
              <a:spcAft>
                <a:spcPts val="300"/>
              </a:spcAft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3. Keep answers concise — 2–4 sentences max</a:t>
            </a:r>
          </a:p>
          <a:p>
            <a:pPr>
              <a:spcAft>
                <a:spcPts val="300"/>
              </a:spcAft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4. Tone: warm, clear, and jargon-free. Never say "per our policy" or "as per"</a:t>
            </a:r>
          </a:p>
          <a:p>
            <a:pPr>
              <a:spcAft>
                <a:spcPts val="300"/>
              </a:spcAft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5. If the question is vague, ask one clarifying question before answering</a:t>
            </a:r>
          </a:p>
          <a:p>
            <a:pPr>
              <a:spcAft>
                <a:spcPts val="300"/>
              </a:spcAft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6. Never invent product specs, prices, or policies</a:t>
            </a:r>
          </a:p>
          <a:p>
            <a:pPr>
              <a:spcAft>
                <a:spcPts val="300"/>
              </a:spcAft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  <a:latin typeface="Anthropic Sans"/>
            </a:endParaRPr>
          </a:p>
          <a:p>
            <a:pPr>
              <a:spcAft>
                <a:spcPts val="300"/>
              </a:spcAft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FAQ Document:     ""“    {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faq_document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}   """</a:t>
            </a:r>
          </a:p>
          <a:p>
            <a:pPr>
              <a:spcAft>
                <a:spcPts val="300"/>
              </a:spcAft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  <a:latin typeface="Anthropic Sans"/>
            </a:endParaRPr>
          </a:p>
          <a:p>
            <a:pPr>
              <a:spcAft>
                <a:spcPts val="300"/>
              </a:spcAft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Customer question:   </a:t>
            </a:r>
          </a:p>
          <a:p>
            <a:pPr>
              <a:spcAft>
                <a:spcPts val="300"/>
              </a:spcAft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""“  {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customer_question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}</a:t>
            </a:r>
          </a:p>
          <a:p>
            <a:pPr>
              <a:spcAft>
                <a:spcPts val="300"/>
              </a:spcAft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"""</a:t>
            </a:r>
            <a:endParaRPr lang="en-US" i="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ui-monospace"/>
            </a:endParaRPr>
          </a:p>
        </p:txBody>
      </p:sp>
    </p:spTree>
    <p:extLst>
      <p:ext uri="{BB962C8B-B14F-4D97-AF65-F5344CB8AC3E}">
        <p14:creationId xmlns:p14="http://schemas.microsoft.com/office/powerpoint/2010/main" val="6821451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61A8E-6A36-F61B-BEB6-173FEE793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97151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5C000-439A-647B-25B4-0E2EE065F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4C769B-32C2-73B3-D2B7-302E16728924}"/>
              </a:ext>
            </a:extLst>
          </p:cNvPr>
          <p:cNvSpPr txBox="1"/>
          <p:nvPr/>
        </p:nvSpPr>
        <p:spPr>
          <a:xfrm>
            <a:off x="502920" y="1847947"/>
            <a:ext cx="1058875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 Extraction Prompts</a:t>
            </a:r>
          </a:p>
          <a:p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Prompts that pull structured data from unstructured text. </a:t>
            </a:r>
          </a:p>
          <a:p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Always define the output schema and handle the missing-data case.</a:t>
            </a:r>
          </a:p>
        </p:txBody>
      </p:sp>
    </p:spTree>
    <p:extLst>
      <p:ext uri="{BB962C8B-B14F-4D97-AF65-F5344CB8AC3E}">
        <p14:creationId xmlns:p14="http://schemas.microsoft.com/office/powerpoint/2010/main" val="9636131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2E0A5-A8C8-1145-F773-7862B2FDE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2E095DF-B9D1-7F21-1849-32A1BAAFC4AB}"/>
              </a:ext>
            </a:extLst>
          </p:cNvPr>
          <p:cNvSpPr txBox="1"/>
          <p:nvPr/>
        </p:nvSpPr>
        <p:spPr>
          <a:xfrm>
            <a:off x="374904" y="106352"/>
            <a:ext cx="10588752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Invoice data extraction: Use case in Finance &amp; accounts payable automation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are a data extraction assistant. 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Extract the following fields from the invoice text below and return them as JSON only — no explanation, no markdown. 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Fields to extract: </a:t>
            </a:r>
          </a:p>
          <a:p>
            <a:pPr marL="342900" indent="-342900">
              <a:buFontTx/>
              <a:buChar char="-"/>
            </a:pP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invoice_number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342900" indent="-342900">
              <a:buFontTx/>
              <a:buChar char="-"/>
            </a:pP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vendor_name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342900" indent="-342900">
              <a:buFontTx/>
              <a:buChar char="-"/>
            </a:pP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invoice_date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(format: YYYY-MM-DD)</a:t>
            </a:r>
          </a:p>
          <a:p>
            <a:pPr marL="342900" indent="-342900">
              <a:buFontTx/>
              <a:buChar char="-"/>
            </a:pP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due_date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(format: YYYY-MM-DD) </a:t>
            </a:r>
          </a:p>
          <a:p>
            <a:pPr marL="342900" indent="-342900">
              <a:buFontTx/>
              <a:buChar char="-"/>
            </a:pP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line_items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(array of: description, quantity,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unit_price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total) </a:t>
            </a:r>
          </a:p>
          <a:p>
            <a:pPr marL="342900" indent="-342900">
              <a:buFontTx/>
              <a:buChar char="-"/>
            </a:pP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tax_amount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342900" indent="-342900">
              <a:buFontTx/>
              <a:buChar char="-"/>
            </a:pP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total_amount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a field is missing or unclear, use null. 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Invoice text: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""" {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invoice_text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} """</a:t>
            </a:r>
          </a:p>
        </p:txBody>
      </p:sp>
    </p:spTree>
    <p:extLst>
      <p:ext uri="{BB962C8B-B14F-4D97-AF65-F5344CB8AC3E}">
        <p14:creationId xmlns:p14="http://schemas.microsoft.com/office/powerpoint/2010/main" val="14761069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EFBAD-F0B1-11DE-B96F-DDF3AF437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5B6E5AC-B73B-C172-CB5E-B73D93CC7C89}"/>
              </a:ext>
            </a:extLst>
          </p:cNvPr>
          <p:cNvSpPr txBox="1"/>
          <p:nvPr/>
        </p:nvSpPr>
        <p:spPr>
          <a:xfrm>
            <a:off x="374904" y="106352"/>
            <a:ext cx="10588752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of invoice text: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INVOICE</a:t>
            </a:r>
          </a:p>
          <a:p>
            <a:endParaRPr lang="en-US" sz="16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6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TechSupply</a:t>
            </a:r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Solutions Pte. Ltd.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14 Raffles Quay, #08-01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Singapore 048580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Email: billing@techsupply.sg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Phone: +65 6123 4567</a:t>
            </a:r>
          </a:p>
          <a:p>
            <a:endParaRPr lang="en-US" sz="16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Bill To: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Meridian Corp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22 Orchard Road, #05-10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Singapore 238883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Attn: Accounts Payable</a:t>
            </a:r>
          </a:p>
          <a:p>
            <a:endParaRPr lang="en-US" sz="16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Invoice Number: INV-2024-00847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Invoice Date: November 5, 2024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Payment Due: December 5, 2024</a:t>
            </a:r>
          </a:p>
          <a:p>
            <a:endParaRPr lang="en-US" sz="16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6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Cont</a:t>
            </a:r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….</a:t>
            </a:r>
          </a:p>
        </p:txBody>
      </p:sp>
    </p:spTree>
    <p:extLst>
      <p:ext uri="{BB962C8B-B14F-4D97-AF65-F5344CB8AC3E}">
        <p14:creationId xmlns:p14="http://schemas.microsoft.com/office/powerpoint/2010/main" val="40627478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0FF06-8CD3-5B9D-2F71-5D5B0A397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6AB522-1FF6-76CE-D781-32DC96AB5F7F}"/>
              </a:ext>
            </a:extLst>
          </p:cNvPr>
          <p:cNvSpPr txBox="1"/>
          <p:nvPr/>
        </p:nvSpPr>
        <p:spPr>
          <a:xfrm>
            <a:off x="374904" y="106352"/>
            <a:ext cx="10588752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….</a:t>
            </a:r>
            <a:r>
              <a:rPr lang="en-US" sz="16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cont</a:t>
            </a:r>
            <a:endParaRPr lang="en-US" sz="16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------------------------------------------------------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ITEM DESCRIPTION          QTY   UNIT PRICE    TOTAL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------------------------------------------------------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Dell </a:t>
            </a:r>
            <a:r>
              <a:rPr lang="en-US" sz="16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UltraSharp</a:t>
            </a:r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27"         4     SGD 850.00   SGD 3,400.00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Monitor (U2722D)</a:t>
            </a:r>
          </a:p>
          <a:p>
            <a:endParaRPr lang="en-US" sz="16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Logitech MX Keys            10    SGD 145.00   SGD 1,450.00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Wireless Keyboard</a:t>
            </a:r>
          </a:p>
          <a:p>
            <a:endParaRPr lang="en-US" sz="16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USB-C Docking Station       6     SGD 220.00   SGD 1,320.00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(Belkin 12-in-1)</a:t>
            </a:r>
          </a:p>
          <a:p>
            <a:endParaRPr lang="en-US" sz="16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Cat6 Ethernet Cable         20    SGD 18.50    SGD 370.00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(5m, pack of 1)</a:t>
            </a:r>
          </a:p>
          <a:p>
            <a:endParaRPr lang="en-US" sz="16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On-site Installation        1     SGD 400.00   SGD 400.00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&amp; Setup Service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------------------------------------------------------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Subtotal:                                      SGD 6,940.00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GST (9%):                                      SGD 624.60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TOTAL AMOUNT DUE:                              SGD 7,564.60</a:t>
            </a:r>
          </a:p>
          <a:p>
            <a:endParaRPr lang="en-US" sz="16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Payment Terms: Net 30  		Bank: DBS Bank Ltd	     Account Name: </a:t>
            </a:r>
            <a:r>
              <a:rPr lang="en-US" sz="16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TechSupply</a:t>
            </a:r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Solutions Pte. Ltd.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Account Number: 072-901234-5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Swift Code: DBSSSGSG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Please reference invoice number INV-2024-00847 in your payment. Thank you for your business.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------------------------------------------------------</a:t>
            </a:r>
          </a:p>
        </p:txBody>
      </p:sp>
    </p:spTree>
    <p:extLst>
      <p:ext uri="{BB962C8B-B14F-4D97-AF65-F5344CB8AC3E}">
        <p14:creationId xmlns:p14="http://schemas.microsoft.com/office/powerpoint/2010/main" val="40892328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8F7B1-5FFE-2DCC-81E6-227F32938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47A96E-2F2F-61AE-1064-534426BBEFC9}"/>
              </a:ext>
            </a:extLst>
          </p:cNvPr>
          <p:cNvSpPr txBox="1"/>
          <p:nvPr/>
        </p:nvSpPr>
        <p:spPr>
          <a:xfrm>
            <a:off x="310896" y="133784"/>
            <a:ext cx="10588752" cy="6801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Resume/CV structured parsing: Use case in  HR tech &amp; applicant tracking systems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are an HR data parser. Read the resume below and extract structured information into the exact JSON schema provided. Follow all rules carefully.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Rules: </a:t>
            </a:r>
          </a:p>
          <a:p>
            <a:pPr marL="342900" indent="-342900"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Dates: use "YYYY-MM" format. If only a year is given, use "YYYY-01". For current roles, use "present". </a:t>
            </a:r>
          </a:p>
          <a:p>
            <a:pPr marL="342900" indent="-342900"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Skills: normalize to lowercase (e.g., "Python", "PYTHON" → "python"). </a:t>
            </a:r>
          </a:p>
          <a:p>
            <a:pPr marL="342900" indent="-342900"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Infer missing fields only when highly confident — otherwise use null. </a:t>
            </a:r>
          </a:p>
          <a:p>
            <a:pPr marL="342900" indent="-342900"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 not add commentary. Return only the JSON object. 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Schema: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{ "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full_name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": string,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"email": string | null,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"phone": string | null,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work_experience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": [{ "company": string, "title": string, "start": string, "end": string, "bullets": [string] }], "education": [{ "institution": string, "degree": string, "field": string, "graduation": string }],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"certifications": [string]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} 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Resume: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""" {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resume_text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} """</a:t>
            </a:r>
          </a:p>
        </p:txBody>
      </p:sp>
    </p:spTree>
    <p:extLst>
      <p:ext uri="{BB962C8B-B14F-4D97-AF65-F5344CB8AC3E}">
        <p14:creationId xmlns:p14="http://schemas.microsoft.com/office/powerpoint/2010/main" val="7036723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1CA8A-7332-7309-D919-18A90F95A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14F9770-D9A4-12C9-F8A3-FA4C667D3403}"/>
              </a:ext>
            </a:extLst>
          </p:cNvPr>
          <p:cNvSpPr txBox="1"/>
          <p:nvPr/>
        </p:nvSpPr>
        <p:spPr>
          <a:xfrm>
            <a:off x="329184" y="522067"/>
            <a:ext cx="10588752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Table from Text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Read the product descriptions below and extract a table with columns: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Product Name,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Price,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Key Feature,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Availability.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a field is missing from the description, write "N/A". 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Product description: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“””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paste_descriptions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“””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Cont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…..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89664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CE326-E384-4BA4-BB6E-E25ED0D2A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72F2DCA-CB63-ADD8-B86E-BEABF1BB7DB9}"/>
              </a:ext>
            </a:extLst>
          </p:cNvPr>
          <p:cNvSpPr txBox="1"/>
          <p:nvPr/>
        </p:nvSpPr>
        <p:spPr>
          <a:xfrm>
            <a:off x="228600" y="174595"/>
            <a:ext cx="11265408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…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cont</a:t>
            </a: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of product description: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Introducing the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AeroBook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Pro 14 — our thinnest laptop yet, powered by the Intel Core i7-13th Gen processor and 16GB RAM. Priced at $1,299, it features  a stunning 2.8K OLED display that brings every detail to life. Available now at all major retail stores and online.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The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SoundWave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X3 wireless earbuds deliver 36-hour battery life with active noise cancellation. Retailing at $89.99, these earbuds are perfect for commuters and remote workers. Currently out of stock — join the waitlist on our website.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PowerBlend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900 is a professional-grade blender with a 900-watt motor, capable of crushing ice and blending smoothies in under 30 seconds. No pricing information available at this time. Ships from January 2025.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The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ErgoDesk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Standing Desk (Electric) lets you switch between sitting and standing with a quiet dual-motor lift system. Comes with 3 memory presets and a cable management tray. Priced at $649. Delivery available nationwide, in stock and ready to ship.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FitTrack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Slim is a smart fitness watch with built-in GPS, heart rate monitoring, and a 7-day battery life. Water-resistant up to 50 meters. Available in Black, Silver, and Rose Gold.</a:t>
            </a:r>
          </a:p>
        </p:txBody>
      </p:sp>
    </p:spTree>
    <p:extLst>
      <p:ext uri="{BB962C8B-B14F-4D97-AF65-F5344CB8AC3E}">
        <p14:creationId xmlns:p14="http://schemas.microsoft.com/office/powerpoint/2010/main" val="30273851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5B486-A850-2F8F-9AC8-F2BC70C8F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AD1E20-73CF-DDB4-193F-4D5B56FFA42A}"/>
              </a:ext>
            </a:extLst>
          </p:cNvPr>
          <p:cNvSpPr txBox="1"/>
          <p:nvPr/>
        </p:nvSpPr>
        <p:spPr>
          <a:xfrm>
            <a:off x="237744" y="0"/>
            <a:ext cx="10588752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News article entity extraction: Use case in media monitoring &amp; competitive intelligence</a:t>
            </a:r>
          </a:p>
          <a:p>
            <a:endParaRPr lang="en-US" sz="2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are a named entity extraction system for a media monitoring platform. From the article below, extract all mentioned entities and classify them.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 format — a JSON object with these keys: </a:t>
            </a:r>
          </a:p>
          <a:p>
            <a:pPr marL="285750" indent="-285750">
              <a:buFontTx/>
              <a:buChar char="-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"people": list of full names of individuals mentioned</a:t>
            </a:r>
          </a:p>
          <a:p>
            <a:pPr marL="285750" indent="-285750">
              <a:buFontTx/>
              <a:buChar char="-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"organizations": list of company, government, or institution names </a:t>
            </a:r>
          </a:p>
          <a:p>
            <a:pPr marL="285750" indent="-285750">
              <a:buFontTx/>
              <a:buChar char="-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"locations": list of cities, countries, or regions </a:t>
            </a:r>
          </a:p>
          <a:p>
            <a:pPr marL="285750" indent="-285750">
              <a:buFontTx/>
              <a:buChar char="-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"dates": list of specific dates or time periods mentioned </a:t>
            </a:r>
          </a:p>
          <a:p>
            <a:pPr marL="285750" indent="-285750">
              <a:buFontTx/>
              <a:buChar char="-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monetary_values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": list of objects with {"amount": number, "currency": string, "context": string} </a:t>
            </a:r>
          </a:p>
          <a:p>
            <a:pPr marL="285750" indent="-285750">
              <a:buFontTx/>
              <a:buChar char="-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"sentiment": one of "positive", "negative", "neutral", "mixed" </a:t>
            </a:r>
          </a:p>
          <a:p>
            <a:pPr marL="285750" indent="-285750">
              <a:buFontTx/>
              <a:buChar char="-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main_topic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": one-sentence summary of the article's core subject </a:t>
            </a:r>
          </a:p>
          <a:p>
            <a:pPr marL="285750" indent="-285750">
              <a:buFontTx/>
              <a:buChar char="-"/>
            </a:pP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Rules: </a:t>
            </a:r>
          </a:p>
          <a:p>
            <a:pPr marL="285750" indent="-285750">
              <a:buFontTx/>
              <a:buChar char="-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Deduplicate entries (e.g., "Apple" and "Apple Inc." → "Apple Inc.") </a:t>
            </a:r>
          </a:p>
          <a:p>
            <a:pPr marL="285750" indent="-285750">
              <a:buFontTx/>
              <a:buChar char="-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Preserve original names — do not translate or abbreviate </a:t>
            </a:r>
          </a:p>
          <a:p>
            <a:pPr marL="285750" indent="-285750">
              <a:buFontTx/>
              <a:buChar char="-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monetary_values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the "context" field should be a short phrase explaining what the amount refers to </a:t>
            </a:r>
          </a:p>
          <a:p>
            <a:pPr marL="285750" indent="-285750">
              <a:buFontTx/>
              <a:buChar char="-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no entities of a type are found, return an empty list []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Article: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""" {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article_text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} """</a:t>
            </a:r>
            <a:endParaRPr lang="en-US" sz="2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75915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E403E-7A29-39E7-0494-AC31ECDFA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3726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568</TotalTime>
  <Words>3569</Words>
  <Application>Microsoft Office PowerPoint</Application>
  <PresentationFormat>Widescreen</PresentationFormat>
  <Paragraphs>405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Anthropic Sans</vt:lpstr>
      <vt:lpstr>Arial</vt:lpstr>
      <vt:lpstr>Calibri</vt:lpstr>
      <vt:lpstr>Calibri Light</vt:lpstr>
      <vt:lpstr>ui-monospace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176</cp:revision>
  <dcterms:created xsi:type="dcterms:W3CDTF">2025-09-22T02:44:38Z</dcterms:created>
  <dcterms:modified xsi:type="dcterms:W3CDTF">2026-06-17T08:40:48Z</dcterms:modified>
</cp:coreProperties>
</file>