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3"/>
  </p:handoutMasterIdLst>
  <p:sldIdLst>
    <p:sldId id="257" r:id="rId2"/>
    <p:sldId id="258" r:id="rId3"/>
    <p:sldId id="259" r:id="rId4"/>
    <p:sldId id="260" r:id="rId5"/>
    <p:sldId id="261" r:id="rId6"/>
    <p:sldId id="277" r:id="rId7"/>
    <p:sldId id="262" r:id="rId8"/>
    <p:sldId id="263" r:id="rId9"/>
    <p:sldId id="264" r:id="rId10"/>
    <p:sldId id="265" r:id="rId11"/>
    <p:sldId id="275" r:id="rId12"/>
    <p:sldId id="276" r:id="rId13"/>
    <p:sldId id="266" r:id="rId14"/>
    <p:sldId id="267" r:id="rId15"/>
    <p:sldId id="268" r:id="rId16"/>
    <p:sldId id="270" r:id="rId17"/>
    <p:sldId id="271" r:id="rId18"/>
    <p:sldId id="273" r:id="rId19"/>
    <p:sldId id="274" r:id="rId20"/>
    <p:sldId id="272" r:id="rId21"/>
    <p:sldId id="26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maheshkumarsg1/few-shot-prompting-and-chain-of-thought-prompting-462201ab60ff" TargetMode="External"/><Relationship Id="rId2" Type="http://schemas.openxmlformats.org/officeDocument/2006/relationships/hyperlink" Target="https://www.prompthub.us/blog/chain-of-thought-prompting-guide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CC5AA4-1E9C-99DC-AFA2-54F7AD62956A}"/>
              </a:ext>
            </a:extLst>
          </p:cNvPr>
          <p:cNvSpPr txBox="1"/>
          <p:nvPr/>
        </p:nvSpPr>
        <p:spPr>
          <a:xfrm>
            <a:off x="3028950" y="85725"/>
            <a:ext cx="640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Engineering</a:t>
            </a:r>
          </a:p>
          <a:p>
            <a:pPr algn="ctr"/>
            <a:r>
              <a:rPr lang="en-US" sz="4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Techniques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C4EE4-7CB9-DC2F-6583-CEFEBED4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D9E2B6-28AD-DF63-1020-0A3F17443414}"/>
              </a:ext>
            </a:extLst>
          </p:cNvPr>
          <p:cNvSpPr txBox="1"/>
          <p:nvPr/>
        </p:nvSpPr>
        <p:spPr>
          <a:xfrm>
            <a:off x="594360" y="962098"/>
            <a:ext cx="10780776" cy="3978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1. Few-Shot Prompting – Giving Examples to Set Patterns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is Few-Shot Prompting?</a:t>
            </a: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Few-Shot Prompting is a technique where we provide </a:t>
            </a: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few examples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to the AI before asking it to perform a task. 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These examples help the AI understand the </a:t>
            </a: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pattern, tone, style, and expected output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kern="10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Instead of only telling AI what to do, we </a:t>
            </a:r>
            <a:r>
              <a:rPr lang="en-US" sz="2400" b="1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show it how to do it</a:t>
            </a:r>
            <a:r>
              <a:rPr lang="en-US" sz="2400" kern="10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7882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C0A6F-D909-5B84-1C71-49704119C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1333E31-0DC4-A0DE-B446-20AB4F3518FC}"/>
              </a:ext>
            </a:extLst>
          </p:cNvPr>
          <p:cNvSpPr txBox="1"/>
          <p:nvPr/>
        </p:nvSpPr>
        <p:spPr>
          <a:xfrm>
            <a:off x="594360" y="962098"/>
            <a:ext cx="107807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Few-Shot Prompting Works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prompt usually contains: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Inputs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Outputs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New Input for AI to solve</a:t>
            </a:r>
          </a:p>
        </p:txBody>
      </p:sp>
    </p:spTree>
    <p:extLst>
      <p:ext uri="{BB962C8B-B14F-4D97-AF65-F5344CB8AC3E}">
        <p14:creationId xmlns:p14="http://schemas.microsoft.com/office/powerpoint/2010/main" val="2079862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0C6E-6928-C400-D97B-BE433147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EE7EA1-24A8-21FF-74C3-7B1C9CE17E95}"/>
              </a:ext>
            </a:extLst>
          </p:cNvPr>
          <p:cNvSpPr txBox="1"/>
          <p:nvPr/>
        </p:nvSpPr>
        <p:spPr>
          <a:xfrm>
            <a:off x="594360" y="962098"/>
            <a:ext cx="1078077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Few-Shot Prompting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the sentence into a positive sentiment.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hate rainy days.“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output may vary and may not follow consistent structure.</a:t>
            </a:r>
          </a:p>
        </p:txBody>
      </p:sp>
    </p:spTree>
    <p:extLst>
      <p:ext uri="{BB962C8B-B14F-4D97-AF65-F5344CB8AC3E}">
        <p14:creationId xmlns:p14="http://schemas.microsoft.com/office/powerpoint/2010/main" val="3415991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9AE34-5ADF-406F-9263-FC242ED45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293096-147D-9C1F-22BB-D0A06255A9D0}"/>
              </a:ext>
            </a:extLst>
          </p:cNvPr>
          <p:cNvSpPr txBox="1"/>
          <p:nvPr/>
        </p:nvSpPr>
        <p:spPr>
          <a:xfrm>
            <a:off x="594360" y="312874"/>
            <a:ext cx="1078077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Few-Shot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 sentences into positive sentiment.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I hate waking up early.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Waking up early helps me stay productive.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I dislike traffic.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Traveling gives me time to listen to music.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convert: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 I hate rainy days.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is now more likely to follow the pattern.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798049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DF787-DC16-D58B-A611-151645A7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AE7996-6609-A283-5CAE-229A6D451206}"/>
              </a:ext>
            </a:extLst>
          </p:cNvPr>
          <p:cNvSpPr txBox="1"/>
          <p:nvPr/>
        </p:nvSpPr>
        <p:spPr>
          <a:xfrm>
            <a:off x="594360" y="312874"/>
            <a:ext cx="1078077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Few-Shot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"Categorize the sentiment of customer reviews based on the examples below.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Review: The interface is confusing and slow.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Sentiment: Negative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Review: I absolutely love the new design, it's so sleek!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Sentiment: Positive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Review: It arrived on time and works as expected.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Sentiment: Neutral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Review: The battery life is terrible.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Sentiment:"</a:t>
            </a:r>
          </a:p>
        </p:txBody>
      </p:sp>
    </p:spTree>
    <p:extLst>
      <p:ext uri="{BB962C8B-B14F-4D97-AF65-F5344CB8AC3E}">
        <p14:creationId xmlns:p14="http://schemas.microsoft.com/office/powerpoint/2010/main" val="3687473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EE8FD-19B3-8712-8149-244445476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549B8E-0FAD-4816-01A2-28222DCC5CB1}"/>
              </a:ext>
            </a:extLst>
          </p:cNvPr>
          <p:cNvSpPr txBox="1"/>
          <p:nvPr/>
        </p:nvSpPr>
        <p:spPr>
          <a:xfrm>
            <a:off x="594360" y="312874"/>
            <a:ext cx="107807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Few-Shot Prompting is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models learn patterns very effectively. When we provide examples:</a:t>
            </a: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understands formatting better: AI adapts to specific styles or formats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maintains consistency and  produces more accurate responses</a:t>
            </a:r>
          </a:p>
        </p:txBody>
      </p:sp>
    </p:spTree>
    <p:extLst>
      <p:ext uri="{BB962C8B-B14F-4D97-AF65-F5344CB8AC3E}">
        <p14:creationId xmlns:p14="http://schemas.microsoft.com/office/powerpoint/2010/main" val="49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9A02F-A3ED-C438-623D-4A48D2AF0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006E6F-1F15-33BC-3C50-65F78C977C21}"/>
              </a:ext>
            </a:extLst>
          </p:cNvPr>
          <p:cNvSpPr txBox="1"/>
          <p:nvPr/>
        </p:nvSpPr>
        <p:spPr>
          <a:xfrm>
            <a:off x="182880" y="312874"/>
            <a:ext cx="1171346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Chain-of-Thought (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Prompting – Making AI Show Its Reasoning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Chain-of-Thought Prompting?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Prompting is a technique where we ask AI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its reasoning step-by-step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giving the final answer.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method improves accuracy, especially in: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Logical problems: Coding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Mathematical calculations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reasoning tasks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Decision making and Data analysis</a:t>
            </a:r>
          </a:p>
        </p:txBody>
      </p:sp>
    </p:spTree>
    <p:extLst>
      <p:ext uri="{BB962C8B-B14F-4D97-AF65-F5344CB8AC3E}">
        <p14:creationId xmlns:p14="http://schemas.microsoft.com/office/powerpoint/2010/main" val="3744897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EE51F-2C4A-B8DB-AE64-5D165D930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BB666D-C6E0-6E80-4912-C568D3ABC308}"/>
              </a:ext>
            </a:extLst>
          </p:cNvPr>
          <p:cNvSpPr txBox="1"/>
          <p:nvPr/>
        </p:nvSpPr>
        <p:spPr>
          <a:xfrm>
            <a:off x="182880" y="312874"/>
            <a:ext cx="117134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a train travels 60 km in 1 hour, how far will it travel in 3 hours?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may directly give the answer: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180 km</a:t>
            </a:r>
          </a:p>
        </p:txBody>
      </p:sp>
    </p:spTree>
    <p:extLst>
      <p:ext uri="{BB962C8B-B14F-4D97-AF65-F5344CB8AC3E}">
        <p14:creationId xmlns:p14="http://schemas.microsoft.com/office/powerpoint/2010/main" val="159599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2E8BC-FE13-8DBD-F6CA-A2F88B43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BC16BFF-EDC8-05EB-8AE6-D8690745D06E}"/>
              </a:ext>
            </a:extLst>
          </p:cNvPr>
          <p:cNvSpPr txBox="1"/>
          <p:nvPr/>
        </p:nvSpPr>
        <p:spPr>
          <a:xfrm>
            <a:off x="182880" y="312874"/>
            <a:ext cx="1171346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Solve the problem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step-by-step.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If a train travels 60 km in 1 hour, how far will it travel in 3 hours?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Output: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1: Distance covered in 1 hour = 60 km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2: Total time = 3 hours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 3: Total distance = 60 × 3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Answer: 180 km</a:t>
            </a:r>
          </a:p>
        </p:txBody>
      </p:sp>
    </p:spTree>
    <p:extLst>
      <p:ext uri="{BB962C8B-B14F-4D97-AF65-F5344CB8AC3E}">
        <p14:creationId xmlns:p14="http://schemas.microsoft.com/office/powerpoint/2010/main" val="1924282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AD66E-4735-F0B2-FD16-5C2E583EF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E8A084-C1C2-60E7-9A69-234F3B4E8DF9}"/>
              </a:ext>
            </a:extLst>
          </p:cNvPr>
          <p:cNvSpPr txBox="1"/>
          <p:nvPr/>
        </p:nvSpPr>
        <p:spPr>
          <a:xfrm>
            <a:off x="182880" y="312874"/>
            <a:ext cx="11713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COT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have 10 apples. I give 2 to a neighbor and 2 to a repairman. Then I buy 5 more and eat 1. How many do I have left?“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AI Response: "You have 11 apples." (Incorrect; often occurs when models skip steps) </a:t>
            </a:r>
          </a:p>
        </p:txBody>
      </p:sp>
    </p:spTree>
    <p:extLst>
      <p:ext uri="{BB962C8B-B14F-4D97-AF65-F5344CB8AC3E}">
        <p14:creationId xmlns:p14="http://schemas.microsoft.com/office/powerpoint/2010/main" val="1705216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28E2-B714-E3DC-B4B9-C5A276C32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F0E350-AE08-2071-0515-5F146B18A8FD}"/>
              </a:ext>
            </a:extLst>
          </p:cNvPr>
          <p:cNvSpPr txBox="1"/>
          <p:nvPr/>
        </p:nvSpPr>
        <p:spPr>
          <a:xfrm>
            <a:off x="182880" y="312874"/>
            <a:ext cx="1171346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Chain-of-Thought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 COT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"I have 10 apples. I give 2 to a neighbor and 2 to a repairman. Then I buy 5 more and eat 1. How many do I have left?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Let's think step by step.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AI Response: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You started with 10 apples.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Step2:  You gave away 2 to the neighbor and 2 to the repairman (10 - 4 = 6 apples left).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Step3: You bought 5 more (6 + 5 = 11 apples).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Step4: You ate 1 (11 - 1 = 10 apples).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Final Answer: 10 apples.</a:t>
            </a:r>
          </a:p>
        </p:txBody>
      </p:sp>
    </p:spTree>
    <p:extLst>
      <p:ext uri="{BB962C8B-B14F-4D97-AF65-F5344CB8AC3E}">
        <p14:creationId xmlns:p14="http://schemas.microsoft.com/office/powerpoint/2010/main" val="691901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0DAB8-1196-1DFF-6862-48D6BE6CB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D6C9A4-7859-7A75-4849-6F8954B1F027}"/>
              </a:ext>
            </a:extLst>
          </p:cNvPr>
          <p:cNvSpPr txBox="1"/>
          <p:nvPr/>
        </p:nvSpPr>
        <p:spPr>
          <a:xfrm>
            <a:off x="182880" y="312874"/>
            <a:ext cx="1171346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Powerful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CoT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Keywords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force reasoning by adding phrases such as: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“Explain step-by-step”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“Show your reasoning”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“Break the solution into steps”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“Think through the problem logically”</a:t>
            </a:r>
          </a:p>
        </p:txBody>
      </p:sp>
    </p:spTree>
    <p:extLst>
      <p:ext uri="{BB962C8B-B14F-4D97-AF65-F5344CB8AC3E}">
        <p14:creationId xmlns:p14="http://schemas.microsoft.com/office/powerpoint/2010/main" val="3876379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A783B-65B3-6866-9AF7-68A45701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F85767-73F3-0B96-45CC-9276F994B9A3}"/>
              </a:ext>
            </a:extLst>
          </p:cNvPr>
          <p:cNvSpPr txBox="1"/>
          <p:nvPr/>
        </p:nvSpPr>
        <p:spPr>
          <a:xfrm>
            <a:off x="182880" y="312874"/>
            <a:ext cx="117134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Chain-of-Thought Prompting is Important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Normally, AI may jump directly to an answer. When we ask AI to show steps: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Errors reduce significantly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 becomes transparent and Output becomes more reliable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Complex tasks become easier </a:t>
            </a:r>
          </a:p>
        </p:txBody>
      </p:sp>
    </p:spTree>
    <p:extLst>
      <p:ext uri="{BB962C8B-B14F-4D97-AF65-F5344CB8AC3E}">
        <p14:creationId xmlns:p14="http://schemas.microsoft.com/office/powerpoint/2010/main" val="4025050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B431-DB2B-494E-CD62-A786A1262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59FA9C-6DE1-4803-908E-DEA31C7422B5}"/>
              </a:ext>
            </a:extLst>
          </p:cNvPr>
          <p:cNvSpPr txBox="1"/>
          <p:nvPr/>
        </p:nvSpPr>
        <p:spPr>
          <a:xfrm>
            <a:off x="182880" y="312874"/>
            <a:ext cx="1171346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Role Prompting – Assigning AI a Professional Identity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Role Prompting?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Prompting is a technique where we assign AI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specific role, profession, or expertise level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before asking it to perform a task.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 Senior Software Developer.</a:t>
            </a:r>
          </a:p>
        </p:txBody>
      </p:sp>
    </p:spTree>
    <p:extLst>
      <p:ext uri="{BB962C8B-B14F-4D97-AF65-F5344CB8AC3E}">
        <p14:creationId xmlns:p14="http://schemas.microsoft.com/office/powerpoint/2010/main" val="28787378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CE555-C010-2543-DFFC-F5D5D5BD2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C5F2D7-4594-AE38-A9A4-72FEA6A3F207}"/>
              </a:ext>
            </a:extLst>
          </p:cNvPr>
          <p:cNvSpPr txBox="1"/>
          <p:nvPr/>
        </p:nvSpPr>
        <p:spPr>
          <a:xfrm>
            <a:off x="182880" y="312874"/>
            <a:ext cx="1171346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Without Role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Explain API security.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may be generic or basic.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With Role Prompting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 Cybersecurity Expert. Explain API security risks and best practices.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 will be more professional and detailed.</a:t>
            </a:r>
          </a:p>
        </p:txBody>
      </p:sp>
    </p:spTree>
    <p:extLst>
      <p:ext uri="{BB962C8B-B14F-4D97-AF65-F5344CB8AC3E}">
        <p14:creationId xmlns:p14="http://schemas.microsoft.com/office/powerpoint/2010/main" val="2343117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08B20-43FC-E4DC-A0ED-2F8D986AC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CBBB84-87FB-0D88-6817-2E89677B46BE}"/>
              </a:ext>
            </a:extLst>
          </p:cNvPr>
          <p:cNvSpPr txBox="1"/>
          <p:nvPr/>
        </p:nvSpPr>
        <p:spPr>
          <a:xfrm>
            <a:off x="182880" y="312874"/>
            <a:ext cx="117134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Roles Used in Prompt Engineering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0"/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Senior Software Developer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Scientist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Professional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Advisor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Teacher or Trainer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Business Consultant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Analyst</a:t>
            </a:r>
          </a:p>
        </p:txBody>
      </p:sp>
    </p:spTree>
    <p:extLst>
      <p:ext uri="{BB962C8B-B14F-4D97-AF65-F5344CB8AC3E}">
        <p14:creationId xmlns:p14="http://schemas.microsoft.com/office/powerpoint/2010/main" val="1771811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76AD8-5CB7-BC88-7211-D0A370258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BCE0B1-AE9F-627B-53CE-964E44D738FF}"/>
              </a:ext>
            </a:extLst>
          </p:cNvPr>
          <p:cNvSpPr txBox="1"/>
          <p:nvPr/>
        </p:nvSpPr>
        <p:spPr>
          <a:xfrm>
            <a:off x="182880" y="221434"/>
            <a:ext cx="117134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Bad Prompt: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customer buys a laptop for $1,200. There is a 15% discount, but a 7% sales tax is applied to the final discounted price. How much is the final total?</a:t>
            </a:r>
          </a:p>
        </p:txBody>
      </p:sp>
    </p:spTree>
    <p:extLst>
      <p:ext uri="{BB962C8B-B14F-4D97-AF65-F5344CB8AC3E}">
        <p14:creationId xmlns:p14="http://schemas.microsoft.com/office/powerpoint/2010/main" val="1083813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26A62-6028-AA5B-2AD1-131C122F3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71AE716-8E24-10C3-AB93-348C2533D191}"/>
              </a:ext>
            </a:extLst>
          </p:cNvPr>
          <p:cNvSpPr txBox="1"/>
          <p:nvPr/>
        </p:nvSpPr>
        <p:spPr>
          <a:xfrm>
            <a:off x="182880" y="221434"/>
            <a:ext cx="1171346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Good Prompt: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Role Prompt: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Act as a Senior Tax Accountant with 20 years of experience in retail finance. 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Few-Shot Examples (Pattern Consistency):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Scenario A: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Buy a $100 shirt, 10% discount, 5% tax.</a:t>
            </a:r>
          </a:p>
          <a:p>
            <a:pPr lvl="1"/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Discount is $100 * 0.10 = $10. Subtotal is $90. Tax is $90 * 0.05 = $4.50. Total is $94.50. 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1.2.7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Scenario B: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Buy a $50 book, 20% discount, 10% tax.</a:t>
            </a:r>
          </a:p>
          <a:p>
            <a:pPr lvl="1"/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Reasoning: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Discount is $50 * 0.20 = $10. Subtotal is $40. Tax is $40 * 0.10 = $4. Total is $44. 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1.1.4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Task: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Now, calculate the final total for a customer buying a laptop for $1,200 with a 15% discount and 7% sales tax.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Chain-of-Thought Instruction: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Please 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step-by-step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breaking down each calculation clearly before stating the final answer. </a:t>
            </a:r>
          </a:p>
        </p:txBody>
      </p:sp>
    </p:spTree>
    <p:extLst>
      <p:ext uri="{BB962C8B-B14F-4D97-AF65-F5344CB8AC3E}">
        <p14:creationId xmlns:p14="http://schemas.microsoft.com/office/powerpoint/2010/main" val="2370796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4D79-9005-9CB8-9582-FE1E84822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B3DECA-C761-7214-4C5B-83C792E570DA}"/>
              </a:ext>
            </a:extLst>
          </p:cNvPr>
          <p:cNvSpPr txBox="1"/>
          <p:nvPr/>
        </p:nvSpPr>
        <p:spPr>
          <a:xfrm>
            <a:off x="182880" y="312874"/>
            <a:ext cx="11713464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Combining All Three Techniques: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techniques can be used together for best results.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Combined Prompt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 as a Senior Data Scientist.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Below are examples of sentiment classification: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Text: I love this product.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Sentiment: Positive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Text: This service is terrible.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Sentiment: Negative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classify the following text step-by-step: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Text: The experience was okay but could improve.</a:t>
            </a:r>
          </a:p>
        </p:txBody>
      </p:sp>
    </p:spTree>
    <p:extLst>
      <p:ext uri="{BB962C8B-B14F-4D97-AF65-F5344CB8AC3E}">
        <p14:creationId xmlns:p14="http://schemas.microsoft.com/office/powerpoint/2010/main" val="1985223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25ABB-866E-4103-D915-9B3C4FBDA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354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213</TotalTime>
  <Words>1161</Words>
  <Application>Microsoft Office PowerPoint</Application>
  <PresentationFormat>Widescreen</PresentationFormat>
  <Paragraphs>189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55</cp:revision>
  <dcterms:created xsi:type="dcterms:W3CDTF">2025-09-22T02:44:38Z</dcterms:created>
  <dcterms:modified xsi:type="dcterms:W3CDTF">2026-02-11T15:14:32Z</dcterms:modified>
</cp:coreProperties>
</file>