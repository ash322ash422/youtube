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57" r:id="rId2"/>
    <p:sldId id="278" r:id="rId3"/>
    <p:sldId id="280" r:id="rId4"/>
    <p:sldId id="281" r:id="rId5"/>
    <p:sldId id="290" r:id="rId6"/>
    <p:sldId id="291" r:id="rId7"/>
    <p:sldId id="282" r:id="rId8"/>
    <p:sldId id="283" r:id="rId9"/>
    <p:sldId id="284" r:id="rId10"/>
    <p:sldId id="287" r:id="rId11"/>
    <p:sldId id="285" r:id="rId12"/>
    <p:sldId id="279" r:id="rId13"/>
    <p:sldId id="286" r:id="rId14"/>
    <p:sldId id="289" r:id="rId15"/>
    <p:sldId id="288" r:id="rId16"/>
    <p:sldId id="277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A/B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8088-E8EF-61AC-E0D8-79E267BA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C389EB-0A5B-A085-0102-A68FBA0378D3}"/>
              </a:ext>
            </a:extLst>
          </p:cNvPr>
          <p:cNvSpPr txBox="1"/>
          <p:nvPr/>
        </p:nvSpPr>
        <p:spPr>
          <a:xfrm>
            <a:off x="758952" y="572947"/>
            <a:ext cx="100675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A/B Testing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(also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testing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controlled experiment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used to compare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versions of something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determine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one performs better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based on real user behavior.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widely used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science, product development, marketing, and AI systems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A/B testing = show Version A to one group and Version B to another group, then measuring which performs better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8F2D0-AB99-5283-B379-D05E7530EA88}"/>
              </a:ext>
            </a:extLst>
          </p:cNvPr>
          <p:cNvSpPr txBox="1"/>
          <p:nvPr/>
        </p:nvSpPr>
        <p:spPr>
          <a:xfrm>
            <a:off x="8622792" y="534924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AEB82-3786-A2CF-6FA1-3D3DD99B6F0B}"/>
              </a:ext>
            </a:extLst>
          </p:cNvPr>
          <p:cNvSpPr txBox="1"/>
          <p:nvPr/>
        </p:nvSpPr>
        <p:spPr>
          <a:xfrm>
            <a:off x="9552432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3109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F540-6F9D-A5C1-DD04-DA60DECD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E492A-BD84-7BA7-C8CF-698262A68E90}"/>
              </a:ext>
            </a:extLst>
          </p:cNvPr>
          <p:cNvSpPr txBox="1"/>
          <p:nvPr/>
        </p:nvSpPr>
        <p:spPr>
          <a:xfrm>
            <a:off x="150876" y="327398"/>
            <a:ext cx="100721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(Website Without/With Chatbot)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 run a website.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Conversion Rate: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→ 80 / 1000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8%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→ 120 / 1000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12%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Version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performs better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520DF3-A4D6-3913-2122-485E7AE9A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236231"/>
              </p:ext>
            </p:extLst>
          </p:nvPr>
        </p:nvGraphicFramePr>
        <p:xfrm>
          <a:off x="4102608" y="1294670"/>
          <a:ext cx="7839456" cy="1371600"/>
        </p:xfrm>
        <a:graphic>
          <a:graphicData uri="http://schemas.openxmlformats.org/drawingml/2006/table">
            <a:tbl>
              <a:tblPr/>
              <a:tblGrid>
                <a:gridCol w="1539240">
                  <a:extLst>
                    <a:ext uri="{9D8B030D-6E8A-4147-A177-3AD203B41FA5}">
                      <a16:colId xmlns:a16="http://schemas.microsoft.com/office/drawing/2014/main" val="2313327725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154814501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3961941874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1883157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Purchases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039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Without 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41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With 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6160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8B5E44-0CB5-A195-D15B-E968C0F9E913}"/>
              </a:ext>
            </a:extLst>
          </p:cNvPr>
          <p:cNvSpPr txBox="1"/>
          <p:nvPr/>
        </p:nvSpPr>
        <p:spPr>
          <a:xfrm>
            <a:off x="446227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06F9E-B5AC-4C46-F8E0-DBAD50D326E0}"/>
              </a:ext>
            </a:extLst>
          </p:cNvPr>
          <p:cNvSpPr txBox="1"/>
          <p:nvPr/>
        </p:nvSpPr>
        <p:spPr>
          <a:xfrm>
            <a:off x="4431792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B64DF7-2A69-181D-7BC5-5BECFC4F6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49" y="2732504"/>
            <a:ext cx="6589015" cy="18879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54BCC5-B653-7B39-9AF8-631FB9BFD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669" y="4848185"/>
            <a:ext cx="6589015" cy="18879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5ECF7C-4792-4A34-7759-BA2ADE5CAE87}"/>
              </a:ext>
            </a:extLst>
          </p:cNvPr>
          <p:cNvSpPr txBox="1"/>
          <p:nvPr/>
        </p:nvSpPr>
        <p:spPr>
          <a:xfrm>
            <a:off x="5797296" y="5952744"/>
            <a:ext cx="236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133483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1C4A-611C-EA52-8D4C-2B6B480C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570E50-796C-0E57-5F3C-AEE4678A14F3}"/>
              </a:ext>
            </a:extLst>
          </p:cNvPr>
          <p:cNvSpPr txBox="1"/>
          <p:nvPr/>
        </p:nvSpPr>
        <p:spPr>
          <a:xfrm>
            <a:off x="361188" y="802886"/>
            <a:ext cx="92857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(ML Model)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built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ML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spam detection.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now have: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 (Control)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Old production model (Logistic Regression)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B (Variant)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New model (Transformer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XGBoost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 2 group of users: A and B.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Incoming emails are randomly divided and sent to these models: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11BBD3-245A-731A-825A-EFB722451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57595"/>
              </p:ext>
            </p:extLst>
          </p:nvPr>
        </p:nvGraphicFramePr>
        <p:xfrm>
          <a:off x="838200" y="4229894"/>
          <a:ext cx="5489448" cy="13716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848421606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783615721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1528826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682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Group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Old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04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Group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New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256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50F378-AD74-91FE-5A03-825530B155B1}"/>
              </a:ext>
            </a:extLst>
          </p:cNvPr>
          <p:cNvSpPr txBox="1"/>
          <p:nvPr/>
        </p:nvSpPr>
        <p:spPr>
          <a:xfrm>
            <a:off x="8430768" y="4425696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Model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41508-5498-3348-8113-C030AF7CFB42}"/>
              </a:ext>
            </a:extLst>
          </p:cNvPr>
          <p:cNvSpPr txBox="1"/>
          <p:nvPr/>
        </p:nvSpPr>
        <p:spPr>
          <a:xfrm>
            <a:off x="8430768" y="5583206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Model B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9F126D5-05C3-7B4A-B7A3-D7F93CCA59B5}"/>
              </a:ext>
            </a:extLst>
          </p:cNvPr>
          <p:cNvSpPr/>
          <p:nvPr/>
        </p:nvSpPr>
        <p:spPr>
          <a:xfrm>
            <a:off x="7735824" y="4526279"/>
            <a:ext cx="521208" cy="28792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7D5ADB1-BFF8-0897-3183-628A13927354}"/>
              </a:ext>
            </a:extLst>
          </p:cNvPr>
          <p:cNvSpPr/>
          <p:nvPr/>
        </p:nvSpPr>
        <p:spPr>
          <a:xfrm>
            <a:off x="7763256" y="5670073"/>
            <a:ext cx="521208" cy="2879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25F4C-6701-C08F-1AD6-4205842623E7}"/>
              </a:ext>
            </a:extLst>
          </p:cNvPr>
          <p:cNvSpPr txBox="1"/>
          <p:nvPr/>
        </p:nvSpPr>
        <p:spPr>
          <a:xfrm>
            <a:off x="7232904" y="4160520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50% email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A685D-9965-48FF-796C-A06CD3E392AC}"/>
              </a:ext>
            </a:extLst>
          </p:cNvPr>
          <p:cNvSpPr txBox="1"/>
          <p:nvPr/>
        </p:nvSpPr>
        <p:spPr>
          <a:xfrm>
            <a:off x="7246252" y="5319029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50% email</a:t>
            </a:r>
          </a:p>
        </p:txBody>
      </p:sp>
    </p:spTree>
    <p:extLst>
      <p:ext uri="{BB962C8B-B14F-4D97-AF65-F5344CB8AC3E}">
        <p14:creationId xmlns:p14="http://schemas.microsoft.com/office/powerpoint/2010/main" val="395349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79276-12B2-98D4-8DD1-803EA96C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C0AB66-2110-19CD-664D-D78D39567862}"/>
              </a:ext>
            </a:extLst>
          </p:cNvPr>
          <p:cNvSpPr txBox="1"/>
          <p:nvPr/>
        </p:nvSpPr>
        <p:spPr>
          <a:xfrm>
            <a:off x="283464" y="691819"/>
            <a:ext cx="9985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Metrics to Measure: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only accuracy, real business metrics matter: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991E4E-41DB-D85B-446C-FB2541272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862941"/>
              </p:ext>
            </p:extLst>
          </p:nvPr>
        </p:nvGraphicFramePr>
        <p:xfrm>
          <a:off x="280416" y="1641688"/>
          <a:ext cx="6321552" cy="2286000"/>
        </p:xfrm>
        <a:graphic>
          <a:graphicData uri="http://schemas.openxmlformats.org/drawingml/2006/table">
            <a:tbl>
              <a:tblPr/>
              <a:tblGrid>
                <a:gridCol w="2828544">
                  <a:extLst>
                    <a:ext uri="{9D8B030D-6E8A-4147-A177-3AD203B41FA5}">
                      <a16:colId xmlns:a16="http://schemas.microsoft.com/office/drawing/2014/main" val="3418911449"/>
                    </a:ext>
                  </a:extLst>
                </a:gridCol>
                <a:gridCol w="3493008">
                  <a:extLst>
                    <a:ext uri="{9D8B030D-6E8A-4147-A177-3AD203B41FA5}">
                      <a16:colId xmlns:a16="http://schemas.microsoft.com/office/drawing/2014/main" val="4160899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Important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752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Spam detection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catches 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715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False positives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avoids blocking real emails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982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complaints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real satisfaction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23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Email open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downstream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64344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25FC656-F8B6-8B11-F77F-5D3CF3935F2E}"/>
              </a:ext>
            </a:extLst>
          </p:cNvPr>
          <p:cNvSpPr txBox="1"/>
          <p:nvPr/>
        </p:nvSpPr>
        <p:spPr>
          <a:xfrm>
            <a:off x="8430768" y="4425696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Model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F36A5-473A-6011-90D8-D37524ABC232}"/>
              </a:ext>
            </a:extLst>
          </p:cNvPr>
          <p:cNvSpPr txBox="1"/>
          <p:nvPr/>
        </p:nvSpPr>
        <p:spPr>
          <a:xfrm>
            <a:off x="8430768" y="5583206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Model B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7D646F0-6729-65A7-31E9-C3DEB54D2F25}"/>
              </a:ext>
            </a:extLst>
          </p:cNvPr>
          <p:cNvSpPr/>
          <p:nvPr/>
        </p:nvSpPr>
        <p:spPr>
          <a:xfrm>
            <a:off x="7735824" y="4526279"/>
            <a:ext cx="521208" cy="28792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E712AAE-5D9A-DCC2-2931-F7B7C08766B8}"/>
              </a:ext>
            </a:extLst>
          </p:cNvPr>
          <p:cNvSpPr/>
          <p:nvPr/>
        </p:nvSpPr>
        <p:spPr>
          <a:xfrm>
            <a:off x="7763256" y="5670073"/>
            <a:ext cx="521208" cy="2879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FF25B-1A35-C4E6-B64F-3CDC0499218F}"/>
              </a:ext>
            </a:extLst>
          </p:cNvPr>
          <p:cNvSpPr txBox="1"/>
          <p:nvPr/>
        </p:nvSpPr>
        <p:spPr>
          <a:xfrm>
            <a:off x="7232904" y="4160520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50% email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6237D2-14E1-FF5B-BD29-0D21AF5B6A27}"/>
              </a:ext>
            </a:extLst>
          </p:cNvPr>
          <p:cNvSpPr txBox="1"/>
          <p:nvPr/>
        </p:nvSpPr>
        <p:spPr>
          <a:xfrm>
            <a:off x="7246252" y="5319029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50% email</a:t>
            </a:r>
          </a:p>
        </p:txBody>
      </p:sp>
    </p:spTree>
    <p:extLst>
      <p:ext uri="{BB962C8B-B14F-4D97-AF65-F5344CB8AC3E}">
        <p14:creationId xmlns:p14="http://schemas.microsoft.com/office/powerpoint/2010/main" val="58140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0B98-77E0-3305-5F5B-85C7A9CC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2F1A85-E457-CFA1-70BC-28000F74457D}"/>
              </a:ext>
            </a:extLst>
          </p:cNvPr>
          <p:cNvSpPr txBox="1"/>
          <p:nvPr/>
        </p:nvSpPr>
        <p:spPr>
          <a:xfrm>
            <a:off x="306324" y="49199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Results After 1 Week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7A5C30-0D43-F99D-267C-2FC17A192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25358"/>
              </p:ext>
            </p:extLst>
          </p:nvPr>
        </p:nvGraphicFramePr>
        <p:xfrm>
          <a:off x="307848" y="1294670"/>
          <a:ext cx="7784592" cy="2286000"/>
        </p:xfrm>
        <a:graphic>
          <a:graphicData uri="http://schemas.openxmlformats.org/drawingml/2006/table">
            <a:tbl>
              <a:tblPr/>
              <a:tblGrid>
                <a:gridCol w="2755392">
                  <a:extLst>
                    <a:ext uri="{9D8B030D-6E8A-4147-A177-3AD203B41FA5}">
                      <a16:colId xmlns:a16="http://schemas.microsoft.com/office/drawing/2014/main" val="2344263914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350278657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1193940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57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083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False Positive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2% (IMPORTANT)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841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Complaints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45 (IMPORTANT)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396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Spam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9,300 (IMPORTANT)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823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3C2F18-B96D-606E-0BF8-B30E748B4C21}"/>
              </a:ext>
            </a:extLst>
          </p:cNvPr>
          <p:cNvSpPr txBox="1"/>
          <p:nvPr/>
        </p:nvSpPr>
        <p:spPr>
          <a:xfrm>
            <a:off x="672084" y="4241030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B clearly improves real outcomes.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deploy Model B to 100% users.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DEE2CF-3BAE-DE2B-2ACB-35FB34111B92}"/>
              </a:ext>
            </a:extLst>
          </p:cNvPr>
          <p:cNvSpPr txBox="1"/>
          <p:nvPr/>
        </p:nvSpPr>
        <p:spPr>
          <a:xfrm>
            <a:off x="8430768" y="4425696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Model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335DCD-2B38-B8F7-6311-6A28D993D727}"/>
              </a:ext>
            </a:extLst>
          </p:cNvPr>
          <p:cNvSpPr txBox="1"/>
          <p:nvPr/>
        </p:nvSpPr>
        <p:spPr>
          <a:xfrm>
            <a:off x="8430768" y="5583206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Model B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34E8BD9-881A-11C5-7A7C-0EF1A95780AB}"/>
              </a:ext>
            </a:extLst>
          </p:cNvPr>
          <p:cNvSpPr/>
          <p:nvPr/>
        </p:nvSpPr>
        <p:spPr>
          <a:xfrm>
            <a:off x="7735824" y="4526279"/>
            <a:ext cx="521208" cy="28792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A021B3A-96F2-BD01-6EEB-F035B8B28650}"/>
              </a:ext>
            </a:extLst>
          </p:cNvPr>
          <p:cNvSpPr/>
          <p:nvPr/>
        </p:nvSpPr>
        <p:spPr>
          <a:xfrm>
            <a:off x="7763256" y="5670073"/>
            <a:ext cx="521208" cy="2879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8DA9AB-AE6F-7378-FB46-BA2AA677F89E}"/>
              </a:ext>
            </a:extLst>
          </p:cNvPr>
          <p:cNvSpPr txBox="1"/>
          <p:nvPr/>
        </p:nvSpPr>
        <p:spPr>
          <a:xfrm>
            <a:off x="7232904" y="4160520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50% email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E1534C-A17B-CE52-5E20-8481E9229750}"/>
              </a:ext>
            </a:extLst>
          </p:cNvPr>
          <p:cNvSpPr txBox="1"/>
          <p:nvPr/>
        </p:nvSpPr>
        <p:spPr>
          <a:xfrm>
            <a:off x="7246252" y="5319029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50% email</a:t>
            </a:r>
          </a:p>
        </p:txBody>
      </p:sp>
    </p:spTree>
    <p:extLst>
      <p:ext uri="{BB962C8B-B14F-4D97-AF65-F5344CB8AC3E}">
        <p14:creationId xmlns:p14="http://schemas.microsoft.com/office/powerpoint/2010/main" val="3744643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9E72-116C-26B3-56D3-95E7326D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E681B9-19E6-2F31-B765-CA9B79BAA5DA}"/>
              </a:ext>
            </a:extLst>
          </p:cNvPr>
          <p:cNvSpPr txBox="1"/>
          <p:nvPr/>
        </p:nvSpPr>
        <p:spPr>
          <a:xfrm>
            <a:off x="150876" y="327398"/>
            <a:ext cx="77495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How A/B Testing Works (Step-by-Step)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1) Define Goal</a:t>
            </a:r>
          </a:p>
          <a:p>
            <a:r>
              <a:rPr lang="en-US" sz="2400" dirty="0">
                <a:solidFill>
                  <a:srgbClr val="92D050"/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Increase signup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Improve click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Reduce bounce rate (Users leaving immediately)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2) Create Hypothesis</a:t>
            </a:r>
          </a:p>
          <a:p>
            <a:r>
              <a:rPr lang="en-US" sz="2400" dirty="0">
                <a:solidFill>
                  <a:srgbClr val="92D050"/>
                </a:solidFill>
              </a:rPr>
              <a:t>Example:</a:t>
            </a:r>
          </a:p>
          <a:p>
            <a:r>
              <a:rPr lang="en-US" sz="2400" dirty="0">
                <a:solidFill>
                  <a:srgbClr val="92D050"/>
                </a:solidFill>
              </a:rPr>
              <a:t>“Having a chatbot will increase conversions.”</a:t>
            </a:r>
          </a:p>
          <a:p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592C7-0593-8797-8D67-6F55EB72CD0F}"/>
              </a:ext>
            </a:extLst>
          </p:cNvPr>
          <p:cNvSpPr txBox="1"/>
          <p:nvPr/>
        </p:nvSpPr>
        <p:spPr>
          <a:xfrm>
            <a:off x="592531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8C8AF-67B3-6222-FD3E-24A423A1A6C5}"/>
              </a:ext>
            </a:extLst>
          </p:cNvPr>
          <p:cNvSpPr txBox="1"/>
          <p:nvPr/>
        </p:nvSpPr>
        <p:spPr>
          <a:xfrm>
            <a:off x="5967984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C8E30-0667-1A1B-2411-27D187776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3081528"/>
            <a:ext cx="5370921" cy="153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826305-296B-526A-B066-6FE609A2A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5192733"/>
            <a:ext cx="5386541" cy="1543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25F1C3-D12B-FDFF-B5EB-BA3226C9F8B0}"/>
              </a:ext>
            </a:extLst>
          </p:cNvPr>
          <p:cNvSpPr txBox="1"/>
          <p:nvPr/>
        </p:nvSpPr>
        <p:spPr>
          <a:xfrm>
            <a:off x="7040880" y="5980176"/>
            <a:ext cx="1882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02567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C2379-ADA2-9D4C-E386-6BF59906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86087-F246-7AC7-8844-08313F386BD9}"/>
              </a:ext>
            </a:extLst>
          </p:cNvPr>
          <p:cNvSpPr txBox="1"/>
          <p:nvPr/>
        </p:nvSpPr>
        <p:spPr>
          <a:xfrm>
            <a:off x="361188" y="802886"/>
            <a:ext cx="6190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3) Split Users Randomly</a:t>
            </a:r>
          </a:p>
          <a:p>
            <a:r>
              <a:rPr lang="en-US" sz="2400" dirty="0">
                <a:solidFill>
                  <a:srgbClr val="92D050"/>
                </a:solidFill>
              </a:rPr>
              <a:t>Group A → sees old version, without chatbot</a:t>
            </a:r>
          </a:p>
          <a:p>
            <a:r>
              <a:rPr lang="en-US" sz="2400" dirty="0">
                <a:solidFill>
                  <a:srgbClr val="92D050"/>
                </a:solidFill>
              </a:rPr>
              <a:t>Group B → sees new version, with chatbot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(Randomization is VERY important.)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4) Run Experiment</a:t>
            </a:r>
          </a:p>
          <a:p>
            <a:r>
              <a:rPr lang="en-US" sz="2400" dirty="0">
                <a:solidFill>
                  <a:srgbClr val="92D050"/>
                </a:solidFill>
              </a:rPr>
              <a:t>Collect data for sufficient time.</a:t>
            </a:r>
          </a:p>
          <a:p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50C99F-8DDE-839C-1224-AE8EDBBA9851}"/>
              </a:ext>
            </a:extLst>
          </p:cNvPr>
          <p:cNvSpPr txBox="1"/>
          <p:nvPr/>
        </p:nvSpPr>
        <p:spPr>
          <a:xfrm>
            <a:off x="592531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CE7AB-8758-0BD3-1947-3FC068FF5555}"/>
              </a:ext>
            </a:extLst>
          </p:cNvPr>
          <p:cNvSpPr txBox="1"/>
          <p:nvPr/>
        </p:nvSpPr>
        <p:spPr>
          <a:xfrm>
            <a:off x="5967984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1AF17-95BF-888B-F316-2AE4F7442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3081528"/>
            <a:ext cx="5370921" cy="153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C777CE-A457-7FFD-F839-5422985B4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5192733"/>
            <a:ext cx="5386541" cy="1543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7EEAE4-63AE-E28E-5CEE-468ABDA4A81E}"/>
              </a:ext>
            </a:extLst>
          </p:cNvPr>
          <p:cNvSpPr txBox="1"/>
          <p:nvPr/>
        </p:nvSpPr>
        <p:spPr>
          <a:xfrm>
            <a:off x="7040880" y="5980176"/>
            <a:ext cx="1882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512393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E04D-5B7E-BA06-9323-866B7042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D9CF9B-63F7-C331-E37A-604211E46FDC}"/>
              </a:ext>
            </a:extLst>
          </p:cNvPr>
          <p:cNvSpPr txBox="1"/>
          <p:nvPr/>
        </p:nvSpPr>
        <p:spPr>
          <a:xfrm>
            <a:off x="361188" y="802886"/>
            <a:ext cx="102641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5) Analyze Results</a:t>
            </a:r>
          </a:p>
          <a:p>
            <a:r>
              <a:rPr lang="en-US" sz="2400" dirty="0">
                <a:solidFill>
                  <a:srgbClr val="92D050"/>
                </a:solidFill>
              </a:rPr>
              <a:t>Use statistical testing: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z-test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chi-square test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9900A-08B2-B5FF-CB20-F6F601C249E3}"/>
              </a:ext>
            </a:extLst>
          </p:cNvPr>
          <p:cNvSpPr txBox="1"/>
          <p:nvPr/>
        </p:nvSpPr>
        <p:spPr>
          <a:xfrm>
            <a:off x="592531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0837B-26B5-4A7B-77C4-2F6068397F0B}"/>
              </a:ext>
            </a:extLst>
          </p:cNvPr>
          <p:cNvSpPr txBox="1"/>
          <p:nvPr/>
        </p:nvSpPr>
        <p:spPr>
          <a:xfrm>
            <a:off x="5967984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B9A54-98B0-732E-EFCA-05A5B965A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3081528"/>
            <a:ext cx="5370921" cy="153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ED250B-73D8-58DB-C203-B6D7F4EF4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5192733"/>
            <a:ext cx="5386541" cy="1543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9657E7-6872-2BA4-1251-E5819FE80C76}"/>
              </a:ext>
            </a:extLst>
          </p:cNvPr>
          <p:cNvSpPr txBox="1"/>
          <p:nvPr/>
        </p:nvSpPr>
        <p:spPr>
          <a:xfrm>
            <a:off x="7040880" y="5980176"/>
            <a:ext cx="1882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628086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284D-F25B-7E57-AA0C-71CFD2DB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701432-34E5-8DA4-F927-E5E216911A68}"/>
              </a:ext>
            </a:extLst>
          </p:cNvPr>
          <p:cNvSpPr txBox="1"/>
          <p:nvPr/>
        </p:nvSpPr>
        <p:spPr>
          <a:xfrm>
            <a:off x="361188" y="802886"/>
            <a:ext cx="102641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Statistical Concept Behind A/B Testing:</a:t>
            </a:r>
          </a:p>
          <a:p>
            <a:r>
              <a:rPr lang="en-US" sz="2400" dirty="0">
                <a:solidFill>
                  <a:srgbClr val="92D050"/>
                </a:solidFill>
              </a:rPr>
              <a:t>A/B testing relies on </a:t>
            </a:r>
            <a:r>
              <a:rPr lang="en-US" sz="2400" b="1" dirty="0">
                <a:solidFill>
                  <a:srgbClr val="92D050"/>
                </a:solidFill>
              </a:rPr>
              <a:t>hypothesis testing</a:t>
            </a:r>
            <a:r>
              <a:rPr lang="en-US" sz="2400" dirty="0">
                <a:solidFill>
                  <a:srgbClr val="92D050"/>
                </a:solidFill>
              </a:rPr>
              <a:t>.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92D050"/>
                </a:solidFill>
              </a:rPr>
              <a:t>Null Hypothesis (H₀):  </a:t>
            </a:r>
            <a:r>
              <a:rPr lang="en-US" sz="2400" dirty="0">
                <a:solidFill>
                  <a:srgbClr val="92D050"/>
                </a:solidFill>
              </a:rPr>
              <a:t>No difference between A and B.</a:t>
            </a:r>
            <a:endParaRPr lang="en-US" sz="2400" b="1" dirty="0">
              <a:solidFill>
                <a:srgbClr val="92D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92D050"/>
                </a:solidFill>
              </a:rPr>
              <a:t>Alternative Hypothesis (H₁): </a:t>
            </a:r>
            <a:r>
              <a:rPr lang="en-US" sz="2400" dirty="0">
                <a:solidFill>
                  <a:srgbClr val="92D050"/>
                </a:solidFill>
              </a:rPr>
              <a:t>Version B is better than A.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If probability (p-value) is small,</a:t>
            </a:r>
          </a:p>
          <a:p>
            <a:r>
              <a:rPr lang="en-US" sz="2400" dirty="0">
                <a:solidFill>
                  <a:srgbClr val="92D050"/>
                </a:solidFill>
              </a:rPr>
              <a:t> -&gt; Reject H₀. </a:t>
            </a:r>
          </a:p>
          <a:p>
            <a:r>
              <a:rPr lang="en-US" sz="2400" dirty="0">
                <a:solidFill>
                  <a:srgbClr val="92D050"/>
                </a:solidFill>
              </a:rPr>
              <a:t>-&gt; There is statistical difference</a:t>
            </a:r>
          </a:p>
          <a:p>
            <a:r>
              <a:rPr lang="en-US" sz="2400" dirty="0">
                <a:solidFill>
                  <a:srgbClr val="92D050"/>
                </a:solidFill>
              </a:rPr>
              <a:t>      between A and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22DB66-A97D-4ADE-0FAF-7FF5137BEA10}"/>
              </a:ext>
            </a:extLst>
          </p:cNvPr>
          <p:cNvSpPr txBox="1"/>
          <p:nvPr/>
        </p:nvSpPr>
        <p:spPr>
          <a:xfrm>
            <a:off x="592531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4041A-BFAA-C150-F3E7-875DCBD273C1}"/>
              </a:ext>
            </a:extLst>
          </p:cNvPr>
          <p:cNvSpPr txBox="1"/>
          <p:nvPr/>
        </p:nvSpPr>
        <p:spPr>
          <a:xfrm>
            <a:off x="5967984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2D774-B8BA-16BD-CE08-919DFA00C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3081528"/>
            <a:ext cx="5370921" cy="153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976C37-B65C-58A0-4B48-18C88DC20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5192733"/>
            <a:ext cx="5386541" cy="1543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2C305E-CEE5-B32A-CD20-AFC25EB0EEEB}"/>
              </a:ext>
            </a:extLst>
          </p:cNvPr>
          <p:cNvSpPr txBox="1"/>
          <p:nvPr/>
        </p:nvSpPr>
        <p:spPr>
          <a:xfrm>
            <a:off x="7040880" y="5980176"/>
            <a:ext cx="1882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1205652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67FC-A459-4E99-EE58-FFAA8DEB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9C0584-7C72-8A94-D3FD-4908988C7A46}"/>
              </a:ext>
            </a:extLst>
          </p:cNvPr>
          <p:cNvSpPr txBox="1"/>
          <p:nvPr/>
        </p:nvSpPr>
        <p:spPr>
          <a:xfrm>
            <a:off x="361188" y="802886"/>
            <a:ext cx="8051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6) Make Decision</a:t>
            </a:r>
          </a:p>
          <a:p>
            <a:r>
              <a:rPr lang="en-US" sz="2400" dirty="0">
                <a:solidFill>
                  <a:srgbClr val="92D050"/>
                </a:solidFill>
              </a:rPr>
              <a:t>Choose version with </a:t>
            </a:r>
            <a:r>
              <a:rPr lang="en-US" sz="2400" b="1" dirty="0">
                <a:solidFill>
                  <a:srgbClr val="92D050"/>
                </a:solidFill>
              </a:rPr>
              <a:t>statistically significant improvement</a:t>
            </a:r>
            <a:r>
              <a:rPr lang="en-US" sz="2400" dirty="0">
                <a:solidFill>
                  <a:srgbClr val="92D050"/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20289-8CA3-9BCD-A940-F46967B33ACB}"/>
              </a:ext>
            </a:extLst>
          </p:cNvPr>
          <p:cNvSpPr txBox="1"/>
          <p:nvPr/>
        </p:nvSpPr>
        <p:spPr>
          <a:xfrm>
            <a:off x="592531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C9F0C-40A1-80ED-CE5E-FD3F95977F6E}"/>
              </a:ext>
            </a:extLst>
          </p:cNvPr>
          <p:cNvSpPr txBox="1"/>
          <p:nvPr/>
        </p:nvSpPr>
        <p:spPr>
          <a:xfrm>
            <a:off x="5967984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42239-1873-8E64-280A-C9851145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3081528"/>
            <a:ext cx="5370921" cy="153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2233BB-3852-40CD-DB16-E1C57BB37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5192733"/>
            <a:ext cx="5386541" cy="1543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CB99D3-394D-455C-03C3-E5CD436BF515}"/>
              </a:ext>
            </a:extLst>
          </p:cNvPr>
          <p:cNvSpPr txBox="1"/>
          <p:nvPr/>
        </p:nvSpPr>
        <p:spPr>
          <a:xfrm>
            <a:off x="7040880" y="5980176"/>
            <a:ext cx="1882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384790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EBCD8-4D54-3A68-C087-D07CAAC8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E64E2E-EE2F-D49B-0D09-0D6CB2638891}"/>
              </a:ext>
            </a:extLst>
          </p:cNvPr>
          <p:cNvSpPr txBox="1"/>
          <p:nvPr/>
        </p:nvSpPr>
        <p:spPr>
          <a:xfrm>
            <a:off x="210312" y="572947"/>
            <a:ext cx="4526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Real-Life Uses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E-commerce: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Product page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Pricing display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Checkout flow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endParaRPr lang="en-US" sz="2400" b="1" dirty="0">
              <a:solidFill>
                <a:srgbClr val="92D050"/>
              </a:solidFill>
            </a:endParaRP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Apps: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UI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Notification timing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Feature rollout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BB1F2-8651-8283-F0CE-8E4ADE197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544" y="448053"/>
            <a:ext cx="3012123" cy="26512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A75442-E2A0-02B6-31A5-807A5F10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656251"/>
            <a:ext cx="3769490" cy="2234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80B0D9-62DA-7C9F-6C77-D6C60FF2151C}"/>
              </a:ext>
            </a:extLst>
          </p:cNvPr>
          <p:cNvSpPr txBox="1"/>
          <p:nvPr/>
        </p:nvSpPr>
        <p:spPr>
          <a:xfrm>
            <a:off x="5733288" y="3218688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D795E-9503-AB29-A8E2-9AD4929BAFB0}"/>
              </a:ext>
            </a:extLst>
          </p:cNvPr>
          <p:cNvSpPr txBox="1"/>
          <p:nvPr/>
        </p:nvSpPr>
        <p:spPr>
          <a:xfrm>
            <a:off x="9552432" y="3282696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74408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ADB7-0566-9E57-A168-2307427A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19EC5-7F05-279C-8631-347587F2446A}"/>
              </a:ext>
            </a:extLst>
          </p:cNvPr>
          <p:cNvSpPr txBox="1"/>
          <p:nvPr/>
        </p:nvSpPr>
        <p:spPr>
          <a:xfrm>
            <a:off x="260604" y="703410"/>
            <a:ext cx="61904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Real-Life Uses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Email Marketing: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Subject 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Email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Send timing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Machine Learning: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Compare two models in production</a:t>
            </a:r>
          </a:p>
        </p:txBody>
      </p:sp>
    </p:spTree>
    <p:extLst>
      <p:ext uri="{BB962C8B-B14F-4D97-AF65-F5344CB8AC3E}">
        <p14:creationId xmlns:p14="http://schemas.microsoft.com/office/powerpoint/2010/main" val="1329607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D7E84-4487-A97B-7524-E8193BC8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6D6B14-B5E8-C6DA-555F-AF0C97C965B5}"/>
              </a:ext>
            </a:extLst>
          </p:cNvPr>
          <p:cNvSpPr txBox="1"/>
          <p:nvPr/>
        </p:nvSpPr>
        <p:spPr>
          <a:xfrm>
            <a:off x="260604" y="703410"/>
            <a:ext cx="96423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A/B Testing is Powerful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Data-driven decisions  and Removes guessing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products scientifically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98F8B-6B9D-1FA1-FE32-B5956A170417}"/>
              </a:ext>
            </a:extLst>
          </p:cNvPr>
          <p:cNvSpPr txBox="1"/>
          <p:nvPr/>
        </p:nvSpPr>
        <p:spPr>
          <a:xfrm>
            <a:off x="592531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53C97-9EAD-428C-675C-34ADC6253EDD}"/>
              </a:ext>
            </a:extLst>
          </p:cNvPr>
          <p:cNvSpPr txBox="1"/>
          <p:nvPr/>
        </p:nvSpPr>
        <p:spPr>
          <a:xfrm>
            <a:off x="5967984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7356A-6217-2856-2266-9D8BDE407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3081528"/>
            <a:ext cx="5370921" cy="153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E4BB8A-8C35-2353-3024-589925494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5192733"/>
            <a:ext cx="5386541" cy="1543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266677-6D18-055D-156B-CE0692FD3482}"/>
              </a:ext>
            </a:extLst>
          </p:cNvPr>
          <p:cNvSpPr txBox="1"/>
          <p:nvPr/>
        </p:nvSpPr>
        <p:spPr>
          <a:xfrm>
            <a:off x="7040880" y="5980176"/>
            <a:ext cx="1882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30078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E57A-4629-BB0C-C57D-C2866D83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266905-99E3-44B7-785F-2C368A1D8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92812"/>
              </p:ext>
            </p:extLst>
          </p:nvPr>
        </p:nvGraphicFramePr>
        <p:xfrm>
          <a:off x="179832" y="1852454"/>
          <a:ext cx="7510272" cy="2743200"/>
        </p:xfrm>
        <a:graphic>
          <a:graphicData uri="http://schemas.openxmlformats.org/drawingml/2006/table">
            <a:tbl>
              <a:tblPr/>
              <a:tblGrid>
                <a:gridCol w="2956560">
                  <a:extLst>
                    <a:ext uri="{9D8B030D-6E8A-4147-A177-3AD203B41FA5}">
                      <a16:colId xmlns:a16="http://schemas.microsoft.com/office/drawing/2014/main" val="930938492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1742323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0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Conversion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% users completing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165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CTR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Click Through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812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Bounce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Users leaving immediately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8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 per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920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Engagement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interest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353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95272E-8F52-11F5-DC9A-FA1036EE6136}"/>
              </a:ext>
            </a:extLst>
          </p:cNvPr>
          <p:cNvSpPr txBox="1"/>
          <p:nvPr/>
        </p:nvSpPr>
        <p:spPr>
          <a:xfrm>
            <a:off x="589788" y="122351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Business Metrics Used for web pages</a:t>
            </a:r>
          </a:p>
        </p:txBody>
      </p:sp>
    </p:spTree>
    <p:extLst>
      <p:ext uri="{BB962C8B-B14F-4D97-AF65-F5344CB8AC3E}">
        <p14:creationId xmlns:p14="http://schemas.microsoft.com/office/powerpoint/2010/main" val="3233514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9D01-DFE5-FC2A-1748-3D5847C5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18F7-B4BF-8F37-93C7-C6713312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999590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538B46-B035-0367-0027-D01DEA8F6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454" y="1728215"/>
            <a:ext cx="4907608" cy="26643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A27BA7-DCEF-A66A-1D37-D2C19C686303}"/>
              </a:ext>
            </a:extLst>
          </p:cNvPr>
          <p:cNvSpPr txBox="1"/>
          <p:nvPr/>
        </p:nvSpPr>
        <p:spPr>
          <a:xfrm>
            <a:off x="1792224" y="1618488"/>
            <a:ext cx="46692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</a:rPr>
              <a:t>Loxford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Academy</a:t>
            </a:r>
          </a:p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a better future.</a:t>
            </a:r>
          </a:p>
          <a:p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2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512</TotalTime>
  <Words>691</Words>
  <Application>Microsoft Office PowerPoint</Application>
  <PresentationFormat>Widescreen</PresentationFormat>
  <Paragraphs>206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A/B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102</cp:revision>
  <dcterms:created xsi:type="dcterms:W3CDTF">2025-09-22T02:44:38Z</dcterms:created>
  <dcterms:modified xsi:type="dcterms:W3CDTF">2026-02-20T06:47:04Z</dcterms:modified>
</cp:coreProperties>
</file>