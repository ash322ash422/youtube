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276" r:id="rId2"/>
    <p:sldId id="277" r:id="rId3"/>
    <p:sldId id="279" r:id="rId4"/>
    <p:sldId id="280" r:id="rId5"/>
    <p:sldId id="281" r:id="rId6"/>
    <p:sldId id="27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5/14/2026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DCFCDAA-7E66-CB0C-153A-EF2A3F22CDD3}"/>
              </a:ext>
            </a:extLst>
          </p:cNvPr>
          <p:cNvSpPr txBox="1"/>
          <p:nvPr/>
        </p:nvSpPr>
        <p:spPr>
          <a:xfrm>
            <a:off x="1563624" y="3241224"/>
            <a:ext cx="902512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2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3 Types of AI based on its capability</a:t>
            </a:r>
            <a:endParaRPr lang="en-US" b="1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3766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DBC76-F074-4D6A-9D12-4A6E235EF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C0561E9-6D2F-41AC-7540-09DAF78DF02B}"/>
              </a:ext>
            </a:extLst>
          </p:cNvPr>
          <p:cNvSpPr txBox="1"/>
          <p:nvPr/>
        </p:nvSpPr>
        <p:spPr>
          <a:xfrm>
            <a:off x="320040" y="166401"/>
            <a:ext cx="11402568" cy="3251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>
              <a:lnSpc>
                <a:spcPct val="107000"/>
              </a:lnSpc>
              <a:spcAft>
                <a:spcPts val="800"/>
              </a:spcAft>
              <a:buFont typeface="+mj-lt"/>
              <a:buAutoNum type="arabicParenR"/>
            </a:pPr>
            <a:r>
              <a:rPr lang="en-IN" sz="2400" b="1" dirty="0"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Narrow AI (Weak AI):</a:t>
            </a: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sz="2400" dirty="0"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This type of AI is designed to perform a specific task and lacks the ability to learn or generalize to other tasks.</a:t>
            </a:r>
          </a:p>
          <a:p>
            <a:pPr marL="0" marR="0">
              <a:lnSpc>
                <a:spcPct val="107000"/>
              </a:lnSpc>
              <a:spcAft>
                <a:spcPts val="800"/>
              </a:spcAft>
              <a:buNone/>
            </a:pPr>
            <a:endParaRPr lang="en-IN" sz="2400" dirty="0">
              <a:solidFill>
                <a:schemeClr val="accent6">
                  <a:lumMod val="40000"/>
                  <a:lumOff val="60000"/>
                </a:schemeClr>
              </a:solidFill>
              <a:latin typeface="Calibri" panose="020F0502020204030204" pitchFamily="34" charset="0"/>
              <a:ea typeface="Times New Roman" panose="02020603050405020304" pitchFamily="18" charset="0"/>
              <a:cs typeface="Calibri" panose="020F0502020204030204" pitchFamily="34" charset="0"/>
            </a:endParaRPr>
          </a:p>
          <a:p>
            <a:pPr marL="0" marR="0"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sz="2400" dirty="0"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 Examples include facial recognition software, virtual assistants (like Siri or Alexa), and spam filters.</a:t>
            </a:r>
            <a:r>
              <a:rPr lang="en-IN" sz="2400" b="1" dirty="0"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sz="2400" b="1" dirty="0"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Machine learning, Traditional AI and Generative AI comes under Weak AI</a:t>
            </a:r>
            <a:r>
              <a:rPr lang="en-IN" sz="2400" dirty="0"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</a:t>
            </a:r>
            <a:r>
              <a:rPr lang="en-IN" sz="2400" b="1" dirty="0">
                <a:solidFill>
                  <a:schemeClr val="accent6">
                    <a:lumMod val="40000"/>
                    <a:lumOff val="60000"/>
                  </a:schemeClr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 </a:t>
            </a: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49218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F0212-3EFC-017B-449D-71A98FF49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93B864-0B3E-8641-497C-5C69CAD15EC1}"/>
              </a:ext>
            </a:extLst>
          </p:cNvPr>
          <p:cNvSpPr txBox="1"/>
          <p:nvPr/>
        </p:nvSpPr>
        <p:spPr>
          <a:xfrm>
            <a:off x="320040" y="166401"/>
            <a:ext cx="11402568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IN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2) General AI (Artificial General Intelligence, AGI):</a:t>
            </a:r>
          </a:p>
          <a:p>
            <a:pPr lvl="0"/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r>
              <a:rPr lang="en-IN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AGI aims to mimic human-level intelligence, meaning it can understand, learn, and perform any intellectual task that a human being can. This is a </a:t>
            </a:r>
            <a:r>
              <a:rPr lang="en-IN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theoretical concept that is currently not yet fully realized</a:t>
            </a:r>
            <a:r>
              <a:rPr lang="en-IN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. </a:t>
            </a:r>
          </a:p>
          <a:p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r>
              <a:rPr lang="en-IN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Key Characteristics of AGI</a:t>
            </a: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lvl="0"/>
            <a:r>
              <a:rPr lang="en-IN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Versatility</a:t>
            </a:r>
            <a:r>
              <a:rPr lang="en-IN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: AGI can handle multiple tasks across different domains </a:t>
            </a:r>
            <a:r>
              <a:rPr lang="en-IN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without needing to be retrained</a:t>
            </a:r>
            <a:r>
              <a:rPr lang="en-IN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for each one. For example, it could play chess, compose music, conduct scientific research, and interpret human emotions—all with the same underlying intelligence. </a:t>
            </a: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lvl="0"/>
            <a:r>
              <a:rPr lang="en-IN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Adaptability and Self-Improvement</a:t>
            </a:r>
            <a:r>
              <a:rPr lang="en-IN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: AGI systems can learn from past experiences and </a:t>
            </a:r>
            <a:r>
              <a:rPr lang="en-IN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apply that knowledge to unfamiliar scenarios</a:t>
            </a:r>
            <a:r>
              <a:rPr lang="en-IN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, enabling them to navigate and solve complex challenges efficiently. </a:t>
            </a: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528200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F431C-8F14-DAF3-7682-314757910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173A375-6256-4A07-0C05-49D703A88695}"/>
              </a:ext>
            </a:extLst>
          </p:cNvPr>
          <p:cNvSpPr txBox="1"/>
          <p:nvPr/>
        </p:nvSpPr>
        <p:spPr>
          <a:xfrm>
            <a:off x="320040" y="166401"/>
            <a:ext cx="1140256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Example: IBM Watson: Multidomain Reasoning </a:t>
            </a:r>
          </a:p>
          <a:p>
            <a:endParaRPr lang="en-IN" sz="2400" b="1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r>
              <a:rPr lang="en-IN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IBM's Watson gained prominence by winning the quiz show </a:t>
            </a:r>
            <a:r>
              <a:rPr lang="en-IN" sz="2400" i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Jeopardy!</a:t>
            </a:r>
            <a:r>
              <a:rPr lang="en-IN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, showcasing its ability to process and understand natural language. Beyond entertainment, Watson has been applied in healthcare, where it </a:t>
            </a:r>
            <a:r>
              <a:rPr lang="en-IN" sz="2400" dirty="0" err="1">
                <a:solidFill>
                  <a:schemeClr val="accent6">
                    <a:lumMod val="40000"/>
                    <a:lumOff val="60000"/>
                  </a:schemeClr>
                </a:solidFill>
              </a:rPr>
              <a:t>analyzes</a:t>
            </a:r>
            <a:r>
              <a:rPr lang="en-IN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vast datasets, including medical records and research papers, to assist doctors in diagnosing diseases and suggesting treatment plans. </a:t>
            </a: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42792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FCBAA-8E60-1CDB-50CE-73B669A63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1C69043-2E50-D772-0B4F-D08941703080}"/>
              </a:ext>
            </a:extLst>
          </p:cNvPr>
          <p:cNvSpPr txBox="1"/>
          <p:nvPr/>
        </p:nvSpPr>
        <p:spPr>
          <a:xfrm>
            <a:off x="320040" y="166401"/>
            <a:ext cx="11402568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 </a:t>
            </a:r>
            <a:r>
              <a:rPr lang="en-IN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Super AI (Artificial Superintelligence, ASI):</a:t>
            </a:r>
          </a:p>
          <a:p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ASI represents AI that surpasses human intelligence in all aspects. This is also a theoretical concept and a potential future development. 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ASI could solve complex problems, make predictions with high accuracy, and understand intricate systems better than any human expert.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ASI would autonomously 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enhance its own algorithms and knowledge base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, leading to rapid and continuous improvement.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ASI would understand and interpret human emotions, social cues, and cultural contexts, enabling it to interact seamlessly with humans.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ASI would have virtually </a:t>
            </a:r>
            <a:r>
              <a:rPr lang="en-US" sz="2400" b="1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unlimited memory and processing capabilities,</a:t>
            </a:r>
            <a:r>
              <a:rPr lang="en-US" sz="2400"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 allowing it to analyze vast amounts of data and perform complex computations at unprecedented </a:t>
            </a:r>
            <a:r>
              <a:rPr lang="en-US" sz="2400">
                <a:solidFill>
                  <a:schemeClr val="accent6">
                    <a:lumMod val="40000"/>
                    <a:lumOff val="60000"/>
                  </a:schemeClr>
                </a:solidFill>
              </a:rPr>
              <a:t>speeds.</a:t>
            </a:r>
            <a:endParaRPr lang="en-US" sz="2400" dirty="0">
              <a:solidFill>
                <a:schemeClr val="accent6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58587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95876-3DB5-38A3-17B9-DD2518102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91370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1100</TotalTime>
  <Words>379</Words>
  <Application>Microsoft Office PowerPoint</Application>
  <PresentationFormat>Widescreen</PresentationFormat>
  <Paragraphs>27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183</cp:revision>
  <dcterms:created xsi:type="dcterms:W3CDTF">2025-09-22T02:44:38Z</dcterms:created>
  <dcterms:modified xsi:type="dcterms:W3CDTF">2026-05-14T05:56:38Z</dcterms:modified>
</cp:coreProperties>
</file>