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76" r:id="rId2"/>
    <p:sldId id="257" r:id="rId3"/>
    <p:sldId id="279" r:id="rId4"/>
    <p:sldId id="277" r:id="rId5"/>
    <p:sldId id="278" r:id="rId6"/>
    <p:sldId id="280" r:id="rId7"/>
    <p:sldId id="281" r:id="rId8"/>
    <p:sldId id="282" r:id="rId9"/>
    <p:sldId id="284" r:id="rId10"/>
    <p:sldId id="285" r:id="rId11"/>
    <p:sldId id="275" r:id="rId12"/>
    <p:sldId id="283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4D434B-D926-D91F-8DDE-EA8DD4BF2658}"/>
              </a:ext>
            </a:extLst>
          </p:cNvPr>
          <p:cNvSpPr txBox="1"/>
          <p:nvPr/>
        </p:nvSpPr>
        <p:spPr>
          <a:xfrm>
            <a:off x="1796796" y="1506707"/>
            <a:ext cx="8106156" cy="2453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200"/>
              </a:spcBef>
              <a:buNone/>
            </a:pPr>
            <a:r>
              <a:rPr lang="en-US" sz="2800" b="1" kern="18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difference between the type of problems that are solved by </a:t>
            </a:r>
          </a:p>
          <a:p>
            <a:pPr marL="0" marR="0" algn="ctr">
              <a:lnSpc>
                <a:spcPct val="107000"/>
              </a:lnSpc>
              <a:spcBef>
                <a:spcPts val="200"/>
              </a:spcBef>
              <a:buNone/>
            </a:pPr>
            <a:r>
              <a:rPr lang="en-US" sz="2800" b="1" kern="1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b="1" kern="18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raditional Algorithm </a:t>
            </a:r>
          </a:p>
          <a:p>
            <a:pPr marL="0" marR="0" algn="ctr">
              <a:lnSpc>
                <a:spcPct val="107000"/>
              </a:lnSpc>
              <a:spcBef>
                <a:spcPts val="200"/>
              </a:spcBef>
              <a:buNone/>
            </a:pPr>
            <a:r>
              <a:rPr lang="en-US" sz="2800" b="1" kern="18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versus </a:t>
            </a:r>
          </a:p>
          <a:p>
            <a:pPr marL="0" marR="0" algn="ctr">
              <a:lnSpc>
                <a:spcPct val="107000"/>
              </a:lnSpc>
              <a:spcBef>
                <a:spcPts val="200"/>
              </a:spcBef>
              <a:buNone/>
            </a:pPr>
            <a:r>
              <a:rPr lang="en-US" sz="2800" b="1" kern="18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AI/ML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F3EE3E-466C-D93C-98A4-CC6C57164A31}"/>
              </a:ext>
            </a:extLst>
          </p:cNvPr>
          <p:cNvSpPr txBox="1"/>
          <p:nvPr/>
        </p:nvSpPr>
        <p:spPr>
          <a:xfrm>
            <a:off x="3012948" y="3241224"/>
            <a:ext cx="6190488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PART1</a:t>
            </a:r>
            <a:endParaRPr lang="en-US" sz="14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C895B-68FB-B714-7CF9-187A53493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AE671F-38C3-3F84-2FE3-F4F29A53B473}"/>
              </a:ext>
            </a:extLst>
          </p:cNvPr>
          <p:cNvSpPr txBox="1"/>
          <p:nvPr/>
        </p:nvSpPr>
        <p:spPr>
          <a:xfrm>
            <a:off x="2116836" y="2473128"/>
            <a:ext cx="83256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  <a:ea typeface="Times New Roman" panose="02020603050405020304" pitchFamily="18" charset="0"/>
              </a:rPr>
              <a:t>When Are Traditional algorithms Superior ?</a:t>
            </a:r>
          </a:p>
        </p:txBody>
      </p:sp>
    </p:spTree>
    <p:extLst>
      <p:ext uri="{BB962C8B-B14F-4D97-AF65-F5344CB8AC3E}">
        <p14:creationId xmlns:p14="http://schemas.microsoft.com/office/powerpoint/2010/main" val="298446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7AD99-7E82-B733-03F5-B724AC702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B8C80A-9694-F500-4DF2-CBA44AFBC99A}"/>
              </a:ext>
            </a:extLst>
          </p:cNvPr>
          <p:cNvSpPr txBox="1"/>
          <p:nvPr/>
        </p:nvSpPr>
        <p:spPr>
          <a:xfrm>
            <a:off x="612648" y="174767"/>
            <a:ext cx="9957816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iri Body"/>
                <a:ea typeface="Calibri" panose="020F0502020204030204" pitchFamily="34" charset="0"/>
                <a:cs typeface="Times New Roman" panose="02020603050405020304" pitchFamily="18" charset="0"/>
              </a:rPr>
              <a:t>a) The problem has clear, explicit rules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iri Body"/>
                <a:ea typeface="Calibri" panose="020F0502020204030204" pitchFamily="34" charset="0"/>
                <a:cs typeface="Times New Roman" panose="02020603050405020304" pitchFamily="18" charset="0"/>
              </a:rPr>
              <a:t> that can be precisely defined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6807A3-ED89-395F-DE89-EC7948AD8409}"/>
              </a:ext>
            </a:extLst>
          </p:cNvPr>
          <p:cNvSpPr txBox="1"/>
          <p:nvPr/>
        </p:nvSpPr>
        <p:spPr>
          <a:xfrm>
            <a:off x="132588" y="1450447"/>
            <a:ext cx="6190488" cy="453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Sorting algorithms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like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 Sort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Quick Sort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Bubble Sort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problems have strict rules 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(e.g., "place smaller elements before larger ones")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can be solved efficiently with deterministic logic.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2, 4, 6, 2, 6  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2, 2, 4, 6, 6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DFDB5B-85EB-EFA9-B9F2-4A3A2787A8FC}"/>
              </a:ext>
            </a:extLst>
          </p:cNvPr>
          <p:cNvSpPr txBox="1"/>
          <p:nvPr/>
        </p:nvSpPr>
        <p:spPr>
          <a:xfrm>
            <a:off x="7694676" y="1450447"/>
            <a:ext cx="4256532" cy="1963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Mathematical calculations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Interest = 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x R x 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Voltage = I x R, 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405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9C21B-A9EC-ECCC-8F89-3EB1C1B93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620DE1-1387-7D75-902A-8C38923F1793}"/>
              </a:ext>
            </a:extLst>
          </p:cNvPr>
          <p:cNvSpPr txBox="1"/>
          <p:nvPr/>
        </p:nvSpPr>
        <p:spPr>
          <a:xfrm>
            <a:off x="246888" y="437340"/>
            <a:ext cx="10195560" cy="52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Calibri" panose="020F0502020204030204" pitchFamily="34" charset="0"/>
                <a:cs typeface="Times New Roman" panose="02020603050405020304" pitchFamily="18" charset="0"/>
              </a:rPr>
              <a:t>b) Complete accuracy is required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Calibri" panose="020F0502020204030204" pitchFamily="34" charset="0"/>
                <a:cs typeface="Calibri" panose="020F0502020204030204" pitchFamily="34" charset="0"/>
              </a:rPr>
              <a:t> with no room for probabilistic outcomes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 Body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 Body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Calibri" panose="020F0502020204030204" pitchFamily="34" charset="0"/>
                <a:cs typeface="Times New Roman" panose="02020603050405020304" pitchFamily="18" charset="0"/>
              </a:rPr>
              <a:t>Example: Encryption/decryption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Body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Calibri" panose="020F0502020204030204" pitchFamily="34" charset="0"/>
                <a:cs typeface="Times New Roman" panose="02020603050405020304" pitchFamily="18" charset="0"/>
              </a:rPr>
              <a:t>Cryptographic algorithms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Calibri" panose="020F0502020204030204" pitchFamily="34" charset="0"/>
                <a:cs typeface="Calibri" panose="020F0502020204030204" pitchFamily="34" charset="0"/>
              </a:rPr>
              <a:t> like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Calibri" panose="020F0502020204030204" pitchFamily="34" charset="0"/>
                <a:cs typeface="Calibri" panose="020F0502020204030204" pitchFamily="34" charset="0"/>
              </a:rPr>
              <a:t>RSA encryption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Calibri" panose="020F0502020204030204" pitchFamily="34" charset="0"/>
                <a:cs typeface="Calibri" panose="020F0502020204030204" pitchFamily="34" charset="0"/>
              </a:rPr>
              <a:t>SHA-256 hashing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Calibri" panose="020F0502020204030204" pitchFamily="34" charset="0"/>
                <a:cs typeface="Calibri" panose="020F0502020204030204" pitchFamily="34" charset="0"/>
              </a:rPr>
              <a:t>Security demands precise, repeatable outcomes — there's no tolerance for approximation or probabilistic errors.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ri Body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Body"/>
                <a:ea typeface="Calibri" panose="020F0502020204030204" pitchFamily="34" charset="0"/>
                <a:cs typeface="Calibri" panose="020F0502020204030204" pitchFamily="34" charset="0"/>
              </a:rPr>
              <a:t>Example: 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Body"/>
              </a:rPr>
              <a:t>Database queries -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Body"/>
              </a:rPr>
              <a:t> Finding exact matches in structured data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Body"/>
              </a:rPr>
              <a:t>Why: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Body"/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Body"/>
              </a:rPr>
              <a:t>When querying a database (e.g., SELECT * FROM users WHERE id = 123), you're expecting an exact, deterministic match. Any fuzziness would be incorrect in this context.</a:t>
            </a:r>
          </a:p>
        </p:txBody>
      </p:sp>
    </p:spTree>
    <p:extLst>
      <p:ext uri="{BB962C8B-B14F-4D97-AF65-F5344CB8AC3E}">
        <p14:creationId xmlns:p14="http://schemas.microsoft.com/office/powerpoint/2010/main" val="268457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10F55-E0CD-E8E0-6997-24183FE2B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B56E76-6718-BDB6-E87A-3D2092EDBF9B}"/>
              </a:ext>
            </a:extLst>
          </p:cNvPr>
          <p:cNvSpPr txBox="1"/>
          <p:nvPr/>
        </p:nvSpPr>
        <p:spPr>
          <a:xfrm>
            <a:off x="246888" y="437340"/>
            <a:ext cx="101955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c) The solution path is well-understood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can be explicitly programmed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Pathfinding in a grid-based game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using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A*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Dijkstra’s algorithm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optimal path can be deterministically computed using known algorithms without needing to learn from data.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Path-finding with known constraints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Like GPS navigation with defined roads</a:t>
            </a:r>
          </a:p>
        </p:txBody>
      </p:sp>
    </p:spTree>
    <p:extLst>
      <p:ext uri="{BB962C8B-B14F-4D97-AF65-F5344CB8AC3E}">
        <p14:creationId xmlns:p14="http://schemas.microsoft.com/office/powerpoint/2010/main" val="963366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C6902-EBEB-A3BD-7EF8-26BED6297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0BF4CC-ED46-F606-4BD3-CBA135DE11FB}"/>
              </a:ext>
            </a:extLst>
          </p:cNvPr>
          <p:cNvSpPr txBox="1"/>
          <p:nvPr/>
        </p:nvSpPr>
        <p:spPr>
          <a:xfrm>
            <a:off x="246888" y="437340"/>
            <a:ext cx="101955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d) The problem space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relatively small or constrained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Sudoku solvers(or Tic-Tac-Toe)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using backtracking algorithms.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Because the space of possibilities is finite and relatively small, exhaustive or optimized deterministic techniques perform well.</a:t>
            </a:r>
          </a:p>
        </p:txBody>
      </p:sp>
    </p:spTree>
    <p:extLst>
      <p:ext uri="{BB962C8B-B14F-4D97-AF65-F5344CB8AC3E}">
        <p14:creationId xmlns:p14="http://schemas.microsoft.com/office/powerpoint/2010/main" val="655194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ADDD5-C4F7-1DCA-E53A-F4E15C3C1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C4C5E3-81F2-4994-D5E5-C0D6F3B7A1DB}"/>
              </a:ext>
            </a:extLst>
          </p:cNvPr>
          <p:cNvSpPr txBox="1"/>
          <p:nvPr/>
        </p:nvSpPr>
        <p:spPr>
          <a:xfrm>
            <a:off x="246888" y="437340"/>
            <a:ext cx="1019556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e) Explainability and transparency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are critical requirements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Tax calculation software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using fixed rules from tax laws.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Auditors and users need to see the exact steps, logic, and formulas used, which rule-based algorithms can clearly provide.</a:t>
            </a:r>
          </a:p>
        </p:txBody>
      </p:sp>
    </p:spTree>
    <p:extLst>
      <p:ext uri="{BB962C8B-B14F-4D97-AF65-F5344CB8AC3E}">
        <p14:creationId xmlns:p14="http://schemas.microsoft.com/office/powerpoint/2010/main" val="1192988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2E068-2B8B-2FD3-D3C8-7850FF4F6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EF0D3C-6653-FAC3-A4A2-BB8493EFFB6F}"/>
              </a:ext>
            </a:extLst>
          </p:cNvPr>
          <p:cNvSpPr txBox="1"/>
          <p:nvPr/>
        </p:nvSpPr>
        <p:spPr>
          <a:xfrm>
            <a:off x="246888" y="437340"/>
            <a:ext cx="10195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Cases where it may seem that AI is needed but is not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029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24DDB-52D9-2B80-43F7-E8DD57CBF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D91DA0-2FE6-980B-DE23-526BF33AE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58" y="82296"/>
            <a:ext cx="10745479" cy="468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791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47B899-512E-214F-E06E-7E8E3B365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88" y="64008"/>
            <a:ext cx="10568066" cy="417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38898-9DE2-4D3D-BB26-98D136E81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BDB4C6-D204-D8CD-00D6-79F5A038D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08"/>
            <a:ext cx="10428343" cy="433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810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F1EC8-B66B-BAB2-5508-C4B06E9F4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EB2126-72FB-E2DB-1CE9-240E93D54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1" y="92300"/>
            <a:ext cx="9621593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786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E959C-BC34-8B13-0C2D-48D75B887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0E0269-37BD-CF0B-E0E1-A47BBA1F255F}"/>
              </a:ext>
            </a:extLst>
          </p:cNvPr>
          <p:cNvSpPr txBox="1"/>
          <p:nvPr/>
        </p:nvSpPr>
        <p:spPr>
          <a:xfrm>
            <a:off x="2491740" y="1560499"/>
            <a:ext cx="75117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approach will be faster, cheaper, auditable, and correct.</a:t>
            </a:r>
          </a:p>
        </p:txBody>
      </p:sp>
    </p:spTree>
    <p:extLst>
      <p:ext uri="{BB962C8B-B14F-4D97-AF65-F5344CB8AC3E}">
        <p14:creationId xmlns:p14="http://schemas.microsoft.com/office/powerpoint/2010/main" val="2618891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11CEB-A485-3DC3-5308-EEF8E7072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189474-3F9E-8D8C-8BF6-DBDB75C335F3}"/>
              </a:ext>
            </a:extLst>
          </p:cNvPr>
          <p:cNvSpPr txBox="1"/>
          <p:nvPr/>
        </p:nvSpPr>
        <p:spPr>
          <a:xfrm>
            <a:off x="2491740" y="1560499"/>
            <a:ext cx="75117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Part 2</a:t>
            </a:r>
          </a:p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do we need AI/ML algorithms ?</a:t>
            </a:r>
          </a:p>
        </p:txBody>
      </p:sp>
    </p:spTree>
    <p:extLst>
      <p:ext uri="{BB962C8B-B14F-4D97-AF65-F5344CB8AC3E}">
        <p14:creationId xmlns:p14="http://schemas.microsoft.com/office/powerpoint/2010/main" val="2922722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49C9D-9722-C516-FFFC-884D2FB96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A60B09-02CE-1DCB-238D-C6A7125B7B9F}"/>
              </a:ext>
            </a:extLst>
          </p:cNvPr>
          <p:cNvSpPr txBox="1"/>
          <p:nvPr/>
        </p:nvSpPr>
        <p:spPr>
          <a:xfrm>
            <a:off x="292608" y="146423"/>
            <a:ext cx="11512296" cy="2255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problem is too complex to explicitly program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all possible scenarios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Example: Self-driving cars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can’t manually code every possible road condition, pedestrian behavior, or traffic situation. 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ML models learn from vast driving data to handle unpredictable situations.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3C2EFD-B43F-A238-0A44-CA5A0168E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3081528"/>
            <a:ext cx="10374627" cy="339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949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C9D51-E150-7A88-6AC0-3A0F4AAB0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3C58E2-93DE-46FC-A1C7-36008637D1BD}"/>
              </a:ext>
            </a:extLst>
          </p:cNvPr>
          <p:cNvSpPr txBox="1"/>
          <p:nvPr/>
        </p:nvSpPr>
        <p:spPr>
          <a:xfrm>
            <a:off x="292608" y="146423"/>
            <a:ext cx="1151229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Patterns are subtle or hidden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within vast amounts of data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Detecting fraudulent transactions in banking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Fraud patterns are often rare, dynamic, and subtle — ML models can learn from millions of examples and detect anomalies that aren’t apparent to humans or rule-based systems.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Predictive maintenance: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Machines give off subtle signals (vibration, temperature, steady increase in current usage ,etc.) before failure. ML models can detect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trends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 breakdowns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earlier than rule-based thresholds</a:t>
            </a:r>
          </a:p>
        </p:txBody>
      </p:sp>
    </p:spTree>
    <p:extLst>
      <p:ext uri="{BB962C8B-B14F-4D97-AF65-F5344CB8AC3E}">
        <p14:creationId xmlns:p14="http://schemas.microsoft.com/office/powerpoint/2010/main" val="27989023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BF76B-9F59-02DB-FDB9-FBB0A107E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102A10-4B3A-A4DB-2EE8-9C544844019E}"/>
              </a:ext>
            </a:extLst>
          </p:cNvPr>
          <p:cNvSpPr txBox="1"/>
          <p:nvPr/>
        </p:nvSpPr>
        <p:spPr>
          <a:xfrm>
            <a:off x="292608" y="146423"/>
            <a:ext cx="97749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Rules are difficult to articulate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but examples are plentiful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108894-7B14-A872-F2DE-B230881DDA0E}"/>
              </a:ext>
            </a:extLst>
          </p:cNvPr>
          <p:cNvSpPr txBox="1"/>
          <p:nvPr/>
        </p:nvSpPr>
        <p:spPr>
          <a:xfrm>
            <a:off x="6301740" y="906200"/>
            <a:ext cx="58902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Natural Language Processing (NLP):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Understanding context, sentiment, and meaning in text. It's nearly impossible to write deterministic rules for sarcasm, sentiment, grammar, or slang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2B4B29-ADF6-E5DE-D6E6-E04C5FE90CFE}"/>
              </a:ext>
            </a:extLst>
          </p:cNvPr>
          <p:cNvSpPr txBox="1"/>
          <p:nvPr/>
        </p:nvSpPr>
        <p:spPr>
          <a:xfrm>
            <a:off x="196596" y="906200"/>
            <a:ext cx="54269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Facial recognition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can’t write explicit rules to define every possible human face, but we can train a model on millions of labeled images to recognize faces effectively.</a:t>
            </a:r>
          </a:p>
        </p:txBody>
      </p:sp>
    </p:spTree>
    <p:extLst>
      <p:ext uri="{BB962C8B-B14F-4D97-AF65-F5344CB8AC3E}">
        <p14:creationId xmlns:p14="http://schemas.microsoft.com/office/powerpoint/2010/main" val="39087955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2837D-0983-0DB8-2C0B-D77EF8720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35201E-292D-8087-C6F5-C31BC38A7D76}"/>
              </a:ext>
            </a:extLst>
          </p:cNvPr>
          <p:cNvSpPr txBox="1"/>
          <p:nvPr/>
        </p:nvSpPr>
        <p:spPr>
          <a:xfrm>
            <a:off x="292608" y="146423"/>
            <a:ext cx="105521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The problem requires prediction based on incomplete information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Medical diagnosis based on symptoms and patient history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Symptoms may vary or be incomplete.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ML models can make informed predictions based on patterns learned from prior patient data.</a:t>
            </a:r>
          </a:p>
        </p:txBody>
      </p:sp>
    </p:spTree>
    <p:extLst>
      <p:ext uri="{BB962C8B-B14F-4D97-AF65-F5344CB8AC3E}">
        <p14:creationId xmlns:p14="http://schemas.microsoft.com/office/powerpoint/2010/main" val="31566101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7DB88-A273-B4DD-8668-602D17CD6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0BAE21-5D42-123B-782D-12A4D95CD465}"/>
              </a:ext>
            </a:extLst>
          </p:cNvPr>
          <p:cNvSpPr txBox="1"/>
          <p:nvPr/>
        </p:nvSpPr>
        <p:spPr>
          <a:xfrm>
            <a:off x="292608" y="146423"/>
            <a:ext cx="105521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The environment is dynamic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continually changing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Stock market trading algorithms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market shifts constantly based on news, sentiment, and global events.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Adaptive ML models can continuously retrain and adjust to changes better than static logic.</a:t>
            </a:r>
          </a:p>
        </p:txBody>
      </p:sp>
    </p:spTree>
    <p:extLst>
      <p:ext uri="{BB962C8B-B14F-4D97-AF65-F5344CB8AC3E}">
        <p14:creationId xmlns:p14="http://schemas.microsoft.com/office/powerpoint/2010/main" val="11909313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EC4AF-420A-3D94-F25B-F25322B9E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C4AFFD-37B3-F188-C6B4-4E4C7CD8BEA2}"/>
              </a:ext>
            </a:extLst>
          </p:cNvPr>
          <p:cNvSpPr txBox="1"/>
          <p:nvPr/>
        </p:nvSpPr>
        <p:spPr>
          <a:xfrm>
            <a:off x="292608" y="146423"/>
            <a:ext cx="105521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The solution needs to improve with experience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Personalized recommendation systems (e.g., Netflix, Amazon)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system gets better over time by learning user preferences and adjusting recommendations accordingly.</a:t>
            </a:r>
          </a:p>
        </p:txBody>
      </p:sp>
    </p:spTree>
    <p:extLst>
      <p:ext uri="{BB962C8B-B14F-4D97-AF65-F5344CB8AC3E}">
        <p14:creationId xmlns:p14="http://schemas.microsoft.com/office/powerpoint/2010/main" val="17708616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18364-2FCC-CBE9-1DAA-2ED16FD4D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A7DE6B-0365-7B49-E132-8545CB8E581E}"/>
              </a:ext>
            </a:extLst>
          </p:cNvPr>
          <p:cNvSpPr txBox="1"/>
          <p:nvPr/>
        </p:nvSpPr>
        <p:spPr>
          <a:xfrm>
            <a:off x="292608" y="146423"/>
            <a:ext cx="1055217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Approximation is acceptable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preferable to no solution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Language translation (e.g., Google Translate)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It's often better to have an approximate translation than none at all, especially across languages where perfect translation is impossible.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Speech recognition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Converting spoken language to text may be 90% accurate.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3295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1128</TotalTime>
  <Words>786</Words>
  <Application>Microsoft Office PowerPoint</Application>
  <PresentationFormat>Widescreen</PresentationFormat>
  <Paragraphs>77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Calibiri Body</vt:lpstr>
      <vt:lpstr>Calibri</vt:lpstr>
      <vt:lpstr>Calibri Body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187</cp:revision>
  <dcterms:created xsi:type="dcterms:W3CDTF">2025-09-22T02:44:38Z</dcterms:created>
  <dcterms:modified xsi:type="dcterms:W3CDTF">2026-05-24T10:36:27Z</dcterms:modified>
</cp:coreProperties>
</file>