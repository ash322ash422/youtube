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7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9" r:id="rId15"/>
    <p:sldId id="288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7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597750-66B5-9BE5-3B00-CD63A4EB1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994" y="0"/>
            <a:ext cx="2956006" cy="20482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CECE56-F5BF-2325-7236-4629AED98577}"/>
              </a:ext>
            </a:extLst>
          </p:cNvPr>
          <p:cNvSpPr txBox="1"/>
          <p:nvPr/>
        </p:nvSpPr>
        <p:spPr>
          <a:xfrm>
            <a:off x="310896" y="921526"/>
            <a:ext cx="86227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App That Never Sleeps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Banks and fintechs collect data every time you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or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scroll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even when you don't complete a transaction.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gets logged: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Time and location of every app open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screens you visit and for how long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Abandoned actions (e.g. you started a transfer, then stopped)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Device type, IP address, battery level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17D1A-1DB1-EC98-9202-6F6AB18DF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07CCFC-6308-4482-6F10-8FAE8CD2E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994" y="0"/>
            <a:ext cx="2956006" cy="20482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2593E5-14C5-6FBC-C452-240C38B4BFD1}"/>
              </a:ext>
            </a:extLst>
          </p:cNvPr>
          <p:cNvSpPr txBox="1"/>
          <p:nvPr/>
        </p:nvSpPr>
        <p:spPr>
          <a:xfrm>
            <a:off x="310896" y="921526"/>
            <a:ext cx="86227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real value is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behavioral patterns over time.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your balance 10x a day → financially stressed signal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 the app at 2am → unusual behavior flag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Always use the app from the same location → your "home" is profiled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Jordan Islamic Bank's app logs which features users browse most. Users who repeatedly check the investments section get targeted with sukuk product offers.</a:t>
            </a:r>
          </a:p>
        </p:txBody>
      </p:sp>
    </p:spTree>
    <p:extLst>
      <p:ext uri="{BB962C8B-B14F-4D97-AF65-F5344CB8AC3E}">
        <p14:creationId xmlns:p14="http://schemas.microsoft.com/office/powerpoint/2010/main" val="198230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4E539-103E-9980-AD05-B9CF880E6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AE2661-5324-564C-BEB0-B1720AA64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994" y="0"/>
            <a:ext cx="2956006" cy="20482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FD1EF0-C432-4036-3E3C-1C3D45C9AEE8}"/>
              </a:ext>
            </a:extLst>
          </p:cNvPr>
          <p:cNvSpPr txBox="1"/>
          <p:nvPr/>
        </p:nvSpPr>
        <p:spPr>
          <a:xfrm>
            <a:off x="274320" y="436894"/>
            <a:ext cx="86227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Hidden Sensor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phone adds a layer the bank didn't even build itself.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GPS tells the bank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 bank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Accelerometer data can reveal if you're walking, driving, or stationary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Screen recording (with permission) captures how long you stare at a loan offer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Zain Cash tracks whether payments happen in Amman, Zarqa, or Irbid — location shapes what products you're offered next.</a:t>
            </a:r>
          </a:p>
        </p:txBody>
      </p:sp>
    </p:spTree>
    <p:extLst>
      <p:ext uri="{BB962C8B-B14F-4D97-AF65-F5344CB8AC3E}">
        <p14:creationId xmlns:p14="http://schemas.microsoft.com/office/powerpoint/2010/main" val="1140980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AE8DA-1340-905E-2231-CBAE0E792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3F74B1-5092-A267-D719-C4F52D5E3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994" y="0"/>
            <a:ext cx="2956006" cy="20482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B28C06-1A8C-54FB-4621-10CE57B13468}"/>
              </a:ext>
            </a:extLst>
          </p:cNvPr>
          <p:cNvSpPr txBox="1"/>
          <p:nvPr/>
        </p:nvSpPr>
        <p:spPr>
          <a:xfrm>
            <a:off x="274320" y="436894"/>
            <a:ext cx="862279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 for Discussion?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bank notices that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customer opens their app every night between 11pm–1am and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checks their balance repeatedly,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also abandoned three loan applications halfway.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Should the bank use this behavior to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deny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them a loan?</a:t>
            </a:r>
          </a:p>
        </p:txBody>
      </p:sp>
    </p:spTree>
    <p:extLst>
      <p:ext uri="{BB962C8B-B14F-4D97-AF65-F5344CB8AC3E}">
        <p14:creationId xmlns:p14="http://schemas.microsoft.com/office/powerpoint/2010/main" val="2412084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CB460-3D8F-D080-AE9E-9B01877AA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DBF22F-5B71-C490-0153-E3AB1D7442AB}"/>
              </a:ext>
            </a:extLst>
          </p:cNvPr>
          <p:cNvSpPr txBox="1"/>
          <p:nvPr/>
        </p:nvSpPr>
        <p:spPr>
          <a:xfrm>
            <a:off x="274320" y="436894"/>
            <a:ext cx="862279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Payment Tells a Story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transaction is not just money moving. It's a data point with 20+ attributes attached.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payment logs: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Amount, currency, time, 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Merchant name and category (food, pharmacy, travel...)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Location of the merchant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Payment method (card,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CliQ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cash deposit)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Device used to authorize it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156A38-858A-4794-2E6A-E4B38F782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316" y="4222546"/>
            <a:ext cx="3311180" cy="239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047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10B79-1529-CECE-89B0-B5F4ADA71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890EF7-4E19-FCED-97CD-F397E4D9C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316" y="4222546"/>
            <a:ext cx="3311180" cy="2396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2D52A0-0DD7-3B2B-76DE-2C8946E28048}"/>
              </a:ext>
            </a:extLst>
          </p:cNvPr>
          <p:cNvSpPr txBox="1"/>
          <p:nvPr/>
        </p:nvSpPr>
        <p:spPr>
          <a:xfrm>
            <a:off x="274320" y="436894"/>
            <a:ext cx="86227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Spending = Your Life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Over months, transactions reveal things you never consciously shared.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Regular pharmacy spend → possible chronic illness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Wedding vendors in a short window → getting married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Sudden drop in spending → job loss or financial stress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Zakat payment in Ramadan → religious observance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eFawateercom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processes electricity, water, and telecom bills for 3M+ Jordanians. Late or missed payments are a direct signal of financial stress — banks can see this.</a:t>
            </a:r>
          </a:p>
        </p:txBody>
      </p:sp>
    </p:spTree>
    <p:extLst>
      <p:ext uri="{BB962C8B-B14F-4D97-AF65-F5344CB8AC3E}">
        <p14:creationId xmlns:p14="http://schemas.microsoft.com/office/powerpoint/2010/main" val="318555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F655C-DA67-91E7-26B0-F1A685AF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6CA3F7-B90C-05E9-23CB-58A0F3683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316" y="4222546"/>
            <a:ext cx="3311180" cy="2396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D54911-713B-23FC-2BEB-9F9906A6C575}"/>
              </a:ext>
            </a:extLst>
          </p:cNvPr>
          <p:cNvSpPr txBox="1"/>
          <p:nvPr/>
        </p:nvSpPr>
        <p:spPr>
          <a:xfrm>
            <a:off x="274320" y="436894"/>
            <a:ext cx="862279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Pattern Is Worth More Than the Transaction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purchase means little. One thousand purchases reveal everything.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you shop (malls vs local markets in your neighborhood)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you manage money (pay bills early vs always late)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life stage you're in (baby products, school supplies, retirement funds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Cairo Amman Bank can tell from transaction data alone whether a customer is likely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saving for a house,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supporting elderly parents, 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sending remittances abroad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before the customer says a word.</a:t>
            </a:r>
          </a:p>
        </p:txBody>
      </p:sp>
    </p:spTree>
    <p:extLst>
      <p:ext uri="{BB962C8B-B14F-4D97-AF65-F5344CB8AC3E}">
        <p14:creationId xmlns:p14="http://schemas.microsoft.com/office/powerpoint/2010/main" val="310511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DCB73-C980-75D8-0C3A-612293E2C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5B890CA-32FA-754E-3BEB-75BE524CA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8316" y="4222546"/>
            <a:ext cx="3311180" cy="2396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DCEDDE-B175-EAE5-6F49-B4033BFB7F1C}"/>
              </a:ext>
            </a:extLst>
          </p:cNvPr>
          <p:cNvSpPr txBox="1"/>
          <p:nvPr/>
        </p:nvSpPr>
        <p:spPr>
          <a:xfrm>
            <a:off x="274320" y="436894"/>
            <a:ext cx="86227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Question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young man in Amman has a stable salary but his transaction history shows he spends heavily at restaurants and never saves.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microfinance company uses this to charge him a higher interest rate than his colleague with the same income.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that fair?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should companies draw the line?</a:t>
            </a:r>
          </a:p>
        </p:txBody>
      </p:sp>
    </p:spTree>
    <p:extLst>
      <p:ext uri="{BB962C8B-B14F-4D97-AF65-F5344CB8AC3E}">
        <p14:creationId xmlns:p14="http://schemas.microsoft.com/office/powerpoint/2010/main" val="36495453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3B902-179F-0B68-6B56-FB1790334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C2AEE7B-18BD-68A7-3180-F3ABEE2800E3}"/>
              </a:ext>
            </a:extLst>
          </p:cNvPr>
          <p:cNvSpPr txBox="1"/>
          <p:nvPr/>
        </p:nvSpPr>
        <p:spPr>
          <a:xfrm>
            <a:off x="274320" y="436894"/>
            <a:ext cx="86227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Bank Knows Before You Ask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 browsing data captures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intent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what you're thinking about before you take any action.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gets tracked: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financial comparison sites you visit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long you spend on a mortgage or car loan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 terms on banking websites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Whether you visited a competitor's site yesterday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A78F85-A512-FA99-3D09-682AB0F12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212" y="2256800"/>
            <a:ext cx="3270583" cy="23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0758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514E0-8ED2-342F-364E-056D2CF13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360D75-45FE-F96D-6B4F-0EE88663080E}"/>
              </a:ext>
            </a:extLst>
          </p:cNvPr>
          <p:cNvSpPr txBox="1"/>
          <p:nvPr/>
        </p:nvSpPr>
        <p:spPr>
          <a:xfrm>
            <a:off x="274320" y="436894"/>
            <a:ext cx="862279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Do They Actually Collect This?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Three main mechanisms — most invisible to the user.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Cookies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tiny files dropped on your browser that follow you across sites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Tracking pixels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invisible 1x1 images embedded in pages that ping a server when loaded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First-party tracking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 bank's own website logs every click, scroll depth, and time spent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When you visit a Jordanian property site like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OpenSooq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browse apartments, and then open your Arab Bank app the next day — Arab Bank may already know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you're thinking about a mortgage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Both platforms share data through Google's ad network.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1B5651-256B-3DC3-89A8-372861499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212" y="2256800"/>
            <a:ext cx="3270583" cy="23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319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50F34-C9E1-5F01-8A3B-7C722DA1B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CA24ED4-7FCB-035F-02DC-7FEB34B061FF}"/>
              </a:ext>
            </a:extLst>
          </p:cNvPr>
          <p:cNvSpPr txBox="1"/>
          <p:nvPr/>
        </p:nvSpPr>
        <p:spPr>
          <a:xfrm>
            <a:off x="274320" y="436894"/>
            <a:ext cx="862279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Question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spend 20 minutes on a website comparing interest rates for personal loans in Jordan. You don't fill in any form. You don't log into anything.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Three days later, every bank app on your phone is showing you loan offers.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Did you consent to this?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it matter that you didn't?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F53D9D-1FA8-BF00-E57A-D637507B9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8212" y="2256800"/>
            <a:ext cx="3270583" cy="234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957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CA121-4B3B-2EC7-16E8-9ED3912A8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40F5A4-5C4D-50B9-DFB8-0A31673F2EA5}"/>
              </a:ext>
            </a:extLst>
          </p:cNvPr>
          <p:cNvSpPr txBox="1"/>
          <p:nvPr/>
        </p:nvSpPr>
        <p:spPr>
          <a:xfrm>
            <a:off x="274320" y="436894"/>
            <a:ext cx="86227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Form You Have No Choice But to Fill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KYC stands for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Know Your Customer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It is not optional.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 bank, exchange house, and fintech in Jordan must collect it by law before opening any account.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includes: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Full name, national ID number, date of birth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Address and proof of residence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Employment status and employer 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Monthly income and source of funds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Purpose of the account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C208E3-F1BD-B463-2D98-094BEAF9E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0"/>
            <a:ext cx="3203448" cy="223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73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E2F71-BF24-A8B4-EF35-E1F00D7B1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92D338-30C5-E3DE-F57E-9A8D8E731368}"/>
              </a:ext>
            </a:extLst>
          </p:cNvPr>
          <p:cNvSpPr txBox="1"/>
          <p:nvPr/>
        </p:nvSpPr>
        <p:spPr>
          <a:xfrm>
            <a:off x="274320" y="436894"/>
            <a:ext cx="86227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Who Gets Access to Your KYC Data?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Once submitted, it travels further than your branch.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Central Bank of Jordan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receives aggregated compliance reports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Financial Intelligence Unit (FIU)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investigates flagged accounts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Other banks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in cases of fraud investigation, data can be shared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International regulators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Jordan's correspondent banks abroad (e.g. in the US or EU) can request KYC records to comply with their own laws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If a Jordanian sends a wire transfer to a US bank, that American bank can request KYC documentation from the Jordanian bank before releasing the funds — your data crosses borders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B8D436-76A7-F10B-C5D7-4C95D173C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0"/>
            <a:ext cx="3203448" cy="2234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550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452A1-0B7D-E491-1570-510716681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2AD40A6-0FAC-1BE8-704C-C25D652780D8}"/>
              </a:ext>
            </a:extLst>
          </p:cNvPr>
          <p:cNvSpPr txBox="1"/>
          <p:nvPr/>
        </p:nvSpPr>
        <p:spPr>
          <a:xfrm>
            <a:off x="274320" y="436894"/>
            <a:ext cx="8622792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You Never Directly Gave the Bank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Third-party data is information collected by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other companies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and shared or sold to financial institutions.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bank didn't collect it. You didn't give it to the bank. But the bank is using it.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Common sources: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Telecom companies (Zain, Orange, Umniah)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E-commerce platforms (Noon, Amazon)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Delivery apps (Carriage,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Talabat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Government registries (land, vehicle, business ownership)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94E9DD-CF0D-0D1B-A052-A8F41BD1D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2416640"/>
            <a:ext cx="3137502" cy="222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06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FBE58-8E87-863F-0167-ADE4761DE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3856504-0679-D06D-4A62-16CA5F6E9017}"/>
              </a:ext>
            </a:extLst>
          </p:cNvPr>
          <p:cNvSpPr txBox="1"/>
          <p:nvPr/>
        </p:nvSpPr>
        <p:spPr>
          <a:xfrm>
            <a:off x="274320" y="436894"/>
            <a:ext cx="862279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Why Do Banks Want Outside Data?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Because their own data has gaps.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new customer has no transaction history with the bank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young graduate has no credit record at all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small business owner gets paid in cash — nothing shows in the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Third-party data fills those gaps with signals from everyday life.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Microfinance companies like Ahli Microfinancing use Zain and Orange prepaid recharge frequency as a credit signal. Someone who consistently tops up their phone on time is statistically more likely to repay a loan.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FE03F2-2C22-C499-9DFF-466D1E443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2416640"/>
            <a:ext cx="3137502" cy="222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620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2E77C-C802-F947-BDAF-ABBAC2B10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9F943D4-E266-0273-92C9-DBA996F3F04D}"/>
              </a:ext>
            </a:extLst>
          </p:cNvPr>
          <p:cNvSpPr txBox="1"/>
          <p:nvPr/>
        </p:nvSpPr>
        <p:spPr>
          <a:xfrm>
            <a:off x="274320" y="436894"/>
            <a:ext cx="86227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Gets Shared Without You Knowing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Most customers have no idea this is happening.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Talabat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order frequency signals disposable income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Carriage delivery addresses reveal where you actually live vs. your registered address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Noon purchase categories reveal lifestyle and spending priorities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Returning a lot of items flags you as a high-maintenance or financially unstable customer in some models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Buy Now Pay Later platforms operating in Jordan like Tamara and Tabby share repayment behavior with credit bureaus — one missed BNPL payment on a JD 30 purchase can affect your CRB score.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4CB12F-6902-15B5-C10D-E30516308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2416640"/>
            <a:ext cx="3137502" cy="222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438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C139C-264A-DA81-BE16-D8DF3325D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0DDA73-B81D-594B-F11B-EC47928917BC}"/>
              </a:ext>
            </a:extLst>
          </p:cNvPr>
          <p:cNvSpPr txBox="1"/>
          <p:nvPr/>
        </p:nvSpPr>
        <p:spPr>
          <a:xfrm>
            <a:off x="274320" y="436894"/>
            <a:ext cx="86227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Question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Zain has data showing that a customer in Zarqa recharges their phone every 3 days without fail for 2 years. A bank wants to buy this data to approve them for a JD 500 loan.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customer never agreed to their telecom data being used this way.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Should this be allowed?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it helpful or invasive — or both?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B2CC1E-2D2C-417E-D726-56AA7AD0E0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112" y="2416640"/>
            <a:ext cx="3137502" cy="222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218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DAC8-9DFE-4A52-D8B8-36996DF7C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E46EB3-2FE1-8F80-B13C-4C330C20CD3D}"/>
              </a:ext>
            </a:extLst>
          </p:cNvPr>
          <p:cNvSpPr txBox="1"/>
          <p:nvPr/>
        </p:nvSpPr>
        <p:spPr>
          <a:xfrm>
            <a:off x="274320" y="436894"/>
            <a:ext cx="111373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Phone Knows Where You Are. So Does Your Bank.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Geolocation data is collected every time your phone's GPS is active and a financial app is open — and sometimes when it isn’t.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gets recorded: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Exact coordinates when you make a payment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city or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neighbourhood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 are in when you open your app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often you visit the same locations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Whether your stated home address matches where you actually sleep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FE29DB-F2D2-880B-DAFB-AFFAA7BE96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121" y="4727448"/>
            <a:ext cx="2720528" cy="203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3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265B2-E60B-E10B-4F27-8153E6CC1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0400AC-C82F-7322-F5EE-24BE108D0B8A}"/>
              </a:ext>
            </a:extLst>
          </p:cNvPr>
          <p:cNvSpPr txBox="1"/>
          <p:nvPr/>
        </p:nvSpPr>
        <p:spPr>
          <a:xfrm>
            <a:off x="274320" y="436894"/>
            <a:ext cx="1113739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Location as a Financial Signal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you go reveals what kind of customer you 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Shop in Abdoun or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Sweifieh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higher income bracket assumed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Commute daily from Zarqa to Amman → working class, long hours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Frequent visits to a hospital → possible health condition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Regular stops at a specific mosque → religious profile being built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Insurance companies operating in Jordan use location data from motor apps to verify whether a car registered in Aqaba is actually being driven daily in Amman — a common fraud to get cheaper premiums.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F01597-C1D4-B65C-1058-DFE9BE0EC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121" y="4727448"/>
            <a:ext cx="2720528" cy="203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935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FBAB6-ACC8-50CB-A553-4214AEDF9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7F22679-6BDF-7D12-7666-5FFECDB845B5}"/>
              </a:ext>
            </a:extLst>
          </p:cNvPr>
          <p:cNvSpPr txBox="1"/>
          <p:nvPr/>
        </p:nvSpPr>
        <p:spPr>
          <a:xfrm>
            <a:off x="274320" y="436894"/>
            <a:ext cx="111373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Location Catches Fraud in Real Time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where geolocation genuinely protects customers.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card is used in Dubai but your phone is in Amman → instant fraud flag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transaction happens at 3am in an unfamiliar location → step-up verification triggered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Two transactions in two cities within 10 minutes → physically impossible, blocked automatically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Arab Bank and Bank of Jordan both use real-time location mismatch detection. A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CliQ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transfer initiated from an IP address in Eastern Europe while the customer's phone GPS shows Amman triggers an immediate hold.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C1EB4E-B802-79FC-27B3-9A0D17B76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121" y="4727448"/>
            <a:ext cx="2720528" cy="203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9743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3255E-8B27-1518-A9A7-8B845BBD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8418008-C1B9-E309-AEBD-D747ECB9DC29}"/>
              </a:ext>
            </a:extLst>
          </p:cNvPr>
          <p:cNvSpPr txBox="1"/>
          <p:nvPr/>
        </p:nvSpPr>
        <p:spPr>
          <a:xfrm>
            <a:off x="274320" y="436894"/>
            <a:ext cx="1113739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Discussion Question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bank notices that a loan applicant in Amman claims to work in a stable office job. But their phone's location data shows they are in a different part of the city every day, never spending more than 2 hours in one place.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bank uses this to classify them as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"unstable employment" and rejects their loan.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never consented to location tracking being used this way.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this a smart use of data or a serious violation of privacy?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5AD384-2B2A-67C0-1697-ADCAA96734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121" y="4727448"/>
            <a:ext cx="2720528" cy="203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141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1111</TotalTime>
  <Words>1661</Words>
  <Application>Microsoft Office PowerPoint</Application>
  <PresentationFormat>Widescreen</PresentationFormat>
  <Paragraphs>193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187</cp:revision>
  <dcterms:created xsi:type="dcterms:W3CDTF">2025-09-22T02:44:38Z</dcterms:created>
  <dcterms:modified xsi:type="dcterms:W3CDTF">2026-05-24T02:50:10Z</dcterms:modified>
</cp:coreProperties>
</file>