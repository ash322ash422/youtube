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8"/>
  </p:handoutMasterIdLst>
  <p:sldIdLst>
    <p:sldId id="257" r:id="rId2"/>
    <p:sldId id="259" r:id="rId3"/>
    <p:sldId id="263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F7051-67F5-C2A6-490D-03FD43804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5307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Empirical Rule: 68 – 95 – 99.7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FDD21-5A70-DBA7-8B6B-209DE2B357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450721"/>
            <a:ext cx="11722608" cy="12650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100" b="1" dirty="0"/>
              <a:t>Empirical Rule</a:t>
            </a:r>
            <a:r>
              <a:rPr lang="en-US" sz="2100" dirty="0"/>
              <a:t> describes how data is distributed in a </a:t>
            </a:r>
            <a:r>
              <a:rPr lang="en-US" sz="2100" b="1" dirty="0"/>
              <a:t>normal distribution AKA Gaussian distribution</a:t>
            </a:r>
            <a:r>
              <a:rPr lang="en-US" sz="2100" dirty="0"/>
              <a:t> — </a:t>
            </a:r>
            <a:r>
              <a:rPr lang="en-US" sz="2100" i="1" dirty="0"/>
              <a:t>bell-shaped curve</a:t>
            </a:r>
            <a:r>
              <a:rPr lang="en-US" sz="2100" dirty="0"/>
              <a:t>.</a:t>
            </a:r>
          </a:p>
          <a:p>
            <a:pPr marL="0" indent="0">
              <a:buNone/>
            </a:pPr>
            <a:r>
              <a:rPr lang="en-US" sz="2100" dirty="0"/>
              <a:t>This is the rule devised by nature which is almost universally true.</a:t>
            </a:r>
          </a:p>
          <a:p>
            <a:pPr marL="0" indent="0">
              <a:buNone/>
            </a:pPr>
            <a:endParaRPr lang="en-US" sz="21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046D1E9-181A-224E-10AE-4F588A3BFB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719" y="3200400"/>
            <a:ext cx="5546413" cy="3493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2FE76-D580-9068-C451-7535C32C3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D529A-ECC6-620E-E155-0B8F99908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65900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Empirical Rule: 68 – 95 – 99.7</a:t>
            </a:r>
            <a:endParaRPr lang="en-US" sz="36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39709B-A180-2B02-67C3-9252543D26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4" y="1188720"/>
            <a:ext cx="11750040" cy="55229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100" b="1" dirty="0"/>
              <a:t>About 68%</a:t>
            </a:r>
            <a:r>
              <a:rPr lang="en-US" sz="2100" dirty="0"/>
              <a:t> of data lies within </a:t>
            </a:r>
            <a:r>
              <a:rPr lang="en-US" sz="2100" b="1" dirty="0"/>
              <a:t>1 standard deviation (σ)</a:t>
            </a:r>
            <a:r>
              <a:rPr lang="en-US" sz="2100" dirty="0"/>
              <a:t> of the mean (μ). → Between </a:t>
            </a:r>
            <a:r>
              <a:rPr lang="en-US" sz="2100" b="1" dirty="0"/>
              <a:t>μ − σ and μ + σ</a:t>
            </a:r>
            <a:r>
              <a:rPr lang="en-US" sz="2100" dirty="0"/>
              <a:t>.</a:t>
            </a:r>
          </a:p>
          <a:p>
            <a:pPr marL="0" indent="0">
              <a:buNone/>
            </a:pPr>
            <a:r>
              <a:rPr lang="en-US" sz="2100" b="1" dirty="0"/>
              <a:t>About 95%</a:t>
            </a:r>
            <a:r>
              <a:rPr lang="en-US" sz="2100" dirty="0"/>
              <a:t> of data lies within </a:t>
            </a:r>
            <a:r>
              <a:rPr lang="en-US" sz="2100" b="1" dirty="0"/>
              <a:t>2 standard deviations</a:t>
            </a:r>
            <a:r>
              <a:rPr lang="en-US" sz="2100" dirty="0"/>
              <a:t> of the mean.            → Between </a:t>
            </a:r>
            <a:r>
              <a:rPr lang="en-US" sz="2100" b="1" dirty="0"/>
              <a:t>μ − 2σ and μ + 2σ</a:t>
            </a:r>
            <a:r>
              <a:rPr lang="en-US" sz="2100" dirty="0"/>
              <a:t>.</a:t>
            </a:r>
          </a:p>
          <a:p>
            <a:pPr marL="0" indent="0">
              <a:buNone/>
            </a:pPr>
            <a:r>
              <a:rPr lang="en-US" sz="2100" b="1" dirty="0"/>
              <a:t>About 99.7%</a:t>
            </a:r>
            <a:r>
              <a:rPr lang="en-US" sz="2100" dirty="0"/>
              <a:t> of data lies within </a:t>
            </a:r>
            <a:r>
              <a:rPr lang="en-US" sz="2100" b="1" dirty="0"/>
              <a:t>3 standard deviations</a:t>
            </a:r>
            <a:r>
              <a:rPr lang="en-US" sz="2100" dirty="0"/>
              <a:t> of the mean.         → Between </a:t>
            </a:r>
            <a:r>
              <a:rPr lang="en-US" sz="2100" b="1" dirty="0"/>
              <a:t>μ − 3σ and μ + 3σ</a:t>
            </a:r>
            <a:r>
              <a:rPr lang="en-US" sz="2100" dirty="0"/>
              <a:t>.</a:t>
            </a:r>
          </a:p>
          <a:p>
            <a:pPr marL="0" indent="0">
              <a:buNone/>
            </a:pPr>
            <a:endParaRPr lang="en-US" sz="21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EFB8D13-237F-A1AC-30FA-9880D3AABE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719" y="3200400"/>
            <a:ext cx="5546413" cy="3493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376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66591-8A24-7F54-EC59-E974CA5BE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4DD4D-2750-DA0A-5A7B-B460D9841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65900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68 – 95 – 99.7</a:t>
            </a:r>
            <a:endParaRPr lang="en-US" sz="36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DA14A-2B2E-42B4-FF1B-2575AFBBE4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4" y="1188720"/>
            <a:ext cx="11750040" cy="55229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100" dirty="0"/>
              <a:t>The curve is </a:t>
            </a:r>
            <a:r>
              <a:rPr lang="en-US" sz="2100" b="1" dirty="0"/>
              <a:t>symmetrical: </a:t>
            </a:r>
            <a:r>
              <a:rPr lang="en-US" sz="2100" dirty="0"/>
              <a:t>The left side is mirroring right.</a:t>
            </a:r>
          </a:p>
          <a:p>
            <a:pPr marL="0" indent="0">
              <a:buNone/>
            </a:pPr>
            <a:r>
              <a:rPr lang="en-US" sz="2100" dirty="0"/>
              <a:t>What does this symmetry mean? </a:t>
            </a:r>
          </a:p>
          <a:p>
            <a:pPr marL="0" indent="0">
              <a:buNone/>
            </a:pPr>
            <a:r>
              <a:rPr lang="en-US" sz="2100" dirty="0"/>
              <a:t>The implication:</a:t>
            </a:r>
          </a:p>
          <a:p>
            <a:pPr marL="0" indent="0">
              <a:buNone/>
            </a:pPr>
            <a:r>
              <a:rPr lang="en-US" sz="1800" dirty="0"/>
              <a:t>68/2 = 34% of data lies in between </a:t>
            </a:r>
            <a:r>
              <a:rPr lang="en-US" sz="1800" b="1" dirty="0"/>
              <a:t>μ − σ  and μ</a:t>
            </a:r>
          </a:p>
          <a:p>
            <a:pPr marL="0" indent="0">
              <a:buNone/>
            </a:pPr>
            <a:r>
              <a:rPr lang="en-US" sz="1800" dirty="0"/>
              <a:t>68/2 = 34% of data lies in between </a:t>
            </a:r>
            <a:r>
              <a:rPr lang="en-US" sz="1800" b="1" dirty="0"/>
              <a:t> μ and μ + σ</a:t>
            </a:r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r>
              <a:rPr lang="en-US" sz="1800" dirty="0"/>
              <a:t>(95 – 68)/2 = 13.5% of data lies</a:t>
            </a:r>
            <a:r>
              <a:rPr lang="en-US" sz="1800" b="1" dirty="0"/>
              <a:t> </a:t>
            </a:r>
            <a:r>
              <a:rPr lang="en-US" sz="1800" dirty="0"/>
              <a:t>in between </a:t>
            </a:r>
            <a:r>
              <a:rPr lang="en-US" sz="1800" b="1" dirty="0"/>
              <a:t>μ − 2σ  and μ − σ</a:t>
            </a:r>
          </a:p>
          <a:p>
            <a:pPr marL="0" indent="0">
              <a:buNone/>
            </a:pPr>
            <a:r>
              <a:rPr lang="en-US" sz="1800" dirty="0"/>
              <a:t>(95 – 68)/2 = 13.5% of data lies</a:t>
            </a:r>
            <a:r>
              <a:rPr lang="en-US" sz="1800" b="1" dirty="0"/>
              <a:t> </a:t>
            </a:r>
            <a:r>
              <a:rPr lang="en-US" sz="1800" dirty="0"/>
              <a:t>in between </a:t>
            </a:r>
            <a:r>
              <a:rPr lang="en-US" sz="1800" b="1" dirty="0"/>
              <a:t>μ + σ  and μ + 2σ</a:t>
            </a:r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r>
              <a:rPr lang="en-US" sz="1800" b="1" dirty="0"/>
              <a:t>And so on…..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9B5ACB5-9975-111C-D965-15EEE051AE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9736" y="2788920"/>
            <a:ext cx="6252264" cy="4069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3955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EDC1630-A477-6892-EA5E-C6B2C9227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65900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68 – 95 – 99.7</a:t>
            </a:r>
            <a:endParaRPr lang="en-US" sz="36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391E67-B5F0-3AAF-DE4B-A0662D8B6E27}"/>
              </a:ext>
            </a:extLst>
          </p:cNvPr>
          <p:cNvSpPr txBox="1"/>
          <p:nvPr/>
        </p:nvSpPr>
        <p:spPr>
          <a:xfrm>
            <a:off x="118872" y="1308253"/>
            <a:ext cx="11036808" cy="4939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1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Let’s say exam scores of students from all schools are normally distributed with </a:t>
            </a:r>
            <a:r>
              <a:rPr lang="en-US" sz="21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mean (μ) = 70</a:t>
            </a:r>
            <a:r>
              <a:rPr lang="en-US" sz="21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</a:t>
            </a:r>
            <a:r>
              <a:rPr lang="en-US" sz="21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standard deviation (σ) = 10</a:t>
            </a:r>
            <a:r>
              <a:rPr lang="en-US" sz="21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pPr>
              <a:buNone/>
            </a:pPr>
            <a:endParaRPr lang="en-US" sz="21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1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essentially means that</a:t>
            </a:r>
          </a:p>
          <a:p>
            <a:r>
              <a:rPr lang="en-US" sz="21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68% of students scored between </a:t>
            </a:r>
            <a:r>
              <a:rPr lang="en-US" sz="21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μ − σ and μ + σ</a:t>
            </a:r>
            <a:endParaRPr lang="en-US" sz="21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1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-&gt; 68% of students scored between   </a:t>
            </a:r>
            <a:r>
              <a:rPr lang="en-US" sz="21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60   and    80</a:t>
            </a:r>
          </a:p>
          <a:p>
            <a:endParaRPr lang="en-US" sz="21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1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1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95% of students scored between </a:t>
            </a:r>
            <a:r>
              <a:rPr lang="en-US" sz="21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μ − 2σ and μ + 2σ</a:t>
            </a:r>
            <a:endParaRPr lang="en-US" sz="21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1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-&gt; 95% of students scored between   </a:t>
            </a:r>
            <a:r>
              <a:rPr lang="en-US" sz="21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50    and  90</a:t>
            </a:r>
          </a:p>
          <a:p>
            <a:r>
              <a:rPr lang="en-US" sz="21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</a:t>
            </a:r>
          </a:p>
          <a:p>
            <a:endParaRPr lang="en-US" sz="21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1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99.7% of students scored between </a:t>
            </a:r>
            <a:r>
              <a:rPr lang="en-US" sz="21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μ − 3σ and μ + 3σ</a:t>
            </a:r>
            <a:endParaRPr lang="en-US" sz="21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1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-&gt; 99.7% of students scored between </a:t>
            </a:r>
            <a:r>
              <a:rPr lang="en-US" sz="21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40     and   100</a:t>
            </a:r>
          </a:p>
          <a:p>
            <a:endParaRPr lang="en-US" sz="21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0394880-39FE-779B-4DE2-3256AAA629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8504" y="3035428"/>
            <a:ext cx="5873496" cy="3822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7591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5A572-21AE-8A83-0238-7D0412D77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7CBA15AA-9122-8E0A-27D1-7D3CF5400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65900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68 – 95 – 99.7</a:t>
            </a:r>
            <a:endParaRPr lang="en-US" sz="36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56BF59-D1FE-FC16-D06B-231FABED6C8C}"/>
              </a:ext>
            </a:extLst>
          </p:cNvPr>
          <p:cNvSpPr txBox="1"/>
          <p:nvPr/>
        </p:nvSpPr>
        <p:spPr>
          <a:xfrm>
            <a:off x="118872" y="1207669"/>
            <a:ext cx="11622024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PROBLEM: Suppose the heights of adult men in a city are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normally distributed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with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mean (μ) =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175 cm 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and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standard deviation (σ) =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 cm.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1) Using empirical rule determine the range around mean that includes 68% of men height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2) Using empirical rule determine the range around mean that includes 95% of men height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Answer:</a:t>
            </a:r>
          </a:p>
          <a:p>
            <a:pPr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1) </a:t>
            </a:r>
          </a:p>
          <a:p>
            <a:pPr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68% of men's height is in between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μ − σ and μ + σ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68% of men's height is in between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170  and 180 cm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2)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95% of men's height is in between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μ − 2σ and μ + 2σ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95% of men's height is in between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165  and 185 cm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8019F1-C6E4-8EA6-BA15-1FEE56B636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8504" y="3035428"/>
            <a:ext cx="5873496" cy="3822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65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AE475-C797-B6D6-EE90-3CDBDB74D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819CF2F-7CF7-8C92-2567-BA09DE2AC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65900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68 – 95 – 99.7</a:t>
            </a:r>
            <a:endParaRPr lang="en-US" sz="36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270F68-9543-541A-7C89-62013891C442}"/>
              </a:ext>
            </a:extLst>
          </p:cNvPr>
          <p:cNvSpPr txBox="1"/>
          <p:nvPr/>
        </p:nvSpPr>
        <p:spPr>
          <a:xfrm>
            <a:off x="118872" y="1207669"/>
            <a:ext cx="11622024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PROBLEM: Suppose the heights of adult men in a city are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normally distributed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with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mean (μ) =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175 cm 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and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standard deviation (σ) =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 cm.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1) Using empirical rule determine the percentage of people whose height is between 175 and 180 cm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2) Using empirical rule determine the percentage of people whose height is between 170 and 185 cm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Answer:</a:t>
            </a:r>
          </a:p>
          <a:p>
            <a:pPr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1)</a:t>
            </a:r>
          </a:p>
          <a:p>
            <a:pPr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175 cm to 180 cm : </a:t>
            </a:r>
          </a:p>
          <a:p>
            <a:pPr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By looking at graph , 68 / 2 = 34%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2)</a:t>
            </a:r>
          </a:p>
          <a:p>
            <a:pPr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170 cm to 185 cm :  </a:t>
            </a:r>
          </a:p>
          <a:p>
            <a:pPr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By looking at graph , 68% + 13.5% = 81.5%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01B2876-45FA-F651-9BD0-F8E2D16C45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8504" y="3035428"/>
            <a:ext cx="5873496" cy="3822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3223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237</TotalTime>
  <Words>587</Words>
  <Application>Microsoft Office PowerPoint</Application>
  <PresentationFormat>Widescreen</PresentationFormat>
  <Paragraphs>60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Empirical Rule: 68 – 95 – 99.7</vt:lpstr>
      <vt:lpstr>Empirical Rule: 68 – 95 – 99.7</vt:lpstr>
      <vt:lpstr>68 – 95 – 99.7</vt:lpstr>
      <vt:lpstr>68 – 95 – 99.7</vt:lpstr>
      <vt:lpstr>68 – 95 – 99.7</vt:lpstr>
      <vt:lpstr>68 – 95 – 99.7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47</cp:revision>
  <dcterms:created xsi:type="dcterms:W3CDTF">2025-09-22T02:44:38Z</dcterms:created>
  <dcterms:modified xsi:type="dcterms:W3CDTF">2025-10-06T08:43:47Z</dcterms:modified>
</cp:coreProperties>
</file>