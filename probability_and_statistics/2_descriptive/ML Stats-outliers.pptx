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3" r:id="rId2"/>
    <p:sldId id="282" r:id="rId3"/>
    <p:sldId id="283" r:id="rId4"/>
    <p:sldId id="287" r:id="rId5"/>
    <p:sldId id="289" r:id="rId6"/>
    <p:sldId id="290" r:id="rId7"/>
    <p:sldId id="292" r:id="rId8"/>
    <p:sldId id="285" r:id="rId9"/>
    <p:sldId id="286" r:id="rId10"/>
    <p:sldId id="284" r:id="rId11"/>
    <p:sldId id="288" r:id="rId12"/>
    <p:sldId id="257" r:id="rId13"/>
    <p:sldId id="276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2D3FC-1898-47E1-B4BA-2070CF7359E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F1409-2DC5-4A72-9701-90CBE2ABE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3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E06B-3DEF-3D0B-CC13-FE35261A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237744"/>
            <a:ext cx="11731752" cy="5303519"/>
          </a:xfrm>
        </p:spPr>
        <p:txBody>
          <a:bodyPr>
            <a:normAutofit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Can you tell which numbers are </a:t>
            </a:r>
            <a:r>
              <a:rPr lang="en-US" sz="5400" b="1" dirty="0"/>
              <a:t>statistically extreme points (AKA outliers)</a:t>
            </a:r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?</a:t>
            </a:r>
            <a:b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/>
              <a:t>52, 48, 45, 44, 49, 55, 40, 46, 44, 53, 47, 47, 48, 52, 48, 34, 52, 52, 48, 44, 51, 51, 47, 48, 45, 49, 42, 52, 45, 51, 42, 47, 49, 41, 50, 48, 41, 43, 53, 54, 28, 31, 68, 75, 74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C9A67-0F13-7A08-F94F-4C75F7D24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5121714"/>
            <a:ext cx="5594881" cy="13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44CB-AFB2-0C7A-EE4B-C1722983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0C350-F7A9-5AC1-F63C-BFFF5659E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Mean:</a:t>
            </a:r>
          </a:p>
          <a:p>
            <a:pPr marL="0" indent="0">
              <a:buNone/>
            </a:pPr>
            <a:r>
              <a:rPr lang="en-US" dirty="0"/>
              <a:t>3, 3, 4, 5, 5, 7     =&gt; mean = (3 + 3 + 4 + 5 + 5 + 7) / 6    = 4.5</a:t>
            </a:r>
          </a:p>
          <a:p>
            <a:pPr marL="0" indent="0">
              <a:buNone/>
            </a:pPr>
            <a:r>
              <a:rPr lang="en-US" dirty="0"/>
              <a:t>3, 3, 4, 5, 5,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70</a:t>
            </a:r>
            <a:r>
              <a:rPr lang="en-US" dirty="0"/>
              <a:t>   =&gt; mean = (3 + 3 + 4 + 5 + 5 + 70) / 6  = 15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Presence of outliers changed the mean value drastically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Median are not affected by presence of outliers:</a:t>
            </a:r>
          </a:p>
          <a:p>
            <a:pPr marL="0" indent="0">
              <a:buNone/>
            </a:pPr>
            <a:r>
              <a:rPr lang="en-US" dirty="0"/>
              <a:t>3, 3, 4, 5, 5, 7     =&gt; median = (4 + 5) / 2    = 4.5</a:t>
            </a:r>
          </a:p>
          <a:p>
            <a:pPr marL="0" indent="0">
              <a:buNone/>
            </a:pPr>
            <a:r>
              <a:rPr lang="en-US" dirty="0"/>
              <a:t>3, 3, 4, 5, 5,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70</a:t>
            </a:r>
            <a:r>
              <a:rPr lang="en-US" dirty="0"/>
              <a:t>   =&gt; median = (4 + 5) / 2    = 4.5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7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FF5A-5509-2C70-419C-FFD6BC2B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Using IQR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CF6B-3AB1-84F8-45AA-6A2B278DB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72" y="1103249"/>
            <a:ext cx="11771376" cy="4351338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Step1: Order the dataset:</a:t>
            </a:r>
          </a:p>
          <a:p>
            <a:pPr marL="0" indent="0">
              <a:buNone/>
            </a:pPr>
            <a:r>
              <a:rPr lang="en-US" dirty="0"/>
              <a:t>Actual dataset:  </a:t>
            </a:r>
          </a:p>
          <a:p>
            <a:pPr marL="0" indent="0">
              <a:buNone/>
            </a:pPr>
            <a:r>
              <a:rPr lang="en-US" dirty="0"/>
              <a:t>52, 48, 45, 44, 49, 55, 40, 46, 44, 53, 47, 47, 48, 52, 48, 34, 52, 52, 48, 44, 51, 51, 47, 48, 45, 49, 42, 52, 45, 51, 42, 47, 49, 41, 50, 48, 41, 43, 53, 54, 28, 31, 68, 75, 74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Ordered dataset: </a:t>
            </a:r>
          </a:p>
          <a:p>
            <a:pPr marL="0" indent="0">
              <a:buNone/>
            </a:pPr>
            <a:r>
              <a:rPr lang="en-US" dirty="0"/>
              <a:t>28, 31, 34, 40, 41, 41, 42, 42, 43, 44, 44, 44, 45, 45, 45, 46, 47, 47, 47, 47, 48, 48, 48, 48, 48, 48, 49, 49, 49, 50, 51, 51, 51, 52, 52, 52, 52, 52, 53, 53, 54, 55, 68, 74, 75</a:t>
            </a:r>
          </a:p>
        </p:txBody>
      </p:sp>
    </p:spTree>
    <p:extLst>
      <p:ext uri="{BB962C8B-B14F-4D97-AF65-F5344CB8AC3E}">
        <p14:creationId xmlns:p14="http://schemas.microsoft.com/office/powerpoint/2010/main" val="112651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7975-BD29-70A1-9574-A2281CDD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EAB8-876B-3894-20C3-375768CB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Using IQR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CF77-E372-08BB-367F-DEA37A5C5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103248"/>
            <a:ext cx="11923776" cy="5334127"/>
          </a:xfrm>
        </p:spPr>
        <p:txBody>
          <a:bodyPr>
            <a:normAutofit/>
          </a:bodyPr>
          <a:lstStyle/>
          <a:p>
            <a:r>
              <a:rPr lang="en-US" sz="2400" u="sng" dirty="0"/>
              <a:t>Step2: Find Q1, Q3 and IQR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28, 31, 34, 40, 41, 41, 42, 42, 43, 44, </a:t>
            </a:r>
            <a:r>
              <a:rPr lang="en-US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44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44, 45, 45, 45, 46, 47, 47, 47, 47, 48, 48, </a:t>
            </a:r>
            <a:r>
              <a:rPr lang="en-US" b="1" u="sng" dirty="0">
                <a:solidFill>
                  <a:schemeClr val="bg1"/>
                </a:solidFill>
              </a:rPr>
              <a:t>48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48, 48, 48, 49, 49, 49, 50, 51, 51, 51, </a:t>
            </a:r>
            <a:r>
              <a:rPr lang="en-US" u="sng" dirty="0">
                <a:solidFill>
                  <a:srgbClr val="00B0F0"/>
                </a:solidFill>
              </a:rPr>
              <a:t>52</a:t>
            </a:r>
            <a:r>
              <a:rPr lang="en-US" sz="2400" dirty="0">
                <a:solidFill>
                  <a:srgbClr val="00B0F0"/>
                </a:solidFill>
              </a:rPr>
              <a:t>, 52, 52, 52, 52, 53, 53, 54, 55, 68, 74, 75</a:t>
            </a:r>
          </a:p>
          <a:p>
            <a:pPr marL="0" indent="0">
              <a:buNone/>
            </a:pPr>
            <a:endParaRPr lang="en-US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Here Q1 = 44, and Q3 = 52.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IQR = Q3 – Q1 = 52 – 44 =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638CA-3028-B838-F997-AA597F4D6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776488"/>
            <a:ext cx="3557017" cy="1840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81C781-7D50-E5FA-B2B9-0CD4B8F9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886" y="4462516"/>
            <a:ext cx="6192114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6F51-81DF-EEC9-D27D-0CA9614A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2147-3DB2-6CC8-2AC8-8E3B275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Using IQR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707BC-4D31-6A8A-7D12-59B58E6D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103248"/>
            <a:ext cx="11923776" cy="5334127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Step3: Identify Lower and upper bound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Lower bound = Q1 − 1.5 × IQR = 44 – 1.5 x 8 = 32</a:t>
            </a:r>
          </a:p>
          <a:p>
            <a:pPr marL="0" indent="0">
              <a:buNone/>
            </a:pPr>
            <a:r>
              <a:rPr lang="en-US" sz="2400" dirty="0"/>
              <a:t>Upper bound = Q3 + 1.5 × IQR = 52 + 1.5 x 8 = 64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Step4: Points outside the lower and upper bound are outliers.</a:t>
            </a:r>
          </a:p>
          <a:p>
            <a:pPr marL="0" indent="0">
              <a:buNone/>
            </a:pPr>
            <a:r>
              <a:rPr lang="en-US" sz="2400" dirty="0"/>
              <a:t>Outliers = 28, 31, 68, 74, 75. These values represent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statistically extreme points</a:t>
            </a:r>
            <a:r>
              <a:rPr lang="en-US" sz="2400" dirty="0"/>
              <a:t> in the dataset.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1A26E-643E-8300-D811-96B24658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776488"/>
            <a:ext cx="3557017" cy="1840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C7F853-940C-E0E5-012C-C8A864010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886" y="4462516"/>
            <a:ext cx="6192114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4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0BF0B8-A5AF-4AAC-338B-1EED2F0E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1" y="5163959"/>
            <a:ext cx="11824569" cy="1575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63BA40-39CE-B4AA-DE97-6B89C75C7A08}"/>
              </a:ext>
            </a:extLst>
          </p:cNvPr>
          <p:cNvSpPr txBox="1"/>
          <p:nvPr/>
        </p:nvSpPr>
        <p:spPr>
          <a:xfrm>
            <a:off x="44343" y="1329220"/>
            <a:ext cx="12044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Ordered dataset:  </a:t>
            </a:r>
          </a:p>
          <a:p>
            <a:r>
              <a:rPr lang="en-US" sz="2400" dirty="0">
                <a:solidFill>
                  <a:srgbClr val="EB99FB"/>
                </a:solidFill>
              </a:rPr>
              <a:t>28, 31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34, 40, 41, 41, 42, 42, 43, 44, 44, 44, 45, 45, 45, 46, 47, 47, 47, 47, 48, 48, 48, 48, 48, 48, 49, 49, 49, 50, 51, 51, 51, 52, 52, 52, 52, 52, 53, 53, 54, 55, </a:t>
            </a:r>
            <a:r>
              <a:rPr lang="en-US" sz="2400" dirty="0">
                <a:solidFill>
                  <a:srgbClr val="EB99FB"/>
                </a:solidFill>
              </a:rPr>
              <a:t>68, 74, 75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A11608-0414-98DB-34FE-5478803F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Final Result</a:t>
            </a:r>
          </a:p>
        </p:txBody>
      </p:sp>
    </p:spTree>
    <p:extLst>
      <p:ext uri="{BB962C8B-B14F-4D97-AF65-F5344CB8AC3E}">
        <p14:creationId xmlns:p14="http://schemas.microsoft.com/office/powerpoint/2010/main" val="171172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301B-C69A-26E2-2D91-3967A1E3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DB1B2CA-243C-BB2D-6434-A30BDB74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Using z-score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FA414-15F2-0E54-3966-F7E0B5383DF4}"/>
              </a:ext>
            </a:extLst>
          </p:cNvPr>
          <p:cNvSpPr txBox="1"/>
          <p:nvPr/>
        </p:nvSpPr>
        <p:spPr>
          <a:xfrm>
            <a:off x="109728" y="1147679"/>
            <a:ext cx="1173175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step process: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Convert your data into z-score. The z-score measures how many standard deviations a data point is from the mean.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Set up your threshold (commonly 3), and if |Z| &gt; threshold, it’s considered an outlier.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Find outliers in following data.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28, 31, 34, 40, 41, 41, 42, 42, 43, 44, 44, 44, 45, 45, 45, 46, 47, 47, 47, 47, 48, 48, 48, 48, 48, 48, 49, 49, 49, 50, 51, 51, 51, 52, 52, 52, 52, 52, 53, 53, 54, 55, 68, 74, 75 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After calculation, mean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48.28 and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std. dev.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8.53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-&gt;     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z-score</a:t>
            </a:r>
          </a:p>
          <a:p>
            <a:pPr marL="457200" indent="-457200">
              <a:buAutoNum type="arabicPlain" startAt="28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-&gt;    (28 – 48.28) / 8.53 = -2.38</a:t>
            </a:r>
          </a:p>
          <a:p>
            <a:pPr marL="457200" indent="-457200">
              <a:buAutoNum type="arabicPlain" startAt="31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-&gt;    (31 - 48.28) / 8.53 = -2.03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34      -&gt;     (34 - 48.28) / 8.53 = -1.67 and so on.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lain" startAt="28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C5B3F5-F06C-B8C1-7F89-1F2E28701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588" y="1920241"/>
            <a:ext cx="1771974" cy="77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902F5E-C05D-21F7-BF8C-FCB266D7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04" y="3913502"/>
            <a:ext cx="601111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1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37A1E-80F4-A088-8BD9-BAEF5E18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BDE4C-8120-6F97-1715-51477B16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987552"/>
            <a:ext cx="11612880" cy="40507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Sorted Dataset: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28</a:t>
            </a:r>
            <a:r>
              <a:rPr lang="en-US" sz="2000" dirty="0"/>
              <a:t>, 31, 34, 40, 41, 41, 42, 42, 43, 44, 44, 44, 45, 45, 45, 46, 47, 47, 47, 47, 48, 48, 48, 48, 48, 48, 49, 49, 49, 50, 51, 51, 51, 52, 52, 52, 52, 52, 53, 53, 54, 55, </a:t>
            </a:r>
            <a:r>
              <a:rPr lang="en-US" sz="2000" dirty="0">
                <a:solidFill>
                  <a:schemeClr val="accent4"/>
                </a:solidFill>
              </a:rPr>
              <a:t>68, 74, 75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Z-scores: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-2.38,</a:t>
            </a:r>
            <a:r>
              <a:rPr lang="en-US" sz="2000" dirty="0"/>
              <a:t> -2.03, -1.67, -0.97, -0.85, -0.85, -0.74, -0.74, -0.62, -0.5, -0.5, -0.5, -0.39, -0.39, -0.39, -0.27, -0.15, -0.15, -0.15, -0.15, -0.03, -0.03, -0.03, -0.03, -0.03, -0.03, 0.08, 0.08, 0.08, 0.2, 0.32, 0.32, 0.32, 0.43, 0.43, 0.43, 0.43, 0.43, 0.55, 0.55, 0.67, 0.79, </a:t>
            </a:r>
            <a:r>
              <a:rPr lang="en-US" sz="2000" dirty="0">
                <a:solidFill>
                  <a:schemeClr val="accent4"/>
                </a:solidFill>
              </a:rPr>
              <a:t>2.31, 3.01, 3.13 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Step2: Let’s define threshold = 2.3</a:t>
            </a:r>
          </a:p>
          <a:p>
            <a:pPr marL="0" indent="0">
              <a:buNone/>
            </a:pPr>
            <a:r>
              <a:rPr lang="en-US" sz="2000" dirty="0"/>
              <a:t>Detected Outliers (z &lt; </a:t>
            </a:r>
            <a:r>
              <a:rPr lang="en-US" sz="2000" b="1" dirty="0"/>
              <a:t>-2.3</a:t>
            </a:r>
            <a:r>
              <a:rPr lang="en-US" sz="2000" dirty="0"/>
              <a:t>  or z &gt; </a:t>
            </a:r>
            <a:r>
              <a:rPr lang="en-US" sz="2000" b="1" dirty="0"/>
              <a:t>+2.3</a:t>
            </a:r>
            <a:r>
              <a:rPr lang="en-US" sz="2000" dirty="0"/>
              <a:t>):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28, 68, 74, 75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752EB3-57A6-901B-22B4-F5B12019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732155"/>
          </a:xfrm>
        </p:spPr>
        <p:txBody>
          <a:bodyPr/>
          <a:lstStyle/>
          <a:p>
            <a:r>
              <a:rPr lang="en-US" dirty="0"/>
              <a:t>Identify outliers: Using z-score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AEBD1-6D33-D196-DAF2-84F088621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04" y="3913502"/>
            <a:ext cx="601111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8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79C2-41B1-B1A4-996E-6093C581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IQR method or z-score method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0B965-0A68-4478-A767-F75253F5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IQR method is best for:</a:t>
            </a:r>
          </a:p>
          <a:p>
            <a:r>
              <a:rPr lang="en-US" b="1" dirty="0"/>
              <a:t>Non-normal (skewed)</a:t>
            </a:r>
            <a:r>
              <a:rPr lang="en-US" dirty="0"/>
              <a:t> or </a:t>
            </a:r>
            <a:r>
              <a:rPr lang="en-US" b="1" dirty="0"/>
              <a:t>small datasets </a:t>
            </a:r>
            <a:r>
              <a:rPr lang="en-US" dirty="0"/>
              <a:t>(e.g. 3, 2, 4, 1, 3, 4, 93)</a:t>
            </a:r>
          </a:p>
          <a:p>
            <a:r>
              <a:rPr lang="en-US" b="1" dirty="0"/>
              <a:t>Data with unknown distribution</a:t>
            </a:r>
            <a:endParaRPr lang="en-US" dirty="0"/>
          </a:p>
          <a:p>
            <a:r>
              <a:rPr lang="en-US" b="1" dirty="0"/>
              <a:t>Ordinal or not strictly continuous data </a:t>
            </a:r>
            <a:r>
              <a:rPr lang="en-US" dirty="0"/>
              <a:t>(e.g. 3, 2, 4, 1,3, 4, 93)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Z-score method best for:</a:t>
            </a:r>
          </a:p>
          <a:p>
            <a:r>
              <a:rPr lang="en-US" b="1" dirty="0"/>
              <a:t>Normally distributed (bell-shaped)</a:t>
            </a:r>
            <a:r>
              <a:rPr lang="en-US" dirty="0"/>
              <a:t> data</a:t>
            </a:r>
          </a:p>
          <a:p>
            <a:r>
              <a:rPr lang="en-US" b="1" dirty="0"/>
              <a:t>Continuous and large datasets (</a:t>
            </a:r>
            <a:r>
              <a:rPr lang="en-US" dirty="0"/>
              <a:t>e.g. 1.12, 2.34, 3.12, 1.94, …. 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2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7902-70BC-F9CD-680F-C029688A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5767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to remove outliers ? Few basic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39CBA-71CE-B603-00A8-96F697C8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877824"/>
            <a:ext cx="11006328" cy="5779008"/>
          </a:xfrm>
        </p:spPr>
        <p:txBody>
          <a:bodyPr>
            <a:no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Trim them:        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- 40,</a:t>
            </a:r>
            <a:r>
              <a:rPr lang="en-US" sz="2000" dirty="0"/>
              <a:t> 1, 1, 2, 2, 2, 2, 2, 3, 4, 4, 5,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56, 89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1, 1, 2, 2, 2, 2, 2, 3, 4, 4, 5</a:t>
            </a:r>
          </a:p>
          <a:p>
            <a:pPr marL="0" indent="0">
              <a:buNone/>
            </a:pPr>
            <a:r>
              <a:rPr lang="en-US" sz="2000" dirty="0"/>
              <a:t>If outliers are due to data entry errors or measurement mistakes, you can safely remove them.</a:t>
            </a:r>
          </a:p>
          <a:p>
            <a:pPr marL="0" indent="0">
              <a:buNone/>
            </a:pPr>
            <a:r>
              <a:rPr lang="en-US" sz="2000" dirty="0"/>
              <a:t>Best for: clear, obvious outliers not representing true behavior.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B)     Cap or </a:t>
            </a:r>
            <a:r>
              <a:rPr lang="en-US" sz="2000" dirty="0" err="1"/>
              <a:t>Winsorize</a:t>
            </a:r>
            <a:r>
              <a:rPr lang="en-US" sz="2000" dirty="0"/>
              <a:t> them: 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- 40,</a:t>
            </a:r>
            <a:r>
              <a:rPr lang="en-US" sz="2000" dirty="0"/>
              <a:t> 1, 1, 2, 2, 2, 2, 2, 3, 4, 4, 5,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56, 89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                                               1,</a:t>
            </a:r>
            <a:r>
              <a:rPr lang="en-US" sz="2000" dirty="0"/>
              <a:t>   1, 1, 2, 2, 2, 2, 2, 3, 4, 4, 5,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5,  5</a:t>
            </a:r>
          </a:p>
          <a:p>
            <a:pPr marL="0" indent="0">
              <a:buNone/>
            </a:pPr>
            <a:r>
              <a:rPr lang="en-US" sz="2000" dirty="0"/>
              <a:t>Instead of removing, you limit extreme values to a threshold.</a:t>
            </a:r>
          </a:p>
          <a:p>
            <a:pPr marL="0" indent="0">
              <a:buNone/>
            </a:pPr>
            <a:r>
              <a:rPr lang="en-US" sz="2000" dirty="0"/>
              <a:t>Best for: preserving dataset size and avoiding bias.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C)    Replace with mean/median (Imputation):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- 40,</a:t>
            </a:r>
            <a:r>
              <a:rPr lang="en-US" sz="2000" dirty="0"/>
              <a:t> 1, 1, 2, 2, 2, 2, 2, 3, 4, 4, 5,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56, 89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M,</a:t>
            </a:r>
            <a:r>
              <a:rPr lang="en-US" sz="2000" dirty="0"/>
              <a:t>  1, 1, 2, 2, 2, 2, 2, 3, 4, 4, 5,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M, M</a:t>
            </a:r>
          </a:p>
          <a:p>
            <a:pPr marL="0" indent="0">
              <a:buNone/>
            </a:pPr>
            <a:r>
              <a:rPr lang="en-US" sz="2000" dirty="0"/>
              <a:t>You can replace extreme values with more </a:t>
            </a:r>
            <a:r>
              <a:rPr lang="en-US" sz="2000" b="1" dirty="0"/>
              <a:t>typical</a:t>
            </a:r>
            <a:r>
              <a:rPr lang="en-US" sz="2000" dirty="0"/>
              <a:t> ones.</a:t>
            </a:r>
          </a:p>
          <a:p>
            <a:pPr marL="0" indent="0">
              <a:buNone/>
            </a:pPr>
            <a:r>
              <a:rPr lang="en-US" sz="2000" dirty="0"/>
              <a:t>Best for: small datasets where every record matters.</a:t>
            </a:r>
          </a:p>
        </p:txBody>
      </p:sp>
    </p:spTree>
    <p:extLst>
      <p:ext uri="{BB962C8B-B14F-4D97-AF65-F5344CB8AC3E}">
        <p14:creationId xmlns:p14="http://schemas.microsoft.com/office/powerpoint/2010/main" val="221251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503A-6140-CBF2-E0A6-D5DFCA34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CFD7-65C4-6C95-2808-A3A6E5C9E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66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86F44-184B-764D-0548-2EC5164DA564}"/>
              </a:ext>
            </a:extLst>
          </p:cNvPr>
          <p:cNvSpPr txBox="1"/>
          <p:nvPr/>
        </p:nvSpPr>
        <p:spPr>
          <a:xfrm>
            <a:off x="194310" y="101983"/>
            <a:ext cx="69288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 plots</a:t>
            </a:r>
            <a:endParaRPr lang="en-US" sz="1600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distributions of numeric data 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values, especially when you want to compare them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multiple groups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visuals on 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data’s symmetry, skew, variance, and outliers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4, 3, 5, 2, 4, 3, 6, 7, 8, 3, 5, 2, 3, 4,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78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3, 2,-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3, 4, 5, 3, 2: here -30 and 78 seem outliers</a:t>
            </a:r>
          </a:p>
          <a:p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 to see where the main bulk of the data is, and make that comparison between different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 of data falls below Q1 (quartiles)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of data falls below Q2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75% of data falls below Q3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CEB6C2-BAA9-63B3-AA11-A6FDDF7D0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3143568"/>
            <a:ext cx="4552250" cy="3667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59B1E1-BD88-1A70-5DC3-379AB52B5198}"/>
              </a:ext>
            </a:extLst>
          </p:cNvPr>
          <p:cNvSpPr txBox="1"/>
          <p:nvPr/>
        </p:nvSpPr>
        <p:spPr>
          <a:xfrm>
            <a:off x="5407742" y="4522839"/>
            <a:ext cx="65899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city1: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most of temp is between 13 to 16. There is one outlier, temp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Q1 = 13. So 25% of temp data falls below 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Q2 =14. So 50% of temp data falls below 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Q3 = 17.</a:t>
            </a:r>
          </a:p>
          <a:p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FDEC3C-789D-0337-5155-AE9A490A5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12" y="141701"/>
            <a:ext cx="4700778" cy="33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6C41-18A8-1FC1-80BF-883ED137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237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41A9-B7B5-EDB9-68D8-0CBB489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0852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1422</TotalTime>
  <Words>1732</Words>
  <Application>Microsoft Office PowerPoint</Application>
  <PresentationFormat>Widescreen</PresentationFormat>
  <Paragraphs>102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Can you tell which numbers are statistically extreme points (AKA outliers) ? 52, 48, 45, 44, 49, 55, 40, 46, 44, 53, 47, 47, 48, 52, 48, 34, 52, 52, 48, 44, 51, 51, 47, 48, 45, 49, 42, 52, 45, 51, 42, 47, 49, 41, 50, 48, 41, 43, 53, 54, 28, 31, 68, 75, 74 </vt:lpstr>
      <vt:lpstr>Problems with outliers</vt:lpstr>
      <vt:lpstr>Identify outliers: Using IQR method</vt:lpstr>
      <vt:lpstr>Identify outliers: Using IQR method</vt:lpstr>
      <vt:lpstr>Identify outliers: Using IQR method</vt:lpstr>
      <vt:lpstr>Identify outliers: Final Result</vt:lpstr>
      <vt:lpstr>Identify outliers: Using z-score method</vt:lpstr>
      <vt:lpstr>Identify outliers: Using z-score method</vt:lpstr>
      <vt:lpstr>IQR method or z-score method ?</vt:lpstr>
      <vt:lpstr>How to remove outliers ? Few basic techniques</vt:lpstr>
      <vt:lpstr>STOP</vt:lpstr>
      <vt:lpstr>PowerPoint Presentation</vt:lpstr>
      <vt:lpstr>PowerPoint Presentation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174</cp:revision>
  <dcterms:created xsi:type="dcterms:W3CDTF">2025-09-22T02:44:38Z</dcterms:created>
  <dcterms:modified xsi:type="dcterms:W3CDTF">2026-01-07T15:16:40Z</dcterms:modified>
</cp:coreProperties>
</file>