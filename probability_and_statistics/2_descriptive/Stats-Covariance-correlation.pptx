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03" r:id="rId2"/>
    <p:sldId id="290" r:id="rId3"/>
    <p:sldId id="284" r:id="rId4"/>
    <p:sldId id="285" r:id="rId5"/>
    <p:sldId id="301" r:id="rId6"/>
    <p:sldId id="286" r:id="rId7"/>
    <p:sldId id="288" r:id="rId8"/>
    <p:sldId id="289" r:id="rId9"/>
    <p:sldId id="287" r:id="rId10"/>
    <p:sldId id="302" r:id="rId11"/>
    <p:sldId id="292" r:id="rId12"/>
    <p:sldId id="293" r:id="rId13"/>
    <p:sldId id="294" r:id="rId14"/>
    <p:sldId id="295" r:id="rId15"/>
    <p:sldId id="291" r:id="rId16"/>
    <p:sldId id="296" r:id="rId17"/>
    <p:sldId id="300" r:id="rId18"/>
    <p:sldId id="305" r:id="rId19"/>
    <p:sldId id="297" r:id="rId20"/>
    <p:sldId id="304" r:id="rId21"/>
    <p:sldId id="298" r:id="rId22"/>
    <p:sldId id="299" r:id="rId23"/>
    <p:sldId id="257" r:id="rId24"/>
    <p:sldId id="280" r:id="rId25"/>
    <p:sldId id="282" r:id="rId26"/>
    <p:sldId id="274" r:id="rId27"/>
    <p:sldId id="277" r:id="rId28"/>
    <p:sldId id="27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AF168-1F45-43AC-A448-E0071C708221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130DB-7ED6-4B6D-A44C-A1471A058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425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130DB-7ED6-4B6D-A44C-A1471A0584C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99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3A532-F9FB-184B-5603-FE67B60C2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0C6113-345D-D7E4-907C-D13467AD2721}"/>
              </a:ext>
            </a:extLst>
          </p:cNvPr>
          <p:cNvGraphicFramePr>
            <a:graphicFrameLocks noGrp="1"/>
          </p:cNvGraphicFramePr>
          <p:nvPr/>
        </p:nvGraphicFramePr>
        <p:xfrm>
          <a:off x="5327905" y="1420820"/>
          <a:ext cx="1117092" cy="2011680"/>
        </p:xfrm>
        <a:graphic>
          <a:graphicData uri="http://schemas.openxmlformats.org/drawingml/2006/table">
            <a:tbl>
              <a:tblPr/>
              <a:tblGrid>
                <a:gridCol w="559308">
                  <a:extLst>
                    <a:ext uri="{9D8B030D-6E8A-4147-A177-3AD203B41FA5}">
                      <a16:colId xmlns:a16="http://schemas.microsoft.com/office/drawing/2014/main" val="3858771954"/>
                    </a:ext>
                  </a:extLst>
                </a:gridCol>
                <a:gridCol w="557784">
                  <a:extLst>
                    <a:ext uri="{9D8B030D-6E8A-4147-A177-3AD203B41FA5}">
                      <a16:colId xmlns:a16="http://schemas.microsoft.com/office/drawing/2014/main" val="1241380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6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2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0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0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41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40984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F152BD2-A6D2-A1F6-0BF9-3AA7DDEB4C8B}"/>
              </a:ext>
            </a:extLst>
          </p:cNvPr>
          <p:cNvSpPr txBox="1"/>
          <p:nvPr/>
        </p:nvSpPr>
        <p:spPr>
          <a:xfrm>
            <a:off x="419101" y="926973"/>
            <a:ext cx="10934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What type of relationship is between X and Y ? How would you measure it mathematically?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CE27129-AD42-D860-7E79-F20E56F06EAF}"/>
              </a:ext>
            </a:extLst>
          </p:cNvPr>
          <p:cNvGraphicFramePr>
            <a:graphicFrameLocks noGrp="1"/>
          </p:cNvGraphicFramePr>
          <p:nvPr/>
        </p:nvGraphicFramePr>
        <p:xfrm>
          <a:off x="1394460" y="1405781"/>
          <a:ext cx="1117092" cy="2011680"/>
        </p:xfrm>
        <a:graphic>
          <a:graphicData uri="http://schemas.openxmlformats.org/drawingml/2006/table">
            <a:tbl>
              <a:tblPr/>
              <a:tblGrid>
                <a:gridCol w="559308">
                  <a:extLst>
                    <a:ext uri="{9D8B030D-6E8A-4147-A177-3AD203B41FA5}">
                      <a16:colId xmlns:a16="http://schemas.microsoft.com/office/drawing/2014/main" val="3858771954"/>
                    </a:ext>
                  </a:extLst>
                </a:gridCol>
                <a:gridCol w="557784">
                  <a:extLst>
                    <a:ext uri="{9D8B030D-6E8A-4147-A177-3AD203B41FA5}">
                      <a16:colId xmlns:a16="http://schemas.microsoft.com/office/drawing/2014/main" val="1241380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6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2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0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0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41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409843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C9939E6F-C1FF-17D0-8E7D-D1D88A58C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073" y="3982078"/>
            <a:ext cx="3590948" cy="2693211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3AC31FD-CA72-9677-D4D0-30FB8BA57249}"/>
              </a:ext>
            </a:extLst>
          </p:cNvPr>
          <p:cNvGraphicFramePr>
            <a:graphicFrameLocks noGrp="1"/>
          </p:cNvGraphicFramePr>
          <p:nvPr/>
        </p:nvGraphicFramePr>
        <p:xfrm>
          <a:off x="9477153" y="1420820"/>
          <a:ext cx="1117092" cy="2011680"/>
        </p:xfrm>
        <a:graphic>
          <a:graphicData uri="http://schemas.openxmlformats.org/drawingml/2006/table">
            <a:tbl>
              <a:tblPr/>
              <a:tblGrid>
                <a:gridCol w="559308">
                  <a:extLst>
                    <a:ext uri="{9D8B030D-6E8A-4147-A177-3AD203B41FA5}">
                      <a16:colId xmlns:a16="http://schemas.microsoft.com/office/drawing/2014/main" val="3858771954"/>
                    </a:ext>
                  </a:extLst>
                </a:gridCol>
                <a:gridCol w="557784">
                  <a:extLst>
                    <a:ext uri="{9D8B030D-6E8A-4147-A177-3AD203B41FA5}">
                      <a16:colId xmlns:a16="http://schemas.microsoft.com/office/drawing/2014/main" val="1241380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6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2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0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0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41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409843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596F1C9F-66F7-83AF-D66F-4608598F8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832" y="4071727"/>
            <a:ext cx="3542336" cy="261799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76765BD-7A55-37DF-2AE5-A8A211A92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4" y="3667948"/>
            <a:ext cx="3971833" cy="30073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C7EFA9-3372-DEDB-BBBD-78277DC29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57"/>
            <a:ext cx="10515600" cy="59499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Covariance</a:t>
            </a:r>
            <a:r>
              <a:rPr lang="en-US" dirty="0"/>
              <a:t> and </a:t>
            </a:r>
            <a:r>
              <a:rPr lang="en-US" b="1" dirty="0"/>
              <a:t>Correlation</a:t>
            </a:r>
          </a:p>
        </p:txBody>
      </p:sp>
    </p:spTree>
    <p:extLst>
      <p:ext uri="{BB962C8B-B14F-4D97-AF65-F5344CB8AC3E}">
        <p14:creationId xmlns:p14="http://schemas.microsoft.com/office/powerpoint/2010/main" val="3923011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35CD-E570-35E9-7504-3BFD4C23B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5240C-09F4-1526-1054-4CEB1D814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57"/>
            <a:ext cx="10515600" cy="59499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Covariance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27C738-88DA-5106-1F44-F501A5D7E426}"/>
              </a:ext>
            </a:extLst>
          </p:cNvPr>
          <p:cNvGraphicFramePr>
            <a:graphicFrameLocks noGrp="1"/>
          </p:cNvGraphicFramePr>
          <p:nvPr/>
        </p:nvGraphicFramePr>
        <p:xfrm>
          <a:off x="219075" y="2029730"/>
          <a:ext cx="1876425" cy="2194560"/>
        </p:xfrm>
        <a:graphic>
          <a:graphicData uri="http://schemas.openxmlformats.org/drawingml/2006/table">
            <a:tbl>
              <a:tblPr/>
              <a:tblGrid>
                <a:gridCol w="933450">
                  <a:extLst>
                    <a:ext uri="{9D8B030D-6E8A-4147-A177-3AD203B41FA5}">
                      <a16:colId xmlns:a16="http://schemas.microsoft.com/office/drawing/2014/main" val="3858771954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1241380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6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2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0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0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41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40984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11B4E49-EBA3-69A0-DF32-18CD38A82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427" y="1846616"/>
            <a:ext cx="6182194" cy="39436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FE8410-39EA-6955-ECEF-31A960396EC6}"/>
              </a:ext>
            </a:extLst>
          </p:cNvPr>
          <p:cNvSpPr txBox="1"/>
          <p:nvPr/>
        </p:nvSpPr>
        <p:spPr>
          <a:xfrm>
            <a:off x="419100" y="1209675"/>
            <a:ext cx="5918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have following data(e.g. study hours and score):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8CC9CF-4E6C-788D-EC98-4DD41B310FD8}"/>
              </a:ext>
            </a:extLst>
          </p:cNvPr>
          <p:cNvSpPr txBox="1"/>
          <p:nvPr/>
        </p:nvSpPr>
        <p:spPr>
          <a:xfrm>
            <a:off x="104775" y="6038850"/>
            <a:ext cx="47235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see that as X increases, Y increases too.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X and Y are said to be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positively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correlated.</a:t>
            </a:r>
          </a:p>
        </p:txBody>
      </p:sp>
    </p:spTree>
    <p:extLst>
      <p:ext uri="{BB962C8B-B14F-4D97-AF65-F5344CB8AC3E}">
        <p14:creationId xmlns:p14="http://schemas.microsoft.com/office/powerpoint/2010/main" val="3648119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9B748-8779-0635-3FE1-008E01CE7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9F1DF-C36B-ED0D-19E2-C2E4F943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57"/>
            <a:ext cx="10515600" cy="59499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Covariance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1E2A12-65C7-C6A0-3770-D788567EE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359111"/>
              </p:ext>
            </p:extLst>
          </p:nvPr>
        </p:nvGraphicFramePr>
        <p:xfrm>
          <a:off x="219075" y="2029730"/>
          <a:ext cx="1876425" cy="2194560"/>
        </p:xfrm>
        <a:graphic>
          <a:graphicData uri="http://schemas.openxmlformats.org/drawingml/2006/table">
            <a:tbl>
              <a:tblPr/>
              <a:tblGrid>
                <a:gridCol w="933450">
                  <a:extLst>
                    <a:ext uri="{9D8B030D-6E8A-4147-A177-3AD203B41FA5}">
                      <a16:colId xmlns:a16="http://schemas.microsoft.com/office/drawing/2014/main" val="3858771954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1241380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6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2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0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0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41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40984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3D6FCC6-0C4E-21AF-5265-FE466872ECE4}"/>
              </a:ext>
            </a:extLst>
          </p:cNvPr>
          <p:cNvSpPr txBox="1"/>
          <p:nvPr/>
        </p:nvSpPr>
        <p:spPr>
          <a:xfrm>
            <a:off x="419100" y="1209675"/>
            <a:ext cx="5598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have following data (game-hours and score):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9BD45E-5046-497B-68E9-69687CD45061}"/>
              </a:ext>
            </a:extLst>
          </p:cNvPr>
          <p:cNvSpPr txBox="1"/>
          <p:nvPr/>
        </p:nvSpPr>
        <p:spPr>
          <a:xfrm>
            <a:off x="104775" y="6038850"/>
            <a:ext cx="48650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see that as X increases, Y decreases.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X and Y are said to be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negatively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correlated.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495DF6-B7C1-AE6A-CCC4-1193AA14D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653" y="1838325"/>
            <a:ext cx="6075390" cy="391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178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92B79-6B0F-A0B6-69F7-8BFDE96C2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EDFD-13BE-237C-009E-8566AC28F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57"/>
            <a:ext cx="10515600" cy="59499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Covariance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0ABA29-D67D-E78B-FA7C-A46C8B79C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214877"/>
              </p:ext>
            </p:extLst>
          </p:nvPr>
        </p:nvGraphicFramePr>
        <p:xfrm>
          <a:off x="219075" y="2029730"/>
          <a:ext cx="1876425" cy="2194560"/>
        </p:xfrm>
        <a:graphic>
          <a:graphicData uri="http://schemas.openxmlformats.org/drawingml/2006/table">
            <a:tbl>
              <a:tblPr/>
              <a:tblGrid>
                <a:gridCol w="933450">
                  <a:extLst>
                    <a:ext uri="{9D8B030D-6E8A-4147-A177-3AD203B41FA5}">
                      <a16:colId xmlns:a16="http://schemas.microsoft.com/office/drawing/2014/main" val="3858771954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1241380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6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2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0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0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41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40984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772B8DF-67D8-348E-AF47-F028A9928A7E}"/>
              </a:ext>
            </a:extLst>
          </p:cNvPr>
          <p:cNvSpPr txBox="1"/>
          <p:nvPr/>
        </p:nvSpPr>
        <p:spPr>
          <a:xfrm>
            <a:off x="419100" y="1209675"/>
            <a:ext cx="3449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have following data: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D974FA-CCA9-B66E-0A89-2EE098CB831A}"/>
              </a:ext>
            </a:extLst>
          </p:cNvPr>
          <p:cNvSpPr txBox="1"/>
          <p:nvPr/>
        </p:nvSpPr>
        <p:spPr>
          <a:xfrm>
            <a:off x="104775" y="6038850"/>
            <a:ext cx="3900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as X increases, Y has no pattern.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 and Y are said to be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correlated.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4A1646-61FF-7370-E8EE-6D8148A0B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425" y="1977446"/>
            <a:ext cx="5786944" cy="367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611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A9060-C461-A139-4FFA-D1DFB7102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213B8-B732-6FA5-1CC9-E7D288DC6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57"/>
            <a:ext cx="10515600" cy="59499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Covariance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091B09-7376-0D77-999F-38F043E85459}"/>
              </a:ext>
            </a:extLst>
          </p:cNvPr>
          <p:cNvSpPr txBox="1"/>
          <p:nvPr/>
        </p:nvSpPr>
        <p:spPr>
          <a:xfrm>
            <a:off x="233172" y="934688"/>
            <a:ext cx="113157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use covariance to determine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direction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relation between X and Y: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Cov (X,Y) &gt; 0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X and Y move in same direction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Cov (X,Y) &lt; 0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X and Y move in opposite direction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Cov (X,Y) = 0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X and Y are independent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Side Note: Above is the covariance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samples,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population. For population, n-1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 n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FA58E3-C919-9512-88BB-733591ABB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783" y="1693251"/>
            <a:ext cx="4520587" cy="89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796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9BF4A-7340-518C-3820-9101A269E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F34E9-F695-260D-B127-F75AAB480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57"/>
            <a:ext cx="10515600" cy="59499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Covariance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D049D7-FDB8-B58A-B5D3-AFD64A7CA64D}"/>
              </a:ext>
            </a:extLst>
          </p:cNvPr>
          <p:cNvSpPr txBox="1"/>
          <p:nvPr/>
        </p:nvSpPr>
        <p:spPr>
          <a:xfrm>
            <a:off x="419100" y="771525"/>
            <a:ext cx="4298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Example1: Find covariance between X and 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8A87CB-6399-DC18-06AA-0484CC092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49" y="1194981"/>
            <a:ext cx="3763922" cy="7424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8A0E0B-AE04-F545-6A2F-F4436E721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49" y="2092215"/>
            <a:ext cx="4189605" cy="14052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A4FEC4-0E11-30C3-9911-A3CDF638F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3" y="3679746"/>
            <a:ext cx="9758553" cy="7700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15EB0E-0DB4-7FE9-48BE-0FAE76978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23" y="4567573"/>
            <a:ext cx="10787041" cy="2226419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8424273-774F-F1C7-FECD-4C3E78CAC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946622"/>
              </p:ext>
            </p:extLst>
          </p:nvPr>
        </p:nvGraphicFramePr>
        <p:xfrm>
          <a:off x="419100" y="1267730"/>
          <a:ext cx="1601724" cy="2011680"/>
        </p:xfrm>
        <a:graphic>
          <a:graphicData uri="http://schemas.openxmlformats.org/drawingml/2006/table">
            <a:tbl>
              <a:tblPr/>
              <a:tblGrid>
                <a:gridCol w="751332">
                  <a:extLst>
                    <a:ext uri="{9D8B030D-6E8A-4147-A177-3AD203B41FA5}">
                      <a16:colId xmlns:a16="http://schemas.microsoft.com/office/drawing/2014/main" val="3858771954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1241380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6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2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0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0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41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409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8124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046A9-66FE-EF58-24E2-13ED1183D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A3CC6-6FED-559D-E76F-6AF9C2613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57"/>
            <a:ext cx="10515600" cy="59499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Covariance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6C1174-F7D5-DF8C-2E4A-35DCD843E541}"/>
              </a:ext>
            </a:extLst>
          </p:cNvPr>
          <p:cNvSpPr txBox="1"/>
          <p:nvPr/>
        </p:nvSpPr>
        <p:spPr>
          <a:xfrm>
            <a:off x="419100" y="771525"/>
            <a:ext cx="11522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Example2: If I take same data as previous and divide Y by 10, scale it down, then COV(X,Y) = 2.25 (smaller by factor of 10)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EEAEF2-F71E-DF35-42B6-50201BF71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481248"/>
              </p:ext>
            </p:extLst>
          </p:nvPr>
        </p:nvGraphicFramePr>
        <p:xfrm>
          <a:off x="419100" y="1267730"/>
          <a:ext cx="1601724" cy="2011680"/>
        </p:xfrm>
        <a:graphic>
          <a:graphicData uri="http://schemas.openxmlformats.org/drawingml/2006/table">
            <a:tbl>
              <a:tblPr/>
              <a:tblGrid>
                <a:gridCol w="751332">
                  <a:extLst>
                    <a:ext uri="{9D8B030D-6E8A-4147-A177-3AD203B41FA5}">
                      <a16:colId xmlns:a16="http://schemas.microsoft.com/office/drawing/2014/main" val="3858771954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1241380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6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2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0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0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41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40984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4295537-B2AD-6712-26AC-7B942945D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49" y="1194981"/>
            <a:ext cx="3763922" cy="7424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C342ABF-5794-F46C-05C3-30E44D957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3" y="3679746"/>
            <a:ext cx="9758553" cy="7700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5EAC1A-E60C-A5D8-2C5B-F63AB5D5B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19" y="2047937"/>
            <a:ext cx="4102369" cy="14493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C6F838-F906-3CC0-FEAD-CAD2B1DC3F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23" y="4559134"/>
            <a:ext cx="11058144" cy="216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582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EE7EC-C755-B084-3687-DC381609D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5112B-7203-943E-1A7B-723519A8A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17"/>
            <a:ext cx="10515600" cy="49441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Covariance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A0F2DF-945C-934E-95C9-CD65835A002E}"/>
              </a:ext>
            </a:extLst>
          </p:cNvPr>
          <p:cNvSpPr txBox="1"/>
          <p:nvPr/>
        </p:nvSpPr>
        <p:spPr>
          <a:xfrm>
            <a:off x="143376" y="680085"/>
            <a:ext cx="12048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let’s plot both these separately. Suppose in 1st figure, X is in meters and Y is in Kg, then covariance = 22.5 m-kg.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2</a:t>
            </a:r>
            <a:r>
              <a:rPr lang="en-US" baseline="30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figure, X is in hours and Y is in score, and covariance = 2.25 hours-score. Numerically they are different because of different units, but visually they look identical.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634A8A-302F-D2FE-E306-93FA79820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382691"/>
              </p:ext>
            </p:extLst>
          </p:nvPr>
        </p:nvGraphicFramePr>
        <p:xfrm>
          <a:off x="8950452" y="1642220"/>
          <a:ext cx="1491996" cy="1828800"/>
        </p:xfrm>
        <a:graphic>
          <a:graphicData uri="http://schemas.openxmlformats.org/drawingml/2006/table">
            <a:tbl>
              <a:tblPr/>
              <a:tblGrid>
                <a:gridCol w="650748">
                  <a:extLst>
                    <a:ext uri="{9D8B030D-6E8A-4147-A177-3AD203B41FA5}">
                      <a16:colId xmlns:a16="http://schemas.microsoft.com/office/drawing/2014/main" val="385877195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1241380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X(</a:t>
                      </a:r>
                      <a:r>
                        <a:rPr lang="en-US" sz="1400" b="1" u="sng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hr</a:t>
                      </a:r>
                      <a:r>
                        <a:rPr lang="en-US" sz="1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 (score)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6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2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0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0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41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40984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43B0094-7BA9-C141-5B7B-99A072F06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947989"/>
              </p:ext>
            </p:extLst>
          </p:nvPr>
        </p:nvGraphicFramePr>
        <p:xfrm>
          <a:off x="501396" y="1669652"/>
          <a:ext cx="1363980" cy="1828800"/>
        </p:xfrm>
        <a:graphic>
          <a:graphicData uri="http://schemas.openxmlformats.org/drawingml/2006/table">
            <a:tbl>
              <a:tblPr/>
              <a:tblGrid>
                <a:gridCol w="650748">
                  <a:extLst>
                    <a:ext uri="{9D8B030D-6E8A-4147-A177-3AD203B41FA5}">
                      <a16:colId xmlns:a16="http://schemas.microsoft.com/office/drawing/2014/main" val="385877195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1241380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X (m)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 (Kg)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6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2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0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0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41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409843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C9B2DCB2-507C-BCF4-FC89-1F3442A3D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72" y="3465934"/>
            <a:ext cx="5051664" cy="33208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DFE148-F199-BC35-5DD8-B4B7327FE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896" y="3484422"/>
            <a:ext cx="5045709" cy="333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329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FACBE-7516-E64E-FCAC-6C86478A1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8CCD6-38B9-EDB4-6ABB-5D20C4BCE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57"/>
            <a:ext cx="10515600" cy="59499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Correlation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9816A0-4358-B7B0-BE57-BDBB4A7AA6BA}"/>
              </a:ext>
            </a:extLst>
          </p:cNvPr>
          <p:cNvSpPr txBox="1"/>
          <p:nvPr/>
        </p:nvSpPr>
        <p:spPr>
          <a:xfrm>
            <a:off x="228601" y="771525"/>
            <a:ext cx="11622024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we divide Cov(X,Y) by standard deviation (X) and standard deviation (Y), then we get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correlation.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Correlation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measures the strength of linear relationship between 2 variables.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522AE4-3041-9A14-1E7F-CC08B074E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474" y="2549843"/>
            <a:ext cx="2522982" cy="9339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EDCBBB-2C72-D3CF-1978-90CD42526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896" y="2494979"/>
            <a:ext cx="2223055" cy="775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25D241-26E3-210F-77BD-EE454B85F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2518550"/>
            <a:ext cx="2133940" cy="7517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7BC1AE-13EB-7510-E64B-7BC06D735D1E}"/>
              </a:ext>
            </a:extLst>
          </p:cNvPr>
          <p:cNvSpPr txBox="1"/>
          <p:nvPr/>
        </p:nvSpPr>
        <p:spPr>
          <a:xfrm>
            <a:off x="214884" y="4071478"/>
            <a:ext cx="1058418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Side Note: Above is for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sample.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population, n-1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 n 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use correlation over covariance because it's a 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standardized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measure that is 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interpret and compare across different datasets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Dataset1 could be between X in kg and Y in meter, in the Dataset2, X could be in hours and Y in score. We can still compare the datasets </a:t>
            </a:r>
          </a:p>
        </p:txBody>
      </p:sp>
    </p:spTree>
    <p:extLst>
      <p:ext uri="{BB962C8B-B14F-4D97-AF65-F5344CB8AC3E}">
        <p14:creationId xmlns:p14="http://schemas.microsoft.com/office/powerpoint/2010/main" val="921142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838FE-E036-F39F-BACB-F2AD2C41D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D2E02-A9B0-6A61-7584-FF214FD27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57"/>
            <a:ext cx="10515600" cy="59499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Correlation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5F4210-2B9A-8E44-9F0B-747C6F2D4DD5}"/>
              </a:ext>
            </a:extLst>
          </p:cNvPr>
          <p:cNvSpPr txBox="1"/>
          <p:nvPr/>
        </p:nvSpPr>
        <p:spPr>
          <a:xfrm>
            <a:off x="228601" y="771525"/>
            <a:ext cx="11622024" cy="5450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properties of correlation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 unitless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Ranges from -1 to 1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values of X and/or Y are converted to a different scale, the value of r will be unchanged. (Shown in next 2 examples)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922AC-E511-0155-0E35-74E80173E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281" y="1558078"/>
            <a:ext cx="1896623" cy="7021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3B0D02-9AC1-D61E-1311-A3FF31945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2571" y="2919020"/>
            <a:ext cx="4826858" cy="143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527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FE0F2-9DD5-16F3-24B4-1DE1E65EF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0AADA-4D8C-2592-CEC1-1861F22DB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57"/>
            <a:ext cx="10515600" cy="59499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Correlation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69C725-3352-FDA2-51FB-1646B997FA50}"/>
              </a:ext>
            </a:extLst>
          </p:cNvPr>
          <p:cNvSpPr txBox="1"/>
          <p:nvPr/>
        </p:nvSpPr>
        <p:spPr>
          <a:xfrm>
            <a:off x="419101" y="771525"/>
            <a:ext cx="386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Find correlation.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3D1A18-F9E5-2359-3214-687E6E404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839771"/>
              </p:ext>
            </p:extLst>
          </p:nvPr>
        </p:nvGraphicFramePr>
        <p:xfrm>
          <a:off x="419100" y="1541288"/>
          <a:ext cx="1876425" cy="2194560"/>
        </p:xfrm>
        <a:graphic>
          <a:graphicData uri="http://schemas.openxmlformats.org/drawingml/2006/table">
            <a:tbl>
              <a:tblPr/>
              <a:tblGrid>
                <a:gridCol w="933450">
                  <a:extLst>
                    <a:ext uri="{9D8B030D-6E8A-4147-A177-3AD203B41FA5}">
                      <a16:colId xmlns:a16="http://schemas.microsoft.com/office/drawing/2014/main" val="3858771954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1241380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6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2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0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0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41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40984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81279B-E4F2-5A1A-7885-A081B73E9E26}"/>
                  </a:ext>
                </a:extLst>
              </p:cNvPr>
              <p:cNvSpPr txBox="1"/>
              <p:nvPr/>
            </p:nvSpPr>
            <p:spPr>
              <a:xfrm>
                <a:off x="356616" y="4453128"/>
                <a:ext cx="7077456" cy="2056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 already found Cov(X,Y) = 22.5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1.58,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15.8 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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600" b="0" i="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22.5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1.58×15.8</m:t>
                          </m:r>
                        </m:den>
                      </m:f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=0.9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  <a:sym typeface="Wingdings" panose="05000000000000000000" pitchFamily="2" charset="2"/>
                </a:endParaRPr>
              </a:p>
              <a:p>
                <a:endParaRPr lang="en-US" sz="1600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sym typeface="Wingdings" panose="05000000000000000000" pitchFamily="2" charset="2"/>
                </a:endParaRP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81279B-E4F2-5A1A-7885-A081B73E9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6" y="4453128"/>
                <a:ext cx="7077456" cy="2056397"/>
              </a:xfrm>
              <a:prstGeom prst="rect">
                <a:avLst/>
              </a:prstGeom>
              <a:blipFill>
                <a:blip r:embed="rId2"/>
                <a:stretch>
                  <a:fillRect l="-775" t="-1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CB445F11-669F-3873-9558-DC10F473F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183" y="1314797"/>
            <a:ext cx="1981477" cy="7335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B5DDC9-3039-5B98-5711-469F13388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240" y="2796192"/>
            <a:ext cx="5827144" cy="3830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334EE9-CA0F-532A-194A-0FFFC7211F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8294" y="1430131"/>
            <a:ext cx="1889049" cy="6588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CEA052-6130-CE37-52FF-1181D4A782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0670" y="1391023"/>
            <a:ext cx="1981197" cy="69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74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B8D2E-055C-A566-0D9D-C8E1EC784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31118-5970-2B32-E93F-69B07C7DD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57"/>
            <a:ext cx="10515600" cy="59499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Correlation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717654-6159-53A9-D2DE-037874A4546D}"/>
              </a:ext>
            </a:extLst>
          </p:cNvPr>
          <p:cNvSpPr txBox="1"/>
          <p:nvPr/>
        </p:nvSpPr>
        <p:spPr>
          <a:xfrm>
            <a:off x="419100" y="771525"/>
            <a:ext cx="804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Example(Same data as before with Y scaled down by factor of 10): Find correlation.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939F26-273A-8FDE-C95F-2A8631427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026816"/>
              </p:ext>
            </p:extLst>
          </p:nvPr>
        </p:nvGraphicFramePr>
        <p:xfrm>
          <a:off x="300228" y="1367552"/>
          <a:ext cx="1876425" cy="2194560"/>
        </p:xfrm>
        <a:graphic>
          <a:graphicData uri="http://schemas.openxmlformats.org/drawingml/2006/table">
            <a:tbl>
              <a:tblPr/>
              <a:tblGrid>
                <a:gridCol w="933450">
                  <a:extLst>
                    <a:ext uri="{9D8B030D-6E8A-4147-A177-3AD203B41FA5}">
                      <a16:colId xmlns:a16="http://schemas.microsoft.com/office/drawing/2014/main" val="3858771954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1241380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6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2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0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0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41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40984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FF0EEA-7FC1-3D04-5B6F-8D60009D263D}"/>
                  </a:ext>
                </a:extLst>
              </p:cNvPr>
              <p:cNvSpPr txBox="1"/>
              <p:nvPr/>
            </p:nvSpPr>
            <p:spPr>
              <a:xfrm>
                <a:off x="182880" y="4233672"/>
                <a:ext cx="5586312" cy="23641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 already found Cov(X, Y) = 2.25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1.58,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1.58 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1.58×1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58</m:t>
                          </m:r>
                        </m:den>
                      </m:f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=0.9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  <a:sym typeface="Wingdings" panose="05000000000000000000" pitchFamily="2" charset="2"/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  <a:sym typeface="Wingdings" panose="05000000000000000000" pitchFamily="2" charset="2"/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The correlation is same as before.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Correlation is unaffected by scaling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FF0EEA-7FC1-3D04-5B6F-8D60009D2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4233672"/>
                <a:ext cx="5586312" cy="2364173"/>
              </a:xfrm>
              <a:prstGeom prst="rect">
                <a:avLst/>
              </a:prstGeom>
              <a:blipFill>
                <a:blip r:embed="rId2"/>
                <a:stretch>
                  <a:fillRect l="-873" t="-1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528D1C8-4944-1C42-106E-0F8F8E99D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192" y="2721017"/>
            <a:ext cx="6157680" cy="4072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7D3EFE-3214-817E-55B5-7AF779B7D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183" y="1314797"/>
            <a:ext cx="1981477" cy="733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655F55-612E-6DF3-BC9D-CEFFC30149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8294" y="1430131"/>
            <a:ext cx="1889049" cy="6588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937108-FB92-AF37-8072-839F156C72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0670" y="1391023"/>
            <a:ext cx="1981197" cy="69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163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4EBBE-41B5-100E-5C93-A023254B5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AAA56C-EC5B-8DE6-7D1F-02E3829D6295}"/>
              </a:ext>
            </a:extLst>
          </p:cNvPr>
          <p:cNvSpPr txBox="1"/>
          <p:nvPr/>
        </p:nvSpPr>
        <p:spPr>
          <a:xfrm>
            <a:off x="143376" y="680085"/>
            <a:ext cx="12048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let’s plot both these separately. The covariance is different: +22.5   -vs-    +2.25.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correlation is same: 0.9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DDCC5B-B591-D714-2907-3A9F12B1F93B}"/>
              </a:ext>
            </a:extLst>
          </p:cNvPr>
          <p:cNvGraphicFramePr>
            <a:graphicFrameLocks noGrp="1"/>
          </p:cNvGraphicFramePr>
          <p:nvPr/>
        </p:nvGraphicFramePr>
        <p:xfrm>
          <a:off x="8950452" y="1221596"/>
          <a:ext cx="1446276" cy="2011680"/>
        </p:xfrm>
        <a:graphic>
          <a:graphicData uri="http://schemas.openxmlformats.org/drawingml/2006/table">
            <a:tbl>
              <a:tblPr/>
              <a:tblGrid>
                <a:gridCol w="751332">
                  <a:extLst>
                    <a:ext uri="{9D8B030D-6E8A-4147-A177-3AD203B41FA5}">
                      <a16:colId xmlns:a16="http://schemas.microsoft.com/office/drawing/2014/main" val="3858771954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1241380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6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2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0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0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41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40984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2BA0D0C-19EC-D6EE-7C2D-BB2E18510119}"/>
              </a:ext>
            </a:extLst>
          </p:cNvPr>
          <p:cNvGraphicFramePr>
            <a:graphicFrameLocks noGrp="1"/>
          </p:cNvGraphicFramePr>
          <p:nvPr/>
        </p:nvGraphicFramePr>
        <p:xfrm>
          <a:off x="409956" y="1222010"/>
          <a:ext cx="1455420" cy="2011680"/>
        </p:xfrm>
        <a:graphic>
          <a:graphicData uri="http://schemas.openxmlformats.org/drawingml/2006/table">
            <a:tbl>
              <a:tblPr/>
              <a:tblGrid>
                <a:gridCol w="751332">
                  <a:extLst>
                    <a:ext uri="{9D8B030D-6E8A-4147-A177-3AD203B41FA5}">
                      <a16:colId xmlns:a16="http://schemas.microsoft.com/office/drawing/2014/main" val="3858771954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1241380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6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2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0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0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41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409843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598DBA30-667B-6116-B4C2-192D37C6C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76" y="3549893"/>
            <a:ext cx="4922019" cy="32355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55BDAD-FC72-70FE-58C2-607FDC280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172" y="3539086"/>
            <a:ext cx="4843652" cy="320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688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94660-6D9E-3BB5-52C4-0CB772425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F2B0B3-E883-C533-4BC0-8A28990411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596061"/>
              </p:ext>
            </p:extLst>
          </p:nvPr>
        </p:nvGraphicFramePr>
        <p:xfrm>
          <a:off x="5327905" y="1420820"/>
          <a:ext cx="1117092" cy="2011680"/>
        </p:xfrm>
        <a:graphic>
          <a:graphicData uri="http://schemas.openxmlformats.org/drawingml/2006/table">
            <a:tbl>
              <a:tblPr/>
              <a:tblGrid>
                <a:gridCol w="559308">
                  <a:extLst>
                    <a:ext uri="{9D8B030D-6E8A-4147-A177-3AD203B41FA5}">
                      <a16:colId xmlns:a16="http://schemas.microsoft.com/office/drawing/2014/main" val="3858771954"/>
                    </a:ext>
                  </a:extLst>
                </a:gridCol>
                <a:gridCol w="557784">
                  <a:extLst>
                    <a:ext uri="{9D8B030D-6E8A-4147-A177-3AD203B41FA5}">
                      <a16:colId xmlns:a16="http://schemas.microsoft.com/office/drawing/2014/main" val="1241380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6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2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0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0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41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40984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8C5D01D-6153-9FD5-FEDF-A9DC1489AF2B}"/>
              </a:ext>
            </a:extLst>
          </p:cNvPr>
          <p:cNvSpPr txBox="1"/>
          <p:nvPr/>
        </p:nvSpPr>
        <p:spPr>
          <a:xfrm>
            <a:off x="419101" y="442341"/>
            <a:ext cx="10934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Which of the following has strong linear relationship between X and Y ? How would you measure it?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Ans: Find correlation and that would tell you how strong the linear relation is between the 2 variables.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Correlation is maximum for figure with  r = +1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C43886-BE47-AE86-C956-50744E794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680838"/>
              </p:ext>
            </p:extLst>
          </p:nvPr>
        </p:nvGraphicFramePr>
        <p:xfrm>
          <a:off x="1394460" y="1405781"/>
          <a:ext cx="1117092" cy="2011680"/>
        </p:xfrm>
        <a:graphic>
          <a:graphicData uri="http://schemas.openxmlformats.org/drawingml/2006/table">
            <a:tbl>
              <a:tblPr/>
              <a:tblGrid>
                <a:gridCol w="559308">
                  <a:extLst>
                    <a:ext uri="{9D8B030D-6E8A-4147-A177-3AD203B41FA5}">
                      <a16:colId xmlns:a16="http://schemas.microsoft.com/office/drawing/2014/main" val="3858771954"/>
                    </a:ext>
                  </a:extLst>
                </a:gridCol>
                <a:gridCol w="557784">
                  <a:extLst>
                    <a:ext uri="{9D8B030D-6E8A-4147-A177-3AD203B41FA5}">
                      <a16:colId xmlns:a16="http://schemas.microsoft.com/office/drawing/2014/main" val="1241380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6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2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0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0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41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409843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B77F28FE-FA93-912D-50D9-2D4E82995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073" y="3982078"/>
            <a:ext cx="3590948" cy="2693211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3497AE2-FF78-975C-C1C5-B1BE0F2D2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45460"/>
              </p:ext>
            </p:extLst>
          </p:nvPr>
        </p:nvGraphicFramePr>
        <p:xfrm>
          <a:off x="9477153" y="1420820"/>
          <a:ext cx="1117092" cy="2011680"/>
        </p:xfrm>
        <a:graphic>
          <a:graphicData uri="http://schemas.openxmlformats.org/drawingml/2006/table">
            <a:tbl>
              <a:tblPr/>
              <a:tblGrid>
                <a:gridCol w="559308">
                  <a:extLst>
                    <a:ext uri="{9D8B030D-6E8A-4147-A177-3AD203B41FA5}">
                      <a16:colId xmlns:a16="http://schemas.microsoft.com/office/drawing/2014/main" val="3858771954"/>
                    </a:ext>
                  </a:extLst>
                </a:gridCol>
                <a:gridCol w="557784">
                  <a:extLst>
                    <a:ext uri="{9D8B030D-6E8A-4147-A177-3AD203B41FA5}">
                      <a16:colId xmlns:a16="http://schemas.microsoft.com/office/drawing/2014/main" val="1241380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6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2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0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0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41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409843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E6727F15-8004-6DF2-3ECF-A5CB73ECE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832" y="4071727"/>
            <a:ext cx="3542336" cy="261799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176DF28-1E27-C07C-5B80-D649D4DC5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70" y="3667948"/>
            <a:ext cx="3971833" cy="300734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78D2316-9A9B-0A94-DD80-6F52C6DA04B3}"/>
              </a:ext>
            </a:extLst>
          </p:cNvPr>
          <p:cNvSpPr txBox="1"/>
          <p:nvPr/>
        </p:nvSpPr>
        <p:spPr>
          <a:xfrm>
            <a:off x="6602876" y="3380912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 = + 0.85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BC1FA7-C680-70EF-41DE-026BF3E51AEB}"/>
              </a:ext>
            </a:extLst>
          </p:cNvPr>
          <p:cNvSpPr txBox="1"/>
          <p:nvPr/>
        </p:nvSpPr>
        <p:spPr>
          <a:xfrm>
            <a:off x="2859024" y="3435096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 = + 0.65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BFCCB8-B86D-95CD-D3DC-AE03FDBB5108}"/>
              </a:ext>
            </a:extLst>
          </p:cNvPr>
          <p:cNvSpPr txBox="1"/>
          <p:nvPr/>
        </p:nvSpPr>
        <p:spPr>
          <a:xfrm>
            <a:off x="10582727" y="3440059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 = + 1</a:t>
            </a:r>
          </a:p>
        </p:txBody>
      </p:sp>
    </p:spTree>
    <p:extLst>
      <p:ext uri="{BB962C8B-B14F-4D97-AF65-F5344CB8AC3E}">
        <p14:creationId xmlns:p14="http://schemas.microsoft.com/office/powerpoint/2010/main" val="924432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29742-381A-D821-7440-E8D7C4D83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CBC441A-5095-77FA-71B5-1AE5A3E5BBCA}"/>
              </a:ext>
            </a:extLst>
          </p:cNvPr>
          <p:cNvSpPr txBox="1"/>
          <p:nvPr/>
        </p:nvSpPr>
        <p:spPr>
          <a:xfrm>
            <a:off x="419101" y="771525"/>
            <a:ext cx="6192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X and Y have a strong negative correlation.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AD3F93-0DDA-F210-D122-B4F8851B1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795" y="2651760"/>
            <a:ext cx="5466875" cy="404228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A82AA0-D47A-049B-CECE-5A095420E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828864"/>
              </p:ext>
            </p:extLst>
          </p:nvPr>
        </p:nvGraphicFramePr>
        <p:xfrm>
          <a:off x="836676" y="1195469"/>
          <a:ext cx="1117092" cy="2011680"/>
        </p:xfrm>
        <a:graphic>
          <a:graphicData uri="http://schemas.openxmlformats.org/drawingml/2006/table">
            <a:tbl>
              <a:tblPr/>
              <a:tblGrid>
                <a:gridCol w="559308">
                  <a:extLst>
                    <a:ext uri="{9D8B030D-6E8A-4147-A177-3AD203B41FA5}">
                      <a16:colId xmlns:a16="http://schemas.microsoft.com/office/drawing/2014/main" val="3858771954"/>
                    </a:ext>
                  </a:extLst>
                </a:gridCol>
                <a:gridCol w="557784">
                  <a:extLst>
                    <a:ext uri="{9D8B030D-6E8A-4147-A177-3AD203B41FA5}">
                      <a16:colId xmlns:a16="http://schemas.microsoft.com/office/drawing/2014/main" val="1241380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6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2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0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0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41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4098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E44CA4B-AEA0-B17A-120E-4368E98CBDBE}"/>
              </a:ext>
            </a:extLst>
          </p:cNvPr>
          <p:cNvSpPr txBox="1"/>
          <p:nvPr/>
        </p:nvSpPr>
        <p:spPr>
          <a:xfrm>
            <a:off x="966216" y="4488235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 = - 0.9 </a:t>
            </a:r>
          </a:p>
        </p:txBody>
      </p:sp>
    </p:spTree>
    <p:extLst>
      <p:ext uri="{BB962C8B-B14F-4D97-AF65-F5344CB8AC3E}">
        <p14:creationId xmlns:p14="http://schemas.microsoft.com/office/powerpoint/2010/main" val="1021870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4FCCC-740E-F05C-60F6-8DD5CA0FD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63A05-64B8-8289-491F-AEE094013774}"/>
              </a:ext>
            </a:extLst>
          </p:cNvPr>
          <p:cNvSpPr txBox="1"/>
          <p:nvPr/>
        </p:nvSpPr>
        <p:spPr>
          <a:xfrm>
            <a:off x="419101" y="771525"/>
            <a:ext cx="1093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X and Y have almost 0 correlation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31B80B-1597-D51E-CB3D-0D71A170E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027050"/>
              </p:ext>
            </p:extLst>
          </p:nvPr>
        </p:nvGraphicFramePr>
        <p:xfrm>
          <a:off x="836676" y="1195469"/>
          <a:ext cx="1117092" cy="2011680"/>
        </p:xfrm>
        <a:graphic>
          <a:graphicData uri="http://schemas.openxmlformats.org/drawingml/2006/table">
            <a:tbl>
              <a:tblPr/>
              <a:tblGrid>
                <a:gridCol w="559308">
                  <a:extLst>
                    <a:ext uri="{9D8B030D-6E8A-4147-A177-3AD203B41FA5}">
                      <a16:colId xmlns:a16="http://schemas.microsoft.com/office/drawing/2014/main" val="3858771954"/>
                    </a:ext>
                  </a:extLst>
                </a:gridCol>
                <a:gridCol w="557784">
                  <a:extLst>
                    <a:ext uri="{9D8B030D-6E8A-4147-A177-3AD203B41FA5}">
                      <a16:colId xmlns:a16="http://schemas.microsoft.com/office/drawing/2014/main" val="1241380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6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2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0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0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41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4098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104E161-895A-C4DF-0A52-E55A82020265}"/>
              </a:ext>
            </a:extLst>
          </p:cNvPr>
          <p:cNvSpPr txBox="1"/>
          <p:nvPr/>
        </p:nvSpPr>
        <p:spPr>
          <a:xfrm>
            <a:off x="2968752" y="1873051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 = - 0.07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1313D7-912A-5ED3-92C9-35AE1F54E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439099"/>
            <a:ext cx="4347264" cy="31022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21FFD0-148B-3A33-F406-526D08637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08" y="4541340"/>
            <a:ext cx="2520643" cy="204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572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3B8D6-F822-AD1F-51B6-071C00F28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E0CFF-0DC6-2147-3066-76DD2E1B9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57"/>
            <a:ext cx="10515600" cy="59499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Recap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A83DE1-6B3D-ACA4-A3CC-0CB975499836}"/>
              </a:ext>
            </a:extLst>
          </p:cNvPr>
          <p:cNvSpPr txBox="1"/>
          <p:nvPr/>
        </p:nvSpPr>
        <p:spPr>
          <a:xfrm>
            <a:off x="419101" y="771525"/>
            <a:ext cx="109347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Cov (X,Y) &gt; 0: X and Y move in same direction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Cov (X,Y) &lt; 0: X and Y move in opposite direction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Cov (X,Y) = 0: X and Y are independent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Major flaw of covariance: 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does not tell you the strength of linear relationship between X and Y. 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we need correlation.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Correlation ranges from -1 to 1: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49CBEC-AA11-A40B-16EE-AC517B2FB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108" y="4833283"/>
            <a:ext cx="5522272" cy="163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066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D05DD-EC31-4F5D-462E-7EA065EB0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F9732-9F5A-B7CF-D803-ABA22920D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57"/>
            <a:ext cx="10515600" cy="59499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Outliers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AA8CB6-5AB6-90A2-86B1-7E9325B77E5C}"/>
              </a:ext>
            </a:extLst>
          </p:cNvPr>
          <p:cNvSpPr txBox="1"/>
          <p:nvPr/>
        </p:nvSpPr>
        <p:spPr>
          <a:xfrm>
            <a:off x="419101" y="771525"/>
            <a:ext cx="1093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value of r is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sensitive to outliers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can change dramatically if they are present in the data.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605E69-C2DF-9904-494E-F479F80AD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6" y="3712464"/>
            <a:ext cx="4049754" cy="3037316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EEADE62-8763-C9E2-9B46-09D1FFFAE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117237"/>
              </p:ext>
            </p:extLst>
          </p:nvPr>
        </p:nvGraphicFramePr>
        <p:xfrm>
          <a:off x="589185" y="1164788"/>
          <a:ext cx="1117092" cy="2011680"/>
        </p:xfrm>
        <a:graphic>
          <a:graphicData uri="http://schemas.openxmlformats.org/drawingml/2006/table">
            <a:tbl>
              <a:tblPr/>
              <a:tblGrid>
                <a:gridCol w="559308">
                  <a:extLst>
                    <a:ext uri="{9D8B030D-6E8A-4147-A177-3AD203B41FA5}">
                      <a16:colId xmlns:a16="http://schemas.microsoft.com/office/drawing/2014/main" val="3858771954"/>
                    </a:ext>
                  </a:extLst>
                </a:gridCol>
                <a:gridCol w="557784">
                  <a:extLst>
                    <a:ext uri="{9D8B030D-6E8A-4147-A177-3AD203B41FA5}">
                      <a16:colId xmlns:a16="http://schemas.microsoft.com/office/drawing/2014/main" val="1241380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6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2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0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0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41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4098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EE15099-F61C-E3E0-FD59-52A362EC467A}"/>
              </a:ext>
            </a:extLst>
          </p:cNvPr>
          <p:cNvSpPr txBox="1"/>
          <p:nvPr/>
        </p:nvSpPr>
        <p:spPr>
          <a:xfrm>
            <a:off x="2188535" y="2982859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 = + 1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F025A40-5C03-86CB-C797-7C7370E16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723163"/>
              </p:ext>
            </p:extLst>
          </p:nvPr>
        </p:nvGraphicFramePr>
        <p:xfrm>
          <a:off x="7928769" y="1225748"/>
          <a:ext cx="1117092" cy="2346960"/>
        </p:xfrm>
        <a:graphic>
          <a:graphicData uri="http://schemas.openxmlformats.org/drawingml/2006/table">
            <a:tbl>
              <a:tblPr/>
              <a:tblGrid>
                <a:gridCol w="559308">
                  <a:extLst>
                    <a:ext uri="{9D8B030D-6E8A-4147-A177-3AD203B41FA5}">
                      <a16:colId xmlns:a16="http://schemas.microsoft.com/office/drawing/2014/main" val="3858771954"/>
                    </a:ext>
                  </a:extLst>
                </a:gridCol>
                <a:gridCol w="557784">
                  <a:extLst>
                    <a:ext uri="{9D8B030D-6E8A-4147-A177-3AD203B41FA5}">
                      <a16:colId xmlns:a16="http://schemas.microsoft.com/office/drawing/2014/main" val="1241380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6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2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0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2.5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944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0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41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40984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7CBED4F-DD0A-3C91-A08C-365BE341C59C}"/>
              </a:ext>
            </a:extLst>
          </p:cNvPr>
          <p:cNvSpPr txBox="1"/>
          <p:nvPr/>
        </p:nvSpPr>
        <p:spPr>
          <a:xfrm>
            <a:off x="9381815" y="3089539"/>
            <a:ext cx="1067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 = + 0.53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BAE3A7-D667-979D-8DA7-8131A63C5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921" y="3712464"/>
            <a:ext cx="4103556" cy="303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23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2E003-F71A-200F-562B-F5CEEF045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68AB-5E66-EB0A-19E7-24C907B2C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57"/>
            <a:ext cx="9019032" cy="59499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Covariance and Correlation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46DECA-9B83-9BE0-0ABF-8B32653C2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744" y="1445333"/>
            <a:ext cx="6095531" cy="15679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FA8E79-21A4-E0DD-D4FA-171F42B4E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744" y="4155641"/>
            <a:ext cx="3520440" cy="14946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6B9DFD-1F00-E693-3537-8514BB466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8674" y="4410499"/>
            <a:ext cx="2279112" cy="78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185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F54B9-C36F-F30C-011C-AD5721827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6859F40-B659-7113-4ED6-FA1F1A9DC710}"/>
              </a:ext>
            </a:extLst>
          </p:cNvPr>
          <p:cNvSpPr txBox="1"/>
          <p:nvPr/>
        </p:nvSpPr>
        <p:spPr>
          <a:xfrm>
            <a:off x="419101" y="771525"/>
            <a:ext cx="1000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Printing covariance and correlation between columns x1, x2, x3 and x4 using pandas.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DB7C22-7C9C-AF8F-A65B-D2258C95D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33" y="1302413"/>
            <a:ext cx="5172797" cy="49822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2FB6B2-3B48-9679-7653-63F5CF687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130" y="2436046"/>
            <a:ext cx="3315163" cy="384863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287EF31-C70E-AEEA-DDC9-24A8735BB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57"/>
            <a:ext cx="9019032" cy="59499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Covariance and Correlation Matrix</a:t>
            </a:r>
          </a:p>
        </p:txBody>
      </p:sp>
    </p:spTree>
    <p:extLst>
      <p:ext uri="{BB962C8B-B14F-4D97-AF65-F5344CB8AC3E}">
        <p14:creationId xmlns:p14="http://schemas.microsoft.com/office/powerpoint/2010/main" val="1450346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4FF36-380C-C6D6-FC31-083DFE660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B3159AB-7A74-D174-486A-D43483892EF6}"/>
              </a:ext>
            </a:extLst>
          </p:cNvPr>
          <p:cNvSpPr txBox="1"/>
          <p:nvPr/>
        </p:nvSpPr>
        <p:spPr>
          <a:xfrm>
            <a:off x="254509" y="771525"/>
            <a:ext cx="8103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Printing covariance and correlation between columns x1, x2, x3 and x4 using pandas.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6CAAB5-8A4E-52E5-3E2C-C2A93A65E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89" y="1247024"/>
            <a:ext cx="5868219" cy="52966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1A57CF-9114-B134-8D50-1E09615E9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023" y="1837945"/>
            <a:ext cx="5702777" cy="490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82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62733-33B7-4ECB-25A8-34F335DEC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E2B71-66BE-6560-A1D3-F2DB54893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3072" y="163957"/>
            <a:ext cx="5059680" cy="59499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EXTRA</a:t>
            </a:r>
          </a:p>
        </p:txBody>
      </p:sp>
    </p:spTree>
    <p:extLst>
      <p:ext uri="{BB962C8B-B14F-4D97-AF65-F5344CB8AC3E}">
        <p14:creationId xmlns:p14="http://schemas.microsoft.com/office/powerpoint/2010/main" val="570115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7051-67F5-C2A6-490D-03FD4380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57"/>
            <a:ext cx="10515600" cy="59499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Covariance-correlation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1DA298-19C7-1A30-2C3A-97E5F6326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523" y="1648517"/>
            <a:ext cx="4877481" cy="9621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AE61864-6539-0A80-37D9-990664AF8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780" y="5416035"/>
            <a:ext cx="4972744" cy="10002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40AA2F-F3AA-DF09-5F51-E09645C24390}"/>
              </a:ext>
            </a:extLst>
          </p:cNvPr>
          <p:cNvSpPr txBox="1"/>
          <p:nvPr/>
        </p:nvSpPr>
        <p:spPr>
          <a:xfrm>
            <a:off x="419100" y="999363"/>
            <a:ext cx="9259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that you have samples of 2 data: X and Y. Then formula for Covariance and correlation 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49C6C5-DF75-A54D-FA38-41E6B808F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6410" y="2695473"/>
            <a:ext cx="1981477" cy="7335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C12D96-015A-4F98-D933-14C4861AFC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951" y="3683948"/>
            <a:ext cx="1889049" cy="6588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D8A9B0-D279-F687-8C08-B3669B449F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9327" y="3644840"/>
            <a:ext cx="1981197" cy="69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DC02A-03A1-F62C-8F41-8A2C89A1F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76" y="246253"/>
            <a:ext cx="10515600" cy="530987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Practice: Following is sample taken from a population. What is correlation coefficient between </a:t>
            </a:r>
            <a:r>
              <a:rPr lang="en-US" sz="2400" dirty="0" err="1"/>
              <a:t>gamehours</a:t>
            </a:r>
            <a:r>
              <a:rPr lang="en-US" sz="2400" dirty="0"/>
              <a:t> and </a:t>
            </a:r>
            <a:r>
              <a:rPr lang="en-US" sz="2400" dirty="0" err="1"/>
              <a:t>ExamScore</a:t>
            </a:r>
            <a:r>
              <a:rPr lang="en-US" sz="2400" dirty="0"/>
              <a:t> ?</a:t>
            </a:r>
            <a:endParaRPr lang="en-IN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4C529D-E61E-1975-C13B-D24634E775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793394"/>
              </p:ext>
            </p:extLst>
          </p:nvPr>
        </p:nvGraphicFramePr>
        <p:xfrm>
          <a:off x="420951" y="955488"/>
          <a:ext cx="4550544" cy="1828800"/>
        </p:xfrm>
        <a:graphic>
          <a:graphicData uri="http://schemas.openxmlformats.org/drawingml/2006/table">
            <a:tbl>
              <a:tblPr/>
              <a:tblGrid>
                <a:gridCol w="1516848">
                  <a:extLst>
                    <a:ext uri="{9D8B030D-6E8A-4147-A177-3AD203B41FA5}">
                      <a16:colId xmlns:a16="http://schemas.microsoft.com/office/drawing/2014/main" val="2136530145"/>
                    </a:ext>
                  </a:extLst>
                </a:gridCol>
                <a:gridCol w="1516848">
                  <a:extLst>
                    <a:ext uri="{9D8B030D-6E8A-4147-A177-3AD203B41FA5}">
                      <a16:colId xmlns:a16="http://schemas.microsoft.com/office/drawing/2014/main" val="898371195"/>
                    </a:ext>
                  </a:extLst>
                </a:gridCol>
                <a:gridCol w="1516848">
                  <a:extLst>
                    <a:ext uri="{9D8B030D-6E8A-4147-A177-3AD203B41FA5}">
                      <a16:colId xmlns:a16="http://schemas.microsoft.com/office/drawing/2014/main" val="8102427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sng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GameHrs</a:t>
                      </a:r>
                      <a:r>
                        <a:rPr lang="en-US" sz="1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(X)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sng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ExamScore</a:t>
                      </a:r>
                      <a:r>
                        <a:rPr lang="en-US" sz="1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546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204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3160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724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881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77025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05DC145-B373-3CB7-DF1A-944D48322DA4}"/>
              </a:ext>
            </a:extLst>
          </p:cNvPr>
          <p:cNvSpPr txBox="1"/>
          <p:nvPr/>
        </p:nvSpPr>
        <p:spPr>
          <a:xfrm>
            <a:off x="5358384" y="1582566"/>
            <a:ext cx="66659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Performing the same calculation as above, we that the mean of each is 3 and 58.8,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Cov (X,Y) = -24.4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Correlation coefficient = -0.868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17054A-F9AD-1390-B66A-DA58E665C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56" y="3429000"/>
            <a:ext cx="4774231" cy="300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8196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8181685-A348-BC84-3928-6458EB2DA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504" y="2340239"/>
            <a:ext cx="6775704" cy="42251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0FD439-BB6D-FD4F-A496-AD26AB810CB0}"/>
              </a:ext>
            </a:extLst>
          </p:cNvPr>
          <p:cNvSpPr txBox="1"/>
          <p:nvPr/>
        </p:nvSpPr>
        <p:spPr>
          <a:xfrm>
            <a:off x="502921" y="1143000"/>
            <a:ext cx="11356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we plot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Gamehours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versus Scores, we see following perfect linear plot. This is typical of features that have correlation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coeff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13124447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6450"/>
            <a:ext cx="4461769" cy="531520"/>
          </a:xfrm>
        </p:spPr>
        <p:txBody>
          <a:bodyPr>
            <a:noAutofit/>
          </a:bodyPr>
          <a:lstStyle/>
          <a:p>
            <a:r>
              <a:rPr lang="en-US" sz="2800" dirty="0"/>
              <a:t>Covariance + correlation (p1)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5324" y="727970"/>
            <a:ext cx="5479615" cy="185122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67528" y="3240099"/>
            <a:ext cx="672084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does this matrix represent?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diagonal elements = variances of individual features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how much that feature spreads out.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off-diagonal elements = </a:t>
            </a:r>
            <a:r>
              <a:rPr lang="en-US" sz="1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covariances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how two features change together: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Negative covariance: when one increases, the other decreases….X1 = age and X2 = number of pushups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Zero covariance: no linear relationship…..X1 = your age and X2 = neighbors income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Positive covariance: they increase together…. X1 = your age, X2 = income</a:t>
            </a:r>
          </a:p>
          <a:p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 X1 could be age, X2 could income and we may see that 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Cov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(X1,X2) be +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as age goes up, income goes up to.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0E6BB1-F4E1-97A6-E362-AEB8912F77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61" y="1849763"/>
            <a:ext cx="4379976" cy="37858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D87D11-AA51-3BF7-0E7B-FEBC1BAECECE}"/>
              </a:ext>
            </a:extLst>
          </p:cNvPr>
          <p:cNvSpPr txBox="1"/>
          <p:nvPr/>
        </p:nvSpPr>
        <p:spPr>
          <a:xfrm>
            <a:off x="237744" y="6254496"/>
            <a:ext cx="4119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will also see following formula in literature: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FA30E4-23D6-0D6C-4DA0-77AF66E33FF6}"/>
              </a:ext>
            </a:extLst>
          </p:cNvPr>
          <p:cNvSpPr txBox="1"/>
          <p:nvPr/>
        </p:nvSpPr>
        <p:spPr>
          <a:xfrm>
            <a:off x="157734" y="865555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Covariance measures how two variables change together—whether they increase or decrease in tandem</a:t>
            </a:r>
          </a:p>
        </p:txBody>
      </p:sp>
    </p:spTree>
    <p:extLst>
      <p:ext uri="{BB962C8B-B14F-4D97-AF65-F5344CB8AC3E}">
        <p14:creationId xmlns:p14="http://schemas.microsoft.com/office/powerpoint/2010/main" val="23663116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826" y="33986"/>
            <a:ext cx="5189739" cy="362845"/>
          </a:xfrm>
        </p:spPr>
        <p:txBody>
          <a:bodyPr>
            <a:noAutofit/>
          </a:bodyPr>
          <a:lstStyle/>
          <a:p>
            <a:r>
              <a:rPr lang="en-US" sz="1800" b="1" dirty="0"/>
              <a:t>Covariance + correlation EXAMPLE (</a:t>
            </a:r>
            <a:r>
              <a:rPr lang="en-US" sz="1800" b="1" dirty="0" err="1"/>
              <a:t>jupyter</a:t>
            </a:r>
            <a:r>
              <a:rPr lang="en-US" sz="1800" b="1" dirty="0"/>
              <a:t> n/b)</a:t>
            </a:r>
          </a:p>
        </p:txBody>
      </p:sp>
      <p:sp>
        <p:nvSpPr>
          <p:cNvPr id="3" name="Rectangle 2"/>
          <p:cNvSpPr/>
          <p:nvPr/>
        </p:nvSpPr>
        <p:spPr>
          <a:xfrm>
            <a:off x="155537" y="724892"/>
            <a:ext cx="611724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Suppose we’re looking at:</a:t>
            </a:r>
          </a:p>
          <a:p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GameHrs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The number of hours a student plays video games per day</a:t>
            </a:r>
          </a:p>
          <a:p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ExamScore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The student’s exam score out of 100. 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Below is a </a:t>
            </a: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taken from a population. Find covariance and correlation 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coeff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between the 2 features.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242503"/>
              </p:ext>
            </p:extLst>
          </p:nvPr>
        </p:nvGraphicFramePr>
        <p:xfrm>
          <a:off x="795855" y="2340864"/>
          <a:ext cx="3712404" cy="1581510"/>
        </p:xfrm>
        <a:graphic>
          <a:graphicData uri="http://schemas.openxmlformats.org/drawingml/2006/table">
            <a:tbl>
              <a:tblPr/>
              <a:tblGrid>
                <a:gridCol w="1237468">
                  <a:extLst>
                    <a:ext uri="{9D8B030D-6E8A-4147-A177-3AD203B41FA5}">
                      <a16:colId xmlns:a16="http://schemas.microsoft.com/office/drawing/2014/main" val="2136530145"/>
                    </a:ext>
                  </a:extLst>
                </a:gridCol>
                <a:gridCol w="1237468">
                  <a:extLst>
                    <a:ext uri="{9D8B030D-6E8A-4147-A177-3AD203B41FA5}">
                      <a16:colId xmlns:a16="http://schemas.microsoft.com/office/drawing/2014/main" val="898371195"/>
                    </a:ext>
                  </a:extLst>
                </a:gridCol>
                <a:gridCol w="1237468">
                  <a:extLst>
                    <a:ext uri="{9D8B030D-6E8A-4147-A177-3AD203B41FA5}">
                      <a16:colId xmlns:a16="http://schemas.microsoft.com/office/drawing/2014/main" val="810242727"/>
                    </a:ext>
                  </a:extLst>
                </a:gridCol>
              </a:tblGrid>
              <a:tr h="263585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GameHrs</a:t>
                      </a:r>
                      <a:r>
                        <a:rPr lang="en-US" sz="105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(X)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ExamScore</a:t>
                      </a:r>
                      <a:r>
                        <a:rPr lang="en-US" sz="105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546701"/>
                  </a:ext>
                </a:extLst>
              </a:tr>
              <a:tr h="263585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204246"/>
                  </a:ext>
                </a:extLst>
              </a:tr>
              <a:tr h="263585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3160190"/>
                  </a:ext>
                </a:extLst>
              </a:tr>
              <a:tr h="263585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724406"/>
                  </a:ext>
                </a:extLst>
              </a:tr>
              <a:tr h="263585"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881047"/>
                  </a:ext>
                </a:extLst>
              </a:tr>
              <a:tr h="263585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770253"/>
                  </a:ext>
                </a:extLst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475" y="107100"/>
            <a:ext cx="4507280" cy="90771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689" y="1181025"/>
            <a:ext cx="4507281" cy="3094551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 flipH="1">
            <a:off x="6031755" y="125426"/>
            <a:ext cx="8878" cy="6257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131536"/>
              </p:ext>
            </p:extLst>
          </p:nvPr>
        </p:nvGraphicFramePr>
        <p:xfrm>
          <a:off x="6360132" y="4413223"/>
          <a:ext cx="5163085" cy="1645920"/>
        </p:xfrm>
        <a:graphic>
          <a:graphicData uri="http://schemas.openxmlformats.org/drawingml/2006/table">
            <a:tbl>
              <a:tblPr/>
              <a:tblGrid>
                <a:gridCol w="1032617">
                  <a:extLst>
                    <a:ext uri="{9D8B030D-6E8A-4147-A177-3AD203B41FA5}">
                      <a16:colId xmlns:a16="http://schemas.microsoft.com/office/drawing/2014/main" val="1806990762"/>
                    </a:ext>
                  </a:extLst>
                </a:gridCol>
                <a:gridCol w="1032617">
                  <a:extLst>
                    <a:ext uri="{9D8B030D-6E8A-4147-A177-3AD203B41FA5}">
                      <a16:colId xmlns:a16="http://schemas.microsoft.com/office/drawing/2014/main" val="398378936"/>
                    </a:ext>
                  </a:extLst>
                </a:gridCol>
                <a:gridCol w="1032617">
                  <a:extLst>
                    <a:ext uri="{9D8B030D-6E8A-4147-A177-3AD203B41FA5}">
                      <a16:colId xmlns:a16="http://schemas.microsoft.com/office/drawing/2014/main" val="3364401857"/>
                    </a:ext>
                  </a:extLst>
                </a:gridCol>
                <a:gridCol w="1032617">
                  <a:extLst>
                    <a:ext uri="{9D8B030D-6E8A-4147-A177-3AD203B41FA5}">
                      <a16:colId xmlns:a16="http://schemas.microsoft.com/office/drawing/2014/main" val="2057675899"/>
                    </a:ext>
                  </a:extLst>
                </a:gridCol>
                <a:gridCol w="1032617">
                  <a:extLst>
                    <a:ext uri="{9D8B030D-6E8A-4147-A177-3AD203B41FA5}">
                      <a16:colId xmlns:a16="http://schemas.microsoft.com/office/drawing/2014/main" val="1299999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GameHrs</a:t>
                      </a:r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(X)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ExamScore</a:t>
                      </a:r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(X - 3)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(Y - 85)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558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6809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4956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302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6846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0017098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flipH="1">
            <a:off x="10555550" y="4132684"/>
            <a:ext cx="337351" cy="785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52491" y="6383045"/>
            <a:ext cx="5252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 the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cova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is -12.5 hours - score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52700" y="6542841"/>
            <a:ext cx="842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02A0D7-9970-6ABC-817F-FE5E2FCD3322}"/>
              </a:ext>
            </a:extLst>
          </p:cNvPr>
          <p:cNvSpPr txBox="1"/>
          <p:nvPr/>
        </p:nvSpPr>
        <p:spPr>
          <a:xfrm>
            <a:off x="130302" y="4472863"/>
            <a:ext cx="56693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expect that as </a:t>
            </a:r>
            <a:r>
              <a:rPr 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GameHours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(video games) increase, </a:t>
            </a:r>
            <a:r>
              <a:rPr 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ExamScore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decreases → negative covariance. Let’s see if can deduce this mathematically.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we would use sample covariance formula.</a:t>
            </a:r>
          </a:p>
        </p:txBody>
      </p:sp>
    </p:spTree>
    <p:extLst>
      <p:ext uri="{BB962C8B-B14F-4D97-AF65-F5344CB8AC3E}">
        <p14:creationId xmlns:p14="http://schemas.microsoft.com/office/powerpoint/2010/main" val="2774032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9927" y="60178"/>
            <a:ext cx="6275775" cy="380113"/>
          </a:xfrm>
        </p:spPr>
        <p:txBody>
          <a:bodyPr>
            <a:noAutofit/>
          </a:bodyPr>
          <a:lstStyle/>
          <a:p>
            <a:r>
              <a:rPr lang="en-US" sz="1800" dirty="0"/>
              <a:t>Covariance + correlation EXAMPLE (</a:t>
            </a:r>
            <a:r>
              <a:rPr lang="en-US" sz="1800" dirty="0" err="1"/>
              <a:t>jupyter</a:t>
            </a:r>
            <a:r>
              <a:rPr lang="en-US" sz="1800" dirty="0"/>
              <a:t> n/b)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66" y="712975"/>
            <a:ext cx="5321358" cy="19325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 dirty="0"/>
              <a:t>Why do we need correlation coefficient (r) </a:t>
            </a:r>
            <a:r>
              <a:rPr lang="el-G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sz="1200" b="1" dirty="0"/>
              <a:t>? </a:t>
            </a:r>
          </a:p>
          <a:p>
            <a:pPr marL="0" indent="0">
              <a:buNone/>
            </a:pPr>
            <a:r>
              <a:rPr lang="en-US" sz="1200" dirty="0"/>
              <a:t>Covariance has units:</a:t>
            </a:r>
          </a:p>
          <a:p>
            <a:r>
              <a:rPr lang="en-US" sz="1200" dirty="0"/>
              <a:t>Example: if X = meters, Y = seconds → </a:t>
            </a:r>
            <a:r>
              <a:rPr lang="en-US" sz="1200" dirty="0" err="1"/>
              <a:t>cov</a:t>
            </a:r>
            <a:r>
              <a:rPr lang="en-US" sz="1200" dirty="0"/>
              <a:t>(X,Y) is in </a:t>
            </a:r>
            <a:r>
              <a:rPr lang="en-US" sz="1200" dirty="0" err="1"/>
              <a:t>meter·second</a:t>
            </a:r>
            <a:endParaRPr lang="en-US" sz="1200" dirty="0"/>
          </a:p>
          <a:p>
            <a:r>
              <a:rPr lang="en-US" sz="1200" dirty="0"/>
              <a:t>This makes it hard to compare across different datasets that may have different units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The formula for correlation coefficient is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34" y="2900025"/>
            <a:ext cx="3264872" cy="178858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430" y="4995375"/>
            <a:ext cx="511735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point on 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dimensionless ( no units ) and ∈ [ -1, 1 ]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+1 → perfect positive linear relationship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 → no linear relationship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-1 → perfect negative linear relationship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323" y="1779158"/>
            <a:ext cx="4526421" cy="121787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323" y="3258411"/>
            <a:ext cx="4673507" cy="117000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323" y="4689795"/>
            <a:ext cx="4172124" cy="66627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323" y="5751199"/>
            <a:ext cx="4306539" cy="6803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5278" y="133146"/>
            <a:ext cx="757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47029" y="875713"/>
            <a:ext cx="3436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Continuing with previous example,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5734975" y="221942"/>
            <a:ext cx="8877" cy="6374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51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2086</TotalTime>
  <Words>1645</Words>
  <Application>Microsoft Office PowerPoint</Application>
  <PresentationFormat>Widescreen</PresentationFormat>
  <Paragraphs>470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Covariance and Correlation</vt:lpstr>
      <vt:lpstr>Covariance</vt:lpstr>
      <vt:lpstr>Covariance</vt:lpstr>
      <vt:lpstr>Covariance</vt:lpstr>
      <vt:lpstr>Covariance</vt:lpstr>
      <vt:lpstr>Covariance</vt:lpstr>
      <vt:lpstr>Covariance</vt:lpstr>
      <vt:lpstr>Covariance</vt:lpstr>
      <vt:lpstr>Correlation</vt:lpstr>
      <vt:lpstr>Correlation</vt:lpstr>
      <vt:lpstr>Correlation</vt:lpstr>
      <vt:lpstr>Correlation</vt:lpstr>
      <vt:lpstr>PowerPoint Presentation</vt:lpstr>
      <vt:lpstr>PowerPoint Presentation</vt:lpstr>
      <vt:lpstr>PowerPoint Presentation</vt:lpstr>
      <vt:lpstr>PowerPoint Presentation</vt:lpstr>
      <vt:lpstr>Recap</vt:lpstr>
      <vt:lpstr>Outliers</vt:lpstr>
      <vt:lpstr>Covariance and Correlation Matrix</vt:lpstr>
      <vt:lpstr>Covariance and Correlation Matrix</vt:lpstr>
      <vt:lpstr>PowerPoint Presentation</vt:lpstr>
      <vt:lpstr>EXTRA</vt:lpstr>
      <vt:lpstr>Covariance-correlation</vt:lpstr>
      <vt:lpstr>Practice: Following is sample taken from a population. What is correlation coefficient between gamehours and ExamScore ?</vt:lpstr>
      <vt:lpstr>PowerPoint Presentation</vt:lpstr>
      <vt:lpstr>Covariance + correlation (p1)</vt:lpstr>
      <vt:lpstr>Covariance + correlation EXAMPLE (jupyter n/b)</vt:lpstr>
      <vt:lpstr>Covariance + correlation EXAMPLE (jupyter n/b)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105</cp:revision>
  <dcterms:created xsi:type="dcterms:W3CDTF">2025-09-22T02:44:38Z</dcterms:created>
  <dcterms:modified xsi:type="dcterms:W3CDTF">2025-11-21T10:22:29Z</dcterms:modified>
</cp:coreProperties>
</file>