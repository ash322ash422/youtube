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3" r:id="rId2"/>
    <p:sldId id="282" r:id="rId3"/>
    <p:sldId id="265" r:id="rId4"/>
    <p:sldId id="266" r:id="rId5"/>
    <p:sldId id="267" r:id="rId6"/>
    <p:sldId id="268" r:id="rId7"/>
    <p:sldId id="271" r:id="rId8"/>
    <p:sldId id="272" r:id="rId9"/>
    <p:sldId id="259" r:id="rId10"/>
    <p:sldId id="278" r:id="rId11"/>
    <p:sldId id="279" r:id="rId12"/>
    <p:sldId id="277" r:id="rId13"/>
    <p:sldId id="281" r:id="rId14"/>
    <p:sldId id="276" r:id="rId15"/>
    <p:sldId id="257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2D3FC-1898-47E1-B4BA-2070CF7359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F1409-2DC5-4A72-9701-90CBE2ABE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3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4F30-51C6-5150-DDC5-CCE5F03E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CE7A7-7644-40C1-3B01-F95D722F6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E2A38-E966-79CD-2D03-202623598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CE25-2E4D-94EF-D81E-D9C26D197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2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8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31E06B-3DEF-3D0B-CC13-FE35261A5B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65760" y="1974469"/>
                <a:ext cx="11585448" cy="2634107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sz="53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Find the weird value ?</a:t>
                </a:r>
                <a:br>
                  <a:rPr lang="en-US" sz="53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53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5, −2, 20, 3, 4, −3, 15, 8, 10, 12, 6, 60</m:t>
                      </m:r>
                      <m:r>
                        <m:rPr>
                          <m:nor/>
                        </m:rPr>
                        <a:rPr lang="en-US" sz="53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53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1</m:t>
                      </m:r>
                    </m:oMath>
                  </m:oMathPara>
                </a14:m>
                <a:br>
                  <a:rPr lang="en-US" sz="6600" dirty="0"/>
                </a:br>
                <a:br>
                  <a:rPr lang="en-US" sz="6600" dirty="0"/>
                </a:br>
                <a:endParaRPr lang="en-US" sz="6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F31E06B-3DEF-3D0B-CC13-FE35261A5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65760" y="1974469"/>
                <a:ext cx="11585448" cy="2634107"/>
              </a:xfrm>
              <a:blipFill>
                <a:blip r:embed="rId3"/>
                <a:stretch>
                  <a:fillRect t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2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7F16-24D1-0942-E7A7-97184DDF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022C-9005-B906-1A11-620C17B1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4469"/>
            <a:ext cx="10515600" cy="26341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/>
              <a:t>Here we will talk about need for quartiles and how do we calculate quartiles.</a:t>
            </a:r>
          </a:p>
        </p:txBody>
      </p:sp>
    </p:spTree>
    <p:extLst>
      <p:ext uri="{BB962C8B-B14F-4D97-AF65-F5344CB8AC3E}">
        <p14:creationId xmlns:p14="http://schemas.microsoft.com/office/powerpoint/2010/main" val="117629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3162-0CFB-943A-7165-D446867A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69315"/>
          </a:xfrm>
        </p:spPr>
        <p:txBody>
          <a:bodyPr/>
          <a:lstStyle/>
          <a:p>
            <a:r>
              <a:rPr lang="en-US" dirty="0"/>
              <a:t>Why quartiles matter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CE1AE-C1FF-3DC9-5892-763AB4485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48" y="1048385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They Break Data Into Manageable Chunks</a:t>
            </a:r>
          </a:p>
          <a:p>
            <a:pPr marL="0" indent="0" algn="ctr">
              <a:buNone/>
            </a:pPr>
            <a:r>
              <a:rPr lang="en-US" dirty="0"/>
              <a:t>20, 3, 9, 9, 88, 43, 9, 5, 95, 7, 99, 3, 66, 1903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Quartiles divide data into four equal parts:</a:t>
            </a:r>
          </a:p>
          <a:p>
            <a:pPr lvl="1"/>
            <a:r>
              <a:rPr lang="en-US" dirty="0"/>
              <a:t>25% of the data below Q1</a:t>
            </a:r>
          </a:p>
          <a:p>
            <a:pPr lvl="1"/>
            <a:r>
              <a:rPr lang="en-US" dirty="0"/>
              <a:t>25% between Q1 and Q2</a:t>
            </a:r>
          </a:p>
          <a:p>
            <a:pPr lvl="1"/>
            <a:r>
              <a:rPr lang="en-US" dirty="0"/>
              <a:t>25% between Q2 and Q3</a:t>
            </a:r>
          </a:p>
          <a:p>
            <a:pPr lvl="1"/>
            <a:r>
              <a:rPr lang="en-US" dirty="0"/>
              <a:t>25% above Q3</a:t>
            </a:r>
          </a:p>
          <a:p>
            <a:pPr marL="0" indent="0">
              <a:buNone/>
            </a:pPr>
            <a:r>
              <a:rPr lang="en-US" dirty="0"/>
              <a:t>This gives a </a:t>
            </a:r>
            <a:r>
              <a:rPr lang="en-US" b="1" dirty="0"/>
              <a:t>structured view of distribution</a:t>
            </a:r>
            <a:r>
              <a:rPr lang="en-US" dirty="0"/>
              <a:t> rather than just looking at all the numbers at once.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43A0B-55A4-E7DB-0765-524BFF10A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5" y="4721085"/>
            <a:ext cx="2938405" cy="15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4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AC9B-6A3B-AAC5-D150-0EED0FF9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1CE5-80C2-A7EA-D994-E2DA69D41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2" y="10575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They Show the Spread of Data</a:t>
            </a:r>
          </a:p>
          <a:p>
            <a:r>
              <a:rPr lang="en-US" dirty="0"/>
              <a:t>The </a:t>
            </a:r>
            <a:r>
              <a:rPr lang="en-US" b="1" dirty="0"/>
              <a:t>range</a:t>
            </a:r>
            <a:r>
              <a:rPr lang="en-US" dirty="0"/>
              <a:t> (max – min) can be misleading if there are outliers.</a:t>
            </a:r>
          </a:p>
          <a:p>
            <a:r>
              <a:rPr lang="en-US" dirty="0"/>
              <a:t>Quartiles focus on the </a:t>
            </a:r>
            <a:r>
              <a:rPr lang="en-US" b="1" dirty="0"/>
              <a:t>middle portion of data</a:t>
            </a:r>
            <a:r>
              <a:rPr lang="en-US" dirty="0"/>
              <a:t> where most values lie.</a:t>
            </a:r>
          </a:p>
          <a:p>
            <a:pPr marL="0" indent="0">
              <a:buNone/>
            </a:pPr>
            <a:r>
              <a:rPr lang="en-US" dirty="0"/>
              <a:t>Example: If only one student scores 0 in a test while rest score 70–90,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/>
              <a:t>, 71, 77, 70, 89, 73, 87, 84, 90, 89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the range exaggerates variability, but quartiles give a </a:t>
            </a:r>
            <a:r>
              <a:rPr lang="en-US" b="1" dirty="0"/>
              <a:t>fairer</a:t>
            </a:r>
            <a:r>
              <a:rPr lang="en-US" dirty="0"/>
              <a:t> picture.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95844-7769-4E99-D5E1-09CA7F8F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010E00E-F098-4A04-6177-88BAD658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69315"/>
          </a:xfrm>
        </p:spPr>
        <p:txBody>
          <a:bodyPr/>
          <a:lstStyle/>
          <a:p>
            <a:r>
              <a:rPr lang="en-US" dirty="0"/>
              <a:t>Why quartiles matter ?</a:t>
            </a:r>
          </a:p>
        </p:txBody>
      </p:sp>
    </p:spTree>
    <p:extLst>
      <p:ext uri="{BB962C8B-B14F-4D97-AF65-F5344CB8AC3E}">
        <p14:creationId xmlns:p14="http://schemas.microsoft.com/office/powerpoint/2010/main" val="209485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FEDC-8869-8458-E9D4-B313CE55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5ABD-9783-3D0D-74EB-15A38CE6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52" y="11581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They Help Spot Outliers</a:t>
            </a:r>
          </a:p>
          <a:p>
            <a:r>
              <a:rPr lang="en-US" dirty="0"/>
              <a:t>By calculating the </a:t>
            </a:r>
            <a:r>
              <a:rPr lang="en-US" b="1" dirty="0"/>
              <a:t>Interquartile Range IQR (Q3 – Q1)</a:t>
            </a:r>
            <a:r>
              <a:rPr lang="en-US" dirty="0"/>
              <a:t>, we can set boundaries to detect unusual values AKA outliers.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2, 3,</a:t>
            </a:r>
            <a:r>
              <a:rPr lang="en-US" dirty="0"/>
              <a:t> 99, 89, 88, 89, 90, 98, 95, 87, 99, 93, 89,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1903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Useful in finance (fraud detection), medicine (abnormal lab results), and business (detecting odd customer behavior).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99FB3-BEFB-351E-F361-BCB50755E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5A500AB-694B-70E1-F6BE-543F998E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69315"/>
          </a:xfrm>
        </p:spPr>
        <p:txBody>
          <a:bodyPr/>
          <a:lstStyle/>
          <a:p>
            <a:r>
              <a:rPr lang="en-US" dirty="0"/>
              <a:t>Why quartiles matter ?</a:t>
            </a:r>
          </a:p>
        </p:txBody>
      </p:sp>
    </p:spTree>
    <p:extLst>
      <p:ext uri="{BB962C8B-B14F-4D97-AF65-F5344CB8AC3E}">
        <p14:creationId xmlns:p14="http://schemas.microsoft.com/office/powerpoint/2010/main" val="9664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E22F-3D84-31CE-3BFC-10E5475B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3E437-65E2-904D-4E36-4E7F3FA5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2952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They Feed into Visualization (Box Plots)</a:t>
            </a:r>
          </a:p>
          <a:p>
            <a:r>
              <a:rPr lang="en-US" dirty="0"/>
              <a:t>Box-and-whisker plots use quartiles to summarize an entire dataset visually.</a:t>
            </a:r>
          </a:p>
          <a:p>
            <a:pPr marL="0" indent="0">
              <a:buNone/>
            </a:pPr>
            <a:r>
              <a:rPr lang="en-US" dirty="0"/>
              <a:t>This makes it easy to </a:t>
            </a:r>
            <a:r>
              <a:rPr lang="en-US" b="1" dirty="0"/>
              <a:t>compare multiple datasets</a:t>
            </a:r>
            <a:r>
              <a:rPr lang="en-US" dirty="0"/>
              <a:t> (e.g., salaries of different professions).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1397E-1FF0-C176-E55B-3D12FAA4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03BACB-93F5-40C1-93B5-765BD0A01EF0}"/>
              </a:ext>
            </a:extLst>
          </p:cNvPr>
          <p:cNvSpPr txBox="1">
            <a:spLocks/>
          </p:cNvSpPr>
          <p:nvPr/>
        </p:nvSpPr>
        <p:spPr>
          <a:xfrm>
            <a:off x="838200" y="154813"/>
            <a:ext cx="10515600" cy="869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Why quartiles matter 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8E72F-FDCF-3D44-A5AC-2AFBAEDDC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534" y="4245753"/>
            <a:ext cx="7008905" cy="239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DC86-C8F4-58A9-D7D4-B4EA875A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8D4F-40DC-27CC-8B42-3A41AAD0C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2" y="11123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They Are Robust to Skewed Data</a:t>
            </a:r>
          </a:p>
          <a:p>
            <a:r>
              <a:rPr lang="en-US" dirty="0"/>
              <a:t>Unlike mean, which is distorted by extreme values, quartiles (like the median) are </a:t>
            </a:r>
            <a:r>
              <a:rPr lang="en-US" b="1" dirty="0"/>
              <a:t>resistant to outliers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2, 3,</a:t>
            </a:r>
            <a:r>
              <a:rPr lang="en-US" dirty="0"/>
              <a:t> 99, 89, 88, 89, 90, 98, 95, 87, 99, 93, 89,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1903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75BEE-5D31-F1F9-D5D6-7FE7C6A04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3BEA16-B134-77E1-A4E9-E9DF7C0FD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69315"/>
          </a:xfrm>
        </p:spPr>
        <p:txBody>
          <a:bodyPr/>
          <a:lstStyle/>
          <a:p>
            <a:r>
              <a:rPr lang="en-US" dirty="0"/>
              <a:t>Why quartiles matter ?</a:t>
            </a:r>
          </a:p>
        </p:txBody>
      </p:sp>
    </p:spTree>
    <p:extLst>
      <p:ext uri="{BB962C8B-B14F-4D97-AF65-F5344CB8AC3E}">
        <p14:creationId xmlns:p14="http://schemas.microsoft.com/office/powerpoint/2010/main" val="214320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1DCC-6919-D22B-4AE9-7D60010A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71F9-B864-A2AA-949D-9DC8957E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4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Quartiles matter because they </a:t>
            </a:r>
          </a:p>
          <a:p>
            <a:pPr>
              <a:buFontTx/>
              <a:buChar char="-"/>
            </a:pPr>
            <a:r>
              <a:rPr lang="en-US" dirty="0"/>
              <a:t>tell us the center of the data </a:t>
            </a:r>
          </a:p>
          <a:p>
            <a:pPr>
              <a:buFontTx/>
              <a:buChar char="-"/>
            </a:pPr>
            <a:r>
              <a:rPr lang="en-US" dirty="0"/>
              <a:t>show us how the data is spread,</a:t>
            </a:r>
          </a:p>
          <a:p>
            <a:pPr>
              <a:buFontTx/>
              <a:buChar char="-"/>
            </a:pPr>
            <a:r>
              <a:rPr lang="en-US" dirty="0"/>
              <a:t>where most values lie, and </a:t>
            </a:r>
          </a:p>
          <a:p>
            <a:pPr>
              <a:buFontTx/>
              <a:buChar char="-"/>
            </a:pPr>
            <a:r>
              <a:rPr lang="en-US" dirty="0"/>
              <a:t>whether something looks unusual.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B2520-F853-3BB1-894C-BE0463DF0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9EC1A8-F211-584E-5252-F7335B00F9C8}"/>
              </a:ext>
            </a:extLst>
          </p:cNvPr>
          <p:cNvSpPr txBox="1">
            <a:spLocks/>
          </p:cNvSpPr>
          <p:nvPr/>
        </p:nvSpPr>
        <p:spPr>
          <a:xfrm>
            <a:off x="196786" y="155111"/>
            <a:ext cx="10510837" cy="648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do you find Q1, Q2, Q3, IQR ?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B5CECA-DFE9-11D2-5D6D-43C25BD9C2BC}"/>
                  </a:ext>
                </a:extLst>
              </p:cNvPr>
              <p:cNvSpPr txBox="1"/>
              <p:nvPr/>
            </p:nvSpPr>
            <p:spPr>
              <a:xfrm>
                <a:off x="196787" y="1015533"/>
                <a:ext cx="8318754" cy="2342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Step 1: Arrange the Data</a:t>
                </a:r>
              </a:p>
              <a:p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First, we always </a:t>
                </a:r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arrange the data in ascending order</a:t>
                </a:r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— from smallest to largest.</a:t>
                </a:r>
                <a:b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Quartiles only make sense when the data is sorted.</a:t>
                </a:r>
              </a:p>
              <a:p>
                <a:pPr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Example dataset, say temperature:</a:t>
                </a:r>
                <a:b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5, −2, 20, 3, 4, −3, 15, 8, 10, 12,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6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60</m:t>
                      </m:r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After sorting: </a:t>
                </a:r>
              </a:p>
              <a:p>
                <a:pPr algn="ctr"/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-3, -2, 1, 3, 4, 5, 6, 8, 10, 12, 15, 20, </a:t>
                </a:r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60</a:t>
                </a:r>
                <a:endParaRPr lang="en-US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B5CECA-DFE9-11D2-5D6D-43C25BD9C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7" y="1015533"/>
                <a:ext cx="8318754" cy="2342116"/>
              </a:xfrm>
              <a:prstGeom prst="rect">
                <a:avLst/>
              </a:prstGeom>
              <a:blipFill>
                <a:blip r:embed="rId2"/>
                <a:stretch>
                  <a:fillRect l="-586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D5C4EA0-9B80-0A43-4956-FCDB1B9D2F7A}"/>
              </a:ext>
            </a:extLst>
          </p:cNvPr>
          <p:cNvSpPr txBox="1"/>
          <p:nvPr/>
        </p:nvSpPr>
        <p:spPr>
          <a:xfrm>
            <a:off x="187452" y="3544515"/>
            <a:ext cx="987094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2: Find Q2 (the Median)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Q2 is 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median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the entire dataset— the middle value that splits the data into two equal halves.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the number of data points is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odd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median = middle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it’s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even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median = average of the two middle values.</a:t>
            </a: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Example: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Here we have  13 numbers -&gt; Odd. 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So, Q2 = middle value = 7</a:t>
            </a:r>
            <a:r>
              <a:rPr lang="en-US" baseline="30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number = 6</a:t>
            </a:r>
          </a:p>
          <a:p>
            <a:pPr algn="ctr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-3, -2, 1, 3, 4, 5,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8, 10, 12, 15, 20,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60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Interpretation: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50% of data is below 6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9C431-215A-113A-6D0D-21D59DC6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1D90-8E5E-D2E9-709A-9897726C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E323CB-FE3F-BE5C-F8D3-845E63C4ECCC}"/>
              </a:ext>
            </a:extLst>
          </p:cNvPr>
          <p:cNvSpPr txBox="1">
            <a:spLocks/>
          </p:cNvSpPr>
          <p:nvPr/>
        </p:nvSpPr>
        <p:spPr>
          <a:xfrm>
            <a:off x="196786" y="155111"/>
            <a:ext cx="10510837" cy="648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do you find Q1, Q2, Q3, IQR ?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DB3D8-23AB-950C-A551-232ACDCC99B8}"/>
              </a:ext>
            </a:extLst>
          </p:cNvPr>
          <p:cNvSpPr txBox="1"/>
          <p:nvPr/>
        </p:nvSpPr>
        <p:spPr>
          <a:xfrm>
            <a:off x="196787" y="1015533"/>
            <a:ext cx="83187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3: Find Q1 (the Lower Quartile)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Q1 is 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median of the lower half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the data — the 25</a:t>
            </a:r>
            <a:r>
              <a:rPr lang="en-US" baseline="30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percentile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Lower half (below Q2):-3, -2, 1, 3, 4, 5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Q1, median of this part = (1 + 3)/2 =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Interpretation: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25% of data is below 2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48C6-7BD9-17C0-D32C-65A2905885BE}"/>
              </a:ext>
            </a:extLst>
          </p:cNvPr>
          <p:cNvSpPr txBox="1"/>
          <p:nvPr/>
        </p:nvSpPr>
        <p:spPr>
          <a:xfrm>
            <a:off x="150876" y="3370779"/>
            <a:ext cx="9870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4: Find Q3 (the Upper Quartile)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Q3 is 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median of the upper half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the data — the 75th percentile.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Upper half (above Q2): 8, 10, 12, 15, 20,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60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Q3, median of this part = (12 + 15)/2 =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13.5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Interpretation: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75% of data is below 13.5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62363-7F16-ED0E-8F6F-37052587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057A6F-BF29-7112-C963-4EC18F1A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620" y="2273764"/>
            <a:ext cx="4592593" cy="161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F018-5903-8667-0B4B-B318FA493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48B395-7160-5E2C-F1BF-FD86C221C663}"/>
              </a:ext>
            </a:extLst>
          </p:cNvPr>
          <p:cNvSpPr txBox="1"/>
          <p:nvPr/>
        </p:nvSpPr>
        <p:spPr>
          <a:xfrm>
            <a:off x="196786" y="1015533"/>
            <a:ext cx="107485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Step5) Find Interquartile Range IQR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IQR measure the spread of the middle 50% of data.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Interquartile Range (IQR)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= Q3 – Q1 = 13.5 – 2 =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11.5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Interpretation: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Central 50% of the data values lie within an interval of 11.5 units.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What IQR </a:t>
            </a:r>
            <a:r>
              <a:rPr lang="en-US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Tells Us ?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small IQR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→ data is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closely packed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(less variability).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large IQR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→ data is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spread out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(more variability).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focuses on the middle part of the data.</a:t>
            </a:r>
          </a:p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So, it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ignores extreme values or outliers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In above case, it ignored 60.</a:t>
            </a:r>
          </a:p>
          <a:p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05F90B-E9B7-E69C-0DA6-F8658C4DFD28}"/>
              </a:ext>
            </a:extLst>
          </p:cNvPr>
          <p:cNvSpPr txBox="1">
            <a:spLocks/>
          </p:cNvSpPr>
          <p:nvPr/>
        </p:nvSpPr>
        <p:spPr>
          <a:xfrm>
            <a:off x="196786" y="155111"/>
            <a:ext cx="10510837" cy="648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do you find Q1, Q2, Q3, IQR ?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4DA2F-2DAA-186C-A547-EE370D0D8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905" y="2550330"/>
            <a:ext cx="3884619" cy="2168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FA04ED-B375-5235-BF56-382F0833D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7" y="5132565"/>
            <a:ext cx="2938405" cy="15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85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A669-871A-7641-03FE-77E8DEECC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54813"/>
            <a:ext cx="10515600" cy="951611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Use case: Outlier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ACBB-0027-F2AB-3000-A64E02E2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295273"/>
            <a:ext cx="11067288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Values are considered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outliers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if they lie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below Q1 – 1.5×IQR , or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above Q3 + 1.5×IQR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That’s why IQR is also used in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box plots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identify unusual data points.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 above case,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lower boundary = Q1 – 1.5×IQR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           = 2 – 1.5x13.5 = -18.25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upper boundary = Q3 + 1.5×IQR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                          = 13.5 + 1.5x13.5 = +33.75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value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60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lies outside the range: It is an outlier.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14FC2-E452-1706-2807-8832A83CE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90572" y="1436603"/>
            <a:ext cx="3997997" cy="2231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B5EF5-40D4-2678-C120-2C293376D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1231" y="4387055"/>
            <a:ext cx="6332265" cy="216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2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41A9-B7B5-EDB9-68D8-0CBB489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08529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6C41-18A8-1FC1-80BF-883ED137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A9940FB-B4BC-6681-3236-B238E9842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410" y="233566"/>
            <a:ext cx="4334526" cy="30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37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86F44-184B-764D-0548-2EC5164DA564}"/>
              </a:ext>
            </a:extLst>
          </p:cNvPr>
          <p:cNvSpPr txBox="1"/>
          <p:nvPr/>
        </p:nvSpPr>
        <p:spPr>
          <a:xfrm>
            <a:off x="194310" y="101983"/>
            <a:ext cx="69288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 plots</a:t>
            </a:r>
            <a:endParaRPr lang="en-US" sz="1600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distributions of numeric data 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values, especially when you want to compare them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multiple groups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visuals on  </a:t>
            </a:r>
            <a:r>
              <a:rPr lang="en-US" sz="16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data’s symmetry, skew, variance, and outliers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4, 3, 5, 2, 4, 3, 6, 7, 8, 3, 5, 2, 3, 4,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78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3, 2,-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3, 4, 5, 3, 2: here -30 and 78 seem outliers</a:t>
            </a:r>
          </a:p>
          <a:p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 to see where the main bulk of the data is, and make that comparison between different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 of data falls below Q1 (quartiles)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of data falls below Q2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75% of data falls below Q3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CEB6C2-BAA9-63B3-AA11-A6FDDF7D0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3143568"/>
            <a:ext cx="4552250" cy="3667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59B1E1-BD88-1A70-5DC3-379AB52B5198}"/>
              </a:ext>
            </a:extLst>
          </p:cNvPr>
          <p:cNvSpPr txBox="1"/>
          <p:nvPr/>
        </p:nvSpPr>
        <p:spPr>
          <a:xfrm>
            <a:off x="5407742" y="4522839"/>
            <a:ext cx="65899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city1: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most of temp is between 13 to 16. There is one outlier, temp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Q1 = 13. So 25% of temp data falls below 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Q2 =14. So 50% of temp data falls below 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Q3 = 17.</a:t>
            </a:r>
          </a:p>
          <a:p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FDEC3C-789D-0337-5155-AE9A490A5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12" y="141701"/>
            <a:ext cx="4700778" cy="33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7A79-4CF9-6533-429E-FA9F02EC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04603-A878-0451-1347-583D43AFF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1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804</TotalTime>
  <Words>1202</Words>
  <Application>Microsoft Office PowerPoint</Application>
  <PresentationFormat>Widescreen</PresentationFormat>
  <Paragraphs>120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Find the weird value ? "5, -2, 20, 3, 4, -3, 15, 8, 10, 12, 6, 60, 1"  </vt:lpstr>
      <vt:lpstr>Here we will talk about need for quartiles and how do we calculate quartiles.</vt:lpstr>
      <vt:lpstr>Why quartiles matter ?</vt:lpstr>
      <vt:lpstr>Why quartiles matter ?</vt:lpstr>
      <vt:lpstr>Why quartiles matter ?</vt:lpstr>
      <vt:lpstr>PowerPoint Presentation</vt:lpstr>
      <vt:lpstr>Why quartiles matter ?</vt:lpstr>
      <vt:lpstr>PowerPoint Presentation</vt:lpstr>
      <vt:lpstr>PowerPoint Presentation</vt:lpstr>
      <vt:lpstr>PowerPoint Presentation</vt:lpstr>
      <vt:lpstr>PowerPoint Presentation</vt:lpstr>
      <vt:lpstr>Use case: Outlier Detection</vt:lpstr>
      <vt:lpstr>STOP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84</cp:revision>
  <dcterms:created xsi:type="dcterms:W3CDTF">2025-09-22T02:44:38Z</dcterms:created>
  <dcterms:modified xsi:type="dcterms:W3CDTF">2025-10-18T14:42:15Z</dcterms:modified>
</cp:coreProperties>
</file>