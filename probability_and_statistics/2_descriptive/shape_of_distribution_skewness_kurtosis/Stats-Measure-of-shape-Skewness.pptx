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73" r:id="rId2"/>
    <p:sldId id="283" r:id="rId3"/>
    <p:sldId id="286" r:id="rId4"/>
    <p:sldId id="284" r:id="rId5"/>
    <p:sldId id="266" r:id="rId6"/>
    <p:sldId id="260" r:id="rId7"/>
    <p:sldId id="258" r:id="rId8"/>
    <p:sldId id="281" r:id="rId9"/>
    <p:sldId id="285" r:id="rId10"/>
    <p:sldId id="262" r:id="rId11"/>
    <p:sldId id="261" r:id="rId12"/>
    <p:sldId id="263" r:id="rId13"/>
    <p:sldId id="2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15T09:59:09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02D3FC-1898-47E1-B4BA-2070CF7359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CF1409-2DC5-4A72-9701-90CBE2ABE9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39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F1409-2DC5-4A72-9701-90CBE2ABE93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779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EE3B0-53F3-4EFB-D5DC-D1B663909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C48458-01FC-01E3-9C00-2E59AB8D87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BE842-5D9E-B95C-97C7-CEB050A56E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C692-338C-B5B4-3032-2B7087850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F1409-2DC5-4A72-9701-90CBE2ABE93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310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04340-9117-241F-2DEE-3C5CCACA5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09E947-C694-7A41-0A9C-340303E07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97F81-A093-D2EA-DE3A-785AA693A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DAC19-5235-6348-7D67-B0FFFF3FCB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F1409-2DC5-4A72-9701-90CBE2ABE93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40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6CF5-F62B-0B05-523C-FFB123CCC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7B1AB-5617-5BAB-A9A0-89365B37D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1B3C8-2261-8784-6B05-17009D42B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C04C0-A28E-9250-35FA-7ECF35A2C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F1409-2DC5-4A72-9701-90CBE2ABE93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39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1E06B-3DEF-3D0B-CC13-FE35261A5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" y="173101"/>
            <a:ext cx="11585448" cy="50355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Skewness</a:t>
            </a:r>
            <a:endParaRPr lang="en-US" sz="6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EDFF9F-337B-2832-CE0E-33F7143FA312}"/>
              </a:ext>
            </a:extLst>
          </p:cNvPr>
          <p:cNvSpPr txBox="1"/>
          <p:nvPr/>
        </p:nvSpPr>
        <p:spPr>
          <a:xfrm>
            <a:off x="603504" y="2194560"/>
            <a:ext cx="594624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skewness ?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are some examples of skewness ?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we measure skewness ?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do we care about skewness ?</a:t>
            </a:r>
          </a:p>
        </p:txBody>
      </p:sp>
    </p:spTree>
    <p:extLst>
      <p:ext uri="{BB962C8B-B14F-4D97-AF65-F5344CB8AC3E}">
        <p14:creationId xmlns:p14="http://schemas.microsoft.com/office/powerpoint/2010/main" val="4003227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5C8F9-6BAE-5178-2290-9D8A29A15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0D6F301-29BA-A6FB-57F6-ECFACA111E4D}"/>
              </a:ext>
            </a:extLst>
          </p:cNvPr>
          <p:cNvSpPr txBox="1"/>
          <p:nvPr/>
        </p:nvSpPr>
        <p:spPr>
          <a:xfrm>
            <a:off x="213559" y="1151672"/>
            <a:ext cx="7092497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A data with symmetrical distribution has mean = mode= median.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Another name for this is normal distribution.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But sometimes the data is not symmetrical as shown in figure: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The curve can  be skewed – either to the right or to the left.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skewness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measures how much the data is far from being symmetrical</a:t>
            </a:r>
            <a:endParaRPr lang="en-IN" i="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2B6423-2D90-90C2-BB36-E0C43A6DC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752" y="414144"/>
            <a:ext cx="3047097" cy="18337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2821E9-9D94-49F6-72EA-5F29A9BB7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" y="173101"/>
            <a:ext cx="11585448" cy="50355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Skewness: Definition</a:t>
            </a:r>
            <a:endParaRPr lang="en-US" sz="6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4EB22F8-551F-166A-7F5D-DCA943A43A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9229" y="4886716"/>
            <a:ext cx="3148009" cy="15571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C02AAD6-8C98-7A1D-1AC7-705ED7B89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6752" y="2885947"/>
            <a:ext cx="3230486" cy="156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096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7A735-795B-C705-F4AE-5C61DE9A2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53B0773-14AD-720D-347B-7EF2C062398E}"/>
              </a:ext>
            </a:extLst>
          </p:cNvPr>
          <p:cNvSpPr txBox="1"/>
          <p:nvPr/>
        </p:nvSpPr>
        <p:spPr>
          <a:xfrm>
            <a:off x="98310" y="2935475"/>
            <a:ext cx="623848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positive skewness (right skew)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indicates that the tail of the distribution extends further to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right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, with more data points clustered on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left side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. It also indicates presence of outliers towards right side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Here </a:t>
            </a:r>
            <a:r>
              <a:rPr lang="en-IN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mean &gt; median &gt; mode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CE47D7-0973-C656-FED8-C6C585047454}"/>
              </a:ext>
            </a:extLst>
          </p:cNvPr>
          <p:cNvSpPr txBox="1"/>
          <p:nvPr/>
        </p:nvSpPr>
        <p:spPr>
          <a:xfrm>
            <a:off x="213560" y="1151672"/>
            <a:ext cx="5135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skewness of zero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suggests a symmetrical distribution.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Here </a:t>
            </a:r>
            <a:r>
              <a:rPr lang="en-IN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mean = median = mode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14124-0C9E-6E11-8685-B7A4FF8E4F46}"/>
              </a:ext>
            </a:extLst>
          </p:cNvPr>
          <p:cNvSpPr txBox="1"/>
          <p:nvPr/>
        </p:nvSpPr>
        <p:spPr>
          <a:xfrm>
            <a:off x="178860" y="5212331"/>
            <a:ext cx="59476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negative skewness (left skew)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indicates that the tail extends further to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left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, with more data points clustered on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right side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. It also indicates presence of outliers towards left side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Here </a:t>
            </a:r>
            <a:r>
              <a:rPr lang="en-IN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mean &lt; median &lt; mode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203457-2D41-2EB4-CD60-25690E9F4B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752" y="414144"/>
            <a:ext cx="3047097" cy="1833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2A324C-9CBF-F77E-C12C-9A014CA08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6171" y="4644743"/>
            <a:ext cx="3237429" cy="21163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B741D8C-6B6F-24CD-D20F-B718AF456B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4137" y="2478024"/>
            <a:ext cx="3127667" cy="2031549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6E5D8D6C-1F2B-CE3A-1891-3E5D187D6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" y="173101"/>
            <a:ext cx="11585448" cy="50355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Skewness: Definition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6373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DFF42-4885-11E8-9838-B4A372C94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233B5B-D431-E74E-BCFC-5670C841A68B}"/>
              </a:ext>
            </a:extLst>
          </p:cNvPr>
          <p:cNvSpPr txBox="1"/>
          <p:nvPr/>
        </p:nvSpPr>
        <p:spPr>
          <a:xfrm>
            <a:off x="98310" y="2213099"/>
            <a:ext cx="623848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 of right skewedness :</a:t>
            </a:r>
          </a:p>
          <a:p>
            <a:r>
              <a:rPr lang="en-IN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Income Distribution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A large portion of the population earns moderate incomes, while a smaller number of individuals earn extremely high incomes, creating a right-skewed distribution. </a:t>
            </a:r>
          </a:p>
          <a:p>
            <a:r>
              <a:rPr lang="en-IN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Test Scores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In education, most students might score around the average, but a few exceptional students may achieve very high scores, resulting in a right-skewed distribution of test scores.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152395-7BC8-A271-2548-E6346BFE3FF4}"/>
              </a:ext>
            </a:extLst>
          </p:cNvPr>
          <p:cNvSpPr txBox="1"/>
          <p:nvPr/>
        </p:nvSpPr>
        <p:spPr>
          <a:xfrm>
            <a:off x="213560" y="941360"/>
            <a:ext cx="5135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0 skewedness:</a:t>
            </a:r>
          </a:p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height distribution in a most countries follows symmetrical distribution.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44FD23-842C-2DB8-D6DF-46BBD1134F23}"/>
              </a:ext>
            </a:extLst>
          </p:cNvPr>
          <p:cNvSpPr txBox="1"/>
          <p:nvPr/>
        </p:nvSpPr>
        <p:spPr>
          <a:xfrm>
            <a:off x="178860" y="4718555"/>
            <a:ext cx="59476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 of left skewedness :</a:t>
            </a: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Death from natural cause: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of death from natural causes (heart disease, cancer, etc.) happen at older ages, with fewer cases happening at younger ages.</a:t>
            </a: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Scores on an easy test: 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students take test that is easy, then most will score  high marks, with very few scoring low marks.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6F601E4-406B-1722-D99A-815AF32ED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752" y="414144"/>
            <a:ext cx="3047097" cy="1833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577B58-6EE8-FEC6-9BC8-5B37FE339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6171" y="4644743"/>
            <a:ext cx="3237429" cy="21163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5A934C-3A67-460B-DC4F-23667C565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4137" y="2478024"/>
            <a:ext cx="3127667" cy="203154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37F7C92C-B776-69D0-191B-9657D632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" y="173101"/>
            <a:ext cx="11585448" cy="50355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Skewness: Examples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825932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E5CC-EBCE-4516-0E5A-A847034AF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9BEB0-46F5-06EF-EB6B-6433FF9B0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38" y="205735"/>
            <a:ext cx="7877962" cy="591220"/>
          </a:xfrm>
        </p:spPr>
        <p:txBody>
          <a:bodyPr>
            <a:normAutofit fontScale="90000"/>
          </a:bodyPr>
          <a:lstStyle/>
          <a:p>
            <a:r>
              <a:rPr lang="en-US" dirty="0"/>
              <a:t>How Do We Measure Skewness? 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264438-FFA9-64D0-41C4-FA86D7C04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928411"/>
            <a:ext cx="3919353" cy="9564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0A4B0A-B29A-772D-8ACB-344792ADF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99" y="3366467"/>
            <a:ext cx="3863062" cy="8779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914B293-8F2A-CC56-3129-99F3B68F1F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122" y="4901749"/>
            <a:ext cx="3092920" cy="1345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4A534F-3FA3-3B90-964E-97183E666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0475" y="1205341"/>
            <a:ext cx="2403081" cy="14461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A49B10-9768-6F1F-56D1-1E43CBF289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046" y="4795374"/>
            <a:ext cx="2553186" cy="16690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DA71A3-7797-56F8-F948-F71163DA07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6934" y="2922341"/>
            <a:ext cx="2466622" cy="16021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9D6A40-A1FC-1035-283E-3AF77F6D04BE}"/>
              </a:ext>
            </a:extLst>
          </p:cNvPr>
          <p:cNvSpPr txBox="1"/>
          <p:nvPr/>
        </p:nvSpPr>
        <p:spPr>
          <a:xfrm>
            <a:off x="446810" y="831195"/>
            <a:ext cx="887383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 are multiple formulas, but one common approach is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Pearson’s Moment Coefficient of Skewness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1989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FFD06-69FB-70AE-933B-58E57067A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916" y="178311"/>
            <a:ext cx="4589206" cy="627933"/>
          </a:xfrm>
        </p:spPr>
        <p:txBody>
          <a:bodyPr>
            <a:normAutofit fontScale="90000"/>
          </a:bodyPr>
          <a:lstStyle/>
          <a:p>
            <a:r>
              <a:rPr lang="en-US" dirty="0"/>
              <a:t>Skewness meaning: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9D13669-A066-37B7-FFB1-58BD8C857F5C}"/>
                  </a:ext>
                </a:extLst>
              </p14:cNvPr>
              <p14:cNvContentPartPr/>
              <p14:nvPr/>
            </p14:nvContentPartPr>
            <p14:xfrm>
              <a:off x="2281227" y="904548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9D13669-A066-37B7-FFB1-58BD8C857F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75107" y="898428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7B975C3-C307-2827-0C4F-CD1AE7E294AF}"/>
              </a:ext>
            </a:extLst>
          </p:cNvPr>
          <p:cNvCxnSpPr/>
          <p:nvPr/>
        </p:nvCxnSpPr>
        <p:spPr>
          <a:xfrm>
            <a:off x="521110" y="4807974"/>
            <a:ext cx="99895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2EDF721-7743-BC40-CC68-2F6DB686E8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334" y="3949666"/>
            <a:ext cx="9897856" cy="23053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0B6BB5-A8BB-65C4-3FEF-393095307C6C}"/>
              </a:ext>
            </a:extLst>
          </p:cNvPr>
          <p:cNvSpPr txBox="1"/>
          <p:nvPr/>
        </p:nvSpPr>
        <p:spPr>
          <a:xfrm>
            <a:off x="385916" y="1195846"/>
            <a:ext cx="1151042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While there isn't a single universally agreed-upon scale, here's a general guideline:</a:t>
            </a:r>
          </a:p>
          <a:p>
            <a:pPr marL="0" indent="0">
              <a:buNone/>
            </a:pP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-0.5 to 0.5</a:t>
            </a: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: The distribution is considered approximately </a:t>
            </a:r>
            <a:r>
              <a:rPr lang="en-US" sz="20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symmetrical</a:t>
            </a: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-1 to -0.5 or 0.5 to 1</a:t>
            </a: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: The distribution is </a:t>
            </a:r>
            <a:r>
              <a:rPr lang="en-US" sz="20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moderately skewed</a:t>
            </a: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Values beyond -1 and 1</a:t>
            </a: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: The distribution is considered </a:t>
            </a:r>
            <a:r>
              <a:rPr lang="en-US" sz="20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highly skewed</a:t>
            </a:r>
            <a:r>
              <a:rPr lang="en-US" sz="20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endParaRPr lang="en-IN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401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AE908-47FA-A527-6219-72E15BD9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38" y="205735"/>
            <a:ext cx="6121898" cy="591220"/>
          </a:xfrm>
        </p:spPr>
        <p:txBody>
          <a:bodyPr>
            <a:normAutofit fontScale="90000"/>
          </a:bodyPr>
          <a:lstStyle/>
          <a:p>
            <a:r>
              <a:rPr lang="en-US" dirty="0"/>
              <a:t>Why Skewness matters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308454-E021-6D5F-55F9-E7977A382055}"/>
              </a:ext>
            </a:extLst>
          </p:cNvPr>
          <p:cNvSpPr txBox="1"/>
          <p:nvPr/>
        </p:nvSpPr>
        <p:spPr>
          <a:xfrm>
            <a:off x="446809" y="831195"/>
            <a:ext cx="1052599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Helps Detect Non-Normality</a:t>
            </a: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Many algorithms (like Linear Regression, Logistic Regression, PCA) assume the data—or residuals—are normally distributed.</a:t>
            </a:r>
          </a:p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data is highly skewed, this assumption is violated, leading to </a:t>
            </a:r>
            <a:r>
              <a:rPr lang="en-IN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biased model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parameters and hence poor predictions</a:t>
            </a: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Impacts Feature Scaling</a:t>
            </a: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Skewed features can distort mean and standard deviation, which are used in </a:t>
            </a:r>
            <a:r>
              <a:rPr lang="en-IN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StandardScaler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or Z-score normalization.</a:t>
            </a:r>
          </a:p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Solution: Apply log, square-root, or Box–Cox transformations to reduce skewness.</a:t>
            </a: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Improves Model Performance</a:t>
            </a:r>
          </a:p>
          <a:p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Models like tree-based ones (Decision Tree, Random Forest, </a:t>
            </a:r>
            <a:r>
              <a:rPr lang="en-IN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XGBoost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are less sensitive, but linear or distance-based models (KNN, SVM) can perform better after skewness correction.</a:t>
            </a:r>
          </a:p>
        </p:txBody>
      </p:sp>
    </p:spTree>
    <p:extLst>
      <p:ext uri="{BB962C8B-B14F-4D97-AF65-F5344CB8AC3E}">
        <p14:creationId xmlns:p14="http://schemas.microsoft.com/office/powerpoint/2010/main" val="1920059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841A9-B7B5-EDB9-68D8-0CBB4894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STOP</a:t>
            </a:r>
          </a:p>
        </p:txBody>
      </p:sp>
    </p:spTree>
    <p:extLst>
      <p:ext uri="{BB962C8B-B14F-4D97-AF65-F5344CB8AC3E}">
        <p14:creationId xmlns:p14="http://schemas.microsoft.com/office/powerpoint/2010/main" val="2308529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EE8FB-CD06-5D05-2F15-C336D2D0A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82FE-957B-4158-6335-137DDEDEA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38" y="123439"/>
            <a:ext cx="11078362" cy="419259"/>
          </a:xfrm>
        </p:spPr>
        <p:txBody>
          <a:bodyPr>
            <a:noAutofit/>
          </a:bodyPr>
          <a:lstStyle/>
          <a:p>
            <a:r>
              <a:rPr lang="en-US" sz="2000" b="1" dirty="0"/>
              <a:t>Problem Statement: Predicting House Prices — When the Model Gets “Fooled” by Skewness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08FE01-C44C-A34C-400B-54CF5DA1020C}"/>
              </a:ext>
            </a:extLst>
          </p:cNvPr>
          <p:cNvSpPr txBox="1"/>
          <p:nvPr/>
        </p:nvSpPr>
        <p:spPr>
          <a:xfrm>
            <a:off x="118873" y="584307"/>
            <a:ext cx="930859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building a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learning model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predict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house prices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a city.</a:t>
            </a:r>
            <a:b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dataset has 10,000 houses with various features — area, number of rooms, location, etc.</a:t>
            </a:r>
            <a:b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target variable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the </a:t>
            </a:r>
            <a:r>
              <a:rPr lang="en-US" sz="16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price of the house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Before modeling, you plot the prices and notice something interesting: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houses are between ₹30–₹80 lakhs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few luxury villas cost ₹5–₹10 crores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average price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₹1.2 crore — but that’s </a:t>
            </a:r>
            <a:r>
              <a:rPr lang="en-US" sz="16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what most houses cost.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Problem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train a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Linear Regression model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directly on the raw price data. The result you obtain  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Training error: ✅ 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Validation error: ❌ Very high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severely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overestimates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prices of mid-range homes and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underestimates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luxury homes.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check the residuals (errors) and see they are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symmetric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they have a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long right tail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other words,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target variable is positively skewed.</a:t>
            </a:r>
          </a:p>
          <a:p>
            <a:endParaRPr lang="en-US" sz="16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Using Skewness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fix this, you apply a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 transformation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the target variable: y′=log(y)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you retrain the model and the result is: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Residuals become more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symmetric (skewness ≈ 0)</a:t>
            </a:r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predictions improve dramatically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Validation RMSE drops by 30–40%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After prediction, you simply reverse the transformation using: 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7AE60F-4CC3-5689-FD15-230D72486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373" y="6159388"/>
            <a:ext cx="955254" cy="4608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BF0FEB-F44D-BCAB-FB1C-71A53DAC3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5128" y="2761488"/>
            <a:ext cx="2983991" cy="186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922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2760F-6084-1A62-5579-2B5E1A17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2320-62E0-A4D5-2E2D-A71EE10BC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27" y="197981"/>
            <a:ext cx="7332407" cy="549275"/>
          </a:xfrm>
        </p:spPr>
        <p:txBody>
          <a:bodyPr>
            <a:noAutofit/>
          </a:bodyPr>
          <a:lstStyle/>
          <a:p>
            <a:r>
              <a:rPr lang="en-US" sz="2800" b="1" dirty="0"/>
              <a:t>Example of 0 skewed data (see </a:t>
            </a:r>
            <a:r>
              <a:rPr lang="en-US" sz="2800" b="1" dirty="0" err="1"/>
              <a:t>jupyter</a:t>
            </a:r>
            <a:r>
              <a:rPr lang="en-US" sz="2800" b="1" dirty="0"/>
              <a:t> n/b):</a:t>
            </a: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13B8F-0D65-CE71-52F4-C4F3481A6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012" y="654045"/>
            <a:ext cx="6902246" cy="607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50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4C184-88B7-FF9E-89C5-E84BCCE01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27" y="197981"/>
            <a:ext cx="10125753" cy="549275"/>
          </a:xfrm>
        </p:spPr>
        <p:txBody>
          <a:bodyPr>
            <a:noAutofit/>
          </a:bodyPr>
          <a:lstStyle/>
          <a:p>
            <a:r>
              <a:rPr lang="en-US" sz="2800" b="1" dirty="0"/>
              <a:t>Example of right skewed data (see </a:t>
            </a:r>
            <a:r>
              <a:rPr lang="en-US" sz="2800" b="1" dirty="0" err="1"/>
              <a:t>jupyter</a:t>
            </a:r>
            <a:r>
              <a:rPr lang="en-US" sz="2800" b="1" dirty="0"/>
              <a:t> n/b):</a:t>
            </a:r>
            <a:endParaRPr lang="en-IN" sz="28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F00A5A-60D8-D6AA-0FDE-B2E7B87FA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6140" y="875071"/>
            <a:ext cx="6373031" cy="578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824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6E818-290F-56B0-8DEC-E9DBE863F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1011-87D6-F90A-88F3-D11C9B8A3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27" y="197981"/>
            <a:ext cx="7332407" cy="549275"/>
          </a:xfrm>
        </p:spPr>
        <p:txBody>
          <a:bodyPr>
            <a:noAutofit/>
          </a:bodyPr>
          <a:lstStyle/>
          <a:p>
            <a:r>
              <a:rPr lang="en-US" sz="2800" b="1" dirty="0"/>
              <a:t>Example of left skewed data (see </a:t>
            </a:r>
            <a:r>
              <a:rPr lang="en-US" sz="2800" b="1" dirty="0" err="1"/>
              <a:t>jupyter</a:t>
            </a:r>
            <a:r>
              <a:rPr lang="en-US" sz="2800" b="1" dirty="0"/>
              <a:t> n/b):</a:t>
            </a:r>
            <a:endParaRPr lang="en-IN" sz="2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C38189-A7BB-CF9F-757C-D4BAC9711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7008" y="846837"/>
            <a:ext cx="7109224" cy="5934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08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91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982</TotalTime>
  <Words>856</Words>
  <Application>Microsoft Office PowerPoint</Application>
  <PresentationFormat>Widescreen</PresentationFormat>
  <Paragraphs>101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(Body)</vt:lpstr>
      <vt:lpstr>Calibri Light</vt:lpstr>
      <vt:lpstr>Office Theme</vt:lpstr>
      <vt:lpstr>Skewness</vt:lpstr>
      <vt:lpstr>Skewness: Definition</vt:lpstr>
      <vt:lpstr>Skewness: Definition</vt:lpstr>
      <vt:lpstr>Skewness: Examples</vt:lpstr>
      <vt:lpstr>How Do We Measure Skewness? </vt:lpstr>
      <vt:lpstr>Skewness meaning:</vt:lpstr>
      <vt:lpstr>Why Skewness matters</vt:lpstr>
      <vt:lpstr>STOP</vt:lpstr>
      <vt:lpstr>Problem Statement: Predicting House Prices — When the Model Gets “Fooled” by Skewness</vt:lpstr>
      <vt:lpstr>Example of 0 skewed data (see jupyter n/b):</vt:lpstr>
      <vt:lpstr>Example of right skewed data (see jupyter n/b):</vt:lpstr>
      <vt:lpstr>Example of left skewed data (see jupyter n/b):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111</cp:revision>
  <dcterms:created xsi:type="dcterms:W3CDTF">2025-09-22T02:44:38Z</dcterms:created>
  <dcterms:modified xsi:type="dcterms:W3CDTF">2025-11-07T13:06:48Z</dcterms:modified>
</cp:coreProperties>
</file>