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ink/ink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handoutMasterIdLst>
    <p:handoutMasterId r:id="rId16"/>
  </p:handoutMasterIdLst>
  <p:sldIdLst>
    <p:sldId id="273" r:id="rId2"/>
    <p:sldId id="283" r:id="rId3"/>
    <p:sldId id="286" r:id="rId4"/>
    <p:sldId id="284" r:id="rId5"/>
    <p:sldId id="266" r:id="rId6"/>
    <p:sldId id="260" r:id="rId7"/>
    <p:sldId id="258" r:id="rId8"/>
    <p:sldId id="281" r:id="rId9"/>
    <p:sldId id="285" r:id="rId10"/>
    <p:sldId id="262" r:id="rId11"/>
    <p:sldId id="261" r:id="rId12"/>
    <p:sldId id="263" r:id="rId13"/>
    <p:sldId id="280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5T09:59:09.00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24575,'0'0'-8191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02D3FC-1898-47E1-B4BA-2070CF7359E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7CF1409-2DC5-4A72-9701-90CBE2ABE9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77390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CF1409-2DC5-4A72-9701-90CBE2ABE93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37798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1EE3B0-53F3-4EFB-D5DC-D1B6639093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AC48458-01FC-01E3-9C00-2E59AB8D87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DCBE842-5D9E-B95C-97C7-CEB050A56E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59C692-338C-B5B4-3032-2B7087850A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CF1409-2DC5-4A72-9701-90CBE2ABE93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83103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704340-9117-241F-2DEE-3C5CCACA5B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09E947-C694-7A41-0A9C-340303E07C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3F97F81-A093-D2EA-DE3A-785AA693AC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4DAC19-5235-6348-7D67-B0FFFF3FCB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CF1409-2DC5-4A72-9701-90CBE2ABE93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79401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1C6CF5-F62B-0B05-523C-FFB123CCC7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D67B1AB-5617-5BAB-A9A0-89365B37DD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991B3C8-2261-8784-6B05-17009D42BB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9C04C0-A28E-9250-35FA-7ECF35A2C20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CF1409-2DC5-4A72-9701-90CBE2ABE93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39391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31E06B-3DEF-3D0B-CC13-FE35261A5B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760" y="173101"/>
            <a:ext cx="11585448" cy="503555"/>
          </a:xfrm>
        </p:spPr>
        <p:txBody>
          <a:bodyPr>
            <a:normAutofit fontScale="90000"/>
          </a:bodyPr>
          <a:lstStyle/>
          <a:p>
            <a:pPr algn="ctr"/>
            <a:r>
              <a:rPr lang="en-US" sz="53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Skewness</a:t>
            </a:r>
            <a:endParaRPr lang="en-US" sz="66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0EDFF9F-337B-2832-CE0E-33F7143FA312}"/>
              </a:ext>
            </a:extLst>
          </p:cNvPr>
          <p:cNvSpPr txBox="1"/>
          <p:nvPr/>
        </p:nvSpPr>
        <p:spPr>
          <a:xfrm>
            <a:off x="603504" y="2194560"/>
            <a:ext cx="5946243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What is skewness ?</a:t>
            </a:r>
          </a:p>
          <a:p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What are some examples of skewness ?</a:t>
            </a:r>
          </a:p>
          <a:p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How do we measure skewness ?</a:t>
            </a:r>
          </a:p>
          <a:p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Why do we care about skewness ?</a:t>
            </a:r>
          </a:p>
        </p:txBody>
      </p:sp>
    </p:spTree>
    <p:extLst>
      <p:ext uri="{BB962C8B-B14F-4D97-AF65-F5344CB8AC3E}">
        <p14:creationId xmlns:p14="http://schemas.microsoft.com/office/powerpoint/2010/main" val="40032273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C5C8F9-6BAE-5178-2290-9D8A29A158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0D6F301-29BA-A6FB-57F6-ECFACA111E4D}"/>
              </a:ext>
            </a:extLst>
          </p:cNvPr>
          <p:cNvSpPr txBox="1"/>
          <p:nvPr/>
        </p:nvSpPr>
        <p:spPr>
          <a:xfrm>
            <a:off x="213559" y="1151672"/>
            <a:ext cx="7092497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  <a:latin typeface="Calibri (Body)"/>
              </a:rPr>
              <a:t>A data with symmetrical distribution has mean = mode= median. 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  <a:latin typeface="Calibri (Body)"/>
              </a:rPr>
              <a:t>Another name for this is normal distribution.</a:t>
            </a:r>
          </a:p>
          <a:p>
            <a:pPr marL="0" indent="0">
              <a:buNone/>
            </a:pP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  <a:latin typeface="Calibri (Body)"/>
            </a:endParaRPr>
          </a:p>
          <a:p>
            <a:pPr marL="0" indent="0">
              <a:buNone/>
            </a:pP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  <a:latin typeface="Calibri (Body)"/>
            </a:endParaRPr>
          </a:p>
          <a:p>
            <a:pPr marL="0" indent="0">
              <a:buNone/>
            </a:pP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  <a:latin typeface="Calibri (Body)"/>
            </a:endParaRPr>
          </a:p>
          <a:p>
            <a:pPr marL="0" indent="0">
              <a:buNone/>
            </a:pP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  <a:latin typeface="Calibri (Body)"/>
            </a:endParaRPr>
          </a:p>
          <a:p>
            <a:pPr marL="0" indent="0">
              <a:buNone/>
            </a:pP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  <a:latin typeface="Calibri (Body)"/>
            </a:endParaRPr>
          </a:p>
          <a:p>
            <a:pPr marL="0" indent="0">
              <a:buNone/>
            </a:pP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  <a:latin typeface="Calibri (Body)"/>
            </a:endParaRPr>
          </a:p>
          <a:p>
            <a:pPr marL="0" indent="0">
              <a:buNone/>
            </a:pP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  <a:latin typeface="Calibri (Body)"/>
            </a:endParaRPr>
          </a:p>
          <a:p>
            <a:pPr marL="0" indent="0">
              <a:buNone/>
            </a:pP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  <a:latin typeface="Calibri (Body)"/>
              </a:rPr>
              <a:t>But sometimes the data is not symmetrical as shown in figure: 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  <a:latin typeface="Calibri (Body)"/>
              </a:rPr>
              <a:t>The curve can  be skewed – either to the right or to the left.</a:t>
            </a:r>
          </a:p>
          <a:p>
            <a:pPr marL="0" indent="0">
              <a:buNone/>
            </a:pP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  <a:latin typeface="Calibri (Body)"/>
            </a:endParaRPr>
          </a:p>
          <a:p>
            <a:pPr marL="0" indent="0">
              <a:buNone/>
            </a:pP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  <a:latin typeface="Calibri (Body)"/>
            </a:endParaRPr>
          </a:p>
          <a:p>
            <a:pPr marL="0" indent="0">
              <a:buNone/>
            </a:pP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  <a:latin typeface="Calibri (Body)"/>
            </a:endParaRPr>
          </a:p>
          <a:p>
            <a:pPr marL="0" indent="0">
              <a:buNone/>
            </a:pP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  <a:latin typeface="Calibri (Body)"/>
            </a:endParaRPr>
          </a:p>
          <a:p>
            <a:pPr marL="0" indent="0">
              <a:buNone/>
            </a:pP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  <a:latin typeface="Calibri (Body)"/>
            </a:endParaRPr>
          </a:p>
          <a:p>
            <a:pPr marL="0" indent="0">
              <a:buNone/>
            </a:pP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  <a:latin typeface="Calibri (Body)"/>
              </a:rPr>
              <a:t>A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Calibri (Body)"/>
              </a:rPr>
              <a:t>skewness 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  <a:latin typeface="Calibri (Body)"/>
              </a:rPr>
              <a:t>measures how much the data is far from being symmetrical</a:t>
            </a:r>
            <a:endParaRPr lang="en-IN" i="0" dirty="0">
              <a:solidFill>
                <a:schemeClr val="accent6">
                  <a:lumMod val="60000"/>
                  <a:lumOff val="40000"/>
                </a:schemeClr>
              </a:solidFill>
              <a:effectLst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12B6423-2D90-90C2-BB36-E0C43A6DC6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86752" y="414144"/>
            <a:ext cx="3047097" cy="18337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82821E9-9D94-49F6-72EA-5F29A9BB72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760" y="173101"/>
            <a:ext cx="11585448" cy="503555"/>
          </a:xfrm>
        </p:spPr>
        <p:txBody>
          <a:bodyPr>
            <a:normAutofit fontScale="90000"/>
          </a:bodyPr>
          <a:lstStyle/>
          <a:p>
            <a:pPr algn="ctr"/>
            <a:r>
              <a:rPr lang="en-US" sz="53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Skewness: Definition</a:t>
            </a:r>
            <a:endParaRPr lang="en-US" sz="66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4EB22F8-551F-166A-7F5D-DCA943A43A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9229" y="4886716"/>
            <a:ext cx="3148009" cy="155714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C02AAD6-8C98-7A1D-1AC7-705ED7B897B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86752" y="2885947"/>
            <a:ext cx="3230486" cy="1568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30966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17A735-795B-C705-F4AE-5C61DE9A2B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53B0773-14AD-720D-347B-7EF2C062398E}"/>
              </a:ext>
            </a:extLst>
          </p:cNvPr>
          <p:cNvSpPr txBox="1"/>
          <p:nvPr/>
        </p:nvSpPr>
        <p:spPr>
          <a:xfrm>
            <a:off x="98310" y="2935475"/>
            <a:ext cx="623848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  <a:latin typeface="Calibri (Body)"/>
              </a:rPr>
              <a:t>A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Calibri (Body)"/>
              </a:rPr>
              <a:t>positive skewness (right skew) 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  <a:latin typeface="Calibri (Body)"/>
              </a:rPr>
              <a:t>indicates that the tail of the distribution extends further to the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Calibri (Body)"/>
              </a:rPr>
              <a:t>right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  <a:latin typeface="Calibri (Body)"/>
              </a:rPr>
              <a:t>, with more data points clustered on the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Calibri (Body)"/>
              </a:rPr>
              <a:t>left side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  <a:latin typeface="Calibri (Body)"/>
              </a:rPr>
              <a:t>. It also indicates presence of outliers towards right side 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  <a:latin typeface="Calibri (Body)"/>
              </a:rPr>
              <a:t>Here </a:t>
            </a:r>
            <a:r>
              <a:rPr lang="en-IN" b="1" i="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 (Body)"/>
              </a:rPr>
              <a:t>mean &gt; median &gt; mode</a:t>
            </a:r>
            <a:endParaRPr lang="en-US" b="1" dirty="0">
              <a:solidFill>
                <a:schemeClr val="accent6">
                  <a:lumMod val="60000"/>
                  <a:lumOff val="40000"/>
                </a:schemeClr>
              </a:solidFill>
              <a:latin typeface="Calibri (Body)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DCE47D7-0973-C656-FED8-C6C585047454}"/>
              </a:ext>
            </a:extLst>
          </p:cNvPr>
          <p:cNvSpPr txBox="1"/>
          <p:nvPr/>
        </p:nvSpPr>
        <p:spPr>
          <a:xfrm>
            <a:off x="213560" y="1151672"/>
            <a:ext cx="513568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  <a:latin typeface="Calibri (Body)"/>
              </a:rPr>
              <a:t>A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Calibri (Body)"/>
              </a:rPr>
              <a:t>skewness of zero 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  <a:latin typeface="Calibri (Body)"/>
              </a:rPr>
              <a:t>suggests a symmetrical distribution. 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  <a:latin typeface="Calibri (Body)"/>
              </a:rPr>
              <a:t>Here </a:t>
            </a:r>
            <a:r>
              <a:rPr lang="en-IN" b="1" i="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</a:rPr>
              <a:t>mean = median = mode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1A14124-0C9E-6E11-8685-B7A4FF8E4F46}"/>
              </a:ext>
            </a:extLst>
          </p:cNvPr>
          <p:cNvSpPr txBox="1"/>
          <p:nvPr/>
        </p:nvSpPr>
        <p:spPr>
          <a:xfrm>
            <a:off x="178860" y="5212331"/>
            <a:ext cx="594762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  <a:latin typeface="Calibri (Body)"/>
              </a:rPr>
              <a:t>A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Calibri (Body)"/>
              </a:rPr>
              <a:t>negative skewness (left skew) 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  <a:latin typeface="Calibri (Body)"/>
              </a:rPr>
              <a:t>indicates that the tail extends further to the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Calibri (Body)"/>
              </a:rPr>
              <a:t>left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  <a:latin typeface="Calibri (Body)"/>
              </a:rPr>
              <a:t>, with more data points clustered on the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Calibri (Body)"/>
              </a:rPr>
              <a:t>right side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  <a:latin typeface="Calibri (Body)"/>
              </a:rPr>
              <a:t>. It also indicates presence of outliers towards left side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  <a:latin typeface="Calibri (Body)"/>
              </a:rPr>
              <a:t>Here </a:t>
            </a:r>
            <a:r>
              <a:rPr lang="en-IN" b="1" i="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 (Body)"/>
              </a:rPr>
              <a:t>mean &lt; median &lt; mode</a:t>
            </a:r>
            <a:endParaRPr lang="en-US" b="1" dirty="0">
              <a:solidFill>
                <a:schemeClr val="accent6">
                  <a:lumMod val="60000"/>
                  <a:lumOff val="40000"/>
                </a:schemeClr>
              </a:solidFill>
              <a:latin typeface="Calibri (Body)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B203457-2D41-2EB4-CD60-25690E9F4B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86752" y="414144"/>
            <a:ext cx="3047097" cy="18337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82A324C-9CBF-F77E-C12C-9A014CA084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56171" y="4644743"/>
            <a:ext cx="3237429" cy="211631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B741D8C-6B6F-24CD-D20F-B718AF456BE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54137" y="2478024"/>
            <a:ext cx="3127667" cy="2031549"/>
          </a:xfrm>
          <a:prstGeom prst="rect">
            <a:avLst/>
          </a:prstGeom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6E5D8D6C-1F2B-CE3A-1891-3E5D187D63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760" y="173101"/>
            <a:ext cx="11585448" cy="503555"/>
          </a:xfrm>
        </p:spPr>
        <p:txBody>
          <a:bodyPr>
            <a:normAutofit fontScale="90000"/>
          </a:bodyPr>
          <a:lstStyle/>
          <a:p>
            <a:pPr algn="ctr"/>
            <a:r>
              <a:rPr lang="en-US" sz="53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Skewness: Definition</a:t>
            </a:r>
            <a:endParaRPr lang="en-US" sz="6600" dirty="0"/>
          </a:p>
        </p:txBody>
      </p:sp>
    </p:spTree>
    <p:extLst>
      <p:ext uri="{BB962C8B-B14F-4D97-AF65-F5344CB8AC3E}">
        <p14:creationId xmlns:p14="http://schemas.microsoft.com/office/powerpoint/2010/main" val="663734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FDFF42-4885-11E8-9838-B4A372C94F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7233B5B-D431-E74E-BCFC-5670C841A68B}"/>
              </a:ext>
            </a:extLst>
          </p:cNvPr>
          <p:cNvSpPr txBox="1"/>
          <p:nvPr/>
        </p:nvSpPr>
        <p:spPr>
          <a:xfrm>
            <a:off x="98310" y="2213099"/>
            <a:ext cx="623848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Examples of right skewedness :</a:t>
            </a:r>
          </a:p>
          <a:p>
            <a:r>
              <a:rPr lang="en-IN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1) Income Distribution</a:t>
            </a:r>
            <a:r>
              <a:rPr lang="en-IN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 A large portion of the population earns moderate incomes, while a smaller number of individuals earn extremely high incomes, creating a right-skewed distribution. </a:t>
            </a:r>
          </a:p>
          <a:p>
            <a:r>
              <a:rPr lang="en-IN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2) Test Scores</a:t>
            </a:r>
            <a:r>
              <a:rPr lang="en-IN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 In education, most students might score around the average, but a few exceptional students may achieve very high scores, resulting in a right-skewed distribution of test scores.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E152395-7BC8-A271-2548-E6346BFE3FF4}"/>
              </a:ext>
            </a:extLst>
          </p:cNvPr>
          <p:cNvSpPr txBox="1"/>
          <p:nvPr/>
        </p:nvSpPr>
        <p:spPr>
          <a:xfrm>
            <a:off x="213560" y="941360"/>
            <a:ext cx="513568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 of 0 skewedness:</a:t>
            </a:r>
          </a:p>
          <a:p>
            <a:r>
              <a:rPr lang="en-IN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The height distribution in a most countries follows symmetrical distribution.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944FD23-842C-2DB8-D6DF-46BBD1134F23}"/>
              </a:ext>
            </a:extLst>
          </p:cNvPr>
          <p:cNvSpPr txBox="1"/>
          <p:nvPr/>
        </p:nvSpPr>
        <p:spPr>
          <a:xfrm>
            <a:off x="178860" y="4718555"/>
            <a:ext cx="594762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Examples of left skewedness :</a:t>
            </a:r>
          </a:p>
          <a:p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1) Death from natural cause: 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Most of death from natural causes (heart disease, cancer, etc.) happen at older ages, with fewer cases happening at younger ages.</a:t>
            </a:r>
          </a:p>
          <a:p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2) Scores on an easy test: </a:t>
            </a:r>
            <a:r>
              <a:rPr lang="en-IN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If students take test that is easy, then most will score  high marks, with very few scoring low marks.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6F601E4-406B-1722-D99A-815AF32EDA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86752" y="414144"/>
            <a:ext cx="3047097" cy="18337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F577B58-6EE8-FEC6-9BC8-5B37FE339A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56171" y="4644743"/>
            <a:ext cx="3237429" cy="211631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75A934C-3A67-460B-DC4F-23667C5658A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54137" y="2478024"/>
            <a:ext cx="3127667" cy="2031549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37F7C92C-B776-69D0-191B-9657D6323C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760" y="173101"/>
            <a:ext cx="11585448" cy="503555"/>
          </a:xfrm>
        </p:spPr>
        <p:txBody>
          <a:bodyPr>
            <a:normAutofit fontScale="90000"/>
          </a:bodyPr>
          <a:lstStyle/>
          <a:p>
            <a:pPr algn="ctr"/>
            <a:r>
              <a:rPr lang="en-US" sz="53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Skewness: Examples</a:t>
            </a:r>
            <a:endParaRPr lang="en-US" sz="6600" dirty="0"/>
          </a:p>
        </p:txBody>
      </p:sp>
    </p:spTree>
    <p:extLst>
      <p:ext uri="{BB962C8B-B14F-4D97-AF65-F5344CB8AC3E}">
        <p14:creationId xmlns:p14="http://schemas.microsoft.com/office/powerpoint/2010/main" val="8259323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1FE5CC-EBCE-4516-0E5A-A847034AF5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A29D6A40-A1FC-1035-283E-3AF77F6D04BE}"/>
              </a:ext>
            </a:extLst>
          </p:cNvPr>
          <p:cNvSpPr txBox="1"/>
          <p:nvPr/>
        </p:nvSpPr>
        <p:spPr>
          <a:xfrm>
            <a:off x="446810" y="831195"/>
            <a:ext cx="8873834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There are multiple formulas, but one common approach is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Pearson’s Moment Coefficient of Skewness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</a:t>
            </a:r>
          </a:p>
          <a:p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IN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IN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IN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IN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6F9BEB0-46F5-06EF-EB6B-6433FF9B02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638" y="205735"/>
            <a:ext cx="7877962" cy="591220"/>
          </a:xfrm>
        </p:spPr>
        <p:txBody>
          <a:bodyPr>
            <a:normAutofit fontScale="90000"/>
          </a:bodyPr>
          <a:lstStyle/>
          <a:p>
            <a:r>
              <a:rPr lang="en-US" dirty="0"/>
              <a:t>How Do We Measure Skewness? 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C264438-FFA9-64D0-41C4-FA86D7C04B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207" y="1928411"/>
            <a:ext cx="3919353" cy="95644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00A4B0A-B29A-772D-8ACB-344792ADF8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499" y="3366467"/>
            <a:ext cx="3863062" cy="8779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914B293-8F2A-CC56-3129-99F3B68F1F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122" y="4901749"/>
            <a:ext cx="3092920" cy="134514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D4A534F-3FA3-3B90-964E-97183E66644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80475" y="1205341"/>
            <a:ext cx="2403081" cy="144614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8A49B10-9768-6F1F-56D1-1E43CBF289C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25046" y="4795374"/>
            <a:ext cx="2553186" cy="166902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5DA71A3-7797-56F8-F948-F71163DA077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16934" y="2922341"/>
            <a:ext cx="2466622" cy="1602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19898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9FFD06-69FB-70AE-933B-58E57067AB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916" y="178311"/>
            <a:ext cx="4589206" cy="627933"/>
          </a:xfrm>
        </p:spPr>
        <p:txBody>
          <a:bodyPr>
            <a:normAutofit fontScale="90000"/>
          </a:bodyPr>
          <a:lstStyle/>
          <a:p>
            <a:r>
              <a:rPr lang="en-US" dirty="0"/>
              <a:t>Skewness meaning:</a:t>
            </a:r>
            <a:endParaRPr lang="en-IN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49D13669-A066-37B7-FFB1-58BD8C857F5C}"/>
                  </a:ext>
                </a:extLst>
              </p14:cNvPr>
              <p14:cNvContentPartPr/>
              <p14:nvPr/>
            </p14:nvContentPartPr>
            <p14:xfrm>
              <a:off x="2281227" y="904548"/>
              <a:ext cx="360" cy="3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49D13669-A066-37B7-FFB1-58BD8C857F5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275107" y="898428"/>
                <a:ext cx="12600" cy="12600"/>
              </a:xfrm>
              <a:prstGeom prst="rect">
                <a:avLst/>
              </a:prstGeom>
            </p:spPr>
          </p:pic>
        </mc:Fallback>
      </mc:AlternateContent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7B975C3-C307-2827-0C4F-CD1AE7E294AF}"/>
              </a:ext>
            </a:extLst>
          </p:cNvPr>
          <p:cNvCxnSpPr/>
          <p:nvPr/>
        </p:nvCxnSpPr>
        <p:spPr>
          <a:xfrm>
            <a:off x="521110" y="4807974"/>
            <a:ext cx="9989574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22EDF721-7743-BC40-CC68-2F6DB686E8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334" y="3949666"/>
            <a:ext cx="9897856" cy="230537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F0B6BB5-A8BB-65C4-3FEF-393095307C6C}"/>
              </a:ext>
            </a:extLst>
          </p:cNvPr>
          <p:cNvSpPr txBox="1"/>
          <p:nvPr/>
        </p:nvSpPr>
        <p:spPr>
          <a:xfrm>
            <a:off x="385916" y="1195846"/>
            <a:ext cx="11510428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000" b="0" i="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</a:rPr>
              <a:t>While there isn't a single universally agreed-upon scale, here's a general guideline:</a:t>
            </a:r>
          </a:p>
          <a:p>
            <a:pPr marL="0" indent="0">
              <a:buNone/>
            </a:pPr>
            <a:r>
              <a:rPr lang="en-US" sz="2000" b="0" i="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i="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</a:rPr>
              <a:t>-0.5 to 0.5</a:t>
            </a:r>
            <a:r>
              <a:rPr lang="en-US" sz="2000" b="0" i="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</a:rPr>
              <a:t>: The distribution is considered approximately </a:t>
            </a:r>
            <a:r>
              <a:rPr lang="en-US" sz="2000" b="1" i="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</a:rPr>
              <a:t>symmetrical</a:t>
            </a:r>
            <a:r>
              <a:rPr lang="en-US" sz="2000" b="0" i="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</a:rPr>
              <a:t>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i="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</a:rPr>
              <a:t>-1 to -0.5 or 0.5 to 1</a:t>
            </a:r>
            <a:r>
              <a:rPr lang="en-US" sz="2000" b="0" i="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</a:rPr>
              <a:t>: The distribution is </a:t>
            </a:r>
            <a:r>
              <a:rPr lang="en-US" sz="2000" b="1" i="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</a:rPr>
              <a:t>moderately skewed</a:t>
            </a:r>
            <a:r>
              <a:rPr lang="en-US" sz="2000" b="0" i="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</a:rPr>
              <a:t>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i="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</a:rPr>
              <a:t>Values beyond -1 and 1</a:t>
            </a:r>
            <a:r>
              <a:rPr lang="en-US" sz="2000" b="0" i="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</a:rPr>
              <a:t>: The distribution is considered </a:t>
            </a:r>
            <a:r>
              <a:rPr lang="en-US" sz="2000" b="1" i="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</a:rPr>
              <a:t>highly skewed</a:t>
            </a:r>
            <a:r>
              <a:rPr lang="en-US" sz="2000" b="0" i="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</a:rPr>
              <a:t>.</a:t>
            </a:r>
            <a:endParaRPr lang="en-IN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24016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0AE908-47FA-A527-6219-72E15BD9CA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638" y="205735"/>
            <a:ext cx="6121898" cy="591220"/>
          </a:xfrm>
        </p:spPr>
        <p:txBody>
          <a:bodyPr>
            <a:normAutofit fontScale="90000"/>
          </a:bodyPr>
          <a:lstStyle/>
          <a:p>
            <a:r>
              <a:rPr lang="en-US" dirty="0"/>
              <a:t>Why Skewness matters</a:t>
            </a:r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9308454-E021-6D5F-55F9-E7977A382055}"/>
              </a:ext>
            </a:extLst>
          </p:cNvPr>
          <p:cNvSpPr txBox="1"/>
          <p:nvPr/>
        </p:nvSpPr>
        <p:spPr>
          <a:xfrm>
            <a:off x="446809" y="831195"/>
            <a:ext cx="10525991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1. Helps Detect Non-Normality</a:t>
            </a:r>
          </a:p>
          <a:p>
            <a:endParaRPr lang="en-IN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IN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Many algorithms (like Linear Regression, Logistic Regression, PCA) assume the data—or residuals—are normally distributed.</a:t>
            </a:r>
          </a:p>
          <a:p>
            <a:r>
              <a:rPr lang="en-IN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If data is highly skewed, this assumption is violated, leading to </a:t>
            </a:r>
            <a:r>
              <a:rPr lang="en-IN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biased model</a:t>
            </a:r>
            <a:r>
              <a:rPr lang="en-IN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parameters and hence poor predictions</a:t>
            </a:r>
          </a:p>
          <a:p>
            <a:endParaRPr lang="en-IN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IN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2. Impacts Feature Scaling</a:t>
            </a:r>
          </a:p>
          <a:p>
            <a:endParaRPr lang="en-IN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IN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Skewed features can distort mean and standard deviation, which are used in </a:t>
            </a:r>
            <a:r>
              <a:rPr lang="en-IN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StandardScaler</a:t>
            </a:r>
            <a:r>
              <a:rPr lang="en-IN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or Z-score normalization.</a:t>
            </a:r>
          </a:p>
          <a:p>
            <a:r>
              <a:rPr lang="en-IN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Solution: Apply log, square-root, or Box–Cox transformations to reduce skewness.</a:t>
            </a:r>
          </a:p>
          <a:p>
            <a:endParaRPr lang="en-IN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IN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IN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3. Improves Model Performance</a:t>
            </a:r>
          </a:p>
          <a:p>
            <a:endParaRPr lang="en-IN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IN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Models like tree-based ones (Decision Tree, Random Forest, </a:t>
            </a:r>
            <a:r>
              <a:rPr lang="en-IN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XGBoost</a:t>
            </a:r>
            <a:r>
              <a:rPr lang="en-IN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) are less sensitive, but linear or distance-based models (KNN, SVM) can perform better after skewness correction.</a:t>
            </a:r>
          </a:p>
        </p:txBody>
      </p:sp>
    </p:spTree>
    <p:extLst>
      <p:ext uri="{BB962C8B-B14F-4D97-AF65-F5344CB8AC3E}">
        <p14:creationId xmlns:p14="http://schemas.microsoft.com/office/powerpoint/2010/main" val="19200595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5841A9-B7B5-EDB9-68D8-0CBB489401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STOP</a:t>
            </a:r>
          </a:p>
        </p:txBody>
      </p:sp>
    </p:spTree>
    <p:extLst>
      <p:ext uri="{BB962C8B-B14F-4D97-AF65-F5344CB8AC3E}">
        <p14:creationId xmlns:p14="http://schemas.microsoft.com/office/powerpoint/2010/main" val="23085293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8EE8FB-CD06-5D05-2F15-C336D2D0A2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1982FE-957B-4158-6335-137DDEDEA4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638" y="123439"/>
            <a:ext cx="11078362" cy="419259"/>
          </a:xfrm>
        </p:spPr>
        <p:txBody>
          <a:bodyPr>
            <a:noAutofit/>
          </a:bodyPr>
          <a:lstStyle/>
          <a:p>
            <a:r>
              <a:rPr lang="en-US" sz="2000" b="1" dirty="0"/>
              <a:t>Problem Statement: Predicting House Prices — When the Model Gets “Fooled” by Skewness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208FE01-C44C-A34C-400B-54CF5DA1020C}"/>
              </a:ext>
            </a:extLst>
          </p:cNvPr>
          <p:cNvSpPr txBox="1"/>
          <p:nvPr/>
        </p:nvSpPr>
        <p:spPr>
          <a:xfrm>
            <a:off x="118873" y="584307"/>
            <a:ext cx="9308592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You are building a </a:t>
            </a:r>
            <a:r>
              <a:rPr lang="en-US" sz="16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machine learning model</a:t>
            </a:r>
            <a:r>
              <a:rPr lang="en-US" sz="16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to predict </a:t>
            </a:r>
            <a:r>
              <a:rPr lang="en-US" sz="16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house prices</a:t>
            </a:r>
            <a:r>
              <a:rPr lang="en-US" sz="16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in a city.</a:t>
            </a:r>
            <a:br>
              <a:rPr lang="en-US" sz="1600" dirty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r>
              <a:rPr lang="en-US" sz="16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Your dataset has 10,000 houses with various features — area, number of rooms, location, etc.</a:t>
            </a:r>
            <a:br>
              <a:rPr lang="en-US" sz="1600" dirty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r>
              <a:rPr lang="en-US" sz="16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</a:t>
            </a:r>
            <a:r>
              <a:rPr lang="en-US" sz="16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target variable</a:t>
            </a:r>
            <a:r>
              <a:rPr lang="en-US" sz="16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is the </a:t>
            </a:r>
            <a:r>
              <a:rPr lang="en-US" sz="1600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price of the house</a:t>
            </a:r>
            <a:r>
              <a:rPr lang="en-US" sz="16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</a:p>
          <a:p>
            <a:r>
              <a:rPr lang="en-US" sz="16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Before modeling, you plot the prices and notice something interesting:</a:t>
            </a:r>
          </a:p>
          <a:p>
            <a:r>
              <a:rPr lang="en-US" sz="16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Most houses are between ₹30–₹80 lakhs</a:t>
            </a:r>
          </a:p>
          <a:p>
            <a:r>
              <a:rPr lang="en-US" sz="16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 few luxury villas cost ₹5–₹10 crores</a:t>
            </a:r>
          </a:p>
          <a:p>
            <a:r>
              <a:rPr lang="en-US" sz="16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</a:t>
            </a:r>
            <a:r>
              <a:rPr lang="en-US" sz="16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average price</a:t>
            </a:r>
            <a:r>
              <a:rPr lang="en-US" sz="16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is ₹1.2 crore — but that’s </a:t>
            </a:r>
            <a:r>
              <a:rPr lang="en-US" sz="1600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not</a:t>
            </a:r>
            <a:r>
              <a:rPr lang="en-US" sz="16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what most houses cost.</a:t>
            </a:r>
          </a:p>
          <a:p>
            <a:endParaRPr lang="en-US" sz="16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16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Problem</a:t>
            </a:r>
          </a:p>
          <a:p>
            <a:r>
              <a:rPr lang="en-US" sz="16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You train a </a:t>
            </a:r>
            <a:r>
              <a:rPr lang="en-US" sz="16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Linear Regression model</a:t>
            </a:r>
            <a:r>
              <a:rPr lang="en-US" sz="16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directly on the raw price data. The result you obtain  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Training error: ✅ Low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Validation error: ❌ Very high</a:t>
            </a:r>
          </a:p>
          <a:p>
            <a:r>
              <a:rPr lang="en-US" sz="16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model severely </a:t>
            </a:r>
            <a:r>
              <a:rPr lang="en-US" sz="16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overestimates</a:t>
            </a:r>
            <a:r>
              <a:rPr lang="en-US" sz="16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the prices of mid-range homes and </a:t>
            </a:r>
            <a:r>
              <a:rPr lang="en-US" sz="16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underestimates</a:t>
            </a:r>
            <a:r>
              <a:rPr lang="en-US" sz="16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luxury homes.</a:t>
            </a:r>
          </a:p>
          <a:p>
            <a:r>
              <a:rPr lang="en-US" sz="16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You check the residuals (errors) and see they are </a:t>
            </a:r>
            <a:r>
              <a:rPr lang="en-US" sz="16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not symmetric</a:t>
            </a:r>
            <a:r>
              <a:rPr lang="en-US" sz="16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— they have a </a:t>
            </a:r>
            <a:r>
              <a:rPr lang="en-US" sz="16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long right tail</a:t>
            </a:r>
            <a:r>
              <a:rPr lang="en-US" sz="16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  <a:br>
              <a:rPr lang="en-US" sz="1600" dirty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r>
              <a:rPr lang="en-US" sz="16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 other words, </a:t>
            </a:r>
            <a:r>
              <a:rPr lang="en-US" sz="16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target variable is positively skewed.</a:t>
            </a:r>
          </a:p>
          <a:p>
            <a:endParaRPr lang="en-US" sz="16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16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Solution Using Skewness</a:t>
            </a:r>
          </a:p>
          <a:p>
            <a:r>
              <a:rPr lang="en-US" sz="16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To fix this, you apply a </a:t>
            </a:r>
            <a:r>
              <a:rPr lang="en-US" sz="16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log transformation</a:t>
            </a:r>
            <a:r>
              <a:rPr lang="en-US" sz="16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to the target variable: y′=log(y)</a:t>
            </a:r>
          </a:p>
          <a:p>
            <a:r>
              <a:rPr lang="en-US" sz="16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Then you retrain the model and the result is: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Residuals become more </a:t>
            </a:r>
            <a:r>
              <a:rPr lang="en-US" sz="16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symmetric (skewness ≈ 0)</a:t>
            </a:r>
            <a:endParaRPr lang="en-US" sz="16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Model predictions improve dramatically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Validation RMSE drops by 30–40%</a:t>
            </a:r>
          </a:p>
          <a:p>
            <a:r>
              <a:rPr lang="en-US" sz="16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After prediction, you simply reverse the transformation using: </a:t>
            </a:r>
          </a:p>
          <a:p>
            <a:endParaRPr lang="en-US" sz="16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E7AE60F-4CC3-5689-FD15-230D72486E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8373" y="6159388"/>
            <a:ext cx="955254" cy="46086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9BF0FEB-F44D-BCAB-FB1C-71A53DAC38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25128" y="2761488"/>
            <a:ext cx="2983991" cy="1862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19226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12760F-6084-1A62-5579-2B5E1A171D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92320-62E0-A4D5-2E2D-A71EE10BC3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7927" y="197981"/>
            <a:ext cx="7332407" cy="549275"/>
          </a:xfrm>
        </p:spPr>
        <p:txBody>
          <a:bodyPr>
            <a:noAutofit/>
          </a:bodyPr>
          <a:lstStyle/>
          <a:p>
            <a:r>
              <a:rPr lang="en-US" sz="2800" b="1" dirty="0"/>
              <a:t>Example of 0 skewed data (see </a:t>
            </a:r>
            <a:r>
              <a:rPr lang="en-US" sz="2800" b="1" dirty="0" err="1"/>
              <a:t>jupyter</a:t>
            </a:r>
            <a:r>
              <a:rPr lang="en-US" sz="2800" b="1" dirty="0"/>
              <a:t> n/b):</a:t>
            </a:r>
            <a:endParaRPr lang="en-IN" sz="28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ED13B8F-0D65-CE71-52F4-C4F3481A6E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9012" y="654045"/>
            <a:ext cx="6902246" cy="607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58504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D4C184-88B7-FF9E-89C5-E84BCCE016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7927" y="197981"/>
            <a:ext cx="10125753" cy="549275"/>
          </a:xfrm>
        </p:spPr>
        <p:txBody>
          <a:bodyPr>
            <a:noAutofit/>
          </a:bodyPr>
          <a:lstStyle/>
          <a:p>
            <a:r>
              <a:rPr lang="en-US" sz="2800" b="1" dirty="0"/>
              <a:t>Example of right skewed data (see </a:t>
            </a:r>
            <a:r>
              <a:rPr lang="en-US" sz="2800" b="1" dirty="0" err="1"/>
              <a:t>jupyter</a:t>
            </a:r>
            <a:r>
              <a:rPr lang="en-US" sz="2800" b="1" dirty="0"/>
              <a:t> n/b):</a:t>
            </a:r>
            <a:endParaRPr lang="en-IN" sz="2800" b="1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0F00A5A-60D8-D6AA-0FDE-B2E7B87FA5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6140" y="875071"/>
            <a:ext cx="6373031" cy="5784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88241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36E818-290F-56B0-8DEC-E9DBE863F6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8D1011-87D6-F90A-88F3-D11C9B8A3E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7927" y="197981"/>
            <a:ext cx="7332407" cy="549275"/>
          </a:xfrm>
        </p:spPr>
        <p:txBody>
          <a:bodyPr>
            <a:noAutofit/>
          </a:bodyPr>
          <a:lstStyle/>
          <a:p>
            <a:r>
              <a:rPr lang="en-US" sz="2800" b="1" dirty="0"/>
              <a:t>Example of left skewed data (see </a:t>
            </a:r>
            <a:r>
              <a:rPr lang="en-US" sz="2800" b="1" dirty="0" err="1"/>
              <a:t>jupyter</a:t>
            </a:r>
            <a:r>
              <a:rPr lang="en-US" sz="2800" b="1" dirty="0"/>
              <a:t> n/b):</a:t>
            </a:r>
            <a:endParaRPr lang="en-IN" sz="28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8C38189-A7BB-CF9F-757C-D4BAC9711C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7008" y="846837"/>
            <a:ext cx="7109224" cy="5934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92088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879170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988</TotalTime>
  <Words>856</Words>
  <Application>Microsoft Office PowerPoint</Application>
  <PresentationFormat>Widescreen</PresentationFormat>
  <Paragraphs>100</Paragraphs>
  <Slides>13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Calibri (Body)</vt:lpstr>
      <vt:lpstr>Calibri Light</vt:lpstr>
      <vt:lpstr>Office Theme</vt:lpstr>
      <vt:lpstr>Skewness</vt:lpstr>
      <vt:lpstr>Skewness: Definition</vt:lpstr>
      <vt:lpstr>Skewness: Definition</vt:lpstr>
      <vt:lpstr>Skewness: Examples</vt:lpstr>
      <vt:lpstr>How Do We Measure Skewness? </vt:lpstr>
      <vt:lpstr>Skewness meaning:</vt:lpstr>
      <vt:lpstr>Why Skewness matters</vt:lpstr>
      <vt:lpstr>STOP</vt:lpstr>
      <vt:lpstr>Problem Statement: Predicting House Prices — When the Model Gets “Fooled” by Skewness</vt:lpstr>
      <vt:lpstr>Example of 0 skewed data (see jupyter n/b):</vt:lpstr>
      <vt:lpstr>Example of right skewed data (see jupyter n/b):</vt:lpstr>
      <vt:lpstr>Example of left skewed data (see jupyter n/b):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112</cp:revision>
  <dcterms:created xsi:type="dcterms:W3CDTF">2025-09-22T02:44:38Z</dcterms:created>
  <dcterms:modified xsi:type="dcterms:W3CDTF">2026-04-29T10:01:33Z</dcterms:modified>
</cp:coreProperties>
</file>