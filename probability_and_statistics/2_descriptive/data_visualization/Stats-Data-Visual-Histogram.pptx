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60" r:id="rId2"/>
    <p:sldId id="267" r:id="rId3"/>
    <p:sldId id="264" r:id="rId4"/>
    <p:sldId id="262" r:id="rId5"/>
    <p:sldId id="266" r:id="rId6"/>
    <p:sldId id="263" r:id="rId7"/>
    <p:sldId id="265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D14C-2868-D878-D539-1787A528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2F03-977C-15F1-4827-8092F9BD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Histogram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1621-5B10-6CEF-4F55-EBD4F7B1F522}"/>
              </a:ext>
            </a:extLst>
          </p:cNvPr>
          <p:cNvSpPr txBox="1"/>
          <p:nvPr/>
        </p:nvSpPr>
        <p:spPr>
          <a:xfrm>
            <a:off x="274320" y="926640"/>
            <a:ext cx="1133856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= 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75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 turns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numbers into a shape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helps us “see” the data. It is tool to perform univariate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histogram groups data into bins.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height of each bar shows frequency or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histogram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check frequency or count of data between some range ( say from 60 – 65)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identify if data distribution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**normal, skewed, uniform, bimodal,**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etc. In other words, histogram shows how data values are spread across different intervals (bins).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compare multiple groups (e.g. scores of students from 2 schools)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compare variance of 2 data (e.g. to find which of 2 stocks is more volatile (riskier))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detect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 or anomalies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(for e.g. to detect fraud in banks)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616226-E326-F1EE-726D-1005E21FE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13" y="93901"/>
            <a:ext cx="1757583" cy="80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1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319A-E5E6-EC5C-AD28-8A5A79DB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27C0-0B20-C1C7-C8B9-207D3C7D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Histogram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184809-B373-D69B-4534-E8FA073318C2}"/>
              </a:ext>
            </a:extLst>
          </p:cNvPr>
          <p:cNvSpPr txBox="1"/>
          <p:nvPr/>
        </p:nvSpPr>
        <p:spPr>
          <a:xfrm>
            <a:off x="274320" y="926640"/>
            <a:ext cx="1133856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=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accent2"/>
                </a:solidFill>
              </a:rPr>
              <a:t>55, 55, 55, 56, 56,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57, 57, 57, 57, 58, 58, 59, 59, 59, 59, 59,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60, 60, 60, 61, 61, 61, 61, 61, 61,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62, 62, 62, 62, 62, 62, 62, 62, 62, 62,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63, 63, 63, 63, 63, 63, 63, 63, 63, 63, 63, 63, 64, 64, 64, 64, 64, 64, 65, 65, 65, 65, 65, 65, 65, 65,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66, 66, 66, 66, 66, 66, 66, 66, 66, 66, 66, 66, 66, 67, 67, 67, 68, 68, 68, 68,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69, 69, 69, 69, 69, 69, 69, 70, 70, 70, 71,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72, 72, 72, 72, 72, 72, </a:t>
            </a:r>
            <a:r>
              <a:rPr lang="en-US" sz="2400" b="1" u="sng" dirty="0">
                <a:solidFill>
                  <a:schemeClr val="accent2"/>
                </a:solidFill>
              </a:rPr>
              <a:t>75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latinLnBrk="1">
              <a:buNone/>
            </a:pPr>
            <a:r>
              <a:rPr lang="de-DE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Step1) First decide how </a:t>
            </a:r>
            <a:r>
              <a:rPr lang="de-DE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many bins. </a:t>
            </a:r>
            <a:endParaRPr lang="de-DE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latinLnBrk="1">
              <a:buNone/>
            </a:pPr>
            <a:r>
              <a:rPr lang="de-DE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8 bins. So, bin width </a:t>
            </a:r>
          </a:p>
          <a:p>
            <a:pPr marL="0" indent="0" latinLnBrk="1">
              <a:buNone/>
            </a:pPr>
            <a:r>
              <a:rPr lang="de-DE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(max-min) / bins </a:t>
            </a:r>
          </a:p>
          <a:p>
            <a:pPr marL="0" indent="0" latinLnBrk="1">
              <a:buNone/>
            </a:pPr>
            <a:r>
              <a:rPr lang="de-DE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(75 - 51) / 8 = </a:t>
            </a:r>
            <a:r>
              <a:rPr lang="de-DE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  <a:p>
            <a:pPr marL="0" indent="0" latinLnBrk="1">
              <a:buNone/>
            </a:pPr>
            <a:endParaRPr lang="de-DE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atinLnBrk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Step2) Calculate bin edges: </a:t>
            </a:r>
          </a:p>
          <a:p>
            <a:pPr latinLnBrk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2000" dirty="0">
                <a:solidFill>
                  <a:srgbClr val="FFFF00"/>
                </a:solidFill>
              </a:rPr>
              <a:t>51, 54, 57, 60, 63, 66, 69, 72, 75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bins are [51,54), [54,57), [57,60),…</a:t>
            </a:r>
          </a:p>
          <a:p>
            <a:pPr marL="0" indent="0" latinLnBrk="1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atinLnBrk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Step3) From the data, find bin counts: </a:t>
            </a:r>
          </a:p>
          <a:p>
            <a:pPr latinLnBrk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bins=       [51,54), [54,57), [57,60), …</a:t>
            </a:r>
          </a:p>
          <a:p>
            <a:pPr latinLnBrk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counts= [   </a:t>
            </a:r>
            <a:r>
              <a:rPr lang="en-US" sz="2000" dirty="0">
                <a:solidFill>
                  <a:srgbClr val="FFFF00"/>
                </a:solidFill>
              </a:rPr>
              <a:t>1,             5,           11,      19, 26, 20, 11, 7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57BC48-8B64-CE2A-D0CE-507963B8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505457"/>
            <a:ext cx="7007352" cy="38590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1AB95-7CE7-A365-B122-93F30FED2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13" y="93901"/>
            <a:ext cx="1757583" cy="80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6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C489-F031-7647-2E26-6BBE80BA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878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Uses of histogram</a:t>
            </a:r>
          </a:p>
        </p:txBody>
      </p:sp>
    </p:spTree>
    <p:extLst>
      <p:ext uri="{BB962C8B-B14F-4D97-AF65-F5344CB8AC3E}">
        <p14:creationId xmlns:p14="http://schemas.microsoft.com/office/powerpoint/2010/main" val="91056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7F74-189D-44FB-6FC2-F8750125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DED5-45DE-20B1-26A7-5EFAA5FC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0805"/>
            <a:ext cx="11323320" cy="80530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Histogram helps in identifying type of distribution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D900C-8145-628B-14F7-74D5ADA8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168" y="761548"/>
            <a:ext cx="4142964" cy="302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65F03B-9A5F-8BCF-DC0D-C7192EBC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328" y="3703578"/>
            <a:ext cx="4306825" cy="3099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70E55-C065-EA76-2FCC-AC26DE0E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099" y="3890644"/>
            <a:ext cx="4051038" cy="2876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93EB41-28C6-B64E-2C5F-3AA3D1B0F4B2}"/>
              </a:ext>
            </a:extLst>
          </p:cNvPr>
          <p:cNvSpPr txBox="1"/>
          <p:nvPr/>
        </p:nvSpPr>
        <p:spPr>
          <a:xfrm>
            <a:off x="438912" y="190195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1AF48-3131-69AB-340F-77A50851787E}"/>
              </a:ext>
            </a:extLst>
          </p:cNvPr>
          <p:cNvSpPr txBox="1"/>
          <p:nvPr/>
        </p:nvSpPr>
        <p:spPr>
          <a:xfrm>
            <a:off x="381000" y="4879848"/>
            <a:ext cx="95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Uniform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C08D5-C62B-7F7E-62C3-A2744440C32A}"/>
              </a:ext>
            </a:extLst>
          </p:cNvPr>
          <p:cNvSpPr txBox="1"/>
          <p:nvPr/>
        </p:nvSpPr>
        <p:spPr>
          <a:xfrm>
            <a:off x="10704576" y="2054352"/>
            <a:ext cx="1455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Right-Skewed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CF13A-553E-0B2C-517B-A9D974B5542D}"/>
              </a:ext>
            </a:extLst>
          </p:cNvPr>
          <p:cNvSpPr txBox="1"/>
          <p:nvPr/>
        </p:nvSpPr>
        <p:spPr>
          <a:xfrm>
            <a:off x="10668000" y="515416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Bimodal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EC0C8E-10AF-78D8-1157-B373DB093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049" y="841248"/>
            <a:ext cx="3980198" cy="27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4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5D15B-B0C0-12A9-EE5F-2ED854E8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AB48-960E-4A1A-0895-F7275EFB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0805"/>
            <a:ext cx="11323320" cy="80530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Histogram helps to compare multiple groups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ED698-0F13-C99C-2444-E56320C4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52" y="1572768"/>
            <a:ext cx="6968257" cy="4448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8F4246-1213-7391-9CB0-069E6C226C99}"/>
              </a:ext>
            </a:extLst>
          </p:cNvPr>
          <p:cNvSpPr txBox="1"/>
          <p:nvPr/>
        </p:nvSpPr>
        <p:spPr>
          <a:xfrm>
            <a:off x="182880" y="1831896"/>
            <a:ext cx="45537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on right is the histogram plot of exam score for class A and class B.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 A (blue curve) is centered around 75 and tightly grouped → high-performing, consistent students.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 B (orange curve) is centered around 65 and more spread → lower mean, higher variation.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KDE curves make the comparison smooth and intuitive.</a:t>
            </a:r>
          </a:p>
        </p:txBody>
      </p:sp>
    </p:spTree>
    <p:extLst>
      <p:ext uri="{BB962C8B-B14F-4D97-AF65-F5344CB8AC3E}">
        <p14:creationId xmlns:p14="http://schemas.microsoft.com/office/powerpoint/2010/main" val="1426791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2971-79DF-D39D-606E-067B21A3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791C-C450-2456-5DFD-1F5F347E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90805"/>
            <a:ext cx="11494008" cy="8053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Histogram allows you to compare variance of 2 data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FFEF9-001D-7C93-68CA-20D2DFB4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61" y="814819"/>
            <a:ext cx="8869013" cy="473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DB48E-18EC-4827-BD27-B82E02F55D7A}"/>
              </a:ext>
            </a:extLst>
          </p:cNvPr>
          <p:cNvSpPr txBox="1"/>
          <p:nvPr/>
        </p:nvSpPr>
        <p:spPr>
          <a:xfrm>
            <a:off x="3191256" y="5641848"/>
            <a:ext cx="74504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narrow, tall histogram → low variance (data tightly clustered around mean) 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wide, flat histogram → high variance (data widely spread around mean)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red curve has more variance</a:t>
            </a:r>
          </a:p>
        </p:txBody>
      </p:sp>
    </p:spTree>
    <p:extLst>
      <p:ext uri="{BB962C8B-B14F-4D97-AF65-F5344CB8AC3E}">
        <p14:creationId xmlns:p14="http://schemas.microsoft.com/office/powerpoint/2010/main" val="165493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CE95-96D2-E339-A744-8B550C1E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3CFA-8B69-8AFC-49EC-5BC85E5D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90805"/>
            <a:ext cx="11494008" cy="80530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Histogram help to detect Outliers or Anomalies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35799-80C2-EDBC-012F-24A24D52D72D}"/>
              </a:ext>
            </a:extLst>
          </p:cNvPr>
          <p:cNvSpPr txBox="1"/>
          <p:nvPr/>
        </p:nvSpPr>
        <p:spPr>
          <a:xfrm>
            <a:off x="274320" y="926640"/>
            <a:ext cx="688543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75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modify last 2 elements with outliers and plot the histogram.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with outliers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</a:t>
            </a: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110, 100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2B8BD-4DEE-4E98-FD93-A216A47B2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689" y="1051560"/>
            <a:ext cx="4375327" cy="26980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780DE2-8195-4D78-78AC-5D5D427D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977640"/>
            <a:ext cx="4508184" cy="27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4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Hfdslfds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fksdljfsD</a:t>
            </a:r>
            <a:r>
              <a:rPr lang="en-US" b="1" dirty="0"/>
              <a:t>|]</a:t>
            </a:r>
          </a:p>
          <a:p>
            <a:pPr marL="0" indent="0">
              <a:buNone/>
            </a:pPr>
            <a:r>
              <a:rPr lang="en-US" b="1" dirty="0" err="1"/>
              <a:t>fkdslfa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571</TotalTime>
  <Words>1225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Histogram</vt:lpstr>
      <vt:lpstr>Histogram</vt:lpstr>
      <vt:lpstr>Uses of histogram</vt:lpstr>
      <vt:lpstr>Histogram helps in identifying type of distribution</vt:lpstr>
      <vt:lpstr>Histogram helps to compare multiple groups</vt:lpstr>
      <vt:lpstr>Histogram allows you to compare variance of 2 data</vt:lpstr>
      <vt:lpstr>Histogram help to detect Outliers or Anomalies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55</cp:revision>
  <dcterms:created xsi:type="dcterms:W3CDTF">2025-09-22T02:44:38Z</dcterms:created>
  <dcterms:modified xsi:type="dcterms:W3CDTF">2025-10-07T04:48:57Z</dcterms:modified>
</cp:coreProperties>
</file>