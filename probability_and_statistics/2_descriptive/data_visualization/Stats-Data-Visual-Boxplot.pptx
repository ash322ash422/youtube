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0" r:id="rId2"/>
    <p:sldId id="261" r:id="rId3"/>
    <p:sldId id="268" r:id="rId4"/>
    <p:sldId id="273" r:id="rId5"/>
    <p:sldId id="267" r:id="rId6"/>
    <p:sldId id="270" r:id="rId7"/>
    <p:sldId id="271" r:id="rId8"/>
    <p:sldId id="272" r:id="rId9"/>
    <p:sldId id="274" r:id="rId10"/>
    <p:sldId id="269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C1039-6220-48E5-8C1F-6988F818C39E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07709-C81F-4F9F-A821-0F084F60AB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3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07709-C81F-4F9F-A821-0F084F60AB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62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07709-C81F-4F9F-A821-0F084F60AB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4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CD14C-2868-D878-D539-1787A528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22F03-977C-15F1-4827-8092F9BD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3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Box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1621-5B10-6CEF-4F55-EBD4F7B1F522}"/>
              </a:ext>
            </a:extLst>
          </p:cNvPr>
          <p:cNvSpPr txBox="1"/>
          <p:nvPr/>
        </p:nvSpPr>
        <p:spPr>
          <a:xfrm>
            <a:off x="274320" y="926640"/>
            <a:ext cx="113385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are given following numerical data: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[5, -2, 20, 13, 4, -20, 15, 8, 10, 12, 6, 40, 45, 1]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single graph can show the data’s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spread, center, outliers, and symmetry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—all at once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 plot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Scatter plot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Histogram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11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5CF2-9BED-E5F8-6DE3-E89B6477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9563-79F0-CFF9-C9B2-060CBA4B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714"/>
            <a:ext cx="10515600" cy="5135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Box Plot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0295B-4802-A810-B48F-C9B83DC3E4AD}"/>
              </a:ext>
            </a:extLst>
          </p:cNvPr>
          <p:cNvSpPr txBox="1"/>
          <p:nvPr/>
        </p:nvSpPr>
        <p:spPr>
          <a:xfrm>
            <a:off x="140970" y="621840"/>
            <a:ext cx="747708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boxplot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(a.k.a.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box-and-whisker plot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graphical representation of data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five key summary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statistics: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Minimum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whisker– smallest non-outlier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Q1 (First Quartile)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25% of data lies below this (25</a:t>
            </a:r>
            <a:r>
              <a:rPr lang="en-US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percentile)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Q2 (Median)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middle value (50th percentile)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Q3 (Third Quartile)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75% of data lies below this (75</a:t>
            </a:r>
            <a:r>
              <a:rPr lang="en-US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percentile)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whisker– largest non-outlier value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box plot show following: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shows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Interquartile Range (IQR)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IQR = Q3 - Q1 (the middle 50% of data).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 inside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median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center of your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whiskers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extend to min and max values (excluding outliers).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Dots or stars outside whiskers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indicate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44E57F-38A4-566A-745B-73C361BB2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576643"/>
            <a:ext cx="5867400" cy="273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2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572F-96D4-D510-F0A8-7DEE6FC5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7C88-AF1B-6B11-2182-B418999F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Box Plot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407DC-B5B3-0A6A-6BB6-D8077C26D0F4}"/>
              </a:ext>
            </a:extLst>
          </p:cNvPr>
          <p:cNvSpPr txBox="1"/>
          <p:nvPr/>
        </p:nvSpPr>
        <p:spPr>
          <a:xfrm>
            <a:off x="274320" y="812340"/>
            <a:ext cx="83743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Let’s say we have temperature readings: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[5, -2, 20, 13, 4, -20, 15, 8, 10, 12, 6, 40, 45, 1]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see the 5 key summaries: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Minimum, Q1, Q2, Q3, Maximum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sort the data first: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-20, -2, 1, 4, 5, 6, 8, 10, 12, 13, 15, 20, 40, 45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numerical computation we see that, 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Minimum  whisker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-2</a:t>
            </a:r>
          </a:p>
          <a:p>
            <a:pPr latinLnBrk="1"/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Q1</a:t>
            </a:r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4.25</a:t>
            </a:r>
          </a:p>
          <a:p>
            <a:pPr latinLnBrk="1"/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Q2</a:t>
            </a:r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(Median) 9.00</a:t>
            </a:r>
          </a:p>
          <a:p>
            <a:pPr latinLnBrk="1"/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Q3</a:t>
            </a:r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14.50</a:t>
            </a:r>
          </a:p>
          <a:p>
            <a:pPr latinLnBrk="1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whisker: +</a:t>
            </a:r>
            <a:r>
              <a:rPr lang="es-E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</a:t>
            </a:r>
          </a:p>
          <a:p>
            <a:pPr latinLnBrk="1"/>
            <a:endParaRPr lang="es-E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atinLnBrk="1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[-20,  40,  45]</a:t>
            </a:r>
          </a:p>
          <a:p>
            <a:pPr latinLnBrk="1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IQR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Q3 – Q1 </a:t>
            </a:r>
          </a:p>
          <a:p>
            <a:pPr latinLnBrk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= 14.5 – 4.25 </a:t>
            </a:r>
          </a:p>
          <a:p>
            <a:pPr latinLnBrk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= 10.25 (the middle 50% of the data lies within a range of 10.25 units)</a:t>
            </a:r>
            <a:endParaRPr lang="es-E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2C458B-9056-EE09-C3D7-17D2C04E0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01" y="2590800"/>
            <a:ext cx="6726224" cy="31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512EA-C995-3262-A458-0900472E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291D-F5C0-1EE5-836A-6DEEC4E8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Box Plot: Robust To Noise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34D96-67EC-D2BB-F627-52CC3B637FAE}"/>
              </a:ext>
            </a:extLst>
          </p:cNvPr>
          <p:cNvSpPr txBox="1"/>
          <p:nvPr/>
        </p:nvSpPr>
        <p:spPr>
          <a:xfrm>
            <a:off x="-1" y="843677"/>
            <a:ext cx="118586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Let’s say we receive some noise to temperature readings:</a:t>
            </a:r>
          </a:p>
          <a:p>
            <a:pPr latinLnBrk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[ 10.99, 9.72, 11.3, 13.05, 9.53, 9.53, 13.16, 11.53, 9.06, 11.09, 9.07, 9.07, 10.48, 6.17, 6.55, 8.88, 7.97, 10.63, 8.18, 7.18, 12.93, 9.55, 10.14, 7.15, 8.91, 10.22, 7.7, 10.75, 8.8, 9.42, 8.8, 13.7, 9.97, 7.88, 11.65, 7.56, 10.42, 6.08, 7.34, 10.39, 11.48, 10.34, 9.77, 9.4, 7.04, 8.56, 9.08, 12.11, 10.69, 6.47, </a:t>
            </a:r>
            <a:r>
              <a:rPr lang="en-US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30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35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40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noise is shown in  red underline. Let’s plot boxplot for both data without and with noise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see that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median (center line) barely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box (IQR) stays almost the 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 are shown separately as points: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showing that the boxplot is robust to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extreme values.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A4C3C-9D2E-2889-2095-EE178F490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989" y="2333625"/>
            <a:ext cx="7387517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4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9488-9FD3-FD10-A751-F5F7C2D1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F262-D80C-3A51-2E7A-70415F5C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089"/>
            <a:ext cx="10515600" cy="5135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Box Plot: Comparing Groups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D7CEC-1740-D308-7137-C3EDA142B2E9}"/>
              </a:ext>
            </a:extLst>
          </p:cNvPr>
          <p:cNvSpPr txBox="1"/>
          <p:nvPr/>
        </p:nvSpPr>
        <p:spPr>
          <a:xfrm>
            <a:off x="102869" y="488490"/>
            <a:ext cx="680433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 plots are used to compare distribution of data among groups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Setosa</a:t>
            </a:r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Has the smallest sepal lengths 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median is around 5.0 cm.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spread (IQR) is tight → values are consistent.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outliers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Versicolor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Intermediate sepal length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(median around 5.9–6.0 cm).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wider IQR → moderate variation.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outliers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Virginica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Has the largest sepal lengths, median around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6.5–6.6 cm.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Slightly more spread, indicating more variation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within the species.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Whiskers extend higher → presence of some longer sepals.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Has an outlier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85FDA-410D-7819-814E-B7763BE21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1480649"/>
            <a:ext cx="6804333" cy="416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6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38078-5DE9-9CF9-ACCB-A6A2AFF1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4664-FF4E-47A8-BB15-76B0E58A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dirty="0"/>
              <a:t>Box Plots shows Skewness of the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11E9D-0FEC-026D-8142-543F3FB14341}"/>
              </a:ext>
            </a:extLst>
          </p:cNvPr>
          <p:cNvSpPr txBox="1"/>
          <p:nvPr/>
        </p:nvSpPr>
        <p:spPr>
          <a:xfrm>
            <a:off x="102869" y="688515"/>
            <a:ext cx="112509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AutoNum type="alphaLcParenR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 Distributed : </a:t>
            </a:r>
          </a:p>
          <a:p>
            <a:pPr fontAlgn="base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Here Median is at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center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 Box and the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whiskers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almost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on both the 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B0500-418B-A4D0-D729-D1D793E7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4" y="1450584"/>
            <a:ext cx="6877051" cy="540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4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D5DA-D33D-F056-8250-F6356A5E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E324-1B5A-E5C0-41DF-C7BCB1E5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dirty="0"/>
              <a:t>Box Plots shows Skewness of the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B01A9-43F5-7C22-BFEE-22592DF71E46}"/>
              </a:ext>
            </a:extLst>
          </p:cNvPr>
          <p:cNvSpPr txBox="1"/>
          <p:nvPr/>
        </p:nvSpPr>
        <p:spPr>
          <a:xfrm>
            <a:off x="102869" y="802815"/>
            <a:ext cx="114033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 Positive Skew (Right Skew):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Median(Q2) lies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closer to the First Quartile(Q1)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whisker at the lower end is shorter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80EFC-A06A-8C94-D74A-A4028758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1501176"/>
            <a:ext cx="6706843" cy="516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20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3373-21FA-B7AA-50B1-DFDF0B10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E14F-8BEB-5664-BA1A-EEE4D8CF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dirty="0"/>
              <a:t>Box Plots shows Skewness of the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22626-BF22-B910-9D44-DBA6066529C8}"/>
              </a:ext>
            </a:extLst>
          </p:cNvPr>
          <p:cNvSpPr txBox="1"/>
          <p:nvPr/>
        </p:nvSpPr>
        <p:spPr>
          <a:xfrm>
            <a:off x="102869" y="802815"/>
            <a:ext cx="110223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  Negative Skew (Left Skew):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fontAlgn="base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Median(Q2) lies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closer to the Third Quartile(Q3)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whisker at the upper end is shorter.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42097-B5F7-70B1-1F5E-BFCA9A6E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31" y="1510701"/>
            <a:ext cx="6716969" cy="522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6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AD84A-908C-AACD-84C3-726233B9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CF37-F4C8-6DEB-E859-9562BBD2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dirty="0"/>
              <a:t>Box Plots: Great with Large Datasets for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64710-9F56-7E68-3500-DE75E01D0224}"/>
              </a:ext>
            </a:extLst>
          </p:cNvPr>
          <p:cNvSpPr txBox="1"/>
          <p:nvPr/>
        </p:nvSpPr>
        <p:spPr>
          <a:xfrm>
            <a:off x="102869" y="802815"/>
            <a:ext cx="110223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Histogram needs many bins to make sense and can look cluttered with 50k points.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Boxplot summarizes the entire dataset in a clean, compact view with median, IQR, and outliers.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Boxplot still looks clean while the histogram may need many bins and can look messy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02BE1B-0A6E-DD60-00A4-F08B94E44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2038350"/>
            <a:ext cx="928878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609B-6679-ADEF-CC8D-8DD3112C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39F1-0D96-ACCE-7E00-0AEAFE4B0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814"/>
            <a:ext cx="10515600" cy="5135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What Makes Boxplots Special 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2FD361-EA1D-D622-E5A6-67A294DB2159}"/>
              </a:ext>
            </a:extLst>
          </p:cNvPr>
          <p:cNvSpPr txBox="1"/>
          <p:nvPr/>
        </p:nvSpPr>
        <p:spPr>
          <a:xfrm>
            <a:off x="274320" y="926640"/>
            <a:ext cx="11338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 Detection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Instantly flags unusual data points that could indicate errors or interesting phenomena.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Robust to Noise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Uses medians and quartiles, so it’s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affected by extreme values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than mean-based charts.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Group Comparison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Easily compare distributions between multiple categories side by side.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Skewness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Helps to identify skewness in data, if any.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Great with Large Datasets for Summary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While histograms need many bins, boxplots scale beautifully even with huge datasets. It summarizes thousands of data points in one small plot.</a:t>
            </a:r>
          </a:p>
        </p:txBody>
      </p:sp>
    </p:spTree>
    <p:extLst>
      <p:ext uri="{BB962C8B-B14F-4D97-AF65-F5344CB8AC3E}">
        <p14:creationId xmlns:p14="http://schemas.microsoft.com/office/powerpoint/2010/main" val="33626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C2CB5-93CA-25CE-BB3C-D57A27E9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AB89-F209-AB60-AE52-F553711E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2DBB-6E79-59DE-F941-848207F9F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Hfdslfds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fksdljfsD</a:t>
            </a:r>
            <a:r>
              <a:rPr lang="en-US" b="1" dirty="0"/>
              <a:t>|]</a:t>
            </a:r>
          </a:p>
          <a:p>
            <a:pPr marL="0" indent="0">
              <a:buNone/>
            </a:pPr>
            <a:r>
              <a:rPr lang="en-US" b="1" dirty="0" err="1"/>
              <a:t>fkdslfa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0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1263</TotalTime>
  <Words>940</Words>
  <Application>Microsoft Office PowerPoint</Application>
  <PresentationFormat>Widescreen</PresentationFormat>
  <Paragraphs>115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Box Plot</vt:lpstr>
      <vt:lpstr>Box Plot</vt:lpstr>
      <vt:lpstr>Box Plot</vt:lpstr>
      <vt:lpstr>Box Plot: Robust To Noise</vt:lpstr>
      <vt:lpstr>Box Plot: Comparing Groups</vt:lpstr>
      <vt:lpstr>Box Plots shows Skewness of the data</vt:lpstr>
      <vt:lpstr>Box Plots shows Skewness of the data</vt:lpstr>
      <vt:lpstr>Box Plots shows Skewness of the data</vt:lpstr>
      <vt:lpstr>Box Plots: Great with Large Datasets for Summary</vt:lpstr>
      <vt:lpstr>What Makes Boxplots Special ?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166</cp:revision>
  <dcterms:created xsi:type="dcterms:W3CDTF">2025-09-22T02:44:38Z</dcterms:created>
  <dcterms:modified xsi:type="dcterms:W3CDTF">2025-10-18T14:42:20Z</dcterms:modified>
</cp:coreProperties>
</file>