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15"/>
  </p:handoutMasterIdLst>
  <p:sldIdLst>
    <p:sldId id="260" r:id="rId2"/>
    <p:sldId id="261" r:id="rId3"/>
    <p:sldId id="262" r:id="rId4"/>
    <p:sldId id="263" r:id="rId5"/>
    <p:sldId id="264" r:id="rId6"/>
    <p:sldId id="265" r:id="rId7"/>
    <p:sldId id="269" r:id="rId8"/>
    <p:sldId id="267" r:id="rId9"/>
    <p:sldId id="268" r:id="rId10"/>
    <p:sldId id="271" r:id="rId11"/>
    <p:sldId id="273" r:id="rId12"/>
    <p:sldId id="270" r:id="rId13"/>
    <p:sldId id="266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CD14C-2868-D878-D539-1787A5285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22F03-977C-15F1-4827-8092F9BD7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4813"/>
            <a:ext cx="10515600" cy="805307"/>
          </a:xfrm>
        </p:spPr>
        <p:txBody>
          <a:bodyPr/>
          <a:lstStyle/>
          <a:p>
            <a:pPr algn="ctr"/>
            <a:r>
              <a:rPr lang="en-US" b="1" dirty="0"/>
              <a:t>Scatter Plot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E6A1621-5B10-6CEF-4F55-EBD4F7B1F522}"/>
              </a:ext>
            </a:extLst>
          </p:cNvPr>
          <p:cNvSpPr txBox="1"/>
          <p:nvPr/>
        </p:nvSpPr>
        <p:spPr>
          <a:xfrm>
            <a:off x="274320" y="926640"/>
            <a:ext cx="1133856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We will explore one of the most important visualization tools in statistics — the scatter plot. We will learn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it is,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why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it’s useful,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to interpret it with real-life examples and some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common pitfalls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 avoid when using scatterplots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2E43CA-AC12-EC7F-5508-A8F7ED794A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7015" y="216260"/>
            <a:ext cx="1035367" cy="743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1137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E05CF2-9BED-E5F8-6DE3-E89B64772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79563-79F0-CFF9-C9B2-060CBA4B30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4813"/>
            <a:ext cx="10515600" cy="805307"/>
          </a:xfrm>
        </p:spPr>
        <p:txBody>
          <a:bodyPr/>
          <a:lstStyle/>
          <a:p>
            <a:pPr algn="ctr"/>
            <a:r>
              <a:rPr lang="en-US" b="1" dirty="0"/>
              <a:t>Scatter Plot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430295B-4802-A810-B48F-C9B83DC3E4AD}"/>
              </a:ext>
            </a:extLst>
          </p:cNvPr>
          <p:cNvSpPr txBox="1"/>
          <p:nvPr/>
        </p:nvSpPr>
        <p:spPr>
          <a:xfrm>
            <a:off x="274320" y="926640"/>
            <a:ext cx="1133856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scatter plot is a type of graph that shows the relationship between two quantitative or numerical variables using dots.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X-axis →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independent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variable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Y-axis →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dependent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variable (AKA response)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Each dot is a data point (x, y).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(2,5)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(4,8)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(3,4)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Easy to interpret and often the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first step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in data analysis.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139229F-1450-A14C-FB1E-0BEA914F7C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7015" y="216260"/>
            <a:ext cx="1035367" cy="74386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95C6A0C-E143-FBB4-ED91-4B8CE80F23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7555" y="2306006"/>
            <a:ext cx="5622299" cy="4397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4203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3CE19B-F6B2-3D07-93B4-EBF32DAF8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4E276-732F-1AD9-77D9-1974C2FBCD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4813"/>
            <a:ext cx="10515600" cy="805307"/>
          </a:xfrm>
        </p:spPr>
        <p:txBody>
          <a:bodyPr/>
          <a:lstStyle/>
          <a:p>
            <a:pPr algn="ctr"/>
            <a:r>
              <a:rPr lang="en-US" b="1" dirty="0"/>
              <a:t>Scatter Plot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4182FF1-DED8-3325-0204-DAB64ECE8FD0}"/>
              </a:ext>
            </a:extLst>
          </p:cNvPr>
          <p:cNvSpPr txBox="1"/>
          <p:nvPr/>
        </p:nvSpPr>
        <p:spPr>
          <a:xfrm>
            <a:off x="118872" y="880920"/>
            <a:ext cx="105156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Example1: Positive linear relationship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Suppose we collect data on students — their hours of study (X) and exam scores (Y).  Each point shows how much a student studied and what score they achieved.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F2781E-937C-14AB-9388-10171A3C66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6712" y="2154735"/>
            <a:ext cx="6031991" cy="4703265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1EA6D1-4108-667A-727D-185C469329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678712"/>
              </p:ext>
            </p:extLst>
          </p:nvPr>
        </p:nvGraphicFramePr>
        <p:xfrm>
          <a:off x="616912" y="2337691"/>
          <a:ext cx="2967536" cy="4351334"/>
        </p:xfrm>
        <a:graphic>
          <a:graphicData uri="http://schemas.openxmlformats.org/drawingml/2006/table">
            <a:tbl>
              <a:tblPr/>
              <a:tblGrid>
                <a:gridCol w="1483768">
                  <a:extLst>
                    <a:ext uri="{9D8B030D-6E8A-4147-A177-3AD203B41FA5}">
                      <a16:colId xmlns:a16="http://schemas.microsoft.com/office/drawing/2014/main" val="1486729324"/>
                    </a:ext>
                  </a:extLst>
                </a:gridCol>
                <a:gridCol w="1483768">
                  <a:extLst>
                    <a:ext uri="{9D8B030D-6E8A-4147-A177-3AD203B41FA5}">
                      <a16:colId xmlns:a16="http://schemas.microsoft.com/office/drawing/2014/main" val="2880353966"/>
                    </a:ext>
                  </a:extLst>
                </a:gridCol>
              </a:tblGrid>
              <a:tr h="33471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Hours Studied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Scores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6955982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35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7483717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2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40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9041549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3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48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4207405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4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70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0214142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5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79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3271652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6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77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1976317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2.5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50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2650442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3.5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50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5005983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4.5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60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6489806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5.5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70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3148947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1.5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50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176068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6.5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95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4515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695155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D47688-6C52-48D5-02AB-6D86D97496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DA359-3645-8B42-22EA-5FAA9D87AA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4813"/>
            <a:ext cx="10515600" cy="805307"/>
          </a:xfrm>
        </p:spPr>
        <p:txBody>
          <a:bodyPr/>
          <a:lstStyle/>
          <a:p>
            <a:pPr algn="ctr"/>
            <a:r>
              <a:rPr lang="en-US" b="1" dirty="0"/>
              <a:t>Scatter Plot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FC06CDC-EEC9-2B07-3F4A-82FC2334FCCD}"/>
              </a:ext>
            </a:extLst>
          </p:cNvPr>
          <p:cNvSpPr txBox="1"/>
          <p:nvPr/>
        </p:nvSpPr>
        <p:spPr>
          <a:xfrm>
            <a:off x="118872" y="917496"/>
            <a:ext cx="1123492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Example2: Negative linear relationship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Suppose we collect data on students — their hours of video game playtime (X) and exam scores (Y). Each point shows how much a student played video games and what score they achieved.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A4E92DD-C896-977E-8993-5A05BB1760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7608" y="2395019"/>
            <a:ext cx="5962266" cy="44629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83190E9-4DE0-A0E5-48E2-CBDAF850C8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7015" y="216260"/>
            <a:ext cx="1035367" cy="743860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80CBC6F-2595-4FFA-1FD6-B451BA4E0E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3646212"/>
              </p:ext>
            </p:extLst>
          </p:nvPr>
        </p:nvGraphicFramePr>
        <p:xfrm>
          <a:off x="699208" y="2478024"/>
          <a:ext cx="4567736" cy="4351334"/>
        </p:xfrm>
        <a:graphic>
          <a:graphicData uri="http://schemas.openxmlformats.org/drawingml/2006/table">
            <a:tbl>
              <a:tblPr/>
              <a:tblGrid>
                <a:gridCol w="2283868">
                  <a:extLst>
                    <a:ext uri="{9D8B030D-6E8A-4147-A177-3AD203B41FA5}">
                      <a16:colId xmlns:a16="http://schemas.microsoft.com/office/drawing/2014/main" val="2820902567"/>
                    </a:ext>
                  </a:extLst>
                </a:gridCol>
                <a:gridCol w="2283868">
                  <a:extLst>
                    <a:ext uri="{9D8B030D-6E8A-4147-A177-3AD203B41FA5}">
                      <a16:colId xmlns:a16="http://schemas.microsoft.com/office/drawing/2014/main" val="2692487378"/>
                    </a:ext>
                  </a:extLst>
                </a:gridCol>
              </a:tblGrid>
              <a:tr h="33471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Hours Gaming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Scores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0043724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95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1111273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2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80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1761258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3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80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738203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4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78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1000312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5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69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2211629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6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55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791931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2.5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82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922490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3.5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75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1396348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4.5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68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5582908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5.5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50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4760452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1.5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90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1253156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6.5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50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83743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8410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266A80-8BA7-8495-D5E2-3531D57791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B999B-FABD-B311-2D10-C31078892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4813"/>
            <a:ext cx="10515600" cy="805307"/>
          </a:xfrm>
        </p:spPr>
        <p:txBody>
          <a:bodyPr/>
          <a:lstStyle/>
          <a:p>
            <a:pPr algn="ctr"/>
            <a:r>
              <a:rPr lang="en-US" b="1" dirty="0"/>
              <a:t>Scatter Plot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FA82BE0-1D09-1971-63FA-318868545670}"/>
              </a:ext>
            </a:extLst>
          </p:cNvPr>
          <p:cNvSpPr txBox="1"/>
          <p:nvPr/>
        </p:nvSpPr>
        <p:spPr>
          <a:xfrm>
            <a:off x="118872" y="716328"/>
            <a:ext cx="1151229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Example3: No linear relationship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Suppose we collect data on students — the number of pushups (X) and exam scores (Y). Each point shows how many pushups a student can do and what score they achieved.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FEC1861-721B-0BB0-058E-8155649C70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3833" y="2145469"/>
            <a:ext cx="6048560" cy="4557718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F16FCC6-AD5C-9BD3-0495-CDB52659A0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681090"/>
              </p:ext>
            </p:extLst>
          </p:nvPr>
        </p:nvGraphicFramePr>
        <p:xfrm>
          <a:off x="333448" y="2237059"/>
          <a:ext cx="4640888" cy="4351334"/>
        </p:xfrm>
        <a:graphic>
          <a:graphicData uri="http://schemas.openxmlformats.org/drawingml/2006/table">
            <a:tbl>
              <a:tblPr/>
              <a:tblGrid>
                <a:gridCol w="2320444">
                  <a:extLst>
                    <a:ext uri="{9D8B030D-6E8A-4147-A177-3AD203B41FA5}">
                      <a16:colId xmlns:a16="http://schemas.microsoft.com/office/drawing/2014/main" val="1426723077"/>
                    </a:ext>
                  </a:extLst>
                </a:gridCol>
                <a:gridCol w="2320444">
                  <a:extLst>
                    <a:ext uri="{9D8B030D-6E8A-4147-A177-3AD203B41FA5}">
                      <a16:colId xmlns:a16="http://schemas.microsoft.com/office/drawing/2014/main" val="3658879481"/>
                    </a:ext>
                  </a:extLst>
                </a:gridCol>
              </a:tblGrid>
              <a:tr h="33471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Push-Ups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Scores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1736813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10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82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9976381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15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75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0083610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20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91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4202287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25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60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7008010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30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88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964581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35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73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3788240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40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95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6764482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45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62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2729560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50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78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1376330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55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85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6245433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60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68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547792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65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90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94465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257318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BAFEEF-C94B-1F69-BBA3-F2162DA8D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1E61C-38FF-67B3-8BA9-67C4812D6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/>
              <a:t>Why Scatter Plots Are Useful: Identify Relationships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CFDC79-72BB-BA3C-9A82-DB7F296D08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75233"/>
            <a:ext cx="10515600" cy="2481199"/>
          </a:xfrm>
        </p:spPr>
        <p:txBody>
          <a:bodyPr>
            <a:normAutofit/>
          </a:bodyPr>
          <a:lstStyle/>
          <a:p>
            <a:r>
              <a:rPr lang="en-US" dirty="0"/>
              <a:t>Detect </a:t>
            </a:r>
            <a:r>
              <a:rPr lang="en-US" i="1" dirty="0"/>
              <a:t>correlation</a:t>
            </a:r>
            <a:r>
              <a:rPr lang="en-US" dirty="0"/>
              <a:t> between variables.</a:t>
            </a:r>
          </a:p>
          <a:p>
            <a:r>
              <a:rPr lang="en-US" dirty="0"/>
              <a:t>Direction of relationship:</a:t>
            </a:r>
          </a:p>
          <a:p>
            <a:pPr lvl="1"/>
            <a:r>
              <a:rPr 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Positive </a:t>
            </a:r>
            <a:r>
              <a:rPr lang="en-US" dirty="0"/>
              <a:t>correlation: both increase</a:t>
            </a:r>
          </a:p>
          <a:p>
            <a:pPr lvl="1"/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Negative</a:t>
            </a:r>
            <a:r>
              <a:rPr lang="en-US" dirty="0"/>
              <a:t> correlation: one increases, the other decreases</a:t>
            </a:r>
          </a:p>
          <a:p>
            <a:pPr lvl="1"/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No</a:t>
            </a:r>
            <a:r>
              <a:rPr lang="en-US" dirty="0"/>
              <a:t> correlation: scattered, no clear trend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BB364D-E917-7463-6488-974185F0F0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4603" y="3925316"/>
            <a:ext cx="3436908" cy="267982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AFA58F7-551A-3BC5-4031-860D1089FE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3705" y="4024629"/>
            <a:ext cx="3447191" cy="259753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E44B5CA-9B5B-4B71-1657-41BE1690DD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8636" y="4024629"/>
            <a:ext cx="3314727" cy="2481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68738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7FBE6A-D4FA-2437-978F-685D80D22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88A8A4-3D63-214C-1772-5092BA0E8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b="1" dirty="0"/>
              <a:t>Why Scatter Plots Are Useful: Identify </a:t>
            </a:r>
            <a:r>
              <a:rPr lang="en-US" sz="36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Strength</a:t>
            </a:r>
            <a:r>
              <a:rPr lang="en-US" sz="3600" b="1" dirty="0"/>
              <a:t> of Relationships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D7B740-49E0-5FDE-6820-F8B3331918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6992" y="956945"/>
            <a:ext cx="10515600" cy="1651195"/>
          </a:xfrm>
        </p:spPr>
        <p:txBody>
          <a:bodyPr>
            <a:normAutofit/>
          </a:bodyPr>
          <a:lstStyle/>
          <a:p>
            <a:r>
              <a:rPr lang="en-US" b="1" dirty="0"/>
              <a:t>Interpret strength: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If strong correlation then points are close to a straight line.</a:t>
            </a:r>
          </a:p>
          <a:p>
            <a:pPr marL="0" indent="0">
              <a:buNone/>
            </a:pPr>
            <a:r>
              <a:rPr lang="en-US" dirty="0"/>
              <a:t>If weak correlation then points are loosely spread.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E2C955-DB5F-DE6F-451E-D43D051A03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71" y="2608140"/>
            <a:ext cx="5275259" cy="41133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E93516A-7070-ADF0-159C-BF0C6FC2CA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80868" y="2519241"/>
            <a:ext cx="5275397" cy="4113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91594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D45D55-C172-44ED-FC53-A8FB5F7AC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FD364-9BA2-5098-7783-AD58FB17D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/>
              <a:t>Why Scatter Plots Are Useful: Spot Outliers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C45B8E-5A15-6B3D-0D9D-6542FF227C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7576" y="1194689"/>
            <a:ext cx="10515600" cy="670687"/>
          </a:xfrm>
        </p:spPr>
        <p:txBody>
          <a:bodyPr>
            <a:normAutofit/>
          </a:bodyPr>
          <a:lstStyle/>
          <a:p>
            <a:r>
              <a:rPr lang="en-US" dirty="0"/>
              <a:t>Points that don’t fit the pattern indicate unusual observations.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F02CF8-FC60-599A-ADE5-EC96907592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2076737"/>
            <a:ext cx="5760136" cy="4542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77197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FE330A-9F07-A126-74F6-B15D777D82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A1BDA-2A47-CA9A-A79E-B448FD224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/>
              <a:t>Why Scatter Plots Are Useful: Visualize Clusters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020AEA-3309-030D-F8FA-B9CADCC4E2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4320" y="1121537"/>
            <a:ext cx="11594592" cy="2709799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You can detect natural grouping of points.</a:t>
            </a:r>
          </a:p>
          <a:p>
            <a:pPr marL="0" indent="0" latinLnBrk="1">
              <a:buNone/>
            </a:pPr>
            <a:r>
              <a:rPr lang="es-ES" dirty="0"/>
              <a:t>X (</a:t>
            </a:r>
            <a:r>
              <a:rPr lang="es-ES" dirty="0" err="1"/>
              <a:t>distance</a:t>
            </a:r>
            <a:r>
              <a:rPr lang="es-ES" dirty="0"/>
              <a:t> </a:t>
            </a:r>
            <a:r>
              <a:rPr lang="es-ES" dirty="0" err="1"/>
              <a:t>from</a:t>
            </a:r>
            <a:r>
              <a:rPr lang="es-ES" dirty="0"/>
              <a:t> home) = [ 2.2, 1.9, 2.3, 2.8, 1.9, 1.9, 2.8, 2.4, 1.8, 2.3, 1.8, 1.8, 2.1, 1.0, 1.1, 1.7, 1.5, 2.2, 1.5, 1.3, 6.4, 6.1,  5.9, 5.8, 5.3, 5.6, 5.8, 6.5, 6.2, 5.1, 6.2, 5.8, 5.7, 6.3, 6.5, 6.5, 5.6, 5.8, 6.2, 6.5, 9.9, 10.2, 10.7, 9.7,  9.6, 9.7, 10.5, 10.2, 9.7, 10.3, 10.0, 10.5, 9.6, 9.8, 9.8, 9.3, 10.1, 10.1, 10.0, 9.9 ]</a:t>
            </a:r>
          </a:p>
          <a:p>
            <a:pPr marL="0" indent="0" latinLnBrk="1">
              <a:buNone/>
            </a:pPr>
            <a:r>
              <a:rPr lang="es-ES" dirty="0"/>
              <a:t>Y ( </a:t>
            </a:r>
            <a:r>
              <a:rPr lang="es-ES" dirty="0" err="1"/>
              <a:t>money</a:t>
            </a:r>
            <a:r>
              <a:rPr lang="es-ES" dirty="0"/>
              <a:t> </a:t>
            </a:r>
            <a:r>
              <a:rPr lang="es-ES" dirty="0" err="1"/>
              <a:t>spent</a:t>
            </a:r>
            <a:r>
              <a:rPr lang="es-ES" dirty="0"/>
              <a:t> </a:t>
            </a:r>
            <a:r>
              <a:rPr lang="es-ES" dirty="0" err="1"/>
              <a:t>on</a:t>
            </a:r>
            <a:r>
              <a:rPr lang="es-ES" dirty="0"/>
              <a:t> </a:t>
            </a:r>
            <a:r>
              <a:rPr lang="es-ES" dirty="0" err="1"/>
              <a:t>food</a:t>
            </a:r>
            <a:r>
              <a:rPr lang="es-ES" dirty="0"/>
              <a:t> ) = [ 3.7, 2.9, 3.0, 2.3, 2.7, 3.1, 2.4, 3.2, 2.7, 2.9, 2.7, 3.9, 3.0, 2.5, 3.4, 2.4, 3.1, 2.0, 2.3, 3.1, 6.8, 6.9,  6.4, 6.4, 7.4, 7.7, 7.0, 7.5, 7.2, 6.7, 7.2, 7.8, 7.0, 7.8, 5.7, 7.4, 7.0, 6.9, 7.0, 6.0, 2.3, 2.8, 2.8, 2.6, 2.9,   3.2, 3.9, 3.1, 3.1, 3.0, 2.0, 3.0, 3.0, 4.2, 2.9, 3.2, 3.0, 2.4, 3.6, 3.4 ]</a:t>
            </a:r>
          </a:p>
          <a:p>
            <a:pPr marL="0" indent="0" latinLnBrk="1">
              <a:buNone/>
            </a:pPr>
            <a:r>
              <a:rPr lang="en-US" dirty="0"/>
              <a:t>It is hard to detect clusters by looking at numbers,</a:t>
            </a:r>
          </a:p>
          <a:p>
            <a:pPr marL="0" indent="0" latinLnBrk="1">
              <a:buNone/>
            </a:pPr>
            <a:r>
              <a:rPr lang="en-US" dirty="0"/>
              <a:t> but easy to see them when they are plotted.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9CDB49-9FB7-4B7A-219C-0A56B26034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0024" y="2996234"/>
            <a:ext cx="4867656" cy="3861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0212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D705F6-9B69-7E6E-6957-62F9EA9DA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4738D-529D-A799-A28F-BD321AAC2F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pPr algn="ctr"/>
            <a:r>
              <a:rPr lang="en-US" sz="3600" dirty="0"/>
              <a:t>Common Mistakes and Tips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EADBDA-3C6F-6BF6-0729-E55F624D85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7848" y="828929"/>
            <a:ext cx="11076432" cy="38345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1. Using it for categorical data:  </a:t>
            </a:r>
          </a:p>
          <a:p>
            <a:pPr marL="0" indent="0">
              <a:buNone/>
            </a:pPr>
            <a:r>
              <a:rPr lang="en-US" sz="2000" dirty="0"/>
              <a:t>Scatter plots only make sense for columns that have numerical data. For example, below, the feature Department although has numeric data, but it is categorical in  nature with following mapping:</a:t>
            </a:r>
          </a:p>
          <a:p>
            <a:pPr marL="0" indent="0">
              <a:buNone/>
            </a:pPr>
            <a:r>
              <a:rPr lang="en-US" sz="2000" dirty="0"/>
              <a:t>1 -&gt; HR</a:t>
            </a:r>
          </a:p>
          <a:p>
            <a:pPr marL="0" indent="0">
              <a:buNone/>
            </a:pPr>
            <a:r>
              <a:rPr lang="en-US" sz="2000" dirty="0"/>
              <a:t>2 -&gt; Sales</a:t>
            </a:r>
          </a:p>
          <a:p>
            <a:pPr marL="0" indent="0">
              <a:buNone/>
            </a:pPr>
            <a:r>
              <a:rPr lang="en-US" sz="2000" dirty="0"/>
              <a:t>3 -&gt; Finance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51F92EC-6489-EF00-E734-C0C3542F26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7248270"/>
              </p:ext>
            </p:extLst>
          </p:nvPr>
        </p:nvGraphicFramePr>
        <p:xfrm>
          <a:off x="3236976" y="2309654"/>
          <a:ext cx="8116824" cy="4023360"/>
        </p:xfrm>
        <a:graphic>
          <a:graphicData uri="http://schemas.openxmlformats.org/drawingml/2006/table">
            <a:tbl>
              <a:tblPr/>
              <a:tblGrid>
                <a:gridCol w="2029206">
                  <a:extLst>
                    <a:ext uri="{9D8B030D-6E8A-4147-A177-3AD203B41FA5}">
                      <a16:colId xmlns:a16="http://schemas.microsoft.com/office/drawing/2014/main" val="3878774198"/>
                    </a:ext>
                  </a:extLst>
                </a:gridCol>
                <a:gridCol w="1701546">
                  <a:extLst>
                    <a:ext uri="{9D8B030D-6E8A-4147-A177-3AD203B41FA5}">
                      <a16:colId xmlns:a16="http://schemas.microsoft.com/office/drawing/2014/main" val="2875466012"/>
                    </a:ext>
                  </a:extLst>
                </a:gridCol>
                <a:gridCol w="2356866">
                  <a:extLst>
                    <a:ext uri="{9D8B030D-6E8A-4147-A177-3AD203B41FA5}">
                      <a16:colId xmlns:a16="http://schemas.microsoft.com/office/drawing/2014/main" val="2187998980"/>
                    </a:ext>
                  </a:extLst>
                </a:gridCol>
                <a:gridCol w="2029206">
                  <a:extLst>
                    <a:ext uri="{9D8B030D-6E8A-4147-A177-3AD203B41FA5}">
                      <a16:colId xmlns:a16="http://schemas.microsoft.com/office/drawing/2014/main" val="889491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u="sng" dirty="0">
                          <a:solidFill>
                            <a:schemeClr val="accent6">
                              <a:lumMod val="20000"/>
                              <a:lumOff val="80000"/>
                            </a:schemeClr>
                          </a:solidFill>
                        </a:rPr>
                        <a:t>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u="sng" dirty="0">
                          <a:solidFill>
                            <a:schemeClr val="accent6">
                              <a:lumMod val="20000"/>
                              <a:lumOff val="80000"/>
                            </a:schemeClr>
                          </a:solidFill>
                        </a:rPr>
                        <a:t>Department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u="sng" dirty="0" err="1">
                          <a:solidFill>
                            <a:schemeClr val="accent6">
                              <a:lumMod val="20000"/>
                              <a:lumOff val="80000"/>
                            </a:schemeClr>
                          </a:solidFill>
                        </a:rPr>
                        <a:t>Years_of_Experience</a:t>
                      </a:r>
                      <a:endParaRPr lang="en-US" b="1" u="sng" dirty="0"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u="sng" dirty="0">
                          <a:solidFill>
                            <a:schemeClr val="accent6">
                              <a:lumMod val="20000"/>
                              <a:lumOff val="80000"/>
                            </a:schemeClr>
                          </a:solidFill>
                        </a:rPr>
                        <a:t>Salary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02341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accent6">
                              <a:lumMod val="20000"/>
                              <a:lumOff val="80000"/>
                            </a:schemeClr>
                          </a:solidFill>
                        </a:rPr>
                        <a:t>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accent6">
                              <a:lumMod val="20000"/>
                              <a:lumOff val="8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accent6">
                              <a:lumMod val="20000"/>
                              <a:lumOff val="80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accent6">
                              <a:lumMod val="20000"/>
                              <a:lumOff val="80000"/>
                            </a:schemeClr>
                          </a:solidFill>
                        </a:rPr>
                        <a:t>32000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4096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accent6">
                              <a:lumMod val="20000"/>
                              <a:lumOff val="80000"/>
                            </a:schemeClr>
                          </a:solidFill>
                        </a:rPr>
                        <a:t>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accent6">
                              <a:lumMod val="20000"/>
                              <a:lumOff val="80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accent6">
                              <a:lumMod val="20000"/>
                              <a:lumOff val="8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accent6">
                              <a:lumMod val="20000"/>
                              <a:lumOff val="80000"/>
                            </a:schemeClr>
                          </a:solidFill>
                        </a:rPr>
                        <a:t>55000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77008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accent6">
                              <a:lumMod val="20000"/>
                              <a:lumOff val="80000"/>
                            </a:schemeClr>
                          </a:solidFill>
                        </a:rPr>
                        <a:t>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accent6">
                              <a:lumMod val="20000"/>
                              <a:lumOff val="80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accent6">
                              <a:lumMod val="20000"/>
                              <a:lumOff val="80000"/>
                            </a:schemeClr>
                          </a:solidFill>
                        </a:rPr>
                        <a:t>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accent6">
                              <a:lumMod val="20000"/>
                              <a:lumOff val="80000"/>
                            </a:schemeClr>
                          </a:solidFill>
                        </a:rPr>
                        <a:t>72000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76228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accent6">
                              <a:lumMod val="20000"/>
                              <a:lumOff val="80000"/>
                            </a:schemeClr>
                          </a:solidFill>
                        </a:rPr>
                        <a:t>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accent6">
                              <a:lumMod val="20000"/>
                              <a:lumOff val="8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accent6">
                              <a:lumMod val="20000"/>
                              <a:lumOff val="8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accent6">
                              <a:lumMod val="20000"/>
                              <a:lumOff val="80000"/>
                            </a:schemeClr>
                          </a:solidFill>
                        </a:rPr>
                        <a:t>40000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97815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accent6">
                              <a:lumMod val="20000"/>
                              <a:lumOff val="80000"/>
                            </a:schemeClr>
                          </a:solidFill>
                        </a:rPr>
                        <a:t>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accent6">
                              <a:lumMod val="20000"/>
                              <a:lumOff val="8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accent6">
                              <a:lumMod val="20000"/>
                              <a:lumOff val="80000"/>
                            </a:schemeClr>
                          </a:solidFill>
                        </a:rPr>
                        <a:t>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accent6">
                              <a:lumMod val="20000"/>
                              <a:lumOff val="80000"/>
                            </a:schemeClr>
                          </a:solidFill>
                        </a:rPr>
                        <a:t>50000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09187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accent6">
                              <a:lumMod val="20000"/>
                              <a:lumOff val="80000"/>
                            </a:schemeClr>
                          </a:solidFill>
                        </a:rPr>
                        <a:t>F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accent6">
                              <a:lumMod val="20000"/>
                              <a:lumOff val="8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accent6">
                              <a:lumMod val="20000"/>
                              <a:lumOff val="80000"/>
                            </a:schemeClr>
                          </a:solidFill>
                        </a:rPr>
                        <a:t>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accent6">
                              <a:lumMod val="20000"/>
                              <a:lumOff val="80000"/>
                            </a:schemeClr>
                          </a:solidFill>
                        </a:rPr>
                        <a:t>65000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86984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accent6">
                              <a:lumMod val="20000"/>
                              <a:lumOff val="80000"/>
                            </a:schemeClr>
                          </a:solidFill>
                        </a:rPr>
                        <a:t>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accent6">
                              <a:lumMod val="20000"/>
                              <a:lumOff val="80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accent6">
                              <a:lumMod val="20000"/>
                              <a:lumOff val="80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accent6">
                              <a:lumMod val="20000"/>
                              <a:lumOff val="80000"/>
                            </a:schemeClr>
                          </a:solidFill>
                        </a:rPr>
                        <a:t>43000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3610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accent6">
                              <a:lumMod val="20000"/>
                              <a:lumOff val="80000"/>
                            </a:schemeClr>
                          </a:solidFill>
                        </a:rPr>
                        <a:t>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accent6">
                              <a:lumMod val="20000"/>
                              <a:lumOff val="80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accent6">
                              <a:lumMod val="20000"/>
                              <a:lumOff val="80000"/>
                            </a:schemeClr>
                          </a:solidFill>
                        </a:rPr>
                        <a:t>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accent6">
                              <a:lumMod val="20000"/>
                              <a:lumOff val="80000"/>
                            </a:schemeClr>
                          </a:solidFill>
                        </a:rPr>
                        <a:t>80000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43330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accent6">
                              <a:lumMod val="20000"/>
                              <a:lumOff val="80000"/>
                            </a:schemeClr>
                          </a:solidFill>
                        </a:rPr>
                        <a:t>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accent6">
                              <a:lumMod val="20000"/>
                              <a:lumOff val="8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accent6">
                              <a:lumMod val="20000"/>
                              <a:lumOff val="8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accent6">
                              <a:lumMod val="20000"/>
                              <a:lumOff val="80000"/>
                            </a:schemeClr>
                          </a:solidFill>
                        </a:rPr>
                        <a:t>30000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75133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accent6">
                              <a:lumMod val="20000"/>
                              <a:lumOff val="80000"/>
                            </a:schemeClr>
                          </a:solidFill>
                        </a:rPr>
                        <a:t>J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accent6">
                              <a:lumMod val="20000"/>
                              <a:lumOff val="8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accent6">
                              <a:lumMod val="20000"/>
                              <a:lumOff val="80000"/>
                            </a:schemeClr>
                          </a:solidFill>
                        </a:rPr>
                        <a:t>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accent6">
                              <a:lumMod val="20000"/>
                              <a:lumOff val="80000"/>
                            </a:schemeClr>
                          </a:solidFill>
                        </a:rPr>
                        <a:t>85000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56891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83494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69BACA-CD1C-3A69-0895-775C7F506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B34EC-BFBF-3EC3-9121-502F0C613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pPr algn="ctr"/>
            <a:r>
              <a:rPr lang="en-US" sz="3600" dirty="0"/>
              <a:t>Common Mistakes and Tips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FF6C5C-BFAC-8469-F027-AD36A6592B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2712" y="920369"/>
            <a:ext cx="10515600" cy="439229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2. Misinterpreting correlation as causation:</a:t>
            </a:r>
          </a:p>
          <a:p>
            <a:pPr marL="0" indent="0">
              <a:buNone/>
            </a:pPr>
            <a:r>
              <a:rPr lang="en-US" sz="2000" dirty="0"/>
              <a:t>“Just because two things move together doesn’t mean one causes the other.”</a:t>
            </a:r>
          </a:p>
          <a:p>
            <a:pPr marL="0" indent="0">
              <a:buNone/>
            </a:pPr>
            <a:r>
              <a:rPr lang="en-US" sz="2000" dirty="0"/>
              <a:t>A study finds that </a:t>
            </a:r>
            <a:r>
              <a:rPr lang="en-US" sz="2000" b="1" dirty="0"/>
              <a:t>ice cream sales</a:t>
            </a:r>
            <a:r>
              <a:rPr lang="en-US" sz="2000" dirty="0"/>
              <a:t> and </a:t>
            </a:r>
            <a:r>
              <a:rPr lang="en-US" sz="2000" b="1" dirty="0"/>
              <a:t>electricity demand</a:t>
            </a:r>
            <a:r>
              <a:rPr lang="en-US" sz="2000" dirty="0"/>
              <a:t> both increase during certain months of the year. We may misinterpret this and claim increased ice cream consumption led to higher electricity demand.</a:t>
            </a:r>
          </a:p>
          <a:p>
            <a:pPr marL="0" indent="0">
              <a:buNone/>
            </a:pPr>
            <a:r>
              <a:rPr lang="en-US" sz="2000" dirty="0"/>
              <a:t>Actual reason could be a lurking variable.  The real cause is </a:t>
            </a:r>
            <a:r>
              <a:rPr lang="en-US" sz="2000" b="1" dirty="0"/>
              <a:t>seasonal temperature</a:t>
            </a:r>
            <a:r>
              <a:rPr lang="en-US" sz="2000" dirty="0"/>
              <a:t> — warm weather causes both:</a:t>
            </a:r>
          </a:p>
          <a:p>
            <a:r>
              <a:rPr lang="en-US" sz="2000" dirty="0"/>
              <a:t>More ice cream sales (because people want cold desserts)</a:t>
            </a:r>
          </a:p>
          <a:p>
            <a:r>
              <a:rPr lang="en-US" sz="2000" dirty="0"/>
              <a:t>Electricity demand grows (due to more AC, etc.)</a:t>
            </a:r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7804289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665440-5E60-48DC-4D44-A0E476D47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307D3-570A-BD41-6ADC-99829368E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/>
              <a:t>Real-World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D630E7-362C-8C59-A32E-276E6545D5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721"/>
            <a:ext cx="10515600" cy="41271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1. Education: </a:t>
            </a:r>
            <a:r>
              <a:rPr lang="en-US" dirty="0"/>
              <a:t>Hours studied vs. marks scored.</a:t>
            </a:r>
          </a:p>
          <a:p>
            <a:pPr marL="0" indent="0">
              <a:buNone/>
            </a:pPr>
            <a:r>
              <a:rPr lang="en-US" b="1" dirty="0"/>
              <a:t>2. Health: </a:t>
            </a:r>
            <a:r>
              <a:rPr lang="en-US" dirty="0"/>
              <a:t>Calorie intake vs. weight gain.</a:t>
            </a:r>
          </a:p>
          <a:p>
            <a:pPr marL="0" indent="0">
              <a:buNone/>
            </a:pPr>
            <a:r>
              <a:rPr lang="en-US" b="1" dirty="0"/>
              <a:t>3. Business: </a:t>
            </a:r>
            <a:r>
              <a:rPr lang="en-US" dirty="0"/>
              <a:t>Advertising spend vs. sales revenue.</a:t>
            </a:r>
          </a:p>
          <a:p>
            <a:pPr marL="0" indent="0">
              <a:buNone/>
            </a:pPr>
            <a:r>
              <a:rPr lang="en-US" b="1" dirty="0"/>
              <a:t>4. Economics: </a:t>
            </a:r>
            <a:r>
              <a:rPr lang="en-US" dirty="0"/>
              <a:t>Inflation vs. unemployment (Phillips Curve).</a:t>
            </a:r>
          </a:p>
          <a:p>
            <a:pPr marL="0" indent="0">
              <a:buNone/>
            </a:pPr>
            <a:r>
              <a:rPr lang="en-US" b="1" dirty="0"/>
              <a:t>5. Data Science: </a:t>
            </a:r>
            <a:r>
              <a:rPr lang="en-US" dirty="0"/>
              <a:t>Feature relationships before modeling — to check if variables are related.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Etc</a:t>
            </a:r>
            <a:r>
              <a:rPr lang="en-US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8260866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BC2CB5-93CA-25CE-BB3C-D57A27E940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6AB89-F209-AB60-AE52-F553711E17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r>
              <a:rPr lang="en-US" sz="3600" dirty="0"/>
              <a:t>STOP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042DBB-6E79-59DE-F941-848207F9F7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err="1"/>
              <a:t>Hfdslfds</a:t>
            </a:r>
            <a:endParaRPr lang="en-US" b="1" dirty="0"/>
          </a:p>
          <a:p>
            <a:pPr marL="0" indent="0">
              <a:buNone/>
            </a:pPr>
            <a:r>
              <a:rPr lang="en-US" b="1" dirty="0" err="1"/>
              <a:t>fksdljfsD</a:t>
            </a:r>
            <a:r>
              <a:rPr lang="en-US" b="1" dirty="0"/>
              <a:t>|]</a:t>
            </a:r>
          </a:p>
          <a:p>
            <a:pPr marL="0" indent="0">
              <a:buNone/>
            </a:pPr>
            <a:r>
              <a:rPr lang="en-US" b="1" dirty="0" err="1"/>
              <a:t>fkdslfa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93057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723</TotalTime>
  <Words>988</Words>
  <Application>Microsoft Office PowerPoint</Application>
  <PresentationFormat>Widescreen</PresentationFormat>
  <Paragraphs>190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Scatter Plot</vt:lpstr>
      <vt:lpstr>Scatter Plot</vt:lpstr>
      <vt:lpstr>Scatter Plot</vt:lpstr>
      <vt:lpstr>Scatter Plot</vt:lpstr>
      <vt:lpstr>Scatter Plot</vt:lpstr>
      <vt:lpstr>Why Scatter Plots Are Useful: Identify Relationships</vt:lpstr>
      <vt:lpstr>Why Scatter Plots Are Useful: Identify Strength of Relationships</vt:lpstr>
      <vt:lpstr>Why Scatter Plots Are Useful: Spot Outliers</vt:lpstr>
      <vt:lpstr>Why Scatter Plots Are Useful: Visualize Clusters</vt:lpstr>
      <vt:lpstr>Common Mistakes and Tips</vt:lpstr>
      <vt:lpstr>Common Mistakes and Tips</vt:lpstr>
      <vt:lpstr>Real-World Applications</vt:lpstr>
      <vt:lpstr>STOP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100</cp:revision>
  <dcterms:created xsi:type="dcterms:W3CDTF">2025-09-22T02:44:38Z</dcterms:created>
  <dcterms:modified xsi:type="dcterms:W3CDTF">2025-10-07T10:10:26Z</dcterms:modified>
</cp:coreProperties>
</file>