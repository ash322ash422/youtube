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3" r:id="rId2"/>
    <p:sldId id="284" r:id="rId3"/>
    <p:sldId id="283" r:id="rId4"/>
    <p:sldId id="285" r:id="rId5"/>
    <p:sldId id="286" r:id="rId6"/>
    <p:sldId id="259" r:id="rId7"/>
    <p:sldId id="264" r:id="rId8"/>
    <p:sldId id="281" r:id="rId9"/>
    <p:sldId id="2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2D3FC-1898-47E1-B4BA-2070CF7359E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F1409-2DC5-4A72-9701-90CBE2ABE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3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7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79242-1B4B-B82D-25DF-6DCAF9FC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197E9-0257-B23A-238E-35018BAC7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A2E09-B79C-AB7C-7BB8-F13300753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9A5F-5700-8CBC-60C9-22138DC80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22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E3B0-53F3-4EFB-D5DC-D1B66390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48458-01FC-01E3-9C00-2E59AB8D8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BE842-5D9E-B95C-97C7-CEB050A56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9C692-338C-B5B4-3032-2B7087850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1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F131-D839-2391-4700-CEB718E5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1FC00-62DE-4455-8B14-109764247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E4017-8777-C057-7F77-6B3AB7668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C91E3-C233-DF9C-549B-9F97F3D35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27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7630-DAC8-641A-B851-D7006268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B107C-415F-8AC4-0025-8CB149B4D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8711E-4B7A-0C60-D27C-1BB152324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CA4D2-F5C6-4445-7EB2-9B3251A70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F1409-2DC5-4A72-9701-90CBE2ABE9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br.com/statistics/kurtosis/#mesokurtic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ribbr.com/statistics/normal-distribution/" TargetMode="External"/><Relationship Id="rId5" Type="http://schemas.openxmlformats.org/officeDocument/2006/relationships/hyperlink" Target="https://www.scribbr.com/statistics/kurtosis/#leptokurtic" TargetMode="External"/><Relationship Id="rId4" Type="http://schemas.openxmlformats.org/officeDocument/2006/relationships/hyperlink" Target="https://www.scribbr.com/statistics/kurtosis/#platykurtic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E06B-3DEF-3D0B-CC13-FE35261A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Kurtosis</a:t>
            </a:r>
            <a:endParaRPr lang="en-US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DFF9F-337B-2832-CE0E-33F7143FA312}"/>
              </a:ext>
            </a:extLst>
          </p:cNvPr>
          <p:cNvSpPr txBox="1"/>
          <p:nvPr/>
        </p:nvSpPr>
        <p:spPr>
          <a:xfrm>
            <a:off x="603504" y="2194560"/>
            <a:ext cx="1065663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are given a dataset. You want answers to following: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there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extreme outliers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 data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sharply peaked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likely are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rare, extreme events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compared to a normal distribution ?</a:t>
            </a:r>
          </a:p>
        </p:txBody>
      </p:sp>
    </p:spTree>
    <p:extLst>
      <p:ext uri="{BB962C8B-B14F-4D97-AF65-F5344CB8AC3E}">
        <p14:creationId xmlns:p14="http://schemas.microsoft.com/office/powerpoint/2010/main" val="4003227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65B9-0D07-188D-4B4A-95407CB3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568F-B192-418E-44F5-F3DC08C1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Kurtosis: Topics</a:t>
            </a:r>
            <a:endParaRPr lang="en-US" sz="6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D101F-DFE9-ACE8-B55A-4BB4D762A5C8}"/>
              </a:ext>
            </a:extLst>
          </p:cNvPr>
          <p:cNvSpPr txBox="1"/>
          <p:nvPr/>
        </p:nvSpPr>
        <p:spPr>
          <a:xfrm>
            <a:off x="603504" y="2194560"/>
            <a:ext cx="571419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kurtosis ?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some examples of kurtosis ?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we measure kurtosis ?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care about kurtosis ?</a:t>
            </a:r>
          </a:p>
        </p:txBody>
      </p:sp>
    </p:spTree>
    <p:extLst>
      <p:ext uri="{BB962C8B-B14F-4D97-AF65-F5344CB8AC3E}">
        <p14:creationId xmlns:p14="http://schemas.microsoft.com/office/powerpoint/2010/main" val="3203956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C8F9-6BAE-5178-2290-9D8A29A1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D6F301-29BA-A6FB-57F6-ECFACA111E4D}"/>
              </a:ext>
            </a:extLst>
          </p:cNvPr>
          <p:cNvSpPr txBox="1"/>
          <p:nvPr/>
        </p:nvSpPr>
        <p:spPr>
          <a:xfrm>
            <a:off x="213559" y="1151672"/>
            <a:ext cx="105489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Kurtosis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measures the 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tailedness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peakedness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a distribution.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simple words: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Kurtosis tells us how much of the data lies in the tails versus near the mean.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087A54-F761-A062-C2CD-C61F0E88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Kurtosis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5130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DA82-A3E4-BBC0-B5F2-9C24CA44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CC5576E-85E2-B497-C111-396B1268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Kurtosis: Formula</a:t>
            </a:r>
            <a:endParaRPr lang="en-US" sz="6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7D82B-2081-1845-A044-5B5ABDDA2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08" y="1504442"/>
            <a:ext cx="3848637" cy="93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214BEA-E09B-11BC-32E5-8B0B09089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2744601"/>
            <a:ext cx="3762900" cy="1752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B19A2F-074C-3021-DACD-28DF45C87AD3}"/>
              </a:ext>
            </a:extLst>
          </p:cNvPr>
          <p:cNvSpPr txBox="1"/>
          <p:nvPr/>
        </p:nvSpPr>
        <p:spPr>
          <a:xfrm>
            <a:off x="213559" y="4790984"/>
            <a:ext cx="9835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numerator’s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 of 4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makes kurtosis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sensitive to extreme values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(outliers).</a:t>
            </a:r>
          </a:p>
        </p:txBody>
      </p:sp>
    </p:spTree>
    <p:extLst>
      <p:ext uri="{BB962C8B-B14F-4D97-AF65-F5344CB8AC3E}">
        <p14:creationId xmlns:p14="http://schemas.microsoft.com/office/powerpoint/2010/main" val="192779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EEA5-5985-8C14-B745-45C66CF7E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9710EE0-73BA-1C7D-1E68-EA35DC9A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73101"/>
            <a:ext cx="11585448" cy="5035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Why Do We Study Kurtosis?</a:t>
            </a:r>
            <a:endParaRPr lang="en-US" sz="6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6E807-578A-B57B-0917-357B6371D910}"/>
              </a:ext>
            </a:extLst>
          </p:cNvPr>
          <p:cNvSpPr txBox="1"/>
          <p:nvPr/>
        </p:nvSpPr>
        <p:spPr>
          <a:xfrm>
            <a:off x="213559" y="529880"/>
            <a:ext cx="983569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 Detecting Outliers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kurtosis means many extreme deviations — a few values are far away from the mean.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ML, such outliers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Distort regression coefficients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Mislead feature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Affect model convergence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kurtosis to detect and decide whether to cap or transform extreme values.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 Assessing Distribution Normality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statistical and ML models (e.g., Linear Regression, Logistic Regression, PCA) assume data or residuals are normally distributed.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kurtosis ≈ 0 → distribution behaves normally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kurtosis &gt; 0 → heavy tails (risk of outliers)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kurtosis &lt; 0 → too flat 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underdispersed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validate whether assumptions of normality hold before training.</a:t>
            </a:r>
          </a:p>
        </p:txBody>
      </p:sp>
    </p:spTree>
    <p:extLst>
      <p:ext uri="{BB962C8B-B14F-4D97-AF65-F5344CB8AC3E}">
        <p14:creationId xmlns:p14="http://schemas.microsoft.com/office/powerpoint/2010/main" val="4192361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7323-8C01-4DCD-1670-F0C2DD132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418" y="172179"/>
            <a:ext cx="3709426" cy="387114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Kurtosis (see </a:t>
            </a:r>
            <a:r>
              <a:rPr lang="en-US" sz="2800" b="1" dirty="0" err="1"/>
              <a:t>jupyter</a:t>
            </a:r>
            <a:r>
              <a:rPr lang="en-US" sz="2800" b="1" dirty="0"/>
              <a:t> n/b):</a:t>
            </a:r>
            <a:endParaRPr lang="en-IN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3F7887-BB3F-98B5-0211-2E3587F24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89" y="135417"/>
            <a:ext cx="3709426" cy="24492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48C84C-3EBD-FBF7-14A7-D11175541302}"/>
              </a:ext>
            </a:extLst>
          </p:cNvPr>
          <p:cNvSpPr txBox="1"/>
          <p:nvPr/>
        </p:nvSpPr>
        <p:spPr>
          <a:xfrm>
            <a:off x="100807" y="5251364"/>
            <a:ext cx="6364001" cy="157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kurtosis signals a greater risk of outliers, prompting further investigation or data transformation to ensure robust statistical analysis</a:t>
            </a:r>
          </a:p>
          <a:p>
            <a:pPr marL="285750" indent="-285750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Kurtosis can influence the choice of feature transformations. For example, if a feature has high kurtosis and a few extreme values, a transformation like a square root or logarithmic transformation might be beneficial to reduce the impact of outliers and make the data more normally distributed.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9184" y="1516394"/>
          <a:ext cx="4906513" cy="3142904"/>
        </p:xfrm>
        <a:graphic>
          <a:graphicData uri="http://schemas.openxmlformats.org/drawingml/2006/table">
            <a:tbl>
              <a:tblPr/>
              <a:tblGrid>
                <a:gridCol w="1197865">
                  <a:extLst>
                    <a:ext uri="{9D8B030D-6E8A-4147-A177-3AD203B41FA5}">
                      <a16:colId xmlns:a16="http://schemas.microsoft.com/office/drawing/2014/main" val="4177563081"/>
                    </a:ext>
                  </a:extLst>
                </a:gridCol>
                <a:gridCol w="1236216">
                  <a:extLst>
                    <a:ext uri="{9D8B030D-6E8A-4147-A177-3AD203B41FA5}">
                      <a16:colId xmlns:a16="http://schemas.microsoft.com/office/drawing/2014/main" val="742457024"/>
                    </a:ext>
                  </a:extLst>
                </a:gridCol>
                <a:gridCol w="1236216">
                  <a:extLst>
                    <a:ext uri="{9D8B030D-6E8A-4147-A177-3AD203B41FA5}">
                      <a16:colId xmlns:a16="http://schemas.microsoft.com/office/drawing/2014/main" val="3979505024"/>
                    </a:ext>
                  </a:extLst>
                </a:gridCol>
                <a:gridCol w="1236216">
                  <a:extLst>
                    <a:ext uri="{9D8B030D-6E8A-4147-A177-3AD203B41FA5}">
                      <a16:colId xmlns:a16="http://schemas.microsoft.com/office/drawing/2014/main" val="2351151117"/>
                    </a:ext>
                  </a:extLst>
                </a:gridCol>
              </a:tblGrid>
              <a:tr h="523575">
                <a:tc rowSpan="2">
                  <a:txBody>
                    <a:bodyPr/>
                    <a:lstStyle/>
                    <a:p>
                      <a:pPr algn="l" fontAlgn="t"/>
                      <a:endParaRPr lang="en-US" sz="140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effectLst/>
                        </a:rPr>
                        <a:t>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916499"/>
                  </a:ext>
                </a:extLst>
              </a:tr>
              <a:tr h="5235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u="none" strike="noStrike" dirty="0" err="1">
                          <a:solidFill>
                            <a:srgbClr val="1F80E8"/>
                          </a:solidFill>
                          <a:effectLst/>
                          <a:hlinkClick r:id="rId3"/>
                        </a:rPr>
                        <a:t>Mesokurtic</a:t>
                      </a:r>
                      <a:endParaRPr lang="en-US" sz="1400" b="1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u="none" strike="noStrike" dirty="0" err="1">
                          <a:solidFill>
                            <a:srgbClr val="1F80E8"/>
                          </a:solidFill>
                          <a:effectLst/>
                          <a:hlinkClick r:id="rId4"/>
                        </a:rPr>
                        <a:t>Platykurtic</a:t>
                      </a:r>
                      <a:endParaRPr lang="en-US" sz="1400" b="1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u="none" strike="noStrike" dirty="0">
                          <a:solidFill>
                            <a:srgbClr val="1F80E8"/>
                          </a:solidFill>
                          <a:effectLst/>
                          <a:hlinkClick r:id="rId5"/>
                        </a:rPr>
                        <a:t>Leptokurtic</a:t>
                      </a:r>
                      <a:endParaRPr lang="en-US" sz="1400" b="1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33872"/>
                  </a:ext>
                </a:extLst>
              </a:tr>
              <a:tr h="52357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 err="1">
                          <a:effectLst/>
                        </a:rPr>
                        <a:t>Tailedness</a:t>
                      </a:r>
                      <a:endParaRPr lang="en-US" sz="1400" b="1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Medium-tailed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Thin-tailed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Fat-tailed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058419"/>
                  </a:ext>
                </a:extLst>
              </a:tr>
              <a:tr h="524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effectLst/>
                        </a:rPr>
                        <a:t>Outlier 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64181"/>
                  </a:ext>
                </a:extLst>
              </a:tr>
              <a:tr h="52357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effectLst/>
                        </a:rPr>
                        <a:t>Kurtosis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effectLst/>
                        </a:rPr>
                        <a:t>Moderate (3)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Low (&lt; 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effectLst/>
                        </a:rPr>
                        <a:t>High (&gt; 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54517"/>
                  </a:ext>
                </a:extLst>
              </a:tr>
              <a:tr h="52430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effectLst/>
                        </a:rPr>
                        <a:t>Example distribution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u="none" strike="noStrike">
                          <a:solidFill>
                            <a:srgbClr val="1F80E8"/>
                          </a:solidFill>
                          <a:effectLst/>
                          <a:hlinkClick r:id="rId6"/>
                        </a:rPr>
                        <a:t>Normal</a:t>
                      </a:r>
                      <a:endParaRPr lang="en-US" sz="140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Uniform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Laplace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6271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1DB100F-CA98-1AC4-0BA4-D8C5367B23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495" y="3257868"/>
            <a:ext cx="4439969" cy="346471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3296180-393D-03FC-7A6D-F4D89DFBAF11}"/>
              </a:ext>
            </a:extLst>
          </p:cNvPr>
          <p:cNvSpPr txBox="1">
            <a:spLocks/>
          </p:cNvSpPr>
          <p:nvPr/>
        </p:nvSpPr>
        <p:spPr>
          <a:xfrm>
            <a:off x="7242005" y="3041886"/>
            <a:ext cx="1353355" cy="249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Kurtosis formula:</a:t>
            </a:r>
            <a:endParaRPr lang="en-IN" sz="1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73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738BF7-31E7-85BA-0AA6-11F5D7B25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792" y="918688"/>
            <a:ext cx="7808976" cy="55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26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41A9-B7B5-EDB9-68D8-0CBB4894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308529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91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1085</TotalTime>
  <Words>366</Words>
  <Application>Microsoft Office PowerPoint</Application>
  <PresentationFormat>Widescreen</PresentationFormat>
  <Paragraphs>65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Kurtosis</vt:lpstr>
      <vt:lpstr>Kurtosis: Topics</vt:lpstr>
      <vt:lpstr>Kurtosis</vt:lpstr>
      <vt:lpstr>Kurtosis: Formula</vt:lpstr>
      <vt:lpstr>Why Do We Study Kurtosis?</vt:lpstr>
      <vt:lpstr>Kurtosis (see jupyter n/b):</vt:lpstr>
      <vt:lpstr>PowerPoint Presentation</vt:lpstr>
      <vt:lpstr>STOP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120</cp:revision>
  <dcterms:created xsi:type="dcterms:W3CDTF">2025-09-22T02:44:38Z</dcterms:created>
  <dcterms:modified xsi:type="dcterms:W3CDTF">2025-11-07T17:59:58Z</dcterms:modified>
</cp:coreProperties>
</file>