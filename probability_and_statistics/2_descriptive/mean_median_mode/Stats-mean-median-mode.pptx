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84" r:id="rId3"/>
    <p:sldId id="291" r:id="rId4"/>
    <p:sldId id="292" r:id="rId5"/>
    <p:sldId id="293" r:id="rId6"/>
    <p:sldId id="286" r:id="rId7"/>
    <p:sldId id="294" r:id="rId8"/>
    <p:sldId id="289" r:id="rId9"/>
    <p:sldId id="265" r:id="rId10"/>
    <p:sldId id="295" r:id="rId11"/>
    <p:sldId id="287" r:id="rId12"/>
    <p:sldId id="297" r:id="rId13"/>
    <p:sldId id="290" r:id="rId14"/>
    <p:sldId id="267" r:id="rId15"/>
    <p:sldId id="288" r:id="rId16"/>
    <p:sldId id="296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AF168-1F45-43AC-A448-E0071C70822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130DB-7ED6-4B6D-A44C-A1471A05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25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F07E-D499-CDDC-3156-AA1062E9C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Mean-Median-Mode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042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855805" y="148309"/>
            <a:ext cx="2309787" cy="358611"/>
          </a:xfrm>
        </p:spPr>
        <p:txBody>
          <a:bodyPr>
            <a:normAutofit fontScale="90000"/>
          </a:bodyPr>
          <a:lstStyle/>
          <a:p>
            <a:r>
              <a:rPr lang="en-US" dirty="0"/>
              <a:t>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10" y="1884243"/>
            <a:ext cx="715477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= (Sum of data) / (Total number of data points)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of age 20, 40, 40, 50, 50, 35, 35, 48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(20 + 40 + 40 + 50 + 50 + 35 + 35 + 48)/8 = 40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approx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386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202EE-BCBB-F380-E2D8-06F153982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880E26-F19D-C053-34F9-A83425ACEA58}"/>
              </a:ext>
            </a:extLst>
          </p:cNvPr>
          <p:cNvSpPr txBox="1"/>
          <p:nvPr/>
        </p:nvSpPr>
        <p:spPr>
          <a:xfrm>
            <a:off x="576072" y="164557"/>
            <a:ext cx="96560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is mean useful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Understanding the central tendency of data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mean gives the "balance point" of the dataset.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If you have customer ages [20, 40, 40, 50, 50, 35, 35, 48],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tells you the typical age of your customers.</a:t>
            </a:r>
          </a:p>
        </p:txBody>
      </p:sp>
    </p:spTree>
    <p:extLst>
      <p:ext uri="{BB962C8B-B14F-4D97-AF65-F5344CB8AC3E}">
        <p14:creationId xmlns:p14="http://schemas.microsoft.com/office/powerpoint/2010/main" val="19854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A6E19-6D52-846B-0872-3775819B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16E2B7-92D9-FF0B-9662-4DC97736665F}"/>
              </a:ext>
            </a:extLst>
          </p:cNvPr>
          <p:cNvSpPr txBox="1"/>
          <p:nvPr/>
        </p:nvSpPr>
        <p:spPr>
          <a:xfrm>
            <a:off x="292608" y="164557"/>
            <a:ext cx="115854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is mean useful 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Feature engineering and preprocessing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machine learning algorithms assume features are centered around 0.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this, we have to perform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To perform standardization  (z-score normalization), we subtract the mean and divide by the standard deviation.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A36BA64-8D89-FC14-03D7-D7F74A979D51}"/>
              </a:ext>
            </a:extLst>
          </p:cNvPr>
          <p:cNvSpPr/>
          <p:nvPr/>
        </p:nvSpPr>
        <p:spPr>
          <a:xfrm>
            <a:off x="3267457" y="4855464"/>
            <a:ext cx="2368296" cy="1280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Standardization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FF38AB-870D-1A72-384F-5825BCB0EB8C}"/>
              </a:ext>
            </a:extLst>
          </p:cNvPr>
          <p:cNvSpPr/>
          <p:nvPr/>
        </p:nvSpPr>
        <p:spPr>
          <a:xfrm>
            <a:off x="7760208" y="4681267"/>
            <a:ext cx="1557528" cy="19385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 Learning</a:t>
            </a:r>
          </a:p>
          <a:p>
            <a:pPr algn="ctr"/>
            <a:r>
              <a:rPr lang="en-US" dirty="0"/>
              <a:t>Algorithm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C21B11C-3089-606E-D446-42FFECE21CC4}"/>
              </a:ext>
            </a:extLst>
          </p:cNvPr>
          <p:cNvSpPr/>
          <p:nvPr/>
        </p:nvSpPr>
        <p:spPr>
          <a:xfrm>
            <a:off x="6345936" y="5248656"/>
            <a:ext cx="1075944" cy="4480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449F27F-47A1-A085-A515-903C0C54D676}"/>
              </a:ext>
            </a:extLst>
          </p:cNvPr>
          <p:cNvSpPr/>
          <p:nvPr/>
        </p:nvSpPr>
        <p:spPr>
          <a:xfrm>
            <a:off x="905257" y="5271516"/>
            <a:ext cx="1722120" cy="4480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data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500A20-9980-DC88-3622-7160C4203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106756"/>
              </p:ext>
            </p:extLst>
          </p:nvPr>
        </p:nvGraphicFramePr>
        <p:xfrm>
          <a:off x="137160" y="3020060"/>
          <a:ext cx="386588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976">
                  <a:extLst>
                    <a:ext uri="{9D8B030D-6E8A-4147-A177-3AD203B41FA5}">
                      <a16:colId xmlns:a16="http://schemas.microsoft.com/office/drawing/2014/main" val="716761094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3192358742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707525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519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716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0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8545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CA81CEF-75A2-C93C-C0C0-C1E997D24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474155"/>
              </p:ext>
            </p:extLst>
          </p:nvPr>
        </p:nvGraphicFramePr>
        <p:xfrm>
          <a:off x="4855972" y="3020060"/>
          <a:ext cx="386588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976">
                  <a:extLst>
                    <a:ext uri="{9D8B030D-6E8A-4147-A177-3AD203B41FA5}">
                      <a16:colId xmlns:a16="http://schemas.microsoft.com/office/drawing/2014/main" val="716761094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3192358742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707525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519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716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0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85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412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2230A-A04A-29B0-FA9D-FBE37ECD3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7DB050-4928-8D3A-5A2A-B609CF1A6D80}"/>
              </a:ext>
            </a:extLst>
          </p:cNvPr>
          <p:cNvSpPr txBox="1"/>
          <p:nvPr/>
        </p:nvSpPr>
        <p:spPr>
          <a:xfrm>
            <a:off x="228600" y="164557"/>
            <a:ext cx="115854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is mean useful 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Handling missing data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Sometimes missing values are imputed using the mean of the feature.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If some "income" values are missing, you might replace them with the mean income of the dataset.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48D639-BED9-FD00-9AB4-F05EF250B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845742"/>
              </p:ext>
            </p:extLst>
          </p:nvPr>
        </p:nvGraphicFramePr>
        <p:xfrm>
          <a:off x="530352" y="3340100"/>
          <a:ext cx="386588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976">
                  <a:extLst>
                    <a:ext uri="{9D8B030D-6E8A-4147-A177-3AD203B41FA5}">
                      <a16:colId xmlns:a16="http://schemas.microsoft.com/office/drawing/2014/main" val="716761094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3192358742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707525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519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716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0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85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(Missing)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01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436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436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047FF-1BD9-ED17-5BB4-1FB91FE7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386CBB-08F4-EF7F-C2C7-E11788667942}"/>
              </a:ext>
            </a:extLst>
          </p:cNvPr>
          <p:cNvSpPr txBox="1"/>
          <p:nvPr/>
        </p:nvSpPr>
        <p:spPr>
          <a:xfrm>
            <a:off x="155448" y="228565"/>
            <a:ext cx="83850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is mean useful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Comparing groups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allows comparison between groups or time periods.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Comparing mean sales before vs. after a marketing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Performance metrics in ML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evaluation metrics are based on means.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Mean Squared Error (MSE) in regression is the mean of squared differences between predicted and actual values.</a:t>
            </a:r>
          </a:p>
        </p:txBody>
      </p:sp>
    </p:spTree>
    <p:extLst>
      <p:ext uri="{BB962C8B-B14F-4D97-AF65-F5344CB8AC3E}">
        <p14:creationId xmlns:p14="http://schemas.microsoft.com/office/powerpoint/2010/main" val="3811746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D68BD-FF3C-9F28-2DE1-3593FF965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1016C1-17EF-3F9F-BD84-F69D37F356C9}"/>
              </a:ext>
            </a:extLst>
          </p:cNvPr>
          <p:cNvSpPr txBox="1"/>
          <p:nvPr/>
        </p:nvSpPr>
        <p:spPr>
          <a:xfrm>
            <a:off x="155448" y="228565"/>
            <a:ext cx="920800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is mean useful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Aggregating data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exploratory data analysis (EDA), we often compute means across categories.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The mean salary for each job role in a company.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Identifying trends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Means can smooth out random fluctuations and highlight the overall trend.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Moving averages in time series help detect patterns in stock prices or COVID-19 cases.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64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E23E-9A2D-7FB6-BA48-B3BB1216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C61403-3A5F-6AF4-DEAB-0C9DEF0EE6DD}"/>
              </a:ext>
            </a:extLst>
          </p:cNvPr>
          <p:cNvSpPr/>
          <p:nvPr/>
        </p:nvSpPr>
        <p:spPr>
          <a:xfrm>
            <a:off x="237744" y="438818"/>
            <a:ext cx="84307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Mean Is Not Ideal: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skewed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income, housing prices)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many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ordinal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(use median or mode instead)</a:t>
            </a:r>
          </a:p>
        </p:txBody>
      </p:sp>
    </p:spTree>
    <p:extLst>
      <p:ext uri="{BB962C8B-B14F-4D97-AF65-F5344CB8AC3E}">
        <p14:creationId xmlns:p14="http://schemas.microsoft.com/office/powerpoint/2010/main" val="117971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0254" y="401772"/>
            <a:ext cx="1078511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Median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middle value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a dataset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the values are arranged in order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(ascending or descending).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dataset has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odd number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values → the median is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middle number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dataset has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number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values → the median is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average of the two middle numbers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Find median: 4, 120, 7, 2, 5, 7, 6, 4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Arrange data in ascending: 2,4,4,5,6,7,7,120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Step2: Middle value: (5+6)/2 = 5.5</a:t>
            </a:r>
          </a:p>
        </p:txBody>
      </p:sp>
    </p:spTree>
    <p:extLst>
      <p:ext uri="{BB962C8B-B14F-4D97-AF65-F5344CB8AC3E}">
        <p14:creationId xmlns:p14="http://schemas.microsoft.com/office/powerpoint/2010/main" val="1191145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E598C-3124-481F-18A2-35C1AEC5D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DA3F987-285F-3DF6-5DA4-5E14B55583FD}"/>
              </a:ext>
            </a:extLst>
          </p:cNvPr>
          <p:cNvSpPr/>
          <p:nvPr/>
        </p:nvSpPr>
        <p:spPr>
          <a:xfrm>
            <a:off x="160254" y="401772"/>
            <a:ext cx="1078511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is Median Useful?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Unlike the mean, the median is not affected by extreme values (outliers).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It gives a better sense of typical value, especially for skewed distributions.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it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when your data is skewed or contains outliers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answers: What is the “middle” experience in this data? It’s commonly used in income, housing prices, commute time, wait time, etc.</a:t>
            </a:r>
          </a:p>
        </p:txBody>
      </p:sp>
    </p:spTree>
    <p:extLst>
      <p:ext uri="{BB962C8B-B14F-4D97-AF65-F5344CB8AC3E}">
        <p14:creationId xmlns:p14="http://schemas.microsoft.com/office/powerpoint/2010/main" val="1240589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B1A5-3C5C-14F6-19F8-8DF00AF2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1248C1-EEFC-B713-CC6C-A912E03F8417}"/>
              </a:ext>
            </a:extLst>
          </p:cNvPr>
          <p:cNvSpPr txBox="1"/>
          <p:nvPr/>
        </p:nvSpPr>
        <p:spPr>
          <a:xfrm>
            <a:off x="219456" y="215170"/>
            <a:ext cx="1100023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is Median preferred over mean: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Income / Salary Data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Why: A few very high salaries (CEOs, founders) can drastically pull the mean upward, making it misleading.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* Salaries = `[30k, 32k, 35k, 40k, 5M]`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* Mean ≈ **1M** (misleading)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* Median = **35k** (much more realistic for a "typical" worker).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That’s why governments and organizations often report **median household income** instead of mean.</a:t>
            </a:r>
          </a:p>
        </p:txBody>
      </p:sp>
    </p:spTree>
    <p:extLst>
      <p:ext uri="{BB962C8B-B14F-4D97-AF65-F5344CB8AC3E}">
        <p14:creationId xmlns:p14="http://schemas.microsoft.com/office/powerpoint/2010/main" val="981618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C19FF-6010-9A00-E756-4C22986F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BFD7278-B133-D9A8-386F-05F83E17BA0E}"/>
              </a:ext>
            </a:extLst>
          </p:cNvPr>
          <p:cNvSpPr txBox="1"/>
          <p:nvPr/>
        </p:nvSpPr>
        <p:spPr>
          <a:xfrm>
            <a:off x="219456" y="215170"/>
            <a:ext cx="110002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is Median preferred over mean: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Real Estate Prices (Housing Market)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Why: A few luxury houses worth millions can skew the mean.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* House prices = `[100k, 120k, 150k, 180k, 5M]`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* Mean ≈ **1.1M** (misleading for most buyers)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* Median = **150k** (typical house price).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That’s why real estate reports usually use **median home price**.</a:t>
            </a:r>
          </a:p>
        </p:txBody>
      </p:sp>
    </p:spTree>
    <p:extLst>
      <p:ext uri="{BB962C8B-B14F-4D97-AF65-F5344CB8AC3E}">
        <p14:creationId xmlns:p14="http://schemas.microsoft.com/office/powerpoint/2010/main" val="3257925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8FA3-DD97-4D37-87DE-1647FE6F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F5CD11-B3C0-7693-9192-93447CD27276}"/>
              </a:ext>
            </a:extLst>
          </p:cNvPr>
          <p:cNvSpPr txBox="1"/>
          <p:nvPr/>
        </p:nvSpPr>
        <p:spPr>
          <a:xfrm>
            <a:off x="182880" y="215170"/>
            <a:ext cx="105064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Summary: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over mean when: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Data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skewed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income, housing prices).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Data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would distort the mean.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Distribution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non-normal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so the mean doesn’t capture a “typical” value well.</a:t>
            </a:r>
          </a:p>
        </p:txBody>
      </p:sp>
    </p:spTree>
    <p:extLst>
      <p:ext uri="{BB962C8B-B14F-4D97-AF65-F5344CB8AC3E}">
        <p14:creationId xmlns:p14="http://schemas.microsoft.com/office/powerpoint/2010/main" val="3339648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6816" y="76053"/>
            <a:ext cx="1123147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descriptive statistics is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value that appears most frequently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a dataset. Unlike the mean (average) or median (middle value), the mode tells us about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common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item.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dataset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have one mode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(unimodal),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than one mode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(bimodal or multimodal),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mode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all values occur with the same frequency.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Unimodal: ratings -&gt; [2, 2, 4, 6, 5, 5, 5, 5, 1]   Here there is only one mode, 5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Bimodal: ratings -&gt; [2, 2, 4, 1, 5, 5, 5, 5, 3, 3, 3, 3]   Here there are 2 modes, 5 and 3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great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discrete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where mean/median may not make sense.</a:t>
            </a:r>
          </a:p>
        </p:txBody>
      </p:sp>
    </p:spTree>
    <p:extLst>
      <p:ext uri="{BB962C8B-B14F-4D97-AF65-F5344CB8AC3E}">
        <p14:creationId xmlns:p14="http://schemas.microsoft.com/office/powerpoint/2010/main" val="3077416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AC68-A2A7-4210-111A-F2B147BF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7AB66-0FED-8163-59A1-B18C09A46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01" y="148309"/>
            <a:ext cx="4685907" cy="308891"/>
          </a:xfrm>
        </p:spPr>
        <p:txBody>
          <a:bodyPr>
            <a:normAutofit fontScale="90000"/>
          </a:bodyPr>
          <a:lstStyle/>
          <a:p>
            <a:r>
              <a:rPr lang="en-US" dirty="0"/>
              <a:t>Mode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003945-ED4A-5A43-332E-EA229ABEBA9A}"/>
              </a:ext>
            </a:extLst>
          </p:cNvPr>
          <p:cNvSpPr txBox="1"/>
          <p:nvPr/>
        </p:nvSpPr>
        <p:spPr>
          <a:xfrm>
            <a:off x="201168" y="588502"/>
            <a:ext cx="103692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Most Common Category (Customer Preferences)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A clothing store wants to know the most popular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shirt size.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Data: `["M", "L", "M", "S", "M", "L"]`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Mode = "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(most customers prefer medium size).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Most Common Complaint / Response in Surveys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A customer survey asks: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"Which feature do you use the most?"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Responses: `["Search", "Chat", "Search", "Chat", "Search", "Profile"]`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 = **"Search"** (most selected feature).</a:t>
            </a:r>
          </a:p>
        </p:txBody>
      </p:sp>
    </p:spTree>
    <p:extLst>
      <p:ext uri="{BB962C8B-B14F-4D97-AF65-F5344CB8AC3E}">
        <p14:creationId xmlns:p14="http://schemas.microsoft.com/office/powerpoint/2010/main" val="2591531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9E4E-8E27-2B60-5377-CFE28171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386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51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2407</TotalTime>
  <Words>1124</Words>
  <Application>Microsoft Office PowerPoint</Application>
  <PresentationFormat>Widescreen</PresentationFormat>
  <Paragraphs>177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Mean-Median-Mode</vt:lpstr>
      <vt:lpstr>Mean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140</cp:revision>
  <dcterms:created xsi:type="dcterms:W3CDTF">2025-09-22T02:44:38Z</dcterms:created>
  <dcterms:modified xsi:type="dcterms:W3CDTF">2026-04-04T11:25:27Z</dcterms:modified>
</cp:coreProperties>
</file>