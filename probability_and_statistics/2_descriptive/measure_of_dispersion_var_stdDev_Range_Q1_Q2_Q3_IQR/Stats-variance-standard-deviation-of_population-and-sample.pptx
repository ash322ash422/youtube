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98" r:id="rId2"/>
    <p:sldId id="264" r:id="rId3"/>
    <p:sldId id="300" r:id="rId4"/>
    <p:sldId id="289" r:id="rId5"/>
    <p:sldId id="291" r:id="rId6"/>
    <p:sldId id="292" r:id="rId7"/>
    <p:sldId id="296" r:id="rId8"/>
    <p:sldId id="293" r:id="rId9"/>
    <p:sldId id="299" r:id="rId10"/>
    <p:sldId id="279" r:id="rId11"/>
    <p:sldId id="287" r:id="rId12"/>
    <p:sldId id="297" r:id="rId13"/>
    <p:sldId id="2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02A78-C460-4462-8104-10395055D72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41D09-26B3-4D55-9BC3-ED0100171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6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1D09-26B3-4D55-9BC3-ED0100171C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73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46CE-D9A8-3D20-F386-B63CB020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3E230-3320-D4E5-65B7-CD166B615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549DE-33AE-2D2C-EEB6-2AA41978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7DA15-D059-01FA-691C-A4014D160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1D09-26B3-4D55-9BC3-ED0100171C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69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1D09-26B3-4D55-9BC3-ED0100171C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3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BDEA-E96E-4B1C-7AE8-7A3555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1562D-EA2C-85E5-96E7-E4866D987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4B536-3BF4-79A3-270B-5EAC3B9F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028B-2BA8-31EF-C78A-B87E75130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1D09-26B3-4D55-9BC3-ED0100171C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8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875157" cy="14453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D6073-7F3C-81D1-6863-E850D2D1D0A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1353800" y="58381"/>
            <a:ext cx="795896" cy="6134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softEdge rad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5448-C507-927B-714C-E5E8E2EB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Variance And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3128-19CD-F6CB-8A40-ED0BDCE1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Problem: Can you tell which of the following data has more spread ?</a:t>
            </a:r>
          </a:p>
          <a:p>
            <a:pPr marL="514350" indent="-514350">
              <a:buAutoNum type="alphaUcParenR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1, 1, 0, 0, 5, 9, 9, 10, 10, 5</a:t>
            </a:r>
          </a:p>
          <a:p>
            <a:pPr marL="5143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4, 3, 5, 6, 7, 3, 5, 6, 4, 5</a:t>
            </a:r>
          </a:p>
          <a:p>
            <a:pPr marL="514350" indent="-514350">
              <a:buFont typeface="Arial" panose="020B0604020202020204" pitchFamily="34" charset="0"/>
              <a:buAutoNum type="alphaUcParenR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5, 5, 5, 5, 5, 5, 5, 5, 5, 5</a:t>
            </a:r>
          </a:p>
          <a:p>
            <a:pPr marL="514350" indent="-514350">
              <a:buFont typeface="Arial" panose="020B0604020202020204" pitchFamily="34" charset="0"/>
              <a:buAutoNum type="alphaUcParenR"/>
            </a:pP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lphaU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8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D02E9C-7024-EF92-39D1-96FC3D9B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712" y="4285285"/>
            <a:ext cx="2880411" cy="1414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7DD396-131F-DBF3-8C7C-E75A82BC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64" y="178312"/>
            <a:ext cx="8799123" cy="52961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Variance and Standard deviation of population</a:t>
            </a:r>
            <a:endParaRPr lang="en-IN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9CF35C-365B-DE94-084A-E84350FD26B2}"/>
                  </a:ext>
                </a:extLst>
              </p:cNvPr>
              <p:cNvSpPr txBox="1"/>
              <p:nvPr/>
            </p:nvSpPr>
            <p:spPr>
              <a:xfrm>
                <a:off x="314633" y="876626"/>
                <a:ext cx="11215951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Variance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is a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measure of how much dispersed  (or spread or scattered) your data is from its mean value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.  </a:t>
                </a: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Variance is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difficult</a:t>
                </a:r>
                <a:r>
                  <a:rPr lang="en-US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to interpret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because of squared units. </a:t>
                </a:r>
              </a:p>
              <a:p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For example,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0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0" dirty="0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are in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000" i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g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then variance is going to be in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000" i="0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9CF35C-365B-DE94-084A-E84350FD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3" y="876626"/>
                <a:ext cx="11215951" cy="2862322"/>
              </a:xfrm>
              <a:prstGeom prst="rect">
                <a:avLst/>
              </a:prstGeom>
              <a:blipFill>
                <a:blip r:embed="rId4"/>
                <a:stretch>
                  <a:fillRect l="-598" t="-1279" r="-32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9571FDD-5811-8BEB-CCA6-11D3E57C3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553" y="1641020"/>
            <a:ext cx="5793477" cy="1106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FF1A40-F570-34F5-BFE3-CE0D4C7E6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3" y="4031039"/>
            <a:ext cx="9668256" cy="2648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126BA9-936D-E16D-99C4-24BE7B827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5712" y="1422963"/>
            <a:ext cx="2916288" cy="1542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C9BE41-E813-07B0-CDF6-BA5129777B9F}"/>
              </a:ext>
            </a:extLst>
          </p:cNvPr>
          <p:cNvSpPr txBox="1"/>
          <p:nvPr/>
        </p:nvSpPr>
        <p:spPr>
          <a:xfrm>
            <a:off x="10205175" y="2989985"/>
            <a:ext cx="141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62C16-C2BB-C0EB-4C58-7ADD64FED419}"/>
              </a:ext>
            </a:extLst>
          </p:cNvPr>
          <p:cNvSpPr txBox="1"/>
          <p:nvPr/>
        </p:nvSpPr>
        <p:spPr>
          <a:xfrm>
            <a:off x="10205174" y="5752587"/>
            <a:ext cx="1455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variance</a:t>
            </a:r>
          </a:p>
        </p:txBody>
      </p:sp>
    </p:spTree>
    <p:extLst>
      <p:ext uri="{BB962C8B-B14F-4D97-AF65-F5344CB8AC3E}">
        <p14:creationId xmlns:p14="http://schemas.microsoft.com/office/powerpoint/2010/main" val="359256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A6A27-36A8-2E40-A3D5-6CC4E5B4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E713000-D44E-03D9-A284-D602B007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095" y="1494716"/>
            <a:ext cx="3879272" cy="2051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94D88D-2AFE-F9E9-5ED2-D2F396C1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964" y="178312"/>
            <a:ext cx="8799123" cy="52961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Variance and Standard deviation of population</a:t>
            </a:r>
            <a:endParaRPr lang="en-IN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F86E9-CA74-C277-4749-34EB0C390024}"/>
                  </a:ext>
                </a:extLst>
              </p:cNvPr>
              <p:cNvSpPr txBox="1"/>
              <p:nvPr/>
            </p:nvSpPr>
            <p:spPr>
              <a:xfrm>
                <a:off x="314633" y="876626"/>
                <a:ext cx="11215951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Standard Deviation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el-GR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σ 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is the square root of variance. </a:t>
                </a:r>
              </a:p>
              <a:p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Std. Dev. </a:t>
                </a:r>
                <a:r>
                  <a:rPr lang="en-IN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easy to interpret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because it is in same unit as data points.</a:t>
                </a:r>
              </a:p>
              <a:p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For example,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are in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000" i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g</a:t>
                </a:r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then standard dev. is going to be in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000" i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g.</a:t>
                </a:r>
                <a:endParaRPr lang="en-IN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F86E9-CA74-C277-4749-34EB0C390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3" y="876626"/>
                <a:ext cx="11215951" cy="1323439"/>
              </a:xfrm>
              <a:prstGeom prst="rect">
                <a:avLst/>
              </a:prstGeom>
              <a:blipFill>
                <a:blip r:embed="rId4"/>
                <a:stretch>
                  <a:fillRect l="-598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BDE1309-F39B-AD33-EC4B-5E0FAE2A1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3" y="2368769"/>
            <a:ext cx="4054607" cy="346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484CB5-7CBA-4180-8AE5-6EE83091D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127" y="4223941"/>
            <a:ext cx="3831548" cy="1882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F7DAEB-7DC5-F3D2-FE47-D78C9E9A1492}"/>
              </a:ext>
            </a:extLst>
          </p:cNvPr>
          <p:cNvSpPr txBox="1"/>
          <p:nvPr/>
        </p:nvSpPr>
        <p:spPr>
          <a:xfrm>
            <a:off x="8705559" y="3465576"/>
            <a:ext cx="23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standard deviation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80742-65A6-5943-80C8-4CFB41FC7C84}"/>
              </a:ext>
            </a:extLst>
          </p:cNvPr>
          <p:cNvSpPr txBox="1"/>
          <p:nvPr/>
        </p:nvSpPr>
        <p:spPr>
          <a:xfrm>
            <a:off x="8711655" y="6123432"/>
            <a:ext cx="2418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High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deviation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735F67-F274-AB35-4DD0-D99132A9C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90" y="3492107"/>
            <a:ext cx="8104632" cy="300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9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571A58-3333-DE31-1975-DC6558543C32}"/>
                  </a:ext>
                </a:extLst>
              </p:cNvPr>
              <p:cNvSpPr txBox="1"/>
              <p:nvPr/>
            </p:nvSpPr>
            <p:spPr>
              <a:xfrm>
                <a:off x="320040" y="20069"/>
                <a:ext cx="10222992" cy="6584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Example1: Large spread around mean </a:t>
                </a:r>
              </a:p>
              <a:p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Suppose monthly income of population in a city is 1, 1, 0, 0, 5, 9, 9, 10, 10, 5.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the variance and standard deviation for this population.</a:t>
                </a: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Ans: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Here size n = 10, and  </a:t>
                </a:r>
                <a:r>
                  <a:rPr lang="en-US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mean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= (1 + 1 + 0 + 0 + 5 + 9 + 9 + 10 + 10 + 5)/ 10 = 5	.</a:t>
                </a: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endParaRPr lang="en-US" sz="2000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Standard deviation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el-GR" sz="20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σ </a:t>
                </a:r>
                <a:r>
                  <a:rPr lang="en-US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 dirty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16.8</m:t>
                        </m:r>
                      </m:e>
                    </m:rad>
                  </m:oMath>
                </a14:m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= 4.1</a:t>
                </a:r>
              </a:p>
              <a:p>
                <a:r>
                  <a:rPr lang="en-IN" sz="2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There is some dispersion / spread in data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571A58-3333-DE31-1975-DC6558543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20069"/>
                <a:ext cx="10222992" cy="6584623"/>
              </a:xfrm>
              <a:prstGeom prst="rect">
                <a:avLst/>
              </a:prstGeom>
              <a:blipFill>
                <a:blip r:embed="rId2"/>
                <a:stretch>
                  <a:fillRect l="-656" t="-463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2DB6792-1E7E-FD03-C095-7D6D6A9FB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397" y="5506047"/>
            <a:ext cx="7075603" cy="9795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D9948E-C34B-E6D4-6779-8B56D65D2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874395"/>
            <a:ext cx="9054084" cy="363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5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6722-6EF0-112B-D677-F4086B1F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D250A6-29FE-175B-F58B-D0986977AD98}"/>
                  </a:ext>
                </a:extLst>
              </p:cNvPr>
              <p:cNvSpPr txBox="1"/>
              <p:nvPr/>
            </p:nvSpPr>
            <p:spPr>
              <a:xfrm>
                <a:off x="320040" y="385829"/>
                <a:ext cx="11329416" cy="6587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Example2: Few spread around mean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Consider the package weights (in kilograms) produced on a production line: 4, 3, 5, 6, 7, 3, 5, 6, 4, 5.</a:t>
                </a:r>
                <a:b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the variance and standard deviation for this population.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Here size n = 10, and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(4 + 3 + 5 + 6 + 7 + 3 + 5 + 6 + 4 + 5)/ 10 = 4.8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1.56</m:t>
                        </m:r>
                      </m:e>
                    </m:rad>
                  </m:oMath>
                </a14:m>
                <a:r>
                  <a:rPr lang="en-IN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1.3 </a:t>
                </a:r>
                <a:r>
                  <a:rPr lang="en-I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Kg</a:t>
                </a:r>
              </a:p>
              <a:p>
                <a:endParaRPr lang="en-IN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IN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data is less dispersed. </a:t>
                </a:r>
              </a:p>
              <a:p>
                <a:r>
                  <a:rPr lang="en-IN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Variance in data went down</a:t>
                </a: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D250A6-29FE-175B-F58B-D0986977A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385829"/>
                <a:ext cx="11329416" cy="6587765"/>
              </a:xfrm>
              <a:prstGeom prst="rect">
                <a:avLst/>
              </a:prstGeom>
              <a:blipFill>
                <a:blip r:embed="rId2"/>
                <a:stretch>
                  <a:fillRect l="-592" t="-463" b="-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512C720-62E5-8CAF-505A-998A8A3D8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5351289"/>
            <a:ext cx="7190232" cy="12271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3E0569-0EF3-2A5F-2DAA-293543C2B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14957"/>
            <a:ext cx="6449998" cy="330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2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41096-A274-E3DD-2600-739E4DFF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AA777E-C9FA-CFD1-7F32-BBF1F9CD8D08}"/>
                  </a:ext>
                </a:extLst>
              </p:cNvPr>
              <p:cNvSpPr txBox="1"/>
              <p:nvPr/>
            </p:nvSpPr>
            <p:spPr>
              <a:xfrm>
                <a:off x="320040" y="385829"/>
                <a:ext cx="11201400" cy="6584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Example3: Time intervals (in seconds) between each operation in an assembly line (high precision)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Consider the time intervals (in seconds) between operations on an assembly line for all 10 machines:</a:t>
                </a:r>
                <a:b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5, 5, 5, 5, 5, 5, 5, 5, 5, 5.</a:t>
                </a:r>
                <a:b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the variance and standard deviation for this population.</a:t>
                </a:r>
              </a:p>
              <a:p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size n = 10, and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(5 + 5 + 5 + … + 5)/ 10 = 5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rad>
                  </m:oMath>
                </a14:m>
                <a:r>
                  <a:rPr lang="en-IN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0 seconds</a:t>
                </a:r>
              </a:p>
              <a:p>
                <a:r>
                  <a:rPr lang="en-I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data has no dispersion. </a:t>
                </a:r>
              </a:p>
              <a:p>
                <a:r>
                  <a:rPr lang="en-I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Zero variance in data.</a:t>
                </a:r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AA777E-C9FA-CFD1-7F32-BBF1F9CD8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385829"/>
                <a:ext cx="11201400" cy="6584623"/>
              </a:xfrm>
              <a:prstGeom prst="rect">
                <a:avLst/>
              </a:prstGeom>
              <a:blipFill>
                <a:blip r:embed="rId2"/>
                <a:stretch>
                  <a:fillRect l="-599" t="-463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A8FD935-10F3-D229-2E9C-351F50AEC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7933" y="4690872"/>
            <a:ext cx="6954068" cy="1781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C9D799-AA70-6CAD-88AB-A7DA66D8B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35708"/>
            <a:ext cx="6606882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1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3EB3-3CB4-FFC4-2435-6E2C7B62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38"/>
            <a:ext cx="10515600" cy="707886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548BA-52AA-A832-7EA9-CD51615B1CA4}"/>
              </a:ext>
            </a:extLst>
          </p:cNvPr>
          <p:cNvSpPr txBox="1"/>
          <p:nvPr/>
        </p:nvSpPr>
        <p:spPr>
          <a:xfrm>
            <a:off x="612648" y="851053"/>
            <a:ext cx="10954512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data points are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far from the mean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-&gt;  Variance is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large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Data is more dispersed or more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all data points are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close to the mean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-&gt; Variance is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small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Data is less dispersed or less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Case A: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1, 1, 0, 0, 5, 9, 9, 10, 10, 5 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variance = 16.8</a:t>
            </a: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Case B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4, 3, 5, 6, 7, 3, 5, 6, 4, 5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variance = 1.56</a:t>
            </a: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Case C: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5, 5, 5, 5, 5, 5, 5, 5, 5, 5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variance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E9E1C-6BA4-3C3F-527A-D2736C4D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390" y="2103484"/>
            <a:ext cx="7349610" cy="10175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4A5074-F8EF-E1A5-D454-BC8813131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390" y="3325010"/>
            <a:ext cx="7190232" cy="1227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19271E-E5DB-543B-9FAF-CDD4531E3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2390" y="4710497"/>
            <a:ext cx="6954068" cy="178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4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7B40-73A7-0693-DF6B-B08C6BB9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" y="7377"/>
            <a:ext cx="11807952" cy="613283"/>
          </a:xfrm>
        </p:spPr>
        <p:txBody>
          <a:bodyPr>
            <a:noAutofit/>
          </a:bodyPr>
          <a:lstStyle/>
          <a:p>
            <a:r>
              <a:rPr lang="en-US" sz="2800" dirty="0"/>
              <a:t>How standard deviation controls dispersion/spread of distribution curve: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268D-8737-3B7B-4302-7E997D6EB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" y="591184"/>
            <a:ext cx="6440424" cy="5980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1) Following is 100 samples taken from population with 1050 data points with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high</a:t>
            </a:r>
            <a:r>
              <a:rPr lang="en-US" sz="2000" dirty="0"/>
              <a:t> std dev. (This could be temperature.)</a:t>
            </a:r>
          </a:p>
          <a:p>
            <a:pPr marL="0" indent="0">
              <a:buNone/>
            </a:pPr>
            <a:r>
              <a:rPr lang="en-US" sz="2000" dirty="0"/>
              <a:t>6.987, 4.447, 7.591, 11.092, 4.063, 4.063, 11.317, 8.070, 3.122, 7.170, 3.146, 3.137, 5.968, -2.653, -1.900, 2.751, 0.949, 6.257, 1.368, -0.649, 10.863, 4.097, 5.270, -0.699, 2.822, 5.444, 0.396, 6.503, 2.597, 3.833, 2.593, 12.409, 4.946, 0.769, 8.290, 0.117, 5.835, -2.839, -0.313, 5.787, 7.954, 5.685, 4.537, 3.796, -0.914, 2.121, 3.157, 9.228, 6.374, -2.052, 6.296, 3.460, 2.292, 7.447, 9.124, 8.725, 1.643, 3.763, 6.325, 8.902, 3.083, 4.257, 0.575, 0.215, 8.250, 10.425, 4.712, 9.014, 6.447, 2.420, 6.446, 11.152, 4.857, 11.259, -5.479, 8.288, 5.348, 3.804, 5.367, -2.950, 4.121, 6.428, 10.912, 2.927, 1.766, 2.993, 8.662, 6.315, 2.881, 7.053, 5.388, 8.875, 2.192, 3.689, 3.432, -0.854, 6.184, 6.044, 5.020, 4.062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Sample mean: 5,  Sample std dev: </a:t>
            </a:r>
            <a:r>
              <a:rPr lang="en-US" sz="20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92495C-FD54-23D4-2E10-C93A7ECBF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964" y="655192"/>
            <a:ext cx="5352624" cy="591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8AB8-2932-C56C-B7E9-801F5BF7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6582-DE41-460F-ED23-55EFCE07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" y="7377"/>
            <a:ext cx="11807952" cy="613283"/>
          </a:xfrm>
        </p:spPr>
        <p:txBody>
          <a:bodyPr>
            <a:noAutofit/>
          </a:bodyPr>
          <a:lstStyle/>
          <a:p>
            <a:r>
              <a:rPr lang="en-US" sz="2800" dirty="0"/>
              <a:t>How standard deviation controls dispersion/spread of distribution curve: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CC61-B3FD-18ED-3379-5AC6A89F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" y="591184"/>
            <a:ext cx="6440424" cy="5980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2) Following is 100 samples taken from population with 1050 data points with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low</a:t>
            </a:r>
            <a:r>
              <a:rPr lang="en-US" sz="2000" dirty="0"/>
              <a:t> std dev</a:t>
            </a:r>
          </a:p>
          <a:p>
            <a:pPr marL="0" indent="0">
              <a:buNone/>
            </a:pPr>
            <a:r>
              <a:rPr lang="en-US" sz="2000" dirty="0"/>
              <a:t>4.322, 4.695, 4.403, 5.110, 6.197, 4.229, 6.001, 4.218, 4.152, 5.819, 5.922, 5.851, 3.684, 4.534, 5.823, 5.042, 3.926, 5.458, 4.285, 6.795, 6.545, 5.604, 6.361, 5.065, 5.765, 6.478, 5.245, 4.745, 3.295, 4.917, 5.823, 5.946, 5.504, 4.459, 3.023, 4.505, 4.696, 4.687, 5.619, 6.986, 5.124, 4.783, 4.741, 5.124, 4.172, 5.120, 5.451, 5.210, 5.458, 5.434, 3.228, 5.637, 4.329, 3.904, 3.896, 5.434, 4.777, 3.318, 5.478, 3.560, 5.140, 5.238, 5.886, 6.782, 3.635, 4.948, 4.724, 5.434, 5.216, 4.647, 4.559, 3.884, 5.988, 5.459, 5.918, 4.690, 4.343, 3.922, 5.359, 3.960, 6.849, 3.692, 5.274, 6.567, 5.599, 5.176, 4.032, 3.618, 5.770, 6.506, 4.561, 3.861, 2.542, 4.019, 4.886, 6.599, 5.673, 5.305, 4.600, 4.417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Sample mean: 5, Sample std dev: </a:t>
            </a:r>
            <a:r>
              <a:rPr lang="en-US" sz="20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endParaRPr lang="en-US" sz="2000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AD1EA3-92FC-EFE5-C03A-578EBFFD4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964" y="655192"/>
            <a:ext cx="5352624" cy="591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9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1FB00DD-FBD5-FA23-D94D-174B106C5385}"/>
              </a:ext>
            </a:extLst>
          </p:cNvPr>
          <p:cNvSpPr txBox="1"/>
          <p:nvPr/>
        </p:nvSpPr>
        <p:spPr>
          <a:xfrm>
            <a:off x="128016" y="170379"/>
            <a:ext cx="11201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the 2 measure: variance and std. dev.?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Variance is the average squared deviation from the mean. So,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data is in, say, cm, then variance is in square cm (cm²).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Squared units aren’t directly interpretable: nobody says “the spread of your height is 100 cm²”.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taking the square root as in standard deviation, you bring the units back to the original scale: cm -&gt; cm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mean height is 170 cm and variance is 100 cm²,  then standard deviation would 10 cm:  that is , you can say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“Most data is within 10 cm above or below the mean.”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5780A-3788-F32E-340D-CC3246004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45" y="4629544"/>
            <a:ext cx="4574617" cy="1695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2468CC-9AAC-C490-5589-514AB167B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02" y="4407408"/>
            <a:ext cx="6984695" cy="1333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C18753-DE5D-13C8-A4BB-D1187DEFD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38" y="6060542"/>
            <a:ext cx="4054607" cy="34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9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8D0F-EC7C-8214-A4B9-C62D85F5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DD92653-1FC1-DE6B-8A0A-060A1A5BCBA9}"/>
              </a:ext>
            </a:extLst>
          </p:cNvPr>
          <p:cNvSpPr txBox="1"/>
          <p:nvPr/>
        </p:nvSpPr>
        <p:spPr>
          <a:xfrm>
            <a:off x="266656" y="3807624"/>
            <a:ext cx="4735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</a:t>
            </a: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population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variance, divide by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</a:t>
            </a:r>
            <a:r>
              <a:rPr lang="en-IN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sample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variance, divide by n-1</a:t>
            </a:r>
          </a:p>
          <a:p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large n, the result is almost same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144F2-0AD3-127F-E57A-555DC84F0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3" y="873047"/>
            <a:ext cx="6036636" cy="1231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3880D-199B-9076-E16C-A33A2B075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66" y="2377990"/>
            <a:ext cx="3711088" cy="1051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08E85-DBF1-D2E0-EC20-B5034DBB8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431" y="902984"/>
            <a:ext cx="5501977" cy="10797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299487-BCD1-7CDF-E17D-30FA8034F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597447"/>
            <a:ext cx="6986155" cy="1583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70B84D-83A3-941B-41A0-0E00930BC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7" y="4318518"/>
            <a:ext cx="3535035" cy="220827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2A668CC-6720-195A-8BC5-DBACA8A8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8" y="178312"/>
            <a:ext cx="10940057" cy="52961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Population variance                   versus         Sample variance</a:t>
            </a:r>
            <a:endParaRPr lang="en-IN" sz="2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182306-A496-2D51-FAB6-09080C8F91D3}"/>
              </a:ext>
            </a:extLst>
          </p:cNvPr>
          <p:cNvCxnSpPr>
            <a:cxnSpLocks/>
          </p:cNvCxnSpPr>
          <p:nvPr/>
        </p:nvCxnSpPr>
        <p:spPr>
          <a:xfrm>
            <a:off x="6300216" y="629048"/>
            <a:ext cx="0" cy="18955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66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23318-EF0F-240D-A8BA-037ACB19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6172D4-F4E2-5099-BD68-CEFB5F35A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95" y="2138594"/>
            <a:ext cx="5332905" cy="3331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59C537-9842-B477-4A89-9682F3ED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8" y="178312"/>
            <a:ext cx="9572287" cy="52961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to decide which variance to use: population or sample?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181EC3-1337-478F-6F19-63E746B3A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87364"/>
              </p:ext>
            </p:extLst>
          </p:nvPr>
        </p:nvGraphicFramePr>
        <p:xfrm>
          <a:off x="51028" y="2236649"/>
          <a:ext cx="7488936" cy="3810000"/>
        </p:xfrm>
        <a:graphic>
          <a:graphicData uri="http://schemas.openxmlformats.org/drawingml/2006/table">
            <a:tbl>
              <a:tblPr/>
              <a:tblGrid>
                <a:gridCol w="3317792">
                  <a:extLst>
                    <a:ext uri="{9D8B030D-6E8A-4147-A177-3AD203B41FA5}">
                      <a16:colId xmlns:a16="http://schemas.microsoft.com/office/drawing/2014/main" val="4071079708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3537516863"/>
                    </a:ext>
                  </a:extLst>
                </a:gridCol>
                <a:gridCol w="2186896">
                  <a:extLst>
                    <a:ext uri="{9D8B030D-6E8A-4147-A177-3AD203B41FA5}">
                      <a16:colId xmlns:a16="http://schemas.microsoft.com/office/drawing/2014/main" val="1749636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Situation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Population or Sample?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Formula to Use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89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You recorded heights of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 100 students</a:t>
                      </a:r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 in a school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Divide by 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19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You took a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random sample of 10 students</a:t>
                      </a:r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 to estimate the average height in the school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Sample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Divide by n - 1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849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You analyzed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every</a:t>
                      </a:r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 product made in a factory on one day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Population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Divide by 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7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You tested </a:t>
                      </a: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20 random products</a:t>
                      </a:r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 to estimate quality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Sample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Divide by n - 1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145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A678CCB-ACB0-AAA5-5F6B-B80E9FACD40C}"/>
              </a:ext>
            </a:extLst>
          </p:cNvPr>
          <p:cNvSpPr txBox="1"/>
          <p:nvPr/>
        </p:nvSpPr>
        <p:spPr>
          <a:xfrm>
            <a:off x="239224" y="780960"/>
            <a:ext cx="11568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you are analyzing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all the data from the group 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you're interested in, then use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population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If you are analyzing a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subset (a sample) of the full group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and trying to generalize, then use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sample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290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9F27-036C-DF25-1663-ADB3FB20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10148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655</TotalTime>
  <Words>1416</Words>
  <Application>Microsoft Office PowerPoint</Application>
  <PresentationFormat>Widescreen</PresentationFormat>
  <Paragraphs>153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Variance And Standard Deviation</vt:lpstr>
      <vt:lpstr>Variance and Standard deviation of population</vt:lpstr>
      <vt:lpstr>Variance and Standard deviation of population</vt:lpstr>
      <vt:lpstr>PowerPoint Presentation</vt:lpstr>
      <vt:lpstr>PowerPoint Presentation</vt:lpstr>
      <vt:lpstr>PowerPoint Presentation</vt:lpstr>
      <vt:lpstr>Conclusion:</vt:lpstr>
      <vt:lpstr>How standard deviation controls dispersion/spread of distribution curve:</vt:lpstr>
      <vt:lpstr>How standard deviation controls dispersion/spread of distribution curve:</vt:lpstr>
      <vt:lpstr>PowerPoint Presentation</vt:lpstr>
      <vt:lpstr>Population variance                   versus         Sample variance</vt:lpstr>
      <vt:lpstr>How to decide which variance to use: population or sample? 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146</cp:revision>
  <dcterms:created xsi:type="dcterms:W3CDTF">2025-09-22T02:44:38Z</dcterms:created>
  <dcterms:modified xsi:type="dcterms:W3CDTF">2026-04-29T11:49:18Z</dcterms:modified>
</cp:coreProperties>
</file>