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84" r:id="rId3"/>
    <p:sldId id="286" r:id="rId4"/>
    <p:sldId id="289" r:id="rId5"/>
    <p:sldId id="265" r:id="rId6"/>
    <p:sldId id="287" r:id="rId7"/>
    <p:sldId id="290" r:id="rId8"/>
    <p:sldId id="267" r:id="rId9"/>
    <p:sldId id="28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859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626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488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1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738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25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61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761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856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77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051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608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760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942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258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406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86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53CB7C4-9C36-4243-BABF-9BD3C65BF17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87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F07E-D499-CDDC-3156-AA1062E9C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ML Math-Mean-Median-Mode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793FC-77D1-BDA0-E8DC-FA618F099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042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11FAEC-EC2E-AECF-B091-289EA2F5D466}"/>
              </a:ext>
            </a:extLst>
          </p:cNvPr>
          <p:cNvSpPr txBox="1"/>
          <p:nvPr/>
        </p:nvSpPr>
        <p:spPr>
          <a:xfrm>
            <a:off x="155448" y="1088101"/>
            <a:ext cx="7342632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When is mean useful ?</a:t>
            </a:r>
          </a:p>
          <a:p>
            <a:endParaRPr lang="en-US" sz="1600" dirty="0"/>
          </a:p>
          <a:p>
            <a:r>
              <a:rPr lang="en-US" sz="1600" dirty="0"/>
              <a:t>### 1. **Understanding the central tendency of data**</a:t>
            </a:r>
          </a:p>
          <a:p>
            <a:endParaRPr lang="en-US" sz="1600" dirty="0"/>
          </a:p>
          <a:p>
            <a:r>
              <a:rPr lang="en-US" sz="1600" dirty="0"/>
              <a:t>* The mean gives the "balance point" of the dataset.</a:t>
            </a:r>
          </a:p>
          <a:p>
            <a:r>
              <a:rPr lang="en-US" sz="1600" dirty="0"/>
              <a:t>* Example: If you have customer ages `[20, 22, 24, 25, 29]`, the mean tells you the typical age of your customers.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### 2. **Feature engineering and preprocessing**</a:t>
            </a:r>
          </a:p>
          <a:p>
            <a:endParaRPr lang="en-US" sz="1600" dirty="0"/>
          </a:p>
          <a:p>
            <a:r>
              <a:rPr lang="en-US" sz="1600" dirty="0"/>
              <a:t>* Many machine learning algorithms assume features are centered around **0**.</a:t>
            </a:r>
          </a:p>
          <a:p>
            <a:r>
              <a:rPr lang="en-US" sz="1600" dirty="0"/>
              <a:t>* Example: In **standardization** (z-score normalization), we subtract the mean and divide by the standard deviation.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### 3. **Handling missing data**</a:t>
            </a:r>
          </a:p>
          <a:p>
            <a:endParaRPr lang="en-US" sz="1600" dirty="0"/>
          </a:p>
          <a:p>
            <a:r>
              <a:rPr lang="en-US" sz="1600" dirty="0"/>
              <a:t>* Sometimes missing values are imputed using the **mean** of the feature.</a:t>
            </a:r>
          </a:p>
          <a:p>
            <a:r>
              <a:rPr lang="en-US" sz="1600" dirty="0"/>
              <a:t>* Example: If some "income" values are missing, you might replace them with the mean income of the dataset.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855805" y="148309"/>
            <a:ext cx="2309787" cy="358611"/>
          </a:xfrm>
        </p:spPr>
        <p:txBody>
          <a:bodyPr>
            <a:normAutofit fontScale="90000"/>
          </a:bodyPr>
          <a:lstStyle/>
          <a:p>
            <a:r>
              <a:rPr lang="en-US" dirty="0"/>
              <a:t>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10" y="457779"/>
            <a:ext cx="61334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Mean = (Sum of data) / </a:t>
            </a:r>
            <a:r>
              <a:rPr lang="en-US" sz="1600" dirty="0" err="1"/>
              <a:t>Total_number_of_data</a:t>
            </a:r>
            <a:endParaRPr lang="en-US" sz="1600" dirty="0"/>
          </a:p>
          <a:p>
            <a:r>
              <a:rPr lang="en-US" sz="1600" dirty="0"/>
              <a:t>Mean of 2,4,4,5,6,7,7,120 is (2+4+4+5+6+7+7+120)/8 = 19.375 </a:t>
            </a:r>
          </a:p>
        </p:txBody>
      </p:sp>
    </p:spTree>
    <p:extLst>
      <p:ext uri="{BB962C8B-B14F-4D97-AF65-F5344CB8AC3E}">
        <p14:creationId xmlns:p14="http://schemas.microsoft.com/office/powerpoint/2010/main" val="213386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047FF-1BD9-ED17-5BB4-1FB91FE7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386CBB-08F4-EF7F-C2C7-E11788667942}"/>
              </a:ext>
            </a:extLst>
          </p:cNvPr>
          <p:cNvSpPr txBox="1"/>
          <p:nvPr/>
        </p:nvSpPr>
        <p:spPr>
          <a:xfrm>
            <a:off x="155448" y="228565"/>
            <a:ext cx="838504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### 4. **Comparing groups**</a:t>
            </a:r>
          </a:p>
          <a:p>
            <a:endParaRPr lang="en-US" sz="1600" dirty="0"/>
          </a:p>
          <a:p>
            <a:r>
              <a:rPr lang="en-US" sz="1600" dirty="0"/>
              <a:t>* The mean allows comparison between groups or time periods.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Example: Comparing **mean sales before vs. after** a marketing</a:t>
            </a:r>
          </a:p>
          <a:p>
            <a:endParaRPr lang="en-US" sz="1600" dirty="0"/>
          </a:p>
          <a:p>
            <a:r>
              <a:rPr lang="en-US" sz="1600" dirty="0"/>
              <a:t>### 5. **Performance metrics in ML**</a:t>
            </a:r>
          </a:p>
          <a:p>
            <a:endParaRPr lang="en-US" sz="1600" dirty="0"/>
          </a:p>
          <a:p>
            <a:r>
              <a:rPr lang="en-US" sz="1600" dirty="0"/>
              <a:t>* Some evaluation metrics are based on means.</a:t>
            </a:r>
          </a:p>
          <a:p>
            <a:r>
              <a:rPr lang="en-US" sz="1600" dirty="0"/>
              <a:t>* Example: **Mean Squared Error (MSE)** in regression is the mean of squared differences between predicted and actual values.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### 6. **Aggregating data**</a:t>
            </a:r>
          </a:p>
          <a:p>
            <a:endParaRPr lang="en-US" sz="1600" dirty="0"/>
          </a:p>
          <a:p>
            <a:r>
              <a:rPr lang="en-US" sz="1600" dirty="0"/>
              <a:t>* In exploratory data analysis (EDA), we often compute means across categories.</a:t>
            </a:r>
          </a:p>
          <a:p>
            <a:r>
              <a:rPr lang="en-US" sz="1600" dirty="0"/>
              <a:t>* Example: The mean salary for each job role in a company.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### 7. **Identifying trends**</a:t>
            </a:r>
          </a:p>
          <a:p>
            <a:endParaRPr lang="en-US" sz="1600" dirty="0"/>
          </a:p>
          <a:p>
            <a:r>
              <a:rPr lang="en-US" sz="1600" dirty="0"/>
              <a:t>* Means can smooth out random fluctuations and highlight the overall trend.</a:t>
            </a:r>
          </a:p>
          <a:p>
            <a:r>
              <a:rPr lang="en-US" sz="1600" dirty="0"/>
              <a:t>* Example: **Moving averages** in time series help detect patterns in stock prices or COVID-19 cases.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11746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E23E-9A2D-7FB6-BA48-B3BB1216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C61403-3A5F-6AF4-DEAB-0C9DEF0EE6DD}"/>
              </a:ext>
            </a:extLst>
          </p:cNvPr>
          <p:cNvSpPr/>
          <p:nvPr/>
        </p:nvSpPr>
        <p:spPr>
          <a:xfrm>
            <a:off x="1938528" y="438818"/>
            <a:ext cx="84307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When Mean Is Not Ideal: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is </a:t>
            </a:r>
            <a:r>
              <a:rPr lang="en-US" b="1" dirty="0"/>
              <a:t>skewed</a:t>
            </a:r>
            <a:r>
              <a:rPr lang="en-US" dirty="0"/>
              <a:t> (e.g., income, housing prices)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many </a:t>
            </a:r>
            <a:r>
              <a:rPr lang="en-US" b="1" dirty="0"/>
              <a:t>outliers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is </a:t>
            </a:r>
            <a:r>
              <a:rPr lang="en-US" b="1" dirty="0"/>
              <a:t>ordinal</a:t>
            </a:r>
            <a:r>
              <a:rPr lang="en-US" dirty="0"/>
              <a:t> or </a:t>
            </a:r>
            <a:r>
              <a:rPr lang="en-US" b="1" dirty="0"/>
              <a:t>categorical</a:t>
            </a:r>
            <a:r>
              <a:rPr lang="en-US" dirty="0"/>
              <a:t> (use median or mode instead)</a:t>
            </a:r>
          </a:p>
        </p:txBody>
      </p:sp>
    </p:spTree>
    <p:extLst>
      <p:ext uri="{BB962C8B-B14F-4D97-AF65-F5344CB8AC3E}">
        <p14:creationId xmlns:p14="http://schemas.microsoft.com/office/powerpoint/2010/main" val="1179714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0254" y="401772"/>
            <a:ext cx="10785113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Median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/>
              <a:t>The </a:t>
            </a:r>
            <a:r>
              <a:rPr lang="en-US" sz="1500" b="1" dirty="0"/>
              <a:t>median</a:t>
            </a:r>
            <a:r>
              <a:rPr lang="en-US" sz="1500" dirty="0"/>
              <a:t> is the </a:t>
            </a:r>
            <a:r>
              <a:rPr lang="en-US" sz="1500" b="1" dirty="0"/>
              <a:t>middle value</a:t>
            </a:r>
            <a:r>
              <a:rPr lang="en-US" sz="1500" dirty="0"/>
              <a:t> in a dataset </a:t>
            </a:r>
            <a:r>
              <a:rPr lang="en-US" sz="1500" b="1" dirty="0"/>
              <a:t>when the values are arranged in order</a:t>
            </a:r>
            <a:r>
              <a:rPr lang="en-US" sz="1500" dirty="0"/>
              <a:t> (ascending or descending).</a:t>
            </a:r>
          </a:p>
          <a:p>
            <a:endParaRPr lang="en-US" sz="1500" dirty="0"/>
          </a:p>
          <a:p>
            <a:r>
              <a:rPr lang="en-US" sz="1500" dirty="0"/>
              <a:t>If the dataset has an </a:t>
            </a:r>
            <a:r>
              <a:rPr lang="en-US" sz="1500" b="1" dirty="0"/>
              <a:t>odd number</a:t>
            </a:r>
            <a:r>
              <a:rPr lang="en-US" sz="1500" dirty="0"/>
              <a:t> of values → the median is the </a:t>
            </a:r>
            <a:r>
              <a:rPr lang="en-US" sz="1500" b="1" dirty="0"/>
              <a:t>middle number</a:t>
            </a:r>
            <a:r>
              <a:rPr lang="en-US" sz="1500" dirty="0"/>
              <a:t>.</a:t>
            </a:r>
          </a:p>
          <a:p>
            <a:r>
              <a:rPr lang="en-US" sz="1500" dirty="0"/>
              <a:t>If the dataset has an </a:t>
            </a:r>
            <a:r>
              <a:rPr lang="en-US" sz="1500" b="1" dirty="0"/>
              <a:t>even number</a:t>
            </a:r>
            <a:r>
              <a:rPr lang="en-US" sz="1500" dirty="0"/>
              <a:t> of values → the median is the </a:t>
            </a:r>
            <a:r>
              <a:rPr lang="en-US" sz="1500" b="1" dirty="0"/>
              <a:t>average of the two middle numbers</a:t>
            </a:r>
            <a:r>
              <a:rPr lang="en-US" sz="1500" dirty="0"/>
              <a:t>.</a:t>
            </a:r>
          </a:p>
          <a:p>
            <a:endParaRPr lang="en-US" sz="1500" dirty="0"/>
          </a:p>
          <a:p>
            <a:endParaRPr lang="en-US" sz="1500" dirty="0"/>
          </a:p>
          <a:p>
            <a:r>
              <a:rPr lang="en-US" sz="1500" b="1" dirty="0"/>
              <a:t>E.g. Find median: 4, 120, 7, 2, 5, 7, 6, 4</a:t>
            </a:r>
          </a:p>
          <a:p>
            <a:r>
              <a:rPr lang="en-US" sz="1500" dirty="0"/>
              <a:t>Step1: Arrange data in ascending: 2,4,4,5,6,7,7,120</a:t>
            </a:r>
          </a:p>
          <a:p>
            <a:r>
              <a:rPr lang="en-US" sz="1500" dirty="0"/>
              <a:t>Step2: Middle value: (5+6)/2 = 5.5</a:t>
            </a:r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  <a:p>
            <a:r>
              <a:rPr lang="en-US" sz="1500" b="1" dirty="0"/>
              <a:t>Why is Median Useful?</a:t>
            </a:r>
          </a:p>
          <a:p>
            <a:r>
              <a:rPr lang="en-US" sz="1500" dirty="0"/>
              <a:t>1) Unlike the mean, the median is not affected by extreme values (outliers). </a:t>
            </a:r>
          </a:p>
          <a:p>
            <a:r>
              <a:rPr lang="en-US" sz="1500" dirty="0"/>
              <a:t>2) It gives a better sense of typical value, especially for skewed distributions.</a:t>
            </a:r>
          </a:p>
          <a:p>
            <a:r>
              <a:rPr lang="en-US" sz="1500" dirty="0"/>
              <a:t>So, it is </a:t>
            </a:r>
            <a:r>
              <a:rPr lang="en-US" sz="1500" b="1" dirty="0"/>
              <a:t>best when your data is skewed or contains outliers</a:t>
            </a:r>
            <a:r>
              <a:rPr lang="en-US" sz="1500" dirty="0"/>
              <a:t>.</a:t>
            </a:r>
          </a:p>
          <a:p>
            <a:endParaRPr lang="en-US" sz="1500" dirty="0"/>
          </a:p>
          <a:p>
            <a:r>
              <a:rPr lang="en-US" sz="1500" dirty="0"/>
              <a:t>It answers: What is the “middle” experience in this data? It’s commonly used in income, housing prices, commute time, wait time, etc.</a:t>
            </a:r>
          </a:p>
        </p:txBody>
      </p:sp>
    </p:spTree>
    <p:extLst>
      <p:ext uri="{BB962C8B-B14F-4D97-AF65-F5344CB8AC3E}">
        <p14:creationId xmlns:p14="http://schemas.microsoft.com/office/powerpoint/2010/main" val="1191145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B1A5-3C5C-14F6-19F8-8DF00AF2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7C591-3A8F-6D76-E328-4DB23689A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89" y="139165"/>
            <a:ext cx="4827309" cy="38204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Median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248C1-EEFC-B713-CC6C-A912E03F8417}"/>
              </a:ext>
            </a:extLst>
          </p:cNvPr>
          <p:cNvSpPr txBox="1"/>
          <p:nvPr/>
        </p:nvSpPr>
        <p:spPr>
          <a:xfrm>
            <a:off x="713232" y="800386"/>
            <a:ext cx="1050645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When is Median preferred over mean:</a:t>
            </a:r>
          </a:p>
          <a:p>
            <a:endParaRPr lang="en-US" sz="1400" dirty="0"/>
          </a:p>
          <a:p>
            <a:r>
              <a:rPr lang="en-US" sz="1400" dirty="0"/>
              <a:t>---</a:t>
            </a:r>
          </a:p>
          <a:p>
            <a:endParaRPr lang="en-US" sz="1400" dirty="0"/>
          </a:p>
          <a:p>
            <a:r>
              <a:rPr lang="en-US" sz="1400" dirty="0"/>
              <a:t>###  1. **Income / Salary Data**</a:t>
            </a:r>
          </a:p>
          <a:p>
            <a:endParaRPr lang="en-US" sz="1400" dirty="0"/>
          </a:p>
          <a:p>
            <a:r>
              <a:rPr lang="en-US" sz="1400" dirty="0"/>
              <a:t>* **Why:** A few very high salaries (CEOs, founders) can drastically pull the mean upward, making it misleading.</a:t>
            </a:r>
          </a:p>
          <a:p>
            <a:r>
              <a:rPr lang="en-US" sz="1400" dirty="0"/>
              <a:t>* **Example:**</a:t>
            </a:r>
          </a:p>
          <a:p>
            <a:endParaRPr lang="en-US" sz="1400" dirty="0"/>
          </a:p>
          <a:p>
            <a:r>
              <a:rPr lang="en-US" sz="1400" dirty="0"/>
              <a:t>  * Salaries = `[30k, 32k, 35k, 40k, 5M]`</a:t>
            </a:r>
          </a:p>
          <a:p>
            <a:r>
              <a:rPr lang="en-US" sz="1400" dirty="0"/>
              <a:t>  * Mean ≈ **1M** (misleading)</a:t>
            </a:r>
          </a:p>
          <a:p>
            <a:r>
              <a:rPr lang="en-US" sz="1400" dirty="0"/>
              <a:t>  * Median = **35k** (much more realistic for a "typical" worker).</a:t>
            </a:r>
          </a:p>
          <a:p>
            <a:endParaRPr lang="en-US" sz="1400" dirty="0"/>
          </a:p>
          <a:p>
            <a:r>
              <a:rPr lang="en-US" sz="1400" dirty="0"/>
              <a:t> That’s why governments and organizations often report **median household income** instead of mean.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###  2. **Real Estate Prices (Housing Market)**</a:t>
            </a:r>
          </a:p>
          <a:p>
            <a:endParaRPr lang="en-US" sz="1400" dirty="0"/>
          </a:p>
          <a:p>
            <a:r>
              <a:rPr lang="en-US" sz="1400" dirty="0"/>
              <a:t>* **Why:** A few luxury houses worth millions can skew the mean.</a:t>
            </a:r>
          </a:p>
          <a:p>
            <a:r>
              <a:rPr lang="en-US" sz="1400" dirty="0"/>
              <a:t>* **Example:**</a:t>
            </a:r>
          </a:p>
          <a:p>
            <a:endParaRPr lang="en-US" sz="1400" dirty="0"/>
          </a:p>
          <a:p>
            <a:r>
              <a:rPr lang="en-US" sz="1400" dirty="0"/>
              <a:t>  * House prices = `[100k, 120k, 150k, 180k, 5M]`</a:t>
            </a:r>
          </a:p>
          <a:p>
            <a:r>
              <a:rPr lang="en-US" sz="1400" dirty="0"/>
              <a:t>  * Mean ≈ **1.1M** (misleading for most buyers)</a:t>
            </a:r>
          </a:p>
          <a:p>
            <a:r>
              <a:rPr lang="en-US" sz="1400" dirty="0"/>
              <a:t>  * Median = **150k** (typical house price).</a:t>
            </a:r>
          </a:p>
          <a:p>
            <a:endParaRPr lang="en-US" sz="1400" dirty="0"/>
          </a:p>
          <a:p>
            <a:r>
              <a:rPr lang="en-US" sz="1400" dirty="0"/>
              <a:t> That’s why real estate reports usually use **median home price**.</a:t>
            </a:r>
          </a:p>
        </p:txBody>
      </p:sp>
    </p:spTree>
    <p:extLst>
      <p:ext uri="{BB962C8B-B14F-4D97-AF65-F5344CB8AC3E}">
        <p14:creationId xmlns:p14="http://schemas.microsoft.com/office/powerpoint/2010/main" val="981618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8FA3-DD97-4D37-87DE-1647FE6F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15AD-C1B7-A3BE-D710-3F9FF084B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89" y="139165"/>
            <a:ext cx="4827309" cy="38204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Median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5CD11-B3C0-7693-9192-93447CD27276}"/>
              </a:ext>
            </a:extLst>
          </p:cNvPr>
          <p:cNvSpPr txBox="1"/>
          <p:nvPr/>
        </p:nvSpPr>
        <p:spPr>
          <a:xfrm>
            <a:off x="713232" y="800386"/>
            <a:ext cx="1050645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###  3. **Medical Data (Skewed Distributions)**</a:t>
            </a:r>
          </a:p>
          <a:p>
            <a:endParaRPr lang="en-US" sz="1400" dirty="0"/>
          </a:p>
          <a:p>
            <a:r>
              <a:rPr lang="en-US" sz="1400" dirty="0"/>
              <a:t>* **Why:** Many biological/medical measures are skewed (like recovery time, hospital stay duration, waiting times).</a:t>
            </a:r>
          </a:p>
          <a:p>
            <a:r>
              <a:rPr lang="en-US" sz="1400" dirty="0"/>
              <a:t>* **Example:**</a:t>
            </a:r>
          </a:p>
          <a:p>
            <a:endParaRPr lang="en-US" sz="1400" dirty="0"/>
          </a:p>
          <a:p>
            <a:r>
              <a:rPr lang="en-US" sz="1400" dirty="0"/>
              <a:t>  * Hospital stay days = `[2, 3, 3, 4, 5, 60]`</a:t>
            </a:r>
          </a:p>
          <a:p>
            <a:r>
              <a:rPr lang="en-US" sz="1400" dirty="0"/>
              <a:t>  * Mean = **12.8 days** (inflated by one long stay)</a:t>
            </a:r>
          </a:p>
          <a:p>
            <a:r>
              <a:rPr lang="en-US" sz="1400" dirty="0"/>
              <a:t>  * Median = **3.5 days** (better summary of a typical patient).</a:t>
            </a:r>
          </a:p>
          <a:p>
            <a:endParaRPr lang="en-US" sz="1400" dirty="0"/>
          </a:p>
          <a:p>
            <a:r>
              <a:rPr lang="en-US" sz="1400" dirty="0"/>
              <a:t> Medical researchers often report **median survival time** instead of mean.</a:t>
            </a:r>
          </a:p>
          <a:p>
            <a:endParaRPr lang="en-US" sz="1400" dirty="0"/>
          </a:p>
          <a:p>
            <a:r>
              <a:rPr lang="en-US" sz="1400" dirty="0"/>
              <a:t>---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**Summary:**</a:t>
            </a:r>
          </a:p>
          <a:p>
            <a:r>
              <a:rPr lang="en-US" sz="1400" dirty="0"/>
              <a:t>Use **median** over mean when:</a:t>
            </a:r>
          </a:p>
          <a:p>
            <a:endParaRPr lang="en-US" sz="1400" dirty="0"/>
          </a:p>
          <a:p>
            <a:r>
              <a:rPr lang="en-US" sz="1400" dirty="0"/>
              <a:t>1. Data is **skewed** (e.g., income, housing prices).</a:t>
            </a:r>
          </a:p>
          <a:p>
            <a:r>
              <a:rPr lang="en-US" sz="1400" dirty="0"/>
              <a:t>2. Data has **outliers** that would distort the mean.</a:t>
            </a:r>
          </a:p>
          <a:p>
            <a:r>
              <a:rPr lang="en-US" sz="1400" dirty="0"/>
              <a:t>3. Distribution is **non-normal**, so the mean doesn’t capture a “typical” value well.</a:t>
            </a:r>
          </a:p>
          <a:p>
            <a:endParaRPr lang="en-US" sz="1400" dirty="0"/>
          </a:p>
          <a:p>
            <a:r>
              <a:rPr lang="en-US" sz="1400" dirty="0"/>
              <a:t>---</a:t>
            </a:r>
          </a:p>
        </p:txBody>
      </p:sp>
    </p:spTree>
    <p:extLst>
      <p:ext uri="{BB962C8B-B14F-4D97-AF65-F5344CB8AC3E}">
        <p14:creationId xmlns:p14="http://schemas.microsoft.com/office/powerpoint/2010/main" val="333964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6816" y="1008741"/>
            <a:ext cx="1123147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Mode</a:t>
            </a:r>
          </a:p>
          <a:p>
            <a:endParaRPr lang="en-US" b="1" dirty="0"/>
          </a:p>
          <a:p>
            <a:r>
              <a:rPr lang="en-US" b="1" dirty="0"/>
              <a:t>Mode</a:t>
            </a:r>
            <a:r>
              <a:rPr lang="en-US" dirty="0"/>
              <a:t> in descriptive statistics is the </a:t>
            </a:r>
            <a:r>
              <a:rPr lang="en-US" b="1" dirty="0"/>
              <a:t>value that appears most frequently</a:t>
            </a:r>
            <a:r>
              <a:rPr lang="en-US" dirty="0"/>
              <a:t> in a dataset. Unlike the mean (average) or median (middle value), the mode tells us about the </a:t>
            </a:r>
            <a:r>
              <a:rPr lang="en-US" b="1" dirty="0"/>
              <a:t>most common</a:t>
            </a:r>
            <a:r>
              <a:rPr lang="en-US" dirty="0"/>
              <a:t> or </a:t>
            </a:r>
            <a:r>
              <a:rPr lang="en-US" b="1" dirty="0"/>
              <a:t>popular</a:t>
            </a:r>
            <a:r>
              <a:rPr lang="en-US" dirty="0"/>
              <a:t> item.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dataset </a:t>
            </a:r>
            <a:r>
              <a:rPr lang="en-US" b="1" dirty="0"/>
              <a:t>can have one mode</a:t>
            </a:r>
            <a:r>
              <a:rPr lang="en-US" dirty="0"/>
              <a:t> (unimodal), </a:t>
            </a:r>
            <a:r>
              <a:rPr lang="en-US" b="1" dirty="0"/>
              <a:t>more than one mode</a:t>
            </a:r>
            <a:r>
              <a:rPr lang="en-US" dirty="0"/>
              <a:t> (bimodal or multimodal), or </a:t>
            </a:r>
            <a:r>
              <a:rPr lang="en-US" b="1" dirty="0"/>
              <a:t>no mode</a:t>
            </a:r>
            <a:r>
              <a:rPr lang="en-US" dirty="0"/>
              <a:t> if all values occur with the same frequency.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Unimodal: [2, 2, 4, 6, 7, 7, 7, 7, 9]   Here there is only one mode, 7</a:t>
            </a:r>
          </a:p>
          <a:p>
            <a:endParaRPr lang="en-US" dirty="0"/>
          </a:p>
          <a:p>
            <a:r>
              <a:rPr lang="en-US" dirty="0"/>
              <a:t>Bimodal: [2, 2, 4, 6, 7, 7, 7, 7, 9, 9, 9, 9]   Here there are 2 modes, 7 and 9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</a:t>
            </a:r>
            <a:r>
              <a:rPr lang="en-US" dirty="0"/>
              <a:t> is great for </a:t>
            </a:r>
            <a:r>
              <a:rPr lang="en-US" b="1" dirty="0"/>
              <a:t>categorical</a:t>
            </a:r>
            <a:r>
              <a:rPr lang="en-US" dirty="0"/>
              <a:t> or </a:t>
            </a:r>
            <a:r>
              <a:rPr lang="en-US" b="1" dirty="0"/>
              <a:t>discrete data</a:t>
            </a:r>
            <a:r>
              <a:rPr lang="en-US" dirty="0"/>
              <a:t> where mean/median may not make sense.</a:t>
            </a:r>
          </a:p>
        </p:txBody>
      </p:sp>
    </p:spTree>
    <p:extLst>
      <p:ext uri="{BB962C8B-B14F-4D97-AF65-F5344CB8AC3E}">
        <p14:creationId xmlns:p14="http://schemas.microsoft.com/office/powerpoint/2010/main" val="3077416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AC68-A2A7-4210-111A-F2B147BF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7AB66-0FED-8163-59A1-B18C09A46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01" y="148309"/>
            <a:ext cx="4685907" cy="308891"/>
          </a:xfrm>
        </p:spPr>
        <p:txBody>
          <a:bodyPr>
            <a:normAutofit fontScale="90000"/>
          </a:bodyPr>
          <a:lstStyle/>
          <a:p>
            <a:r>
              <a:rPr lang="en-US" dirty="0"/>
              <a:t>Mode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003945-ED4A-5A43-332E-EA229ABEBA9A}"/>
              </a:ext>
            </a:extLst>
          </p:cNvPr>
          <p:cNvSpPr txBox="1"/>
          <p:nvPr/>
        </p:nvSpPr>
        <p:spPr>
          <a:xfrm>
            <a:off x="201168" y="588502"/>
            <a:ext cx="1036929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Here are **3 strong examples where mode is most useful**: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### 1. **Most Common Category (Customer Preferences)**</a:t>
            </a:r>
          </a:p>
          <a:p>
            <a:endParaRPr lang="en-US" sz="1400" dirty="0"/>
          </a:p>
          <a:p>
            <a:r>
              <a:rPr lang="en-US" sz="1400" dirty="0"/>
              <a:t>* **Example:** A clothing store wants to know the most popular **shirt size**.</a:t>
            </a:r>
          </a:p>
          <a:p>
            <a:endParaRPr lang="en-US" sz="1400" dirty="0"/>
          </a:p>
          <a:p>
            <a:r>
              <a:rPr lang="en-US" sz="1400" dirty="0"/>
              <a:t>  * Data: `["M", "L", "M", "S", "M", "L"]`</a:t>
            </a:r>
          </a:p>
          <a:p>
            <a:r>
              <a:rPr lang="en-US" sz="1400" dirty="0"/>
              <a:t>  * Mode = **"M"** (most customers prefer medium size).</a:t>
            </a:r>
          </a:p>
          <a:p>
            <a:r>
              <a:rPr lang="en-US" sz="1400" dirty="0"/>
              <a:t>* **Why useful:** The mean/median don’t apply to non-numeric values.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###  2. **Most Common Complaint / Response in Surveys**</a:t>
            </a:r>
          </a:p>
          <a:p>
            <a:endParaRPr lang="en-US" sz="1400" dirty="0"/>
          </a:p>
          <a:p>
            <a:r>
              <a:rPr lang="en-US" sz="1400" dirty="0"/>
              <a:t>* **Example:** A customer survey asks: *"Which feature do you use the most?"*</a:t>
            </a:r>
          </a:p>
          <a:p>
            <a:endParaRPr lang="en-US" sz="1400" dirty="0"/>
          </a:p>
          <a:p>
            <a:r>
              <a:rPr lang="en-US" sz="1400" dirty="0"/>
              <a:t>  * Responses: `["Search", "Chat", "Search", "Chat", "Search", "Profile"]`</a:t>
            </a:r>
          </a:p>
          <a:p>
            <a:r>
              <a:rPr lang="en-US" sz="1400" dirty="0"/>
              <a:t>  * Mode = **"Search"** (most selected feature).</a:t>
            </a:r>
          </a:p>
          <a:p>
            <a:r>
              <a:rPr lang="en-US" sz="1400" dirty="0"/>
              <a:t>* **Why useful:** Helps prioritize the most common need/issue.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###  3. **Most Frequent Value in Discrete Data**</a:t>
            </a:r>
          </a:p>
          <a:p>
            <a:endParaRPr lang="en-US" sz="1400" dirty="0"/>
          </a:p>
          <a:p>
            <a:r>
              <a:rPr lang="en-US" sz="1400" dirty="0"/>
              <a:t>* **Example:** A school checks exam marks (rounded integers):</a:t>
            </a:r>
          </a:p>
          <a:p>
            <a:endParaRPr lang="en-US" sz="1400" dirty="0"/>
          </a:p>
          <a:p>
            <a:r>
              <a:rPr lang="en-US" sz="1400" dirty="0"/>
              <a:t>  * Scores: `[80, 85, 90, 85, 70, 85, 95]`</a:t>
            </a:r>
          </a:p>
          <a:p>
            <a:r>
              <a:rPr lang="en-US" sz="1400" dirty="0"/>
              <a:t>  * Mode = **85** (most students scored 85).</a:t>
            </a:r>
          </a:p>
          <a:p>
            <a:r>
              <a:rPr lang="en-US" sz="1400" dirty="0"/>
              <a:t>* **Why useful:** Shows the most typical outcome in discrete numeric data.</a:t>
            </a:r>
          </a:p>
        </p:txBody>
      </p:sp>
    </p:spTree>
    <p:extLst>
      <p:ext uri="{BB962C8B-B14F-4D97-AF65-F5344CB8AC3E}">
        <p14:creationId xmlns:p14="http://schemas.microsoft.com/office/powerpoint/2010/main" val="25915319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3036</TotalTime>
  <Words>1295</Words>
  <Application>Microsoft Office PowerPoint</Application>
  <PresentationFormat>Widescreen</PresentationFormat>
  <Paragraphs>157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Mesh</vt:lpstr>
      <vt:lpstr>ML Math-Mean-Median-Mode</vt:lpstr>
      <vt:lpstr>Mean</vt:lpstr>
      <vt:lpstr>PowerPoint Presentation</vt:lpstr>
      <vt:lpstr>PowerPoint Presentation</vt:lpstr>
      <vt:lpstr>PowerPoint Presentation</vt:lpstr>
      <vt:lpstr>Median</vt:lpstr>
      <vt:lpstr>Median</vt:lpstr>
      <vt:lpstr>PowerPoint Presentation</vt:lpstr>
      <vt:lpstr>Mode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Math-std-dev-var-percentile</dc:title>
  <dc:creator>ash322.ash422@gmail.com</dc:creator>
  <cp:lastModifiedBy>Ashwani Kumar</cp:lastModifiedBy>
  <cp:revision>175</cp:revision>
  <dcterms:created xsi:type="dcterms:W3CDTF">2025-04-12T02:31:14Z</dcterms:created>
  <dcterms:modified xsi:type="dcterms:W3CDTF">2026-04-03T16:03:54Z</dcterms:modified>
</cp:coreProperties>
</file>