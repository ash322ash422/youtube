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7" r:id="rId2"/>
    <p:sldId id="261" r:id="rId3"/>
    <p:sldId id="263" r:id="rId4"/>
    <p:sldId id="264" r:id="rId5"/>
    <p:sldId id="268" r:id="rId6"/>
    <p:sldId id="267" r:id="rId7"/>
    <p:sldId id="266" r:id="rId8"/>
    <p:sldId id="265" r:id="rId9"/>
    <p:sldId id="262" r:id="rId10"/>
    <p:sldId id="260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0C1F4E-C944-19AA-BB70-1411C1CDBD50}"/>
              </a:ext>
            </a:extLst>
          </p:cNvPr>
          <p:cNvSpPr txBox="1">
            <a:spLocks/>
          </p:cNvSpPr>
          <p:nvPr/>
        </p:nvSpPr>
        <p:spPr>
          <a:xfrm>
            <a:off x="1751012" y="609601"/>
            <a:ext cx="8676222" cy="320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ML Math-percentage-percentile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B560-CB87-2B40-5982-E389030B2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5D33-0670-CA78-66A2-1BA67BE7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1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Percentage and Percentile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1A39-7ACE-7863-D28B-C614D918E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0" y="1133857"/>
            <a:ext cx="11209085" cy="465734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What is a Percentage?</a:t>
            </a:r>
          </a:p>
          <a:p>
            <a:pPr marL="0" indent="0">
              <a:buNone/>
            </a:pPr>
            <a:r>
              <a:rPr lang="en-US" dirty="0"/>
              <a:t>A percentage is just a number out of 100. </a:t>
            </a:r>
          </a:p>
          <a:p>
            <a:pPr marL="0" indent="0">
              <a:buNone/>
            </a:pPr>
            <a:r>
              <a:rPr lang="en-US" dirty="0"/>
              <a:t>If you scored 90% on a test, it means</a:t>
            </a:r>
          </a:p>
          <a:p>
            <a:r>
              <a:rPr lang="en-US" dirty="0"/>
              <a:t>you got 90 out of 100 marks or</a:t>
            </a:r>
          </a:p>
          <a:p>
            <a:r>
              <a:rPr lang="en-US" dirty="0"/>
              <a:t>9 out of 10 or</a:t>
            </a:r>
          </a:p>
          <a:p>
            <a:r>
              <a:rPr lang="en-US" dirty="0"/>
              <a:t>18 out of 20</a:t>
            </a:r>
          </a:p>
          <a:p>
            <a:r>
              <a:rPr lang="en-US" dirty="0"/>
              <a:t>180 out of 200 and so 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percentile ?</a:t>
            </a:r>
          </a:p>
          <a:p>
            <a:pPr marL="0" indent="0">
              <a:buNone/>
            </a:pPr>
            <a:r>
              <a:rPr lang="en-US" dirty="0"/>
              <a:t>A percentile is a value below which a certain percentage of data falls. It shows the </a:t>
            </a:r>
            <a:r>
              <a:rPr lang="en-US" b="1" dirty="0"/>
              <a:t>relative standing of a value within a dataset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If you are in the 90th percentile of a test, it means</a:t>
            </a:r>
          </a:p>
          <a:p>
            <a:r>
              <a:rPr lang="en-US" dirty="0"/>
              <a:t>you scored better than 90% of the people who took it  or </a:t>
            </a:r>
          </a:p>
          <a:p>
            <a:r>
              <a:rPr lang="en-US" dirty="0"/>
              <a:t>you can say that 90% of students are below your score.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77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AF822-6CFE-92DE-9998-03ABA6ED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C8747-D2F2-7D5D-D294-A20561F52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74246"/>
                <a:ext cx="9738360" cy="654659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Example1:  </a:t>
                </a:r>
                <a:r>
                  <a:rPr lang="en-US" sz="1800" dirty="0"/>
                  <a:t>Let’s say 10 students took a test and got the following scores out of 200.</a:t>
                </a:r>
              </a:p>
              <a:p>
                <a:pPr marL="0" indent="0" algn="ctr">
                  <a:buNone/>
                </a:pPr>
                <a:r>
                  <a:rPr lang="en-US" sz="1800" dirty="0"/>
                  <a:t>[90, 60, 180, 170, </a:t>
                </a:r>
                <a:r>
                  <a:rPr lang="en-US" sz="1800" b="1" u="sng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120</a:t>
                </a:r>
                <a:r>
                  <a:rPr lang="en-US" sz="1800" dirty="0"/>
                  <a:t>, 140, 150, 160, 100, 30].</a:t>
                </a:r>
              </a:p>
              <a:p>
                <a:pPr marL="0" indent="0">
                  <a:buNone/>
                </a:pPr>
                <a:r>
                  <a:rPr lang="en-US" sz="1800" dirty="0"/>
                  <a:t>Calculate the percentage and percentile of student who scored 120.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ANSWER: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Percentage:</a:t>
                </a:r>
                <a:r>
                  <a:rPr lang="en-US" sz="1800" dirty="0"/>
                  <a:t> The test is out of 200, and the student scored 120. </a:t>
                </a:r>
              </a:p>
              <a:p>
                <a:pPr marL="0" indent="0">
                  <a:buNone/>
                </a:pPr>
                <a:r>
                  <a:rPr lang="en-US" sz="1800" dirty="0"/>
                  <a:t>So, his percentage would be  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dirty="0"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US" sz="1800" b="1" i="0" dirty="0"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n-US" sz="1800" b="1" i="0" dirty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r>
                  <a:rPr lang="en-US" sz="1800" b="1" dirty="0"/>
                  <a:t> = 60%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Percentile: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Step1) First arrange in ascending order.</a:t>
                </a:r>
              </a:p>
              <a:p>
                <a:pPr marL="0" indent="0">
                  <a:buNone/>
                </a:pPr>
                <a:r>
                  <a:rPr lang="en-US" sz="1800" dirty="0"/>
                  <a:t>[30, 60, 90, 100, </a:t>
                </a:r>
                <a:r>
                  <a:rPr lang="en-US" sz="1800" b="1" u="sng" dirty="0"/>
                  <a:t>120</a:t>
                </a:r>
                <a:r>
                  <a:rPr lang="en-US" sz="1800" dirty="0"/>
                  <a:t>, 140, 150, 160, 170, 180]</a:t>
                </a:r>
              </a:p>
              <a:p>
                <a:pPr marL="0" indent="0">
                  <a:buNone/>
                </a:pPr>
                <a:r>
                  <a:rPr lang="en-US" sz="1800" dirty="0"/>
                  <a:t>Step2) Count how many scores are less than 120 and </a:t>
                </a:r>
              </a:p>
              <a:p>
                <a:pPr marL="0" indent="0">
                  <a:buNone/>
                </a:pPr>
                <a:r>
                  <a:rPr lang="en-US" sz="1800" dirty="0"/>
                  <a:t>convert that into percentage.</a:t>
                </a:r>
              </a:p>
              <a:p>
                <a:pPr marL="0" indent="0">
                  <a:buNone/>
                </a:pPr>
                <a:r>
                  <a:rPr lang="en-US" sz="1800" dirty="0"/>
                  <a:t>Scores below 120 = [30, 60, 90, 100] → 4 students</a:t>
                </a:r>
              </a:p>
              <a:p>
                <a:pPr marL="0" indent="0">
                  <a:buNone/>
                </a:pPr>
                <a:r>
                  <a:rPr lang="en-US" sz="1800" dirty="0"/>
                  <a:t>Percentage of students who scored below 120</a:t>
                </a:r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  <a:r>
                  <a:rPr lang="en-US" sz="18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1800" b="1" i="0" dirty="0" smtClean="0"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  <m:r>
                      <a:rPr lang="en-US" sz="1800" b="1" dirty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r>
                  <a:rPr lang="en-US" sz="1800" b="1" dirty="0"/>
                  <a:t> = 40</a:t>
                </a:r>
              </a:p>
              <a:p>
                <a:pPr marL="0" indent="0">
                  <a:buNone/>
                </a:pPr>
                <a:r>
                  <a:rPr lang="en-US" sz="1800" dirty="0"/>
                  <a:t>So, his percentile is 40</a:t>
                </a:r>
                <a:r>
                  <a:rPr lang="en-US" sz="1800" baseline="30000" dirty="0"/>
                  <a:t>th</a:t>
                </a:r>
                <a:r>
                  <a:rPr lang="en-US" sz="1800" dirty="0"/>
                  <a:t> percentile. </a:t>
                </a:r>
                <a:r>
                  <a:rPr lang="en-US" sz="1800" b="1" dirty="0"/>
                  <a:t>Even if the student's percentage is 60%, his percentile (i.e. 40) depends on how others performed</a:t>
                </a:r>
                <a:r>
                  <a:rPr lang="en-US" sz="1800" dirty="0"/>
                  <a:t> — in this case, better-performing students pushed the percentile down.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C8747-D2F2-7D5D-D294-A20561F52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74246"/>
                <a:ext cx="9738360" cy="6546593"/>
              </a:xfrm>
              <a:blipFill>
                <a:blip r:embed="rId2"/>
                <a:stretch>
                  <a:fillRect l="-501" t="-932" b="-3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CBF9C4-FFA0-F389-609B-4D308F335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79" y="1823905"/>
            <a:ext cx="5791201" cy="384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7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3180-B6A5-CBA9-BE7B-09D831AB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0CC15-80E6-D998-4052-B03292C04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99" y="91951"/>
            <a:ext cx="5515843" cy="33096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Example2:  </a:t>
            </a: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Let’s say 10 students took a test and got the following scores out of 200: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[30, 60, 180, 170, 120, 140, 150, 160, 100, 90].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Calculate </a:t>
            </a:r>
            <a:r>
              <a:rPr lang="en-US" sz="1800">
                <a:solidFill>
                  <a:schemeClr val="accent6">
                    <a:lumMod val="40000"/>
                    <a:lumOff val="60000"/>
                  </a:schemeClr>
                </a:solidFill>
              </a:rPr>
              <a:t>the score at 30</a:t>
            </a:r>
            <a:r>
              <a:rPr lang="en-US" sz="1800" baseline="30000">
                <a:solidFill>
                  <a:schemeClr val="accent6">
                    <a:lumMod val="40000"/>
                    <a:lumOff val="60000"/>
                  </a:schemeClr>
                </a:solidFill>
              </a:rPr>
              <a:t>th</a:t>
            </a:r>
            <a:r>
              <a:rPr lang="en-US" sz="1800">
                <a:solidFill>
                  <a:schemeClr val="accent6">
                    <a:lumMod val="40000"/>
                    <a:lumOff val="60000"/>
                  </a:schemeClr>
                </a:solidFill>
              </a:rPr>
              <a:t> percentile.</a:t>
            </a: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ANSWER:</a:t>
            </a: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1) First arrange in ascending order: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[30, 60, 90, 100, 120, 140, 150, 160, 170, 180]</a:t>
            </a:r>
          </a:p>
          <a:p>
            <a:pPr marL="0" indent="0">
              <a:buNone/>
            </a:pP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2) Calculate the rank (position):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237C51-15CE-6F0B-C243-2C2FC39F976F}"/>
              </a:ext>
            </a:extLst>
          </p:cNvPr>
          <p:cNvCxnSpPr/>
          <p:nvPr/>
        </p:nvCxnSpPr>
        <p:spPr>
          <a:xfrm>
            <a:off x="6025896" y="329184"/>
            <a:ext cx="0" cy="6108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25AEAC-5D7F-CD14-9FB9-44EFFFBEA04F}"/>
              </a:ext>
            </a:extLst>
          </p:cNvPr>
          <p:cNvSpPr txBox="1"/>
          <p:nvPr/>
        </p:nvSpPr>
        <p:spPr>
          <a:xfrm>
            <a:off x="6110478" y="631597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3) Interpolate if necessary: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rank is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3.3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which means the 30th percentile lies between the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3rd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4th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values in the sorted list: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3rd value = 90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4th value = 100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Now interpolate between these two (explained on next page):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30th percentile = 90 + 0.3 × (100 − 90) 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            = 90 + 3 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            =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93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Interpretation: 30% of students scored below 93.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6137B4-61D3-E777-E2F3-F07CC2E14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8" y="3438145"/>
            <a:ext cx="4793882" cy="1945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D670FF-6ED3-0DE6-3EAA-FF3F1093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26" y="5447239"/>
            <a:ext cx="5855726" cy="108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70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AB2F9-15B1-907C-7FA2-64C6D2F7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84" y="1413829"/>
            <a:ext cx="10351076" cy="494354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4D7C2A1-9C52-2FF7-104C-A2ED8606D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6203"/>
          </a:xfrm>
        </p:spPr>
        <p:txBody>
          <a:bodyPr/>
          <a:lstStyle/>
          <a:p>
            <a:pPr algn="ctr"/>
            <a:r>
              <a:rPr lang="en-US" dirty="0"/>
              <a:t>Linear Interpolation Explained</a:t>
            </a:r>
          </a:p>
        </p:txBody>
      </p:sp>
    </p:spTree>
    <p:extLst>
      <p:ext uri="{BB962C8B-B14F-4D97-AF65-F5344CB8AC3E}">
        <p14:creationId xmlns:p14="http://schemas.microsoft.com/office/powerpoint/2010/main" val="378581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1A77-779E-F41D-02FC-2A3FD942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94489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35F50-E801-CA44-255B-E680BCEB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CDA3-DD67-C5EA-12E5-AC54B5E6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165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Practice: Percentile (p2)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5FC82-C4B4-684A-BF70-6AC396A21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1" y="998290"/>
            <a:ext cx="7680487" cy="29641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Example3:</a:t>
            </a:r>
          </a:p>
          <a:p>
            <a:pPr marL="0" indent="0">
              <a:buNone/>
            </a:pPr>
            <a:r>
              <a:rPr lang="en-US" sz="1400" dirty="0"/>
              <a:t>Let's say 10 students took a test and got the following scores out of 200:</a:t>
            </a:r>
          </a:p>
          <a:p>
            <a:pPr marL="0" indent="0">
              <a:buNone/>
            </a:pPr>
            <a:r>
              <a:rPr lang="en-US" sz="1400" dirty="0"/>
              <a:t>[45, 50, 65, 70, 75, 185,  </a:t>
            </a:r>
            <a:r>
              <a:rPr lang="en-US" sz="1400" b="1" u="sng" dirty="0"/>
              <a:t>80</a:t>
            </a:r>
            <a:r>
              <a:rPr lang="en-US" sz="1400" dirty="0"/>
              <a:t>, 55, 60, 190].</a:t>
            </a:r>
          </a:p>
          <a:p>
            <a:pPr marL="0" indent="0">
              <a:buNone/>
            </a:pPr>
            <a:r>
              <a:rPr lang="en-US" sz="1400" dirty="0"/>
              <a:t>a) Compute percentage and percentile of student who scored 80.</a:t>
            </a:r>
          </a:p>
          <a:p>
            <a:pPr marL="0" indent="0">
              <a:buNone/>
            </a:pPr>
            <a:r>
              <a:rPr lang="en-US" sz="1400" dirty="0"/>
              <a:t>ANSWER: a) Arrange the numbers in ascending:</a:t>
            </a:r>
          </a:p>
          <a:p>
            <a:pPr marL="0" indent="0">
              <a:buNone/>
            </a:pPr>
            <a:r>
              <a:rPr lang="en-US" sz="1400" dirty="0"/>
              <a:t>[45, 50, 55, 60, 65, 70, 75, </a:t>
            </a:r>
            <a:r>
              <a:rPr lang="en-US" sz="1400" b="1" u="sng" dirty="0"/>
              <a:t>80</a:t>
            </a:r>
            <a:r>
              <a:rPr lang="en-US" sz="1400" dirty="0"/>
              <a:t>, 185, 190].</a:t>
            </a:r>
          </a:p>
          <a:p>
            <a:pPr marL="0" indent="0">
              <a:buNone/>
            </a:pPr>
            <a:r>
              <a:rPr lang="en-US" sz="1400" dirty="0"/>
              <a:t>Percentage of students who scored 80 = (80/200) * 100 = </a:t>
            </a:r>
            <a:r>
              <a:rPr lang="en-US" sz="1400" b="1" dirty="0"/>
              <a:t>40%</a:t>
            </a:r>
          </a:p>
          <a:p>
            <a:pPr marL="0" indent="0">
              <a:buNone/>
            </a:pPr>
            <a:r>
              <a:rPr lang="en-US" sz="1400" dirty="0"/>
              <a:t>Percentile of this student who scored 80 = There are 7 students out of 10 whose scores are below 80:</a:t>
            </a:r>
          </a:p>
          <a:p>
            <a:pPr marL="0" indent="0">
              <a:buNone/>
            </a:pPr>
            <a:r>
              <a:rPr lang="en-US" sz="1400" dirty="0"/>
              <a:t>So percentile of this student is (7/10) * 100 → </a:t>
            </a:r>
            <a:r>
              <a:rPr lang="en-US" sz="1400" b="1" dirty="0"/>
              <a:t>70th percentile</a:t>
            </a:r>
          </a:p>
          <a:p>
            <a:pPr marL="0" indent="0"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96261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91FE-F533-B5E0-E4DA-820CE0E0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469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BB69-079C-DC8B-0553-22879445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451D46-D919-33BA-53C0-4FBD02171398}"/>
              </a:ext>
            </a:extLst>
          </p:cNvPr>
          <p:cNvSpPr txBox="1">
            <a:spLocks/>
          </p:cNvSpPr>
          <p:nvPr/>
        </p:nvSpPr>
        <p:spPr>
          <a:xfrm>
            <a:off x="1751012" y="609601"/>
            <a:ext cx="8676222" cy="320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ML Math-PERCENTAGE-percentile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55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16AD-AB73-7EBA-4E2A-FFFA959F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B818-A3BD-D3FE-2C31-0B538EC6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r>
              <a:rPr lang="en-US" b="1" dirty="0"/>
              <a:t>What is Statistics?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638E2-03BA-7CB5-5D66-96222FAFB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42161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Fndksfndsklf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Fnkjsdfkls</a:t>
            </a:r>
            <a:r>
              <a:rPr lang="en-US" dirty="0"/>
              <a:t>’/</a:t>
            </a:r>
          </a:p>
          <a:p>
            <a:pPr marL="0" indent="0">
              <a:buNone/>
            </a:pPr>
            <a:r>
              <a:rPr lang="en-US" dirty="0" err="1"/>
              <a:t>Nfkslj</a:t>
            </a:r>
            <a:r>
              <a:rPr lang="en-US" dirty="0"/>
              <a:t>/</a:t>
            </a:r>
            <a:r>
              <a:rPr lang="en-US" dirty="0" err="1"/>
              <a:t>dfjls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nfkldsfs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56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 err="1"/>
              <a:t>Fjlkfdljf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Hfdslfds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fksdljfsD</a:t>
            </a:r>
            <a:r>
              <a:rPr lang="en-US" b="1" dirty="0"/>
              <a:t>|]</a:t>
            </a:r>
          </a:p>
          <a:p>
            <a:pPr marL="0" indent="0">
              <a:buNone/>
            </a:pPr>
            <a:r>
              <a:rPr lang="en-US" b="1" dirty="0" err="1"/>
              <a:t>fkdslfa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185</TotalTime>
  <Words>646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Percentage and Percentile</vt:lpstr>
      <vt:lpstr>PowerPoint Presentation</vt:lpstr>
      <vt:lpstr>PowerPoint Presentation</vt:lpstr>
      <vt:lpstr>Linear Interpolation Explained</vt:lpstr>
      <vt:lpstr>STOP</vt:lpstr>
      <vt:lpstr>Practice: Percentile (p2)</vt:lpstr>
      <vt:lpstr>PowerPoint Presentation</vt:lpstr>
      <vt:lpstr>PowerPoint Presentation</vt:lpstr>
      <vt:lpstr>What is Statistics?</vt:lpstr>
      <vt:lpstr>Fjlkfdljf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37</cp:revision>
  <dcterms:created xsi:type="dcterms:W3CDTF">2025-09-22T02:44:38Z</dcterms:created>
  <dcterms:modified xsi:type="dcterms:W3CDTF">2025-10-24T08:10:16Z</dcterms:modified>
</cp:coreProperties>
</file>