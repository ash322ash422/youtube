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85" r:id="rId2"/>
    <p:sldId id="262" r:id="rId3"/>
    <p:sldId id="270" r:id="rId4"/>
    <p:sldId id="282" r:id="rId5"/>
    <p:sldId id="284" r:id="rId6"/>
    <p:sldId id="283" r:id="rId7"/>
    <p:sldId id="292" r:id="rId8"/>
    <p:sldId id="280" r:id="rId9"/>
    <p:sldId id="286" r:id="rId10"/>
    <p:sldId id="290" r:id="rId11"/>
    <p:sldId id="291" r:id="rId12"/>
    <p:sldId id="287" r:id="rId13"/>
    <p:sldId id="289" r:id="rId14"/>
    <p:sldId id="272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04693-6424-47C2-B763-AEA4CC3DEB2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25C4B-7D64-4F15-A04B-3D9FB737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60DE3-559B-DB71-5187-B4033EF5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C5D9-8305-F106-5D71-E55C6105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02B66-7D20-F030-D53B-8936113E4454}"/>
              </a:ext>
            </a:extLst>
          </p:cNvPr>
          <p:cNvSpPr txBox="1"/>
          <p:nvPr/>
        </p:nvSpPr>
        <p:spPr>
          <a:xfrm>
            <a:off x="265176" y="880700"/>
            <a:ext cx="864908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You roll a standard six-sided die. Your outcome are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{1, 2, 3, 4, 5, 6}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what is the probability of rolling a 5? 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what is the probability of rolling a 5,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that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result was a number greater than 3? 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above answer same or different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they are same, why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they are different, why ? 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A01BB3-9BEA-2963-EA94-1DF0152FD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23C4E7-C010-B4FB-C315-9F6C3670D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57432">
            <a:off x="9889384" y="1344579"/>
            <a:ext cx="1171878" cy="124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7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F5FC-E2C6-74E1-664A-1EBD427B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D829-E217-2970-F4BE-6EFBADA0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70266"/>
            <a:ext cx="11466576" cy="54899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Probability: Definition (Review)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" y="768096"/>
                <a:ext cx="12097512" cy="5943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Probability of an event E: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Or,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Here,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800" dirty="0"/>
                  <a:t> = number (size) of elements in event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800" dirty="0"/>
                  <a:t>= total number (size) of elements in sample space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Example: In 2-coin toss, what is the probability of getting </a:t>
                </a:r>
                <a:r>
                  <a:rPr lang="en-US" sz="1800" b="1" dirty="0"/>
                  <a:t>both heads</a:t>
                </a:r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r>
                  <a:rPr lang="en-US" sz="1800" dirty="0"/>
                  <a:t>Ans: Here sample space is Ω = {HH, HT, TH, TT}. Size is |Ω| = 4</a:t>
                </a:r>
              </a:p>
              <a:p>
                <a:pPr marL="0" indent="0">
                  <a:buNone/>
                </a:pPr>
                <a:r>
                  <a:rPr lang="en-US" sz="1800" dirty="0"/>
                  <a:t>The event E is both toss are heads: E = {HH}. Size is |E| = 1</a:t>
                </a:r>
              </a:p>
              <a:p>
                <a:pPr marL="0" indent="0">
                  <a:buNone/>
                </a:pPr>
                <a:r>
                  <a:rPr lang="en-US" sz="1800" dirty="0"/>
                  <a:t> P(E) = 1/4.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" y="768096"/>
                <a:ext cx="12097512" cy="5943600"/>
              </a:xfrm>
              <a:blipFill>
                <a:blip r:embed="rId2"/>
                <a:stretch>
                  <a:fillRect l="-454" t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7429290-F27B-91B6-F689-761B64F4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341" y="958757"/>
            <a:ext cx="2101795" cy="1160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CFC45-4B45-92DE-9840-9B7B34839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334" y="1294114"/>
            <a:ext cx="5506218" cy="102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E2DDE-D150-57FD-F8B4-2BF14496C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334" y="2458396"/>
            <a:ext cx="1657581" cy="781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F9B3E9-D056-3A62-4A43-B07F0E90D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777" y="2244500"/>
            <a:ext cx="1282666" cy="604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BEE8A0-082C-F027-AEF2-05BB85BA7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230" y="4472445"/>
            <a:ext cx="3284019" cy="2185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5B466E-676D-AF16-7EEF-F4F6E1A61C07}"/>
              </a:ext>
            </a:extLst>
          </p:cNvPr>
          <p:cNvSpPr txBox="1"/>
          <p:nvPr/>
        </p:nvSpPr>
        <p:spPr>
          <a:xfrm>
            <a:off x="9053726" y="3318660"/>
            <a:ext cx="69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56D524-25DA-D328-2352-F4F032E9584D}"/>
              </a:ext>
            </a:extLst>
          </p:cNvPr>
          <p:cNvSpPr txBox="1"/>
          <p:nvPr/>
        </p:nvSpPr>
        <p:spPr>
          <a:xfrm>
            <a:off x="10127397" y="3306195"/>
            <a:ext cx="69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coin2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F23F52-4EFB-B963-F7F4-7E1F8E73B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1752" y="3592047"/>
            <a:ext cx="1046239" cy="833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346328E-2441-EC6C-C2C6-D8EA3EBCF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2110" y="3639693"/>
            <a:ext cx="974474" cy="7767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158E11-4025-54BA-2AB8-E45F41F4F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7F91-7BF1-E59D-A7D0-A0E7022B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F0F16FA-747F-A130-676F-31B56C936273}"/>
              </a:ext>
            </a:extLst>
          </p:cNvPr>
          <p:cNvSpPr txBox="1"/>
          <p:nvPr/>
        </p:nvSpPr>
        <p:spPr>
          <a:xfrm>
            <a:off x="106017" y="838332"/>
            <a:ext cx="1163487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conditional probability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an event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another event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has already occurred, is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that B happens under the condition that A is known to have occurred.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written as P(B∣A).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defined mathematically as: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where,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P(A∩B): Probability that both A and B occur together.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P(A):      Probability that A occurs and it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P(A) &gt; 0.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formula tells us how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our probability of B when we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 A has happened.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 is also referred to as an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evidence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name for P(B) is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prior probability of 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P(B|A) is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posterior probability of 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 prior means before updating based on the evidence A, and posterior means after updating based on the evidence)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E1430-E6E1-1207-45E0-300745B7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Probability,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BF589-C7CA-3DA9-5CC2-6B9290CA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53" y="2350008"/>
            <a:ext cx="2161570" cy="5912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4A09C5-79C1-62C2-40F6-971471EC4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687" y="2018456"/>
            <a:ext cx="3177152" cy="17725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C86BD4-B9B5-A660-F332-446AA99F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0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D7D6-BB7B-1D9C-A1C9-6AF20F4C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F5DFE2-0680-774B-20F1-43530DADBD35}"/>
                  </a:ext>
                </a:extLst>
              </p:cNvPr>
              <p:cNvSpPr txBox="1"/>
              <p:nvPr/>
            </p:nvSpPr>
            <p:spPr>
              <a:xfrm>
                <a:off x="56930" y="102725"/>
                <a:ext cx="8951976" cy="6863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You roll a standard six-sided die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what is the probability of rolling a 5? 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what is the probability of rolling a 5,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 that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result was a number greater than 3? 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{1, 2, 3, 4, 5, 6}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B is an event where you get 5: B = {5}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P(B) = 1/6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Now we are given an additional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evidence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/ information: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the result was a number greater than 3.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A is an event the result was a number greater than 3. We have to find P( B | A ).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      A = { 4, 5, 6 }                                       A ∩ B = {5}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P(A) = 3/6 = 1/2                               P(A ∩ B) = 1/6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 B | A ) = (1/6) / (1/2) = 1/3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The original probability of rolling a 5 is 1/6.  Knowing the roll was greater than 3 changes the possible outcomes, and therefore the probability. The new probability increases to 1/3. 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F5DFE2-0680-774B-20F1-43530DAD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" y="102725"/>
                <a:ext cx="8951976" cy="6863417"/>
              </a:xfrm>
              <a:prstGeom prst="rect">
                <a:avLst/>
              </a:prstGeom>
              <a:blipFill>
                <a:blip r:embed="rId2"/>
                <a:stretch>
                  <a:fillRect l="-681" t="-533" r="-953" b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30EC7F4-BEB5-3CFE-51D2-C5ACF6ABF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313C29-2CCF-A189-B89B-E7DADAD5F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1003027"/>
            <a:ext cx="552379" cy="5889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D9A4D0-A318-A204-524E-221381571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025" y="1711765"/>
            <a:ext cx="3239665" cy="18226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F62915-08CA-AC95-F080-99192AF92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9026" y="3846526"/>
            <a:ext cx="3316044" cy="187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99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3232-5DDC-DE4A-D33C-B0E44987C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2008-9411-E7E7-5B51-D877AC89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3C859-8312-3986-1572-C277107A8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7" y="1467821"/>
            <a:ext cx="4270096" cy="303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294FF2-1265-D6FC-CE9E-5F964C99654F}"/>
                  </a:ext>
                </a:extLst>
              </p:cNvPr>
              <p:cNvSpPr txBox="1"/>
              <p:nvPr/>
            </p:nvSpPr>
            <p:spPr>
              <a:xfrm>
                <a:off x="265176" y="880700"/>
                <a:ext cx="9921240" cy="5755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Two dice are rolled.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What is the probability at least one die shows a 5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?</a:t>
                </a:r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What is the probability at least one die shows a 5,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 that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sum is 8 ?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 What is the probability at least one die shows a 5,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 that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sum is 15 ?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Here sample space Ω is shown in the figure.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 Let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at least one die shows a 5 .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 = {(5,1), (5,2), (5,3), (5,4), (5,5), (5,6),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(6,5), (5,5), (4,5), (3,5), (2,5), (1,5)}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P(B) = 12/36 = 1/4 = 0.25 = 25%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Now we are given an additional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evidence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/ information: the sum is 8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A be the event : the sum is 8. We have to find P(B|A).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= {(2,6),(3,5),(4,4),(5,3),(6,2)}               A </a:t>
                </a:r>
                <a14:m>
                  <m:oMath xmlns:m="http://schemas.openxmlformats.org/officeDocument/2006/math">
                    <m:r>
                      <a:rPr lang="en-US" sz="1600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= {(5,3), (3,5)}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P(A) = 5/36                                          P(A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2/36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P(B|A) = (2/36) / (5/36) = 2/5 = 40%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The extra piece of information, i.e. evidence A, changed the probability of B. Here it increased.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 Let A be the event : the sum is 15. This is not possible 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P(A) = 0. So, the probability P(B|A) is not defined.</a:t>
                </a:r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294FF2-1265-D6FC-CE9E-5F964C996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880700"/>
                <a:ext cx="9921240" cy="5755422"/>
              </a:xfrm>
              <a:prstGeom prst="rect">
                <a:avLst/>
              </a:prstGeom>
              <a:blipFill>
                <a:blip r:embed="rId3"/>
                <a:stretch>
                  <a:fillRect l="-369" t="-317" b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101CB33-D51C-1161-2347-0D73F10C6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6A5347-7D16-9C56-641C-CF5A920DD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247" y="1170835"/>
            <a:ext cx="487757" cy="520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E04C3-8821-5A5B-051C-50B0C8BEC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264" y="4241524"/>
            <a:ext cx="487757" cy="5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3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9D7A-2A50-FB01-08FA-1A27315C5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CBFA-B4E8-D4CB-5B87-73757B9A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825BF-BF49-345D-D1AF-158EEFC16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7" y="1467821"/>
            <a:ext cx="4270096" cy="303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0F6F31-6BFC-E74C-ABEA-3FD9633FF211}"/>
                  </a:ext>
                </a:extLst>
              </p:cNvPr>
              <p:cNvSpPr txBox="1"/>
              <p:nvPr/>
            </p:nvSpPr>
            <p:spPr>
              <a:xfrm>
                <a:off x="265176" y="834980"/>
                <a:ext cx="8951976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Two dice are rolled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What is the probability least one die shows a 6?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What is the probability least one die shows a 6,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 that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sum is even?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 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least one die shows a 6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 ={(6,1), (6,2), (6,3), (6,4), (6,5), (6,6)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(1,6), (2,6), (3,6), (4,6), (5,6)}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P(B) = 11/36 = 30.5 %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Now we are given an additional information: sum is even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A be the event : sum is even. We have to find P(B|A).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= {18 elements in total}                          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=  {(6,2), (6,4), (6,6), (2,6), (4,6)}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P(A) = 18/36                                          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5/36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P(B|A) = (5/36) / (18/36) = 27.8 %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The extra piece of information , i.e. evidence A, changed the probability of B. Here it decreased.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0F6F31-6BFC-E74C-ABEA-3FD9633FF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834980"/>
                <a:ext cx="8951976" cy="5909310"/>
              </a:xfrm>
              <a:prstGeom prst="rect">
                <a:avLst/>
              </a:prstGeom>
              <a:blipFill>
                <a:blip r:embed="rId3"/>
                <a:stretch>
                  <a:fillRect l="-613" t="-619" r="-1022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F9F0042-BB56-62BB-51EA-6BFE6CD21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B3E8AA-1C22-C5F8-A002-8C62601DF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247" y="1170835"/>
            <a:ext cx="487757" cy="520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2D1036-A708-5217-4C45-7464D0CDD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6570" y="4241524"/>
            <a:ext cx="487757" cy="5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0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A6009-732E-FC71-562B-2EDB87F3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F2F0-CDCF-E385-0F07-1A2D09BA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D78FA6-039A-DCE7-BC92-C954D7A6D844}"/>
                  </a:ext>
                </a:extLst>
              </p:cNvPr>
              <p:cNvSpPr txBox="1"/>
              <p:nvPr/>
            </p:nvSpPr>
            <p:spPr>
              <a:xfrm>
                <a:off x="265176" y="834980"/>
                <a:ext cx="11658600" cy="579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Imagine a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square dartboard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that goes from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 to 1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along both the x-axis and y-axis.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Every dart throw lands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uniformly at random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on the board: the probability of landing in a region is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proportional to its area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What is the probability that it landed in the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bottom-left quarter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board (where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)?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What is the probability that it landed in the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bottom-left quarter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board (where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),</a:t>
                </a:r>
              </a:p>
              <a:p>
                <a:r>
                  <a:rPr lang="en-US" sz="1600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 that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dart landed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below the diagonal line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?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1) Let B be the event that dart lands in the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bottom-left quarter.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probability is proportional to area, so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P(B) =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Area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bottom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left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quarter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area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=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0.5 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= 0.25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Now we are given an additional information: dart landed below diagonal line, y = x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A be the event that dart landed below diagonal line y = x. We have to find P(B|A).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B</m:t>
                          </m:r>
                        </m:e>
                      </m:d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B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area</m:t>
                          </m:r>
                        </m:den>
                      </m:f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5 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between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diagonal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and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bottom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area</m:t>
                          </m:r>
                        </m:den>
                      </m:f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600" b="0" i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P(B|A) =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∩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0.125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= 0.25    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The extra piece of information, i.e. evidence A, did not change the probability of B.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D78FA6-039A-DCE7-BC92-C954D7A6D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834980"/>
                <a:ext cx="11658600" cy="5795048"/>
              </a:xfrm>
              <a:prstGeom prst="rect">
                <a:avLst/>
              </a:prstGeom>
              <a:blipFill>
                <a:blip r:embed="rId2"/>
                <a:stretch>
                  <a:fillRect l="-314" t="-315" b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8AB7FFF-9E33-F583-AB81-C07D93314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869434-61DB-D553-5371-65BD0D28E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406" y="2312308"/>
            <a:ext cx="2196538" cy="1887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6F14A-8EE7-D669-CB9A-292EC8926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8406" y="4480335"/>
            <a:ext cx="2196538" cy="189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AE2D-4043-1699-589F-8537A91B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D188-6170-4205-0DA0-FDA2F2FDE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EXTRA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88C3-6B20-640C-A372-1A9CED41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42161"/>
            <a:ext cx="11722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Extra problems</a:t>
            </a:r>
          </a:p>
        </p:txBody>
      </p:sp>
    </p:spTree>
    <p:extLst>
      <p:ext uri="{BB962C8B-B14F-4D97-AF65-F5344CB8AC3E}">
        <p14:creationId xmlns:p14="http://schemas.microsoft.com/office/powerpoint/2010/main" val="1881430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2D02-3A4A-6A76-52EF-B3BA8B5D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4819-FBF9-1F82-63D0-9B47C0BE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FFB4BF-E43E-50EB-CB2A-CE457DBD1AA6}"/>
              </a:ext>
            </a:extLst>
          </p:cNvPr>
          <p:cNvSpPr txBox="1"/>
          <p:nvPr/>
        </p:nvSpPr>
        <p:spPr>
          <a:xfrm>
            <a:off x="265176" y="834980"/>
            <a:ext cx="11228832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Conditional Probability in a Markov (2-gram) Language Model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are developing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Markov-based language model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predicting the next word in a sentence.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following corpus: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dog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barked loudly.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cat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chased the mouse.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dog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ran across the yard.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small dog slept peacefully.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tree sailed across the river.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tree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was by the river.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dog looked at the tree.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small tree carried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dog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small dog was barking at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tree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tree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had juicy fruits.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probability that next word is “dog”, given that previous word is “big” ?, i.e. P(“big dog”) = ?</a:t>
            </a:r>
          </a:p>
          <a:p>
            <a:pPr marL="342900" indent="-342900">
              <a:buFontTx/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probability that next word is “tree”, given that previous word is “big” ?, i.e. P(“big tree”) = ?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 Note: These types of problems are solved by AI in sentence completion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“big </a:t>
            </a:r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6B5711-8C76-F560-B409-F2DEB861B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02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FCD67-8CDE-B1A2-59EC-5DC806B8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B5E6-C311-9A21-EA55-78E0E078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C3346-FE9F-49D3-F8ED-E6BE9710C978}"/>
              </a:ext>
            </a:extLst>
          </p:cNvPr>
          <p:cNvSpPr txBox="1"/>
          <p:nvPr/>
        </p:nvSpPr>
        <p:spPr>
          <a:xfrm>
            <a:off x="265176" y="834980"/>
            <a:ext cx="114482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1)Let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Event B: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next word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“dog.”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Event A: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previous word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“big.”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 to find P(B|A), i.e. P(“big dog”).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bigrams starting with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“big”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7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dog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big cat,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dog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big boat,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dog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big boat, big house }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 of (“big dog”) = 3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first-order Markov model, the probability of one word depends only on the previous word. Hence, the model estimates: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8CD60A-0DEA-67DC-6D9B-14732407A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CA7E5E-60E2-E3DF-21B3-05B069D1B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4335372"/>
            <a:ext cx="6212233" cy="252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16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2CAB-9C5E-6353-0DB7-738FC505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0674-DE41-7D57-5257-64D664E5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C2DAE-3EB9-B6C1-235E-2221BE69E176}"/>
              </a:ext>
            </a:extLst>
          </p:cNvPr>
          <p:cNvSpPr txBox="1"/>
          <p:nvPr/>
        </p:nvSpPr>
        <p:spPr>
          <a:xfrm>
            <a:off x="265176" y="743540"/>
            <a:ext cx="114940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Let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Event B: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next word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“tree.”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Event A: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previous word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“big.”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 to find P(B|A), i.e. P(“big tree”).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bigrams starting with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“big”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7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big dog, big cat, big dog,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tree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big dog,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tree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big house 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 of (“big tree”) = 2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first-order Markov model, the probability of one word depends only on the previous word. Hence, the model estimates: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54AF32-7A66-33E5-CAD9-61030DBA3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0E635D-BC22-F2FB-BD13-CAFFF8345887}"/>
              </a:ext>
            </a:extLst>
          </p:cNvPr>
          <p:cNvSpPr txBox="1"/>
          <p:nvPr/>
        </p:nvSpPr>
        <p:spPr>
          <a:xfrm>
            <a:off x="8095929" y="5476878"/>
            <a:ext cx="40063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Conclusion: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dog|big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= 0.43     ,     P(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tree|big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= 0.2857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next word should be dog because of higher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03DFD-317F-32BE-2895-D8CDB80E3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" y="4242369"/>
            <a:ext cx="5982115" cy="246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8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2FF2-DF76-B3F5-F74E-38C798B9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3156-CA7A-5B71-7542-5C9A7148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D2032-7A1B-E127-B797-1AFF4880C69B}"/>
              </a:ext>
            </a:extLst>
          </p:cNvPr>
          <p:cNvSpPr txBox="1"/>
          <p:nvPr/>
        </p:nvSpPr>
        <p:spPr>
          <a:xfrm>
            <a:off x="265176" y="834980"/>
            <a:ext cx="811987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Medical Diagnosis (Bayesian Networks)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you’re building a disease prediction model.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past data we have,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0.95% of the population both have the disease and test positive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5% of all tested people test positive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patient tests positive, what is the chance they really have the disease ?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Let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B: Patient has the disease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A: Patient has a positive test result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P(A∩B) = 0.0095 (0.95% of the population both have the disease and test positive)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P(A)=0.05 (5% of all tested people test positive)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P(B∣A) = P(A∩B) / P(A) = 0.0095 / 0.05 = 0.19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if a patient tests positive, there’s a 19% chance they really have the disease.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Bayesian update idea in medical AI.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1B74A8-76E6-D00B-9E08-09ECBB430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03C85-033F-FB79-2914-58998C1D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10C9-857B-6B97-8613-511C61F9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Conditional Probability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C5B35A-0167-A4B6-389D-CE45E7979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493" y="4706828"/>
            <a:ext cx="1954862" cy="534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12343-4E4E-A243-A6E1-16AE7FA7C71D}"/>
                  </a:ext>
                </a:extLst>
              </p:cNvPr>
              <p:cNvSpPr txBox="1"/>
              <p:nvPr/>
            </p:nvSpPr>
            <p:spPr>
              <a:xfrm>
                <a:off x="265176" y="834980"/>
                <a:ext cx="10698480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Conditional Probability in a Markov (N-gram) Language Model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you are developing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Markov-based language model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predicting the next word in a sentence.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know from corpus statistics: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2% of all word pairs are “big dog”     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0.02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5% of all word pairs start with “big” →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= 0.05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next word is “dog”, given that previous word is “big” 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 Let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B: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next word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“dog.”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previous word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“big.”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 a first-order Markov model, the probability of one word depends only on the previous word. Hence, the model estimates: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12343-4E4E-A243-A6E1-16AE7FA7C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834980"/>
                <a:ext cx="10698480" cy="3970318"/>
              </a:xfrm>
              <a:prstGeom prst="rect">
                <a:avLst/>
              </a:prstGeom>
              <a:blipFill>
                <a:blip r:embed="rId3"/>
                <a:stretch>
                  <a:fillRect l="-513" t="-922" r="-741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99FFD82-514A-0DB4-32C3-5A9805FE4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65" y="170701"/>
            <a:ext cx="1693577" cy="463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0E46E9-8186-C8DA-FC2B-7B9016976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80" y="5241566"/>
            <a:ext cx="3324689" cy="6858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48734B-6266-1F8A-9536-DB5CB9CA5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221" y="5289198"/>
            <a:ext cx="1428949" cy="5906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C68B78-4047-98A6-FB40-2EE25C3733BA}"/>
              </a:ext>
            </a:extLst>
          </p:cNvPr>
          <p:cNvSpPr txBox="1"/>
          <p:nvPr/>
        </p:nvSpPr>
        <p:spPr>
          <a:xfrm>
            <a:off x="118872" y="6088118"/>
            <a:ext cx="11896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40% probability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the word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“dog”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follows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“big.”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predicts probability for all words that follows big, and then it assigns the word that has highest probability.</a:t>
            </a:r>
          </a:p>
        </p:txBody>
      </p:sp>
    </p:spTree>
    <p:extLst>
      <p:ext uri="{BB962C8B-B14F-4D97-AF65-F5344CB8AC3E}">
        <p14:creationId xmlns:p14="http://schemas.microsoft.com/office/powerpoint/2010/main" val="201664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062" y="172619"/>
            <a:ext cx="8245642" cy="753812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probability in AI ML (p1)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797" y="3892950"/>
            <a:ext cx="561474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in Clustering — Gaussian Mixture Models (GMM)</a:t>
            </a: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b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clustering customers, a GMM says: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cluster is a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distribution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(usually Gaussian).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point belongs to each cluster with some probability.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customer A might belong: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70% to Cluster 1 (young students)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30% to Cluster 2 (young professionals)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Unlike K-Means, GMM gives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 assignments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0562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062" y="-92075"/>
            <a:ext cx="8245642" cy="753812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probability in </a:t>
            </a:r>
            <a:r>
              <a:rPr lang="en-US"/>
              <a:t>AI ML (p2)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832" y="2310235"/>
            <a:ext cx="8151154" cy="4341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5062" y="685799"/>
            <a:ext cx="4660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RL, like training robots, the agent's policy is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a|s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Prob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(take action a | in state s)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policy samples actions probabilistically- helping agents to explore</a:t>
            </a:r>
          </a:p>
        </p:txBody>
      </p:sp>
    </p:spTree>
    <p:extLst>
      <p:ext uri="{BB962C8B-B14F-4D97-AF65-F5344CB8AC3E}">
        <p14:creationId xmlns:p14="http://schemas.microsoft.com/office/powerpoint/2010/main" val="3266274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1170</TotalTime>
  <Words>2237</Words>
  <Application>Microsoft Office PowerPoint</Application>
  <PresentationFormat>Widescreen</PresentationFormat>
  <Paragraphs>226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Conditional Probability</vt:lpstr>
      <vt:lpstr>Probability: Definition (Review)</vt:lpstr>
      <vt:lpstr>Conditional Probability,</vt:lpstr>
      <vt:lpstr>PowerPoint Presentation</vt:lpstr>
      <vt:lpstr>Conditional Probability</vt:lpstr>
      <vt:lpstr>Conditional Probability</vt:lpstr>
      <vt:lpstr>Conditional Probability</vt:lpstr>
      <vt:lpstr>EXTRA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Application of probability in AI ML (p1)</vt:lpstr>
      <vt:lpstr>Application of probability in AI ML (p2)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225</cp:revision>
  <dcterms:created xsi:type="dcterms:W3CDTF">2025-09-22T02:44:38Z</dcterms:created>
  <dcterms:modified xsi:type="dcterms:W3CDTF">2026-04-29T10:25:01Z</dcterms:modified>
</cp:coreProperties>
</file>