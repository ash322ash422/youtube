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83" r:id="rId2"/>
    <p:sldId id="267" r:id="rId3"/>
    <p:sldId id="284" r:id="rId4"/>
    <p:sldId id="268" r:id="rId5"/>
    <p:sldId id="285" r:id="rId6"/>
    <p:sldId id="286" r:id="rId7"/>
    <p:sldId id="280" r:id="rId8"/>
    <p:sldId id="273" r:id="rId9"/>
    <p:sldId id="279" r:id="rId10"/>
    <p:sldId id="272" r:id="rId11"/>
    <p:sldId id="281" r:id="rId12"/>
    <p:sldId id="287" r:id="rId13"/>
    <p:sldId id="274" r:id="rId14"/>
    <p:sldId id="269" r:id="rId15"/>
    <p:sldId id="276" r:id="rId16"/>
    <p:sldId id="277" r:id="rId17"/>
    <p:sldId id="282" r:id="rId18"/>
    <p:sldId id="270" r:id="rId19"/>
    <p:sldId id="275" r:id="rId20"/>
    <p:sldId id="278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8:16:09.2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24575,'4'4'0,"-2"6"0,-2 6 0,-2 4 0,1 3 0,0 2 0,0 1 0,1 0 0,-1 1 0,5-1 0,2 0 0,-1 0 0,0 0 0,-2-1 0,-1 1 0,7-9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8:16:09.92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28 24575,'0'-5'0,"4"-1"0,6 1 0,6 0 0,4 2 0,3 1 0,2 1 0,1 1 0,0 0 0,1 0 0,-1 0 0,0 0 0,0 0 0,0 1 0,-5-1-8191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8:16:10.4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0 24575,'3'19'0,"20"140"0,-22-133-120,0-12 7,0 0 0,0 0 0,-2-1-1,0 1 1,0 0 0,-1-1 0,-1 1 0,0-1-1,-1 0 1,-6 14 0,0-10-6713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8:16:13.7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27 24575,'4'0'0,"7"0"0,4-4 0,5-2 0,3 0 0,2 2 0,2 1 0,-1 1 0,1 0 0,-1 2 0,0 0 0,0 0 0,-1 0 0,1 1 0,-1-1 0,1 0 0,-5 0-8191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8:16:14.2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5 24575,'0'-4'0,"0"6"0,0 9 0,4 5 0,2 6 0,0 2 0,-2 2 0,-1 1 0,-1 0 0,-1-1 0,0 1 0,-1-1 0,0-1 0,-1 1 0,1-1 0,0 1 0,0-5-8191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8:16:15.02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 0 24575,'1'30'0,"1"-1"0,10 47 0,-9-59-114,0-1 1,-2 1-1,1 0 0,-2-1 0,0 1 1,-1 0-1,-1-1 0,-1 1 0,0-1 1,-1 1-1,-9 24 0,5-22-6712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8:16:15.58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27 24575,'-4'0'0,"2"-5"0,7 0 0,6-1 0,6 2 0,4 1 0,3 1 0,2 1 0,0 1 0,-4 0-8191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8:16:15.9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111 20 24575,'0'-1'0,"0"1"0,1-1 0,-1 0 0,0 0 0,0 1 0,0-1 0,0 0 0,0 0 0,0 1 0,0-1 0,0 0 0,0 0 0,0 1 0,-1-1 0,1 0 0,0 1 0,0-1 0,-1 0 0,1 1 0,0-1 0,-1 0 0,1 1 0,-1-1 0,1 0 0,0 1 0,-1-1 0,0 0 0,-10 17 0,-8 34 0,12-23 0,2 1 0,-3 52 0,8-57 0,-2 0 0,-1-1 0,-1 1 0,-1-1 0,-10 31 0,-2-13-1365,7-21-5461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8:16:20.21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0 24575,'-4'5'0,"3"1"0,5-1 0,7 0 0,6-2 0,4-1 0,3-1 0,2-1 0,0 0 0,1 0 0,0 0 0,3 0 0,2-1 0,-1 1 0,-1 0 0,-6 0-8191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8:16:20.69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6 24575,'0'-4'0,"0"2"0,0 7 0,0 6 0,0 6 0,0 4 0,4 3 0,2 2 0,-1 0 0,-1 1 0,0-1 0,-3 1 0,5-1 0,0 0 0,0-5-8191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8:16:21.33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52 24575,'4'-4'0,"6"-2"0,6 0 0,4 2 0,3 1 0,2-4 0,1 1 0,1 0 0,-1 2 0,0 1 0,0 1 0,0 1 0,0 1 0,-1 0 0,-4 0-8191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8:16:21.80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27 0 24575,'-5'0'0,"0"5"0,-1 9 0,2 7 0,1 5 0,1 1 0,1 2 0,1-1 0,0-1 0,0 0 0,0 0 0,4-1 0,2-1 0,0 0 0,-2 1 0,-1-5-8191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8:16:22.4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51 24575,'0'-4'0,"8"-2"0,8 1 0,5 1 0,3 0 0,3 3 0,0 0 0,0 0 0,-4-3 0,-3-2 0,1 1 0,0 1 0,2 1 0,0 1 0,-3 2-8191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8:16:22.9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78 0 24575,'-3'0'0,"0"0"0,1 0 0,-1 1 0,0-1 0,0 1 0,0-1 0,0 1 0,1 0 0,-1 0 0,0 0 0,1 0 0,-1 1 0,1-1 0,-1 1 0,1 0 0,0-1 0,0 1 0,-4 4 0,3-2 0,0 1 0,1-1 0,-1 0 0,1 1 0,0-1 0,0 1 0,1-1 0,0 1 0,-1 0 0,1 6 0,-1 4 0,1 1 0,1-1 0,1 1 0,0-1 0,1 1 0,4 16 0,33 146-1365,-36-156-5461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8:16:23.6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34 24575,'0'-27'0,"0"21"0,0 18 0,2 17 0,1-1 0,8 33 0,-1-6 0,1 3 29,-6-36-493,-1-1-1,1 32 0,-4-32-6361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8:16:24.64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0 257 24575,'14'0'0,"1"0"0,1 0 0,-1-1 0,0 0 0,23-6 0,-35 6 0,1 0 0,-1 0 0,1 0 0,-1 0 0,0-1 0,1 1 0,-1-1 0,0 0 0,0 0 0,0 0 0,0-1 0,-1 1 0,1 0 0,-1-1 0,1 0 0,-1 0 0,0 0 0,0 0 0,0 0 0,-1 0 0,1 0 0,-1-1 0,1 1 0,-1 0 0,0-1 0,0-3 0,2-31 0,-2 1 0,-5-40 0,3 50 0,3 82 0,14 83 0,-14-126 0,11 60 8,-6-39-694,5 65-1,-12-77-6139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78957D-03CB-4A73-A441-94DC4DD190B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8AD3AE-EFDA-42E0-98C2-8B0F08831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038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AD3AE-EFDA-42E0-98C2-8B0F088314D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830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6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" Type="http://schemas.openxmlformats.org/officeDocument/2006/relationships/image" Target="../media/image11.png"/><Relationship Id="rId21" Type="http://schemas.openxmlformats.org/officeDocument/2006/relationships/image" Target="../media/image20.png"/><Relationship Id="rId34" Type="http://schemas.openxmlformats.org/officeDocument/2006/relationships/customXml" Target="../ink/ink16.xml"/><Relationship Id="rId7" Type="http://schemas.openxmlformats.org/officeDocument/2006/relationships/image" Target="../media/image13.png"/><Relationship Id="rId12" Type="http://schemas.openxmlformats.org/officeDocument/2006/relationships/customXml" Target="../ink/ink5.xml"/><Relationship Id="rId17" Type="http://schemas.openxmlformats.org/officeDocument/2006/relationships/image" Target="../media/image18.png"/><Relationship Id="rId25" Type="http://schemas.openxmlformats.org/officeDocument/2006/relationships/image" Target="../media/image22.png"/><Relationship Id="rId33" Type="http://schemas.openxmlformats.org/officeDocument/2006/relationships/image" Target="../media/image26.png"/><Relationship Id="rId2" Type="http://schemas.openxmlformats.org/officeDocument/2006/relationships/image" Target="../media/image10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5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5" Type="http://schemas.openxmlformats.org/officeDocument/2006/relationships/image" Target="../media/image12.png"/><Relationship Id="rId15" Type="http://schemas.openxmlformats.org/officeDocument/2006/relationships/image" Target="../media/image17.png"/><Relationship Id="rId23" Type="http://schemas.openxmlformats.org/officeDocument/2006/relationships/image" Target="../media/image21.png"/><Relationship Id="rId28" Type="http://schemas.openxmlformats.org/officeDocument/2006/relationships/customXml" Target="../ink/ink13.xml"/><Relationship Id="rId10" Type="http://schemas.openxmlformats.org/officeDocument/2006/relationships/customXml" Target="../ink/ink4.xml"/><Relationship Id="rId19" Type="http://schemas.openxmlformats.org/officeDocument/2006/relationships/image" Target="../media/image19.png"/><Relationship Id="rId31" Type="http://schemas.openxmlformats.org/officeDocument/2006/relationships/image" Target="../media/image25.png"/><Relationship Id="rId4" Type="http://schemas.openxmlformats.org/officeDocument/2006/relationships/customXml" Target="../ink/ink1.xml"/><Relationship Id="rId9" Type="http://schemas.openxmlformats.org/officeDocument/2006/relationships/image" Target="../media/image14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23.png"/><Relationship Id="rId30" Type="http://schemas.openxmlformats.org/officeDocument/2006/relationships/customXml" Target="../ink/ink14.xml"/><Relationship Id="rId35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141C1-A7CA-130F-144F-612FBEE27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7C50E-B507-3AF9-770F-8779EC2C0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Random Variables: Formal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7752E0-F112-CC68-864A-79D65E565B62}"/>
                  </a:ext>
                </a:extLst>
              </p:cNvPr>
              <p:cNvSpPr txBox="1"/>
              <p:nvPr/>
            </p:nvSpPr>
            <p:spPr>
              <a:xfrm>
                <a:off x="171810" y="1118938"/>
                <a:ext cx="11596518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random variable (RV)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a function that assigns a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numerical value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to each possible outcome of a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random experiment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Here,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Ω is 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sample space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(all possible outcomes),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X(ω) is 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numerical value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assigned to an outcome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7752E0-F112-CC68-864A-79D65E565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10" y="1118938"/>
                <a:ext cx="11596518" cy="3416320"/>
              </a:xfrm>
              <a:prstGeom prst="rect">
                <a:avLst/>
              </a:prstGeom>
              <a:blipFill>
                <a:blip r:embed="rId2"/>
                <a:stretch>
                  <a:fillRect l="-420" t="-1071" b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349E5BD-48F8-64D2-9CBF-75CFEFB25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667" y="2209798"/>
            <a:ext cx="1724266" cy="571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4A2FB9-514B-164C-B207-195538221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4658" y="1547407"/>
            <a:ext cx="6993397" cy="24679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4E0B3B-5CCE-7DCC-6441-6CEF4ECB3E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4179298"/>
            <a:ext cx="2125218" cy="23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801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92440-9BF3-81E8-E425-01B06411F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DEA65-0DC9-A3B2-BD39-0F68C1513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Random Variables: Plain English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76E454-363B-BE93-45D3-131768DC8753}"/>
              </a:ext>
            </a:extLst>
          </p:cNvPr>
          <p:cNvSpPr txBox="1"/>
          <p:nvPr/>
        </p:nvSpPr>
        <p:spPr>
          <a:xfrm>
            <a:off x="418698" y="1118938"/>
            <a:ext cx="11130174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Random variable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numeric variable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represents the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outcome of a random experiment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its value is not fixed but depends on chance.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variable values may change randomly from one experiment to another.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They are often represented by a capital letter like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example, 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roll a die, the outcome X could be 1, 2, 3, 4, 5, or 6</a:t>
            </a:r>
          </a:p>
          <a:p>
            <a:pPr marL="342900" indent="-342900">
              <a:buFontTx/>
              <a:buChar char="-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count number of cars passing through a toll in 1 minute, the outcome X  could be 0, 1,2,3, …</a:t>
            </a:r>
          </a:p>
          <a:p>
            <a:pPr marL="342900" indent="-342900">
              <a:buFontTx/>
              <a:buChar char="-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Measure the temperature of a room: Here outcome X could 10.3, 4, 5.34, etc.</a:t>
            </a:r>
          </a:p>
          <a:p>
            <a:pPr marL="342900" indent="-342900">
              <a:buFontTx/>
              <a:buChar char="-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79B2AA-A53D-CEC6-FDCE-336E87E15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3317649"/>
            <a:ext cx="1238816" cy="10382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A28699-C02D-AF25-65F9-86C886E51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0996" y="5256126"/>
            <a:ext cx="1516279" cy="83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932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6A65D-BC50-D3D8-ED01-ED26D9A8F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types of random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2F219-C881-2FF1-CD04-6FCFBC64A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Discrete RV</a:t>
            </a:r>
          </a:p>
          <a:p>
            <a:r>
              <a:rPr lang="en-US" dirty="0"/>
              <a:t>Continuous RV</a:t>
            </a:r>
          </a:p>
        </p:txBody>
      </p:sp>
    </p:spTree>
    <p:extLst>
      <p:ext uri="{BB962C8B-B14F-4D97-AF65-F5344CB8AC3E}">
        <p14:creationId xmlns:p14="http://schemas.microsoft.com/office/powerpoint/2010/main" val="2921808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ADBB8-FA43-47D0-3D85-26CAB0F93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66456-20C0-0B13-25A7-8589A49CD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Discrete Random Variables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68477B-4827-CE02-ACD8-8A5F973D7D9C}"/>
              </a:ext>
            </a:extLst>
          </p:cNvPr>
          <p:cNvSpPr txBox="1"/>
          <p:nvPr/>
        </p:nvSpPr>
        <p:spPr>
          <a:xfrm>
            <a:off x="89514" y="1000066"/>
            <a:ext cx="1156908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Definition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 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variable that can only take on a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finite or countably infinite number of specific values: {…, -3, -2, -1, 0, 1, 2, 3, 4, 5, …)}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 </a:t>
            </a: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finite values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  The number of heads when you flip a coin three times. 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outcomes are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Ω =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 HHH, HHT, HTT, HTH, THH, TTH, THT, TTT } .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 of heads can be represented as X whose possible values are 0 head, 1 head, 2 head, or 3 head.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X =  { 0, 1, 2, 3 }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712784-7978-B8B3-C12D-D5C6A1389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703" y="2878622"/>
            <a:ext cx="8070897" cy="322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553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4BCCF-1B91-64CD-FD17-268C774A1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29875-06F8-8447-BD74-6A5CE753F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Discrete Random Variables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9E7180-3CCA-2927-46BB-758566B0CD8F}"/>
              </a:ext>
            </a:extLst>
          </p:cNvPr>
          <p:cNvSpPr txBox="1"/>
          <p:nvPr/>
        </p:nvSpPr>
        <p:spPr>
          <a:xfrm>
            <a:off x="89514" y="1000066"/>
            <a:ext cx="115690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infinite discrete values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Counting stars in a region of sky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outcomes are possible numbers of stars in a region,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Ω =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 0, 1, 2, 3, … } .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 can be represented as number of observed stars in a selected region.  Its values can 0 star, 1 star, 2 star, 3 star, ….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X =  { 0, 1, 2, 3, ….. }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X =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Ω</a:t>
            </a: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3E0740-1C5A-445F-6F02-1D94F21E5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281" y="2825496"/>
            <a:ext cx="7908181" cy="357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609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0A3B4-6429-536C-DE9D-8D8DEE81B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FB553-E675-BB66-FEAB-5AF22A3C9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Discrete Random Variables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7F92F5-29D0-2E1A-D912-F1D1630D24D2}"/>
              </a:ext>
            </a:extLst>
          </p:cNvPr>
          <p:cNvSpPr txBox="1"/>
          <p:nvPr/>
        </p:nvSpPr>
        <p:spPr>
          <a:xfrm>
            <a:off x="89514" y="1000066"/>
            <a:ext cx="115690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infinite discrete values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 Number of coin tosses until the first head appears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outcome represents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trial number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on which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first head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occurs: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the sample space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Ω = {1, 2, 3, 4, 5, …}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“the number of tosses needed to get the first head.”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X can take any positive integer value:  X = {1, 2, 3, 4, 5, …}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781384-A452-6A8B-2911-940AF22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5" y="3025552"/>
            <a:ext cx="6457702" cy="34853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105B20-7BF2-69C5-A193-9C3C20246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464" y="1390802"/>
            <a:ext cx="1595846" cy="47194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07DCECEC-B857-7351-215D-EFB510E31C6C}"/>
              </a:ext>
            </a:extLst>
          </p:cNvPr>
          <p:cNvGrpSpPr/>
          <p:nvPr/>
        </p:nvGrpSpPr>
        <p:grpSpPr>
          <a:xfrm>
            <a:off x="6501384" y="3657456"/>
            <a:ext cx="147960" cy="138600"/>
            <a:chOff x="6501384" y="3657456"/>
            <a:chExt cx="147960" cy="13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451F91B-1E1F-4913-5463-B079820F4BC0}"/>
                    </a:ext>
                  </a:extLst>
                </p14:cNvPr>
                <p14:cNvContentPartPr/>
                <p14:nvPr/>
              </p14:nvContentPartPr>
              <p14:xfrm>
                <a:off x="6501384" y="3666816"/>
                <a:ext cx="12600" cy="1256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451F91B-1E1F-4913-5463-B079820F4BC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483384" y="3648816"/>
                  <a:ext cx="482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EE96488-9B98-64D4-18BE-D1493457B759}"/>
                    </a:ext>
                  </a:extLst>
                </p14:cNvPr>
                <p14:cNvContentPartPr/>
                <p14:nvPr/>
              </p14:nvContentPartPr>
              <p14:xfrm>
                <a:off x="6519744" y="3739176"/>
                <a:ext cx="109080" cy="100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EE96488-9B98-64D4-18BE-D1493457B75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501744" y="3721536"/>
                  <a:ext cx="1447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3646F57-AE93-61E2-7DA9-2DDB6E039A61}"/>
                    </a:ext>
                  </a:extLst>
                </p14:cNvPr>
                <p14:cNvContentPartPr/>
                <p14:nvPr/>
              </p14:nvContentPartPr>
              <p14:xfrm>
                <a:off x="6636744" y="3657456"/>
                <a:ext cx="12600" cy="138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3646F57-AE93-61E2-7DA9-2DDB6E039A6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618744" y="3639456"/>
                  <a:ext cx="48240" cy="17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D462B2F-9E37-3B38-C6D2-84998DDB63CA}"/>
              </a:ext>
            </a:extLst>
          </p:cNvPr>
          <p:cNvGrpSpPr/>
          <p:nvPr/>
        </p:nvGrpSpPr>
        <p:grpSpPr>
          <a:xfrm>
            <a:off x="6830424" y="4598856"/>
            <a:ext cx="348480" cy="174600"/>
            <a:chOff x="6830424" y="4598856"/>
            <a:chExt cx="348480" cy="17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51D28A6-821C-B283-1A5B-FFB095583E8F}"/>
                    </a:ext>
                  </a:extLst>
                </p14:cNvPr>
                <p14:cNvContentPartPr/>
                <p14:nvPr/>
              </p14:nvContentPartPr>
              <p14:xfrm>
                <a:off x="6830424" y="4598856"/>
                <a:ext cx="136800" cy="10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51D28A6-821C-B283-1A5B-FFB095583E8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812424" y="4580856"/>
                  <a:ext cx="1724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A362659-69BF-7DBA-9434-8F7CC00C6A4F}"/>
                    </a:ext>
                  </a:extLst>
                </p14:cNvPr>
                <p14:cNvContentPartPr/>
                <p14:nvPr/>
              </p14:nvContentPartPr>
              <p14:xfrm>
                <a:off x="6885144" y="4625136"/>
                <a:ext cx="10080" cy="1288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A362659-69BF-7DBA-9434-8F7CC00C6A4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867504" y="4607496"/>
                  <a:ext cx="457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F1B4174-2A9C-0F07-3616-9A8D4DE11117}"/>
                    </a:ext>
                  </a:extLst>
                </p14:cNvPr>
                <p14:cNvContentPartPr/>
                <p14:nvPr/>
              </p14:nvContentPartPr>
              <p14:xfrm>
                <a:off x="7055424" y="4608576"/>
                <a:ext cx="12600" cy="136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F1B4174-2A9C-0F07-3616-9A8D4DE1111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037784" y="4590576"/>
                  <a:ext cx="482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2200006-2C0A-F5D9-E1B2-5C94FDB073D7}"/>
                    </a:ext>
                  </a:extLst>
                </p14:cNvPr>
                <p14:cNvContentPartPr/>
                <p14:nvPr/>
              </p14:nvContentPartPr>
              <p14:xfrm>
                <a:off x="7093584" y="4681296"/>
                <a:ext cx="55080" cy="9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2200006-2C0A-F5D9-E1B2-5C94FDB073D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075584" y="4663656"/>
                  <a:ext cx="907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F703B38-A837-582E-6116-A0D5144F0B55}"/>
                    </a:ext>
                  </a:extLst>
                </p14:cNvPr>
                <p14:cNvContentPartPr/>
                <p14:nvPr/>
              </p14:nvContentPartPr>
              <p14:xfrm>
                <a:off x="7138224" y="4619736"/>
                <a:ext cx="40680" cy="153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F703B38-A837-582E-6116-A0D5144F0B5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120224" y="4601736"/>
                  <a:ext cx="7632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A20F655-4B02-ED9E-3EB8-4886A870B2DF}"/>
              </a:ext>
            </a:extLst>
          </p:cNvPr>
          <p:cNvGrpSpPr/>
          <p:nvPr/>
        </p:nvGrpSpPr>
        <p:grpSpPr>
          <a:xfrm>
            <a:off x="5520744" y="5669136"/>
            <a:ext cx="119520" cy="136800"/>
            <a:chOff x="5520744" y="5669136"/>
            <a:chExt cx="119520" cy="13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EB4DCD6-5875-22AD-90E3-8C69B5F1B7D3}"/>
                    </a:ext>
                  </a:extLst>
                </p14:cNvPr>
                <p14:cNvContentPartPr/>
                <p14:nvPr/>
              </p14:nvContentPartPr>
              <p14:xfrm>
                <a:off x="5520744" y="5669136"/>
                <a:ext cx="119520" cy="10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EB4DCD6-5875-22AD-90E3-8C69B5F1B7D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502744" y="5651136"/>
                  <a:ext cx="1551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3BBFA2C-AC51-67A7-4BAE-270681D61641}"/>
                    </a:ext>
                  </a:extLst>
                </p14:cNvPr>
                <p14:cNvContentPartPr/>
                <p14:nvPr/>
              </p14:nvContentPartPr>
              <p14:xfrm>
                <a:off x="5604984" y="5703696"/>
                <a:ext cx="15480" cy="102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3BBFA2C-AC51-67A7-4BAE-270681D6164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587344" y="5685696"/>
                  <a:ext cx="51120" cy="1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FA1E94A-6CA8-60A5-DC3E-F6FBD5B2DFFE}"/>
              </a:ext>
            </a:extLst>
          </p:cNvPr>
          <p:cNvGrpSpPr/>
          <p:nvPr/>
        </p:nvGrpSpPr>
        <p:grpSpPr>
          <a:xfrm>
            <a:off x="5742144" y="5659776"/>
            <a:ext cx="504000" cy="182520"/>
            <a:chOff x="5742144" y="5659776"/>
            <a:chExt cx="504000" cy="18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F866ABE-40B0-D1F2-0F5B-5E0BC3A06BA6}"/>
                    </a:ext>
                  </a:extLst>
                </p14:cNvPr>
                <p14:cNvContentPartPr/>
                <p14:nvPr/>
              </p14:nvContentPartPr>
              <p14:xfrm>
                <a:off x="5742144" y="5659776"/>
                <a:ext cx="118080" cy="19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F866ABE-40B0-D1F2-0F5B-5E0BC3A06BA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724504" y="5641776"/>
                  <a:ext cx="1537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D698576-CCE6-836F-6EBB-AF6E89B0925C}"/>
                    </a:ext>
                  </a:extLst>
                </p14:cNvPr>
                <p14:cNvContentPartPr/>
                <p14:nvPr/>
              </p14:nvContentPartPr>
              <p14:xfrm>
                <a:off x="5796864" y="5696496"/>
                <a:ext cx="9720" cy="127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D698576-CCE6-836F-6EBB-AF6E89B0925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779224" y="5678496"/>
                  <a:ext cx="453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3FD9CD9-8382-5FD2-4ADC-F7DFCE0F6A6E}"/>
                    </a:ext>
                  </a:extLst>
                </p14:cNvPr>
                <p14:cNvContentPartPr/>
                <p14:nvPr/>
              </p14:nvContentPartPr>
              <p14:xfrm>
                <a:off x="5943384" y="5678136"/>
                <a:ext cx="109080" cy="18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3FD9CD9-8382-5FD2-4ADC-F7DFCE0F6A6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925744" y="5660496"/>
                  <a:ext cx="1447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E8E212B-5DF2-BD26-6DDB-1F44600305A1}"/>
                    </a:ext>
                  </a:extLst>
                </p14:cNvPr>
                <p14:cNvContentPartPr/>
                <p14:nvPr/>
              </p14:nvContentPartPr>
              <p14:xfrm>
                <a:off x="5997744" y="5696496"/>
                <a:ext cx="28440" cy="145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E8E212B-5DF2-BD26-6DDB-1F44600305A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979744" y="5678496"/>
                  <a:ext cx="640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426213D-B7E3-0ED6-B557-1A402B80544F}"/>
                    </a:ext>
                  </a:extLst>
                </p14:cNvPr>
                <p14:cNvContentPartPr/>
                <p14:nvPr/>
              </p14:nvContentPartPr>
              <p14:xfrm>
                <a:off x="6135624" y="5702616"/>
                <a:ext cx="18720" cy="129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426213D-B7E3-0ED6-B557-1A402B80544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117624" y="5684976"/>
                  <a:ext cx="543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15D3243-FD98-3DAF-62A2-B62CEE4EEB72}"/>
                    </a:ext>
                  </a:extLst>
                </p14:cNvPr>
                <p14:cNvContentPartPr/>
                <p14:nvPr/>
              </p14:nvContentPartPr>
              <p14:xfrm>
                <a:off x="6162984" y="5686776"/>
                <a:ext cx="83160" cy="154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15D3243-FD98-3DAF-62A2-B62CEE4EEB7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44984" y="5669136"/>
                  <a:ext cx="118800" cy="190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12208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D1E85-8F5B-ADD0-4756-F06B5A838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7B51C-483D-E2CB-25BE-84C8C2671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Discrete Random Variables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EF03D8-6EA8-3CB9-D24B-7735C851B6E8}"/>
              </a:ext>
            </a:extLst>
          </p:cNvPr>
          <p:cNvSpPr txBox="1"/>
          <p:nvPr/>
        </p:nvSpPr>
        <p:spPr>
          <a:xfrm>
            <a:off x="89514" y="1000066"/>
            <a:ext cx="115690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negative random values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  Gamble on coin toss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flip a coin three times. if you get 2 heads you get $1 else you lose $2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outcomes are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Ω =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 HHH, HHT, HTT, HTH, THH, TTH, THT, TTT } .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 can be represented as win amount: +1 or -2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X =  { -2, 1}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63A520-CD37-F05C-19D7-FCD687FEB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28" y="2711795"/>
            <a:ext cx="9496446" cy="35764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7801ED-8D71-98E8-FD6E-8A40C99D4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928" y="1098049"/>
            <a:ext cx="2310094" cy="6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331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E4435-197C-A92B-DA46-BB116732F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BCD73-29E9-B795-D10B-2BE53EAFE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Discrete Random Variables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926EC6-138D-836A-773B-BC8D276ED3AC}"/>
              </a:ext>
            </a:extLst>
          </p:cNvPr>
          <p:cNvSpPr txBox="1"/>
          <p:nvPr/>
        </p:nvSpPr>
        <p:spPr>
          <a:xfrm>
            <a:off x="190098" y="1000066"/>
            <a:ext cx="115690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Rolling a fair die once.</a:t>
            </a:r>
          </a:p>
          <a:p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sample space of all possible outcomes is Ω = {1, 2, 3, 4, 5, 6}.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we define the random variable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as "the number shown on the die when it is even else 0"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the possible values of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are {0, 2, 4, 6}.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{ 0, 2, 4, 6 }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7D3FFC-0AE2-129A-4CD4-F1B0B1D1D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2972292"/>
            <a:ext cx="7644385" cy="352586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162AB9A-36C4-02F2-34EF-F750C7898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408" y="1248862"/>
            <a:ext cx="1238816" cy="103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478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AB5A3-DA1D-EE09-4BC1-EA1CDB62C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A2AD-7603-A0F6-EC58-B28E3569E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Discrete Random Variables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D715FC-A3B0-6496-9782-917AEDB94F70}"/>
              </a:ext>
            </a:extLst>
          </p:cNvPr>
          <p:cNvSpPr txBox="1"/>
          <p:nvPr/>
        </p:nvSpPr>
        <p:spPr>
          <a:xfrm>
            <a:off x="190098" y="1000066"/>
            <a:ext cx="1156908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Rolling 2 dice and adding the numbers on the pair of dice,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sample space of all possible outcomes is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Ω =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{(1,1), (1,2), (1,3), (1,4), (1,5), (1,6),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(2,1), (2,2), (2,3), (2,4), (2,5), (2,6),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(3,1), (3,2), (3,3), (3,4), (3,5), (3,6),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(4,1), (4,2), (4,3), (4,4), (4,5), (4,6),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(5,1), (5,2), (5,3), (5,4), (5,5), (5,6), 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(6,1), (6,2), (6,3), (6,4), (6,5), (6,6) }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If X is the sum of the numbers on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pair of dice, then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X = { 2, 3, 4, .., 12 }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Mapping here would be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(1,1)                      -&gt; 2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(1,2) , (2,1)           -&gt; 3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(1,3), (2,2), (3,1)  -&gt; 4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so on…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C082FD-1712-86C5-9BA9-BA6B74F56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8498" y="2185416"/>
            <a:ext cx="8173502" cy="37865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D58AF2D-543F-482A-A13A-897AF4D21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6507" y="1234800"/>
            <a:ext cx="724924" cy="6075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62B8601-FDB5-FB03-90E5-1368675BA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4082" y="1250697"/>
            <a:ext cx="724924" cy="60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765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D81C1-3300-CBCB-5977-68D049679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BDCFF-81EA-3D88-DD01-84DEE13A4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Discrete Random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B5ADBC-D468-A27A-E4F3-819D7BC24ED0}"/>
                  </a:ext>
                </a:extLst>
              </p:cNvPr>
              <p:cNvSpPr txBox="1"/>
              <p:nvPr/>
            </p:nvSpPr>
            <p:spPr>
              <a:xfrm>
                <a:off x="155448" y="1000066"/>
                <a:ext cx="11832336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Example: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Counting defective items in a batch of 4 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sample space is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Ω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{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DDDD, DDDN, DDND, DNDD, NDDD, DDNN, DNDN, DNND, NDDN, NDND, NNDD, DNNN, NDNN, NNND, NNND, NNNN }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 is defective and N is Non-defective. There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US" b="0" i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total outcomes.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Let X represent the number of defective items in a batch of 4. Its values range from 0 to 4.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So, X = { 0, 1, 2, 3, 4 }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B5ADBC-D468-A27A-E4F3-819D7BC24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" y="1000066"/>
                <a:ext cx="11832336" cy="2862322"/>
              </a:xfrm>
              <a:prstGeom prst="rect">
                <a:avLst/>
              </a:prstGeom>
              <a:blipFill>
                <a:blip r:embed="rId2"/>
                <a:stretch>
                  <a:fillRect l="-464" t="-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90299304-3F13-D62E-A180-8A7B46551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1389" y="2953512"/>
            <a:ext cx="7875163" cy="37679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160B84-8923-1F73-1CA7-CA2EDE7623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4498" y="841248"/>
            <a:ext cx="1930502" cy="57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959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C8FD5-7934-A3E7-9626-71F94D0FA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23D62-FA0A-7A2E-BCCC-8141E6E07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Discrete Random Variables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602CFF-F1BF-3B03-EBA5-0E7783C7E605}"/>
              </a:ext>
            </a:extLst>
          </p:cNvPr>
          <p:cNvSpPr txBox="1"/>
          <p:nvPr/>
        </p:nvSpPr>
        <p:spPr>
          <a:xfrm>
            <a:off x="418698" y="1000066"/>
            <a:ext cx="115690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Picking a person’s age expressed in years.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everyday use we generally count age in years as whole number. 0 year could be a 2-month-old baby.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sample space is </a:t>
            </a:r>
            <a:r>
              <a:rPr lang="el-G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Ω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l-G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l-G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l-G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0,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l-G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1,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l-G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l-G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l-G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3,…,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l-G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120}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Representing X as age, we see it could be any discrete number between 0 years to 120 years.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 = { 0, 1 ,2, 3, …., 120 }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X = </a:t>
            </a:r>
            <a:r>
              <a:rPr lang="el-G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Ω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5BD590-31BB-41B3-63D6-9B670A018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425" y="2660905"/>
            <a:ext cx="8608055" cy="37600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DF0C82-DAE4-A25B-43D6-E6FE65665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591" y="1801368"/>
            <a:ext cx="2035711" cy="118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10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38C9A-D589-5073-1855-9DB97FA8D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CONTINUOUS R.V.</a:t>
            </a:r>
          </a:p>
        </p:txBody>
      </p:sp>
    </p:spTree>
    <p:extLst>
      <p:ext uri="{BB962C8B-B14F-4D97-AF65-F5344CB8AC3E}">
        <p14:creationId xmlns:p14="http://schemas.microsoft.com/office/powerpoint/2010/main" val="2503959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E08CE-3B34-3E87-5EF1-69F635F50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BF60B-1CEB-C313-C79F-466D95DA7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Continuous Random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83975D-AD99-C646-6BCF-D2F73A6B0D67}"/>
                  </a:ext>
                </a:extLst>
              </p:cNvPr>
              <p:cNvSpPr txBox="1"/>
              <p:nvPr/>
            </p:nvSpPr>
            <p:spPr>
              <a:xfrm>
                <a:off x="135234" y="1118938"/>
                <a:ext cx="11466576" cy="4801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Definition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 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variable that can take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any value within a given interval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 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That is, takes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infinitely many values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(real numbers in an interval).</a:t>
                </a: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Example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 You test a single light bulb and record how long it lasts before burning out.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Each outcome corresponds to a specific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lifetime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(in hours).</a:t>
                </a:r>
                <a:b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lifetime could be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any positive real number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so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Ω =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[ 0, </a:t>
                </a:r>
                <a14:m>
                  <m:oMath xmlns:m="http://schemas.openxmlformats.org/officeDocument/2006/math">
                    <m:r>
                      <a:rPr lang="en-US" b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)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0 hours → burns out immediately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X represents the life-time of the bulb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that you bought. It can take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any real value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in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interval [ 0,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)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X =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Ω =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[ 0,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83975D-AD99-C646-6BCF-D2F73A6B0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34" y="1118938"/>
                <a:ext cx="11466576" cy="4801314"/>
              </a:xfrm>
              <a:prstGeom prst="rect">
                <a:avLst/>
              </a:prstGeom>
              <a:blipFill>
                <a:blip r:embed="rId2"/>
                <a:stretch>
                  <a:fillRect l="-425" t="-762" b="-1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15BF6A9-505A-14D8-B7E7-E23F70C98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857" y="3502153"/>
            <a:ext cx="6870799" cy="28628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73E7D6-7B08-32D3-8BE7-4DB1EA91A3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8176" y="2271082"/>
            <a:ext cx="1553634" cy="14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566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3DAC2-6FAE-E501-6C61-8735D1014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04CA5-0945-E5A9-D982-0D8AEEFA2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Continuous Random Variables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784DDA-094D-4AE0-D887-BB2FFAAB8FEC}"/>
              </a:ext>
            </a:extLst>
          </p:cNvPr>
          <p:cNvSpPr txBox="1"/>
          <p:nvPr/>
        </p:nvSpPr>
        <p:spPr>
          <a:xfrm>
            <a:off x="171810" y="808042"/>
            <a:ext cx="993285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Example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  The height of a person in a crowd. 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sample space (Ω)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the set of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 possible outcomes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i.e., all possible heights that could occur in this experiment. We know from experience that height of any person is between 0.8 to 3 meters, i.e. such as 1.75 meters or 1.755 meters or 1.32 meters, etc.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Ω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[0.8, 3] . Here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Ω is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1-dimensional.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 X represent the height of person you selected. It can take any value between [0.8, 3]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Here, X = 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Ω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[0.8, 3] 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FF956C-4B16-3F27-6A8A-190B87A2B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933" y="3200400"/>
            <a:ext cx="8460963" cy="35999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2C8EAE-74C7-1351-CA32-E18A882EF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9881" y="1425829"/>
            <a:ext cx="1680309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031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9F22A-5DAA-7CDA-6054-063D4EB00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E0847-158B-3EC6-C513-01A03BA9E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Continuous Random Variables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475F26-CA63-A022-9A6A-9A1DEB614513}"/>
              </a:ext>
            </a:extLst>
          </p:cNvPr>
          <p:cNvSpPr txBox="1"/>
          <p:nvPr/>
        </p:nvSpPr>
        <p:spPr>
          <a:xfrm>
            <a:off x="27432" y="771466"/>
            <a:ext cx="1146657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  Tossing a Dart at a Circular Board of radius 1 meter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throw a dart at a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circular dartboard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record where it lands. Each outcome is a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point (x, y)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on the circular board.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sample space (Ω) is a 2-dimensional — all the points within and on the circle.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 the distance from the center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of the board to the point on which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dart lands. 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can range from 0 (center)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1 (edge of the board): 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 = [0, 1]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43314B-9548-C623-9AD7-7A050455E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764" y="1724087"/>
            <a:ext cx="3743847" cy="4286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CA456A-0E7A-18F7-70B6-4AE0251FC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170" y="2907595"/>
            <a:ext cx="8672398" cy="381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987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23D74-2C75-07DD-0EAB-B25EE3FE1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F4883-F171-B5B4-5B7B-1C7586927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Continuous Random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46E0764-7D75-22A2-684E-D4BD59F7ADC0}"/>
                  </a:ext>
                </a:extLst>
              </p:cNvPr>
              <p:cNvSpPr txBox="1"/>
              <p:nvPr/>
            </p:nvSpPr>
            <p:spPr>
              <a:xfrm>
                <a:off x="274320" y="1118938"/>
                <a:ext cx="11466576" cy="5909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Example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  Rolling a Ball Down a Slope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You roll a smooth ball down a slope of length 1 meter and record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time it takes to reach the bottom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Each possible outcome can depend on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many physical factors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— for example: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initial velocity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, say it ranges from 0 to 10 mt. per sec</a:t>
                </a:r>
                <a:endParaRPr lang="ar-AE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angle of slope ϴ . Say it ranges from 45 to 90 degrees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Each trial (roll) has a different combination of these factors. So, 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sample space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(Ω) can be represented as: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sample space (Ω) is a 2-dimensional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Let X be the time (in seconds) it takes for the ball to reach the bottom. Using principles of physics,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algn="r"/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Continued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46E0764-7D75-22A2-684E-D4BD59F7A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" y="1118938"/>
                <a:ext cx="11466576" cy="5909310"/>
              </a:xfrm>
              <a:prstGeom prst="rect">
                <a:avLst/>
              </a:prstGeom>
              <a:blipFill>
                <a:blip r:embed="rId3"/>
                <a:stretch>
                  <a:fillRect l="-425" t="-619" r="-425" b="-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D6C6E893-6355-F812-9876-C1B0865A98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399" y="5360051"/>
            <a:ext cx="4851451" cy="10213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BB39B51-F294-A45E-CAEA-EF1A994EE9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2424" y="3576397"/>
            <a:ext cx="6076751" cy="6275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9AC00E2-9C50-8CAC-2DC2-829DA8DDF5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6892" y="1208060"/>
            <a:ext cx="3117324" cy="144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866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A0A119-20D0-B839-A409-066BEEBB6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" y="2769539"/>
            <a:ext cx="10482072" cy="36083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02427E-49D3-EEA7-7C5B-E5B6D151F4B3}"/>
                  </a:ext>
                </a:extLst>
              </p:cNvPr>
              <p:cNvSpPr txBox="1"/>
              <p:nvPr/>
            </p:nvSpPr>
            <p:spPr>
              <a:xfrm>
                <a:off x="489204" y="1036612"/>
                <a:ext cx="9459468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10 and ϴ = 90 -&gt; X = 0.095 seconds, ball takes least time. i.e. X is minimum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0   and ϴ = 45 -&gt; X = 0.53 seconds,  ball takes longest time. i.e. X is maximum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So, X = [0.095, 0.53) 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02427E-49D3-EEA7-7C5B-E5B6D151F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204" y="1036612"/>
                <a:ext cx="9459468" cy="1477328"/>
              </a:xfrm>
              <a:prstGeom prst="rect">
                <a:avLst/>
              </a:prstGeom>
              <a:blipFill>
                <a:blip r:embed="rId3"/>
                <a:stretch>
                  <a:fillRect l="-515" t="-2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24572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10CA5-70F3-DCD7-7E4E-C5D2DEAE6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07FAB-8288-96CC-CA3C-162849455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Random Variables: Formal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BCCD27-A88A-99AA-93F2-9595343974C4}"/>
                  </a:ext>
                </a:extLst>
              </p:cNvPr>
              <p:cNvSpPr txBox="1"/>
              <p:nvPr/>
            </p:nvSpPr>
            <p:spPr>
              <a:xfrm>
                <a:off x="227404" y="1118938"/>
                <a:ext cx="11737194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random variable (RV)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a function that assigns a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numerical value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to each possible outcome of a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random experiment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Here,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Ω is 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sample space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(all possible outcomes),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X(ω) is 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numerical value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assigned to an outcome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BCCD27-A88A-99AA-93F2-959534397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404" y="1118938"/>
                <a:ext cx="11737194" cy="3970318"/>
              </a:xfrm>
              <a:prstGeom prst="rect">
                <a:avLst/>
              </a:prstGeom>
              <a:blipFill>
                <a:blip r:embed="rId2"/>
                <a:stretch>
                  <a:fillRect l="-415" t="-922" b="-1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571D2BB-8470-B54C-AF9D-4D0066610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667" y="2209798"/>
            <a:ext cx="1724266" cy="571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483F22-F795-4190-ECEC-DDF4DF65B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9464" y="1547064"/>
            <a:ext cx="7395133" cy="26466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CD3B83-63B6-80AC-8208-65B3FFC394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3216" y="4621868"/>
            <a:ext cx="1603815" cy="209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1150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8BBF1-E46B-6E30-9A8A-A59A32C37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EXTRA-TODO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644F2-953B-529E-4427-0A65B4FFE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0572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7CF92-3117-44F8-B634-EE5579BD1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C7C94-B716-5EAA-8A31-107649B0A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Continuous Random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78EFC6-9DD5-F2B2-2164-0CAD3D90ADBE}"/>
                  </a:ext>
                </a:extLst>
              </p:cNvPr>
              <p:cNvSpPr txBox="1"/>
              <p:nvPr/>
            </p:nvSpPr>
            <p:spPr>
              <a:xfrm>
                <a:off x="274320" y="1118938"/>
                <a:ext cx="11466576" cy="4801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Example 1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 ADVANCED Rolling a Ball Down a Slope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You roll a smooth ball down a slope of length d and record 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time it takes to reach the bottom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Each possible outcome can depend on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many physical factors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— for example: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initial velocity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, say it ranges from 0 to 10 mt. per sec</a:t>
                </a:r>
                <a:endParaRPr lang="ar-AE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angle of slope ϴ, say it ranges from 45 to 90 degrees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friction coefficient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say it ranges from 0 to 1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Each trial (roll) has a different combination of these factors. So, 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sample space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(Ω) can be represented as: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sample space (Ω) is a 3-dimensional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Let X be the time (in seconds) it takes for the ball to reach the bottom. Using principles of physics,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Depending on initial conditions, X can take range of values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78EFC6-9DD5-F2B2-2164-0CAD3D90A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" y="1118938"/>
                <a:ext cx="11466576" cy="4801314"/>
              </a:xfrm>
              <a:prstGeom prst="rect">
                <a:avLst/>
              </a:prstGeom>
              <a:blipFill>
                <a:blip r:embed="rId2"/>
                <a:stretch>
                  <a:fillRect l="-425" t="-762" b="-1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E021AF47-5955-0BFA-DE27-63B2658CD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4567336"/>
            <a:ext cx="5075712" cy="8412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1BA98A1-698A-D4E3-CE06-338342EE7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3385580"/>
            <a:ext cx="6714744" cy="46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8682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0AEC5-A80B-377D-A3F8-75B20E3DA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7BD14-6CC2-D2F4-5000-A733EC153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Continuous Random Variables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831578-3853-220D-26AC-AAE594102A40}"/>
              </a:ext>
            </a:extLst>
          </p:cNvPr>
          <p:cNvSpPr txBox="1"/>
          <p:nvPr/>
        </p:nvSpPr>
        <p:spPr>
          <a:xfrm>
            <a:off x="418698" y="1118938"/>
            <a:ext cx="993285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  You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spin a wheel labeled from 0 to 1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imagine a continuous circular scale starting at 0 and ending at 1.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the wheel stops, the pointer lands at some value between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 and 1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(like 0.37, 0.852, etc.).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sample space is Ω = { all numbers between 0 and 1 } = [0, 1]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X is the position where wheel stops. So, X = [0, 1]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this case Ω = X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Person’s age in precise form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person's exact age could be 25 years, 6 months, 3 days, 12 hours, and 5 minutes, which could be measured with even greater precision if needed.  Therefore, age ,X,  could be any continuous  number between 0 years to 120 years.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X = [0,120]</a:t>
            </a:r>
          </a:p>
        </p:txBody>
      </p:sp>
    </p:spTree>
    <p:extLst>
      <p:ext uri="{BB962C8B-B14F-4D97-AF65-F5344CB8AC3E}">
        <p14:creationId xmlns:p14="http://schemas.microsoft.com/office/powerpoint/2010/main" val="126011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1103</TotalTime>
  <Words>1981</Words>
  <Application>Microsoft Office PowerPoint</Application>
  <PresentationFormat>Widescreen</PresentationFormat>
  <Paragraphs>224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Office Theme</vt:lpstr>
      <vt:lpstr>Random Variables: Formal Definition</vt:lpstr>
      <vt:lpstr>Random Variables: Plain English</vt:lpstr>
      <vt:lpstr>2 types of random variables</vt:lpstr>
      <vt:lpstr>Discrete Random Variables</vt:lpstr>
      <vt:lpstr>Discrete Random Variables</vt:lpstr>
      <vt:lpstr>Discrete Random Variables</vt:lpstr>
      <vt:lpstr>Discrete Random Variables</vt:lpstr>
      <vt:lpstr>Discrete Random Variables</vt:lpstr>
      <vt:lpstr>Discrete Random Variables</vt:lpstr>
      <vt:lpstr>Discrete Random Variables</vt:lpstr>
      <vt:lpstr>Discrete Random Variables</vt:lpstr>
      <vt:lpstr>CONTINUOUS R.V.</vt:lpstr>
      <vt:lpstr>Continuous Random Variables</vt:lpstr>
      <vt:lpstr>Continuous Random Variables</vt:lpstr>
      <vt:lpstr>Continuous Random Variables</vt:lpstr>
      <vt:lpstr>Continuous Random Variables</vt:lpstr>
      <vt:lpstr>PowerPoint Presentation</vt:lpstr>
      <vt:lpstr>Random Variables: Formal Definition</vt:lpstr>
      <vt:lpstr>EXTRA-TODO</vt:lpstr>
      <vt:lpstr>Continuous Random Variables</vt:lpstr>
      <vt:lpstr>Continuous Random Variables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195</cp:revision>
  <dcterms:created xsi:type="dcterms:W3CDTF">2025-09-22T02:44:38Z</dcterms:created>
  <dcterms:modified xsi:type="dcterms:W3CDTF">2025-10-27T09:00:27Z</dcterms:modified>
</cp:coreProperties>
</file>