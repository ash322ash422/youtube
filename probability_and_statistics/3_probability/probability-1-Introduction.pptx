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0"/>
  </p:handoutMasterIdLst>
  <p:sldIdLst>
    <p:sldId id="265" r:id="rId2"/>
    <p:sldId id="257" r:id="rId3"/>
    <p:sldId id="261" r:id="rId4"/>
    <p:sldId id="260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E259D-F0E7-31A9-2727-9F395E82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C58B-6FEF-E5CA-271E-C6FCF72F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Probability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886C86-B6F5-E796-F314-C5FC3141AC12}"/>
              </a:ext>
            </a:extLst>
          </p:cNvPr>
          <p:cNvSpPr txBox="1"/>
          <p:nvPr/>
        </p:nvSpPr>
        <p:spPr>
          <a:xfrm>
            <a:off x="418698" y="1118938"/>
            <a:ext cx="993285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Suppose a product has been rated by customers with ratings given below: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5-star → 40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4-star → 35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3-star → 10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2-star → 10 times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1-star → 5 times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rating is randomly chosen, what is the probability that it is 4-star or 5-star?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B10F2-E384-0017-6B01-4982B15D4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670" y="1553995"/>
            <a:ext cx="2149453" cy="215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7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b="1" dirty="0"/>
              <a:t>What is probability in plain English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Think of probability as </a:t>
            </a:r>
            <a:r>
              <a:rPr lang="en-US" b="1" dirty="0"/>
              <a:t>a measure of uncertainty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Whenever you’re unsure what will happen — rolling a die, predicting rain, or getting a job offer — you’re thinking in terms of probability.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0933F-DD9D-F6F9-1DE5-A0E35016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8100-989F-915B-483F-CB565E6F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Few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3BA3C-F10A-2BB1-AD97-D9BE6664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179576"/>
            <a:ext cx="10671048" cy="4997387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Sample space (Ω)</a:t>
            </a:r>
            <a:r>
              <a:rPr lang="en-US" sz="2000" dirty="0"/>
              <a:t>: All possible outcomes. Let’s see few examples.</a:t>
            </a:r>
          </a:p>
          <a:p>
            <a:pPr marL="742950" lvl="1" indent="-285750"/>
            <a:r>
              <a:rPr lang="en-US" sz="2000" dirty="0"/>
              <a:t>Toss 1 coin  -&gt;  </a:t>
            </a:r>
            <a:r>
              <a:rPr lang="en-US" sz="2000" b="1" dirty="0"/>
              <a:t>Ω = </a:t>
            </a:r>
            <a:r>
              <a:rPr lang="en-US" sz="2000" dirty="0"/>
              <a:t>{ H, T } .  Size of Ω is 2</a:t>
            </a:r>
          </a:p>
          <a:p>
            <a:pPr marL="457200" lvl="1" indent="0">
              <a:buNone/>
            </a:pPr>
            <a:endParaRPr lang="en-US" sz="2000" dirty="0"/>
          </a:p>
          <a:p>
            <a:pPr marL="742950" lvl="1" indent="-285750"/>
            <a:r>
              <a:rPr lang="en-US" sz="2000" dirty="0"/>
              <a:t>Toss 2 coins -&gt;  </a:t>
            </a:r>
            <a:r>
              <a:rPr lang="en-US" sz="2000" b="1" dirty="0"/>
              <a:t>Ω = </a:t>
            </a:r>
            <a:r>
              <a:rPr lang="en-US" sz="2000" dirty="0"/>
              <a:t>{ HH, HT, TH, TT }. Size of Ω is 4</a:t>
            </a:r>
          </a:p>
          <a:p>
            <a:pPr marL="457200" lvl="1" indent="0">
              <a:buNone/>
            </a:pPr>
            <a:endParaRPr lang="en-US" sz="2000" dirty="0"/>
          </a:p>
          <a:p>
            <a:pPr marL="742950" lvl="1" indent="-285750"/>
            <a:r>
              <a:rPr lang="en-US" sz="2000" dirty="0"/>
              <a:t>Toss 3 coins -&gt;  </a:t>
            </a:r>
            <a:r>
              <a:rPr lang="en-US" sz="2000" b="1" dirty="0"/>
              <a:t>Ω = </a:t>
            </a:r>
            <a:r>
              <a:rPr lang="en-US" sz="2000" dirty="0"/>
              <a:t>{ HHH, HHT, HTT, HTH, THH, TTH, THT, TTT } . Size of Ω is 8 </a:t>
            </a:r>
          </a:p>
          <a:p>
            <a:pPr marL="457200" lvl="1" indent="0">
              <a:buNone/>
            </a:pPr>
            <a:endParaRPr lang="en-US" sz="2000" dirty="0"/>
          </a:p>
          <a:p>
            <a:pPr marL="742950" lvl="1" indent="-285750"/>
            <a:r>
              <a:rPr lang="en-US" sz="2000" dirty="0"/>
              <a:t>Roll a dice -&gt;     </a:t>
            </a:r>
            <a:r>
              <a:rPr lang="en-US" sz="2000" b="1" dirty="0"/>
              <a:t>Ω = </a:t>
            </a:r>
            <a:r>
              <a:rPr lang="en-US" sz="2000" dirty="0"/>
              <a:t>{ 1, 2, 3, 4, 5, 6 } Size of Ω is 6</a:t>
            </a:r>
          </a:p>
          <a:p>
            <a:pPr marL="457200" lvl="1" indent="0">
              <a:buNone/>
            </a:pPr>
            <a:endParaRPr lang="en-US" sz="2000" dirty="0"/>
          </a:p>
          <a:p>
            <a:pPr marL="742950" lvl="1" indent="-285750"/>
            <a:r>
              <a:rPr lang="en-US" sz="2000" dirty="0"/>
              <a:t>In drawing a card -&gt;  </a:t>
            </a:r>
            <a:r>
              <a:rPr lang="en-US" sz="2000" b="1" dirty="0"/>
              <a:t>Ω = </a:t>
            </a:r>
            <a:r>
              <a:rPr lang="en-US" sz="2000" dirty="0"/>
              <a:t>52 outcomes or elements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3144A-F800-9D36-4254-149CB8829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248" y="4359696"/>
            <a:ext cx="3837432" cy="20275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C15051-AF0D-A3A6-BEE6-F8443D8E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89" y="3678269"/>
            <a:ext cx="1055693" cy="9970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346061-F5DD-F872-CC88-AF2437894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929402"/>
            <a:ext cx="634351" cy="5056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98C044D-921A-04D7-3F43-8AE3C32DF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506" y="2435044"/>
            <a:ext cx="657317" cy="5239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3B372F1-CF45-7472-3BE3-DBE688CC2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931" y="2420332"/>
            <a:ext cx="657317" cy="523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112C15-93D5-A85B-6A00-BC0180194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066" y="3167026"/>
            <a:ext cx="657317" cy="5239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5C67F20-0564-30EF-D313-1F7D5048E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392" y="3136033"/>
            <a:ext cx="657317" cy="5239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814561-452D-8AC4-3586-2458E2CE1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6350" y="3128040"/>
            <a:ext cx="65731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9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079ED-04FD-3C86-0ADE-0F9E3DD0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DB3C3-788B-D0ED-1D76-6005731E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Few key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73CEB-992F-4BFD-3D8E-57909DBD0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932688"/>
            <a:ext cx="11643360" cy="4997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 Events (E)</a:t>
            </a:r>
            <a:r>
              <a:rPr lang="en-US" sz="2000" dirty="0"/>
              <a:t>: It is a subset of the sample space </a:t>
            </a:r>
            <a:r>
              <a:rPr lang="en-US" sz="2000" b="1" dirty="0"/>
              <a:t>Ω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e.g.1 In a 1-coin toss trial, event could be </a:t>
            </a:r>
            <a:r>
              <a:rPr lang="en-US" sz="2000" b="1" dirty="0"/>
              <a:t>getting H : </a:t>
            </a:r>
            <a:r>
              <a:rPr lang="en-US" sz="2000" dirty="0"/>
              <a:t>{H}. Size of E = 1</a:t>
            </a:r>
          </a:p>
          <a:p>
            <a:pPr marL="0" indent="0">
              <a:buNone/>
            </a:pPr>
            <a:r>
              <a:rPr lang="en-US" sz="2000" dirty="0"/>
              <a:t>e.g.2 In 2-coin toss trial, event could be </a:t>
            </a:r>
            <a:r>
              <a:rPr lang="en-US" sz="2000" b="1" dirty="0"/>
              <a:t>same outcome </a:t>
            </a:r>
            <a:r>
              <a:rPr lang="en-US" sz="2000" dirty="0"/>
              <a:t>in both toss, {HH, TT}. Size of E = 2</a:t>
            </a:r>
          </a:p>
          <a:p>
            <a:pPr marL="0" indent="0">
              <a:buNone/>
            </a:pPr>
            <a:r>
              <a:rPr lang="en-US" sz="2000" dirty="0"/>
              <a:t>e.g.3 In 3-coin toss trial, event could be getting</a:t>
            </a:r>
            <a:r>
              <a:rPr lang="en-US" sz="2000" b="1" dirty="0"/>
              <a:t> exactly 1 head : </a:t>
            </a:r>
            <a:r>
              <a:rPr lang="en-US" sz="2000" dirty="0"/>
              <a:t>{HTT, THT, TTH}. Size of E = 3</a:t>
            </a:r>
          </a:p>
          <a:p>
            <a:pPr marL="0" indent="0">
              <a:buNone/>
            </a:pPr>
            <a:r>
              <a:rPr lang="en-US" sz="2000" dirty="0"/>
              <a:t>e.g.4 In dice roll, event could be the </a:t>
            </a:r>
            <a:r>
              <a:rPr lang="en-US" sz="2000" b="1" dirty="0"/>
              <a:t>even number </a:t>
            </a:r>
            <a:r>
              <a:rPr lang="en-US" sz="2000" dirty="0"/>
              <a:t>on dice { 2, 4, 6}. Size of E = 3</a:t>
            </a:r>
          </a:p>
          <a:p>
            <a:pPr marL="0" indent="0">
              <a:buNone/>
            </a:pPr>
            <a:r>
              <a:rPr lang="en-US" sz="2000" dirty="0"/>
              <a:t>e.g.5 In drawing a card, event could be that the </a:t>
            </a:r>
            <a:r>
              <a:rPr lang="en-US" sz="2000" b="1" dirty="0"/>
              <a:t>card is ace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            {Ace of heart, Ace of diamond, Ace of clubs, Ace of Spades}. Size of E = 4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4181CF-0F91-DABE-F370-02F745A4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40" y="283463"/>
            <a:ext cx="2101795" cy="1160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F0E8C8-BE90-1D12-88B1-4F9EA20F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3" y="4249382"/>
            <a:ext cx="3413918" cy="25238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54A5EA-A70E-2E42-3CCF-80DD47B6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" y="4303913"/>
            <a:ext cx="3560065" cy="24175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88484D-0EC5-793B-5077-0617407FC2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491" y="4252145"/>
            <a:ext cx="3711432" cy="25210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D8D255-0C0E-2FC5-7B6D-FCB61E0FF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72" y="3781101"/>
            <a:ext cx="634351" cy="5056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CF353B9-9AAA-CD4A-2898-DF91A2DC0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922" y="3795813"/>
            <a:ext cx="657317" cy="5239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6AC053E-1EBA-8B9A-6D64-B49B18207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5347" y="3790245"/>
            <a:ext cx="657317" cy="5239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158CACA-5B52-7670-3E1F-5303541896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303" y="3718865"/>
            <a:ext cx="657317" cy="5239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E68767-7346-8020-E5DD-C79D918B1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629" y="3687872"/>
            <a:ext cx="657317" cy="52394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8AF0592-0DFD-2928-BF09-A2C11BF32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587" y="3679879"/>
            <a:ext cx="65731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04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5FC-E2C6-74E1-664A-1EBD427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D829-E217-2970-F4BE-6EFBADA0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932688"/>
                <a:ext cx="11643360" cy="49973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Probability of </a:t>
                </a:r>
                <a:r>
                  <a:rPr lang="en-US" sz="2000"/>
                  <a:t>an event E: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Or,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/>
                      <m:t>∣</m:t>
                    </m:r>
                    <m:r>
                      <a:rPr lang="en-US" sz="2000" i="1"/>
                      <m:t>𝐸</m:t>
                    </m:r>
                    <m:r>
                      <a:rPr lang="en-US" sz="2000"/>
                      <m:t>∣</m:t>
                    </m:r>
                  </m:oMath>
                </a14:m>
                <a:r>
                  <a:rPr lang="en-US" sz="2000" dirty="0"/>
                  <a:t> = number (size) of elements in event </a:t>
                </a:r>
                <a14:m>
                  <m:oMath xmlns:m="http://schemas.openxmlformats.org/officeDocument/2006/math">
                    <m:r>
                      <a:rPr lang="en-US" sz="2000" i="1"/>
                      <m:t>𝐸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/>
                      <m:t>∣</m:t>
                    </m:r>
                    <m:r>
                      <m:rPr>
                        <m:sty m:val="p"/>
                      </m:rPr>
                      <a:rPr lang="en-US" sz="2000"/>
                      <m:t>Ω</m:t>
                    </m:r>
                    <m:r>
                      <a:rPr lang="en-US" sz="2000"/>
                      <m:t>∣</m:t>
                    </m:r>
                  </m:oMath>
                </a14:m>
                <a:r>
                  <a:rPr lang="en-US" sz="2000" dirty="0"/>
                  <a:t>= total number (size) of elements in sample space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Example: In 2-coin toss, what is the probability of getting </a:t>
                </a:r>
                <a:r>
                  <a:rPr lang="en-US" sz="2000" b="1" dirty="0"/>
                  <a:t>both heads</a:t>
                </a:r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Ans: Here sample space is Ω = {HH, HT, TH, TT}. Size = 4</a:t>
                </a:r>
              </a:p>
              <a:p>
                <a:pPr marL="0" indent="0">
                  <a:buNone/>
                </a:pPr>
                <a:r>
                  <a:rPr lang="en-US" sz="2000" dirty="0"/>
                  <a:t>The event E is both toss are heads: E = {HH}. Size of E = 1</a:t>
                </a:r>
              </a:p>
              <a:p>
                <a:pPr marL="0" indent="0">
                  <a:buNone/>
                </a:pPr>
                <a:r>
                  <a:rPr lang="en-US" sz="2000" dirty="0"/>
                  <a:t> P(E) = 1/4.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A93741-4AFA-1FDA-600B-CE8C775A2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932688"/>
                <a:ext cx="11643360" cy="4997387"/>
              </a:xfrm>
              <a:blipFill>
                <a:blip r:embed="rId2"/>
                <a:stretch>
                  <a:fillRect l="-524" t="-1220" b="-13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7429290-F27B-91B6-F689-761B64F4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CFC45-4B45-92DE-9840-9B7B34839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21" y="1406894"/>
            <a:ext cx="5506218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0E2DDE-D150-57FD-F8B4-2BF14496C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929" y="2512287"/>
            <a:ext cx="1657581" cy="781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EF7C53-0E4C-AD87-48EE-8888FAF20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230" y="4472445"/>
            <a:ext cx="3284019" cy="2185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F9B3E9-D056-3A62-4A43-B07F0E90D5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3819FE-C972-A124-1574-E2BE25760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3382" y="3870355"/>
            <a:ext cx="657317" cy="5239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E1FB58E-4A0D-3413-C02B-C67187BEE9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5807" y="3864787"/>
            <a:ext cx="65731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5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0031-28F4-19B8-1CFD-6C35871B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4F529-3D65-3A7F-9EEE-2DB6D7BC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Application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841F4-48A1-535E-CA80-BADC4C217A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20" y="932688"/>
                <a:ext cx="11643360" cy="556869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Problem: In 3-coin toss, what is the probability of getting 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/>
                  <a:t>exactly two heads?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/>
                  <a:t>at least one head ?</a:t>
                </a:r>
              </a:p>
              <a:p>
                <a:pPr marL="457200" indent="-457200">
                  <a:buAutoNum type="alphaLcParenR"/>
                </a:pPr>
                <a:r>
                  <a:rPr lang="en-US" sz="2000" dirty="0"/>
                  <a:t>all tails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Ans: Here sample space is </a:t>
                </a:r>
                <a:r>
                  <a:rPr lang="en-US" sz="2000" b="1" dirty="0"/>
                  <a:t>Ω = </a:t>
                </a:r>
                <a:r>
                  <a:rPr lang="en-US" sz="2000" dirty="0"/>
                  <a:t>{ HHH, HHT, HTT, HTH, THH, TTH, THT, TTT } . Size of Ω is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/>
                  <a:t> = 8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a) The event E is exactly  2 heads: E = { HHT, HTH, THH } . Size of E is | E | = 3</a:t>
                </a:r>
              </a:p>
              <a:p>
                <a:pPr marL="0" indent="0">
                  <a:buNone/>
                </a:pPr>
                <a:r>
                  <a:rPr lang="en-US" sz="2000" dirty="0"/>
                  <a:t> P(E) = 3/8.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b) The event E is at least 1 head: { HHH, HHT, HTT, HTH, THH, TTH, THT }. Size of E is | E | = 7</a:t>
                </a:r>
              </a:p>
              <a:p>
                <a:pPr marL="0" indent="0">
                  <a:buNone/>
                </a:pPr>
                <a:r>
                  <a:rPr lang="en-US" sz="2000" dirty="0"/>
                  <a:t> P(E) = 7/8.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c) The event E is of all tails: { TTT }. Size of E  is | E | = 1</a:t>
                </a:r>
              </a:p>
              <a:p>
                <a:pPr marL="0" indent="0">
                  <a:buNone/>
                </a:pPr>
                <a:r>
                  <a:rPr lang="en-US" sz="2000" dirty="0"/>
                  <a:t> P(E) = 1/8.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3841F4-48A1-535E-CA80-BADC4C217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20" y="932688"/>
                <a:ext cx="11643360" cy="5568696"/>
              </a:xfrm>
              <a:blipFill>
                <a:blip r:embed="rId2"/>
                <a:stretch>
                  <a:fillRect l="-576" t="-1532" b="-1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E2DF4CA-E251-8F8B-3ADA-56EFF32A3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6B099-609E-CCD7-C7AD-510B97ACA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9D9D76-9F76-BE5A-E435-D064FF78F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2674" y="1391813"/>
            <a:ext cx="657317" cy="523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ACD0B3-A7F3-95C1-F17F-A4E76FF62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379108"/>
            <a:ext cx="657317" cy="523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4182EB-194C-665E-61ED-5944E712B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958" y="1371115"/>
            <a:ext cx="657317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2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E1A9-69B4-66C3-94BC-9EC67C4F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06FAF16-07D8-D201-1EF4-2156794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12" y="246887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F02878-FC17-80AC-AD9E-22F51D997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E4FDF-C762-7254-9ADB-0BB44B669F43}"/>
                  </a:ext>
                </a:extLst>
              </p:cNvPr>
              <p:cNvSpPr txBox="1"/>
              <p:nvPr/>
            </p:nvSpPr>
            <p:spPr>
              <a:xfrm>
                <a:off x="418698" y="1118938"/>
                <a:ext cx="993285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 your inbox contains the following 7 emails:</a:t>
                </a:r>
                <a:b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 spam, spam, non-spam, spam, spam, non-spam, non-spam }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you randomly open one email from your inbox, what is the probability that the email is a spam message?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Ans: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is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{ spam, spam, non-spam, spam, spam, non-spam, non-spam }.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Size is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7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event E is mail opened is spam: E = { spam, spam, spam, spam } . Size of E is | E | = 4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P(E) = 4/7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4E4FDF-C762-7254-9ADB-0BB44B669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8" y="1118938"/>
                <a:ext cx="9932851" cy="4093428"/>
              </a:xfrm>
              <a:prstGeom prst="rect">
                <a:avLst/>
              </a:prstGeom>
              <a:blipFill>
                <a:blip r:embed="rId4"/>
                <a:stretch>
                  <a:fillRect l="-675" t="-89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0BD2625B-CD00-DDC1-FD42-FF8D6C440889}"/>
              </a:ext>
            </a:extLst>
          </p:cNvPr>
          <p:cNvSpPr txBox="1">
            <a:spLocks/>
          </p:cNvSpPr>
          <p:nvPr/>
        </p:nvSpPr>
        <p:spPr>
          <a:xfrm>
            <a:off x="274320" y="136525"/>
            <a:ext cx="11466576" cy="832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/>
              <a:t>Probability: Application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9266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622E-B02E-FDB4-F6EC-799B9C87C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415DD1-C15B-ACA5-F429-BC42DC01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172" y="136525"/>
            <a:ext cx="2101795" cy="11600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C77738-B711-0CE4-36EC-562EC94A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549" y="1352827"/>
            <a:ext cx="1282666" cy="604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B327-1A7F-2C7A-4A08-AF625B094D69}"/>
                  </a:ext>
                </a:extLst>
              </p:cNvPr>
              <p:cNvSpPr txBox="1"/>
              <p:nvPr/>
            </p:nvSpPr>
            <p:spPr>
              <a:xfrm>
                <a:off x="418698" y="1118938"/>
                <a:ext cx="1025235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Problem: Suppose a product has been rated by customers with ratings given below: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5-star → 40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4-star → 35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3-star → 10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2-star → 10 times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1-star → 5 times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a rating is randomly chosen, what is the probability that it is 4-star or higher?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Solution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sample space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Ω =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all ratings. The size of sample space is 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40 + 35 + 10 + 10 + 5 = 100</a:t>
                </a: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Here event E is randomly chosen rating is 4-star or 5-star. Size of E is | E | = 35 + 40 = 75</a:t>
                </a:r>
              </a:p>
              <a:p>
                <a:endParaRPr lang="en-US" sz="20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P(E) = 75/100 = 0.75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A6B327-1A7F-2C7A-4A08-AF625B094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98" y="1118938"/>
                <a:ext cx="10252350" cy="5016758"/>
              </a:xfrm>
              <a:prstGeom prst="rect">
                <a:avLst/>
              </a:prstGeom>
              <a:blipFill>
                <a:blip r:embed="rId4"/>
                <a:stretch>
                  <a:fillRect l="-654"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EAFB79D-35F6-6476-11AF-E936248B0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946" y="1585828"/>
            <a:ext cx="2149453" cy="2153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50DA43-6F8D-DCA8-637A-9A2EAC998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Probability: Application</a:t>
            </a:r>
          </a:p>
        </p:txBody>
      </p:sp>
    </p:spTree>
    <p:extLst>
      <p:ext uri="{BB962C8B-B14F-4D97-AF65-F5344CB8AC3E}">
        <p14:creationId xmlns:p14="http://schemas.microsoft.com/office/powerpoint/2010/main" val="87038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220</TotalTime>
  <Words>903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Probability</vt:lpstr>
      <vt:lpstr>What is probability in plain English ?</vt:lpstr>
      <vt:lpstr>Probability: Few key terms</vt:lpstr>
      <vt:lpstr>Probability: Few key terms</vt:lpstr>
      <vt:lpstr>Probability: Definition</vt:lpstr>
      <vt:lpstr>Probability: Application</vt:lpstr>
      <vt:lpstr>PowerPoint Presentation</vt:lpstr>
      <vt:lpstr>Probability: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60</cp:revision>
  <dcterms:created xsi:type="dcterms:W3CDTF">2025-09-22T02:44:38Z</dcterms:created>
  <dcterms:modified xsi:type="dcterms:W3CDTF">2025-10-13T11:50:56Z</dcterms:modified>
</cp:coreProperties>
</file>