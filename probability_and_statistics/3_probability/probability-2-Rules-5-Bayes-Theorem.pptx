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90" r:id="rId2"/>
    <p:sldId id="283" r:id="rId3"/>
    <p:sldId id="304" r:id="rId4"/>
    <p:sldId id="309" r:id="rId5"/>
    <p:sldId id="302" r:id="rId6"/>
    <p:sldId id="310" r:id="rId7"/>
    <p:sldId id="306" r:id="rId8"/>
    <p:sldId id="311" r:id="rId9"/>
    <p:sldId id="292" r:id="rId10"/>
    <p:sldId id="314" r:id="rId11"/>
    <p:sldId id="308" r:id="rId12"/>
    <p:sldId id="313" r:id="rId13"/>
    <p:sldId id="307" r:id="rId14"/>
    <p:sldId id="312" r:id="rId15"/>
    <p:sldId id="305" r:id="rId16"/>
    <p:sldId id="30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04693-6424-47C2-B763-AEA4CC3DEB2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25C4B-7D64-4F15-A04B-3D9FB737D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3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92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62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5B6B-B6B9-D618-C1E0-C86381C7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F70A-A9C2-D215-6DC5-7A3AB6E2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5D83D-DBCF-540C-6F2A-D6A63A579F78}"/>
              </a:ext>
            </a:extLst>
          </p:cNvPr>
          <p:cNvSpPr txBox="1"/>
          <p:nvPr/>
        </p:nvSpPr>
        <p:spPr>
          <a:xfrm>
            <a:off x="219456" y="874235"/>
            <a:ext cx="764438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Imagine you have two bags placed in front of you. Bag A has 3 red balls and 1 green ball. Bag B has 1 red ball and 3 green balls.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suppose someone randomly picks ball from one of the two bags, but he does not show you the color.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Can you tell the probability that the ball came from bag A?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he shows you the color: you are given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additional information / evidence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the chosen ball is red, but you still don't know which bag it came from.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Now, can you tell the probability that the ball came from bag A, based on new evidence?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it same as before or does it change ?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why?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4F0EB4-EDF0-6E18-F6C3-F0797CAFB262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4F0EB4-EDF0-6E18-F6C3-F0797CAFB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3627071-B787-76D4-4DDB-DA2AAEC2F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0752" y="1750642"/>
            <a:ext cx="416294" cy="3816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AED49F-864B-0ED7-9443-46F4AB7CF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3800" y="4337202"/>
            <a:ext cx="428685" cy="3715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065AFE-498C-8E51-2998-819EA3CF4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817" y="1328892"/>
            <a:ext cx="2399887" cy="16067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F967A2-6ABA-440B-0D50-B719AF02A7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6894" y="3533850"/>
            <a:ext cx="2399887" cy="160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1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CF8B4-0142-CBD0-DFF5-E2E65A025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DCC5E6-B17D-307F-BBBE-8A8A73A0E578}"/>
                  </a:ext>
                </a:extLst>
              </p:cNvPr>
              <p:cNvSpPr txBox="1"/>
              <p:nvPr/>
            </p:nvSpPr>
            <p:spPr>
              <a:xfrm>
                <a:off x="219456" y="910811"/>
                <a:ext cx="11704320" cy="5951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Suppose we have 2 events: A and E. We have following 2 conditional probability: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E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E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P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E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) = 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P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E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we arrive at the Bayes Formula: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d>
                      <m:r>
                        <a:rPr lang="en-US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r>
                            <a:rPr lang="en-US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</m:d>
                              <m: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num>
                        <m:den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formula tells us how to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update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our probability of A when we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know E has happened.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 is also called as an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evidence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P(A)  is also called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prior probability of A: before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you saw the evidence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P(A|E) is also called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posterior probability of A: after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you saw the evidence E. This is the new update of probability of A, given that evidence E is now known to you.​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P(E|A) is also called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likelihood</a:t>
                </a:r>
                <a:endParaRPr lang="ar-AE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DCC5E6-B17D-307F-BBBE-8A8A73A0E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910811"/>
                <a:ext cx="11704320" cy="5951822"/>
              </a:xfrm>
              <a:prstGeom prst="rect">
                <a:avLst/>
              </a:prstGeom>
              <a:blipFill>
                <a:blip r:embed="rId2"/>
                <a:stretch>
                  <a:fillRect l="-417" t="-512" r="-208" b="-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14CAF0F-39C1-FF3A-D97B-876EF4162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88F07E-08D3-0337-7C71-4C34F7FDF777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88F07E-08D3-0337-7C71-4C34F7FDF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3203501-D125-B0C2-66A3-91787AC8E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4830" y="1248703"/>
            <a:ext cx="2895754" cy="153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24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7C7C7-25A0-70D7-FBDB-B6BB794F1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FFC2C-C9CA-8B1C-0870-E460FC94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4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6BB729-5BC6-1F5E-F100-49B30D815AED}"/>
              </a:ext>
            </a:extLst>
          </p:cNvPr>
          <p:cNvSpPr txBox="1"/>
          <p:nvPr/>
        </p:nvSpPr>
        <p:spPr>
          <a:xfrm>
            <a:off x="121993" y="621792"/>
            <a:ext cx="1193030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Bag A has 3 red balls and 1 green ball. Bag B has 1 red ball and 3 green balls. Now suppose someone randomly picks ball from one of the two bags, but he does not show you the color.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Can you tell the probability that the ball came from bag A?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he shows you the color: you are given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additional information / evidence 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the chosen ball is red, but you still don't know which bag it came from.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Now, can you tell the probability that the ball came from bag A, given the evidence?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0B2102-EA2C-899F-7E96-85531D40AB2C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4F0EB4-EDF0-6E18-F6C3-F0797CAFB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39DB188-FCC7-A0CA-474F-35C87C974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7472" y="2613233"/>
            <a:ext cx="292534" cy="2681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886537-A681-ADD4-5324-76FBFD93C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5177" y="4885763"/>
            <a:ext cx="357120" cy="3095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4C64E0-C08B-924D-8885-1A31E19ABE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3723" y="2078037"/>
            <a:ext cx="2399887" cy="1606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EBC371-9782-4B3E-F7CD-9F837306BA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3724" y="4320867"/>
            <a:ext cx="2399887" cy="160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12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D5AA1-4024-B51E-EFE2-DED90E6B6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E444-0E7E-7E5E-5083-87F9904E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4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029B97-FB56-965A-F7A4-564F96E03550}"/>
                  </a:ext>
                </a:extLst>
              </p:cNvPr>
              <p:cNvSpPr txBox="1"/>
              <p:nvPr/>
            </p:nvSpPr>
            <p:spPr>
              <a:xfrm>
                <a:off x="121993" y="621792"/>
                <a:ext cx="11930303" cy="6065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Bag A has 3 red balls and 1 green ball. Bag B has 1 red ball and 3 green balls. Now suppose someone randomly picks ball from one of the two bags, but he does not show you the color. </a:t>
                </a: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Can you tell the probability that the ball came from bag A?</a:t>
                </a: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Now he shows you the color: you are given </a:t>
                </a:r>
                <a:r>
                  <a:rPr lang="en-US" sz="1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additional information / evidence </a:t>
                </a:r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that the chosen ball is red, but you still don't know which bag it came from. </a:t>
                </a: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Now, can you tell the probability that the ball came from bag A, given the evidence?</a:t>
                </a:r>
              </a:p>
              <a:p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Let </a:t>
                </a: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Event that ball selected is from bag A</a:t>
                </a: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R: Event that ball selected is red. This is the evidence </a:t>
                </a: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pPr marL="342900" indent="-342900">
                  <a:buAutoNum type="arabicParenR"/>
                </a:pPr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P(A)  = ?</a:t>
                </a: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Each bag has a one out of two chance. So, the answer is P(A) = 0.5 = 50%</a:t>
                </a:r>
              </a:p>
              <a:p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P(A|R) = 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1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1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US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P(R) =  P(A) x P(R ∣ A)  +  P(B) x P(R ∣ B)    (Total probability Law) 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= </m:t>
                      </m:r>
                      <m:f>
                        <m:fPr>
                          <m:ctrlPr>
                            <a:rPr lang="en-US" sz="1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sz="140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f>
                        <m:fPr>
                          <m:ctrlPr>
                            <a:rPr lang="en-US" sz="1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=</m:t>
                      </m:r>
                      <m:f>
                        <m:fPr>
                          <m:ctrlPr>
                            <a:rPr lang="en-US" sz="1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P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|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) =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probability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ball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selected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is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red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given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that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it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came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from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bag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=</m:t>
                      </m:r>
                      <m:f>
                        <m:fPr>
                          <m:ctrlPr>
                            <a:rPr lang="en-US" sz="1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400" b="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Substituting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in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formula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:  </m:t>
                      </m:r>
                      <m:r>
                        <a:rPr lang="en-US" sz="1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1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75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en-US" sz="1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en-US" sz="1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Conclusion: Initially, there was 50% chance that ball came from bag A, but after seeing the evidence, the probability changed to 75%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029B97-FB56-965A-F7A4-564F96E03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3" y="621792"/>
                <a:ext cx="11930303" cy="6065507"/>
              </a:xfrm>
              <a:prstGeom prst="rect">
                <a:avLst/>
              </a:prstGeom>
              <a:blipFill>
                <a:blip r:embed="rId3"/>
                <a:stretch>
                  <a:fillRect l="-153" t="-201" b="-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09AE46-2DFB-3D22-1FFB-E8247DB67E0B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09AE46-2DFB-3D22-1FFB-E8247DB67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DB64561-3395-6418-BBCD-A0537A4261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7472" y="2613233"/>
            <a:ext cx="292534" cy="2681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90B603-15C7-836B-5DE0-C34D0DA98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95177" y="4885763"/>
            <a:ext cx="357120" cy="3095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68909D-8874-DEEC-1628-43215B9793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3723" y="2078037"/>
            <a:ext cx="2399887" cy="1606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B547E6-A998-6766-BBC1-999AC48F51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3724" y="4320867"/>
            <a:ext cx="2399887" cy="1606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ED8319-6F4C-04C7-77DE-3B6D2F8215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9630" y="4492802"/>
            <a:ext cx="1352739" cy="78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49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31DCC-13F4-14EB-7923-3817737C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A1AFBC-B334-B20A-EE4E-5BCD4AA215D3}"/>
                  </a:ext>
                </a:extLst>
              </p:cNvPr>
              <p:cNvSpPr txBox="1"/>
              <p:nvPr/>
            </p:nvSpPr>
            <p:spPr>
              <a:xfrm>
                <a:off x="243840" y="698066"/>
                <a:ext cx="11109960" cy="41562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Suppose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1% of people have a certain disease →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test detects the disease correctly 99% of the time →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Positive</m:t>
                        </m:r>
                        <m:r>
                          <a:rPr lang="en-US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test gives a false positive 2% of the time →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Positive</m:t>
                        </m:r>
                        <m:r>
                          <a:rPr lang="en-US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02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What is the probability that a person has the disease,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before any testing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?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What is the probability that a person actually has the disease, given the evidence that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test result is positive ?</a:t>
                </a: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Above, D is the event that person has disease and </a:t>
                </a:r>
                <a:r>
                  <a:rPr lang="en-US" sz="24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Positive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the event that the test result is positive,</a:t>
                </a:r>
                <a:endParaRPr lang="en-US" sz="2400" i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A1AFBC-B334-B20A-EE4E-5BCD4AA21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698066"/>
                <a:ext cx="11109960" cy="4156202"/>
              </a:xfrm>
              <a:prstGeom prst="rect">
                <a:avLst/>
              </a:prstGeom>
              <a:blipFill>
                <a:blip r:embed="rId2"/>
                <a:stretch>
                  <a:fillRect l="-823" t="-1175" r="-1042" b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4ECC55FD-4225-A7DB-06A7-9BCCA0B35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4DB94E-59F4-F362-D83A-A1D013A22ED6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4DB94E-59F4-F362-D83A-A1D013A22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4CE70BD-AB79-BCA2-1706-05CF63D16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1613" y="4673171"/>
            <a:ext cx="2602187" cy="139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892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A7676-864F-08A5-1F35-EDD58211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0F2733-D7D5-2D0F-CE2B-DDB8AC326CF8}"/>
                  </a:ext>
                </a:extLst>
              </p:cNvPr>
              <p:cNvSpPr txBox="1"/>
              <p:nvPr/>
            </p:nvSpPr>
            <p:spPr>
              <a:xfrm>
                <a:off x="110533" y="284684"/>
                <a:ext cx="11378184" cy="67270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 1) The probability that a person has the disease,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before any testing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given to us: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 Here the evidence is the that the test is </a:t>
                </a:r>
                <a:r>
                  <a:rPr lang="en-US" sz="24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Positive.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 have to determine P(D | </a:t>
                </a:r>
                <a:r>
                  <a:rPr lang="en-US" sz="24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Positive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</m:d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en-US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𝑃𝑜𝑠𝑖𝑡𝑖𝑣𝑒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num>
                        <m:den>
                          <m: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𝑃𝑜𝑠𝑖𝑡𝑖𝑣𝑒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Using Law of Total Probability,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P(Positive) = P(D) x P(Positive ∣ D) + 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 x P(Positive 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= 0.01 x 0.99                  +   0.99 x 0.02                   = 0.0297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Substituting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values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in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above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formula</m:t>
                      </m:r>
                      <m:r>
                        <m:rPr>
                          <m:nor/>
                        </m:rPr>
                        <a:rPr lang="en-US" sz="2400" b="0" i="0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:           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</m:d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99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0297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333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                                                                             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Conclusion: Initially the person had 1% of chance of having disease; after the new evidence in the form of positive test, the  probability of person having disease went up to 33.3%                                                                       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0F2733-D7D5-2D0F-CE2B-DDB8AC326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33" y="284684"/>
                <a:ext cx="11378184" cy="6727034"/>
              </a:xfrm>
              <a:prstGeom prst="rect">
                <a:avLst/>
              </a:prstGeom>
              <a:blipFill>
                <a:blip r:embed="rId3"/>
                <a:stretch>
                  <a:fillRect l="-803" t="-725" b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975CDB9-BA0D-EB90-85D6-B8A9A0B4D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9280" y="2250011"/>
            <a:ext cx="2602187" cy="139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2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5A7FE-2352-7E36-EB4E-E628C0BC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044524-23A7-9B41-D6B8-941B0D1033B7}"/>
              </a:ext>
            </a:extLst>
          </p:cNvPr>
          <p:cNvSpPr txBox="1"/>
          <p:nvPr/>
        </p:nvSpPr>
        <p:spPr>
          <a:xfrm>
            <a:off x="243840" y="771218"/>
            <a:ext cx="111099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Suppose machine A, B and C produces items and certain percentage of them are defective as shown in table below: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are given a defective item, then what is the probability that it came from machine C?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C0E709-0150-F470-FE10-F79E95AD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2591E8-4BEC-2DC5-1CDF-9F3FB78E5927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2591E8-4BEC-2DC5-1CDF-9F3FB78E5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736BBC-623E-FE32-07BB-26B96186E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319274"/>
              </p:ext>
            </p:extLst>
          </p:nvPr>
        </p:nvGraphicFramePr>
        <p:xfrm>
          <a:off x="212344" y="1131146"/>
          <a:ext cx="6325616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6960">
                  <a:extLst>
                    <a:ext uri="{9D8B030D-6E8A-4147-A177-3AD203B41FA5}">
                      <a16:colId xmlns:a16="http://schemas.microsoft.com/office/drawing/2014/main" val="998711952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85141826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4045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Production percentage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Defective percentage from each machine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97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Machine 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767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Machine 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60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Machine 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84164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7C4A560C-24B9-3B9E-C6A4-430119C4E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4" y="1322978"/>
            <a:ext cx="2248367" cy="15150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D36BAD-931C-86C1-CDEE-3BFEDF419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989" y="4136594"/>
            <a:ext cx="1984689" cy="9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22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21C88-249A-0ACF-4456-9CA8A0AFF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7200CD-E6FD-7BAC-241E-9BDFF4DAE2A6}"/>
                  </a:ext>
                </a:extLst>
              </p:cNvPr>
              <p:cNvSpPr txBox="1"/>
              <p:nvPr/>
            </p:nvSpPr>
            <p:spPr>
              <a:xfrm>
                <a:off x="243840" y="771218"/>
                <a:ext cx="11109960" cy="6484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Suppose machine A, B and C produces items and certain percentage of them are defective as shown in table below: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you are given a defective item, then what is the probability that it came from machine C?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Let 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Event that item came from machine A;    B: Event that item came from machine B;   C: Event that item came from machine C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E: Event that item is defective. This is the evidence .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we have to determine  P(C|</a:t>
                </a:r>
                <a:r>
                  <a:rPr lang="en-US" sz="16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). The formula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Using Law of Total Probability,   P(E) = P(A) x P(E∣A) +  P(B) x P(E∣B)  +  P(C) x P(E∣C)  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                                         = 0.25 x 0.05      +  0.35 x 0.03       + 0.4    x 0.01 = 0.027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Substituting the values in above formula: 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sz="16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6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sz="16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027</m:t>
                          </m:r>
                        </m:den>
                      </m:f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=0.148 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𝐴𝑓𝑡𝑒𝑟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𝑠𝑒𝑒𝑖𝑛𝑔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𝑒𝑣𝑖𝑑𝑒𝑛𝑐𝑒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𝑝𝑟𝑜𝑏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𝑤𝑒𝑛𝑡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𝑑𝑜𝑤𝑛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40% 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14.8%</m:t>
                      </m:r>
                    </m:oMath>
                  </m:oMathPara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7200CD-E6FD-7BAC-241E-9BDFF4DAE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771218"/>
                <a:ext cx="11109960" cy="6484532"/>
              </a:xfrm>
              <a:prstGeom prst="rect">
                <a:avLst/>
              </a:prstGeom>
              <a:blipFill>
                <a:blip r:embed="rId2"/>
                <a:stretch>
                  <a:fillRect l="-274" t="-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5D59DCF8-A1D9-1468-7921-D09B6F4C7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1BDA99-C142-3A70-6F3B-1694C1856DDC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1BDA99-C142-3A70-6F3B-1694C1856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448732-9728-81FE-AFA1-B04B0594C0F0}"/>
              </a:ext>
            </a:extLst>
          </p:cNvPr>
          <p:cNvGraphicFramePr>
            <a:graphicFrameLocks noGrp="1"/>
          </p:cNvGraphicFramePr>
          <p:nvPr/>
        </p:nvGraphicFramePr>
        <p:xfrm>
          <a:off x="212344" y="1131146"/>
          <a:ext cx="6325616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6960">
                  <a:extLst>
                    <a:ext uri="{9D8B030D-6E8A-4147-A177-3AD203B41FA5}">
                      <a16:colId xmlns:a16="http://schemas.microsoft.com/office/drawing/2014/main" val="998711952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85141826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4045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Production percentage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Defective percentage from each machine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97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Machine 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767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Machine 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60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Machine 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84164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0858478-6224-0958-9D7A-AE8362590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4" y="1322978"/>
            <a:ext cx="2248367" cy="15150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D79AE8-DADC-8825-F606-26D6D48D69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989" y="4136594"/>
            <a:ext cx="1984689" cy="9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9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A0EA9-914C-0240-A808-02B477533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4E39-0D06-51A1-30CA-3057E590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EXTRA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89B62C-8972-3C5A-2FFD-E31AD966C230}"/>
              </a:ext>
            </a:extLst>
          </p:cNvPr>
          <p:cNvSpPr txBox="1"/>
          <p:nvPr/>
        </p:nvSpPr>
        <p:spPr>
          <a:xfrm>
            <a:off x="219456" y="1157699"/>
            <a:ext cx="1170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 problems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C19337-7BBF-1D25-16D6-CA492EA402C9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C19337-7BBF-1D25-16D6-CA492EA40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218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0AA1-1029-0AFE-70DB-9D3B13BCB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FFA9E1E-1523-A35B-F573-A3F8CC99D814}"/>
              </a:ext>
            </a:extLst>
          </p:cNvPr>
          <p:cNvSpPr txBox="1"/>
          <p:nvPr/>
        </p:nvSpPr>
        <p:spPr>
          <a:xfrm>
            <a:off x="243840" y="771218"/>
            <a:ext cx="111099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Suppose machine A, B and C produces items and certain percentage of them are defective as shown in table below: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are given a defective item, then what is the probability that it came from machine C?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330D78-503A-FEA0-04C5-241D9688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772620-8063-F1FC-56EA-4BB3394B7F21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2591E8-4BEC-2DC5-1CDF-9F3FB78E5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8E62FE-7E61-AAA5-CC6C-D0A51508FA12}"/>
              </a:ext>
            </a:extLst>
          </p:cNvPr>
          <p:cNvGraphicFramePr>
            <a:graphicFrameLocks noGrp="1"/>
          </p:cNvGraphicFramePr>
          <p:nvPr/>
        </p:nvGraphicFramePr>
        <p:xfrm>
          <a:off x="212344" y="1131146"/>
          <a:ext cx="6325616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6960">
                  <a:extLst>
                    <a:ext uri="{9D8B030D-6E8A-4147-A177-3AD203B41FA5}">
                      <a16:colId xmlns:a16="http://schemas.microsoft.com/office/drawing/2014/main" val="998711952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85141826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4045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Production percentage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Defective percentage from each machine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97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Machine 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767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Machine 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60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Machine 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1%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84164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75ABDACB-4092-3F32-0B97-A2CA81AC3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4" y="1322978"/>
            <a:ext cx="2248367" cy="15150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4884A3-2BF2-DA79-ADB6-D29A07FC9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989" y="4136594"/>
            <a:ext cx="1984689" cy="9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8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FCBCE-AEE9-F22A-72DC-9EC26B5B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CD2A622-5E37-2E8E-1D30-7C4D3B244DF8}"/>
              </a:ext>
            </a:extLst>
          </p:cNvPr>
          <p:cNvSpPr txBox="1"/>
          <p:nvPr/>
        </p:nvSpPr>
        <p:spPr>
          <a:xfrm>
            <a:off x="243840" y="771218"/>
            <a:ext cx="11109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can be done using sequential tree.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FAB5C5-8744-4FE3-C098-B0CA75A28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6FF21-FCBB-23B8-6339-C5D2766CD7AA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6FF21-FCBB-23B8-6339-C5D2766CD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723FE1B-2320-7A14-ED9E-9FF853A85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125" y="1355993"/>
            <a:ext cx="2248367" cy="15150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46D94D-F800-ADB3-6384-21F752F7B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395" y="1987890"/>
            <a:ext cx="4378757" cy="28822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61F30F-4D27-B211-EC36-C8BD9E9D6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" y="1339380"/>
            <a:ext cx="4243630" cy="377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50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C0397-18C9-7480-07B9-3DA6661F6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AC74BB-24CF-64AA-4090-11483A712E74}"/>
                  </a:ext>
                </a:extLst>
              </p:cNvPr>
              <p:cNvSpPr txBox="1"/>
              <p:nvPr/>
            </p:nvSpPr>
            <p:spPr>
              <a:xfrm>
                <a:off x="243840" y="698066"/>
                <a:ext cx="10043160" cy="1570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Suppose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1% of people have a certain disease →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ar-AE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ar-AE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test detects the disease correctly 99% of the time →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Positive</m:t>
                        </m:r>
                        <m:r>
                          <a:rPr lang="en-US" sz="16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sz="16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ar-AE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endParaRPr lang="ar-AE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test gives a false positive 2% of the time →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Positive</m:t>
                        </m:r>
                        <m:r>
                          <a:rPr lang="en-US" sz="16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en-US" sz="16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16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a:rPr lang="ar-AE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02</m:t>
                    </m:r>
                  </m:oMath>
                </a14:m>
                <a:endParaRPr lang="ar-AE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that a person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actually has the disease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given that the test result is positive.</a:t>
                </a: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AC74BB-24CF-64AA-4090-11483A712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698066"/>
                <a:ext cx="10043160" cy="1570495"/>
              </a:xfrm>
              <a:prstGeom prst="rect">
                <a:avLst/>
              </a:prstGeom>
              <a:blipFill>
                <a:blip r:embed="rId2"/>
                <a:stretch>
                  <a:fillRect l="-303" t="-1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7A8A2C31-FBC7-AC35-FAB4-83E9A0F52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47C663-AD7D-34AC-C5B7-1C24C1015756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4DB94E-59F4-F362-D83A-A1D013A22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C6EC0F2-0CC1-DBC1-C31A-E7DB1101F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9280" y="2250011"/>
            <a:ext cx="2602187" cy="139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21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56DFF-55BA-318C-4068-85316CFCE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CA809E2-24CA-6E26-2535-2737785B5B28}"/>
              </a:ext>
            </a:extLst>
          </p:cNvPr>
          <p:cNvSpPr txBox="1"/>
          <p:nvPr/>
        </p:nvSpPr>
        <p:spPr>
          <a:xfrm>
            <a:off x="243840" y="698066"/>
            <a:ext cx="10043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roblem can be done using sequential tree.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2AD9D1-3BB2-4780-A984-7BC7BFA96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D66F38-F543-F9C8-A472-67EC68DD3695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D66F38-F543-F9C8-A472-67EC68DD3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DF32FBE-4F25-3BEB-4747-7988DFF78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280" y="2250011"/>
            <a:ext cx="2602187" cy="1398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E9E931-5DE4-A0BD-DBC5-647487895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800" y="1727326"/>
            <a:ext cx="3959464" cy="1920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60543D-A407-6A09-F9CB-6131A91B95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251" y="1377403"/>
            <a:ext cx="4216303" cy="270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53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73EAD-13B9-105D-FB0C-B6AFB07A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8CE8D-09C9-1F2B-B0F6-8173A904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4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02BC8C-0E15-75A6-8AA5-6E9DED98BB5C}"/>
              </a:ext>
            </a:extLst>
          </p:cNvPr>
          <p:cNvSpPr txBox="1"/>
          <p:nvPr/>
        </p:nvSpPr>
        <p:spPr>
          <a:xfrm>
            <a:off x="121993" y="621792"/>
            <a:ext cx="1193030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Bag A has 3 red balls and 1 green ball. Bag B has 1 red ball and 3 green balls. Now suppose someone randomly picks ball from one of the two bags, but he does not show you the color.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Can you tell the probability that the ball came from bag A?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he shows you the color: you are given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additional information / evidence 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the chosen ball is red, but you still don't know which bag it came from.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Now, can you tell the probability that the ball came from bag A, given the evidence?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E7C34A-B78B-83F4-B826-06230794B19D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4F0EB4-EDF0-6E18-F6C3-F0797CAFB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97174FD-44EF-A000-65F6-7027226C9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7472" y="2613233"/>
            <a:ext cx="292534" cy="2681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B030B0-92A0-1D7A-C587-F22FB647D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5177" y="4885763"/>
            <a:ext cx="357120" cy="3095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463635-4509-D49D-04DC-2AEB56E2F1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3723" y="2078037"/>
            <a:ext cx="2399887" cy="1606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0135D5-A734-A498-4847-19C552137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3724" y="4320867"/>
            <a:ext cx="2399887" cy="160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20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1E7BF-C2D4-1949-6345-BC83348A6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1B4D-F387-2DB3-1744-5C03C9F9D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BE68E9-04BF-5E08-CD52-9FEB514A4091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BE68E9-04BF-5E08-CD52-9FEB514A4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A0A792F-9A34-B4F8-9A1D-6E76138AD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3611" y="1662733"/>
            <a:ext cx="416294" cy="3816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EB080A-7A86-6415-141B-A19149C2F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8704" y="3589901"/>
            <a:ext cx="428685" cy="3715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B96B63-855F-AA4A-69E9-908D72E54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2107" y="1077438"/>
            <a:ext cx="2399887" cy="1606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5512E4-928A-1B21-A820-484571653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3724" y="3091219"/>
            <a:ext cx="2399887" cy="1606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AF5528-CB58-D3BC-4364-E9E203B1CA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914" y="1847231"/>
            <a:ext cx="2678980" cy="34853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5901CB-6ECD-7184-D4AB-9D117D797B0E}"/>
              </a:ext>
            </a:extLst>
          </p:cNvPr>
          <p:cNvSpPr txBox="1"/>
          <p:nvPr/>
        </p:nvSpPr>
        <p:spPr>
          <a:xfrm>
            <a:off x="188976" y="941832"/>
            <a:ext cx="476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can also be done using sequential tree: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04A2DE-85A9-12C2-AB7A-F4268D7B1E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5040" y="1853534"/>
            <a:ext cx="4309708" cy="308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96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9432-61C3-EE31-51B8-D178035F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6AE9FD-A4E3-C461-1B4D-622EFE36FA1A}"/>
                  </a:ext>
                </a:extLst>
              </p:cNvPr>
              <p:cNvSpPr txBox="1"/>
              <p:nvPr/>
            </p:nvSpPr>
            <p:spPr>
              <a:xfrm>
                <a:off x="243840" y="771218"/>
                <a:ext cx="10557094" cy="5900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Suppose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 30% of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emails are spam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US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S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80% of spam emails contain the word “win”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10% of non-spam emails contain the word “win”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Probability that an email is spam given that it contains “win”.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Here the evidence is that email contains ‘win’.  I have to determine  P(S|</a:t>
                </a:r>
                <a:r>
                  <a:rPr lang="en-US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). The formula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Using Law of Total Probability,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P(W) = P(S) x P(W ∣ S)  + 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 x P(W 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= 0.3 x 0.8            +      0.7 x 0.1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= 0.31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Substituting the values in above formula: 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774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Conclusion: Initially the email had 30% of chance of being spam; after the new evidence that it contains word ‘”win”, the  probability of email being spam went up to 77.4%                                                                       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6AE9FD-A4E3-C461-1B4D-622EFE36F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771218"/>
                <a:ext cx="10557094" cy="5900270"/>
              </a:xfrm>
              <a:prstGeom prst="rect">
                <a:avLst/>
              </a:prstGeom>
              <a:blipFill>
                <a:blip r:embed="rId2"/>
                <a:stretch>
                  <a:fillRect l="-462" t="-620" b="-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B5A4AC5F-5200-CB22-8FDC-EC267599A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EC937A-1EFE-4D27-2C91-9189419F5AF4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EC937A-1EFE-4D27-2C91-9189419F5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46F93D8-0E5A-94A0-19B1-44E665E2E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648" y="1205440"/>
            <a:ext cx="2346960" cy="122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56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3535</TotalTime>
  <Words>1812</Words>
  <Application>Microsoft Office PowerPoint</Application>
  <PresentationFormat>Widescreen</PresentationFormat>
  <Paragraphs>214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(Body)</vt:lpstr>
      <vt:lpstr>Calibri Light</vt:lpstr>
      <vt:lpstr>Cambria Math</vt:lpstr>
      <vt:lpstr>Wingdings</vt:lpstr>
      <vt:lpstr>Office Theme</vt:lpstr>
      <vt:lpstr>Bayes Theorem</vt:lpstr>
      <vt:lpstr>Bayes Theorem</vt:lpstr>
      <vt:lpstr>Bayes Theorem</vt:lpstr>
      <vt:lpstr>Bayes Theorem</vt:lpstr>
      <vt:lpstr>Bayes Theorem</vt:lpstr>
      <vt:lpstr>PowerPoint Presentation</vt:lpstr>
      <vt:lpstr>Bayes Theorem</vt:lpstr>
      <vt:lpstr>Bayes Theorem</vt:lpstr>
      <vt:lpstr>EXTRA</vt:lpstr>
      <vt:lpstr>Bayes Theorem</vt:lpstr>
      <vt:lpstr>Bayes Theorem</vt:lpstr>
      <vt:lpstr>Bayes Theorem</vt:lpstr>
      <vt:lpstr>Bayes Theorem</vt:lpstr>
      <vt:lpstr>Bayes Theorem</vt:lpstr>
      <vt:lpstr>Bayes Theorem</vt:lpstr>
      <vt:lpstr>Bayes Theorem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292</cp:revision>
  <dcterms:created xsi:type="dcterms:W3CDTF">2025-09-22T02:44:38Z</dcterms:created>
  <dcterms:modified xsi:type="dcterms:W3CDTF">2026-04-29T11:00:09Z</dcterms:modified>
</cp:coreProperties>
</file>