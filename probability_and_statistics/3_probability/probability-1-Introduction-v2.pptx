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3"/>
  </p:handoutMasterIdLst>
  <p:sldIdLst>
    <p:sldId id="265" r:id="rId2"/>
    <p:sldId id="257" r:id="rId3"/>
    <p:sldId id="261" r:id="rId4"/>
    <p:sldId id="267" r:id="rId5"/>
    <p:sldId id="268" r:id="rId6"/>
    <p:sldId id="260" r:id="rId7"/>
    <p:sldId id="269" r:id="rId8"/>
    <p:sldId id="262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E259D-F0E7-31A9-2727-9F395E82C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FC58B-6FEF-E5CA-271E-C6FCF72FB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Probability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886C86-B6F5-E796-F314-C5FC3141AC12}"/>
              </a:ext>
            </a:extLst>
          </p:cNvPr>
          <p:cNvSpPr txBox="1"/>
          <p:nvPr/>
        </p:nvSpPr>
        <p:spPr>
          <a:xfrm>
            <a:off x="418698" y="1118938"/>
            <a:ext cx="993285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 Suppose a product has been rated by customers with ratings given below: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5-star → 40 times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4-star → 35 times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3-star → 10 times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2-star → 10 times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1-star → 5 times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a rating is randomly chosen, what is the probability that it is 4-star or 5-star?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0B10F2-E384-0017-6B01-4982B15D4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1118" y="1901467"/>
            <a:ext cx="2149453" cy="215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774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F7051-67F5-C2A6-490D-03FD43804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5307"/>
          </a:xfrm>
        </p:spPr>
        <p:txBody>
          <a:bodyPr/>
          <a:lstStyle/>
          <a:p>
            <a:r>
              <a:rPr lang="en-US" b="1" dirty="0"/>
              <a:t>What is probability in plain English 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FDD21-5A70-DBA7-8B6B-209DE2B35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42161"/>
            <a:ext cx="1172260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Think of probability as </a:t>
            </a:r>
            <a:r>
              <a:rPr lang="en-US" b="1" dirty="0"/>
              <a:t>a measure of uncertainty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Whenever you’re unsure what will happen — rolling a die, predicting rain, or getting a job offer — you’re thinking in terms of probability.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0933F-DD9D-F6F9-1DE5-A0E350166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18100-989F-915B-483F-CB565E6FA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594995"/>
          </a:xfrm>
        </p:spPr>
        <p:txBody>
          <a:bodyPr>
            <a:normAutofit/>
          </a:bodyPr>
          <a:lstStyle/>
          <a:p>
            <a:r>
              <a:rPr lang="en-US" sz="3600" dirty="0"/>
              <a:t>Few key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3BA3C-F10A-2BB1-AD97-D9BE66643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179577"/>
            <a:ext cx="10671048" cy="194767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Sample space</a:t>
            </a:r>
          </a:p>
          <a:p>
            <a:pPr marL="0" indent="0">
              <a:buNone/>
            </a:pPr>
            <a:r>
              <a:rPr lang="en-US" sz="2400" dirty="0"/>
              <a:t>Events</a:t>
            </a:r>
          </a:p>
          <a:p>
            <a:pPr marL="0" indent="0">
              <a:buNone/>
            </a:pPr>
            <a:r>
              <a:rPr lang="en-US" sz="2400" dirty="0"/>
              <a:t>Experiments / Trials</a:t>
            </a:r>
          </a:p>
          <a:p>
            <a:pPr marL="0" indent="0">
              <a:buNone/>
            </a:pPr>
            <a:r>
              <a:rPr lang="en-US" sz="2400" dirty="0"/>
              <a:t>Outcome</a:t>
            </a:r>
          </a:p>
          <a:p>
            <a:pPr marL="0" indent="0">
              <a:buNone/>
            </a:pPr>
            <a:r>
              <a:rPr lang="en-US" sz="2400" dirty="0"/>
              <a:t>Probability</a:t>
            </a:r>
          </a:p>
        </p:txBody>
      </p:sp>
    </p:spTree>
    <p:extLst>
      <p:ext uri="{BB962C8B-B14F-4D97-AF65-F5344CB8AC3E}">
        <p14:creationId xmlns:p14="http://schemas.microsoft.com/office/powerpoint/2010/main" val="898897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7A3DB-1F63-ED01-145E-92487D137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E5B20FA-BF97-4CE5-0A35-FF45EDADF0BD}"/>
              </a:ext>
            </a:extLst>
          </p:cNvPr>
          <p:cNvSpPr txBox="1"/>
          <p:nvPr/>
        </p:nvSpPr>
        <p:spPr>
          <a:xfrm>
            <a:off x="338328" y="474345"/>
            <a:ext cx="886510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Sample space (Ω)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All possible outcomes. Let’s see few examples.</a:t>
            </a:r>
          </a:p>
          <a:p>
            <a:pPr marL="285750" indent="-28575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Toss 1 coin  -&gt; 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Ω =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 H, T } .  Size of Ω is 2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Toss 2 coins -&gt; 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Ω =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 HH, HT, TH, TT }. Size of Ω is 4  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Toss 3 coins -&gt;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Ω =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 HHH, HHT, HTT, HTH, THH, TTH, THT, TTT } . Size of Ω is 8 </a:t>
            </a:r>
          </a:p>
          <a:p>
            <a:pPr marL="457200" lvl="1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D6EB6-BCFC-CF0F-82A6-ECB5CDA27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0991" y="4818888"/>
            <a:ext cx="3440578" cy="1817894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693C9D43-8103-2AAC-F1C6-46EAE4B14B2E}"/>
              </a:ext>
            </a:extLst>
          </p:cNvPr>
          <p:cNvSpPr/>
          <p:nvPr/>
        </p:nvSpPr>
        <p:spPr>
          <a:xfrm>
            <a:off x="5819972" y="987552"/>
            <a:ext cx="552055" cy="501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2AB4CBD-923A-D148-2A78-FDCAFC913999}"/>
              </a:ext>
            </a:extLst>
          </p:cNvPr>
          <p:cNvSpPr/>
          <p:nvPr/>
        </p:nvSpPr>
        <p:spPr>
          <a:xfrm>
            <a:off x="5819972" y="1619942"/>
            <a:ext cx="552055" cy="501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F18D4BA-B259-C037-F335-D9C0A948C5EC}"/>
              </a:ext>
            </a:extLst>
          </p:cNvPr>
          <p:cNvSpPr/>
          <p:nvPr/>
        </p:nvSpPr>
        <p:spPr>
          <a:xfrm>
            <a:off x="7176607" y="1838144"/>
            <a:ext cx="495117" cy="4556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81D928-17CE-5A57-10AB-62BCAA95FA84}"/>
              </a:ext>
            </a:extLst>
          </p:cNvPr>
          <p:cNvSpPr/>
          <p:nvPr/>
        </p:nvSpPr>
        <p:spPr>
          <a:xfrm>
            <a:off x="7934218" y="1821449"/>
            <a:ext cx="495117" cy="4556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A954B95-EEC3-02BA-41E9-410B5BA81C56}"/>
              </a:ext>
            </a:extLst>
          </p:cNvPr>
          <p:cNvSpPr/>
          <p:nvPr/>
        </p:nvSpPr>
        <p:spPr>
          <a:xfrm>
            <a:off x="7175357" y="2558528"/>
            <a:ext cx="495117" cy="4556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1136F09-AED5-5782-57E0-7E265C724618}"/>
              </a:ext>
            </a:extLst>
          </p:cNvPr>
          <p:cNvSpPr/>
          <p:nvPr/>
        </p:nvSpPr>
        <p:spPr>
          <a:xfrm>
            <a:off x="7934218" y="2541833"/>
            <a:ext cx="495117" cy="4556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8E39E6D-1926-1C64-B5B7-C73EFC1714C2}"/>
              </a:ext>
            </a:extLst>
          </p:cNvPr>
          <p:cNvSpPr/>
          <p:nvPr/>
        </p:nvSpPr>
        <p:spPr>
          <a:xfrm>
            <a:off x="7146127" y="3236500"/>
            <a:ext cx="495117" cy="4556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1661716-D999-F727-4625-A250AD5556A3}"/>
              </a:ext>
            </a:extLst>
          </p:cNvPr>
          <p:cNvSpPr/>
          <p:nvPr/>
        </p:nvSpPr>
        <p:spPr>
          <a:xfrm>
            <a:off x="7949458" y="3219805"/>
            <a:ext cx="495117" cy="4556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06D961-E823-6EBD-8736-E2D72DE44BC4}"/>
              </a:ext>
            </a:extLst>
          </p:cNvPr>
          <p:cNvSpPr/>
          <p:nvPr/>
        </p:nvSpPr>
        <p:spPr>
          <a:xfrm>
            <a:off x="7146127" y="3914472"/>
            <a:ext cx="495117" cy="4556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4E9C65A-C81D-2560-7589-2752EE0A9BA9}"/>
              </a:ext>
            </a:extLst>
          </p:cNvPr>
          <p:cNvSpPr/>
          <p:nvPr/>
        </p:nvSpPr>
        <p:spPr>
          <a:xfrm>
            <a:off x="7949458" y="3897777"/>
            <a:ext cx="495117" cy="4556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1B5978C-C534-8EF8-DA82-8FFE08DF77D1}"/>
              </a:ext>
            </a:extLst>
          </p:cNvPr>
          <p:cNvSpPr/>
          <p:nvPr/>
        </p:nvSpPr>
        <p:spPr>
          <a:xfrm>
            <a:off x="826373" y="5064550"/>
            <a:ext cx="495117" cy="4556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76A4533-6ADF-D3CB-689D-1F6885470031}"/>
              </a:ext>
            </a:extLst>
          </p:cNvPr>
          <p:cNvSpPr/>
          <p:nvPr/>
        </p:nvSpPr>
        <p:spPr>
          <a:xfrm>
            <a:off x="1629704" y="5047855"/>
            <a:ext cx="495117" cy="4556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5FE13F1-53B2-03C6-5CFB-82777A6E90E9}"/>
              </a:ext>
            </a:extLst>
          </p:cNvPr>
          <p:cNvSpPr/>
          <p:nvPr/>
        </p:nvSpPr>
        <p:spPr>
          <a:xfrm>
            <a:off x="826373" y="5664440"/>
            <a:ext cx="495117" cy="4556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556568B-747A-7021-9C2B-3AFAA76CDFC4}"/>
              </a:ext>
            </a:extLst>
          </p:cNvPr>
          <p:cNvSpPr/>
          <p:nvPr/>
        </p:nvSpPr>
        <p:spPr>
          <a:xfrm>
            <a:off x="2392068" y="5678684"/>
            <a:ext cx="495117" cy="4556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8A8FC44-F18D-89FF-BC6F-C6947A111A7E}"/>
              </a:ext>
            </a:extLst>
          </p:cNvPr>
          <p:cNvSpPr/>
          <p:nvPr/>
        </p:nvSpPr>
        <p:spPr>
          <a:xfrm>
            <a:off x="2392069" y="5047854"/>
            <a:ext cx="495117" cy="4556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E846472-D5F3-C1B0-9753-BCEBE12DE8DD}"/>
              </a:ext>
            </a:extLst>
          </p:cNvPr>
          <p:cNvSpPr/>
          <p:nvPr/>
        </p:nvSpPr>
        <p:spPr>
          <a:xfrm>
            <a:off x="1609220" y="5678684"/>
            <a:ext cx="495117" cy="4556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2714312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4B6C0-B657-8519-A440-F530DA281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48692D3-5088-948A-BE75-322765C4E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248" y="4359696"/>
            <a:ext cx="3837432" cy="20275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D764A1-DD36-0716-387F-34BBE69EFB04}"/>
              </a:ext>
            </a:extLst>
          </p:cNvPr>
          <p:cNvSpPr txBox="1"/>
          <p:nvPr/>
        </p:nvSpPr>
        <p:spPr>
          <a:xfrm>
            <a:off x="228600" y="1356652"/>
            <a:ext cx="83896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Roll a dice -&gt;    Sample space is 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Ω =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 1, 2, 3, 4, 5, 6 }.  Size of Ω is 6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drawing a card -&gt; 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Ω =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52 outcomes or elements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2B7582-A2DE-2086-F4F3-C5C10DCE7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910705">
            <a:off x="9473625" y="1082331"/>
            <a:ext cx="1876687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765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079ED-04FD-3C86-0ADE-0F9E3DD01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7A3BD57-A46E-15F6-AFCA-75323C1EC7ED}"/>
              </a:ext>
            </a:extLst>
          </p:cNvPr>
          <p:cNvSpPr txBox="1"/>
          <p:nvPr/>
        </p:nvSpPr>
        <p:spPr>
          <a:xfrm>
            <a:off x="146304" y="246210"/>
            <a:ext cx="8943883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Events (E)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It is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subset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the sample space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Ω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e.g.1 In a 1-coin toss trial, event could be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getting H :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{H}.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Size of E = 1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e.g.2 In a 2-coin toss trial, event could be getting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same outcome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both toss: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{HH, TT}.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Size of E = 2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e.g.3 In a 3-coin toss trial, event is getting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exactly 1 head :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{HTT, THT, TTH}.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Size of E = 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4181CF-0F91-DABE-F370-02F745A4B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4620" y="84757"/>
            <a:ext cx="2101795" cy="11600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3F0E8C8-BE90-1D12-88B1-4F9EA20F1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3543" y="4110881"/>
            <a:ext cx="3382872" cy="25009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A54A5EA-A70E-2E42-3CCF-80DD47B669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7952" y="1371465"/>
            <a:ext cx="2603424" cy="176792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B88484D-0EC5-793B-5077-0617407FC2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4470" y="3285337"/>
            <a:ext cx="2923990" cy="198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048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5C656-2FC5-D462-AC4D-2E537705B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7562C3F-9D28-BD46-07A4-6EC6EB5F1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540" y="283463"/>
            <a:ext cx="2101795" cy="116000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84775C8C-8630-F7D3-F0DD-B05B3C88B309}"/>
              </a:ext>
            </a:extLst>
          </p:cNvPr>
          <p:cNvSpPr/>
          <p:nvPr/>
        </p:nvSpPr>
        <p:spPr>
          <a:xfrm>
            <a:off x="9610344" y="1709928"/>
            <a:ext cx="1975104" cy="18836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1, 3, 5</a:t>
            </a:r>
          </a:p>
          <a:p>
            <a:pPr algn="ctr"/>
            <a:endParaRPr lang="en-US" sz="2400" dirty="0"/>
          </a:p>
          <a:p>
            <a:pPr algn="ctr"/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2, 4, 6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2C5228-ED83-31D7-D08A-452749F11601}"/>
              </a:ext>
            </a:extLst>
          </p:cNvPr>
          <p:cNvSpPr txBox="1"/>
          <p:nvPr/>
        </p:nvSpPr>
        <p:spPr>
          <a:xfrm>
            <a:off x="204216" y="1443470"/>
            <a:ext cx="940612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e.g.4 In dice roll, event could be getting an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even number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 dice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 2, 4, 6}.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Size of E = 3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e.g.5 In drawing a card, event could be that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card is ace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{Ace of heart, Ace of diamond, Ace of clubs, Ace of Spades}.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Size of E = 4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CA99468-0BD4-1C7F-0A40-40B5033461A4}"/>
              </a:ext>
            </a:extLst>
          </p:cNvPr>
          <p:cNvSpPr/>
          <p:nvPr/>
        </p:nvSpPr>
        <p:spPr>
          <a:xfrm>
            <a:off x="10044684" y="2651760"/>
            <a:ext cx="1106424" cy="832104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684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2F5FC-E2C6-74E1-664A-1EBD427B6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7D829-E217-2970-F4BE-6EFBADA06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Probability: Definition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A93741-4AFA-1FDA-600B-CE8C775A2C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4320" y="932688"/>
                <a:ext cx="10033751" cy="5678425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Probability of an event E: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Or,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Here,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r>
                  <a:rPr lang="en-US" sz="2000" dirty="0"/>
                  <a:t> = number (size) of elements in event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000" dirty="0"/>
                  <a:t>,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∣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r>
                  <a:rPr lang="en-US" sz="2000" dirty="0"/>
                  <a:t>= total number (size) of elements in sample space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Example: In 2-coin toss, what is the probability of getting </a:t>
                </a:r>
                <a:r>
                  <a:rPr lang="en-US" sz="2000" b="1" dirty="0"/>
                  <a:t>both heads</a:t>
                </a:r>
                <a:r>
                  <a:rPr lang="en-US" sz="2000" dirty="0"/>
                  <a:t>?</a:t>
                </a:r>
              </a:p>
              <a:p>
                <a:pPr marL="0" indent="0">
                  <a:buNone/>
                </a:pPr>
                <a:r>
                  <a:rPr lang="en-US" sz="2000" dirty="0"/>
                  <a:t>Ans: Here sample space is Ω = {HH, HT, TH, TT}. Size = 4</a:t>
                </a:r>
              </a:p>
              <a:p>
                <a:pPr marL="0" indent="0">
                  <a:buNone/>
                </a:pPr>
                <a:r>
                  <a:rPr lang="en-US" sz="2000" dirty="0"/>
                  <a:t>The event E is both toss are heads: E = {HH}. Size of E = 1</a:t>
                </a:r>
              </a:p>
              <a:p>
                <a:pPr marL="0" indent="0">
                  <a:buNone/>
                </a:pPr>
                <a:r>
                  <a:rPr lang="en-US" sz="2000" dirty="0"/>
                  <a:t> P(E) = 1/4.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A93741-4AFA-1FDA-600B-CE8C775A2C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320" y="932688"/>
                <a:ext cx="10033751" cy="5678425"/>
              </a:xfrm>
              <a:blipFill>
                <a:blip r:embed="rId2"/>
                <a:stretch>
                  <a:fillRect l="-608" t="-1073" b="-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57429290-F27B-91B6-F689-761B64F43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4012" y="246887"/>
            <a:ext cx="2101795" cy="11600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1CFC45-4B45-92DE-9840-9B7B348394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5921" y="1406894"/>
            <a:ext cx="5506218" cy="1028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0E2DDE-D150-57FD-F8B4-2BF14496C3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3929" y="2512287"/>
            <a:ext cx="1657581" cy="7811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EF7C53-0E4C-AD87-48EE-8888FAF20D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9230" y="4472445"/>
            <a:ext cx="3284019" cy="21855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F9B3E9-D056-3A62-4A43-B07F0E90D5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1549" y="1352827"/>
            <a:ext cx="1282666" cy="604475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1132709C-90D1-5622-5167-5AF33A8E73C1}"/>
              </a:ext>
            </a:extLst>
          </p:cNvPr>
          <p:cNvSpPr/>
          <p:nvPr/>
        </p:nvSpPr>
        <p:spPr>
          <a:xfrm>
            <a:off x="10588460" y="2840550"/>
            <a:ext cx="379585" cy="3364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5147E0A-5FA9-93E4-4E57-1432C5DF2978}"/>
              </a:ext>
            </a:extLst>
          </p:cNvPr>
          <p:cNvSpPr/>
          <p:nvPr/>
        </p:nvSpPr>
        <p:spPr>
          <a:xfrm>
            <a:off x="11346071" y="2823855"/>
            <a:ext cx="379585" cy="3364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0F5D33C-BD88-73B8-107B-E01A451D93C3}"/>
              </a:ext>
            </a:extLst>
          </p:cNvPr>
          <p:cNvSpPr/>
          <p:nvPr/>
        </p:nvSpPr>
        <p:spPr>
          <a:xfrm>
            <a:off x="10587210" y="3277470"/>
            <a:ext cx="379585" cy="3364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2777A56-1DA6-20F4-FF18-9CC639BC47D6}"/>
              </a:ext>
            </a:extLst>
          </p:cNvPr>
          <p:cNvSpPr/>
          <p:nvPr/>
        </p:nvSpPr>
        <p:spPr>
          <a:xfrm>
            <a:off x="11346071" y="3260775"/>
            <a:ext cx="379585" cy="3364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AA41053-2C88-7A4A-81F8-2100E9E6087D}"/>
              </a:ext>
            </a:extLst>
          </p:cNvPr>
          <p:cNvSpPr/>
          <p:nvPr/>
        </p:nvSpPr>
        <p:spPr>
          <a:xfrm>
            <a:off x="10557980" y="3708554"/>
            <a:ext cx="379585" cy="3364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0E9254C-D8C0-CE11-D44D-9DABCC6A2B3B}"/>
              </a:ext>
            </a:extLst>
          </p:cNvPr>
          <p:cNvSpPr/>
          <p:nvPr/>
        </p:nvSpPr>
        <p:spPr>
          <a:xfrm>
            <a:off x="11361311" y="3691859"/>
            <a:ext cx="379585" cy="3364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6384BCD-E507-3BB5-D192-931BA6C56F30}"/>
              </a:ext>
            </a:extLst>
          </p:cNvPr>
          <p:cNvSpPr/>
          <p:nvPr/>
        </p:nvSpPr>
        <p:spPr>
          <a:xfrm>
            <a:off x="10557980" y="4148782"/>
            <a:ext cx="379585" cy="3364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533FF8A-E39F-DBD2-A400-9504E6886F49}"/>
              </a:ext>
            </a:extLst>
          </p:cNvPr>
          <p:cNvSpPr/>
          <p:nvPr/>
        </p:nvSpPr>
        <p:spPr>
          <a:xfrm>
            <a:off x="11361311" y="4132087"/>
            <a:ext cx="379585" cy="3364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3042954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90031-28F4-19B8-1CFD-6C35871B1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B19250-E1F3-8E09-EBC8-91DD0139EF93}"/>
                  </a:ext>
                </a:extLst>
              </p:cNvPr>
              <p:cNvSpPr txBox="1"/>
              <p:nvPr/>
            </p:nvSpPr>
            <p:spPr>
              <a:xfrm>
                <a:off x="36576" y="739521"/>
                <a:ext cx="9726169" cy="72327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Problem: In 3-coin toss, what is the probability of getting </a:t>
                </a:r>
              </a:p>
              <a:p>
                <a:pPr marL="457200" indent="-457200">
                  <a:buAutoNum type="alphaLcParenR"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exactly two heads?</a:t>
                </a:r>
              </a:p>
              <a:p>
                <a:pPr marL="457200" indent="-457200">
                  <a:buAutoNum type="alphaLcParenR"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at least one head ?</a:t>
                </a:r>
              </a:p>
              <a:p>
                <a:pPr marL="457200" indent="-457200">
                  <a:buAutoNum type="alphaLcParenR"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all tails ?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 Here sample space is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Ω =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{ HHH, HHT, HTT, HTH, THH, TTH, THT, TTT } . 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Size of Ω is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8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457200" indent="-457200">
                  <a:buAutoNum type="alphaLcParenR"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event E is exactly  2 heads: E = { HHT, HTH, THH } . 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Size of E is | E | = 3.    P(E) = 3/8.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b) The event E is at least 1 head: { HHH, HHT, HTT, HTH, THH, TTH, THT }. 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Size of E is | E | = 7.  P(E) = 7/8.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c) The event E is of all tails: { TTT }. 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Size of E  is | E | = 1.  P(E) = 1/8.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sz="32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B19250-E1F3-8E09-EBC8-91DD0139E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" y="739521"/>
                <a:ext cx="9726169" cy="7232749"/>
              </a:xfrm>
              <a:prstGeom prst="rect">
                <a:avLst/>
              </a:prstGeom>
              <a:blipFill>
                <a:blip r:embed="rId2"/>
                <a:stretch>
                  <a:fillRect l="-1003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5FD4F529-3D65-3A7F-9EEE-2DB6D7BC9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Probability: Application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2DF4CA-E251-8F8B-3ADA-56EFF32A3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4012" y="246887"/>
            <a:ext cx="2101795" cy="11600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496B099-609E-CCD7-C7AD-510B97ACA7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549" y="1352827"/>
            <a:ext cx="1282666" cy="604475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25EC041B-3E3B-BAED-759B-72591F1727D3}"/>
              </a:ext>
            </a:extLst>
          </p:cNvPr>
          <p:cNvSpPr/>
          <p:nvPr/>
        </p:nvSpPr>
        <p:spPr>
          <a:xfrm>
            <a:off x="10161756" y="2172640"/>
            <a:ext cx="379585" cy="3364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555E93D-939B-6BB8-C015-96319A6D9318}"/>
              </a:ext>
            </a:extLst>
          </p:cNvPr>
          <p:cNvSpPr/>
          <p:nvPr/>
        </p:nvSpPr>
        <p:spPr>
          <a:xfrm>
            <a:off x="10608471" y="2155945"/>
            <a:ext cx="379585" cy="3364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D24C299-D8B0-EA04-8D7C-E823F74CAA3A}"/>
              </a:ext>
            </a:extLst>
          </p:cNvPr>
          <p:cNvSpPr/>
          <p:nvPr/>
        </p:nvSpPr>
        <p:spPr>
          <a:xfrm>
            <a:off x="10160506" y="2609560"/>
            <a:ext cx="379585" cy="3364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77467D0-E0F4-4B9D-C9CA-3006D2F10DE0}"/>
              </a:ext>
            </a:extLst>
          </p:cNvPr>
          <p:cNvSpPr/>
          <p:nvPr/>
        </p:nvSpPr>
        <p:spPr>
          <a:xfrm>
            <a:off x="10655807" y="3054544"/>
            <a:ext cx="379585" cy="3364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F40AAB0-01C2-74C3-A037-A61200C0F777}"/>
              </a:ext>
            </a:extLst>
          </p:cNvPr>
          <p:cNvSpPr/>
          <p:nvPr/>
        </p:nvSpPr>
        <p:spPr>
          <a:xfrm>
            <a:off x="11134491" y="3466992"/>
            <a:ext cx="379585" cy="3364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72A691F-8C28-BA56-D6BA-6983EDE76622}"/>
              </a:ext>
            </a:extLst>
          </p:cNvPr>
          <p:cNvSpPr/>
          <p:nvPr/>
        </p:nvSpPr>
        <p:spPr>
          <a:xfrm>
            <a:off x="10174055" y="3040679"/>
            <a:ext cx="379585" cy="3364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C10859F-7132-D4CA-D2D5-443F11F7FAE3}"/>
              </a:ext>
            </a:extLst>
          </p:cNvPr>
          <p:cNvSpPr/>
          <p:nvPr/>
        </p:nvSpPr>
        <p:spPr>
          <a:xfrm>
            <a:off x="10639025" y="3478783"/>
            <a:ext cx="379585" cy="3364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1D54D75-BD31-18DA-3E06-67C140CD987A}"/>
              </a:ext>
            </a:extLst>
          </p:cNvPr>
          <p:cNvSpPr/>
          <p:nvPr/>
        </p:nvSpPr>
        <p:spPr>
          <a:xfrm>
            <a:off x="11086900" y="2592636"/>
            <a:ext cx="379585" cy="3364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ACE6464-3D7E-D8BB-6ED7-2B7313EE5AE7}"/>
              </a:ext>
            </a:extLst>
          </p:cNvPr>
          <p:cNvSpPr/>
          <p:nvPr/>
        </p:nvSpPr>
        <p:spPr>
          <a:xfrm>
            <a:off x="10615998" y="2592636"/>
            <a:ext cx="379585" cy="3364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757471B-313E-3FF5-29B4-23427FB7D1DA}"/>
              </a:ext>
            </a:extLst>
          </p:cNvPr>
          <p:cNvSpPr/>
          <p:nvPr/>
        </p:nvSpPr>
        <p:spPr>
          <a:xfrm>
            <a:off x="10174055" y="3480873"/>
            <a:ext cx="379585" cy="3364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FFDE755-40D0-A11D-F7A4-4B2ED90A3E9C}"/>
              </a:ext>
            </a:extLst>
          </p:cNvPr>
          <p:cNvSpPr/>
          <p:nvPr/>
        </p:nvSpPr>
        <p:spPr>
          <a:xfrm>
            <a:off x="11055186" y="2160345"/>
            <a:ext cx="379585" cy="3364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A55A353-80D7-9E17-5E82-A704D2262172}"/>
              </a:ext>
            </a:extLst>
          </p:cNvPr>
          <p:cNvSpPr/>
          <p:nvPr/>
        </p:nvSpPr>
        <p:spPr>
          <a:xfrm>
            <a:off x="11115164" y="3054560"/>
            <a:ext cx="379585" cy="3364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A3C2012-F44A-7205-85EA-AE9F6DF806BC}"/>
              </a:ext>
            </a:extLst>
          </p:cNvPr>
          <p:cNvSpPr/>
          <p:nvPr/>
        </p:nvSpPr>
        <p:spPr>
          <a:xfrm>
            <a:off x="10675601" y="4012462"/>
            <a:ext cx="379585" cy="3364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4E81356-21BE-C942-4702-37383DC66D90}"/>
              </a:ext>
            </a:extLst>
          </p:cNvPr>
          <p:cNvSpPr/>
          <p:nvPr/>
        </p:nvSpPr>
        <p:spPr>
          <a:xfrm>
            <a:off x="10722937" y="4911061"/>
            <a:ext cx="379585" cy="3364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BA88436-E457-EFF3-3ABA-248D3385E757}"/>
              </a:ext>
            </a:extLst>
          </p:cNvPr>
          <p:cNvSpPr/>
          <p:nvPr/>
        </p:nvSpPr>
        <p:spPr>
          <a:xfrm>
            <a:off x="11201621" y="5323509"/>
            <a:ext cx="379585" cy="3364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94F7F42-822E-2ADD-3468-B75BB6134B81}"/>
              </a:ext>
            </a:extLst>
          </p:cNvPr>
          <p:cNvSpPr/>
          <p:nvPr/>
        </p:nvSpPr>
        <p:spPr>
          <a:xfrm>
            <a:off x="10706155" y="5335300"/>
            <a:ext cx="379585" cy="3364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D52EBEB-7555-B9C3-AAF5-BD08ADC426DA}"/>
              </a:ext>
            </a:extLst>
          </p:cNvPr>
          <p:cNvSpPr/>
          <p:nvPr/>
        </p:nvSpPr>
        <p:spPr>
          <a:xfrm>
            <a:off x="11154030" y="4449153"/>
            <a:ext cx="379585" cy="3364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8D10C3E-E8F5-86A9-46A0-55E73464299C}"/>
              </a:ext>
            </a:extLst>
          </p:cNvPr>
          <p:cNvSpPr/>
          <p:nvPr/>
        </p:nvSpPr>
        <p:spPr>
          <a:xfrm>
            <a:off x="10683128" y="4449153"/>
            <a:ext cx="379585" cy="3364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D387B89-E1C8-623C-4E81-886324B95816}"/>
              </a:ext>
            </a:extLst>
          </p:cNvPr>
          <p:cNvSpPr/>
          <p:nvPr/>
        </p:nvSpPr>
        <p:spPr>
          <a:xfrm>
            <a:off x="11122316" y="4016862"/>
            <a:ext cx="379585" cy="3364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757C91A-41E7-C0CF-851B-91BAD309D484}"/>
              </a:ext>
            </a:extLst>
          </p:cNvPr>
          <p:cNvSpPr/>
          <p:nvPr/>
        </p:nvSpPr>
        <p:spPr>
          <a:xfrm>
            <a:off x="11182294" y="4911077"/>
            <a:ext cx="379585" cy="3364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C0EB61D-E500-26EE-41F5-6BFFFDEBF1B9}"/>
              </a:ext>
            </a:extLst>
          </p:cNvPr>
          <p:cNvSpPr/>
          <p:nvPr/>
        </p:nvSpPr>
        <p:spPr>
          <a:xfrm>
            <a:off x="10177918" y="4025655"/>
            <a:ext cx="379585" cy="3364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7D09193-E625-3F81-E513-443083BB3318}"/>
              </a:ext>
            </a:extLst>
          </p:cNvPr>
          <p:cNvSpPr/>
          <p:nvPr/>
        </p:nvSpPr>
        <p:spPr>
          <a:xfrm>
            <a:off x="10174055" y="4473645"/>
            <a:ext cx="379585" cy="3364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E91DBF2-7B93-8473-7E81-E753C52C37D2}"/>
              </a:ext>
            </a:extLst>
          </p:cNvPr>
          <p:cNvSpPr/>
          <p:nvPr/>
        </p:nvSpPr>
        <p:spPr>
          <a:xfrm>
            <a:off x="10178957" y="4911061"/>
            <a:ext cx="379585" cy="3364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EAAD090-86D7-B512-D455-E245D1A0EDDA}"/>
              </a:ext>
            </a:extLst>
          </p:cNvPr>
          <p:cNvSpPr/>
          <p:nvPr/>
        </p:nvSpPr>
        <p:spPr>
          <a:xfrm>
            <a:off x="10177918" y="5338771"/>
            <a:ext cx="379585" cy="3364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2601329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AE1A9-69B4-66C3-94BC-9EC67C4FC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06FAF16-07D8-D201-1EF4-215679417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012" y="246887"/>
            <a:ext cx="2101795" cy="11600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DF02878-FC17-80AC-AD9E-22F51D997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549" y="1352827"/>
            <a:ext cx="1282666" cy="6044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4E4FDF-C762-7254-9ADB-0BB44B669F43}"/>
                  </a:ext>
                </a:extLst>
              </p:cNvPr>
              <p:cNvSpPr txBox="1"/>
              <p:nvPr/>
            </p:nvSpPr>
            <p:spPr>
              <a:xfrm>
                <a:off x="418698" y="1118938"/>
                <a:ext cx="9932851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Problem: Suppose your inbox contains the following 7 emails:</a:t>
                </a:r>
                <a:b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{ spam, spam, non-spam, spam, spam, non-spam, non-spam }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If you randomly open one email from your inbox, what is the probability that the email is a spam message?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sample space is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Ω = 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{ spam, spam, non-spam, spam, spam, non-spam, non-spam }. 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Size is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7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event E is mail opened is spam: E = { spam, spam, spam, spam } . Size of E is | E | = 4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P(E) = 4/7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4E4FDF-C762-7254-9ADB-0BB44B669F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98" y="1118938"/>
                <a:ext cx="9932851" cy="4093428"/>
              </a:xfrm>
              <a:prstGeom prst="rect">
                <a:avLst/>
              </a:prstGeom>
              <a:blipFill>
                <a:blip r:embed="rId4"/>
                <a:stretch>
                  <a:fillRect l="-675" t="-894" b="-1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le 1">
            <a:extLst>
              <a:ext uri="{FF2B5EF4-FFF2-40B4-BE49-F238E27FC236}">
                <a16:creationId xmlns:a16="http://schemas.microsoft.com/office/drawing/2014/main" id="{0BD2625B-CD00-DDC1-FD42-FF8D6C440889}"/>
              </a:ext>
            </a:extLst>
          </p:cNvPr>
          <p:cNvSpPr txBox="1">
            <a:spLocks/>
          </p:cNvSpPr>
          <p:nvPr/>
        </p:nvSpPr>
        <p:spPr>
          <a:xfrm>
            <a:off x="274320" y="136525"/>
            <a:ext cx="11466576" cy="832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/>
              <a:t>Probability: Application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892665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1622E-B02E-FDB4-F6EC-799B9C87C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E415DD1-C15B-ACA5-F429-BC42DC014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172" y="136525"/>
            <a:ext cx="2101795" cy="11600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3C77738-B711-0CE4-36EC-562EC94AC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549" y="1352827"/>
            <a:ext cx="1282666" cy="6044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A6B327-1A7F-2C7A-4A08-AF625B094D69}"/>
                  </a:ext>
                </a:extLst>
              </p:cNvPr>
              <p:cNvSpPr txBox="1"/>
              <p:nvPr/>
            </p:nvSpPr>
            <p:spPr>
              <a:xfrm>
                <a:off x="418698" y="1118938"/>
                <a:ext cx="10252350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Problem: Suppose a product has been rated by customers with ratings given below: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5-star → 40 times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4-star → 35 times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3-star → 10 times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2-star → 10 times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1-star → 5 times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If a rating is randomly chosen, what is the probability that it is 4-star or higher?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Solution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sample space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Ω = 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all ratings. The size of sample space is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40 + 35 + 10 + 10 + 5 = 100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event E is randomly chosen rating is 4-star or 5-star. Size of E is | E | = 35 + 40 = 75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P(E) = 75/100 = 0.75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A6B327-1A7F-2C7A-4A08-AF625B094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98" y="1118938"/>
                <a:ext cx="10252350" cy="5016758"/>
              </a:xfrm>
              <a:prstGeom prst="rect">
                <a:avLst/>
              </a:prstGeom>
              <a:blipFill>
                <a:blip r:embed="rId4"/>
                <a:stretch>
                  <a:fillRect l="-654" t="-729" b="-1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EAFB79D-35F6-6476-11AF-E936248B05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2946" y="1585828"/>
            <a:ext cx="2149453" cy="21539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A50DA43-6F8D-DCA8-637A-9A2EAC998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Probability: Application</a:t>
            </a:r>
          </a:p>
        </p:txBody>
      </p:sp>
    </p:spTree>
    <p:extLst>
      <p:ext uri="{BB962C8B-B14F-4D97-AF65-F5344CB8AC3E}">
        <p14:creationId xmlns:p14="http://schemas.microsoft.com/office/powerpoint/2010/main" val="870382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260</TotalTime>
  <Words>969</Words>
  <Application>Microsoft Office PowerPoint</Application>
  <PresentationFormat>Widescreen</PresentationFormat>
  <Paragraphs>180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Office Theme</vt:lpstr>
      <vt:lpstr>Probability</vt:lpstr>
      <vt:lpstr>What is probability in plain English ?</vt:lpstr>
      <vt:lpstr>Few key terms</vt:lpstr>
      <vt:lpstr>PowerPoint Presentation</vt:lpstr>
      <vt:lpstr>PowerPoint Presentation</vt:lpstr>
      <vt:lpstr>PowerPoint Presentation</vt:lpstr>
      <vt:lpstr>PowerPoint Presentation</vt:lpstr>
      <vt:lpstr>Probability: Definition</vt:lpstr>
      <vt:lpstr>Probability: Application</vt:lpstr>
      <vt:lpstr>PowerPoint Presentation</vt:lpstr>
      <vt:lpstr>Probability: Application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72</cp:revision>
  <dcterms:created xsi:type="dcterms:W3CDTF">2025-09-22T02:44:38Z</dcterms:created>
  <dcterms:modified xsi:type="dcterms:W3CDTF">2026-04-07T03:34:36Z</dcterms:modified>
</cp:coreProperties>
</file>