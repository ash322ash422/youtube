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1" r:id="rId2"/>
    <p:sldId id="305" r:id="rId3"/>
    <p:sldId id="313" r:id="rId4"/>
    <p:sldId id="301" r:id="rId5"/>
    <p:sldId id="307" r:id="rId6"/>
    <p:sldId id="302" r:id="rId7"/>
    <p:sldId id="308" r:id="rId8"/>
    <p:sldId id="306" r:id="rId9"/>
    <p:sldId id="310" r:id="rId10"/>
    <p:sldId id="303" r:id="rId11"/>
    <p:sldId id="309" r:id="rId12"/>
    <p:sldId id="312" r:id="rId13"/>
    <p:sldId id="304" r:id="rId14"/>
    <p:sldId id="282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6609-9BF7-78E8-09CC-EBFD204C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7DC58-989D-4F01-B0AF-B4C84D95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8FF7B-1694-CD1A-EC32-61069F7F0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B8128-175D-4F0B-0F95-8031F69EA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95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59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0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E4F8-C45A-A52A-40D2-A10B331D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E3310-3E40-6E59-A916-144DB9B43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62D75-27B3-41AE-F05F-2E908A3E3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11128-19C1-81F7-FB41-94E4BFDFB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9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DB95B-DCD2-7F91-ABDB-AF2B10BD7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FDCA56-97A7-2516-307D-A54CBB4BFA7E}"/>
              </a:ext>
            </a:extLst>
          </p:cNvPr>
          <p:cNvSpPr txBox="1"/>
          <p:nvPr/>
        </p:nvSpPr>
        <p:spPr>
          <a:xfrm>
            <a:off x="243840" y="734642"/>
            <a:ext cx="101803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Suppose we have following 3 bags containing red and yellow balls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1: </a:t>
            </a:r>
            <a:r>
              <a:rPr lang="en-US" sz="2400" dirty="0">
                <a:solidFill>
                  <a:srgbClr val="FF0000"/>
                </a:solidFill>
              </a:rPr>
              <a:t>2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3 yellow balls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2: </a:t>
            </a:r>
            <a:r>
              <a:rPr lang="en-US" sz="2400" dirty="0">
                <a:solidFill>
                  <a:srgbClr val="FF0000"/>
                </a:solidFill>
              </a:rPr>
              <a:t>3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2 yellow balls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3: </a:t>
            </a:r>
            <a:r>
              <a:rPr lang="en-US" sz="2400" dirty="0">
                <a:solidFill>
                  <a:srgbClr val="FF0000"/>
                </a:solidFill>
              </a:rPr>
              <a:t>1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4 yellow balls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endParaRPr lang="en-US" sz="2400" dirty="0">
              <a:solidFill>
                <a:srgbClr val="FFFF00"/>
              </a:solidFill>
            </a:endParaRP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ball is randomly selected from a random bag, what is the probability that the ball is </a:t>
            </a:r>
            <a:r>
              <a:rPr lang="en-US" sz="2400" dirty="0">
                <a:solidFill>
                  <a:srgbClr val="FF0000"/>
                </a:solidFill>
              </a:rPr>
              <a:t>red 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353363-7AFD-96D7-A9A6-447F9C1A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CB85FD-F45F-0BD2-E048-D90D12DB5610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CC938-7E92-5AB1-117A-BE79C87D4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C66D155-2644-57DA-37A0-63905729B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300" y="1599043"/>
            <a:ext cx="4281137" cy="209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4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D9442-6330-A73C-4EF7-CDC31BDD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BFD331-EE0C-F00A-8CD7-24D476372A21}"/>
                  </a:ext>
                </a:extLst>
              </p:cNvPr>
              <p:cNvSpPr txBox="1"/>
              <p:nvPr/>
            </p:nvSpPr>
            <p:spPr>
              <a:xfrm>
                <a:off x="0" y="373487"/>
                <a:ext cx="12192000" cy="6570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we  have set of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forms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sample space (i.e., they are mutually exclusive and cover all possibilities) and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any event in the sample space.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Then,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=    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∪         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∪           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∪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+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 +       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+  </m:t>
                    </m:r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     </m:t>
                    </m:r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(now apply conditional probability)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+ … + 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BFD331-EE0C-F00A-8CD7-24D476372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3487"/>
                <a:ext cx="12192000" cy="6570453"/>
              </a:xfrm>
              <a:prstGeom prst="rect">
                <a:avLst/>
              </a:prstGeom>
              <a:blipFill>
                <a:blip r:embed="rId2"/>
                <a:stretch>
                  <a:fillRect l="-800" t="-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CE421C-9EDD-AF96-8E6D-216D254FADAF}"/>
                  </a:ext>
                </a:extLst>
              </p:cNvPr>
              <p:cNvSpPr txBox="1"/>
              <p:nvPr/>
            </p:nvSpPr>
            <p:spPr>
              <a:xfrm>
                <a:off x="8587045" y="-12719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CE421C-9EDD-AF96-8E6D-216D254FA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045" y="-12719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F8E5FAC6-8C52-4E36-8959-5698FD6CA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1" y="1165948"/>
            <a:ext cx="3067877" cy="14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8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8387-816A-4C2B-045B-8CCC3660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3853E8-7E4D-C089-5E30-09581273879B}"/>
              </a:ext>
            </a:extLst>
          </p:cNvPr>
          <p:cNvSpPr txBox="1"/>
          <p:nvPr/>
        </p:nvSpPr>
        <p:spPr>
          <a:xfrm>
            <a:off x="0" y="373487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Law of Total Probability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Because sometimes we are given conditional probability, P(B|A), and P(A), and we have to find P(B).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A500FC-10B3-D2B0-E986-6B38C74ECA79}"/>
                  </a:ext>
                </a:extLst>
              </p:cNvPr>
              <p:cNvSpPr txBox="1"/>
              <p:nvPr/>
            </p:nvSpPr>
            <p:spPr>
              <a:xfrm>
                <a:off x="8587045" y="-12719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A500FC-10B3-D2B0-E986-6B38C74EC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045" y="-127191"/>
                <a:ext cx="2529840" cy="672172"/>
              </a:xfrm>
              <a:prstGeom prst="rect">
                <a:avLst/>
              </a:prstGeom>
              <a:blipFill>
                <a:blip r:embed="rId2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0FC581D-FDD0-FE43-39F6-4F19FC34F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727" y="2546692"/>
            <a:ext cx="3067877" cy="14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1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1DCC-13F4-14EB-7923-3817737C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A1AFBC-B334-B20A-EE4E-5BCD4AA215D3}"/>
                  </a:ext>
                </a:extLst>
              </p:cNvPr>
              <p:cNvSpPr txBox="1"/>
              <p:nvPr/>
            </p:nvSpPr>
            <p:spPr>
              <a:xfrm>
                <a:off x="243840" y="1072970"/>
                <a:ext cx="10557094" cy="3048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1% of people have a certain disease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test detects the disease correctly 99% of the time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test gives a false positive 2% of the time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a given test result is positive.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A1AFBC-B334-B20A-EE4E-5BCD4AA21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072970"/>
                <a:ext cx="10557094" cy="3048207"/>
              </a:xfrm>
              <a:prstGeom prst="rect">
                <a:avLst/>
              </a:prstGeom>
              <a:blipFill>
                <a:blip r:embed="rId2"/>
                <a:stretch>
                  <a:fillRect l="-866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BC957FC-4E4F-0352-8196-B4BA47FE4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176" y="3219046"/>
            <a:ext cx="3447792" cy="20045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4834E43-2816-B8D5-4117-C2FFBD18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60824-1B09-3D68-BE88-2F5CE4B98441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60824-1B09-3D68-BE88-2F5CE4B98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46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5805-ADD4-62B1-E5C8-8DCC6644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0963F2-8A3E-02C2-37A2-1CDD4900990A}"/>
                  </a:ext>
                </a:extLst>
              </p:cNvPr>
              <p:cNvSpPr txBox="1"/>
              <p:nvPr/>
            </p:nvSpPr>
            <p:spPr>
              <a:xfrm>
                <a:off x="243840" y="1072970"/>
                <a:ext cx="10557094" cy="5637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Here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   is an event that person has disease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complementary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event that person does not have the disease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D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sample space.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can apply the Law of Total Probability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P(Positive) =  P(Positive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D)           +    P(Positive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= P(Positive ∣ D) x P(D)  +  P(Positive 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x 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= 0.99 x 0.01                  +      0.02 x 0.99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= 0.0297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0963F2-8A3E-02C2-37A2-1CDD4900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072970"/>
                <a:ext cx="10557094" cy="5637184"/>
              </a:xfrm>
              <a:prstGeom prst="rect">
                <a:avLst/>
              </a:prstGeom>
              <a:blipFill>
                <a:blip r:embed="rId3"/>
                <a:stretch>
                  <a:fillRect l="-866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EA9A7D-6D3F-306F-706B-15BA6CABF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952" y="2426735"/>
            <a:ext cx="3447792" cy="200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F8091-502E-CFBD-968C-951C13849924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F8091-502E-CFBD-968C-951C1384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5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71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9432-61C3-EE31-51B8-D178035F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AE9FD-A4E3-C461-1B4D-622EFE36FA1A}"/>
                  </a:ext>
                </a:extLst>
              </p:cNvPr>
              <p:cNvSpPr txBox="1"/>
              <p:nvPr/>
            </p:nvSpPr>
            <p:spPr>
              <a:xfrm>
                <a:off x="243840" y="1072970"/>
                <a:ext cx="8845296" cy="3417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S be the event that email is spam and W be the event that email contains word “win” in it.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30% of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emails are spam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S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80% of spam emails contain the word “win”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10% of non-spam emails contain the word “win”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an email contains “win”.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AE9FD-A4E3-C461-1B4D-622EFE36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072970"/>
                <a:ext cx="8845296" cy="3417539"/>
              </a:xfrm>
              <a:prstGeom prst="rect">
                <a:avLst/>
              </a:prstGeom>
              <a:blipFill>
                <a:blip r:embed="rId2"/>
                <a:stretch>
                  <a:fillRect l="-1034" t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7B45623-DD9A-9FC6-8F34-10DF8F8D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32F9A2-1F9A-762A-110D-42F195983820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32F9A2-1F9A-762A-110D-42F195983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640BF93-1F4C-A706-33C5-3EBFF9776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156" y="1615684"/>
            <a:ext cx="2896004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5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E9D2-F88B-014D-481C-415690B2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AA555F-6E02-3AD8-E2B1-68312F0A510B}"/>
                  </a:ext>
                </a:extLst>
              </p:cNvPr>
              <p:cNvSpPr txBox="1"/>
              <p:nvPr/>
            </p:nvSpPr>
            <p:spPr>
              <a:xfrm>
                <a:off x="243840" y="1072970"/>
                <a:ext cx="8845296" cy="4527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sample space.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we can apply the Law of Total Probability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P(W)  = P(W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S)           +    P(W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= P(W ∣ S) x P(S)  +  P(W 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x 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= 0.8 x 0.3            +      0.1 x 0.7 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= 0.31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AA555F-6E02-3AD8-E2B1-68312F0A5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072970"/>
                <a:ext cx="8845296" cy="4527971"/>
              </a:xfrm>
              <a:prstGeom prst="rect">
                <a:avLst/>
              </a:prstGeom>
              <a:blipFill>
                <a:blip r:embed="rId2"/>
                <a:stretch>
                  <a:fillRect l="-1034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2884ED7-133B-3FA2-108F-C43C2FEC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5322C0-2E72-7F6F-E953-6C86765CC437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5322C0-2E72-7F6F-E953-6C86765CC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2B86F8B-D799-E891-33B3-FCB5AAAE7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156" y="1615684"/>
            <a:ext cx="2896004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89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CFC0-6F76-5259-9ABA-67047EF1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5751E8-38B2-21C0-9C8D-01B76FFF676A}"/>
              </a:ext>
            </a:extLst>
          </p:cNvPr>
          <p:cNvSpPr txBox="1"/>
          <p:nvPr/>
        </p:nvSpPr>
        <p:spPr>
          <a:xfrm>
            <a:off x="243839" y="734642"/>
            <a:ext cx="118262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Suppose we have following 3 bags containing red and yellow balls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1: </a:t>
            </a:r>
            <a:r>
              <a:rPr lang="en-US" sz="2400" dirty="0">
                <a:solidFill>
                  <a:srgbClr val="FF0000"/>
                </a:solidFill>
              </a:rPr>
              <a:t>2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3 yellow balls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2: </a:t>
            </a:r>
            <a:r>
              <a:rPr lang="en-US" sz="2400" dirty="0">
                <a:solidFill>
                  <a:srgbClr val="FF0000"/>
                </a:solidFill>
              </a:rPr>
              <a:t>3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2 yellow balls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Bag 3: </a:t>
            </a:r>
            <a:r>
              <a:rPr lang="en-US" sz="2400" dirty="0">
                <a:solidFill>
                  <a:srgbClr val="FF0000"/>
                </a:solidFill>
              </a:rPr>
              <a:t>1 red balls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>
                <a:solidFill>
                  <a:srgbClr val="FFFF00"/>
                </a:solidFill>
              </a:rPr>
              <a:t>4 yellow balls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ball is randomly selected from a random bag, what is the probability that the ball is </a:t>
            </a:r>
            <a:r>
              <a:rPr lang="en-US" sz="2400" dirty="0">
                <a:solidFill>
                  <a:srgbClr val="FF0000"/>
                </a:solidFill>
              </a:rPr>
              <a:t>red 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8A2593-2F19-A6DB-437C-214C2FEA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CC938-7E92-5AB1-117A-BE79C87D430E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CC938-7E92-5AB1-117A-BE79C87D4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6EB5C4B-5A5A-E782-1C31-397A31D47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848" y="3174104"/>
            <a:ext cx="3881245" cy="190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1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E9D7-301F-CEAE-A936-797DB18D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C112C-0B1A-69A6-5B78-37A2CCF42D5A}"/>
                  </a:ext>
                </a:extLst>
              </p:cNvPr>
              <p:cNvSpPr txBox="1"/>
              <p:nvPr/>
            </p:nvSpPr>
            <p:spPr>
              <a:xfrm>
                <a:off x="243840" y="734642"/>
                <a:ext cx="10180320" cy="6051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 we have following 3 bags containing red and yellow balls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Bag 1: </a:t>
                </a:r>
                <a:r>
                  <a:rPr lang="en-US" dirty="0">
                    <a:solidFill>
                      <a:srgbClr val="FF0000"/>
                    </a:solidFill>
                  </a:rPr>
                  <a:t>2 red balls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:r>
                  <a:rPr lang="en-US" dirty="0">
                    <a:solidFill>
                      <a:srgbClr val="FFFF00"/>
                    </a:solidFill>
                  </a:rPr>
                  <a:t>3 yellow balls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Bag 2: </a:t>
                </a:r>
                <a:r>
                  <a:rPr lang="en-US" dirty="0">
                    <a:solidFill>
                      <a:srgbClr val="FF0000"/>
                    </a:solidFill>
                  </a:rPr>
                  <a:t>3 red balls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:r>
                  <a:rPr lang="en-US" dirty="0">
                    <a:solidFill>
                      <a:srgbClr val="FFFF00"/>
                    </a:solidFill>
                  </a:rPr>
                  <a:t>2 yellow balls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Bag 3: </a:t>
                </a:r>
                <a:r>
                  <a:rPr lang="en-US" dirty="0">
                    <a:solidFill>
                      <a:srgbClr val="FF0000"/>
                    </a:solidFill>
                  </a:rPr>
                  <a:t>1 red balls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:r>
                  <a:rPr lang="en-US" dirty="0">
                    <a:solidFill>
                      <a:srgbClr val="FFFF00"/>
                    </a:solidFill>
                  </a:rPr>
                  <a:t>4 yellow balls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a ball is randomly selected from a random bag, what is the probability that the ball is </a:t>
                </a:r>
                <a:r>
                  <a:rPr lang="en-US" dirty="0">
                    <a:solidFill>
                      <a:srgbClr val="FF0000"/>
                    </a:solidFill>
                  </a:rPr>
                  <a:t>red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Event that ball is selected from  bag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Event that ball is selected from  bag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Event that ball is selected from  bag 3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   : Event that the ball selected is </a:t>
                </a:r>
                <a:r>
                  <a:rPr lang="en-US" dirty="0">
                    <a:solidFill>
                      <a:srgbClr val="FF0000"/>
                    </a:solidFill>
                  </a:rPr>
                  <a:t>red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the red ball has to come from one these bags,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forms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sample space.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+       </m:t>
                    </m:r>
                    <m:r>
                      <a:rPr lang="en-US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,now apply conditional probability</a:t>
                </a: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      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C112C-0B1A-69A6-5B78-37A2CCF42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734642"/>
                <a:ext cx="10180320" cy="6051337"/>
              </a:xfrm>
              <a:prstGeom prst="rect">
                <a:avLst/>
              </a:prstGeom>
              <a:blipFill>
                <a:blip r:embed="rId3"/>
                <a:stretch>
                  <a:fillRect l="-479" t="-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9C0C55A-53AE-035F-05C3-E3686F89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4BD5DC-C0F5-8D5F-20BD-AD9CE031D81A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4BD5DC-C0F5-8D5F-20BD-AD9CE031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8490D7F-7CC2-7325-264D-B749B6415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021" y="2263715"/>
            <a:ext cx="2379376" cy="11652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05CCA1-1BDA-2CAE-EB1E-B454C5B07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517" y="4123945"/>
            <a:ext cx="2321898" cy="13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7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6529-E360-CB8B-BC6E-85168404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325092-039C-9479-9B7B-9A655F018A3D}"/>
                  </a:ext>
                </a:extLst>
              </p:cNvPr>
              <p:cNvSpPr txBox="1"/>
              <p:nvPr/>
            </p:nvSpPr>
            <p:spPr>
              <a:xfrm>
                <a:off x="243840" y="826082"/>
                <a:ext cx="10557094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A person can commute to work in three different ways, depending on the weather: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unny day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Rainy day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Snowy day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Assume exactly one type of weather must occur each day.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probability of being late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Late</m:t>
                        </m:r>
                      </m:e>
                    </m:d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325092-039C-9479-9B7B-9A655F0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826082"/>
                <a:ext cx="10557094" cy="3416320"/>
              </a:xfrm>
              <a:prstGeom prst="rect">
                <a:avLst/>
              </a:prstGeom>
              <a:blipFill>
                <a:blip r:embed="rId2"/>
                <a:stretch>
                  <a:fillRect l="-462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66541C66-FA28-2303-C183-E3D0DBD9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A91038-63AE-6833-69DA-7659CCDF7975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A91038-63AE-6833-69DA-7659CCDF7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8A28D0F-A495-4DFE-9086-D483FB57A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047941"/>
                  </p:ext>
                </p:extLst>
              </p:nvPr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Sunny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​)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: Rainy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Snowy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8A28D0F-A495-4DFE-9086-D483FB57A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047941"/>
                  </p:ext>
                </p:extLst>
              </p:nvPr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6557" r="-38510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106557" r="-28185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106557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210000" r="-38510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210000" r="-28185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2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310000" r="-38510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310000" r="-28185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3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F18C5BA-642C-5284-D2D2-A2A1035DC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230" y="1287782"/>
            <a:ext cx="2768232" cy="15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80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6826-E6F7-EB67-257D-96138D0D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192C5-7A4C-AC62-1BB7-29AC78B04A36}"/>
                  </a:ext>
                </a:extLst>
              </p:cNvPr>
              <p:cNvSpPr txBox="1"/>
              <p:nvPr/>
            </p:nvSpPr>
            <p:spPr>
              <a:xfrm>
                <a:off x="243840" y="826082"/>
                <a:ext cx="10557094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A person can commute to work in three different ways, depending on the weather: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unny day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Rainy day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Snowy day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Assume exactly one type of weather must occur each day.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probability of being late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Late</m:t>
                        </m:r>
                      </m:e>
                    </m:d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These three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sample space because exactly one type of weather must occur each day. So, we can apply the Law of Total Probability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There’s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25% chance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person will be late overall, considering all weather conditions.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192C5-7A4C-AC62-1BB7-29AC78B04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826082"/>
                <a:ext cx="10557094" cy="5909310"/>
              </a:xfrm>
              <a:prstGeom prst="rect">
                <a:avLst/>
              </a:prstGeom>
              <a:blipFill>
                <a:blip r:embed="rId2"/>
                <a:stretch>
                  <a:fillRect l="-462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972D980A-2FE9-1187-7EFF-A2741AA3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89C69-5642-92AF-4821-D0E170E20953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89C69-5642-92AF-4821-D0E170E20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979ABA-AE13-DE90-2DE8-A2BB9BBCBD1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Sunny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​)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: Rainy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Snowy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979ABA-AE13-DE90-2DE8-A2BB9BBCBD1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6557" r="-38510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106557" r="-28185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106557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210000" r="-38510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210000" r="-28185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2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310000" r="-38510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310000" r="-28185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3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E0409A9-7A8E-C69E-23DC-9D4A5E26D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111" y="4735783"/>
            <a:ext cx="6541778" cy="1446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764F32-FFB7-8D2F-4CDA-8F1016C0C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230" y="1287782"/>
            <a:ext cx="2768232" cy="15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342E-18EB-5C02-5EDB-E8F4D75D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7D6A2-7767-FF56-2CD9-4CF0F936757B}"/>
                  </a:ext>
                </a:extLst>
              </p:cNvPr>
              <p:cNvSpPr txBox="1"/>
              <p:nvPr/>
            </p:nvSpPr>
            <p:spPr>
              <a:xfrm>
                <a:off x="243840" y="826082"/>
                <a:ext cx="10557094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A person can commute to work in three different ways, depending on the weather: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unny day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Rainy day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Snowy day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Assume exactly one type of weather must occur each day.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probability of being late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Late</m:t>
                        </m:r>
                      </m:e>
                    </m:d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These three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partition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sample space because exactly one type of weather must occur each day. So, we can apply the Law of Total Probability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There’s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25% chance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person will be late overall, considering all weather conditions.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7D6A2-7767-FF56-2CD9-4CF0F9367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826082"/>
                <a:ext cx="10557094" cy="5909310"/>
              </a:xfrm>
              <a:prstGeom prst="rect">
                <a:avLst/>
              </a:prstGeom>
              <a:blipFill>
                <a:blip r:embed="rId2"/>
                <a:stretch>
                  <a:fillRect l="-462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D754FE8-FF04-F54D-D519-01EDE724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A2A9CF-1763-52F0-2293-B4C8D8ECD1D5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A2A9CF-1763-52F0-2293-B4C8D8ECD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083221-86C2-6EA0-FCC8-18F30B3B342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Sunny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​)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: Rainy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Snowy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P(Late∣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 = 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083221-86C2-6EA0-FCC8-18F30B3B342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761014"/>
              <a:ext cx="6943344" cy="1463040"/>
            </p:xfrm>
            <a:graphic>
              <a:graphicData uri="http://schemas.openxmlformats.org/drawingml/2006/table">
                <a:tbl>
                  <a:tblPr/>
                  <a:tblGrid>
                    <a:gridCol w="1429512">
                      <a:extLst>
                        <a:ext uri="{9D8B030D-6E8A-4147-A177-3AD203B41FA5}">
                          <a16:colId xmlns:a16="http://schemas.microsoft.com/office/drawing/2014/main" val="3783903933"/>
                        </a:ext>
                      </a:extLst>
                    </a:gridCol>
                    <a:gridCol w="1444752">
                      <a:extLst>
                        <a:ext uri="{9D8B030D-6E8A-4147-A177-3AD203B41FA5}">
                          <a16:colId xmlns:a16="http://schemas.microsoft.com/office/drawing/2014/main" val="2630906638"/>
                        </a:ext>
                      </a:extLst>
                    </a:gridCol>
                    <a:gridCol w="4069080">
                      <a:extLst>
                        <a:ext uri="{9D8B030D-6E8A-4147-A177-3AD203B41FA5}">
                          <a16:colId xmlns:a16="http://schemas.microsoft.com/office/drawing/2014/main" val="31661066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Probability of being late given the event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05233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6557" r="-38510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106557" r="-28185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106557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6689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210000" r="-38510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210000" r="-28185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2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7231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310000" r="-38510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156" t="-310000" r="-28185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659" t="-3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5664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E409B3A-9C2F-9866-4265-D9993A3FF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111" y="4735783"/>
            <a:ext cx="6541778" cy="1446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09905-F954-D809-760D-A810FEC54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230" y="1287782"/>
            <a:ext cx="2768232" cy="15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34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24385-6E01-EDF9-48CE-EB6D5360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32C0D5-8BB9-1246-F405-C3485443DE24}"/>
              </a:ext>
            </a:extLst>
          </p:cNvPr>
          <p:cNvSpPr txBox="1"/>
          <p:nvPr/>
        </p:nvSpPr>
        <p:spPr>
          <a:xfrm>
            <a:off x="243840" y="1072970"/>
            <a:ext cx="10557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9EA4D7-6561-E75C-C758-6AACD11F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285D2-BDB4-0BDF-D78F-A674BC7A6F38}"/>
                  </a:ext>
                </a:extLst>
              </p:cNvPr>
              <p:cNvSpPr txBox="1"/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6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285D2-BDB4-0BDF-D78F-A674BC7A6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7" y="37401"/>
                <a:ext cx="2529840" cy="672172"/>
              </a:xfrm>
              <a:prstGeom prst="rect">
                <a:avLst/>
              </a:prstGeom>
              <a:blipFill>
                <a:blip r:embed="rId2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89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4287-0908-F582-DBCC-E591C5C6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1847BC-8786-2206-09F6-BF437E468E1B}"/>
              </a:ext>
            </a:extLst>
          </p:cNvPr>
          <p:cNvSpPr txBox="1"/>
          <p:nvPr/>
        </p:nvSpPr>
        <p:spPr>
          <a:xfrm>
            <a:off x="219456" y="1157699"/>
            <a:ext cx="1170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Jlkdfds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Flsdf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9BB295-0246-AA01-86DE-F1616060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Law Of Total Probability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5530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E467-05E1-2888-702D-1B198E28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0A1F79-7D28-E3FA-5074-A981C2D73580}"/>
              </a:ext>
            </a:extLst>
          </p:cNvPr>
          <p:cNvSpPr txBox="1"/>
          <p:nvPr/>
        </p:nvSpPr>
        <p:spPr>
          <a:xfrm>
            <a:off x="219456" y="1157699"/>
            <a:ext cx="1170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Jlkdfds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Flsdf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ABF775-FF0B-9C2C-7E43-2A088606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Extra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10A9D8-1F7C-119A-CD9F-F99483D2B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503" y="4938195"/>
            <a:ext cx="2867425" cy="762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096D97-7EA8-FC27-7284-1C66CA183951}"/>
                  </a:ext>
                </a:extLst>
              </p:cNvPr>
              <p:cNvSpPr txBox="1"/>
              <p:nvPr/>
            </p:nvSpPr>
            <p:spPr>
              <a:xfrm>
                <a:off x="3950208" y="3671316"/>
                <a:ext cx="2817181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096D97-7EA8-FC27-7284-1C66CA18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208" y="3671316"/>
                <a:ext cx="2817181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51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1450</TotalTime>
  <Words>1379</Words>
  <Application>Microsoft Office PowerPoint</Application>
  <PresentationFormat>Widescreen</PresentationFormat>
  <Paragraphs>216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Symbol</vt:lpstr>
      <vt:lpstr>Wingdings</vt:lpstr>
      <vt:lpstr>Office Theme</vt:lpstr>
      <vt:lpstr>Law Of Total Probability</vt:lpstr>
      <vt:lpstr>PowerPoint Presentation</vt:lpstr>
      <vt:lpstr>PowerPoint Presentation</vt:lpstr>
      <vt:lpstr>Law Of Total Probability</vt:lpstr>
      <vt:lpstr>PowerPoint Presentation</vt:lpstr>
      <vt:lpstr>Law Of Total Probability</vt:lpstr>
      <vt:lpstr>Law Of Total Probability</vt:lpstr>
      <vt:lpstr>Law Of Total Probability</vt:lpstr>
      <vt:lpstr>Law Of Total Probability</vt:lpstr>
      <vt:lpstr>Law Of Total Probability</vt:lpstr>
      <vt:lpstr>Law Of Total Probability</vt:lpstr>
      <vt:lpstr>Law Of Total Probability</vt:lpstr>
      <vt:lpstr>Law Of Total Probability</vt:lpstr>
      <vt:lpstr>Law Of Total Probability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230</cp:revision>
  <dcterms:created xsi:type="dcterms:W3CDTF">2025-09-22T02:44:38Z</dcterms:created>
  <dcterms:modified xsi:type="dcterms:W3CDTF">2026-04-29T10:48:29Z</dcterms:modified>
</cp:coreProperties>
</file>