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311" r:id="rId2"/>
    <p:sldId id="305" r:id="rId3"/>
    <p:sldId id="301" r:id="rId4"/>
    <p:sldId id="307" r:id="rId5"/>
    <p:sldId id="302" r:id="rId6"/>
    <p:sldId id="308" r:id="rId7"/>
    <p:sldId id="306" r:id="rId8"/>
    <p:sldId id="310" r:id="rId9"/>
    <p:sldId id="303" r:id="rId10"/>
    <p:sldId id="309" r:id="rId11"/>
    <p:sldId id="312" r:id="rId12"/>
    <p:sldId id="304" r:id="rId13"/>
    <p:sldId id="282" r:id="rId14"/>
    <p:sldId id="29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B04693-6424-47C2-B763-AEA4CC3DEB22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125C4B-7D64-4F15-A04B-3D9FB737D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338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26609-9BF7-78E8-09CC-EBFD204CA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57DC58-989D-4F01-B0AF-B4C84D95B7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38FF7B-1694-CD1A-EC32-61069F7F0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B8128-175D-4F0B-0F95-8031F69EAE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8955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1596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0046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7E4F8-C45A-A52A-40D2-A10B331D1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FE3310-3E40-6E59-A916-144DB9B43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B62D75-27B3-41AE-F05F-2E908A3E3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11128-19C1-81F7-FB41-94E4BFDFB0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398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6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DB95B-DCD2-7F91-ABDB-AF2B10BD7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9FDCA56-97A7-2516-307D-A54CBB4BFA7E}"/>
              </a:ext>
            </a:extLst>
          </p:cNvPr>
          <p:cNvSpPr txBox="1"/>
          <p:nvPr/>
        </p:nvSpPr>
        <p:spPr>
          <a:xfrm>
            <a:off x="243840" y="734642"/>
            <a:ext cx="1018032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Suppose we have following 3 bags containing red and yellow balls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Bag 1: </a:t>
            </a:r>
            <a:r>
              <a:rPr lang="en-US" dirty="0">
                <a:solidFill>
                  <a:srgbClr val="FF0000"/>
                </a:solidFill>
              </a:rPr>
              <a:t>2 red balls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</a:t>
            </a:r>
            <a:r>
              <a:rPr lang="en-US" dirty="0">
                <a:solidFill>
                  <a:srgbClr val="FFFF00"/>
                </a:solidFill>
              </a:rPr>
              <a:t>3 yellow balls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Bag 2: </a:t>
            </a:r>
            <a:r>
              <a:rPr lang="en-US" dirty="0">
                <a:solidFill>
                  <a:srgbClr val="FF0000"/>
                </a:solidFill>
              </a:rPr>
              <a:t>3 red balls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</a:t>
            </a:r>
            <a:r>
              <a:rPr lang="en-US" dirty="0">
                <a:solidFill>
                  <a:srgbClr val="FFFF00"/>
                </a:solidFill>
              </a:rPr>
              <a:t>2 yellow balls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Bag 3: </a:t>
            </a:r>
            <a:r>
              <a:rPr lang="en-US" dirty="0">
                <a:solidFill>
                  <a:srgbClr val="FF0000"/>
                </a:solidFill>
              </a:rPr>
              <a:t>1 red balls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</a:t>
            </a:r>
            <a:r>
              <a:rPr lang="en-US" dirty="0">
                <a:solidFill>
                  <a:srgbClr val="FFFF00"/>
                </a:solidFill>
              </a:rPr>
              <a:t>4 yellow balls</a:t>
            </a:r>
          </a:p>
          <a:p>
            <a:endParaRPr lang="en-US" dirty="0">
              <a:solidFill>
                <a:srgbClr val="FFFF00"/>
              </a:solidFill>
            </a:endParaRPr>
          </a:p>
          <a:p>
            <a:endParaRPr lang="en-US" dirty="0">
              <a:solidFill>
                <a:srgbClr val="FFFF00"/>
              </a:solidFill>
            </a:endParaRPr>
          </a:p>
          <a:p>
            <a:endParaRPr lang="en-US" dirty="0">
              <a:solidFill>
                <a:srgbClr val="FFFF00"/>
              </a:solidFill>
            </a:endParaRPr>
          </a:p>
          <a:p>
            <a:endParaRPr lang="en-US" dirty="0">
              <a:solidFill>
                <a:srgbClr val="FFFF00"/>
              </a:solidFill>
            </a:endParaRPr>
          </a:p>
          <a:p>
            <a:endParaRPr lang="en-US" dirty="0">
              <a:solidFill>
                <a:srgbClr val="FFFF00"/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a ball is randomly selected from a random bag, what is the probability that the ball is </a:t>
            </a:r>
            <a:r>
              <a:rPr lang="en-US" dirty="0">
                <a:solidFill>
                  <a:srgbClr val="FF0000"/>
                </a:solidFill>
              </a:rPr>
              <a:t>red ?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C353363-7AFD-96D7-A9A6-447F9C1A3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CB85FD-F45F-0BD2-E048-D90D12DB5610}"/>
                  </a:ext>
                </a:extLst>
              </p:cNvPr>
              <p:cNvSpPr txBox="1"/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ECC938-7E92-5AB1-117A-BE79C87D43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3C66D155-2644-57DA-37A0-63905729B9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0300" y="1599043"/>
            <a:ext cx="4281137" cy="2096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547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D9442-6330-A73C-4EF7-CDC31BDD9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BFD331-EE0C-F00A-8CD7-24D476372A21}"/>
                  </a:ext>
                </a:extLst>
              </p:cNvPr>
              <p:cNvSpPr txBox="1"/>
              <p:nvPr/>
            </p:nvSpPr>
            <p:spPr>
              <a:xfrm>
                <a:off x="128016" y="910811"/>
                <a:ext cx="11923776" cy="58345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Suppose we  have set of events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that forms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partition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of the sample space (i.e., they are mutually exclusive and cover all possibilities) and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is any event in the sample space.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Then,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=    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   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   </m:t>
                    </m:r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     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…</m:t>
                    </m:r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   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</a:p>
              <a:p>
                <a:pPr marL="285750" indent="-285750">
                  <a:buFont typeface="Symbol" panose="05050102010706020507" pitchFamily="18" charset="2"/>
                  <a:buChar char="Þ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       +</m:t>
                    </m:r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</m:t>
                    </m:r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    +       </m:t>
                    </m:r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  + </m:t>
                    </m:r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+     </m:t>
                    </m:r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(</a:t>
                </a:r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now apply conditional probability)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285750" indent="-285750">
                  <a:buFont typeface="Symbol" panose="05050102010706020507" pitchFamily="18" charset="2"/>
                  <a:buChar char="Þ"/>
                </a:pP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285750" indent="-285750">
                  <a:buFont typeface="Symbol" panose="05050102010706020507" pitchFamily="18" charset="2"/>
                  <a:buChar char="Þ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  <m:sSub>
                          <m:sSubPr>
                            <m:ctrlP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  <m:sSub>
                          <m:sSubPr>
                            <m:ctrlP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  <m:sSub>
                          <m:sSubPr>
                            <m:ctrlP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+ … + </m:t>
                    </m:r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  <m:sSub>
                          <m:sSubPr>
                            <m:ctrlP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285750" indent="-285750">
                  <a:buFont typeface="Symbol" panose="05050102010706020507" pitchFamily="18" charset="2"/>
                  <a:buChar char="Þ"/>
                </a:pP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Why do we need Law of Total Probability ?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Answer: Because sometimes we are given conditional probability, P(B|A), and P(A), and we have to find P(B).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BFD331-EE0C-F00A-8CD7-24D476372A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16" y="910811"/>
                <a:ext cx="11923776" cy="5834546"/>
              </a:xfrm>
              <a:prstGeom prst="rect">
                <a:avLst/>
              </a:prstGeom>
              <a:blipFill>
                <a:blip r:embed="rId2"/>
                <a:stretch>
                  <a:fillRect l="-409" t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1">
            <a:extLst>
              <a:ext uri="{FF2B5EF4-FFF2-40B4-BE49-F238E27FC236}">
                <a16:creationId xmlns:a16="http://schemas.microsoft.com/office/drawing/2014/main" id="{9B6A8589-D479-8808-301E-AF5AEDE1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3CE421C-9EDD-AF96-8E6D-216D254FADAF}"/>
                  </a:ext>
                </a:extLst>
              </p:cNvPr>
              <p:cNvSpPr txBox="1"/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3CE421C-9EDD-AF96-8E6D-216D254FAD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F8E5FAC6-8C52-4E36-8959-5698FD6CA9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0795" y="1246912"/>
            <a:ext cx="3622266" cy="177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84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31DCC-13F4-14EB-7923-3817737C5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A1AFBC-B334-B20A-EE4E-5BCD4AA215D3}"/>
                  </a:ext>
                </a:extLst>
              </p:cNvPr>
              <p:cNvSpPr txBox="1"/>
              <p:nvPr/>
            </p:nvSpPr>
            <p:spPr>
              <a:xfrm>
                <a:off x="243840" y="1072970"/>
                <a:ext cx="10557094" cy="20322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Suppose: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1% of people have a certain disease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test detects the disease correctly 99% of the time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Positive</m:t>
                        </m:r>
                        <m:r>
                          <a:rPr lang="en-US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test gives a false positive 2% of the time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Positive</m:t>
                        </m:r>
                        <m:r>
                          <a:rPr lang="en-US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p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02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that a given test result is positive.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5A1AFBC-B334-B20A-EE4E-5BCD4AA215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1072970"/>
                <a:ext cx="10557094" cy="2032223"/>
              </a:xfrm>
              <a:prstGeom prst="rect">
                <a:avLst/>
              </a:prstGeom>
              <a:blipFill>
                <a:blip r:embed="rId2"/>
                <a:stretch>
                  <a:fillRect l="-462" t="-1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BBC957FC-4E4F-0352-8196-B4BA47FE4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368" y="1424470"/>
            <a:ext cx="3447792" cy="200453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4834E43-2816-B8D5-4117-C2FFBD185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E60824-1B09-3D68-BE88-2F5CE4B98441}"/>
                  </a:ext>
                </a:extLst>
              </p:cNvPr>
              <p:cNvSpPr txBox="1"/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E60824-1B09-3D68-BE88-2F5CE4B98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461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85805-ADD4-62B1-E5C8-8DCC6644E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0963F2-8A3E-02C2-37A2-1CDD4900990A}"/>
                  </a:ext>
                </a:extLst>
              </p:cNvPr>
              <p:cNvSpPr txBox="1"/>
              <p:nvPr/>
            </p:nvSpPr>
            <p:spPr>
              <a:xfrm>
                <a:off x="243840" y="1072970"/>
                <a:ext cx="10557094" cy="61907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Suppose: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1% of people have a certain disease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test detects the disease correctly 99% of the time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Positive</m:t>
                        </m:r>
                        <m:r>
                          <a:rPr lang="en-US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test gives a false positive 2% of the time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Positive</m:t>
                        </m:r>
                        <m:r>
                          <a:rPr lang="en-US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p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02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that a given test result is positive.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Here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D   is an event that person has disease</a:t>
                </a:r>
              </a:p>
              <a:p>
                <a:pPr/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is the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complementary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event that person does not have the disease</a:t>
                </a:r>
              </a:p>
              <a:p>
                <a:pPr/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D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partition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sample space.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We can apply the Law of Total Probability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P(Positive) =  P(Positive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D)           +    P(Positive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= P(Positive ∣ D) x P(D)  +  P(Positive ∣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 x P(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= 0.99 x 0.01                  +      0.02 x 0.99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= 0.0297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0963F2-8A3E-02C2-37A2-1CDD490099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1072970"/>
                <a:ext cx="10557094" cy="6190797"/>
              </a:xfrm>
              <a:prstGeom prst="rect">
                <a:avLst/>
              </a:prstGeom>
              <a:blipFill>
                <a:blip r:embed="rId3"/>
                <a:stretch>
                  <a:fillRect l="-462" t="-4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EFEA9A7D-6D3F-306F-706B-15BA6CABFC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0368" y="1424470"/>
            <a:ext cx="3447792" cy="200453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9369FE71-30AC-0018-9039-3FFF32BD8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5FF8091-502E-CFBD-968C-951C13849924}"/>
                  </a:ext>
                </a:extLst>
              </p:cNvPr>
              <p:cNvSpPr txBox="1"/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5FF8091-502E-CFBD-968C-951C1384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blipFill>
                <a:blip r:embed="rId5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3716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9432-61C3-EE31-51B8-D178035F7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6AE9FD-A4E3-C461-1B4D-622EFE36FA1A}"/>
                  </a:ext>
                </a:extLst>
              </p:cNvPr>
              <p:cNvSpPr txBox="1"/>
              <p:nvPr/>
            </p:nvSpPr>
            <p:spPr>
              <a:xfrm>
                <a:off x="243840" y="1072970"/>
                <a:ext cx="8845296" cy="20322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Let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 be the event that email is spam and W be the event that email contains word “win” in it.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 30% of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emails are spam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S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80% of spam emails contain the word “win”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p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10% of non-spam emails contain the word “win”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Find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</m:oMath>
                </a14:m>
                <a:r>
                  <a:rPr lang="ar-AE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Probability that an email contains “win”.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6AE9FD-A4E3-C461-1B4D-622EFE36F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1072970"/>
                <a:ext cx="8845296" cy="2032223"/>
              </a:xfrm>
              <a:prstGeom prst="rect">
                <a:avLst/>
              </a:prstGeom>
              <a:blipFill>
                <a:blip r:embed="rId2"/>
                <a:stretch>
                  <a:fillRect l="-551" t="-1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A7B45623-DD9A-9FC6-8F34-10DF8F8D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F32F9A2-1F9A-762A-110D-42F195983820}"/>
                  </a:ext>
                </a:extLst>
              </p:cNvPr>
              <p:cNvSpPr txBox="1"/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F32F9A2-1F9A-762A-110D-42F1959838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4640BF93-1F4C-A706-33C5-3EBFF9776F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156" y="1615684"/>
            <a:ext cx="2896004" cy="196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356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AE9D2-F88B-014D-481C-415690B2F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1AA555F-6E02-3AD8-E2B1-68312F0A510B}"/>
                  </a:ext>
                </a:extLst>
              </p:cNvPr>
              <p:cNvSpPr txBox="1"/>
              <p:nvPr/>
            </p:nvSpPr>
            <p:spPr>
              <a:xfrm>
                <a:off x="243840" y="1072970"/>
                <a:ext cx="8845296" cy="56359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Let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 be the event that email is spam and W be the event that email contains word “win” in it.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 30% of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emails are spam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S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80% of spam emails contain the word “win”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p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10% of non-spam emails contain the word “win”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Find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</m:oMath>
                </a14:m>
                <a:r>
                  <a:rPr lang="ar-AE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Probability that an email contains “win”.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S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partition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sample space.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we can apply the Law of Total Probability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P(W)  = P(W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S)           +    P(W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= P(W ∣ S) x P(S)  +  P(W ∣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 x P(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)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= 0.8 x 0.3            +      0.1 x 0.7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= 0.31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1AA555F-6E02-3AD8-E2B1-68312F0A51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1072970"/>
                <a:ext cx="8845296" cy="5635902"/>
              </a:xfrm>
              <a:prstGeom prst="rect">
                <a:avLst/>
              </a:prstGeom>
              <a:blipFill>
                <a:blip r:embed="rId2"/>
                <a:stretch>
                  <a:fillRect l="-551" t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32884ED7-133B-3FA2-108F-C43C2FEC3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5322C0-2E72-7F6F-E953-6C86765CC437}"/>
                  </a:ext>
                </a:extLst>
              </p:cNvPr>
              <p:cNvSpPr txBox="1"/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5322C0-2E72-7F6F-E953-6C86765CC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F2B86F8B-D799-E891-33B3-FCB5AAAE7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156" y="1615684"/>
            <a:ext cx="2896004" cy="196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189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ECFC0-6F76-5259-9ABA-67047EF10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65751E8-38B2-21C0-9C8D-01B76FFF676A}"/>
              </a:ext>
            </a:extLst>
          </p:cNvPr>
          <p:cNvSpPr txBox="1"/>
          <p:nvPr/>
        </p:nvSpPr>
        <p:spPr>
          <a:xfrm>
            <a:off x="243840" y="734642"/>
            <a:ext cx="101803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Suppose we have following 3 bags containing red and yellow balls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Bag 1: </a:t>
            </a:r>
            <a:r>
              <a:rPr lang="en-US" dirty="0">
                <a:solidFill>
                  <a:srgbClr val="FF0000"/>
                </a:solidFill>
              </a:rPr>
              <a:t>2 red balls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</a:t>
            </a:r>
            <a:r>
              <a:rPr lang="en-US" dirty="0">
                <a:solidFill>
                  <a:srgbClr val="FFFF00"/>
                </a:solidFill>
              </a:rPr>
              <a:t>3 yellow balls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Bag 2: </a:t>
            </a:r>
            <a:r>
              <a:rPr lang="en-US" dirty="0">
                <a:solidFill>
                  <a:srgbClr val="FF0000"/>
                </a:solidFill>
              </a:rPr>
              <a:t>3 red balls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</a:t>
            </a:r>
            <a:r>
              <a:rPr lang="en-US" dirty="0">
                <a:solidFill>
                  <a:srgbClr val="FFFF00"/>
                </a:solidFill>
              </a:rPr>
              <a:t>2 yellow balls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Bag 3: </a:t>
            </a:r>
            <a:r>
              <a:rPr lang="en-US" dirty="0">
                <a:solidFill>
                  <a:srgbClr val="FF0000"/>
                </a:solidFill>
              </a:rPr>
              <a:t>1 red balls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</a:t>
            </a:r>
            <a:r>
              <a:rPr lang="en-US" dirty="0">
                <a:solidFill>
                  <a:srgbClr val="FFFF00"/>
                </a:solidFill>
              </a:rPr>
              <a:t>4 yellow balls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a ball is randomly selected from a random bag, what is the probability that the ball is </a:t>
            </a:r>
            <a:r>
              <a:rPr lang="en-US" dirty="0">
                <a:solidFill>
                  <a:srgbClr val="FF0000"/>
                </a:solidFill>
              </a:rPr>
              <a:t>red ?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B8A2593-2F19-A6DB-437C-214C2FEA8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ECC938-7E92-5AB1-117A-BE79C87D430E}"/>
                  </a:ext>
                </a:extLst>
              </p:cNvPr>
              <p:cNvSpPr txBox="1"/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ECC938-7E92-5AB1-117A-BE79C87D43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46EB5C4B-5A5A-E782-1C31-397A31D47F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5021" y="2263715"/>
            <a:ext cx="2379376" cy="116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914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FE9D7-301F-CEAE-A936-797DB18D7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BC112C-0B1A-69A6-5B78-37A2CCF42D5A}"/>
                  </a:ext>
                </a:extLst>
              </p:cNvPr>
              <p:cNvSpPr txBox="1"/>
              <p:nvPr/>
            </p:nvSpPr>
            <p:spPr>
              <a:xfrm>
                <a:off x="243840" y="734642"/>
                <a:ext cx="10180320" cy="60513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Suppose we have following 3 bags containing red and yellow balls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Bag 1: </a:t>
                </a:r>
                <a:r>
                  <a:rPr lang="en-US" dirty="0">
                    <a:solidFill>
                      <a:srgbClr val="FF0000"/>
                    </a:solidFill>
                  </a:rPr>
                  <a:t>2 red balls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and </a:t>
                </a:r>
                <a:r>
                  <a:rPr lang="en-US" dirty="0">
                    <a:solidFill>
                      <a:srgbClr val="FFFF00"/>
                    </a:solidFill>
                  </a:rPr>
                  <a:t>3 yellow balls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Bag 2: </a:t>
                </a:r>
                <a:r>
                  <a:rPr lang="en-US" dirty="0">
                    <a:solidFill>
                      <a:srgbClr val="FF0000"/>
                    </a:solidFill>
                  </a:rPr>
                  <a:t>3 red balls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and </a:t>
                </a:r>
                <a:r>
                  <a:rPr lang="en-US" dirty="0">
                    <a:solidFill>
                      <a:srgbClr val="FFFF00"/>
                    </a:solidFill>
                  </a:rPr>
                  <a:t>2 yellow balls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Bag 3: </a:t>
                </a:r>
                <a:r>
                  <a:rPr lang="en-US" dirty="0">
                    <a:solidFill>
                      <a:srgbClr val="FF0000"/>
                    </a:solidFill>
                  </a:rPr>
                  <a:t>1 red balls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and </a:t>
                </a:r>
                <a:r>
                  <a:rPr lang="en-US" dirty="0">
                    <a:solidFill>
                      <a:srgbClr val="FFFF00"/>
                    </a:solidFill>
                  </a:rPr>
                  <a:t>4 yellow balls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If a ball is randomly selected from a random bag, what is the probability that the ball is </a:t>
                </a:r>
                <a:r>
                  <a:rPr lang="en-US" dirty="0">
                    <a:solidFill>
                      <a:srgbClr val="FF0000"/>
                    </a:solidFill>
                  </a:rPr>
                  <a:t>red ?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Let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 Event that ball is selected from  bag 1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 Event that ball is selected from  bag 2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 Event that ball is selected from  bag 3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R   : Event that the ball selected is </a:t>
                </a:r>
                <a:r>
                  <a:rPr lang="en-US" dirty="0">
                    <a:solidFill>
                      <a:srgbClr val="FF0000"/>
                    </a:solidFill>
                  </a:rPr>
                  <a:t>red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Since the red ball has to come from one these bags,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forms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partition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of the sample space.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   </m:t>
                    </m:r>
                    <m:r>
                      <a:rPr lang="en-US" b="0" i="0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</m:t>
                    </m:r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   +       </m:t>
                    </m:r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,now apply conditional probability</a:t>
                </a:r>
              </a:p>
              <a:p>
                <a:endParaRPr lang="en-US" sz="1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   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    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          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BC112C-0B1A-69A6-5B78-37A2CCF42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734642"/>
                <a:ext cx="10180320" cy="6051337"/>
              </a:xfrm>
              <a:prstGeom prst="rect">
                <a:avLst/>
              </a:prstGeom>
              <a:blipFill>
                <a:blip r:embed="rId3"/>
                <a:stretch>
                  <a:fillRect l="-479" t="-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D9C0C55A-53AE-035F-05C3-E3686F894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84BD5DC-C0F5-8D5F-20BD-AD9CE031D81A}"/>
                  </a:ext>
                </a:extLst>
              </p:cNvPr>
              <p:cNvSpPr txBox="1"/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84BD5DC-C0F5-8D5F-20BD-AD9CE031D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8490D7F-7CC2-7325-264D-B749B6415E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5021" y="2263715"/>
            <a:ext cx="2379376" cy="116528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405CCA1-1BDA-2CAE-EB1E-B454C5B076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6517" y="4123945"/>
            <a:ext cx="2321898" cy="133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772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E6529-E360-CB8B-BC6E-851684046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7325092-039C-9479-9B7B-9A655F018A3D}"/>
                  </a:ext>
                </a:extLst>
              </p:cNvPr>
              <p:cNvSpPr txBox="1"/>
              <p:nvPr/>
            </p:nvSpPr>
            <p:spPr>
              <a:xfrm>
                <a:off x="243840" y="826082"/>
                <a:ext cx="10557094" cy="3416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A person can commute to work in three different ways, depending on the weather: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 S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unny day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 Rainy day     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 Snowy day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Assume exactly one type of weather must occur each day.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Find the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total probability of being late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Late</m:t>
                        </m:r>
                      </m:e>
                    </m:d>
                  </m:oMath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7325092-039C-9479-9B7B-9A655F018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826082"/>
                <a:ext cx="10557094" cy="3416320"/>
              </a:xfrm>
              <a:prstGeom prst="rect">
                <a:avLst/>
              </a:prstGeom>
              <a:blipFill>
                <a:blip r:embed="rId2"/>
                <a:stretch>
                  <a:fillRect l="-462" t="-1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66541C66-FA28-2303-C183-E3D0DBD9E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CA91038-63AE-6833-69DA-7659CCDF7975}"/>
                  </a:ext>
                </a:extLst>
              </p:cNvPr>
              <p:cNvSpPr txBox="1"/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CA91038-63AE-6833-69DA-7659CCDF7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8A28D0F-A495-4DFE-9086-D483FB57A7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047941"/>
                  </p:ext>
                </p:extLst>
              </p:nvPr>
            </p:nvGraphicFramePr>
            <p:xfrm>
              <a:off x="838200" y="1761014"/>
              <a:ext cx="6943344" cy="1463040"/>
            </p:xfrm>
            <a:graphic>
              <a:graphicData uri="http://schemas.openxmlformats.org/drawingml/2006/table">
                <a:tbl>
                  <a:tblPr/>
                  <a:tblGrid>
                    <a:gridCol w="1429512">
                      <a:extLst>
                        <a:ext uri="{9D8B030D-6E8A-4147-A177-3AD203B41FA5}">
                          <a16:colId xmlns:a16="http://schemas.microsoft.com/office/drawing/2014/main" val="3783903933"/>
                        </a:ext>
                      </a:extLst>
                    </a:gridCol>
                    <a:gridCol w="1444752">
                      <a:extLst>
                        <a:ext uri="{9D8B030D-6E8A-4147-A177-3AD203B41FA5}">
                          <a16:colId xmlns:a16="http://schemas.microsoft.com/office/drawing/2014/main" val="2630906638"/>
                        </a:ext>
                      </a:extLst>
                    </a:gridCol>
                    <a:gridCol w="4069080">
                      <a:extLst>
                        <a:ext uri="{9D8B030D-6E8A-4147-A177-3AD203B41FA5}">
                          <a16:colId xmlns:a16="http://schemas.microsoft.com/office/drawing/2014/main" val="316610669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Event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Probability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Probability of being late given the event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3052337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ar-AE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: Sunny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ar-AE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0.6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P(Late∣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ar-AE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​) = 0.1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3366891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 : Rainy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0.3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P(Late∣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0.4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3272310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: Snowy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0.1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P(Late∣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0.7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015664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8A28D0F-A495-4DFE-9086-D483FB57A7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047941"/>
                  </p:ext>
                </p:extLst>
              </p:nvPr>
            </p:nvGraphicFramePr>
            <p:xfrm>
              <a:off x="838200" y="1761014"/>
              <a:ext cx="6943344" cy="1463040"/>
            </p:xfrm>
            <a:graphic>
              <a:graphicData uri="http://schemas.openxmlformats.org/drawingml/2006/table">
                <a:tbl>
                  <a:tblPr/>
                  <a:tblGrid>
                    <a:gridCol w="1429512">
                      <a:extLst>
                        <a:ext uri="{9D8B030D-6E8A-4147-A177-3AD203B41FA5}">
                          <a16:colId xmlns:a16="http://schemas.microsoft.com/office/drawing/2014/main" val="3783903933"/>
                        </a:ext>
                      </a:extLst>
                    </a:gridCol>
                    <a:gridCol w="1444752">
                      <a:extLst>
                        <a:ext uri="{9D8B030D-6E8A-4147-A177-3AD203B41FA5}">
                          <a16:colId xmlns:a16="http://schemas.microsoft.com/office/drawing/2014/main" val="2630906638"/>
                        </a:ext>
                      </a:extLst>
                    </a:gridCol>
                    <a:gridCol w="4069080">
                      <a:extLst>
                        <a:ext uri="{9D8B030D-6E8A-4147-A177-3AD203B41FA5}">
                          <a16:colId xmlns:a16="http://schemas.microsoft.com/office/drawing/2014/main" val="316610669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Event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Probability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Probability of being late given the event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3052337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106557" r="-385106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99156" t="-106557" r="-281857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70659" t="-106557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3366891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210000" r="-385106" b="-1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99156" t="-210000" r="-281857" b="-1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70659" t="-210000" b="-1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272310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310000" r="-385106" b="-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99156" t="-310000" r="-281857" b="-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70659" t="-310000" b="-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156649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AF18C5BA-642C-5284-D2D2-A2A1035DCA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9230" y="1287782"/>
            <a:ext cx="2768232" cy="157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9804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56826-E6F7-EB67-257D-96138D0DE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9192C5-7A4C-AC62-1BB7-29AC78B04A36}"/>
                  </a:ext>
                </a:extLst>
              </p:cNvPr>
              <p:cNvSpPr txBox="1"/>
              <p:nvPr/>
            </p:nvSpPr>
            <p:spPr>
              <a:xfrm>
                <a:off x="243840" y="826082"/>
                <a:ext cx="10557094" cy="5909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A person can commute to work in three different ways, depending on the weather: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 S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unny day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 Rainy day     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 Snowy day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Assume exactly one type of weather must occur each day.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Find the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total probability of being late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Late</m:t>
                        </m:r>
                      </m:e>
                    </m:d>
                  </m:oMath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These three events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form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partition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of the sample space because exactly one type of weather must occur each day. So, we can apply the Law of Total Probability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There’s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25% chance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person will be late overall, considering all weather conditions.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9192C5-7A4C-AC62-1BB7-29AC78B04A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826082"/>
                <a:ext cx="10557094" cy="5909310"/>
              </a:xfrm>
              <a:prstGeom prst="rect">
                <a:avLst/>
              </a:prstGeom>
              <a:blipFill>
                <a:blip r:embed="rId2"/>
                <a:stretch>
                  <a:fillRect l="-462" t="-619" b="-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972D980A-2FE9-1187-7EFF-A2741AA3D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89C69-5642-92AF-4821-D0E170E20953}"/>
                  </a:ext>
                </a:extLst>
              </p:cNvPr>
              <p:cNvSpPr txBox="1"/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89C69-5642-92AF-4821-D0E170E209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F979ABA-AE13-DE90-2DE8-A2BB9BBCBD1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1761014"/>
              <a:ext cx="6943344" cy="1463040"/>
            </p:xfrm>
            <a:graphic>
              <a:graphicData uri="http://schemas.openxmlformats.org/drawingml/2006/table">
                <a:tbl>
                  <a:tblPr/>
                  <a:tblGrid>
                    <a:gridCol w="1429512">
                      <a:extLst>
                        <a:ext uri="{9D8B030D-6E8A-4147-A177-3AD203B41FA5}">
                          <a16:colId xmlns:a16="http://schemas.microsoft.com/office/drawing/2014/main" val="3783903933"/>
                        </a:ext>
                      </a:extLst>
                    </a:gridCol>
                    <a:gridCol w="1444752">
                      <a:extLst>
                        <a:ext uri="{9D8B030D-6E8A-4147-A177-3AD203B41FA5}">
                          <a16:colId xmlns:a16="http://schemas.microsoft.com/office/drawing/2014/main" val="2630906638"/>
                        </a:ext>
                      </a:extLst>
                    </a:gridCol>
                    <a:gridCol w="4069080">
                      <a:extLst>
                        <a:ext uri="{9D8B030D-6E8A-4147-A177-3AD203B41FA5}">
                          <a16:colId xmlns:a16="http://schemas.microsoft.com/office/drawing/2014/main" val="316610669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Event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Probability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Probability of being late given the event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3052337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ar-AE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: Sunny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ar-AE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0.6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P(Late∣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ar-AE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​) = 0.1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3366891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 : Rainy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0.3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P(Late∣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0.4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3272310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: Snowy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0.1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P(Late∣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0.7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015664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F979ABA-AE13-DE90-2DE8-A2BB9BBCBD1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1761014"/>
              <a:ext cx="6943344" cy="1463040"/>
            </p:xfrm>
            <a:graphic>
              <a:graphicData uri="http://schemas.openxmlformats.org/drawingml/2006/table">
                <a:tbl>
                  <a:tblPr/>
                  <a:tblGrid>
                    <a:gridCol w="1429512">
                      <a:extLst>
                        <a:ext uri="{9D8B030D-6E8A-4147-A177-3AD203B41FA5}">
                          <a16:colId xmlns:a16="http://schemas.microsoft.com/office/drawing/2014/main" val="3783903933"/>
                        </a:ext>
                      </a:extLst>
                    </a:gridCol>
                    <a:gridCol w="1444752">
                      <a:extLst>
                        <a:ext uri="{9D8B030D-6E8A-4147-A177-3AD203B41FA5}">
                          <a16:colId xmlns:a16="http://schemas.microsoft.com/office/drawing/2014/main" val="2630906638"/>
                        </a:ext>
                      </a:extLst>
                    </a:gridCol>
                    <a:gridCol w="4069080">
                      <a:extLst>
                        <a:ext uri="{9D8B030D-6E8A-4147-A177-3AD203B41FA5}">
                          <a16:colId xmlns:a16="http://schemas.microsoft.com/office/drawing/2014/main" val="316610669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Event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Probability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Probability of being late given the event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3052337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106557" r="-385106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99156" t="-106557" r="-281857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70659" t="-106557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3366891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210000" r="-385106" b="-1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99156" t="-210000" r="-281857" b="-1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70659" t="-210000" b="-1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272310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310000" r="-385106" b="-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99156" t="-310000" r="-281857" b="-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70659" t="-310000" b="-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156649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E0409A9-7A8E-C69E-23DC-9D4A5E26D2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5111" y="4735783"/>
            <a:ext cx="6541778" cy="14462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F764F32-FFB7-8D2F-4CDA-8F1016C0C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9230" y="1287782"/>
            <a:ext cx="2768232" cy="157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18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C342E-18EB-5C02-5EDB-E8F4D75D8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67D6A2-7767-FF56-2CD9-4CF0F936757B}"/>
                  </a:ext>
                </a:extLst>
              </p:cNvPr>
              <p:cNvSpPr txBox="1"/>
              <p:nvPr/>
            </p:nvSpPr>
            <p:spPr>
              <a:xfrm>
                <a:off x="243840" y="826082"/>
                <a:ext cx="10557094" cy="59093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Problem: A person can commute to work in three different ways, depending on the weather: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 S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unny day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 Rainy day     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 Snowy day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Assume exactly one type of weather must occur each day.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Find the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total probability of being late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Late</m:t>
                        </m:r>
                      </m:e>
                    </m:d>
                  </m:oMath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These three events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form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partition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of the sample space because exactly one type of weather must occur each day. So, we can apply the Law of Total Probability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There’s a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25% chance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person will be late overall, considering all weather conditions.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67D6A2-7767-FF56-2CD9-4CF0F9367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826082"/>
                <a:ext cx="10557094" cy="5909310"/>
              </a:xfrm>
              <a:prstGeom prst="rect">
                <a:avLst/>
              </a:prstGeom>
              <a:blipFill>
                <a:blip r:embed="rId2"/>
                <a:stretch>
                  <a:fillRect l="-462" t="-619" b="-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3D754FE8-FF04-F54D-D519-01EDE724A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A2A9CF-1763-52F0-2293-B4C8D8ECD1D5}"/>
                  </a:ext>
                </a:extLst>
              </p:cNvPr>
              <p:cNvSpPr txBox="1"/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A2A9CF-1763-52F0-2293-B4C8D8ECD1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E083221-86C2-6EA0-FCC8-18F30B3B342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1761014"/>
              <a:ext cx="6943344" cy="1463040"/>
            </p:xfrm>
            <a:graphic>
              <a:graphicData uri="http://schemas.openxmlformats.org/drawingml/2006/table">
                <a:tbl>
                  <a:tblPr/>
                  <a:tblGrid>
                    <a:gridCol w="1429512">
                      <a:extLst>
                        <a:ext uri="{9D8B030D-6E8A-4147-A177-3AD203B41FA5}">
                          <a16:colId xmlns:a16="http://schemas.microsoft.com/office/drawing/2014/main" val="3783903933"/>
                        </a:ext>
                      </a:extLst>
                    </a:gridCol>
                    <a:gridCol w="1444752">
                      <a:extLst>
                        <a:ext uri="{9D8B030D-6E8A-4147-A177-3AD203B41FA5}">
                          <a16:colId xmlns:a16="http://schemas.microsoft.com/office/drawing/2014/main" val="2630906638"/>
                        </a:ext>
                      </a:extLst>
                    </a:gridCol>
                    <a:gridCol w="4069080">
                      <a:extLst>
                        <a:ext uri="{9D8B030D-6E8A-4147-A177-3AD203B41FA5}">
                          <a16:colId xmlns:a16="http://schemas.microsoft.com/office/drawing/2014/main" val="316610669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Event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Probability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Probability of being late given the event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3052337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ar-AE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: Sunny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ar-AE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0.6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P(Late∣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ar-AE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​) = 0.1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3366891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 : Rainy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0.3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P(Late∣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0.4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3272310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: Snowy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0.1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P(Late∣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i="1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) = 0.7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0156649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E083221-86C2-6EA0-FCC8-18F30B3B342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1761014"/>
              <a:ext cx="6943344" cy="1463040"/>
            </p:xfrm>
            <a:graphic>
              <a:graphicData uri="http://schemas.openxmlformats.org/drawingml/2006/table">
                <a:tbl>
                  <a:tblPr/>
                  <a:tblGrid>
                    <a:gridCol w="1429512">
                      <a:extLst>
                        <a:ext uri="{9D8B030D-6E8A-4147-A177-3AD203B41FA5}">
                          <a16:colId xmlns:a16="http://schemas.microsoft.com/office/drawing/2014/main" val="3783903933"/>
                        </a:ext>
                      </a:extLst>
                    </a:gridCol>
                    <a:gridCol w="1444752">
                      <a:extLst>
                        <a:ext uri="{9D8B030D-6E8A-4147-A177-3AD203B41FA5}">
                          <a16:colId xmlns:a16="http://schemas.microsoft.com/office/drawing/2014/main" val="2630906638"/>
                        </a:ext>
                      </a:extLst>
                    </a:gridCol>
                    <a:gridCol w="4069080">
                      <a:extLst>
                        <a:ext uri="{9D8B030D-6E8A-4147-A177-3AD203B41FA5}">
                          <a16:colId xmlns:a16="http://schemas.microsoft.com/office/drawing/2014/main" val="316610669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Event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Probability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b="1" u="sng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</a:rPr>
                            <a:t>Probability of being late given the event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3052337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106557" r="-385106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99156" t="-106557" r="-281857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70659" t="-106557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3366891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210000" r="-385106" b="-1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99156" t="-210000" r="-281857" b="-1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70659" t="-210000" b="-1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272310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310000" r="-385106" b="-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99156" t="-310000" r="-281857" b="-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l="-70659" t="-310000" b="-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156649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E409B3A-9C2F-9866-4265-D9993A3FFD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5111" y="4735783"/>
            <a:ext cx="6541778" cy="14462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7309905-F954-D809-760D-A810FEC548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9230" y="1287782"/>
            <a:ext cx="2768232" cy="157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734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24385-6E01-EDF9-48CE-EB6D53602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832C0D5-8BB9-1246-F405-C3485443DE24}"/>
              </a:ext>
            </a:extLst>
          </p:cNvPr>
          <p:cNvSpPr txBox="1"/>
          <p:nvPr/>
        </p:nvSpPr>
        <p:spPr>
          <a:xfrm>
            <a:off x="243840" y="1072970"/>
            <a:ext cx="105570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89EA4D7-6561-E75C-C758-6AACD11F1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2285D2-BDB4-0BDF-D78F-A674BC7A6F38}"/>
                  </a:ext>
                </a:extLst>
              </p:cNvPr>
              <p:cNvSpPr txBox="1"/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16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16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2285D2-BDB4-0BDF-D78F-A674BC7A6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1597" y="37401"/>
                <a:ext cx="2529840" cy="672172"/>
              </a:xfrm>
              <a:prstGeom prst="rect">
                <a:avLst/>
              </a:prstGeom>
              <a:blipFill>
                <a:blip r:embed="rId2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1898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54287-0908-F582-DBCC-E591C5C6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81847BC-8786-2206-09F6-BF437E468E1B}"/>
              </a:ext>
            </a:extLst>
          </p:cNvPr>
          <p:cNvSpPr txBox="1"/>
          <p:nvPr/>
        </p:nvSpPr>
        <p:spPr>
          <a:xfrm>
            <a:off x="219456" y="1157699"/>
            <a:ext cx="117043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Jlkdfds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Flsdf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\p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99BB295-0246-AA01-86DE-F16160607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Law Of Total Probability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635530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EE467-05E1-2888-702D-1B198E286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80A1F79-7D28-E3FA-5074-A981C2D73580}"/>
              </a:ext>
            </a:extLst>
          </p:cNvPr>
          <p:cNvSpPr txBox="1"/>
          <p:nvPr/>
        </p:nvSpPr>
        <p:spPr>
          <a:xfrm>
            <a:off x="219456" y="1157699"/>
            <a:ext cx="117043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Jlkdfds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Flsdf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\p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0ABF775-FF0B-9C2C-7E43-2A088606E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Extra</a:t>
            </a:r>
            <a:endParaRPr lang="en-US" sz="3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210A9D8-1F7C-119A-CD9F-F99483D2B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503" y="4938195"/>
            <a:ext cx="2867425" cy="76210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096D97-7EA8-FC27-7284-1C66CA183951}"/>
                  </a:ext>
                </a:extLst>
              </p:cNvPr>
              <p:cNvSpPr txBox="1"/>
              <p:nvPr/>
            </p:nvSpPr>
            <p:spPr>
              <a:xfrm>
                <a:off x="3950208" y="3671316"/>
                <a:ext cx="2817181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096D97-7EA8-FC27-7284-1C66CA183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0208" y="3671316"/>
                <a:ext cx="2817181" cy="7562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3517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1437</TotalTime>
  <Words>1523</Words>
  <Application>Microsoft Office PowerPoint</Application>
  <PresentationFormat>Widescreen</PresentationFormat>
  <Paragraphs>230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Calibri Light</vt:lpstr>
      <vt:lpstr>Cambria Math</vt:lpstr>
      <vt:lpstr>Symbol</vt:lpstr>
      <vt:lpstr>Wingdings</vt:lpstr>
      <vt:lpstr>Office Theme</vt:lpstr>
      <vt:lpstr>Law Of Total Probability</vt:lpstr>
      <vt:lpstr>Law Of Total Probability</vt:lpstr>
      <vt:lpstr>Law Of Total Probability</vt:lpstr>
      <vt:lpstr>Law Of Total Probability</vt:lpstr>
      <vt:lpstr>Law Of Total Probability</vt:lpstr>
      <vt:lpstr>Law Of Total Probability</vt:lpstr>
      <vt:lpstr>Law Of Total Probability</vt:lpstr>
      <vt:lpstr>Law Of Total Probability</vt:lpstr>
      <vt:lpstr>Law Of Total Probability</vt:lpstr>
      <vt:lpstr>Law Of Total Probability</vt:lpstr>
      <vt:lpstr>Law Of Total Probability</vt:lpstr>
      <vt:lpstr>Law Of Total Probability</vt:lpstr>
      <vt:lpstr>Law Of Total Probability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229</cp:revision>
  <dcterms:created xsi:type="dcterms:W3CDTF">2025-09-22T02:44:38Z</dcterms:created>
  <dcterms:modified xsi:type="dcterms:W3CDTF">2025-11-02T12:18:09Z</dcterms:modified>
</cp:coreProperties>
</file>