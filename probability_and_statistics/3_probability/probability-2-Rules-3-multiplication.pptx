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90" r:id="rId2"/>
    <p:sldId id="262" r:id="rId3"/>
    <p:sldId id="283" r:id="rId4"/>
    <p:sldId id="280" r:id="rId5"/>
    <p:sldId id="294" r:id="rId6"/>
    <p:sldId id="287" r:id="rId7"/>
    <p:sldId id="295" r:id="rId8"/>
    <p:sldId id="291" r:id="rId9"/>
    <p:sldId id="296" r:id="rId10"/>
    <p:sldId id="285" r:id="rId11"/>
    <p:sldId id="297" r:id="rId12"/>
    <p:sldId id="284" r:id="rId13"/>
    <p:sldId id="298" r:id="rId14"/>
    <p:sldId id="286" r:id="rId15"/>
    <p:sldId id="299" r:id="rId16"/>
    <p:sldId id="292" r:id="rId17"/>
    <p:sldId id="282" r:id="rId18"/>
    <p:sldId id="293" r:id="rId19"/>
    <p:sldId id="28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B04693-6424-47C2-B763-AEA4CC3DEB2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25C4B-7D64-4F15-A04B-3D9FB737D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38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972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2183F-2E2C-4B36-4421-EC3682250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195501-E0F7-540E-67B1-D64EF9BA2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01D35A-BE23-EE86-BF38-DEADD9A06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66D04-78D9-E295-54F2-2630F3D08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38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CB024-D7D9-BDAB-5C8A-291CF74BF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C83230-F2E6-99FA-D756-AB02CD64D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345BD6-CA2D-F570-098C-C77D65327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61F61-BCCC-CCD2-6562-A04657C9A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97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E1D5B-0CEF-AE2C-DE34-0861F8C18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18AD8-6143-1881-53A9-6203EF274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2F702-B7A1-D068-036C-640AE2A31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946F9-42F6-9D5A-9943-C8AC10EE4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995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95B6B-B6B9-D618-C1E0-C86381C7A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70A-A9C2-D215-6DC5-7A3AB6E2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Multiplication Rule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A5D83D-DBCF-540C-6F2A-D6A63A579F78}"/>
              </a:ext>
            </a:extLst>
          </p:cNvPr>
          <p:cNvSpPr txBox="1"/>
          <p:nvPr/>
        </p:nvSpPr>
        <p:spPr>
          <a:xfrm>
            <a:off x="219456" y="1157699"/>
            <a:ext cx="100675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You roll a die. Let’s define two events 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A: “The number is even.” → {2, 4, 6}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B: “The number is greater than 3.”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 {4, 5, 6}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these independent 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other words, are they related 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6CDEBE-8F6F-58D7-4F0F-30FD8381E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28" y="1732744"/>
            <a:ext cx="1392061" cy="148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41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2F5FC-E2C6-74E1-664A-1EBD427B6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7D829-E217-2970-F4BE-6EFBADA06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70266"/>
            <a:ext cx="11466576" cy="54899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Probability: Definition (Review)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A93741-4AFA-1FDA-600B-CE8C775A2C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" y="768096"/>
                <a:ext cx="12097512" cy="59436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Probability of an event E: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Or,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Here,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en-US" sz="1800" dirty="0"/>
                  <a:t> = number (size) of elements in event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1800" dirty="0"/>
                  <a:t>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en-US" sz="1800" dirty="0"/>
                  <a:t> = total number (size) of elements in sample space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Example: In 2-coin toss, what is the probability of getting </a:t>
                </a:r>
                <a:r>
                  <a:rPr lang="en-US" sz="1800" b="1" dirty="0"/>
                  <a:t>both heads</a:t>
                </a:r>
                <a:r>
                  <a:rPr lang="en-US" sz="1800" dirty="0"/>
                  <a:t>?</a:t>
                </a:r>
              </a:p>
              <a:p>
                <a:pPr marL="0" indent="0">
                  <a:buNone/>
                </a:pPr>
                <a:r>
                  <a:rPr lang="en-US" sz="1800" dirty="0"/>
                  <a:t>Ans: Here sample space is Ω = {HH, HT, TH, TT}. Size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1800" dirty="0"/>
                  <a:t> is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= 4</a:t>
                </a:r>
              </a:p>
              <a:p>
                <a:pPr marL="0" indent="0">
                  <a:buNone/>
                </a:pPr>
                <a:r>
                  <a:rPr lang="en-US" sz="1800" dirty="0"/>
                  <a:t>The event E is both toss are heads: E = {HH}.      Size of E is |E|= 1</a:t>
                </a:r>
              </a:p>
              <a:p>
                <a:pPr marL="0" indent="0">
                  <a:buNone/>
                </a:pPr>
                <a:r>
                  <a:rPr lang="en-US" sz="1800" dirty="0"/>
                  <a:t> P(E) = 1/4.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A93741-4AFA-1FDA-600B-CE8C775A2C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" y="768096"/>
                <a:ext cx="12097512" cy="5943600"/>
              </a:xfrm>
              <a:blipFill>
                <a:blip r:embed="rId2"/>
                <a:stretch>
                  <a:fillRect l="-454" t="-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7429290-F27B-91B6-F689-761B64F43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341" y="958757"/>
            <a:ext cx="2101795" cy="11600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1CFC45-4B45-92DE-9840-9B7B34839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334" y="1294114"/>
            <a:ext cx="5506218" cy="1028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0E2DDE-D150-57FD-F8B4-2BF14496C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5334" y="2458396"/>
            <a:ext cx="1657581" cy="7811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BEE8A0-082C-F027-AEF2-05BB85BA78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9230" y="4472445"/>
            <a:ext cx="3284019" cy="21855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15B466E-676D-AF16-7EEF-F4F6E1A61C07}"/>
              </a:ext>
            </a:extLst>
          </p:cNvPr>
          <p:cNvSpPr txBox="1"/>
          <p:nvPr/>
        </p:nvSpPr>
        <p:spPr>
          <a:xfrm>
            <a:off x="9053726" y="3318660"/>
            <a:ext cx="69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coin1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56D524-25DA-D328-2352-F4F032E9584D}"/>
              </a:ext>
            </a:extLst>
          </p:cNvPr>
          <p:cNvSpPr txBox="1"/>
          <p:nvPr/>
        </p:nvSpPr>
        <p:spPr>
          <a:xfrm>
            <a:off x="10127397" y="3306195"/>
            <a:ext cx="69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coin2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F23F52-4EFB-B963-F7F4-7E1F8E73B5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1752" y="3592047"/>
            <a:ext cx="1046239" cy="8339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346328E-2441-EC6C-C2C6-D8EA3EBCF5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2110" y="3639693"/>
            <a:ext cx="974474" cy="77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954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CF8B4-0142-CBD0-DFF5-E2E65A025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1FB26-7DA0-BBEF-68ED-26E44CA9F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Multiplication Rule</a:t>
            </a:r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E941FE-5DE4-5F20-2143-65D16F871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064" y="1889245"/>
            <a:ext cx="3523488" cy="19657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EC6700-0B72-5F52-45A5-8C863ECF95BD}"/>
              </a:ext>
            </a:extLst>
          </p:cNvPr>
          <p:cNvSpPr txBox="1"/>
          <p:nvPr/>
        </p:nvSpPr>
        <p:spPr>
          <a:xfrm>
            <a:off x="8613648" y="139184"/>
            <a:ext cx="2321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P(A∩B) = P(A) × P(B|A)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DCC5E6-B17D-307F-BBBE-8A8A73A0E578}"/>
                  </a:ext>
                </a:extLst>
              </p:cNvPr>
              <p:cNvSpPr txBox="1"/>
              <p:nvPr/>
            </p:nvSpPr>
            <p:spPr>
              <a:xfrm>
                <a:off x="219456" y="1157699"/>
                <a:ext cx="11704320" cy="5632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multiplication rule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used to find the probability that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two (or more) events happen together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— that is, the intersection of events.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Mathematically, for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two events A and B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</a:p>
              <a:p>
                <a:pPr marL="0" indent="0" algn="ctr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P(A∩B) = P(A) × P(B|A)</a:t>
                </a:r>
              </a:p>
              <a:p>
                <a:pPr marL="0" indent="0">
                  <a:buNone/>
                </a:pPr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P(A∩B):  Probability that both A </a:t>
                </a:r>
                <a:r>
                  <a:rPr lang="en-US" sz="2400" b="1" u="sng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 occur.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P(A)      : Probability that event A occurs.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P(B|A)  : Probability that event B occurs given that A has already occurred.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Special Case: If A and B are independent, then P(B|A) = P(B). In this case,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 can use above equation to define independence of two events: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Two events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are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independent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if and only if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DCC5E6-B17D-307F-BBBE-8A8A73A0E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" y="1157699"/>
                <a:ext cx="11704320" cy="5632311"/>
              </a:xfrm>
              <a:prstGeom prst="rect">
                <a:avLst/>
              </a:prstGeom>
              <a:blipFill>
                <a:blip r:embed="rId3"/>
                <a:stretch>
                  <a:fillRect l="-781" t="-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8924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FAE2D-4043-1699-589F-8537A91B5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9D188-6170-4205-0DA0-FDA2F2FDE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Multiplication Rule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DC7FB6-2C7E-5EEB-64E4-CCDE8B051EE8}"/>
              </a:ext>
            </a:extLst>
          </p:cNvPr>
          <p:cNvSpPr txBox="1"/>
          <p:nvPr/>
        </p:nvSpPr>
        <p:spPr>
          <a:xfrm>
            <a:off x="219456" y="874235"/>
            <a:ext cx="117043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A box contains 5 balls — 3 red and 2 blue.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Two balls are drawn one after another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replacement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probability that both balls are red 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466D28C-BDB4-FAD6-3EEE-F387B07A1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9070" y="2238216"/>
            <a:ext cx="2914251" cy="36458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1D13C7-12C2-886D-7536-B830D5179C84}"/>
              </a:ext>
            </a:extLst>
          </p:cNvPr>
          <p:cNvSpPr txBox="1"/>
          <p:nvPr/>
        </p:nvSpPr>
        <p:spPr>
          <a:xfrm>
            <a:off x="8613648" y="139184"/>
            <a:ext cx="2321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P(A∩B) = P(A) × P(B|A)</a:t>
            </a:r>
          </a:p>
        </p:txBody>
      </p:sp>
    </p:spTree>
    <p:extLst>
      <p:ext uri="{BB962C8B-B14F-4D97-AF65-F5344CB8AC3E}">
        <p14:creationId xmlns:p14="http://schemas.microsoft.com/office/powerpoint/2010/main" val="1881430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78EFB-B8C9-54D0-3A8A-3B909ECB7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8AD40-52C1-130C-7488-B18358A63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Multiplication Rule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1A27A8-2640-6869-38E6-FC6F0BE4E7AD}"/>
                  </a:ext>
                </a:extLst>
              </p:cNvPr>
              <p:cNvSpPr txBox="1"/>
              <p:nvPr/>
            </p:nvSpPr>
            <p:spPr>
              <a:xfrm>
                <a:off x="219456" y="874235"/>
                <a:ext cx="11704320" cy="6360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A box contains 5 balls — 3 red and 2 blue.</a:t>
                </a:r>
                <a:b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Two balls are drawn one after another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without replacement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 What is the probability that both balls are red ?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Let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event that “the first ball is red.”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event that “the second ball is red.”</a:t>
                </a:r>
              </a:p>
              <a:p>
                <a14:m>
                  <m:oMath xmlns:m="http://schemas.openxmlformats.org/officeDocument/2006/math"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means that first draw is red ball and second draw is red ball.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we have to find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First draw is red ball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B|A: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Second draw gives red ball, given that 1</a:t>
                </a:r>
                <a:r>
                  <a:rPr lang="en-US" baseline="30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draw was red: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If the first ball was red, only 2 red and 2 blue remain, so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Then, by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multiplication rule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1A27A8-2640-6869-38E6-FC6F0BE4E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" y="874235"/>
                <a:ext cx="11704320" cy="6360844"/>
              </a:xfrm>
              <a:prstGeom prst="rect">
                <a:avLst/>
              </a:prstGeom>
              <a:blipFill>
                <a:blip r:embed="rId3"/>
                <a:stretch>
                  <a:fillRect l="-417" t="-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563D62BF-CCA2-C62B-5CC5-7494A65FD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9070" y="2238216"/>
            <a:ext cx="2914251" cy="36458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56F527-81DC-3C79-DE79-331CC8810138}"/>
              </a:ext>
            </a:extLst>
          </p:cNvPr>
          <p:cNvSpPr txBox="1"/>
          <p:nvPr/>
        </p:nvSpPr>
        <p:spPr>
          <a:xfrm>
            <a:off x="8613648" y="139184"/>
            <a:ext cx="2321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P(A∩B) = P(A) × P(B|A)</a:t>
            </a:r>
          </a:p>
        </p:txBody>
      </p:sp>
    </p:spTree>
    <p:extLst>
      <p:ext uri="{BB962C8B-B14F-4D97-AF65-F5344CB8AC3E}">
        <p14:creationId xmlns:p14="http://schemas.microsoft.com/office/powerpoint/2010/main" val="1803559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7F477-FAFF-77AE-DA7E-0AE1BCED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7C01D-4199-FBB9-2477-38403D02E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Multiplication Rule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7A15CD-1C7E-A4F0-7D37-0DF41C7363D0}"/>
              </a:ext>
            </a:extLst>
          </p:cNvPr>
          <p:cNvSpPr txBox="1"/>
          <p:nvPr/>
        </p:nvSpPr>
        <p:spPr>
          <a:xfrm>
            <a:off x="219456" y="1157699"/>
            <a:ext cx="11704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Suppose you roll two fair dice.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probability that the first die shows a 3 and the second die shows an even number.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972F7D-AF01-180B-780B-F72009AA8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437" y="3960346"/>
            <a:ext cx="957268" cy="10207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A4151F-CCD7-A497-05F4-EECBC177D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2330" y="3960346"/>
            <a:ext cx="951272" cy="10143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C938F3-E301-06A7-596F-E944B8DB5FF6}"/>
              </a:ext>
            </a:extLst>
          </p:cNvPr>
          <p:cNvSpPr txBox="1"/>
          <p:nvPr/>
        </p:nvSpPr>
        <p:spPr>
          <a:xfrm>
            <a:off x="8613648" y="139184"/>
            <a:ext cx="2321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P(A∩B) = P(A) × P(B|A)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402929-8409-2AF7-113E-FAAA9A7B0996}"/>
              </a:ext>
            </a:extLst>
          </p:cNvPr>
          <p:cNvSpPr txBox="1"/>
          <p:nvPr/>
        </p:nvSpPr>
        <p:spPr>
          <a:xfrm>
            <a:off x="9765792" y="3575304"/>
            <a:ext cx="1805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3                   Even</a:t>
            </a:r>
          </a:p>
        </p:txBody>
      </p:sp>
    </p:spTree>
    <p:extLst>
      <p:ext uri="{BB962C8B-B14F-4D97-AF65-F5344CB8AC3E}">
        <p14:creationId xmlns:p14="http://schemas.microsoft.com/office/powerpoint/2010/main" val="2618997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C862B-100B-0BB8-F275-D238DCE85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F23C6-167D-6EB4-8B70-3CE44B757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Multiplication Rule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75F155-3441-9296-FB76-BAC42FB00C9C}"/>
                  </a:ext>
                </a:extLst>
              </p:cNvPr>
              <p:cNvSpPr txBox="1"/>
              <p:nvPr/>
            </p:nvSpPr>
            <p:spPr>
              <a:xfrm>
                <a:off x="219456" y="572483"/>
                <a:ext cx="9546336" cy="55315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Suppose you roll two fair dice.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What is the probability that the first die shows a 3 and the second die shows an even number.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Let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: event that “the first die shows a 3.”  A = {3}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 : event that “the second die shows an even number.” B = {2, 4, 6}</a:t>
                </a:r>
              </a:p>
              <a:p>
                <a14:m>
                  <m:oMath xmlns:m="http://schemas.openxmlformats.org/officeDocument/2006/math"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means that the first die shows a 3 and the second die shows an even number.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we have to find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First die shows 3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B|A: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The second die shows even number, given that first die shows 3.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Because the two dice are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independent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P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(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B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|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A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) = </m:t>
                      </m:r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. This can be verified from the figure</a:t>
                </a:r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75F155-3441-9296-FB76-BAC42FB00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" y="572483"/>
                <a:ext cx="9546336" cy="5531514"/>
              </a:xfrm>
              <a:prstGeom prst="rect">
                <a:avLst/>
              </a:prstGeom>
              <a:blipFill>
                <a:blip r:embed="rId3"/>
                <a:stretch>
                  <a:fillRect l="-511" t="-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C38EE5E-E04B-3632-662C-825992B89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437" y="1573762"/>
            <a:ext cx="957268" cy="10207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6A2BFB-435F-3A61-E343-A1F456845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2330" y="1573762"/>
            <a:ext cx="951272" cy="10143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71461E-A033-93EB-B701-E95B294B23CA}"/>
              </a:ext>
            </a:extLst>
          </p:cNvPr>
          <p:cNvSpPr txBox="1"/>
          <p:nvPr/>
        </p:nvSpPr>
        <p:spPr>
          <a:xfrm>
            <a:off x="8613648" y="139184"/>
            <a:ext cx="2321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P(A∩B) = P(A) × P(B|A)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09A62E-41BE-FF07-C5CF-8A7C7BAE6DD0}"/>
              </a:ext>
            </a:extLst>
          </p:cNvPr>
          <p:cNvSpPr txBox="1"/>
          <p:nvPr/>
        </p:nvSpPr>
        <p:spPr>
          <a:xfrm>
            <a:off x="9765792" y="1216152"/>
            <a:ext cx="1805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3                   Even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DD0466-93D8-195A-CDF1-14EBA5DF8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724" y="4191488"/>
            <a:ext cx="441085" cy="4703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29A164-9E68-28AE-0105-E5EC264D7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8425" y="6313246"/>
            <a:ext cx="450636" cy="4804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5BC7BA-164E-EDBB-3274-0DDFFB20DF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4151" y="3654447"/>
            <a:ext cx="4467849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EB7E4-F78E-D213-98CD-77307E928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ED64C-4B90-5F4D-6B08-B43E8C630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Multiplication Rule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FD9C73-B06C-7E0F-0ED2-D6E19AE2FF6C}"/>
                  </a:ext>
                </a:extLst>
              </p:cNvPr>
              <p:cNvSpPr txBox="1"/>
              <p:nvPr/>
            </p:nvSpPr>
            <p:spPr>
              <a:xfrm>
                <a:off x="219456" y="910811"/>
                <a:ext cx="11036808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You roll a die. Let’s define two events 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“The number is even.” → {2, 4, 6}</a:t>
                </a:r>
                <a:endParaRPr lang="en-US" i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B: “The number is greater than 3.” → {4, 5, 6}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Are these independent ?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FD9C73-B06C-7E0F-0ED2-D6E19AE2F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" y="910811"/>
                <a:ext cx="11036808" cy="1477328"/>
              </a:xfrm>
              <a:prstGeom prst="rect">
                <a:avLst/>
              </a:prstGeom>
              <a:blipFill>
                <a:blip r:embed="rId2"/>
                <a:stretch>
                  <a:fillRect l="-442" t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BDD0797D-8EFB-EC88-7150-2EA711CFB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2204" y="1330468"/>
            <a:ext cx="757401" cy="8075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6CFC7A-C301-8BF4-5350-F071ECE6A6B7}"/>
              </a:ext>
            </a:extLst>
          </p:cNvPr>
          <p:cNvSpPr txBox="1"/>
          <p:nvPr/>
        </p:nvSpPr>
        <p:spPr>
          <a:xfrm>
            <a:off x="8613648" y="139184"/>
            <a:ext cx="2321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P(A∩B) = P(A) × P(B|A)</a:t>
            </a:r>
          </a:p>
        </p:txBody>
      </p:sp>
    </p:spTree>
    <p:extLst>
      <p:ext uri="{BB962C8B-B14F-4D97-AF65-F5344CB8AC3E}">
        <p14:creationId xmlns:p14="http://schemas.microsoft.com/office/powerpoint/2010/main" val="217288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B920C-6A9A-FC87-E7DA-AD2E6435A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2A2BD-6DAF-71D2-BBB6-17DA53A43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Multiplication Rule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D6B0FC-6DEE-19EB-BEFD-711DC2676653}"/>
                  </a:ext>
                </a:extLst>
              </p:cNvPr>
              <p:cNvSpPr txBox="1"/>
              <p:nvPr/>
            </p:nvSpPr>
            <p:spPr>
              <a:xfrm>
                <a:off x="219456" y="910811"/>
                <a:ext cx="11036808" cy="58757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You roll a die. Let’s define two events 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“The number is even.” → {2, 4, 6}</a:t>
                </a:r>
                <a:endParaRPr lang="en-US" i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B: “The number is greater than 3.” → {4, 5, 6}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Are these independent ?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These appear to look dependent — because both involve overlapping conditions on the same die outcome (evenness and size).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Let’s check mathematically: Two events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are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independent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if and only if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Step1) Compute the probabilities: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Step2) Test for independence: If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were independent, we would have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1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f>
                        <m:fPr>
                          <m:ctrlPr>
                            <a:rPr lang="en-US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1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So, A and B are not independent</a:t>
                </a:r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D6B0FC-6DEE-19EB-BEFD-711DC2676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" y="910811"/>
                <a:ext cx="11036808" cy="5875711"/>
              </a:xfrm>
              <a:prstGeom prst="rect">
                <a:avLst/>
              </a:prstGeom>
              <a:blipFill>
                <a:blip r:embed="rId2"/>
                <a:stretch>
                  <a:fillRect l="-442" t="-519" b="-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126E570-1481-B8F0-8D5E-EF79B632C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2204" y="1330468"/>
            <a:ext cx="757401" cy="8075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00FAEC-E24A-3E28-EBAE-7A52A6F3C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39" y="4111942"/>
            <a:ext cx="3398949" cy="10818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AD140D-1B59-4837-4DF7-52FE20F04201}"/>
              </a:ext>
            </a:extLst>
          </p:cNvPr>
          <p:cNvSpPr txBox="1"/>
          <p:nvPr/>
        </p:nvSpPr>
        <p:spPr>
          <a:xfrm>
            <a:off x="8613648" y="139184"/>
            <a:ext cx="2321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P(A∩B) = P(A) × P(B|A)</a:t>
            </a:r>
          </a:p>
        </p:txBody>
      </p:sp>
    </p:spTree>
    <p:extLst>
      <p:ext uri="{BB962C8B-B14F-4D97-AF65-F5344CB8AC3E}">
        <p14:creationId xmlns:p14="http://schemas.microsoft.com/office/powerpoint/2010/main" val="2486638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4559B-F8C9-E43B-7EFC-7418CCC6D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3ED6E-8440-3476-CC30-B0E9F5927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Multiplication Rule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8901E1-B663-0809-4C52-5D0D5AE9A396}"/>
              </a:ext>
            </a:extLst>
          </p:cNvPr>
          <p:cNvSpPr txBox="1"/>
          <p:nvPr/>
        </p:nvSpPr>
        <p:spPr>
          <a:xfrm>
            <a:off x="219456" y="828515"/>
            <a:ext cx="11704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You roll a pair of dice. What is the probability that the sum of two dice is greater than 8 and the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first die shows a 5 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B7FEFE-7436-A83F-F0EB-34F826246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5" y="1601533"/>
            <a:ext cx="3688080" cy="26202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D89C7F-4E7D-1B85-DB95-749724F17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380" y="1914632"/>
            <a:ext cx="441085" cy="4703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D39769-B6B1-4F79-9748-E02388BFB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854" y="3981526"/>
            <a:ext cx="450636" cy="4804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BCACDD-A273-2848-3975-EC80024FDB92}"/>
              </a:ext>
            </a:extLst>
          </p:cNvPr>
          <p:cNvSpPr txBox="1"/>
          <p:nvPr/>
        </p:nvSpPr>
        <p:spPr>
          <a:xfrm>
            <a:off x="8613648" y="139184"/>
            <a:ext cx="2321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P(A∩B) = P(A) × P(B|A)</a:t>
            </a:r>
          </a:p>
        </p:txBody>
      </p:sp>
    </p:spTree>
    <p:extLst>
      <p:ext uri="{BB962C8B-B14F-4D97-AF65-F5344CB8AC3E}">
        <p14:creationId xmlns:p14="http://schemas.microsoft.com/office/powerpoint/2010/main" val="123884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FBA25-EC6A-90FF-1D7F-45ADCC3F7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93533-D51A-55DD-C7B2-CD6D5296B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Multiplication Rule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DAB006-9DD7-7FE5-F899-48813728B2FA}"/>
                  </a:ext>
                </a:extLst>
              </p:cNvPr>
              <p:cNvSpPr txBox="1"/>
              <p:nvPr/>
            </p:nvSpPr>
            <p:spPr>
              <a:xfrm>
                <a:off x="219456" y="828515"/>
                <a:ext cx="11704320" cy="56882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You roll a pair of dice. What is the probability that the sum of two dice is greater than 8 and the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first die shows a 5 ?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Let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A: event that “the first die shows a 5.”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B: event that “the sum of two dice is greater than 8.”</a:t>
                </a:r>
              </a:p>
              <a:p>
                <a14:m>
                  <m:oMath xmlns:m="http://schemas.openxmlformats.org/officeDocument/2006/math"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means that the first die shows a 5 and the sum of two dice is greater than 8.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we have to find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First die shows 5. Here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B|A: T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 sum of two dice is greater than 8, given that the first die shows a 5. The possibles outcomes of B|A are {4, 5, 6}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So, P(A∩B) = P(A) × P(B/A)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b="1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b="1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Verify: Here |A∩B| = |{ (5,4), (5,5), (5,6)}| = 3 and size of sample space = 36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P(A∩B) = 3/36 = 1/12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DAB006-9DD7-7FE5-F899-48813728B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" y="828515"/>
                <a:ext cx="11704320" cy="5688224"/>
              </a:xfrm>
              <a:prstGeom prst="rect">
                <a:avLst/>
              </a:prstGeom>
              <a:blipFill>
                <a:blip r:embed="rId2"/>
                <a:stretch>
                  <a:fillRect l="-417" t="-643" b="-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1AA0CB78-202C-7915-E462-F5B99D5D4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5" y="1601533"/>
            <a:ext cx="3688080" cy="26202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39A905-5460-5EF4-EDB3-1F7C7AFDB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5" y="1280672"/>
            <a:ext cx="441085" cy="4703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AEA713-B546-461F-3D22-6BC3F73B8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4438" y="3966289"/>
            <a:ext cx="450636" cy="4804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0BEF88-CFC1-EFA7-8D0E-2A1C6227913C}"/>
              </a:ext>
            </a:extLst>
          </p:cNvPr>
          <p:cNvSpPr txBox="1"/>
          <p:nvPr/>
        </p:nvSpPr>
        <p:spPr>
          <a:xfrm>
            <a:off x="8613648" y="139184"/>
            <a:ext cx="2321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P(A∩B) = P(A) × P(B|A)</a:t>
            </a:r>
          </a:p>
        </p:txBody>
      </p:sp>
    </p:spTree>
    <p:extLst>
      <p:ext uri="{BB962C8B-B14F-4D97-AF65-F5344CB8AC3E}">
        <p14:creationId xmlns:p14="http://schemas.microsoft.com/office/powerpoint/2010/main" val="1147534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7B32C-043F-8E8C-98A5-B883BC13F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E59AC-107D-984E-6A92-F5F2BF963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Multiplication Rule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8CDFB5-3CC1-E8A6-5AAB-39062F815CC7}"/>
              </a:ext>
            </a:extLst>
          </p:cNvPr>
          <p:cNvSpPr txBox="1"/>
          <p:nvPr/>
        </p:nvSpPr>
        <p:spPr>
          <a:xfrm>
            <a:off x="219456" y="846803"/>
            <a:ext cx="117043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Suppose an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spam filter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classifies emails.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Based on past data we know that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30% of all emails contain 'discount'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80% of emails containing 'discount' are spam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many emails contain the word “discount” and are spam.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D865BA-9CE6-7172-8724-FC42E364A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831" y="1618488"/>
            <a:ext cx="2828713" cy="15781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D4EE70-3F25-4495-35FD-469D53854706}"/>
              </a:ext>
            </a:extLst>
          </p:cNvPr>
          <p:cNvSpPr txBox="1"/>
          <p:nvPr/>
        </p:nvSpPr>
        <p:spPr>
          <a:xfrm>
            <a:off x="8613648" y="139184"/>
            <a:ext cx="2321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P(A∩B) = P(A) × P(B|A)</a:t>
            </a:r>
          </a:p>
        </p:txBody>
      </p:sp>
    </p:spTree>
    <p:extLst>
      <p:ext uri="{BB962C8B-B14F-4D97-AF65-F5344CB8AC3E}">
        <p14:creationId xmlns:p14="http://schemas.microsoft.com/office/powerpoint/2010/main" val="898868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90DDD-6B77-DCD2-93E0-F1906C350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D6936-553A-3B6C-27A9-73B9A025E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Multiplication Rule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81E212-0DB3-E215-EC81-7EBD4EE75C88}"/>
                  </a:ext>
                </a:extLst>
              </p:cNvPr>
              <p:cNvSpPr txBox="1"/>
              <p:nvPr/>
            </p:nvSpPr>
            <p:spPr>
              <a:xfrm>
                <a:off x="219456" y="846803"/>
                <a:ext cx="11704320" cy="5632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Suppose an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AI spam filter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classifies emails.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Based on past data we know that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30% of all emails contain 'discount'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80% of emails containing 'discount' are spam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How many emails contain the word “discount” and are spam.</a:t>
                </a:r>
              </a:p>
              <a:p>
                <a:endParaRPr lang="en-US" i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mbria Math" panose="02040503050406030204" pitchFamily="18" charset="0"/>
                  </a:rPr>
                  <a:t>Ans:  Let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= “email contains the word ‘discount’”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 = “email is spam”</a:t>
                </a:r>
              </a:p>
              <a:p>
                <a14:m>
                  <m:oMath xmlns:m="http://schemas.openxmlformats.org/officeDocument/2006/math"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means that emails contain the word “discount” and are spam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we have to find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 This would give you the percentage.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A: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30% of all emails contain 'discount’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B|A: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80% of emails are spam, given that they contain the word 'discount’ 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P(A∩B) = P(A) × P(B/A)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= 0.3 x 0.8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= 0.24     So, 24% of all emails are both spam and contain the word “discount”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81E212-0DB3-E215-EC81-7EBD4EE75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" y="846803"/>
                <a:ext cx="11704320" cy="5632311"/>
              </a:xfrm>
              <a:prstGeom prst="rect">
                <a:avLst/>
              </a:prstGeom>
              <a:blipFill>
                <a:blip r:embed="rId2"/>
                <a:stretch>
                  <a:fillRect l="-417" t="-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14BE958-8D7A-024C-49B8-52C30B234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831" y="1618488"/>
            <a:ext cx="2828713" cy="15781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33ABF3-0889-9523-18F1-2CDDCC3D2A62}"/>
              </a:ext>
            </a:extLst>
          </p:cNvPr>
          <p:cNvSpPr txBox="1"/>
          <p:nvPr/>
        </p:nvSpPr>
        <p:spPr>
          <a:xfrm>
            <a:off x="8613648" y="139184"/>
            <a:ext cx="2321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P(A∩B) = P(A) × P(B|A)</a:t>
            </a:r>
          </a:p>
        </p:txBody>
      </p:sp>
    </p:spTree>
    <p:extLst>
      <p:ext uri="{BB962C8B-B14F-4D97-AF65-F5344CB8AC3E}">
        <p14:creationId xmlns:p14="http://schemas.microsoft.com/office/powerpoint/2010/main" val="2923919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179FF-155C-82DD-A448-EF122D29A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D614-C9DE-F355-4799-C133BE9CE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Multiplication Rule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BBFB96-CE54-30C5-5160-26BF8DAA1607}"/>
                  </a:ext>
                </a:extLst>
              </p:cNvPr>
              <p:cNvSpPr txBox="1"/>
              <p:nvPr/>
            </p:nvSpPr>
            <p:spPr>
              <a:xfrm>
                <a:off x="219456" y="1157699"/>
                <a:ext cx="1170432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Suppose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1% of people have the disease →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Test is 99% sensitive →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ar-AE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Test is 95% specific →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ar-AE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US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No</m:t>
                        </m:r>
                        <m:r>
                          <m:rPr>
                            <m:nor/>
                          </m:rPr>
                          <a:rPr lang="en-US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Disease</m:t>
                        </m:r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95</m:t>
                    </m:r>
                  </m:oMath>
                </a14:m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What is the probability that a person has disease and test is positive 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BBFB96-CE54-30C5-5160-26BF8DAA1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" y="1157699"/>
                <a:ext cx="11704320" cy="1754326"/>
              </a:xfrm>
              <a:prstGeom prst="rect">
                <a:avLst/>
              </a:prstGeom>
              <a:blipFill>
                <a:blip r:embed="rId2"/>
                <a:stretch>
                  <a:fillRect l="-417" t="-2083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4A58752-A7B4-0980-4912-5BF53160A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831" y="1618488"/>
            <a:ext cx="2828713" cy="15781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71E49D-529F-079B-AB48-A02B9B1CBF67}"/>
              </a:ext>
            </a:extLst>
          </p:cNvPr>
          <p:cNvSpPr txBox="1"/>
          <p:nvPr/>
        </p:nvSpPr>
        <p:spPr>
          <a:xfrm>
            <a:off x="8613648" y="139184"/>
            <a:ext cx="2321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P(A∩B) = P(A) × P(B|A)</a:t>
            </a:r>
          </a:p>
        </p:txBody>
      </p:sp>
    </p:spTree>
    <p:extLst>
      <p:ext uri="{BB962C8B-B14F-4D97-AF65-F5344CB8AC3E}">
        <p14:creationId xmlns:p14="http://schemas.microsoft.com/office/powerpoint/2010/main" val="437715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89526-209B-E296-E2F0-451838FBC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6134-8FD3-A8E2-E407-BCDF7C5D6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Multiplication Rule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07EC06-5689-A039-01F2-100B1F3EDD9F}"/>
                  </a:ext>
                </a:extLst>
              </p:cNvPr>
              <p:cNvSpPr txBox="1"/>
              <p:nvPr/>
            </p:nvSpPr>
            <p:spPr>
              <a:xfrm>
                <a:off x="219456" y="1157699"/>
                <a:ext cx="11704320" cy="3693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Suppose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1% of people have the disease →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Test is 99% sensitive →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ar-AE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Test is 95% specific →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ar-AE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US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No</m:t>
                        </m:r>
                        <m:r>
                          <m:rPr>
                            <m:nor/>
                          </m:rPr>
                          <a:rPr lang="en-US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Disease</m:t>
                        </m:r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95</m:t>
                    </m:r>
                  </m:oMath>
                </a14:m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What is the probability that a person has disease and test is positive ?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P(Disease and Test Positive) = P(Disease) × P(Test Positive | Disease)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                           =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x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ar-AE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fr-F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                           =  0.01            ×          0.99   </a:t>
                </a:r>
              </a:p>
              <a:p>
                <a:r>
                  <a:rPr lang="fr-F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                           = 0.0099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07EC06-5689-A039-01F2-100B1F3ED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" y="1157699"/>
                <a:ext cx="11704320" cy="3693319"/>
              </a:xfrm>
              <a:prstGeom prst="rect">
                <a:avLst/>
              </a:prstGeom>
              <a:blipFill>
                <a:blip r:embed="rId2"/>
                <a:stretch>
                  <a:fillRect l="-417" t="-990" b="-1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113AFB5-C70F-E76B-F760-556B4D775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831" y="1618488"/>
            <a:ext cx="2828713" cy="15781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510C4F-B59A-E915-C103-C18D19C89C29}"/>
              </a:ext>
            </a:extLst>
          </p:cNvPr>
          <p:cNvSpPr txBox="1"/>
          <p:nvPr/>
        </p:nvSpPr>
        <p:spPr>
          <a:xfrm>
            <a:off x="8613648" y="139184"/>
            <a:ext cx="2321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P(A∩B) = P(A) × P(B|A)</a:t>
            </a:r>
          </a:p>
        </p:txBody>
      </p:sp>
    </p:spTree>
    <p:extLst>
      <p:ext uri="{BB962C8B-B14F-4D97-AF65-F5344CB8AC3E}">
        <p14:creationId xmlns:p14="http://schemas.microsoft.com/office/powerpoint/2010/main" val="3848436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A0EA9-914C-0240-A808-02B477533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E4E39-0D06-51A1-30CA-3057E590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EXTRA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89B62C-8972-3C5A-2FFD-E31AD966C230}"/>
              </a:ext>
            </a:extLst>
          </p:cNvPr>
          <p:cNvSpPr txBox="1"/>
          <p:nvPr/>
        </p:nvSpPr>
        <p:spPr>
          <a:xfrm>
            <a:off x="219456" y="1157699"/>
            <a:ext cx="11704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 problems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4DD648-78BF-0EE8-0DC3-CE1AB1B396D0}"/>
              </a:ext>
            </a:extLst>
          </p:cNvPr>
          <p:cNvSpPr txBox="1"/>
          <p:nvPr/>
        </p:nvSpPr>
        <p:spPr>
          <a:xfrm>
            <a:off x="8613648" y="139184"/>
            <a:ext cx="2321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P(A∩B) = P(A) × P(B|A)</a:t>
            </a:r>
          </a:p>
        </p:txBody>
      </p:sp>
    </p:spTree>
    <p:extLst>
      <p:ext uri="{BB962C8B-B14F-4D97-AF65-F5344CB8AC3E}">
        <p14:creationId xmlns:p14="http://schemas.microsoft.com/office/powerpoint/2010/main" val="2993218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54287-0908-F582-DBCC-E591C5C68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1847BC-8786-2206-09F6-BF437E468E1B}"/>
                  </a:ext>
                </a:extLst>
              </p:cNvPr>
              <p:cNvSpPr txBox="1"/>
              <p:nvPr/>
            </p:nvSpPr>
            <p:spPr>
              <a:xfrm>
                <a:off x="219456" y="828515"/>
                <a:ext cx="11704320" cy="4251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(Radar Detection) If an aircraft is present in a certain area, a radar detects it and generates an alarm signal with probability 0.99. If an aircraft is not present. the radar generates a (false) alarm, with probability 0.10. We assume that an aircraft is present with probability 0.05. 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What is the probability of aircraft presence and no detection?</a:t>
                </a: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Let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A: event that “an aircraft is present”. Then,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means that aircraft is not present..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B: event that “the radar generates an alarm”. Then,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means that radar does not generate an alarm, i.e. no detection.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Given to us: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Here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0.05 ,           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P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B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|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)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, 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b="0" i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  <m: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0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means that aircraft presence and no detection by radar.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we have to find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1847BC-8786-2206-09F6-BF437E468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" y="828515"/>
                <a:ext cx="11704320" cy="4251805"/>
              </a:xfrm>
              <a:prstGeom prst="rect">
                <a:avLst/>
              </a:prstGeom>
              <a:blipFill>
                <a:blip r:embed="rId2"/>
                <a:stretch>
                  <a:fillRect l="-417" t="-861" b="-1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A6C8672-9276-5B8B-6AB1-4D429B251658}"/>
              </a:ext>
            </a:extLst>
          </p:cNvPr>
          <p:cNvSpPr txBox="1"/>
          <p:nvPr/>
        </p:nvSpPr>
        <p:spPr>
          <a:xfrm>
            <a:off x="8613648" y="139184"/>
            <a:ext cx="2321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P(A∩B) = P(A) × P(B|A)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71B2A20-876E-2D45-C87E-56C18185C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Multiplication Rule</a:t>
            </a:r>
            <a:endParaRPr lang="en-US" sz="3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C3A860-E8D2-C8B0-A450-49515BD04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656" y="3139363"/>
            <a:ext cx="4324533" cy="357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530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AB4E1-1851-A406-CB1F-1E5771074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84D78D-11C6-70BA-B322-0DBE8E3451F1}"/>
                  </a:ext>
                </a:extLst>
              </p:cNvPr>
              <p:cNvSpPr txBox="1"/>
              <p:nvPr/>
            </p:nvSpPr>
            <p:spPr>
              <a:xfrm>
                <a:off x="219456" y="828515"/>
                <a:ext cx="11704320" cy="17917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|"/>
                        <m:ctrlPr>
                          <a:rPr lang="en-US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p>
                            <m:r>
                              <a:rPr lang="en-US" b="1" i="1" dirty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sup>
                        </m:sSup>
                      </m:e>
                    </m:d>
                    <m:r>
                      <a:rPr lang="en-US" b="1" i="1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The radar shows no detection, given that an aircraft is present.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b="0" i="1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01</m:t>
                      </m:r>
                    </m:oMath>
                  </m:oMathPara>
                </a14:m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  <m:r>
                      <a:rPr lang="en-US" b="0" i="0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x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i="1" dirty="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p>
                            </m:sSup>
                          </m:e>
                        </m:d>
                        <m:r>
                          <a:rPr lang="en-US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    = 0.05    x    0.01 = 0.0005</a:t>
                </a: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84D78D-11C6-70BA-B322-0DBE8E345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" y="828515"/>
                <a:ext cx="11704320" cy="1791773"/>
              </a:xfrm>
              <a:prstGeom prst="rect">
                <a:avLst/>
              </a:prstGeom>
              <a:blipFill>
                <a:blip r:embed="rId2"/>
                <a:stretch>
                  <a:fillRect l="-1615" t="-35034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9BCBB1D-F003-3F5C-DEEC-5C3ED0386842}"/>
              </a:ext>
            </a:extLst>
          </p:cNvPr>
          <p:cNvSpPr txBox="1"/>
          <p:nvPr/>
        </p:nvSpPr>
        <p:spPr>
          <a:xfrm>
            <a:off x="8613648" y="139184"/>
            <a:ext cx="2321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P(A∩B) = P(A) × P(B|A)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3366722-9D2D-D8F3-0DC1-092E04C83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Multiplication Rule</a:t>
            </a:r>
            <a:endParaRPr lang="en-US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9D7BDA-F23F-8E7A-131C-22425E307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0284" y="3355847"/>
            <a:ext cx="3596122" cy="285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78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30B64-6F84-992D-C1AD-891EA1CE2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5BC07-2525-3E58-8210-0786A9A98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Multiplication Rule: Generalization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7EB85A-3B03-568A-F848-01A70556F558}"/>
                  </a:ext>
                </a:extLst>
              </p:cNvPr>
              <p:cNvSpPr txBox="1"/>
              <p:nvPr/>
            </p:nvSpPr>
            <p:spPr>
              <a:xfrm>
                <a:off x="182881" y="1513332"/>
                <a:ext cx="11247120" cy="25853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                </m:t>
                      </m:r>
                      <m:r>
                        <a:rPr lang="en-US" sz="240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0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0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0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400" b="0" i="1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US" sz="2400" i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40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b="0" i="0" dirty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40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7EB85A-3B03-568A-F848-01A70556F5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1" y="1513332"/>
                <a:ext cx="11247120" cy="2585323"/>
              </a:xfrm>
              <a:prstGeom prst="rect">
                <a:avLst/>
              </a:prstGeom>
              <a:blipFill>
                <a:blip r:embed="rId2"/>
                <a:stretch>
                  <a:fillRect l="-921" t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2D64918-5D03-5610-228D-D1BFDA7CB50C}"/>
              </a:ext>
            </a:extLst>
          </p:cNvPr>
          <p:cNvSpPr txBox="1"/>
          <p:nvPr/>
        </p:nvSpPr>
        <p:spPr>
          <a:xfrm>
            <a:off x="9034272" y="139184"/>
            <a:ext cx="2321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P(A∩B) = P(A) × P(B|A)</a:t>
            </a:r>
          </a:p>
        </p:txBody>
      </p:sp>
    </p:spTree>
    <p:extLst>
      <p:ext uri="{BB962C8B-B14F-4D97-AF65-F5344CB8AC3E}">
        <p14:creationId xmlns:p14="http://schemas.microsoft.com/office/powerpoint/2010/main" val="1753242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2152</TotalTime>
  <Words>2114</Words>
  <Application>Microsoft Office PowerPoint</Application>
  <PresentationFormat>Widescreen</PresentationFormat>
  <Paragraphs>228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Wingdings</vt:lpstr>
      <vt:lpstr>Office Theme</vt:lpstr>
      <vt:lpstr>Multiplication Rule</vt:lpstr>
      <vt:lpstr>Probability: Definition (Review)</vt:lpstr>
      <vt:lpstr>Multiplication Rule</vt:lpstr>
      <vt:lpstr>Multiplication Rule</vt:lpstr>
      <vt:lpstr>Multiplication Rule</vt:lpstr>
      <vt:lpstr>Multiplication Rule</vt:lpstr>
      <vt:lpstr>Multiplication Rule</vt:lpstr>
      <vt:lpstr>Multiplication Rule</vt:lpstr>
      <vt:lpstr>Multiplication Rule</vt:lpstr>
      <vt:lpstr>Multiplication Rule</vt:lpstr>
      <vt:lpstr>Multiplication Rule</vt:lpstr>
      <vt:lpstr>Multiplication Rule</vt:lpstr>
      <vt:lpstr>Multiplication Rule</vt:lpstr>
      <vt:lpstr>Multiplication Rule</vt:lpstr>
      <vt:lpstr>Multiplication Rule</vt:lpstr>
      <vt:lpstr>EXTRA</vt:lpstr>
      <vt:lpstr>Multiplication Rule</vt:lpstr>
      <vt:lpstr>Multiplication Rule</vt:lpstr>
      <vt:lpstr>Multiplication Rule: Generalization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212</cp:revision>
  <dcterms:created xsi:type="dcterms:W3CDTF">2025-09-22T02:44:38Z</dcterms:created>
  <dcterms:modified xsi:type="dcterms:W3CDTF">2026-04-29T10:39:45Z</dcterms:modified>
</cp:coreProperties>
</file>