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5"/>
  </p:handoutMasterIdLst>
  <p:sldIdLst>
    <p:sldId id="257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F7051-67F5-C2A6-490D-03FD43804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1389"/>
            <a:ext cx="10515600" cy="80530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Population versus Sample</a:t>
            </a:r>
            <a:endParaRPr lang="en-US" sz="36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29CEA3-27C2-D6E4-037C-DD6566C5E6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972924"/>
              </p:ext>
            </p:extLst>
          </p:nvPr>
        </p:nvGraphicFramePr>
        <p:xfrm>
          <a:off x="115824" y="996696"/>
          <a:ext cx="6787896" cy="4663440"/>
        </p:xfrm>
        <a:graphic>
          <a:graphicData uri="http://schemas.openxmlformats.org/drawingml/2006/table">
            <a:tbl>
              <a:tblPr/>
              <a:tblGrid>
                <a:gridCol w="1795272">
                  <a:extLst>
                    <a:ext uri="{9D8B030D-6E8A-4147-A177-3AD203B41FA5}">
                      <a16:colId xmlns:a16="http://schemas.microsoft.com/office/drawing/2014/main" val="264158860"/>
                    </a:ext>
                  </a:extLst>
                </a:gridCol>
                <a:gridCol w="2992120">
                  <a:extLst>
                    <a:ext uri="{9D8B030D-6E8A-4147-A177-3AD203B41FA5}">
                      <a16:colId xmlns:a16="http://schemas.microsoft.com/office/drawing/2014/main" val="1158939840"/>
                    </a:ext>
                  </a:extLst>
                </a:gridCol>
                <a:gridCol w="2000504">
                  <a:extLst>
                    <a:ext uri="{9D8B030D-6E8A-4147-A177-3AD203B41FA5}">
                      <a16:colId xmlns:a16="http://schemas.microsoft.com/office/drawing/2014/main" val="31882799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Concept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Definition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8274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Population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The </a:t>
                      </a: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entire group</a:t>
                      </a: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 you want to study.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All the students in your university.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896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Sample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 </a:t>
                      </a: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subset of the population</a:t>
                      </a: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, selected for actual observation and analysis. Used when </a:t>
                      </a: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studying the entire population is impractical</a:t>
                      </a: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200 students chosen randomly from your university.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939554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89DA3373-D130-D7E8-5083-108239FC7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1924" y="2224012"/>
            <a:ext cx="5380076" cy="329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DECC5B1-E434-A0B5-278D-D8FB389BA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964977"/>
              </p:ext>
            </p:extLst>
          </p:nvPr>
        </p:nvGraphicFramePr>
        <p:xfrm>
          <a:off x="179832" y="325406"/>
          <a:ext cx="6586728" cy="6065520"/>
        </p:xfrm>
        <a:graphic>
          <a:graphicData uri="http://schemas.openxmlformats.org/drawingml/2006/table">
            <a:tbl>
              <a:tblPr/>
              <a:tblGrid>
                <a:gridCol w="1392936">
                  <a:extLst>
                    <a:ext uri="{9D8B030D-6E8A-4147-A177-3AD203B41FA5}">
                      <a16:colId xmlns:a16="http://schemas.microsoft.com/office/drawing/2014/main" val="3623365515"/>
                    </a:ext>
                  </a:extLst>
                </a:gridCol>
                <a:gridCol w="1929384">
                  <a:extLst>
                    <a:ext uri="{9D8B030D-6E8A-4147-A177-3AD203B41FA5}">
                      <a16:colId xmlns:a16="http://schemas.microsoft.com/office/drawing/2014/main" val="251805998"/>
                    </a:ext>
                  </a:extLst>
                </a:gridCol>
                <a:gridCol w="1363980">
                  <a:extLst>
                    <a:ext uri="{9D8B030D-6E8A-4147-A177-3AD203B41FA5}">
                      <a16:colId xmlns:a16="http://schemas.microsoft.com/office/drawing/2014/main" val="1347956696"/>
                    </a:ext>
                  </a:extLst>
                </a:gridCol>
                <a:gridCol w="1900428">
                  <a:extLst>
                    <a:ext uri="{9D8B030D-6E8A-4147-A177-3AD203B41FA5}">
                      <a16:colId xmlns:a16="http://schemas.microsoft.com/office/drawing/2014/main" val="764403389"/>
                    </a:ext>
                  </a:extLst>
                </a:gridCol>
              </a:tblGrid>
              <a:tr h="3490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Concept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Definition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Symbol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0007453"/>
                  </a:ext>
                </a:extLst>
              </a:tr>
              <a:tr h="16182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Parameter</a:t>
                      </a:r>
                      <a:endParaRPr lang="en-U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 </a:t>
                      </a:r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numerical value</a:t>
                      </a: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 that describes a </a:t>
                      </a:r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characteristic of a </a:t>
                      </a:r>
                      <a:r>
                        <a:rPr lang="en-US" sz="20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population</a:t>
                      </a: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. It is usually </a:t>
                      </a:r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unknown</a:t>
                      </a: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 and </a:t>
                      </a:r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fixed</a:t>
                      </a: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nb-NO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Greek letters</a:t>
                      </a:r>
                    </a:p>
                    <a:p>
                      <a:pPr algn="ctr">
                        <a:buNone/>
                      </a:pPr>
                      <a:r>
                        <a:rPr lang="nb-NO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 (</a:t>
                      </a:r>
                      <a:r>
                        <a:rPr lang="nb-NO" sz="20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μ, σ, p,</a:t>
                      </a:r>
                      <a:r>
                        <a:rPr lang="nb-NO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 etc.)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Population mean (μ) = average height of all students in the university.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9913558"/>
                  </a:ext>
                </a:extLst>
              </a:tr>
              <a:tr h="23798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Statistic</a:t>
                      </a:r>
                      <a:endParaRPr lang="en-U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 </a:t>
                      </a:r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numerical value</a:t>
                      </a: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 that describes a </a:t>
                      </a:r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characteristic of a </a:t>
                      </a:r>
                      <a:r>
                        <a:rPr lang="en-US" sz="20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sample</a:t>
                      </a: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. It is </a:t>
                      </a:r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computed from sample data</a:t>
                      </a: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 and used to </a:t>
                      </a:r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estimate</a:t>
                      </a: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 the population parameter.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Latin letters</a:t>
                      </a:r>
                    </a:p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 (</a:t>
                      </a:r>
                      <a:r>
                        <a:rPr lang="en-US" sz="20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x̄, s, p̂</a:t>
                      </a: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, etc.)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Sample mean (x̄) = average height of the 200 students sampled.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852266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E047FDD9-0BDB-59B0-07D1-88321F7B8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233156"/>
            <a:ext cx="5380076" cy="329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376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DCBD1-A3A5-A8E6-20F0-28DDD0C37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4B65C-A1B5-C39D-7786-C37325433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474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470</TotalTime>
  <Words>159</Words>
  <Application>Microsoft Office PowerPoint</Application>
  <PresentationFormat>Widescreen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Population versus Sample</vt:lpstr>
      <vt:lpstr>PowerPoint Presentation</vt:lpstr>
      <vt:lpstr>stop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29</cp:revision>
  <dcterms:created xsi:type="dcterms:W3CDTF">2025-09-22T02:44:38Z</dcterms:created>
  <dcterms:modified xsi:type="dcterms:W3CDTF">2026-04-03T16:25:01Z</dcterms:modified>
</cp:coreProperties>
</file>