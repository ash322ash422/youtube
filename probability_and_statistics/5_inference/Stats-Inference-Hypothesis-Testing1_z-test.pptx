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ink/ink1.xml" ContentType="application/inkml+xml"/>
  <Override PartName="/ppt/ink/ink2.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72" r:id="rId3"/>
    <p:sldId id="258" r:id="rId4"/>
    <p:sldId id="268" r:id="rId5"/>
    <p:sldId id="270" r:id="rId6"/>
    <p:sldId id="267" r:id="rId7"/>
    <p:sldId id="271" r:id="rId8"/>
    <p:sldId id="274" r:id="rId9"/>
    <p:sldId id="266" r:id="rId10"/>
    <p:sldId id="269" r:id="rId11"/>
    <p:sldId id="257" r:id="rId12"/>
    <p:sldId id="261" r:id="rId13"/>
    <p:sldId id="263" r:id="rId14"/>
    <p:sldId id="264" r:id="rId15"/>
    <p:sldId id="265" r:id="rId16"/>
    <p:sldId id="275"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05" d="100"/>
          <a:sy n="105" d="100"/>
        </p:scale>
        <p:origin x="834"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02T06:30:36.981"/>
    </inkml:context>
    <inkml:brush xml:id="br0">
      <inkml:brushProperty name="width" value="0.2" units="cm"/>
      <inkml:brushProperty name="height" value="0.2" units="cm"/>
    </inkml:brush>
  </inkml:definitions>
  <inkml:trace contextRef="#ctx0" brushRef="#br0">30 78 2772 0 0,'-30'-19'2604'0'0,"38"15"-2590"0"0,0 2-1 0 0,-1-1 1 0 0,1 1 0 0 0,0 0-1 0 0,0 0 1 0 0,14 0 0 0 0,565-35 46 0 0,2 32 7 0 0,-490 5-42 0 0,-75 4 37 0 0,-24-4-59 0 0,0 0-1 0 0,0 0 1 0 0,1 0 0 0 0,-1 0-1 0 0,0 0 1 0 0,0 0-1 0 0,0 0 1 0 0,0 1 0 0 0,1-1-1 0 0,-1 0 1 0 0,0 0 0 0 0,0 0-1 0 0,0 0 1 0 0,0 1 0 0 0,0-1-1 0 0,1 0 1 0 0,-1 0 0 0 0,0 0-1 0 0,0 0 1 0 0,0 1-1 0 0,0-1 1 0 0,0 0 0 0 0,0 0-1 0 0,0 0 1 0 0,0 1 0 0 0,0-1-1 0 0,0 0 1 0 0,0 0 0 0 0,0 0-1 0 0,0 1 1 0 0,0-1-1 0 0,0 0 1 0 0,0 0 0 0 0,0 0-1 0 0,0 1 1 0 0,0-1 0 0 0,0 0-1 0 0,0 0 1 0 0,0 0 0 0 0,0 1-1 0 0,-1-1 1 0 0,1 0 0 0 0,0 0-1 0 0,0 0 1 0 0,0 1-1 0 0,-3 1 8 0 0,1 0-1 0 0,-1 0 1 0 0,0 0-1 0 0,0 0 1 0 0,0-1-1 0 0,0 1 1 0 0,0-1-1 0 0,0 1 0 0 0,-4 0 1 0 0,-370 92 275 0 0,323-82-207 0 0,-448 104 472 0 0,576-113-498 0 0,268-13-336 0 0,-334 16-335 0 0,-31 8-3489 0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2T06:40:21.528"/>
    </inkml:context>
    <inkml:brush xml:id="br0">
      <inkml:brushProperty name="width" value="0.2" units="cm"/>
      <inkml:brushProperty name="height" value="0.2" units="cm"/>
    </inkml:brush>
  </inkml:definitions>
  <inkml:trace contextRef="#ctx0" brushRef="#br0">1 1 24575</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9CF67F-1D5C-7476-BD8A-26307D605CD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BB7C689-61B0-3A19-3367-9BEDE51CED7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B8C50CD-4E69-1523-09D6-884BAE749AF2}"/>
              </a:ext>
            </a:extLst>
          </p:cNvPr>
          <p:cNvSpPr>
            <a:spLocks noGrp="1"/>
          </p:cNvSpPr>
          <p:nvPr>
            <p:ph type="dt" sz="half" idx="10"/>
          </p:nvPr>
        </p:nvSpPr>
        <p:spPr/>
        <p:txBody>
          <a:bodyPr/>
          <a:lstStyle/>
          <a:p>
            <a:fld id="{8F838A22-B5A6-47DA-94CD-144E2EE07EA6}" type="datetimeFigureOut">
              <a:rPr lang="en-US" smtClean="0"/>
              <a:t>10/2/2025</a:t>
            </a:fld>
            <a:endParaRPr lang="en-US"/>
          </a:p>
        </p:txBody>
      </p:sp>
      <p:sp>
        <p:nvSpPr>
          <p:cNvPr id="5" name="Footer Placeholder 4">
            <a:extLst>
              <a:ext uri="{FF2B5EF4-FFF2-40B4-BE49-F238E27FC236}">
                <a16:creationId xmlns:a16="http://schemas.microsoft.com/office/drawing/2014/main" id="{B738EBD9-9440-7396-4663-7E92CE0F11C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BB4B5D7-F5AE-D36D-ECF3-11736067EC43}"/>
              </a:ext>
            </a:extLst>
          </p:cNvPr>
          <p:cNvSpPr>
            <a:spLocks noGrp="1"/>
          </p:cNvSpPr>
          <p:nvPr>
            <p:ph type="sldNum" sz="quarter" idx="12"/>
          </p:nvPr>
        </p:nvSpPr>
        <p:spPr/>
        <p:txBody>
          <a:bodyPr/>
          <a:lstStyle/>
          <a:p>
            <a:fld id="{1F15FB28-37FD-485D-93D5-F5A544FDC930}" type="slidenum">
              <a:rPr lang="en-US" smtClean="0"/>
              <a:t>‹#›</a:t>
            </a:fld>
            <a:endParaRPr lang="en-US"/>
          </a:p>
        </p:txBody>
      </p:sp>
    </p:spTree>
    <p:extLst>
      <p:ext uri="{BB962C8B-B14F-4D97-AF65-F5344CB8AC3E}">
        <p14:creationId xmlns:p14="http://schemas.microsoft.com/office/powerpoint/2010/main" val="22329069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8DE532-F19A-773A-CBFB-0DE5AF22144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DD4BF23-7BC6-09B5-CF4F-DEDDF50AA77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F194952-F9AE-2CAE-84D5-88373363491A}"/>
              </a:ext>
            </a:extLst>
          </p:cNvPr>
          <p:cNvSpPr>
            <a:spLocks noGrp="1"/>
          </p:cNvSpPr>
          <p:nvPr>
            <p:ph type="dt" sz="half" idx="10"/>
          </p:nvPr>
        </p:nvSpPr>
        <p:spPr/>
        <p:txBody>
          <a:bodyPr/>
          <a:lstStyle/>
          <a:p>
            <a:fld id="{8F838A22-B5A6-47DA-94CD-144E2EE07EA6}" type="datetimeFigureOut">
              <a:rPr lang="en-US" smtClean="0"/>
              <a:t>10/2/2025</a:t>
            </a:fld>
            <a:endParaRPr lang="en-US"/>
          </a:p>
        </p:txBody>
      </p:sp>
      <p:sp>
        <p:nvSpPr>
          <p:cNvPr id="5" name="Footer Placeholder 4">
            <a:extLst>
              <a:ext uri="{FF2B5EF4-FFF2-40B4-BE49-F238E27FC236}">
                <a16:creationId xmlns:a16="http://schemas.microsoft.com/office/drawing/2014/main" id="{53CDCCF9-94B9-B34C-5A74-09675362010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4B209E4-F3DB-7B62-A6AC-9B90F4F1EB9A}"/>
              </a:ext>
            </a:extLst>
          </p:cNvPr>
          <p:cNvSpPr>
            <a:spLocks noGrp="1"/>
          </p:cNvSpPr>
          <p:nvPr>
            <p:ph type="sldNum" sz="quarter" idx="12"/>
          </p:nvPr>
        </p:nvSpPr>
        <p:spPr/>
        <p:txBody>
          <a:bodyPr/>
          <a:lstStyle/>
          <a:p>
            <a:fld id="{1F15FB28-37FD-485D-93D5-F5A544FDC930}" type="slidenum">
              <a:rPr lang="en-US" smtClean="0"/>
              <a:t>‹#›</a:t>
            </a:fld>
            <a:endParaRPr lang="en-US"/>
          </a:p>
        </p:txBody>
      </p:sp>
    </p:spTree>
    <p:extLst>
      <p:ext uri="{BB962C8B-B14F-4D97-AF65-F5344CB8AC3E}">
        <p14:creationId xmlns:p14="http://schemas.microsoft.com/office/powerpoint/2010/main" val="2869535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6D9468-B60C-B51F-7A41-9988CBBE64D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233192A-B6E0-EC97-7125-90D9EA182F5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A2879C1-1743-62FA-DC8E-7E4CAF6F8629}"/>
              </a:ext>
            </a:extLst>
          </p:cNvPr>
          <p:cNvSpPr>
            <a:spLocks noGrp="1"/>
          </p:cNvSpPr>
          <p:nvPr>
            <p:ph type="dt" sz="half" idx="10"/>
          </p:nvPr>
        </p:nvSpPr>
        <p:spPr/>
        <p:txBody>
          <a:bodyPr/>
          <a:lstStyle/>
          <a:p>
            <a:fld id="{8F838A22-B5A6-47DA-94CD-144E2EE07EA6}" type="datetimeFigureOut">
              <a:rPr lang="en-US" smtClean="0"/>
              <a:t>10/2/2025</a:t>
            </a:fld>
            <a:endParaRPr lang="en-US"/>
          </a:p>
        </p:txBody>
      </p:sp>
      <p:sp>
        <p:nvSpPr>
          <p:cNvPr id="5" name="Footer Placeholder 4">
            <a:extLst>
              <a:ext uri="{FF2B5EF4-FFF2-40B4-BE49-F238E27FC236}">
                <a16:creationId xmlns:a16="http://schemas.microsoft.com/office/drawing/2014/main" id="{157694BF-5633-53FC-4085-F153EA14671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C060F3F-094F-B5DE-7C7C-A00CE83A1FF2}"/>
              </a:ext>
            </a:extLst>
          </p:cNvPr>
          <p:cNvSpPr>
            <a:spLocks noGrp="1"/>
          </p:cNvSpPr>
          <p:nvPr>
            <p:ph type="sldNum" sz="quarter" idx="12"/>
          </p:nvPr>
        </p:nvSpPr>
        <p:spPr/>
        <p:txBody>
          <a:bodyPr/>
          <a:lstStyle/>
          <a:p>
            <a:fld id="{1F15FB28-37FD-485D-93D5-F5A544FDC930}" type="slidenum">
              <a:rPr lang="en-US" smtClean="0"/>
              <a:t>‹#›</a:t>
            </a:fld>
            <a:endParaRPr lang="en-US"/>
          </a:p>
        </p:txBody>
      </p:sp>
    </p:spTree>
    <p:extLst>
      <p:ext uri="{BB962C8B-B14F-4D97-AF65-F5344CB8AC3E}">
        <p14:creationId xmlns:p14="http://schemas.microsoft.com/office/powerpoint/2010/main" val="364039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70CDA5-58EB-1B9A-A8B8-3FF2E6AA85C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470CE15-2D33-A64A-0A8F-E8CF81EC356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D473915-8F48-32FC-5F78-7037074D2F1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7607D1A-0B01-A361-C030-7C2B1B147992}"/>
              </a:ext>
            </a:extLst>
          </p:cNvPr>
          <p:cNvSpPr>
            <a:spLocks noGrp="1"/>
          </p:cNvSpPr>
          <p:nvPr>
            <p:ph type="dt" sz="half" idx="10"/>
          </p:nvPr>
        </p:nvSpPr>
        <p:spPr/>
        <p:txBody>
          <a:bodyPr/>
          <a:lstStyle/>
          <a:p>
            <a:fld id="{8F838A22-B5A6-47DA-94CD-144E2EE07EA6}" type="datetimeFigureOut">
              <a:rPr lang="en-US" smtClean="0"/>
              <a:t>10/2/2025</a:t>
            </a:fld>
            <a:endParaRPr lang="en-US"/>
          </a:p>
        </p:txBody>
      </p:sp>
      <p:sp>
        <p:nvSpPr>
          <p:cNvPr id="6" name="Footer Placeholder 5">
            <a:extLst>
              <a:ext uri="{FF2B5EF4-FFF2-40B4-BE49-F238E27FC236}">
                <a16:creationId xmlns:a16="http://schemas.microsoft.com/office/drawing/2014/main" id="{12F0AA1B-9DED-4CAF-DE22-272C37698FD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3E19FFA-4CFA-BF3F-F2B5-BFE7EF2637D6}"/>
              </a:ext>
            </a:extLst>
          </p:cNvPr>
          <p:cNvSpPr>
            <a:spLocks noGrp="1"/>
          </p:cNvSpPr>
          <p:nvPr>
            <p:ph type="sldNum" sz="quarter" idx="12"/>
          </p:nvPr>
        </p:nvSpPr>
        <p:spPr/>
        <p:txBody>
          <a:bodyPr/>
          <a:lstStyle/>
          <a:p>
            <a:fld id="{1F15FB28-37FD-485D-93D5-F5A544FDC930}" type="slidenum">
              <a:rPr lang="en-US" smtClean="0"/>
              <a:t>‹#›</a:t>
            </a:fld>
            <a:endParaRPr lang="en-US"/>
          </a:p>
        </p:txBody>
      </p:sp>
    </p:spTree>
    <p:extLst>
      <p:ext uri="{BB962C8B-B14F-4D97-AF65-F5344CB8AC3E}">
        <p14:creationId xmlns:p14="http://schemas.microsoft.com/office/powerpoint/2010/main" val="27032352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AFCE92-15EC-6819-BE41-D963092F2C7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86FB93B-2D39-FA01-B804-DE992FA8149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CBAC486-1EED-5E82-A1DE-F0DF6A7EF85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EB524F7-DEC5-569D-BB91-6B9BBADB353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1A9758E-D499-9CE1-AF73-24A07B6CCE7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A73D71F-B246-E177-6224-059E62168B1B}"/>
              </a:ext>
            </a:extLst>
          </p:cNvPr>
          <p:cNvSpPr>
            <a:spLocks noGrp="1"/>
          </p:cNvSpPr>
          <p:nvPr>
            <p:ph type="dt" sz="half" idx="10"/>
          </p:nvPr>
        </p:nvSpPr>
        <p:spPr/>
        <p:txBody>
          <a:bodyPr/>
          <a:lstStyle/>
          <a:p>
            <a:fld id="{8F838A22-B5A6-47DA-94CD-144E2EE07EA6}" type="datetimeFigureOut">
              <a:rPr lang="en-US" smtClean="0"/>
              <a:t>10/2/2025</a:t>
            </a:fld>
            <a:endParaRPr lang="en-US"/>
          </a:p>
        </p:txBody>
      </p:sp>
      <p:sp>
        <p:nvSpPr>
          <p:cNvPr id="8" name="Footer Placeholder 7">
            <a:extLst>
              <a:ext uri="{FF2B5EF4-FFF2-40B4-BE49-F238E27FC236}">
                <a16:creationId xmlns:a16="http://schemas.microsoft.com/office/drawing/2014/main" id="{9BF5002A-0913-9235-103B-1FAA8D6F097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4378E9F-BD6B-22C5-7E39-FC6C8E3D3CA2}"/>
              </a:ext>
            </a:extLst>
          </p:cNvPr>
          <p:cNvSpPr>
            <a:spLocks noGrp="1"/>
          </p:cNvSpPr>
          <p:nvPr>
            <p:ph type="sldNum" sz="quarter" idx="12"/>
          </p:nvPr>
        </p:nvSpPr>
        <p:spPr/>
        <p:txBody>
          <a:bodyPr/>
          <a:lstStyle/>
          <a:p>
            <a:fld id="{1F15FB28-37FD-485D-93D5-F5A544FDC930}" type="slidenum">
              <a:rPr lang="en-US" smtClean="0"/>
              <a:t>‹#›</a:t>
            </a:fld>
            <a:endParaRPr lang="en-US"/>
          </a:p>
        </p:txBody>
      </p:sp>
    </p:spTree>
    <p:extLst>
      <p:ext uri="{BB962C8B-B14F-4D97-AF65-F5344CB8AC3E}">
        <p14:creationId xmlns:p14="http://schemas.microsoft.com/office/powerpoint/2010/main" val="42500772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F29D6A-6484-C375-A3DF-9449C869FE1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08B97F0-A833-F569-C8CC-C00C67C382FD}"/>
              </a:ext>
            </a:extLst>
          </p:cNvPr>
          <p:cNvSpPr>
            <a:spLocks noGrp="1"/>
          </p:cNvSpPr>
          <p:nvPr>
            <p:ph type="dt" sz="half" idx="10"/>
          </p:nvPr>
        </p:nvSpPr>
        <p:spPr/>
        <p:txBody>
          <a:bodyPr/>
          <a:lstStyle/>
          <a:p>
            <a:fld id="{8F838A22-B5A6-47DA-94CD-144E2EE07EA6}" type="datetimeFigureOut">
              <a:rPr lang="en-US" smtClean="0"/>
              <a:t>10/2/2025</a:t>
            </a:fld>
            <a:endParaRPr lang="en-US"/>
          </a:p>
        </p:txBody>
      </p:sp>
      <p:sp>
        <p:nvSpPr>
          <p:cNvPr id="4" name="Footer Placeholder 3">
            <a:extLst>
              <a:ext uri="{FF2B5EF4-FFF2-40B4-BE49-F238E27FC236}">
                <a16:creationId xmlns:a16="http://schemas.microsoft.com/office/drawing/2014/main" id="{5AEDFA7A-97C4-E804-BEEF-F52BB376A9C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E4F1205-DBA9-BBC5-97D0-CA9414D2498D}"/>
              </a:ext>
            </a:extLst>
          </p:cNvPr>
          <p:cNvSpPr>
            <a:spLocks noGrp="1"/>
          </p:cNvSpPr>
          <p:nvPr>
            <p:ph type="sldNum" sz="quarter" idx="12"/>
          </p:nvPr>
        </p:nvSpPr>
        <p:spPr/>
        <p:txBody>
          <a:bodyPr/>
          <a:lstStyle/>
          <a:p>
            <a:fld id="{1F15FB28-37FD-485D-93D5-F5A544FDC930}" type="slidenum">
              <a:rPr lang="en-US" smtClean="0"/>
              <a:t>‹#›</a:t>
            </a:fld>
            <a:endParaRPr lang="en-US"/>
          </a:p>
        </p:txBody>
      </p:sp>
    </p:spTree>
    <p:extLst>
      <p:ext uri="{BB962C8B-B14F-4D97-AF65-F5344CB8AC3E}">
        <p14:creationId xmlns:p14="http://schemas.microsoft.com/office/powerpoint/2010/main" val="7214626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3F1A8E2-F090-64C1-4EE9-227344BC0170}"/>
              </a:ext>
            </a:extLst>
          </p:cNvPr>
          <p:cNvSpPr>
            <a:spLocks noGrp="1"/>
          </p:cNvSpPr>
          <p:nvPr>
            <p:ph type="dt" sz="half" idx="10"/>
          </p:nvPr>
        </p:nvSpPr>
        <p:spPr/>
        <p:txBody>
          <a:bodyPr/>
          <a:lstStyle/>
          <a:p>
            <a:fld id="{8F838A22-B5A6-47DA-94CD-144E2EE07EA6}" type="datetimeFigureOut">
              <a:rPr lang="en-US" smtClean="0"/>
              <a:t>10/2/2025</a:t>
            </a:fld>
            <a:endParaRPr lang="en-US"/>
          </a:p>
        </p:txBody>
      </p:sp>
      <p:sp>
        <p:nvSpPr>
          <p:cNvPr id="3" name="Footer Placeholder 2">
            <a:extLst>
              <a:ext uri="{FF2B5EF4-FFF2-40B4-BE49-F238E27FC236}">
                <a16:creationId xmlns:a16="http://schemas.microsoft.com/office/drawing/2014/main" id="{667BAC7E-4E73-8D16-8A64-AB1BD83F394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2F72077-716A-B5CD-D556-B588416E08D3}"/>
              </a:ext>
            </a:extLst>
          </p:cNvPr>
          <p:cNvSpPr>
            <a:spLocks noGrp="1"/>
          </p:cNvSpPr>
          <p:nvPr>
            <p:ph type="sldNum" sz="quarter" idx="12"/>
          </p:nvPr>
        </p:nvSpPr>
        <p:spPr/>
        <p:txBody>
          <a:bodyPr/>
          <a:lstStyle/>
          <a:p>
            <a:fld id="{1F15FB28-37FD-485D-93D5-F5A544FDC930}" type="slidenum">
              <a:rPr lang="en-US" smtClean="0"/>
              <a:t>‹#›</a:t>
            </a:fld>
            <a:endParaRPr lang="en-US"/>
          </a:p>
        </p:txBody>
      </p:sp>
    </p:spTree>
    <p:extLst>
      <p:ext uri="{BB962C8B-B14F-4D97-AF65-F5344CB8AC3E}">
        <p14:creationId xmlns:p14="http://schemas.microsoft.com/office/powerpoint/2010/main" val="19048489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EDCE8D-361A-1BD9-7BA4-D74AD0BB076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68BEBA0-8244-B1E9-4C6F-973F312981B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495D24C-FD68-C0C2-387C-CF9C30F4670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96B084A-8C77-9A97-BF65-EFA2E3BE2C26}"/>
              </a:ext>
            </a:extLst>
          </p:cNvPr>
          <p:cNvSpPr>
            <a:spLocks noGrp="1"/>
          </p:cNvSpPr>
          <p:nvPr>
            <p:ph type="dt" sz="half" idx="10"/>
          </p:nvPr>
        </p:nvSpPr>
        <p:spPr/>
        <p:txBody>
          <a:bodyPr/>
          <a:lstStyle/>
          <a:p>
            <a:fld id="{8F838A22-B5A6-47DA-94CD-144E2EE07EA6}" type="datetimeFigureOut">
              <a:rPr lang="en-US" smtClean="0"/>
              <a:t>10/2/2025</a:t>
            </a:fld>
            <a:endParaRPr lang="en-US"/>
          </a:p>
        </p:txBody>
      </p:sp>
      <p:sp>
        <p:nvSpPr>
          <p:cNvPr id="6" name="Footer Placeholder 5">
            <a:extLst>
              <a:ext uri="{FF2B5EF4-FFF2-40B4-BE49-F238E27FC236}">
                <a16:creationId xmlns:a16="http://schemas.microsoft.com/office/drawing/2014/main" id="{CDEFD712-1436-EB7C-31EA-BBDAC47EF2E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6C3C43E-F7AD-681D-A280-AE360EF3BA17}"/>
              </a:ext>
            </a:extLst>
          </p:cNvPr>
          <p:cNvSpPr>
            <a:spLocks noGrp="1"/>
          </p:cNvSpPr>
          <p:nvPr>
            <p:ph type="sldNum" sz="quarter" idx="12"/>
          </p:nvPr>
        </p:nvSpPr>
        <p:spPr/>
        <p:txBody>
          <a:bodyPr/>
          <a:lstStyle/>
          <a:p>
            <a:fld id="{1F15FB28-37FD-485D-93D5-F5A544FDC930}" type="slidenum">
              <a:rPr lang="en-US" smtClean="0"/>
              <a:t>‹#›</a:t>
            </a:fld>
            <a:endParaRPr lang="en-US"/>
          </a:p>
        </p:txBody>
      </p:sp>
    </p:spTree>
    <p:extLst>
      <p:ext uri="{BB962C8B-B14F-4D97-AF65-F5344CB8AC3E}">
        <p14:creationId xmlns:p14="http://schemas.microsoft.com/office/powerpoint/2010/main" val="393372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AB553F-DC08-495D-1703-C778F602F65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5B70C74-6D68-5AB9-FE4D-85C3ABA9BC6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CE5577E-7A0A-4F1C-4E81-90993B4060F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606E3A6-7152-01BF-5156-6BEB6F9BEB57}"/>
              </a:ext>
            </a:extLst>
          </p:cNvPr>
          <p:cNvSpPr>
            <a:spLocks noGrp="1"/>
          </p:cNvSpPr>
          <p:nvPr>
            <p:ph type="dt" sz="half" idx="10"/>
          </p:nvPr>
        </p:nvSpPr>
        <p:spPr/>
        <p:txBody>
          <a:bodyPr/>
          <a:lstStyle/>
          <a:p>
            <a:fld id="{8F838A22-B5A6-47DA-94CD-144E2EE07EA6}" type="datetimeFigureOut">
              <a:rPr lang="en-US" smtClean="0"/>
              <a:t>10/2/2025</a:t>
            </a:fld>
            <a:endParaRPr lang="en-US"/>
          </a:p>
        </p:txBody>
      </p:sp>
      <p:sp>
        <p:nvSpPr>
          <p:cNvPr id="6" name="Footer Placeholder 5">
            <a:extLst>
              <a:ext uri="{FF2B5EF4-FFF2-40B4-BE49-F238E27FC236}">
                <a16:creationId xmlns:a16="http://schemas.microsoft.com/office/drawing/2014/main" id="{DEB4F86E-479A-F26D-96A7-3522F2EB957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D0F8B0A-8E3E-4AEC-77C5-D9A1EEC36015}"/>
              </a:ext>
            </a:extLst>
          </p:cNvPr>
          <p:cNvSpPr>
            <a:spLocks noGrp="1"/>
          </p:cNvSpPr>
          <p:nvPr>
            <p:ph type="sldNum" sz="quarter" idx="12"/>
          </p:nvPr>
        </p:nvSpPr>
        <p:spPr/>
        <p:txBody>
          <a:bodyPr/>
          <a:lstStyle/>
          <a:p>
            <a:fld id="{1F15FB28-37FD-485D-93D5-F5A544FDC930}" type="slidenum">
              <a:rPr lang="en-US" smtClean="0"/>
              <a:t>‹#›</a:t>
            </a:fld>
            <a:endParaRPr lang="en-US"/>
          </a:p>
        </p:txBody>
      </p:sp>
    </p:spTree>
    <p:extLst>
      <p:ext uri="{BB962C8B-B14F-4D97-AF65-F5344CB8AC3E}">
        <p14:creationId xmlns:p14="http://schemas.microsoft.com/office/powerpoint/2010/main" val="26412617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DB4064-E7A3-963C-D9E5-8063F158592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5469923-911C-63ED-164B-76AA526B1EB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22FADC7-8EFC-04F1-CAED-16040B302A80}"/>
              </a:ext>
            </a:extLst>
          </p:cNvPr>
          <p:cNvSpPr>
            <a:spLocks noGrp="1"/>
          </p:cNvSpPr>
          <p:nvPr>
            <p:ph type="dt" sz="half" idx="10"/>
          </p:nvPr>
        </p:nvSpPr>
        <p:spPr/>
        <p:txBody>
          <a:bodyPr/>
          <a:lstStyle/>
          <a:p>
            <a:fld id="{8F838A22-B5A6-47DA-94CD-144E2EE07EA6}" type="datetimeFigureOut">
              <a:rPr lang="en-US" smtClean="0"/>
              <a:t>10/2/2025</a:t>
            </a:fld>
            <a:endParaRPr lang="en-US"/>
          </a:p>
        </p:txBody>
      </p:sp>
      <p:sp>
        <p:nvSpPr>
          <p:cNvPr id="5" name="Footer Placeholder 4">
            <a:extLst>
              <a:ext uri="{FF2B5EF4-FFF2-40B4-BE49-F238E27FC236}">
                <a16:creationId xmlns:a16="http://schemas.microsoft.com/office/drawing/2014/main" id="{6C7DE1CC-F1E3-3A85-0BEB-412DC406C5D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BC124F7-C2DD-3857-83A3-767DF74A0D47}"/>
              </a:ext>
            </a:extLst>
          </p:cNvPr>
          <p:cNvSpPr>
            <a:spLocks noGrp="1"/>
          </p:cNvSpPr>
          <p:nvPr>
            <p:ph type="sldNum" sz="quarter" idx="12"/>
          </p:nvPr>
        </p:nvSpPr>
        <p:spPr/>
        <p:txBody>
          <a:bodyPr/>
          <a:lstStyle/>
          <a:p>
            <a:fld id="{1F15FB28-37FD-485D-93D5-F5A544FDC930}" type="slidenum">
              <a:rPr lang="en-US" smtClean="0"/>
              <a:t>‹#›</a:t>
            </a:fld>
            <a:endParaRPr lang="en-US"/>
          </a:p>
        </p:txBody>
      </p:sp>
    </p:spTree>
    <p:extLst>
      <p:ext uri="{BB962C8B-B14F-4D97-AF65-F5344CB8AC3E}">
        <p14:creationId xmlns:p14="http://schemas.microsoft.com/office/powerpoint/2010/main" val="9215487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321427F-325C-8204-4692-5B4623A8C7A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457B572-5F7E-5EC4-23B0-05342387E9F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43A0179-0B36-0C0D-597B-19961344B6C9}"/>
              </a:ext>
            </a:extLst>
          </p:cNvPr>
          <p:cNvSpPr>
            <a:spLocks noGrp="1"/>
          </p:cNvSpPr>
          <p:nvPr>
            <p:ph type="dt" sz="half" idx="10"/>
          </p:nvPr>
        </p:nvSpPr>
        <p:spPr/>
        <p:txBody>
          <a:bodyPr/>
          <a:lstStyle/>
          <a:p>
            <a:fld id="{8F838A22-B5A6-47DA-94CD-144E2EE07EA6}" type="datetimeFigureOut">
              <a:rPr lang="en-US" smtClean="0"/>
              <a:t>10/2/2025</a:t>
            </a:fld>
            <a:endParaRPr lang="en-US"/>
          </a:p>
        </p:txBody>
      </p:sp>
      <p:sp>
        <p:nvSpPr>
          <p:cNvPr id="5" name="Footer Placeholder 4">
            <a:extLst>
              <a:ext uri="{FF2B5EF4-FFF2-40B4-BE49-F238E27FC236}">
                <a16:creationId xmlns:a16="http://schemas.microsoft.com/office/drawing/2014/main" id="{665ACB70-1761-D532-BD8C-2F5ED236CB2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A8E00F1-7DDD-AFDD-7DB5-B3E69D03FBEE}"/>
              </a:ext>
            </a:extLst>
          </p:cNvPr>
          <p:cNvSpPr>
            <a:spLocks noGrp="1"/>
          </p:cNvSpPr>
          <p:nvPr>
            <p:ph type="sldNum" sz="quarter" idx="12"/>
          </p:nvPr>
        </p:nvSpPr>
        <p:spPr/>
        <p:txBody>
          <a:bodyPr/>
          <a:lstStyle/>
          <a:p>
            <a:fld id="{1F15FB28-37FD-485D-93D5-F5A544FDC930}" type="slidenum">
              <a:rPr lang="en-US" smtClean="0"/>
              <a:t>‹#›</a:t>
            </a:fld>
            <a:endParaRPr lang="en-US"/>
          </a:p>
        </p:txBody>
      </p:sp>
    </p:spTree>
    <p:extLst>
      <p:ext uri="{BB962C8B-B14F-4D97-AF65-F5344CB8AC3E}">
        <p14:creationId xmlns:p14="http://schemas.microsoft.com/office/powerpoint/2010/main" val="12236449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ACF40A1-979F-3B97-144C-8EE04F82F8C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2D03D10-6468-9059-560D-1CF0382BD9E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098E186-E56C-0599-D2F5-2ED55E2A660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F838A22-B5A6-47DA-94CD-144E2EE07EA6}" type="datetimeFigureOut">
              <a:rPr lang="en-US" smtClean="0"/>
              <a:t>10/2/2025</a:t>
            </a:fld>
            <a:endParaRPr lang="en-US"/>
          </a:p>
        </p:txBody>
      </p:sp>
      <p:sp>
        <p:nvSpPr>
          <p:cNvPr id="5" name="Footer Placeholder 4">
            <a:extLst>
              <a:ext uri="{FF2B5EF4-FFF2-40B4-BE49-F238E27FC236}">
                <a16:creationId xmlns:a16="http://schemas.microsoft.com/office/drawing/2014/main" id="{0622413A-2D3C-5EAC-9AB6-25DBEE4B880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58F3B056-E6D5-7138-A52C-4AAADDC5A30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F15FB28-37FD-485D-93D5-F5A544FDC930}" type="slidenum">
              <a:rPr lang="en-US" smtClean="0"/>
              <a:t>‹#›</a:t>
            </a:fld>
            <a:endParaRPr lang="en-US"/>
          </a:p>
        </p:txBody>
      </p:sp>
    </p:spTree>
    <p:extLst>
      <p:ext uri="{BB962C8B-B14F-4D97-AF65-F5344CB8AC3E}">
        <p14:creationId xmlns:p14="http://schemas.microsoft.com/office/powerpoint/2010/main" val="2573187928"/>
      </p:ext>
    </p:extLst>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2.png"/><Relationship Id="rId7" Type="http://schemas.openxmlformats.org/officeDocument/2006/relationships/customXml" Target="../ink/ink2.xml"/><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customXml" Target="../ink/ink1.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3.png"/><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705CA7-1B42-2093-F4C1-9FB0533B2372}"/>
              </a:ext>
            </a:extLst>
          </p:cNvPr>
          <p:cNvSpPr>
            <a:spLocks noGrp="1"/>
          </p:cNvSpPr>
          <p:nvPr>
            <p:ph type="ctrTitle"/>
          </p:nvPr>
        </p:nvSpPr>
        <p:spPr/>
        <p:txBody>
          <a:bodyPr>
            <a:normAutofit fontScale="90000"/>
          </a:bodyPr>
          <a:lstStyle/>
          <a:p>
            <a:r>
              <a:rPr lang="en-US" dirty="0">
                <a:solidFill>
                  <a:schemeClr val="accent6">
                    <a:lumMod val="20000"/>
                    <a:lumOff val="80000"/>
                  </a:schemeClr>
                </a:solidFill>
              </a:rPr>
              <a:t>Hypothesis Testing</a:t>
            </a:r>
            <a:br>
              <a:rPr lang="en-US" dirty="0">
                <a:solidFill>
                  <a:schemeClr val="accent6">
                    <a:lumMod val="20000"/>
                    <a:lumOff val="80000"/>
                  </a:schemeClr>
                </a:solidFill>
              </a:rPr>
            </a:br>
            <a:r>
              <a:rPr lang="en-US" dirty="0">
                <a:solidFill>
                  <a:schemeClr val="accent6">
                    <a:lumMod val="20000"/>
                    <a:lumOff val="80000"/>
                  </a:schemeClr>
                </a:solidFill>
              </a:rPr>
              <a:t>Understanding z-test for mean through examples</a:t>
            </a:r>
          </a:p>
        </p:txBody>
      </p:sp>
    </p:spTree>
    <p:extLst>
      <p:ext uri="{BB962C8B-B14F-4D97-AF65-F5344CB8AC3E}">
        <p14:creationId xmlns:p14="http://schemas.microsoft.com/office/powerpoint/2010/main" val="202000619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792698-31E0-0AA7-156B-E40E31919041}"/>
              </a:ext>
            </a:extLst>
          </p:cNvPr>
          <p:cNvSpPr>
            <a:spLocks noGrp="1"/>
          </p:cNvSpPr>
          <p:nvPr>
            <p:ph type="title"/>
          </p:nvPr>
        </p:nvSpPr>
        <p:spPr>
          <a:xfrm>
            <a:off x="838200" y="2431669"/>
            <a:ext cx="10515600" cy="2332355"/>
          </a:xfrm>
        </p:spPr>
        <p:txBody>
          <a:bodyPr>
            <a:normAutofit/>
          </a:bodyPr>
          <a:lstStyle/>
          <a:p>
            <a:pPr algn="ctr"/>
            <a:r>
              <a:rPr lang="en-US" sz="11500" b="1" dirty="0"/>
              <a:t>PART 1</a:t>
            </a:r>
          </a:p>
        </p:txBody>
      </p:sp>
    </p:spTree>
    <p:extLst>
      <p:ext uri="{BB962C8B-B14F-4D97-AF65-F5344CB8AC3E}">
        <p14:creationId xmlns:p14="http://schemas.microsoft.com/office/powerpoint/2010/main" val="28853742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994C8BE-D25B-24BF-D0E0-96609EE72A8D}"/>
              </a:ext>
            </a:extLst>
          </p:cNvPr>
          <p:cNvSpPr txBox="1"/>
          <p:nvPr/>
        </p:nvSpPr>
        <p:spPr>
          <a:xfrm>
            <a:off x="155448" y="307771"/>
            <a:ext cx="11292840" cy="6555641"/>
          </a:xfrm>
          <a:prstGeom prst="rect">
            <a:avLst/>
          </a:prstGeom>
          <a:noFill/>
        </p:spPr>
        <p:txBody>
          <a:bodyPr wrap="square">
            <a:spAutoFit/>
          </a:bodyPr>
          <a:lstStyle/>
          <a:p>
            <a:r>
              <a:rPr lang="en-US" sz="2000" dirty="0">
                <a:solidFill>
                  <a:schemeClr val="accent6">
                    <a:lumMod val="40000"/>
                    <a:lumOff val="60000"/>
                  </a:schemeClr>
                </a:solidFill>
              </a:rPr>
              <a:t>A </a:t>
            </a:r>
            <a:r>
              <a:rPr lang="en-US" sz="2000" b="1" dirty="0">
                <a:solidFill>
                  <a:schemeClr val="accent4">
                    <a:lumMod val="40000"/>
                    <a:lumOff val="60000"/>
                  </a:schemeClr>
                </a:solidFill>
              </a:rPr>
              <a:t>statistical hypothesis</a:t>
            </a:r>
            <a:r>
              <a:rPr lang="en-US" sz="2000" dirty="0">
                <a:solidFill>
                  <a:schemeClr val="accent4">
                    <a:lumMod val="40000"/>
                    <a:lumOff val="60000"/>
                  </a:schemeClr>
                </a:solidFill>
              </a:rPr>
              <a:t> is a conjecture</a:t>
            </a:r>
            <a:r>
              <a:rPr lang="en-US" sz="2000" dirty="0">
                <a:solidFill>
                  <a:schemeClr val="accent6">
                    <a:lumMod val="40000"/>
                    <a:lumOff val="60000"/>
                  </a:schemeClr>
                </a:solidFill>
              </a:rPr>
              <a:t> about a population parameter (e.g. mean, variance, etc. ). This conjecture may or may not be true.</a:t>
            </a:r>
          </a:p>
          <a:p>
            <a:endParaRPr lang="en-US" sz="2000" dirty="0">
              <a:solidFill>
                <a:schemeClr val="accent6">
                  <a:lumMod val="40000"/>
                  <a:lumOff val="60000"/>
                </a:schemeClr>
              </a:solidFill>
            </a:endParaRPr>
          </a:p>
          <a:p>
            <a:r>
              <a:rPr lang="en-US" sz="2000" dirty="0">
                <a:solidFill>
                  <a:schemeClr val="accent6">
                    <a:lumMod val="40000"/>
                    <a:lumOff val="60000"/>
                  </a:schemeClr>
                </a:solidFill>
              </a:rPr>
              <a:t>The </a:t>
            </a:r>
            <a:r>
              <a:rPr lang="en-US" sz="2000" b="1" dirty="0">
                <a:solidFill>
                  <a:schemeClr val="accent6">
                    <a:lumMod val="40000"/>
                    <a:lumOff val="60000"/>
                  </a:schemeClr>
                </a:solidFill>
              </a:rPr>
              <a:t>null hypothesis (H0): </a:t>
            </a:r>
            <a:r>
              <a:rPr lang="en-US" sz="2000" dirty="0">
                <a:solidFill>
                  <a:schemeClr val="accent6">
                    <a:lumMod val="40000"/>
                    <a:lumOff val="60000"/>
                  </a:schemeClr>
                </a:solidFill>
              </a:rPr>
              <a:t>is a statistical hypothesis that states that </a:t>
            </a:r>
            <a:r>
              <a:rPr lang="en-US" sz="2000" b="1" dirty="0">
                <a:solidFill>
                  <a:schemeClr val="accent6">
                    <a:lumMod val="40000"/>
                    <a:lumOff val="60000"/>
                  </a:schemeClr>
                </a:solidFill>
              </a:rPr>
              <a:t>there is no difference between a population parameter and the observed parameter. </a:t>
            </a:r>
            <a:r>
              <a:rPr lang="en-US" sz="2000" dirty="0">
                <a:solidFill>
                  <a:schemeClr val="accent6">
                    <a:lumMod val="40000"/>
                    <a:lumOff val="60000"/>
                  </a:schemeClr>
                </a:solidFill>
              </a:rPr>
              <a:t>That is, </a:t>
            </a:r>
            <a:r>
              <a:rPr lang="en-US" sz="2000" dirty="0">
                <a:solidFill>
                  <a:schemeClr val="accent4">
                    <a:lumMod val="40000"/>
                    <a:lumOff val="60000"/>
                  </a:schemeClr>
                </a:solidFill>
              </a:rPr>
              <a:t>nothing is happening. Status quo</a:t>
            </a:r>
            <a:endParaRPr lang="en-US" sz="2000" dirty="0">
              <a:solidFill>
                <a:schemeClr val="accent6">
                  <a:lumMod val="60000"/>
                  <a:lumOff val="40000"/>
                </a:schemeClr>
              </a:solidFill>
            </a:endParaRPr>
          </a:p>
          <a:p>
            <a:endParaRPr lang="en-US" sz="2000" dirty="0">
              <a:solidFill>
                <a:schemeClr val="accent6">
                  <a:lumMod val="40000"/>
                  <a:lumOff val="60000"/>
                </a:schemeClr>
              </a:solidFill>
            </a:endParaRPr>
          </a:p>
          <a:p>
            <a:r>
              <a:rPr lang="en-US" sz="2000" dirty="0">
                <a:solidFill>
                  <a:schemeClr val="accent6">
                    <a:lumMod val="40000"/>
                    <a:lumOff val="60000"/>
                  </a:schemeClr>
                </a:solidFill>
              </a:rPr>
              <a:t>The </a:t>
            </a:r>
            <a:r>
              <a:rPr lang="en-US" sz="2000" b="1" dirty="0">
                <a:solidFill>
                  <a:schemeClr val="accent6">
                    <a:lumMod val="40000"/>
                    <a:lumOff val="60000"/>
                  </a:schemeClr>
                </a:solidFill>
              </a:rPr>
              <a:t>alternative hypothesis (H1): </a:t>
            </a:r>
            <a:r>
              <a:rPr lang="en-US" sz="2000" dirty="0">
                <a:solidFill>
                  <a:schemeClr val="accent6">
                    <a:lumMod val="40000"/>
                    <a:lumOff val="60000"/>
                  </a:schemeClr>
                </a:solidFill>
              </a:rPr>
              <a:t>is a statistical hypothesis that states that </a:t>
            </a:r>
            <a:r>
              <a:rPr lang="en-US" sz="2000" b="1" dirty="0">
                <a:solidFill>
                  <a:schemeClr val="accent6">
                    <a:lumMod val="40000"/>
                    <a:lumOff val="60000"/>
                  </a:schemeClr>
                </a:solidFill>
              </a:rPr>
              <a:t>there is</a:t>
            </a:r>
            <a:r>
              <a:rPr lang="en-US" sz="2000" dirty="0">
                <a:solidFill>
                  <a:schemeClr val="accent6">
                    <a:lumMod val="40000"/>
                    <a:lumOff val="60000"/>
                  </a:schemeClr>
                </a:solidFill>
              </a:rPr>
              <a:t> </a:t>
            </a:r>
            <a:r>
              <a:rPr lang="en-US" sz="2000" b="1" dirty="0">
                <a:solidFill>
                  <a:schemeClr val="accent6">
                    <a:lumMod val="40000"/>
                    <a:lumOff val="60000"/>
                  </a:schemeClr>
                </a:solidFill>
              </a:rPr>
              <a:t>a difference between population parameter and the observed parameter. </a:t>
            </a:r>
            <a:r>
              <a:rPr lang="en-US" sz="2000" dirty="0">
                <a:solidFill>
                  <a:schemeClr val="accent6">
                    <a:lumMod val="40000"/>
                    <a:lumOff val="60000"/>
                  </a:schemeClr>
                </a:solidFill>
              </a:rPr>
              <a:t>That is, </a:t>
            </a:r>
            <a:r>
              <a:rPr lang="en-US" sz="2000" dirty="0">
                <a:solidFill>
                  <a:schemeClr val="accent4">
                    <a:lumMod val="40000"/>
                    <a:lumOff val="60000"/>
                  </a:schemeClr>
                </a:solidFill>
              </a:rPr>
              <a:t>something is happening.</a:t>
            </a:r>
          </a:p>
          <a:p>
            <a:endParaRPr lang="en-US" sz="2000" dirty="0">
              <a:solidFill>
                <a:schemeClr val="accent6">
                  <a:lumMod val="60000"/>
                  <a:lumOff val="40000"/>
                </a:schemeClr>
              </a:solidFill>
            </a:endParaRPr>
          </a:p>
          <a:p>
            <a:endParaRPr lang="en-US" sz="2000" dirty="0">
              <a:solidFill>
                <a:schemeClr val="accent6">
                  <a:lumMod val="60000"/>
                  <a:lumOff val="40000"/>
                </a:schemeClr>
              </a:solidFill>
            </a:endParaRPr>
          </a:p>
          <a:p>
            <a:r>
              <a:rPr lang="en-US" sz="2000" dirty="0">
                <a:solidFill>
                  <a:schemeClr val="accent6">
                    <a:lumMod val="60000"/>
                    <a:lumOff val="40000"/>
                  </a:schemeClr>
                </a:solidFill>
              </a:rPr>
              <a:t>Simple Example:  Imagine you want to test if a new teaching method improves test scores.</a:t>
            </a:r>
          </a:p>
          <a:p>
            <a:endParaRPr lang="en-US" sz="2000" dirty="0">
              <a:solidFill>
                <a:schemeClr val="accent6">
                  <a:lumMod val="60000"/>
                  <a:lumOff val="40000"/>
                </a:schemeClr>
              </a:solidFill>
            </a:endParaRPr>
          </a:p>
          <a:p>
            <a:r>
              <a:rPr lang="en-US" sz="2000" b="1" dirty="0">
                <a:solidFill>
                  <a:schemeClr val="accent6">
                    <a:lumMod val="60000"/>
                    <a:lumOff val="40000"/>
                  </a:schemeClr>
                </a:solidFill>
              </a:rPr>
              <a:t>Null hypothesis (H0):</a:t>
            </a:r>
            <a:r>
              <a:rPr lang="en-US" sz="2000" dirty="0">
                <a:solidFill>
                  <a:schemeClr val="accent6">
                    <a:lumMod val="60000"/>
                    <a:lumOff val="40000"/>
                  </a:schemeClr>
                </a:solidFill>
              </a:rPr>
              <a:t> The new teaching method has </a:t>
            </a:r>
            <a:r>
              <a:rPr lang="en-US" sz="2000" b="1" dirty="0">
                <a:solidFill>
                  <a:schemeClr val="accent6">
                    <a:lumMod val="60000"/>
                    <a:lumOff val="40000"/>
                  </a:schemeClr>
                </a:solidFill>
              </a:rPr>
              <a:t>no effect</a:t>
            </a:r>
            <a:r>
              <a:rPr lang="en-US" sz="2000" dirty="0">
                <a:solidFill>
                  <a:schemeClr val="accent6">
                    <a:lumMod val="60000"/>
                    <a:lumOff val="40000"/>
                  </a:schemeClr>
                </a:solidFill>
              </a:rPr>
              <a:t> on test scores</a:t>
            </a:r>
          </a:p>
          <a:p>
            <a:r>
              <a:rPr lang="en-US" sz="2000" dirty="0">
                <a:solidFill>
                  <a:schemeClr val="accent6">
                    <a:lumMod val="60000"/>
                    <a:lumOff val="40000"/>
                  </a:schemeClr>
                </a:solidFill>
              </a:rPr>
              <a:t>                                     ( Students scores remained same as before. Nothing happened. </a:t>
            </a:r>
            <a:r>
              <a:rPr lang="en-US" sz="2000" b="1" dirty="0">
                <a:solidFill>
                  <a:schemeClr val="accent6">
                    <a:lumMod val="60000"/>
                    <a:lumOff val="40000"/>
                  </a:schemeClr>
                </a:solidFill>
              </a:rPr>
              <a:t>No</a:t>
            </a:r>
            <a:r>
              <a:rPr lang="en-US" sz="2000" dirty="0">
                <a:solidFill>
                  <a:schemeClr val="accent6">
                    <a:lumMod val="60000"/>
                    <a:lumOff val="40000"/>
                  </a:schemeClr>
                </a:solidFill>
              </a:rPr>
              <a:t> </a:t>
            </a:r>
            <a:r>
              <a:rPr lang="en-US" sz="2000" b="1" dirty="0">
                <a:solidFill>
                  <a:schemeClr val="accent6">
                    <a:lumMod val="60000"/>
                    <a:lumOff val="40000"/>
                  </a:schemeClr>
                </a:solidFill>
              </a:rPr>
              <a:t>significant</a:t>
            </a:r>
            <a:r>
              <a:rPr lang="en-US" sz="2000" dirty="0">
                <a:solidFill>
                  <a:schemeClr val="accent6">
                    <a:lumMod val="60000"/>
                    <a:lumOff val="40000"/>
                  </a:schemeClr>
                </a:solidFill>
              </a:rPr>
              <a:t> change)</a:t>
            </a:r>
          </a:p>
          <a:p>
            <a:endParaRPr lang="en-US" sz="2000" dirty="0">
              <a:solidFill>
                <a:schemeClr val="accent6">
                  <a:lumMod val="60000"/>
                  <a:lumOff val="40000"/>
                </a:schemeClr>
              </a:solidFill>
            </a:endParaRPr>
          </a:p>
          <a:p>
            <a:r>
              <a:rPr lang="en-US" sz="2000" b="1" dirty="0">
                <a:solidFill>
                  <a:schemeClr val="accent6">
                    <a:lumMod val="60000"/>
                    <a:lumOff val="40000"/>
                  </a:schemeClr>
                </a:solidFill>
              </a:rPr>
              <a:t>Alternative hypothesis(H1):</a:t>
            </a:r>
            <a:r>
              <a:rPr lang="en-US" sz="2000" dirty="0">
                <a:solidFill>
                  <a:schemeClr val="accent6">
                    <a:lumMod val="60000"/>
                    <a:lumOff val="40000"/>
                  </a:schemeClr>
                </a:solidFill>
              </a:rPr>
              <a:t> The new teaching method has </a:t>
            </a:r>
            <a:r>
              <a:rPr lang="en-US" sz="2000" b="1" dirty="0">
                <a:solidFill>
                  <a:schemeClr val="accent6">
                    <a:lumMod val="60000"/>
                    <a:lumOff val="40000"/>
                  </a:schemeClr>
                </a:solidFill>
              </a:rPr>
              <a:t>positive effect</a:t>
            </a:r>
            <a:r>
              <a:rPr lang="en-US" sz="2000" dirty="0">
                <a:solidFill>
                  <a:schemeClr val="accent6">
                    <a:lumMod val="60000"/>
                    <a:lumOff val="40000"/>
                  </a:schemeClr>
                </a:solidFill>
              </a:rPr>
              <a:t> test scores.</a:t>
            </a:r>
          </a:p>
          <a:p>
            <a:r>
              <a:rPr lang="en-US" sz="2000" dirty="0">
                <a:solidFill>
                  <a:schemeClr val="accent6">
                    <a:lumMod val="60000"/>
                    <a:lumOff val="40000"/>
                  </a:schemeClr>
                </a:solidFill>
              </a:rPr>
              <a:t>                                     ( Students scores increased. Something happened. There </a:t>
            </a:r>
            <a:r>
              <a:rPr lang="en-US" sz="2000" b="1" dirty="0">
                <a:solidFill>
                  <a:schemeClr val="accent6">
                    <a:lumMod val="60000"/>
                    <a:lumOff val="40000"/>
                  </a:schemeClr>
                </a:solidFill>
              </a:rPr>
              <a:t>was</a:t>
            </a:r>
            <a:r>
              <a:rPr lang="en-US" sz="2000" dirty="0">
                <a:solidFill>
                  <a:schemeClr val="accent6">
                    <a:lumMod val="60000"/>
                    <a:lumOff val="40000"/>
                  </a:schemeClr>
                </a:solidFill>
              </a:rPr>
              <a:t> </a:t>
            </a:r>
            <a:r>
              <a:rPr lang="en-US" sz="2000" b="1" dirty="0">
                <a:solidFill>
                  <a:schemeClr val="accent6">
                    <a:lumMod val="60000"/>
                    <a:lumOff val="40000"/>
                  </a:schemeClr>
                </a:solidFill>
              </a:rPr>
              <a:t>significant</a:t>
            </a:r>
            <a:r>
              <a:rPr lang="en-US" sz="2000" dirty="0">
                <a:solidFill>
                  <a:schemeClr val="accent6">
                    <a:lumMod val="60000"/>
                    <a:lumOff val="40000"/>
                  </a:schemeClr>
                </a:solidFill>
              </a:rPr>
              <a:t> change)</a:t>
            </a:r>
          </a:p>
          <a:p>
            <a:endParaRPr lang="en-US" sz="2000" dirty="0">
              <a:solidFill>
                <a:schemeClr val="accent6">
                  <a:lumMod val="60000"/>
                  <a:lumOff val="40000"/>
                </a:schemeClr>
              </a:solidFill>
            </a:endParaRPr>
          </a:p>
          <a:p>
            <a:r>
              <a:rPr lang="en-US" sz="2000" b="1" dirty="0">
                <a:solidFill>
                  <a:schemeClr val="accent6">
                    <a:lumMod val="40000"/>
                    <a:lumOff val="60000"/>
                  </a:schemeClr>
                </a:solidFill>
              </a:rPr>
              <a:t>Side Note</a:t>
            </a:r>
            <a:r>
              <a:rPr lang="en-US" sz="2000" dirty="0">
                <a:solidFill>
                  <a:schemeClr val="accent6">
                    <a:lumMod val="40000"/>
                    <a:lumOff val="60000"/>
                  </a:schemeClr>
                </a:solidFill>
              </a:rPr>
              <a:t>: The null hypothesis isn’t always only about comparing “population mean vs observed mean” — it can also be about </a:t>
            </a:r>
            <a:r>
              <a:rPr lang="en-US" sz="2000" dirty="0">
                <a:solidFill>
                  <a:schemeClr val="accent4">
                    <a:lumMod val="40000"/>
                    <a:lumOff val="60000"/>
                  </a:schemeClr>
                </a:solidFill>
              </a:rPr>
              <a:t>proportions, variances, correlations, regression coefficients, etc.</a:t>
            </a:r>
          </a:p>
          <a:p>
            <a:endParaRPr lang="en-US" sz="2000" dirty="0">
              <a:solidFill>
                <a:schemeClr val="accent6">
                  <a:lumMod val="60000"/>
                  <a:lumOff val="40000"/>
                </a:schemeClr>
              </a:solidFill>
            </a:endParaRPr>
          </a:p>
        </p:txBody>
      </p:sp>
    </p:spTree>
    <p:extLst>
      <p:ext uri="{BB962C8B-B14F-4D97-AF65-F5344CB8AC3E}">
        <p14:creationId xmlns:p14="http://schemas.microsoft.com/office/powerpoint/2010/main" val="21022396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1E5A10-4F5D-CF67-C125-D68E5B620A9A}"/>
            </a:ext>
          </a:extLst>
        </p:cNvPr>
        <p:cNvGrpSpPr/>
        <p:nvPr/>
      </p:nvGrpSpPr>
      <p:grpSpPr>
        <a:xfrm>
          <a:off x="0" y="0"/>
          <a:ext cx="0" cy="0"/>
          <a:chOff x="0" y="0"/>
          <a:chExt cx="0" cy="0"/>
        </a:xfrm>
      </p:grpSpPr>
      <p:sp>
        <p:nvSpPr>
          <p:cNvPr id="10" name="TextBox 9">
            <a:extLst>
              <a:ext uri="{FF2B5EF4-FFF2-40B4-BE49-F238E27FC236}">
                <a16:creationId xmlns:a16="http://schemas.microsoft.com/office/drawing/2014/main" id="{7FF740DA-72ED-34F7-0580-B2560F60C55A}"/>
              </a:ext>
            </a:extLst>
          </p:cNvPr>
          <p:cNvSpPr txBox="1"/>
          <p:nvPr/>
        </p:nvSpPr>
        <p:spPr>
          <a:xfrm>
            <a:off x="502920" y="292608"/>
            <a:ext cx="6840855" cy="5262979"/>
          </a:xfrm>
          <a:prstGeom prst="rect">
            <a:avLst/>
          </a:prstGeom>
          <a:noFill/>
        </p:spPr>
        <p:txBody>
          <a:bodyPr wrap="square" rtlCol="0">
            <a:spAutoFit/>
          </a:bodyPr>
          <a:lstStyle/>
          <a:p>
            <a:r>
              <a:rPr lang="en-US" sz="2800" dirty="0">
                <a:solidFill>
                  <a:schemeClr val="accent6">
                    <a:lumMod val="40000"/>
                    <a:lumOff val="60000"/>
                  </a:schemeClr>
                </a:solidFill>
              </a:rPr>
              <a:t>Hypothesis problems fall under following 3 categories:</a:t>
            </a:r>
          </a:p>
          <a:p>
            <a:endParaRPr lang="en-US" sz="2800" dirty="0">
              <a:solidFill>
                <a:schemeClr val="accent6">
                  <a:lumMod val="40000"/>
                  <a:lumOff val="60000"/>
                </a:schemeClr>
              </a:solidFill>
            </a:endParaRPr>
          </a:p>
          <a:p>
            <a:r>
              <a:rPr lang="en-US" sz="2800" b="1" dirty="0">
                <a:solidFill>
                  <a:schemeClr val="accent4">
                    <a:lumMod val="40000"/>
                    <a:lumOff val="60000"/>
                  </a:schemeClr>
                </a:solidFill>
                <a:latin typeface="Inter"/>
              </a:rPr>
              <a:t>Left-tailed test</a:t>
            </a:r>
            <a:r>
              <a:rPr lang="en-US" sz="2800" b="1" dirty="0">
                <a:solidFill>
                  <a:schemeClr val="accent4">
                    <a:lumMod val="40000"/>
                    <a:lumOff val="60000"/>
                  </a:schemeClr>
                </a:solidFill>
              </a:rPr>
              <a:t> </a:t>
            </a:r>
          </a:p>
          <a:p>
            <a:endParaRPr lang="en-US" sz="2800" b="1" dirty="0">
              <a:solidFill>
                <a:schemeClr val="accent4">
                  <a:lumMod val="40000"/>
                  <a:lumOff val="60000"/>
                </a:schemeClr>
              </a:solidFill>
            </a:endParaRPr>
          </a:p>
          <a:p>
            <a:endParaRPr lang="en-US" sz="2800" b="1" dirty="0">
              <a:solidFill>
                <a:schemeClr val="accent4">
                  <a:lumMod val="40000"/>
                  <a:lumOff val="60000"/>
                </a:schemeClr>
              </a:solidFill>
            </a:endParaRPr>
          </a:p>
          <a:p>
            <a:endParaRPr lang="en-US" sz="2800" b="1" dirty="0">
              <a:solidFill>
                <a:schemeClr val="accent4">
                  <a:lumMod val="40000"/>
                  <a:lumOff val="60000"/>
                </a:schemeClr>
              </a:solidFill>
            </a:endParaRPr>
          </a:p>
          <a:p>
            <a:r>
              <a:rPr lang="en-US" sz="2800" b="1" dirty="0">
                <a:solidFill>
                  <a:schemeClr val="accent4">
                    <a:lumMod val="40000"/>
                    <a:lumOff val="60000"/>
                  </a:schemeClr>
                </a:solidFill>
                <a:latin typeface="Inter"/>
              </a:rPr>
              <a:t>Right-tailed test</a:t>
            </a:r>
          </a:p>
          <a:p>
            <a:endParaRPr lang="en-US" sz="2800" b="1" dirty="0">
              <a:solidFill>
                <a:schemeClr val="accent4">
                  <a:lumMod val="40000"/>
                  <a:lumOff val="60000"/>
                </a:schemeClr>
              </a:solidFill>
              <a:latin typeface="Inter"/>
            </a:endParaRPr>
          </a:p>
          <a:p>
            <a:endParaRPr lang="en-US" sz="2800" b="1" dirty="0">
              <a:solidFill>
                <a:schemeClr val="accent4">
                  <a:lumMod val="40000"/>
                  <a:lumOff val="60000"/>
                </a:schemeClr>
              </a:solidFill>
              <a:latin typeface="Inter"/>
            </a:endParaRPr>
          </a:p>
          <a:p>
            <a:endParaRPr lang="en-US" sz="2800" b="1" dirty="0">
              <a:solidFill>
                <a:schemeClr val="accent4">
                  <a:lumMod val="40000"/>
                  <a:lumOff val="60000"/>
                </a:schemeClr>
              </a:solidFill>
            </a:endParaRPr>
          </a:p>
          <a:p>
            <a:r>
              <a:rPr lang="en-US" sz="2800" b="1" dirty="0">
                <a:solidFill>
                  <a:schemeClr val="accent4">
                    <a:lumMod val="40000"/>
                    <a:lumOff val="60000"/>
                  </a:schemeClr>
                </a:solidFill>
              </a:rPr>
              <a:t>2-tailed test</a:t>
            </a:r>
          </a:p>
        </p:txBody>
      </p:sp>
      <p:pic>
        <p:nvPicPr>
          <p:cNvPr id="3" name="Picture 2">
            <a:extLst>
              <a:ext uri="{FF2B5EF4-FFF2-40B4-BE49-F238E27FC236}">
                <a16:creationId xmlns:a16="http://schemas.microsoft.com/office/drawing/2014/main" id="{1707B05C-FEA2-B266-7C8E-F4E9F0DCD5C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737648" y="2557908"/>
            <a:ext cx="4054302" cy="1742184"/>
          </a:xfrm>
          <a:prstGeom prst="rect">
            <a:avLst/>
          </a:prstGeom>
        </p:spPr>
      </p:pic>
      <p:pic>
        <p:nvPicPr>
          <p:cNvPr id="4" name="Picture 3">
            <a:extLst>
              <a:ext uri="{FF2B5EF4-FFF2-40B4-BE49-F238E27FC236}">
                <a16:creationId xmlns:a16="http://schemas.microsoft.com/office/drawing/2014/main" id="{972C0A71-64CA-A531-C4C2-FCD37F870C3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58691" y="198867"/>
            <a:ext cx="3857034" cy="2097294"/>
          </a:xfrm>
          <a:prstGeom prst="rect">
            <a:avLst/>
          </a:prstGeom>
        </p:spPr>
      </p:pic>
      <p:pic>
        <p:nvPicPr>
          <p:cNvPr id="6" name="Picture 5">
            <a:extLst>
              <a:ext uri="{FF2B5EF4-FFF2-40B4-BE49-F238E27FC236}">
                <a16:creationId xmlns:a16="http://schemas.microsoft.com/office/drawing/2014/main" id="{C5EA4751-461F-421A-9FFE-B1F7FA7C070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737648" y="4561839"/>
            <a:ext cx="4152781" cy="2097294"/>
          </a:xfrm>
          <a:prstGeom prst="rect">
            <a:avLst/>
          </a:prstGeom>
        </p:spPr>
      </p:pic>
      <mc:AlternateContent xmlns:mc="http://schemas.openxmlformats.org/markup-compatibility/2006" xmlns:p14="http://schemas.microsoft.com/office/powerpoint/2010/main">
        <mc:Choice Requires="p14">
          <p:contentPart p14:bwMode="auto" r:id="rId5">
            <p14:nvContentPartPr>
              <p14:cNvPr id="2" name="Ink 1">
                <a:extLst>
                  <a:ext uri="{FF2B5EF4-FFF2-40B4-BE49-F238E27FC236}">
                    <a16:creationId xmlns:a16="http://schemas.microsoft.com/office/drawing/2014/main" id="{415919A8-1DA2-33BF-6EEE-C3C609954BD2}"/>
                  </a:ext>
                </a:extLst>
              </p14:cNvPr>
              <p14:cNvContentPartPr/>
              <p14:nvPr/>
            </p14:nvContentPartPr>
            <p14:xfrm>
              <a:off x="1238175" y="2939115"/>
              <a:ext cx="493920" cy="95760"/>
            </p14:xfrm>
          </p:contentPart>
        </mc:Choice>
        <mc:Fallback xmlns="">
          <p:pic>
            <p:nvPicPr>
              <p:cNvPr id="2" name="Ink 1">
                <a:extLst>
                  <a:ext uri="{FF2B5EF4-FFF2-40B4-BE49-F238E27FC236}">
                    <a16:creationId xmlns:a16="http://schemas.microsoft.com/office/drawing/2014/main" id="{415919A8-1DA2-33BF-6EEE-C3C609954BD2}"/>
                  </a:ext>
                </a:extLst>
              </p:cNvPr>
              <p:cNvPicPr/>
              <p:nvPr/>
            </p:nvPicPr>
            <p:blipFill>
              <a:blip r:embed="rId6"/>
              <a:stretch>
                <a:fillRect/>
              </a:stretch>
            </p:blipFill>
            <p:spPr>
              <a:xfrm>
                <a:off x="1202175" y="2903115"/>
                <a:ext cx="565560" cy="1674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5" name="Ink 4">
                <a:extLst>
                  <a:ext uri="{FF2B5EF4-FFF2-40B4-BE49-F238E27FC236}">
                    <a16:creationId xmlns:a16="http://schemas.microsoft.com/office/drawing/2014/main" id="{2D781858-40B0-9D02-9A41-B33D831AF709}"/>
                  </a:ext>
                </a:extLst>
              </p14:cNvPr>
              <p14:cNvContentPartPr/>
              <p14:nvPr/>
            </p14:nvContentPartPr>
            <p14:xfrm>
              <a:off x="1323855" y="2561835"/>
              <a:ext cx="360" cy="360"/>
            </p14:xfrm>
          </p:contentPart>
        </mc:Choice>
        <mc:Fallback xmlns="">
          <p:pic>
            <p:nvPicPr>
              <p:cNvPr id="5" name="Ink 4">
                <a:extLst>
                  <a:ext uri="{FF2B5EF4-FFF2-40B4-BE49-F238E27FC236}">
                    <a16:creationId xmlns:a16="http://schemas.microsoft.com/office/drawing/2014/main" id="{2D781858-40B0-9D02-9A41-B33D831AF709}"/>
                  </a:ext>
                </a:extLst>
              </p:cNvPr>
              <p:cNvPicPr/>
              <p:nvPr/>
            </p:nvPicPr>
            <p:blipFill>
              <a:blip r:embed="rId8"/>
              <a:stretch>
                <a:fillRect/>
              </a:stretch>
            </p:blipFill>
            <p:spPr>
              <a:xfrm>
                <a:off x="1288215" y="2526195"/>
                <a:ext cx="72000" cy="72000"/>
              </a:xfrm>
              <a:prstGeom prst="rect">
                <a:avLst/>
              </a:prstGeom>
            </p:spPr>
          </p:pic>
        </mc:Fallback>
      </mc:AlternateContent>
    </p:spTree>
    <p:extLst>
      <p:ext uri="{BB962C8B-B14F-4D97-AF65-F5344CB8AC3E}">
        <p14:creationId xmlns:p14="http://schemas.microsoft.com/office/powerpoint/2010/main" val="1789453782"/>
      </p:ext>
    </p:extLst>
  </p:cSld>
  <p:clrMapOvr>
    <a:masterClrMapping/>
  </p:clrMapOvr>
  <p:transition spd="slow">
    <p:push dir="u"/>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B8A0A1-ABD8-48EF-C536-C75DFAFCFC92}"/>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7D7675C0-3693-C09B-EC62-E2B4B9D95D73}"/>
              </a:ext>
            </a:extLst>
          </p:cNvPr>
          <p:cNvSpPr txBox="1"/>
          <p:nvPr/>
        </p:nvSpPr>
        <p:spPr>
          <a:xfrm>
            <a:off x="191643" y="290465"/>
            <a:ext cx="11487912" cy="7294305"/>
          </a:xfrm>
          <a:prstGeom prst="rect">
            <a:avLst/>
          </a:prstGeom>
          <a:noFill/>
        </p:spPr>
        <p:txBody>
          <a:bodyPr wrap="square">
            <a:spAutoFit/>
          </a:bodyPr>
          <a:lstStyle/>
          <a:p>
            <a:r>
              <a:rPr lang="en-US" b="1" dirty="0">
                <a:solidFill>
                  <a:schemeClr val="accent4">
                    <a:lumMod val="40000"/>
                    <a:lumOff val="60000"/>
                  </a:schemeClr>
                </a:solidFill>
                <a:latin typeface="Inter"/>
              </a:rPr>
              <a:t>Left-tailed test</a:t>
            </a:r>
            <a:r>
              <a:rPr lang="en-US" b="1" dirty="0">
                <a:solidFill>
                  <a:schemeClr val="accent4">
                    <a:lumMod val="40000"/>
                    <a:lumOff val="60000"/>
                  </a:schemeClr>
                </a:solidFill>
              </a:rPr>
              <a:t> </a:t>
            </a:r>
          </a:p>
          <a:p>
            <a:r>
              <a:rPr lang="en-US" b="1" dirty="0">
                <a:solidFill>
                  <a:schemeClr val="accent6">
                    <a:lumMod val="20000"/>
                    <a:lumOff val="80000"/>
                  </a:schemeClr>
                </a:solidFill>
              </a:rPr>
              <a:t>Example </a:t>
            </a:r>
            <a:r>
              <a:rPr lang="en-US" dirty="0">
                <a:solidFill>
                  <a:schemeClr val="accent6">
                    <a:lumMod val="20000"/>
                    <a:lumOff val="80000"/>
                  </a:schemeClr>
                </a:solidFill>
              </a:rPr>
              <a:t>: A battery manufacturer claims that their new AA batteries last for </a:t>
            </a:r>
            <a:r>
              <a:rPr lang="en-US" b="1" dirty="0">
                <a:solidFill>
                  <a:schemeClr val="accent6">
                    <a:lumMod val="20000"/>
                    <a:lumOff val="80000"/>
                  </a:schemeClr>
                </a:solidFill>
              </a:rPr>
              <a:t>exactly 50 hours</a:t>
            </a:r>
            <a:r>
              <a:rPr lang="en-US" dirty="0">
                <a:solidFill>
                  <a:schemeClr val="accent6">
                    <a:lumMod val="20000"/>
                    <a:lumOff val="80000"/>
                  </a:schemeClr>
                </a:solidFill>
              </a:rPr>
              <a:t> of continuous use on average. A consumer protection agency wants to test if the batteries actually last </a:t>
            </a:r>
            <a:r>
              <a:rPr lang="en-US" b="1" dirty="0">
                <a:solidFill>
                  <a:schemeClr val="accent6">
                    <a:lumMod val="20000"/>
                    <a:lumOff val="80000"/>
                  </a:schemeClr>
                </a:solidFill>
              </a:rPr>
              <a:t>shorter</a:t>
            </a:r>
            <a:r>
              <a:rPr lang="en-US" dirty="0">
                <a:solidFill>
                  <a:schemeClr val="accent6">
                    <a:lumMod val="20000"/>
                    <a:lumOff val="80000"/>
                  </a:schemeClr>
                </a:solidFill>
              </a:rPr>
              <a:t> than claimed (the manufacturer might be overselling their product). </a:t>
            </a:r>
          </a:p>
          <a:p>
            <a:endParaRPr lang="en-US" dirty="0">
              <a:solidFill>
                <a:schemeClr val="accent6">
                  <a:lumMod val="20000"/>
                  <a:lumOff val="80000"/>
                </a:schemeClr>
              </a:solidFill>
            </a:endParaRPr>
          </a:p>
          <a:p>
            <a:r>
              <a:rPr lang="en-US" dirty="0">
                <a:solidFill>
                  <a:schemeClr val="accent6">
                    <a:lumMod val="20000"/>
                    <a:lumOff val="80000"/>
                  </a:schemeClr>
                </a:solidFill>
              </a:rPr>
              <a:t>The hypothesis are</a:t>
            </a:r>
          </a:p>
          <a:p>
            <a:r>
              <a:rPr lang="en-US" b="1" dirty="0">
                <a:solidFill>
                  <a:schemeClr val="accent6">
                    <a:lumMod val="20000"/>
                    <a:lumOff val="80000"/>
                  </a:schemeClr>
                </a:solidFill>
              </a:rPr>
              <a:t>Null Hypothesis (H₀):</a:t>
            </a:r>
            <a:r>
              <a:rPr lang="en-US" dirty="0">
                <a:solidFill>
                  <a:schemeClr val="accent6">
                    <a:lumMod val="20000"/>
                    <a:lumOff val="80000"/>
                  </a:schemeClr>
                </a:solidFill>
              </a:rPr>
              <a:t>             μ = 50 hours (batteries last </a:t>
            </a:r>
            <a:r>
              <a:rPr lang="en-US" b="1" dirty="0">
                <a:solidFill>
                  <a:schemeClr val="accent6">
                    <a:lumMod val="20000"/>
                    <a:lumOff val="80000"/>
                  </a:schemeClr>
                </a:solidFill>
              </a:rPr>
              <a:t>exactly</a:t>
            </a:r>
            <a:r>
              <a:rPr lang="en-US" dirty="0">
                <a:solidFill>
                  <a:schemeClr val="accent6">
                    <a:lumMod val="20000"/>
                    <a:lumOff val="80000"/>
                  </a:schemeClr>
                </a:solidFill>
              </a:rPr>
              <a:t> as claimed)</a:t>
            </a:r>
          </a:p>
          <a:p>
            <a:r>
              <a:rPr lang="en-US" b="1" dirty="0">
                <a:solidFill>
                  <a:schemeClr val="accent6">
                    <a:lumMod val="20000"/>
                    <a:lumOff val="80000"/>
                  </a:schemeClr>
                </a:solidFill>
              </a:rPr>
              <a:t>Alternative Hypothesis (H₁):</a:t>
            </a:r>
            <a:r>
              <a:rPr lang="en-US" dirty="0">
                <a:solidFill>
                  <a:schemeClr val="accent6">
                    <a:lumMod val="20000"/>
                    <a:lumOff val="80000"/>
                  </a:schemeClr>
                </a:solidFill>
              </a:rPr>
              <a:t> μ &lt; 50 hours (batteries last </a:t>
            </a:r>
            <a:r>
              <a:rPr lang="en-US" b="1" dirty="0">
                <a:solidFill>
                  <a:schemeClr val="accent6">
                    <a:lumMod val="20000"/>
                    <a:lumOff val="80000"/>
                  </a:schemeClr>
                </a:solidFill>
              </a:rPr>
              <a:t>shorter</a:t>
            </a:r>
            <a:r>
              <a:rPr lang="en-US" dirty="0">
                <a:solidFill>
                  <a:schemeClr val="accent6">
                    <a:lumMod val="20000"/>
                    <a:lumOff val="80000"/>
                  </a:schemeClr>
                </a:solidFill>
              </a:rPr>
              <a:t> than claimed)</a:t>
            </a:r>
          </a:p>
          <a:p>
            <a:r>
              <a:rPr lang="en-US" i="1" dirty="0">
                <a:solidFill>
                  <a:schemeClr val="accent6">
                    <a:lumMod val="20000"/>
                    <a:lumOff val="80000"/>
                  </a:schemeClr>
                </a:solidFill>
                <a:latin typeface="Inter"/>
              </a:rPr>
              <a:t>This is left-tailed because we're testing if the battery life is </a:t>
            </a:r>
            <a:r>
              <a:rPr lang="en-US" b="1" i="1" dirty="0">
                <a:solidFill>
                  <a:schemeClr val="accent4">
                    <a:lumMod val="40000"/>
                    <a:lumOff val="60000"/>
                  </a:schemeClr>
                </a:solidFill>
                <a:latin typeface="Inter"/>
              </a:rPr>
              <a:t>significantly</a:t>
            </a:r>
            <a:r>
              <a:rPr lang="en-US" i="1" dirty="0">
                <a:solidFill>
                  <a:schemeClr val="accent6">
                    <a:lumMod val="20000"/>
                    <a:lumOff val="80000"/>
                  </a:schemeClr>
                </a:solidFill>
                <a:latin typeface="Inter"/>
              </a:rPr>
              <a:t> below the claimed threshold.</a:t>
            </a:r>
          </a:p>
          <a:p>
            <a:endParaRPr lang="en-US" b="1" dirty="0">
              <a:solidFill>
                <a:schemeClr val="accent6">
                  <a:lumMod val="20000"/>
                  <a:lumOff val="80000"/>
                </a:schemeClr>
              </a:solidFill>
            </a:endParaRPr>
          </a:p>
          <a:p>
            <a:endParaRPr lang="en-US" b="1" dirty="0">
              <a:solidFill>
                <a:schemeClr val="accent6">
                  <a:lumMod val="20000"/>
                  <a:lumOff val="80000"/>
                </a:schemeClr>
              </a:solidFill>
            </a:endParaRPr>
          </a:p>
          <a:p>
            <a:endParaRPr lang="en-US" b="1" dirty="0">
              <a:solidFill>
                <a:schemeClr val="accent6">
                  <a:lumMod val="20000"/>
                  <a:lumOff val="80000"/>
                </a:schemeClr>
              </a:solidFill>
            </a:endParaRPr>
          </a:p>
          <a:p>
            <a:endParaRPr lang="en-US" b="1" dirty="0">
              <a:solidFill>
                <a:schemeClr val="accent6">
                  <a:lumMod val="20000"/>
                  <a:lumOff val="80000"/>
                </a:schemeClr>
              </a:solidFill>
            </a:endParaRPr>
          </a:p>
          <a:p>
            <a:endParaRPr lang="en-US" b="1" dirty="0">
              <a:solidFill>
                <a:schemeClr val="accent6">
                  <a:lumMod val="20000"/>
                  <a:lumOff val="80000"/>
                </a:schemeClr>
              </a:solidFill>
            </a:endParaRPr>
          </a:p>
          <a:p>
            <a:endParaRPr lang="en-US" b="1" dirty="0">
              <a:solidFill>
                <a:schemeClr val="accent6">
                  <a:lumMod val="20000"/>
                  <a:lumOff val="80000"/>
                </a:schemeClr>
              </a:solidFill>
            </a:endParaRPr>
          </a:p>
          <a:p>
            <a:r>
              <a:rPr lang="en-US" b="1" dirty="0">
                <a:solidFill>
                  <a:schemeClr val="accent6">
                    <a:lumMod val="20000"/>
                    <a:lumOff val="80000"/>
                  </a:schemeClr>
                </a:solidFill>
              </a:rPr>
              <a:t>Example: </a:t>
            </a:r>
            <a:r>
              <a:rPr lang="en-US" dirty="0">
                <a:solidFill>
                  <a:schemeClr val="accent6">
                    <a:lumMod val="20000"/>
                    <a:lumOff val="80000"/>
                  </a:schemeClr>
                </a:solidFill>
              </a:rPr>
              <a:t>A water treatment plant claims their new filtration system reduces contaminant levels to below 5 ppm. Environmental engineers want to verify the claim that filtration system performs better.</a:t>
            </a:r>
          </a:p>
          <a:p>
            <a:endParaRPr lang="en-US" dirty="0">
              <a:solidFill>
                <a:schemeClr val="accent6">
                  <a:lumMod val="20000"/>
                  <a:lumOff val="80000"/>
                </a:schemeClr>
              </a:solidFill>
            </a:endParaRPr>
          </a:p>
          <a:p>
            <a:r>
              <a:rPr lang="en-US" dirty="0">
                <a:solidFill>
                  <a:schemeClr val="accent6">
                    <a:lumMod val="20000"/>
                    <a:lumOff val="80000"/>
                  </a:schemeClr>
                </a:solidFill>
              </a:rPr>
              <a:t>The hypothesis are</a:t>
            </a:r>
          </a:p>
          <a:p>
            <a:r>
              <a:rPr lang="en-US" b="1" dirty="0">
                <a:solidFill>
                  <a:schemeClr val="accent6">
                    <a:lumMod val="20000"/>
                    <a:lumOff val="80000"/>
                  </a:schemeClr>
                </a:solidFill>
                <a:latin typeface="Inter"/>
              </a:rPr>
              <a:t>Null Hypothesis (H₀):</a:t>
            </a:r>
            <a:r>
              <a:rPr lang="en-US" dirty="0">
                <a:solidFill>
                  <a:schemeClr val="accent6">
                    <a:lumMod val="20000"/>
                    <a:lumOff val="80000"/>
                  </a:schemeClr>
                </a:solidFill>
                <a:latin typeface="Inter"/>
              </a:rPr>
              <a:t>             μ = 5 ppm (</a:t>
            </a:r>
            <a:r>
              <a:rPr lang="en-US" dirty="0">
                <a:solidFill>
                  <a:schemeClr val="accent6">
                    <a:lumMod val="20000"/>
                    <a:lumOff val="80000"/>
                  </a:schemeClr>
                </a:solidFill>
              </a:rPr>
              <a:t>The mean contaminant level is </a:t>
            </a:r>
            <a:r>
              <a:rPr lang="en-US" b="1" dirty="0">
                <a:solidFill>
                  <a:schemeClr val="accent6">
                    <a:lumMod val="20000"/>
                    <a:lumOff val="80000"/>
                  </a:schemeClr>
                </a:solidFill>
              </a:rPr>
              <a:t>exactly</a:t>
            </a:r>
            <a:r>
              <a:rPr lang="en-US" dirty="0">
                <a:solidFill>
                  <a:schemeClr val="accent6">
                    <a:lumMod val="20000"/>
                    <a:lumOff val="80000"/>
                  </a:schemeClr>
                </a:solidFill>
              </a:rPr>
              <a:t> 5 ppm</a:t>
            </a:r>
            <a:r>
              <a:rPr lang="en-US" dirty="0">
                <a:solidFill>
                  <a:schemeClr val="accent6">
                    <a:lumMod val="20000"/>
                    <a:lumOff val="80000"/>
                  </a:schemeClr>
                </a:solidFill>
                <a:latin typeface="Inter"/>
              </a:rPr>
              <a:t>)</a:t>
            </a:r>
          </a:p>
          <a:p>
            <a:r>
              <a:rPr lang="en-US" b="1" dirty="0">
                <a:solidFill>
                  <a:schemeClr val="accent6">
                    <a:lumMod val="20000"/>
                    <a:lumOff val="80000"/>
                  </a:schemeClr>
                </a:solidFill>
                <a:latin typeface="Inter"/>
              </a:rPr>
              <a:t>Alternative Hypothesis (H₁):</a:t>
            </a:r>
            <a:r>
              <a:rPr lang="en-US" dirty="0">
                <a:solidFill>
                  <a:schemeClr val="accent6">
                    <a:lumMod val="20000"/>
                    <a:lumOff val="80000"/>
                  </a:schemeClr>
                </a:solidFill>
                <a:latin typeface="Inter"/>
              </a:rPr>
              <a:t> μ &lt; 5 ppm (The mean contaminant level </a:t>
            </a:r>
            <a:r>
              <a:rPr lang="en-US" b="1" dirty="0">
                <a:solidFill>
                  <a:schemeClr val="accent6">
                    <a:lumMod val="20000"/>
                    <a:lumOff val="80000"/>
                  </a:schemeClr>
                </a:solidFill>
                <a:latin typeface="Inter"/>
              </a:rPr>
              <a:t>is less than</a:t>
            </a:r>
            <a:r>
              <a:rPr lang="en-US" dirty="0">
                <a:solidFill>
                  <a:schemeClr val="accent6">
                    <a:lumMod val="20000"/>
                    <a:lumOff val="80000"/>
                  </a:schemeClr>
                </a:solidFill>
                <a:latin typeface="Inter"/>
              </a:rPr>
              <a:t> 5 ppm)</a:t>
            </a:r>
          </a:p>
          <a:p>
            <a:r>
              <a:rPr lang="en-US" i="1" dirty="0">
                <a:solidFill>
                  <a:schemeClr val="accent6">
                    <a:lumMod val="20000"/>
                    <a:lumOff val="80000"/>
                  </a:schemeClr>
                </a:solidFill>
                <a:latin typeface="Inter"/>
              </a:rPr>
              <a:t>This is left-tailed because we're testing if the contaminant level is </a:t>
            </a:r>
            <a:r>
              <a:rPr lang="en-US" b="1" i="1" dirty="0">
                <a:solidFill>
                  <a:schemeClr val="accent4">
                    <a:lumMod val="40000"/>
                    <a:lumOff val="60000"/>
                  </a:schemeClr>
                </a:solidFill>
                <a:latin typeface="Inter"/>
              </a:rPr>
              <a:t>significantly</a:t>
            </a:r>
            <a:r>
              <a:rPr lang="en-US" i="1" dirty="0">
                <a:solidFill>
                  <a:schemeClr val="accent6">
                    <a:lumMod val="20000"/>
                    <a:lumOff val="80000"/>
                  </a:schemeClr>
                </a:solidFill>
                <a:latin typeface="Inter"/>
              </a:rPr>
              <a:t> below the claimed threshold.</a:t>
            </a:r>
          </a:p>
          <a:p>
            <a:endParaRPr lang="en-US" i="1" dirty="0">
              <a:solidFill>
                <a:schemeClr val="accent6">
                  <a:lumMod val="20000"/>
                  <a:lumOff val="80000"/>
                </a:schemeClr>
              </a:solidFill>
              <a:latin typeface="Inter"/>
            </a:endParaRPr>
          </a:p>
          <a:p>
            <a:endParaRPr lang="en-US" dirty="0">
              <a:solidFill>
                <a:schemeClr val="accent6">
                  <a:lumMod val="20000"/>
                  <a:lumOff val="80000"/>
                </a:schemeClr>
              </a:solidFill>
            </a:endParaRPr>
          </a:p>
          <a:p>
            <a:endParaRPr lang="en-US" dirty="0">
              <a:solidFill>
                <a:schemeClr val="accent6">
                  <a:lumMod val="20000"/>
                  <a:lumOff val="80000"/>
                </a:schemeClr>
              </a:solidFill>
              <a:latin typeface="Inter"/>
            </a:endParaRPr>
          </a:p>
          <a:p>
            <a:endParaRPr lang="en-US" i="1" dirty="0">
              <a:solidFill>
                <a:schemeClr val="accent6">
                  <a:lumMod val="20000"/>
                  <a:lumOff val="80000"/>
                </a:schemeClr>
              </a:solidFill>
            </a:endParaRPr>
          </a:p>
        </p:txBody>
      </p:sp>
    </p:spTree>
    <p:extLst>
      <p:ext uri="{BB962C8B-B14F-4D97-AF65-F5344CB8AC3E}">
        <p14:creationId xmlns:p14="http://schemas.microsoft.com/office/powerpoint/2010/main" val="39215269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F1F7D8-0957-888F-C914-9A49277351DB}"/>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9F947FAC-89B7-68B8-87AE-65BFBA038DDA}"/>
              </a:ext>
            </a:extLst>
          </p:cNvPr>
          <p:cNvSpPr txBox="1"/>
          <p:nvPr/>
        </p:nvSpPr>
        <p:spPr>
          <a:xfrm>
            <a:off x="201168" y="423815"/>
            <a:ext cx="11487912" cy="5909310"/>
          </a:xfrm>
          <a:prstGeom prst="rect">
            <a:avLst/>
          </a:prstGeom>
          <a:noFill/>
        </p:spPr>
        <p:txBody>
          <a:bodyPr wrap="square">
            <a:spAutoFit/>
          </a:bodyPr>
          <a:lstStyle/>
          <a:p>
            <a:r>
              <a:rPr lang="en-US" b="1" dirty="0">
                <a:solidFill>
                  <a:schemeClr val="accent4">
                    <a:lumMod val="40000"/>
                    <a:lumOff val="60000"/>
                  </a:schemeClr>
                </a:solidFill>
                <a:latin typeface="Inter"/>
              </a:rPr>
              <a:t>Right tailed test</a:t>
            </a:r>
          </a:p>
          <a:p>
            <a:r>
              <a:rPr lang="en-US" b="1" dirty="0">
                <a:solidFill>
                  <a:schemeClr val="accent6">
                    <a:lumMod val="40000"/>
                    <a:lumOff val="60000"/>
                  </a:schemeClr>
                </a:solidFill>
              </a:rPr>
              <a:t>Example : </a:t>
            </a:r>
            <a:r>
              <a:rPr lang="en-US" dirty="0">
                <a:solidFill>
                  <a:schemeClr val="accent6">
                    <a:lumMod val="40000"/>
                    <a:lumOff val="60000"/>
                  </a:schemeClr>
                </a:solidFill>
              </a:rPr>
              <a:t>An engineer develops a new </a:t>
            </a:r>
            <a:r>
              <a:rPr lang="en-US" b="1" dirty="0">
                <a:solidFill>
                  <a:schemeClr val="accent6">
                    <a:lumMod val="40000"/>
                    <a:lumOff val="60000"/>
                  </a:schemeClr>
                </a:solidFill>
              </a:rPr>
              <a:t>protective coating</a:t>
            </a:r>
            <a:r>
              <a:rPr lang="en-US" dirty="0">
                <a:solidFill>
                  <a:schemeClr val="accent6">
                    <a:lumMod val="40000"/>
                    <a:lumOff val="60000"/>
                  </a:schemeClr>
                </a:solidFill>
              </a:rPr>
              <a:t> to increase the lifetime of a metal component used in automotive manufacturing.</a:t>
            </a:r>
            <a:br>
              <a:rPr lang="en-US" dirty="0">
                <a:solidFill>
                  <a:schemeClr val="accent6">
                    <a:lumMod val="40000"/>
                    <a:lumOff val="60000"/>
                  </a:schemeClr>
                </a:solidFill>
              </a:rPr>
            </a:br>
            <a:r>
              <a:rPr lang="en-US" dirty="0">
                <a:solidFill>
                  <a:schemeClr val="accent6">
                    <a:lumMod val="40000"/>
                    <a:lumOff val="60000"/>
                  </a:schemeClr>
                </a:solidFill>
              </a:rPr>
              <a:t>If the mean lifetime of the component </a:t>
            </a:r>
            <a:r>
              <a:rPr lang="en-US" b="1" dirty="0">
                <a:solidFill>
                  <a:schemeClr val="accent6">
                    <a:lumMod val="40000"/>
                    <a:lumOff val="60000"/>
                  </a:schemeClr>
                </a:solidFill>
              </a:rPr>
              <a:t>without the coating</a:t>
            </a:r>
            <a:r>
              <a:rPr lang="en-US" dirty="0">
                <a:solidFill>
                  <a:schemeClr val="accent6">
                    <a:lumMod val="40000"/>
                    <a:lumOff val="60000"/>
                  </a:schemeClr>
                </a:solidFill>
              </a:rPr>
              <a:t> is </a:t>
            </a:r>
            <a:r>
              <a:rPr lang="en-US" b="1" dirty="0">
                <a:solidFill>
                  <a:schemeClr val="accent6">
                    <a:lumMod val="40000"/>
                    <a:lumOff val="60000"/>
                  </a:schemeClr>
                </a:solidFill>
              </a:rPr>
              <a:t>36 months</a:t>
            </a:r>
            <a:r>
              <a:rPr lang="en-US" dirty="0">
                <a:solidFill>
                  <a:schemeClr val="accent6">
                    <a:lumMod val="40000"/>
                    <a:lumOff val="60000"/>
                  </a:schemeClr>
                </a:solidFill>
              </a:rPr>
              <a:t>, then the engineer’s hypotheses are:</a:t>
            </a:r>
          </a:p>
          <a:p>
            <a:endParaRPr lang="en-US" dirty="0">
              <a:solidFill>
                <a:schemeClr val="accent6">
                  <a:lumMod val="40000"/>
                  <a:lumOff val="60000"/>
                </a:schemeClr>
              </a:solidFill>
            </a:endParaRPr>
          </a:p>
          <a:p>
            <a:r>
              <a:rPr lang="en-US" b="1" dirty="0">
                <a:solidFill>
                  <a:schemeClr val="accent6">
                    <a:lumMod val="40000"/>
                    <a:lumOff val="60000"/>
                  </a:schemeClr>
                </a:solidFill>
                <a:latin typeface="Inter"/>
              </a:rPr>
              <a:t>Null Hypothesis (H₀):</a:t>
            </a:r>
            <a:r>
              <a:rPr lang="en-US" dirty="0">
                <a:solidFill>
                  <a:schemeClr val="accent6">
                    <a:lumMod val="40000"/>
                    <a:lumOff val="60000"/>
                  </a:schemeClr>
                </a:solidFill>
                <a:latin typeface="Inter"/>
              </a:rPr>
              <a:t>             μ = 36 month (</a:t>
            </a:r>
            <a:r>
              <a:rPr lang="en-US" dirty="0">
                <a:solidFill>
                  <a:schemeClr val="accent6">
                    <a:lumMod val="40000"/>
                    <a:lumOff val="60000"/>
                  </a:schemeClr>
                </a:solidFill>
              </a:rPr>
              <a:t>the coating </a:t>
            </a:r>
            <a:r>
              <a:rPr lang="en-US" b="1" dirty="0">
                <a:solidFill>
                  <a:schemeClr val="accent6">
                    <a:lumMod val="40000"/>
                    <a:lumOff val="60000"/>
                  </a:schemeClr>
                </a:solidFill>
              </a:rPr>
              <a:t>does not change</a:t>
            </a:r>
            <a:r>
              <a:rPr lang="en-US" dirty="0">
                <a:solidFill>
                  <a:schemeClr val="accent6">
                    <a:lumMod val="40000"/>
                    <a:lumOff val="60000"/>
                  </a:schemeClr>
                </a:solidFill>
              </a:rPr>
              <a:t> the mean lifetime</a:t>
            </a:r>
            <a:r>
              <a:rPr lang="en-US" dirty="0">
                <a:solidFill>
                  <a:schemeClr val="accent6">
                    <a:lumMod val="40000"/>
                    <a:lumOff val="60000"/>
                  </a:schemeClr>
                </a:solidFill>
                <a:latin typeface="Inter"/>
              </a:rPr>
              <a:t>) </a:t>
            </a:r>
          </a:p>
          <a:p>
            <a:r>
              <a:rPr lang="en-US" b="1" dirty="0">
                <a:solidFill>
                  <a:schemeClr val="accent6">
                    <a:lumMod val="40000"/>
                    <a:lumOff val="60000"/>
                  </a:schemeClr>
                </a:solidFill>
                <a:latin typeface="Inter"/>
              </a:rPr>
              <a:t>Alternative Hypothesis (H₁):</a:t>
            </a:r>
            <a:r>
              <a:rPr lang="en-US" dirty="0">
                <a:solidFill>
                  <a:schemeClr val="accent6">
                    <a:lumMod val="40000"/>
                    <a:lumOff val="60000"/>
                  </a:schemeClr>
                </a:solidFill>
                <a:latin typeface="Inter"/>
              </a:rPr>
              <a:t> μ &gt; 36 months (</a:t>
            </a:r>
            <a:r>
              <a:rPr lang="en-US" dirty="0">
                <a:solidFill>
                  <a:schemeClr val="accent6">
                    <a:lumMod val="40000"/>
                    <a:lumOff val="60000"/>
                  </a:schemeClr>
                </a:solidFill>
              </a:rPr>
              <a:t>the coating </a:t>
            </a:r>
            <a:r>
              <a:rPr lang="en-US" b="1" dirty="0">
                <a:solidFill>
                  <a:schemeClr val="accent6">
                    <a:lumMod val="40000"/>
                    <a:lumOff val="60000"/>
                  </a:schemeClr>
                </a:solidFill>
              </a:rPr>
              <a:t>increases</a:t>
            </a:r>
            <a:r>
              <a:rPr lang="en-US" dirty="0">
                <a:solidFill>
                  <a:schemeClr val="accent6">
                    <a:lumMod val="40000"/>
                    <a:lumOff val="60000"/>
                  </a:schemeClr>
                </a:solidFill>
              </a:rPr>
              <a:t> the mean lifetime</a:t>
            </a:r>
            <a:r>
              <a:rPr lang="en-US" dirty="0">
                <a:solidFill>
                  <a:schemeClr val="accent6">
                    <a:lumMod val="40000"/>
                    <a:lumOff val="60000"/>
                  </a:schemeClr>
                </a:solidFill>
                <a:latin typeface="Inter"/>
              </a:rPr>
              <a:t>)</a:t>
            </a:r>
          </a:p>
          <a:p>
            <a:r>
              <a:rPr lang="en-US" i="1" dirty="0">
                <a:solidFill>
                  <a:schemeClr val="accent6">
                    <a:lumMod val="40000"/>
                    <a:lumOff val="60000"/>
                  </a:schemeClr>
                </a:solidFill>
                <a:latin typeface="Inter"/>
              </a:rPr>
              <a:t>This is right-tailed because we're specifically testing if after application of coating, the </a:t>
            </a:r>
          </a:p>
          <a:p>
            <a:r>
              <a:rPr lang="en-US" i="1" dirty="0">
                <a:solidFill>
                  <a:schemeClr val="accent6">
                    <a:lumMod val="40000"/>
                    <a:lumOff val="60000"/>
                  </a:schemeClr>
                </a:solidFill>
                <a:latin typeface="Inter"/>
              </a:rPr>
              <a:t>lifetime </a:t>
            </a:r>
            <a:r>
              <a:rPr lang="en-US" b="1" i="1" dirty="0">
                <a:solidFill>
                  <a:schemeClr val="accent6">
                    <a:lumMod val="40000"/>
                    <a:lumOff val="60000"/>
                  </a:schemeClr>
                </a:solidFill>
                <a:latin typeface="Inter"/>
              </a:rPr>
              <a:t>significantly </a:t>
            </a:r>
            <a:r>
              <a:rPr lang="en-US" i="1" dirty="0">
                <a:solidFill>
                  <a:schemeClr val="accent6">
                    <a:lumMod val="40000"/>
                    <a:lumOff val="60000"/>
                  </a:schemeClr>
                </a:solidFill>
                <a:latin typeface="Inter"/>
              </a:rPr>
              <a:t>exceeds the minimum threshold.</a:t>
            </a:r>
          </a:p>
          <a:p>
            <a:endParaRPr lang="en-US" i="1" dirty="0">
              <a:solidFill>
                <a:schemeClr val="accent6">
                  <a:lumMod val="40000"/>
                  <a:lumOff val="60000"/>
                </a:schemeClr>
              </a:solidFill>
              <a:latin typeface="Inter"/>
            </a:endParaRPr>
          </a:p>
          <a:p>
            <a:endParaRPr lang="en-US" i="1" dirty="0">
              <a:solidFill>
                <a:schemeClr val="accent6">
                  <a:lumMod val="40000"/>
                  <a:lumOff val="60000"/>
                </a:schemeClr>
              </a:solidFill>
              <a:latin typeface="Inter"/>
            </a:endParaRPr>
          </a:p>
          <a:p>
            <a:endParaRPr lang="en-US" i="1" dirty="0">
              <a:solidFill>
                <a:schemeClr val="accent6">
                  <a:lumMod val="40000"/>
                  <a:lumOff val="60000"/>
                </a:schemeClr>
              </a:solidFill>
              <a:latin typeface="Inter"/>
            </a:endParaRPr>
          </a:p>
          <a:p>
            <a:endParaRPr lang="en-US" i="1" dirty="0">
              <a:solidFill>
                <a:schemeClr val="accent6">
                  <a:lumMod val="40000"/>
                  <a:lumOff val="60000"/>
                </a:schemeClr>
              </a:solidFill>
              <a:latin typeface="Inter"/>
            </a:endParaRPr>
          </a:p>
          <a:p>
            <a:endParaRPr lang="en-US" i="1" dirty="0">
              <a:solidFill>
                <a:schemeClr val="accent6">
                  <a:lumMod val="40000"/>
                  <a:lumOff val="60000"/>
                </a:schemeClr>
              </a:solidFill>
              <a:latin typeface="Inter"/>
            </a:endParaRPr>
          </a:p>
          <a:p>
            <a:r>
              <a:rPr lang="en-US" b="1" dirty="0">
                <a:solidFill>
                  <a:schemeClr val="accent6">
                    <a:lumMod val="40000"/>
                    <a:lumOff val="60000"/>
                  </a:schemeClr>
                </a:solidFill>
              </a:rPr>
              <a:t>Example : </a:t>
            </a:r>
            <a:r>
              <a:rPr lang="en-US" dirty="0">
                <a:solidFill>
                  <a:schemeClr val="accent6">
                    <a:lumMod val="40000"/>
                    <a:lumOff val="60000"/>
                  </a:schemeClr>
                </a:solidFill>
              </a:rPr>
              <a:t>Imagine you normally jog an average distance of </a:t>
            </a:r>
            <a:r>
              <a:rPr lang="en-US" b="1" dirty="0">
                <a:solidFill>
                  <a:schemeClr val="accent6">
                    <a:lumMod val="40000"/>
                    <a:lumOff val="60000"/>
                  </a:schemeClr>
                </a:solidFill>
              </a:rPr>
              <a:t>5 km in an hour</a:t>
            </a:r>
            <a:r>
              <a:rPr lang="en-US" dirty="0">
                <a:solidFill>
                  <a:schemeClr val="accent6">
                    <a:lumMod val="40000"/>
                    <a:lumOff val="60000"/>
                  </a:schemeClr>
                </a:solidFill>
              </a:rPr>
              <a:t>.</a:t>
            </a:r>
            <a:br>
              <a:rPr lang="en-US" dirty="0">
                <a:solidFill>
                  <a:schemeClr val="accent6">
                    <a:lumMod val="40000"/>
                    <a:lumOff val="60000"/>
                  </a:schemeClr>
                </a:solidFill>
              </a:rPr>
            </a:br>
            <a:r>
              <a:rPr lang="en-US" dirty="0">
                <a:solidFill>
                  <a:schemeClr val="accent6">
                    <a:lumMod val="40000"/>
                    <a:lumOff val="60000"/>
                  </a:schemeClr>
                </a:solidFill>
              </a:rPr>
              <a:t>After 2 weeks of a new jogging plan, you want to prove that your </a:t>
            </a:r>
            <a:r>
              <a:rPr lang="en-US" b="1" dirty="0">
                <a:solidFill>
                  <a:schemeClr val="accent6">
                    <a:lumMod val="40000"/>
                    <a:lumOff val="60000"/>
                  </a:schemeClr>
                </a:solidFill>
              </a:rPr>
              <a:t>average jogging distance has improved</a:t>
            </a:r>
            <a:r>
              <a:rPr lang="en-US" dirty="0">
                <a:solidFill>
                  <a:schemeClr val="accent6">
                    <a:lumMod val="40000"/>
                    <a:lumOff val="60000"/>
                  </a:schemeClr>
                </a:solidFill>
              </a:rPr>
              <a:t>.</a:t>
            </a:r>
          </a:p>
          <a:p>
            <a:endParaRPr lang="en-US" b="1" dirty="0">
              <a:solidFill>
                <a:schemeClr val="accent6">
                  <a:lumMod val="40000"/>
                  <a:lumOff val="60000"/>
                </a:schemeClr>
              </a:solidFill>
              <a:latin typeface="Inter"/>
            </a:endParaRPr>
          </a:p>
          <a:p>
            <a:r>
              <a:rPr lang="en-US" b="1" dirty="0">
                <a:solidFill>
                  <a:schemeClr val="accent6">
                    <a:lumMod val="40000"/>
                    <a:lumOff val="60000"/>
                  </a:schemeClr>
                </a:solidFill>
                <a:latin typeface="Inter"/>
              </a:rPr>
              <a:t>Null Hypothesis (H₀):</a:t>
            </a:r>
            <a:r>
              <a:rPr lang="en-US" dirty="0">
                <a:solidFill>
                  <a:schemeClr val="accent6">
                    <a:lumMod val="40000"/>
                    <a:lumOff val="60000"/>
                  </a:schemeClr>
                </a:solidFill>
                <a:latin typeface="Inter"/>
              </a:rPr>
              <a:t>             μ = 5 Km  (</a:t>
            </a:r>
            <a:r>
              <a:rPr lang="en-US" dirty="0">
                <a:solidFill>
                  <a:schemeClr val="accent6">
                    <a:lumMod val="40000"/>
                    <a:lumOff val="60000"/>
                  </a:schemeClr>
                </a:solidFill>
              </a:rPr>
              <a:t>the new jogging plan </a:t>
            </a:r>
            <a:r>
              <a:rPr lang="en-US" b="1" dirty="0">
                <a:solidFill>
                  <a:schemeClr val="accent6">
                    <a:lumMod val="40000"/>
                    <a:lumOff val="60000"/>
                  </a:schemeClr>
                </a:solidFill>
              </a:rPr>
              <a:t>does not change</a:t>
            </a:r>
            <a:r>
              <a:rPr lang="en-US" dirty="0">
                <a:solidFill>
                  <a:schemeClr val="accent6">
                    <a:lumMod val="40000"/>
                    <a:lumOff val="60000"/>
                  </a:schemeClr>
                </a:solidFill>
              </a:rPr>
              <a:t> the average distance jogged</a:t>
            </a:r>
            <a:r>
              <a:rPr lang="en-US" dirty="0">
                <a:solidFill>
                  <a:schemeClr val="accent6">
                    <a:lumMod val="40000"/>
                    <a:lumOff val="60000"/>
                  </a:schemeClr>
                </a:solidFill>
                <a:latin typeface="Inter"/>
              </a:rPr>
              <a:t>) </a:t>
            </a:r>
          </a:p>
          <a:p>
            <a:r>
              <a:rPr lang="en-US" b="1" dirty="0">
                <a:solidFill>
                  <a:schemeClr val="accent6">
                    <a:lumMod val="40000"/>
                    <a:lumOff val="60000"/>
                  </a:schemeClr>
                </a:solidFill>
                <a:latin typeface="Inter"/>
              </a:rPr>
              <a:t>Alternative Hypothesis (H₁):</a:t>
            </a:r>
            <a:r>
              <a:rPr lang="en-US" dirty="0">
                <a:solidFill>
                  <a:schemeClr val="accent6">
                    <a:lumMod val="40000"/>
                    <a:lumOff val="60000"/>
                  </a:schemeClr>
                </a:solidFill>
                <a:latin typeface="Inter"/>
              </a:rPr>
              <a:t> μ &gt; 5 Km (</a:t>
            </a:r>
            <a:r>
              <a:rPr lang="en-US" dirty="0">
                <a:solidFill>
                  <a:schemeClr val="accent6">
                    <a:lumMod val="40000"/>
                    <a:lumOff val="60000"/>
                  </a:schemeClr>
                </a:solidFill>
              </a:rPr>
              <a:t>the new jogging plan </a:t>
            </a:r>
            <a:r>
              <a:rPr lang="en-US" b="1" dirty="0">
                <a:solidFill>
                  <a:schemeClr val="accent6">
                    <a:lumMod val="40000"/>
                    <a:lumOff val="60000"/>
                  </a:schemeClr>
                </a:solidFill>
              </a:rPr>
              <a:t>did increase</a:t>
            </a:r>
            <a:r>
              <a:rPr lang="en-US" dirty="0">
                <a:solidFill>
                  <a:schemeClr val="accent6">
                    <a:lumMod val="40000"/>
                    <a:lumOff val="60000"/>
                  </a:schemeClr>
                </a:solidFill>
              </a:rPr>
              <a:t> the average distance jogged</a:t>
            </a:r>
            <a:r>
              <a:rPr lang="en-US" dirty="0">
                <a:solidFill>
                  <a:schemeClr val="accent6">
                    <a:lumMod val="40000"/>
                    <a:lumOff val="60000"/>
                  </a:schemeClr>
                </a:solidFill>
                <a:latin typeface="Inter"/>
              </a:rPr>
              <a:t>) </a:t>
            </a:r>
          </a:p>
          <a:p>
            <a:r>
              <a:rPr lang="en-US" i="1" dirty="0">
                <a:solidFill>
                  <a:schemeClr val="accent6">
                    <a:lumMod val="40000"/>
                    <a:lumOff val="60000"/>
                  </a:schemeClr>
                </a:solidFill>
                <a:latin typeface="Inter"/>
              </a:rPr>
              <a:t>This is right-tailed because we're specifically testing if employing new plan, the </a:t>
            </a:r>
          </a:p>
          <a:p>
            <a:r>
              <a:rPr lang="en-US" i="1" dirty="0">
                <a:solidFill>
                  <a:schemeClr val="accent6">
                    <a:lumMod val="40000"/>
                    <a:lumOff val="60000"/>
                  </a:schemeClr>
                </a:solidFill>
                <a:latin typeface="Inter"/>
              </a:rPr>
              <a:t>average </a:t>
            </a:r>
            <a:r>
              <a:rPr lang="en-US" i="1" dirty="0">
                <a:solidFill>
                  <a:schemeClr val="accent6">
                    <a:lumMod val="40000"/>
                    <a:lumOff val="60000"/>
                  </a:schemeClr>
                </a:solidFill>
              </a:rPr>
              <a:t>distance jogged</a:t>
            </a:r>
            <a:r>
              <a:rPr lang="en-US" i="1" dirty="0">
                <a:solidFill>
                  <a:schemeClr val="accent6">
                    <a:lumMod val="40000"/>
                    <a:lumOff val="60000"/>
                  </a:schemeClr>
                </a:solidFill>
                <a:latin typeface="Inter"/>
              </a:rPr>
              <a:t> </a:t>
            </a:r>
            <a:r>
              <a:rPr lang="en-US" b="1" i="1" dirty="0">
                <a:solidFill>
                  <a:schemeClr val="accent6">
                    <a:lumMod val="40000"/>
                    <a:lumOff val="60000"/>
                  </a:schemeClr>
                </a:solidFill>
                <a:latin typeface="Inter"/>
              </a:rPr>
              <a:t>significantly </a:t>
            </a:r>
            <a:r>
              <a:rPr lang="en-US" i="1" dirty="0">
                <a:solidFill>
                  <a:schemeClr val="accent6">
                    <a:lumMod val="40000"/>
                    <a:lumOff val="60000"/>
                  </a:schemeClr>
                </a:solidFill>
                <a:latin typeface="Inter"/>
              </a:rPr>
              <a:t>increased.</a:t>
            </a:r>
          </a:p>
        </p:txBody>
      </p:sp>
    </p:spTree>
    <p:extLst>
      <p:ext uri="{BB962C8B-B14F-4D97-AF65-F5344CB8AC3E}">
        <p14:creationId xmlns:p14="http://schemas.microsoft.com/office/powerpoint/2010/main" val="27106319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D8AFE5E0-2E03-8A60-82BC-828243122B45}"/>
              </a:ext>
            </a:extLst>
          </p:cNvPr>
          <p:cNvSpPr txBox="1"/>
          <p:nvPr/>
        </p:nvSpPr>
        <p:spPr>
          <a:xfrm>
            <a:off x="137160" y="186399"/>
            <a:ext cx="11283696" cy="5632311"/>
          </a:xfrm>
          <a:prstGeom prst="rect">
            <a:avLst/>
          </a:prstGeom>
          <a:noFill/>
        </p:spPr>
        <p:txBody>
          <a:bodyPr wrap="square">
            <a:spAutoFit/>
          </a:bodyPr>
          <a:lstStyle/>
          <a:p>
            <a:r>
              <a:rPr lang="en-US" b="1" dirty="0">
                <a:solidFill>
                  <a:schemeClr val="accent4">
                    <a:lumMod val="40000"/>
                    <a:lumOff val="60000"/>
                  </a:schemeClr>
                </a:solidFill>
              </a:rPr>
              <a:t>2-tailed test</a:t>
            </a:r>
          </a:p>
          <a:p>
            <a:r>
              <a:rPr lang="en-US" b="1" dirty="0">
                <a:solidFill>
                  <a:schemeClr val="accent6">
                    <a:lumMod val="20000"/>
                    <a:lumOff val="80000"/>
                  </a:schemeClr>
                </a:solidFill>
              </a:rPr>
              <a:t>Example : </a:t>
            </a:r>
            <a:r>
              <a:rPr lang="en-US" dirty="0">
                <a:solidFill>
                  <a:schemeClr val="accent6">
                    <a:lumMod val="20000"/>
                    <a:lumOff val="80000"/>
                  </a:schemeClr>
                </a:solidFill>
              </a:rPr>
              <a:t>A medical researcher is interested in finding out whether a new medication will have any undesirable side effects. The researcher is particularly concerned with the pulse rate of the patients who take the medication. Will the pulse rate increase, decrease, or remain unchanged after a patient takes the medication? Since the researcher knows that the mean pulse rate for the population under study is 82 beats per minute, the hypotheses for this situation are</a:t>
            </a:r>
          </a:p>
          <a:p>
            <a:endParaRPr lang="en-US" dirty="0">
              <a:solidFill>
                <a:schemeClr val="accent6">
                  <a:lumMod val="20000"/>
                  <a:lumOff val="80000"/>
                </a:schemeClr>
              </a:solidFill>
            </a:endParaRPr>
          </a:p>
          <a:p>
            <a:r>
              <a:rPr lang="en-US" b="1" dirty="0">
                <a:solidFill>
                  <a:schemeClr val="accent6">
                    <a:lumMod val="20000"/>
                    <a:lumOff val="80000"/>
                  </a:schemeClr>
                </a:solidFill>
                <a:latin typeface="Inter"/>
              </a:rPr>
              <a:t>Null Hypothesis (H₀):</a:t>
            </a:r>
            <a:r>
              <a:rPr lang="en-US" dirty="0">
                <a:solidFill>
                  <a:schemeClr val="accent6">
                    <a:lumMod val="20000"/>
                    <a:lumOff val="80000"/>
                  </a:schemeClr>
                </a:solidFill>
              </a:rPr>
              <a:t>             mean </a:t>
            </a:r>
            <a:r>
              <a:rPr lang="el-GR" b="1" dirty="0">
                <a:solidFill>
                  <a:schemeClr val="accent6">
                    <a:lumMod val="20000"/>
                    <a:lumOff val="80000"/>
                  </a:schemeClr>
                </a:solidFill>
              </a:rPr>
              <a:t>μ</a:t>
            </a:r>
            <a:r>
              <a:rPr lang="en-US" b="1" dirty="0">
                <a:solidFill>
                  <a:schemeClr val="accent6">
                    <a:lumMod val="20000"/>
                    <a:lumOff val="80000"/>
                  </a:schemeClr>
                </a:solidFill>
              </a:rPr>
              <a:t> =</a:t>
            </a:r>
            <a:r>
              <a:rPr lang="en-US" dirty="0">
                <a:solidFill>
                  <a:schemeClr val="accent6">
                    <a:lumMod val="20000"/>
                    <a:lumOff val="80000"/>
                  </a:schemeClr>
                </a:solidFill>
              </a:rPr>
              <a:t> 82          ( mean will remain </a:t>
            </a:r>
            <a:r>
              <a:rPr lang="en-US" b="1" dirty="0">
                <a:solidFill>
                  <a:schemeClr val="accent6">
                    <a:lumMod val="20000"/>
                    <a:lumOff val="80000"/>
                  </a:schemeClr>
                </a:solidFill>
              </a:rPr>
              <a:t>unchanged)</a:t>
            </a:r>
          </a:p>
          <a:p>
            <a:r>
              <a:rPr lang="en-US" b="1" dirty="0">
                <a:solidFill>
                  <a:schemeClr val="accent6">
                    <a:lumMod val="20000"/>
                    <a:lumOff val="80000"/>
                  </a:schemeClr>
                </a:solidFill>
                <a:latin typeface="Inter"/>
              </a:rPr>
              <a:t>Alternative Hypothesis (H₁):</a:t>
            </a:r>
            <a:r>
              <a:rPr lang="en-US" dirty="0">
                <a:solidFill>
                  <a:schemeClr val="accent6">
                    <a:lumMod val="20000"/>
                    <a:lumOff val="80000"/>
                  </a:schemeClr>
                </a:solidFill>
              </a:rPr>
              <a:t> mean </a:t>
            </a:r>
            <a:r>
              <a:rPr lang="el-GR" b="1" dirty="0">
                <a:solidFill>
                  <a:schemeClr val="accent6">
                    <a:lumMod val="20000"/>
                    <a:lumOff val="80000"/>
                  </a:schemeClr>
                </a:solidFill>
              </a:rPr>
              <a:t>μ </a:t>
            </a:r>
            <a:r>
              <a:rPr lang="en-US" dirty="0">
                <a:solidFill>
                  <a:schemeClr val="accent6">
                    <a:lumMod val="20000"/>
                    <a:lumOff val="80000"/>
                  </a:schemeClr>
                </a:solidFill>
              </a:rPr>
              <a:t>≠ 82 BPM ( mean will </a:t>
            </a:r>
            <a:r>
              <a:rPr lang="en-US" b="1" dirty="0">
                <a:solidFill>
                  <a:schemeClr val="accent6">
                    <a:lumMod val="20000"/>
                    <a:lumOff val="80000"/>
                  </a:schemeClr>
                </a:solidFill>
              </a:rPr>
              <a:t>change: </a:t>
            </a:r>
            <a:r>
              <a:rPr lang="en-US" dirty="0">
                <a:solidFill>
                  <a:schemeClr val="accent6">
                    <a:lumMod val="20000"/>
                    <a:lumOff val="80000"/>
                  </a:schemeClr>
                </a:solidFill>
              </a:rPr>
              <a:t>the mean could be either &gt; 82 or &lt; 82 BPM</a:t>
            </a:r>
          </a:p>
          <a:p>
            <a:r>
              <a:rPr lang="en-US" i="1" dirty="0">
                <a:solidFill>
                  <a:schemeClr val="accent6">
                    <a:lumMod val="20000"/>
                    <a:lumOff val="80000"/>
                  </a:schemeClr>
                </a:solidFill>
              </a:rPr>
              <a:t>This test is called a two-tailed test since the possible side effects of the medicine could be to </a:t>
            </a:r>
            <a:r>
              <a:rPr lang="en-US" b="1" i="1" dirty="0">
                <a:solidFill>
                  <a:schemeClr val="accent4">
                    <a:lumMod val="40000"/>
                    <a:lumOff val="60000"/>
                  </a:schemeClr>
                </a:solidFill>
                <a:latin typeface="Inter"/>
              </a:rPr>
              <a:t>significantly </a:t>
            </a:r>
            <a:r>
              <a:rPr lang="en-US" i="1" dirty="0">
                <a:solidFill>
                  <a:schemeClr val="accent6">
                    <a:lumMod val="20000"/>
                    <a:lumOff val="80000"/>
                  </a:schemeClr>
                </a:solidFill>
              </a:rPr>
              <a:t>raise or lower the pulse rate.</a:t>
            </a:r>
          </a:p>
          <a:p>
            <a:endParaRPr lang="en-US" i="1" dirty="0">
              <a:solidFill>
                <a:schemeClr val="accent6">
                  <a:lumMod val="20000"/>
                  <a:lumOff val="80000"/>
                </a:schemeClr>
              </a:solidFill>
            </a:endParaRPr>
          </a:p>
          <a:p>
            <a:r>
              <a:rPr lang="en-US" i="1" dirty="0">
                <a:solidFill>
                  <a:schemeClr val="accent6">
                    <a:lumMod val="20000"/>
                    <a:lumOff val="80000"/>
                  </a:schemeClr>
                </a:solidFill>
              </a:rPr>
              <a:t>                                                                        </a:t>
            </a:r>
          </a:p>
          <a:p>
            <a:r>
              <a:rPr lang="en-US" i="1" dirty="0">
                <a:solidFill>
                  <a:schemeClr val="accent6">
                    <a:lumMod val="20000"/>
                    <a:lumOff val="80000"/>
                  </a:schemeClr>
                </a:solidFill>
              </a:rPr>
              <a:t>                                 </a:t>
            </a:r>
          </a:p>
          <a:p>
            <a:r>
              <a:rPr lang="en-US" b="1" dirty="0">
                <a:solidFill>
                  <a:schemeClr val="accent6">
                    <a:lumMod val="20000"/>
                    <a:lumOff val="80000"/>
                  </a:schemeClr>
                </a:solidFill>
              </a:rPr>
              <a:t>Example :     </a:t>
            </a:r>
            <a:r>
              <a:rPr lang="en-US" dirty="0">
                <a:solidFill>
                  <a:schemeClr val="accent6">
                    <a:lumMod val="20000"/>
                    <a:lumOff val="80000"/>
                  </a:schemeClr>
                </a:solidFill>
              </a:rPr>
              <a:t>A soft drink company has a bottling machine that's supposed to fill bottles with exactly 500 ml of soda. </a:t>
            </a:r>
          </a:p>
          <a:p>
            <a:r>
              <a:rPr lang="en-US" dirty="0">
                <a:solidFill>
                  <a:schemeClr val="accent6">
                    <a:lumMod val="20000"/>
                    <a:lumOff val="80000"/>
                  </a:schemeClr>
                </a:solidFill>
              </a:rPr>
              <a:t>The quality control manager suspects the machine might be malfunctioning - it could be overfilling OR underfilling bottles.  The hypothesis for this are</a:t>
            </a:r>
          </a:p>
          <a:p>
            <a:endParaRPr lang="en-US" b="1" dirty="0">
              <a:solidFill>
                <a:schemeClr val="accent6">
                  <a:lumMod val="20000"/>
                  <a:lumOff val="80000"/>
                </a:schemeClr>
              </a:solidFill>
            </a:endParaRPr>
          </a:p>
          <a:p>
            <a:r>
              <a:rPr lang="en-US" b="1" dirty="0">
                <a:solidFill>
                  <a:schemeClr val="accent6">
                    <a:lumMod val="20000"/>
                    <a:lumOff val="80000"/>
                  </a:schemeClr>
                </a:solidFill>
              </a:rPr>
              <a:t>Null Hypothesis (H₀):</a:t>
            </a:r>
            <a:r>
              <a:rPr lang="en-US" dirty="0">
                <a:solidFill>
                  <a:schemeClr val="accent6">
                    <a:lumMod val="20000"/>
                    <a:lumOff val="80000"/>
                  </a:schemeClr>
                </a:solidFill>
              </a:rPr>
              <a:t>             μ = 500 ml (the machine is filling correctly - </a:t>
            </a:r>
            <a:r>
              <a:rPr lang="en-US" b="1" dirty="0">
                <a:solidFill>
                  <a:schemeClr val="accent6">
                    <a:lumMod val="20000"/>
                    <a:lumOff val="80000"/>
                  </a:schemeClr>
                </a:solidFill>
              </a:rPr>
              <a:t>No change</a:t>
            </a:r>
            <a:r>
              <a:rPr lang="en-US" dirty="0">
                <a:solidFill>
                  <a:schemeClr val="accent6">
                    <a:lumMod val="20000"/>
                    <a:lumOff val="80000"/>
                  </a:schemeClr>
                </a:solidFill>
              </a:rPr>
              <a:t>)</a:t>
            </a:r>
          </a:p>
          <a:p>
            <a:r>
              <a:rPr lang="en-US" b="1" dirty="0">
                <a:solidFill>
                  <a:schemeClr val="accent6">
                    <a:lumMod val="20000"/>
                    <a:lumOff val="80000"/>
                  </a:schemeClr>
                </a:solidFill>
              </a:rPr>
              <a:t>Alternative Hypothesis (H₁):</a:t>
            </a:r>
            <a:r>
              <a:rPr lang="en-US" dirty="0">
                <a:solidFill>
                  <a:schemeClr val="accent6">
                    <a:lumMod val="20000"/>
                    <a:lumOff val="80000"/>
                  </a:schemeClr>
                </a:solidFill>
              </a:rPr>
              <a:t> μ ≠ 500 ml (the machine is NOT filling correctly - </a:t>
            </a:r>
            <a:r>
              <a:rPr lang="en-US" b="1" dirty="0">
                <a:solidFill>
                  <a:schemeClr val="accent6">
                    <a:lumMod val="20000"/>
                    <a:lumOff val="80000"/>
                  </a:schemeClr>
                </a:solidFill>
              </a:rPr>
              <a:t>There is change . C</a:t>
            </a:r>
            <a:r>
              <a:rPr lang="en-US" dirty="0">
                <a:solidFill>
                  <a:schemeClr val="accent6">
                    <a:lumMod val="20000"/>
                    <a:lumOff val="80000"/>
                  </a:schemeClr>
                </a:solidFill>
              </a:rPr>
              <a:t>ould be more OR less.)</a:t>
            </a:r>
          </a:p>
          <a:p>
            <a:r>
              <a:rPr lang="en-US" i="1" dirty="0">
                <a:solidFill>
                  <a:schemeClr val="accent6">
                    <a:lumMod val="20000"/>
                    <a:lumOff val="80000"/>
                  </a:schemeClr>
                </a:solidFill>
              </a:rPr>
              <a:t>This test is called a two-tailed test since the machine could be filling less or more.</a:t>
            </a:r>
          </a:p>
        </p:txBody>
      </p:sp>
    </p:spTree>
    <p:extLst>
      <p:ext uri="{BB962C8B-B14F-4D97-AF65-F5344CB8AC3E}">
        <p14:creationId xmlns:p14="http://schemas.microsoft.com/office/powerpoint/2010/main" val="37545877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B4E6D5-30A3-D94F-5C83-8A3937277A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926D716-E53A-BD07-7DEA-A22F100EAEB3}"/>
              </a:ext>
            </a:extLst>
          </p:cNvPr>
          <p:cNvSpPr>
            <a:spLocks noGrp="1"/>
          </p:cNvSpPr>
          <p:nvPr>
            <p:ph type="title"/>
          </p:nvPr>
        </p:nvSpPr>
        <p:spPr>
          <a:xfrm>
            <a:off x="838200" y="2285365"/>
            <a:ext cx="10515600" cy="2332355"/>
          </a:xfrm>
        </p:spPr>
        <p:txBody>
          <a:bodyPr>
            <a:normAutofit/>
          </a:bodyPr>
          <a:lstStyle/>
          <a:p>
            <a:pPr algn="ctr"/>
            <a:r>
              <a:rPr lang="en-US" sz="11500" b="1" dirty="0"/>
              <a:t>PART 2</a:t>
            </a:r>
          </a:p>
        </p:txBody>
      </p:sp>
    </p:spTree>
    <p:extLst>
      <p:ext uri="{BB962C8B-B14F-4D97-AF65-F5344CB8AC3E}">
        <p14:creationId xmlns:p14="http://schemas.microsoft.com/office/powerpoint/2010/main" val="13504220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C92A31-C0F0-FC72-84A4-D93D33F57877}"/>
              </a:ext>
            </a:extLst>
          </p:cNvPr>
          <p:cNvSpPr>
            <a:spLocks noGrp="1"/>
          </p:cNvSpPr>
          <p:nvPr>
            <p:ph type="title"/>
          </p:nvPr>
        </p:nvSpPr>
        <p:spPr>
          <a:xfrm>
            <a:off x="365760" y="365125"/>
            <a:ext cx="11539728" cy="1325563"/>
          </a:xfrm>
        </p:spPr>
        <p:txBody>
          <a:bodyPr>
            <a:normAutofit/>
          </a:bodyPr>
          <a:lstStyle/>
          <a:p>
            <a:r>
              <a:rPr lang="en-US" sz="3600" dirty="0">
                <a:solidFill>
                  <a:schemeClr val="accent6">
                    <a:lumMod val="60000"/>
                    <a:lumOff val="40000"/>
                  </a:schemeClr>
                </a:solidFill>
              </a:rPr>
              <a:t>Scenario: Here the </a:t>
            </a:r>
            <a:r>
              <a:rPr lang="en-US" sz="3600" b="1" dirty="0">
                <a:solidFill>
                  <a:schemeClr val="accent6">
                    <a:lumMod val="60000"/>
                    <a:lumOff val="40000"/>
                  </a:schemeClr>
                </a:solidFill>
              </a:rPr>
              <a:t>population</a:t>
            </a:r>
            <a:r>
              <a:rPr lang="en-US" sz="3600" dirty="0">
                <a:solidFill>
                  <a:schemeClr val="accent6">
                    <a:lumMod val="60000"/>
                    <a:lumOff val="40000"/>
                  </a:schemeClr>
                </a:solidFill>
              </a:rPr>
              <a:t> standard deviation</a:t>
            </a:r>
            <a:r>
              <a:rPr lang="el-GR" sz="3600" dirty="0">
                <a:solidFill>
                  <a:schemeClr val="accent6">
                    <a:lumMod val="40000"/>
                    <a:lumOff val="60000"/>
                  </a:schemeClr>
                </a:solidFill>
              </a:rPr>
              <a:t> </a:t>
            </a:r>
            <a:r>
              <a:rPr lang="en-US" sz="3600" dirty="0">
                <a:solidFill>
                  <a:schemeClr val="accent6">
                    <a:lumMod val="40000"/>
                    <a:lumOff val="60000"/>
                  </a:schemeClr>
                </a:solidFill>
              </a:rPr>
              <a:t>(</a:t>
            </a:r>
            <a:r>
              <a:rPr lang="el-GR" sz="3600" dirty="0">
                <a:solidFill>
                  <a:schemeClr val="accent6">
                    <a:lumMod val="40000"/>
                    <a:lumOff val="60000"/>
                  </a:schemeClr>
                </a:solidFill>
              </a:rPr>
              <a:t>σ</a:t>
            </a:r>
            <a:r>
              <a:rPr lang="en-US" sz="3600" dirty="0">
                <a:solidFill>
                  <a:schemeClr val="accent6">
                    <a:lumMod val="40000"/>
                    <a:lumOff val="60000"/>
                  </a:schemeClr>
                </a:solidFill>
              </a:rPr>
              <a:t>)</a:t>
            </a:r>
            <a:r>
              <a:rPr lang="en-US" sz="3600" dirty="0">
                <a:solidFill>
                  <a:schemeClr val="accent6">
                    <a:lumMod val="60000"/>
                    <a:lumOff val="40000"/>
                  </a:schemeClr>
                </a:solidFill>
              </a:rPr>
              <a:t> is known</a:t>
            </a:r>
          </a:p>
        </p:txBody>
      </p:sp>
      <p:sp>
        <p:nvSpPr>
          <p:cNvPr id="3" name="Content Placeholder 2">
            <a:extLst>
              <a:ext uri="{FF2B5EF4-FFF2-40B4-BE49-F238E27FC236}">
                <a16:creationId xmlns:a16="http://schemas.microsoft.com/office/drawing/2014/main" id="{8ECA6021-A94E-7471-57C6-7F18C875F7BD}"/>
              </a:ext>
            </a:extLst>
          </p:cNvPr>
          <p:cNvSpPr>
            <a:spLocks noGrp="1"/>
          </p:cNvSpPr>
          <p:nvPr>
            <p:ph idx="1"/>
          </p:nvPr>
        </p:nvSpPr>
        <p:spPr>
          <a:xfrm>
            <a:off x="365760" y="1825625"/>
            <a:ext cx="10988040" cy="1822831"/>
          </a:xfrm>
        </p:spPr>
        <p:txBody>
          <a:bodyPr/>
          <a:lstStyle/>
          <a:p>
            <a:pPr marL="0" indent="0">
              <a:buNone/>
            </a:pPr>
            <a:r>
              <a:rPr lang="en-US" b="1" dirty="0">
                <a:solidFill>
                  <a:schemeClr val="accent6">
                    <a:lumMod val="40000"/>
                    <a:lumOff val="60000"/>
                  </a:schemeClr>
                </a:solidFill>
              </a:rPr>
              <a:t>2 assumptions for the z test for a mean when </a:t>
            </a:r>
            <a:r>
              <a:rPr lang="el-GR" b="1" dirty="0">
                <a:solidFill>
                  <a:schemeClr val="accent6">
                    <a:lumMod val="40000"/>
                    <a:lumOff val="60000"/>
                  </a:schemeClr>
                </a:solidFill>
              </a:rPr>
              <a:t>σ</a:t>
            </a:r>
            <a:r>
              <a:rPr lang="en-US" b="1" dirty="0">
                <a:solidFill>
                  <a:schemeClr val="accent6">
                    <a:lumMod val="40000"/>
                    <a:lumOff val="60000"/>
                  </a:schemeClr>
                </a:solidFill>
              </a:rPr>
              <a:t> Is known:</a:t>
            </a:r>
          </a:p>
          <a:p>
            <a:pPr marL="0" indent="0">
              <a:buNone/>
            </a:pPr>
            <a:r>
              <a:rPr lang="en-US" dirty="0">
                <a:solidFill>
                  <a:schemeClr val="accent6">
                    <a:lumMod val="40000"/>
                    <a:lumOff val="60000"/>
                  </a:schemeClr>
                </a:solidFill>
              </a:rPr>
              <a:t>1. The sample is a </a:t>
            </a:r>
            <a:r>
              <a:rPr lang="en-US" b="1" dirty="0">
                <a:solidFill>
                  <a:schemeClr val="accent4">
                    <a:lumMod val="40000"/>
                    <a:lumOff val="60000"/>
                  </a:schemeClr>
                </a:solidFill>
              </a:rPr>
              <a:t>random sample.</a:t>
            </a:r>
            <a:r>
              <a:rPr lang="en-US" dirty="0">
                <a:solidFill>
                  <a:schemeClr val="accent4">
                    <a:lumMod val="40000"/>
                    <a:lumOff val="60000"/>
                  </a:schemeClr>
                </a:solidFill>
              </a:rPr>
              <a:t> </a:t>
            </a:r>
          </a:p>
          <a:p>
            <a:pPr marL="0" indent="0">
              <a:buNone/>
            </a:pPr>
            <a:r>
              <a:rPr lang="en-US" dirty="0">
                <a:solidFill>
                  <a:schemeClr val="accent6">
                    <a:lumMod val="40000"/>
                    <a:lumOff val="60000"/>
                  </a:schemeClr>
                </a:solidFill>
              </a:rPr>
              <a:t>2. Either </a:t>
            </a:r>
            <a:r>
              <a:rPr lang="en-US" b="1" dirty="0">
                <a:solidFill>
                  <a:schemeClr val="accent4">
                    <a:lumMod val="40000"/>
                    <a:lumOff val="60000"/>
                  </a:schemeClr>
                </a:solidFill>
              </a:rPr>
              <a:t>n &gt; 30</a:t>
            </a:r>
            <a:r>
              <a:rPr lang="en-US" dirty="0">
                <a:solidFill>
                  <a:schemeClr val="accent6">
                    <a:lumMod val="40000"/>
                    <a:lumOff val="60000"/>
                  </a:schemeClr>
                </a:solidFill>
              </a:rPr>
              <a:t> or the </a:t>
            </a:r>
            <a:r>
              <a:rPr lang="en-US" b="1" dirty="0">
                <a:solidFill>
                  <a:schemeClr val="accent4">
                    <a:lumMod val="40000"/>
                    <a:lumOff val="60000"/>
                  </a:schemeClr>
                </a:solidFill>
              </a:rPr>
              <a:t>population is normally distributed when n  &lt; 30</a:t>
            </a:r>
            <a:r>
              <a:rPr lang="en-US" dirty="0">
                <a:solidFill>
                  <a:schemeClr val="accent4">
                    <a:lumMod val="40000"/>
                    <a:lumOff val="60000"/>
                  </a:schemeClr>
                </a:solidFill>
              </a:rPr>
              <a:t>.</a:t>
            </a:r>
          </a:p>
          <a:p>
            <a:endParaRPr lang="en-US" dirty="0"/>
          </a:p>
        </p:txBody>
      </p:sp>
    </p:spTree>
    <p:extLst>
      <p:ext uri="{BB962C8B-B14F-4D97-AF65-F5344CB8AC3E}">
        <p14:creationId xmlns:p14="http://schemas.microsoft.com/office/powerpoint/2010/main" val="38066031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774BC2-5174-8660-E536-0E985F0CBB29}"/>
            </a:ext>
          </a:extLst>
        </p:cNvPr>
        <p:cNvGrpSpPr/>
        <p:nvPr/>
      </p:nvGrpSpPr>
      <p:grpSpPr>
        <a:xfrm>
          <a:off x="0" y="0"/>
          <a:ext cx="0" cy="0"/>
          <a:chOff x="0" y="0"/>
          <a:chExt cx="0" cy="0"/>
        </a:xfrm>
      </p:grpSpPr>
      <p:sp>
        <p:nvSpPr>
          <p:cNvPr id="12" name="TextBox 11">
            <a:extLst>
              <a:ext uri="{FF2B5EF4-FFF2-40B4-BE49-F238E27FC236}">
                <a16:creationId xmlns:a16="http://schemas.microsoft.com/office/drawing/2014/main" id="{F4B7A59C-2859-90C9-4F1B-A0E11AE12AB7}"/>
              </a:ext>
            </a:extLst>
          </p:cNvPr>
          <p:cNvSpPr txBox="1"/>
          <p:nvPr/>
        </p:nvSpPr>
        <p:spPr>
          <a:xfrm>
            <a:off x="75437" y="503910"/>
            <a:ext cx="8126731" cy="5632311"/>
          </a:xfrm>
          <a:prstGeom prst="rect">
            <a:avLst/>
          </a:prstGeom>
          <a:noFill/>
        </p:spPr>
        <p:txBody>
          <a:bodyPr wrap="square">
            <a:spAutoFit/>
          </a:bodyPr>
          <a:lstStyle/>
          <a:p>
            <a:r>
              <a:rPr lang="en-US" dirty="0">
                <a:solidFill>
                  <a:schemeClr val="accent6">
                    <a:lumMod val="40000"/>
                    <a:lumOff val="60000"/>
                  </a:schemeClr>
                </a:solidFill>
              </a:rPr>
              <a:t>The </a:t>
            </a:r>
            <a:r>
              <a:rPr lang="en-US" b="1" dirty="0">
                <a:solidFill>
                  <a:schemeClr val="accent6">
                    <a:lumMod val="40000"/>
                    <a:lumOff val="60000"/>
                  </a:schemeClr>
                </a:solidFill>
              </a:rPr>
              <a:t>critical or rejection region </a:t>
            </a:r>
            <a:r>
              <a:rPr lang="en-US" dirty="0">
                <a:solidFill>
                  <a:schemeClr val="accent6">
                    <a:lumMod val="40000"/>
                    <a:lumOff val="60000"/>
                  </a:schemeClr>
                </a:solidFill>
              </a:rPr>
              <a:t>is the range of z-values that indicates that</a:t>
            </a:r>
          </a:p>
          <a:p>
            <a:pPr marL="285750" indent="-285750">
              <a:buFontTx/>
              <a:buChar char="-"/>
            </a:pPr>
            <a:r>
              <a:rPr lang="en-US" dirty="0">
                <a:solidFill>
                  <a:schemeClr val="accent6">
                    <a:lumMod val="40000"/>
                    <a:lumOff val="60000"/>
                  </a:schemeClr>
                </a:solidFill>
              </a:rPr>
              <a:t>there is a </a:t>
            </a:r>
            <a:r>
              <a:rPr lang="en-US" b="1" dirty="0">
                <a:solidFill>
                  <a:schemeClr val="accent6">
                    <a:lumMod val="40000"/>
                    <a:lumOff val="60000"/>
                  </a:schemeClr>
                </a:solidFill>
              </a:rPr>
              <a:t>significant difference between the population and observed means</a:t>
            </a:r>
            <a:r>
              <a:rPr lang="en-US" dirty="0">
                <a:solidFill>
                  <a:schemeClr val="accent6">
                    <a:lumMod val="40000"/>
                    <a:lumOff val="60000"/>
                  </a:schemeClr>
                </a:solidFill>
              </a:rPr>
              <a:t>, and</a:t>
            </a:r>
          </a:p>
          <a:p>
            <a:pPr marL="285750" indent="-285750">
              <a:buFontTx/>
              <a:buChar char="-"/>
            </a:pPr>
            <a:r>
              <a:rPr lang="en-US" dirty="0">
                <a:solidFill>
                  <a:schemeClr val="accent6">
                    <a:lumMod val="40000"/>
                    <a:lumOff val="60000"/>
                  </a:schemeClr>
                </a:solidFill>
              </a:rPr>
              <a:t>that the </a:t>
            </a:r>
            <a:r>
              <a:rPr lang="en-US" b="1" dirty="0">
                <a:solidFill>
                  <a:schemeClr val="accent6">
                    <a:lumMod val="40000"/>
                    <a:lumOff val="60000"/>
                  </a:schemeClr>
                </a:solidFill>
              </a:rPr>
              <a:t>null hypothesis should be rejected.</a:t>
            </a:r>
          </a:p>
          <a:p>
            <a:endParaRPr lang="en-US" b="1" dirty="0">
              <a:solidFill>
                <a:schemeClr val="accent6">
                  <a:lumMod val="40000"/>
                  <a:lumOff val="60000"/>
                </a:schemeClr>
              </a:solidFill>
            </a:endParaRPr>
          </a:p>
          <a:p>
            <a:r>
              <a:rPr lang="en-US" b="1" dirty="0">
                <a:solidFill>
                  <a:schemeClr val="accent6">
                    <a:lumMod val="40000"/>
                    <a:lumOff val="60000"/>
                  </a:schemeClr>
                </a:solidFill>
              </a:rPr>
              <a:t>The rejection region for the most part are towards the end of Normal distribution curve</a:t>
            </a:r>
          </a:p>
          <a:p>
            <a:endParaRPr lang="en-US" dirty="0">
              <a:solidFill>
                <a:schemeClr val="accent6">
                  <a:lumMod val="40000"/>
                  <a:lumOff val="60000"/>
                </a:schemeClr>
              </a:solidFill>
            </a:endParaRPr>
          </a:p>
          <a:p>
            <a:endParaRPr lang="en-US" dirty="0">
              <a:solidFill>
                <a:schemeClr val="accent6">
                  <a:lumMod val="40000"/>
                  <a:lumOff val="60000"/>
                </a:schemeClr>
              </a:solidFill>
            </a:endParaRPr>
          </a:p>
          <a:p>
            <a:endParaRPr lang="en-US" dirty="0">
              <a:solidFill>
                <a:schemeClr val="accent6">
                  <a:lumMod val="40000"/>
                  <a:lumOff val="60000"/>
                </a:schemeClr>
              </a:solidFill>
            </a:endParaRPr>
          </a:p>
          <a:p>
            <a:r>
              <a:rPr lang="en-US" dirty="0">
                <a:solidFill>
                  <a:schemeClr val="accent6">
                    <a:lumMod val="40000"/>
                    <a:lumOff val="60000"/>
                  </a:schemeClr>
                </a:solidFill>
              </a:rPr>
              <a:t>A </a:t>
            </a:r>
            <a:r>
              <a:rPr lang="en-US" b="1" dirty="0">
                <a:solidFill>
                  <a:schemeClr val="accent6">
                    <a:lumMod val="40000"/>
                    <a:lumOff val="60000"/>
                  </a:schemeClr>
                </a:solidFill>
              </a:rPr>
              <a:t>one-tailed test </a:t>
            </a:r>
            <a:r>
              <a:rPr lang="en-US" dirty="0">
                <a:solidFill>
                  <a:schemeClr val="accent6">
                    <a:lumMod val="40000"/>
                    <a:lumOff val="60000"/>
                  </a:schemeClr>
                </a:solidFill>
              </a:rPr>
              <a:t>indicates that the null hypothesis should be rejected when the z test value is in the rejection region on one side of the mean.</a:t>
            </a:r>
          </a:p>
          <a:p>
            <a:r>
              <a:rPr lang="en-US" dirty="0">
                <a:solidFill>
                  <a:schemeClr val="accent6">
                    <a:lumMod val="40000"/>
                    <a:lumOff val="60000"/>
                  </a:schemeClr>
                </a:solidFill>
              </a:rPr>
              <a:t>A one-tailed test is either a </a:t>
            </a:r>
            <a:r>
              <a:rPr lang="en-US" b="1" dirty="0">
                <a:solidFill>
                  <a:schemeClr val="accent6">
                    <a:lumMod val="40000"/>
                    <a:lumOff val="60000"/>
                  </a:schemeClr>
                </a:solidFill>
              </a:rPr>
              <a:t>right-tailed test or a left-tailed test</a:t>
            </a:r>
            <a:r>
              <a:rPr lang="en-US" dirty="0">
                <a:solidFill>
                  <a:schemeClr val="accent6">
                    <a:lumMod val="40000"/>
                    <a:lumOff val="60000"/>
                  </a:schemeClr>
                </a:solidFill>
              </a:rPr>
              <a:t>, depending on the direction of the inequality of the alternative hypothesis.</a:t>
            </a:r>
          </a:p>
          <a:p>
            <a:endParaRPr lang="en-US" dirty="0">
              <a:solidFill>
                <a:schemeClr val="accent6">
                  <a:lumMod val="40000"/>
                  <a:lumOff val="60000"/>
                </a:schemeClr>
              </a:solidFill>
            </a:endParaRPr>
          </a:p>
          <a:p>
            <a:endParaRPr lang="en-US" dirty="0">
              <a:solidFill>
                <a:schemeClr val="accent6">
                  <a:lumMod val="40000"/>
                  <a:lumOff val="60000"/>
                </a:schemeClr>
              </a:solidFill>
            </a:endParaRPr>
          </a:p>
          <a:p>
            <a:endParaRPr lang="en-US" dirty="0">
              <a:solidFill>
                <a:schemeClr val="accent6">
                  <a:lumMod val="40000"/>
                  <a:lumOff val="60000"/>
                </a:schemeClr>
              </a:solidFill>
            </a:endParaRPr>
          </a:p>
          <a:p>
            <a:endParaRPr lang="en-US" dirty="0">
              <a:solidFill>
                <a:schemeClr val="accent6">
                  <a:lumMod val="40000"/>
                  <a:lumOff val="60000"/>
                </a:schemeClr>
              </a:solidFill>
            </a:endParaRPr>
          </a:p>
          <a:p>
            <a:r>
              <a:rPr lang="en-US" dirty="0">
                <a:solidFill>
                  <a:schemeClr val="accent6">
                    <a:lumMod val="40000"/>
                    <a:lumOff val="60000"/>
                  </a:schemeClr>
                </a:solidFill>
              </a:rPr>
              <a:t>In a </a:t>
            </a:r>
            <a:r>
              <a:rPr lang="en-US" b="1" dirty="0">
                <a:solidFill>
                  <a:schemeClr val="accent6">
                    <a:lumMod val="40000"/>
                    <a:lumOff val="60000"/>
                  </a:schemeClr>
                </a:solidFill>
              </a:rPr>
              <a:t>two-tailed test</a:t>
            </a:r>
            <a:r>
              <a:rPr lang="en-US" dirty="0">
                <a:solidFill>
                  <a:schemeClr val="accent6">
                    <a:lumMod val="40000"/>
                    <a:lumOff val="60000"/>
                  </a:schemeClr>
                </a:solidFill>
              </a:rPr>
              <a:t>, the null hypothesis should be rejected when the test value is in either of the two rejection regions.</a:t>
            </a:r>
          </a:p>
        </p:txBody>
      </p:sp>
      <p:pic>
        <p:nvPicPr>
          <p:cNvPr id="4" name="Picture 3">
            <a:extLst>
              <a:ext uri="{FF2B5EF4-FFF2-40B4-BE49-F238E27FC236}">
                <a16:creationId xmlns:a16="http://schemas.microsoft.com/office/drawing/2014/main" id="{FFEC4B56-16CF-4931-0A0B-A03AB0DD0C5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95716" y="590551"/>
            <a:ext cx="3360950" cy="1444242"/>
          </a:xfrm>
          <a:prstGeom prst="rect">
            <a:avLst/>
          </a:prstGeom>
        </p:spPr>
      </p:pic>
      <p:pic>
        <p:nvPicPr>
          <p:cNvPr id="5" name="Picture 4">
            <a:extLst>
              <a:ext uri="{FF2B5EF4-FFF2-40B4-BE49-F238E27FC236}">
                <a16:creationId xmlns:a16="http://schemas.microsoft.com/office/drawing/2014/main" id="{31A9B140-71C2-E261-9F96-836E2A8DAF4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81920" y="2252053"/>
            <a:ext cx="3510030" cy="1908608"/>
          </a:xfrm>
          <a:prstGeom prst="rect">
            <a:avLst/>
          </a:prstGeom>
        </p:spPr>
      </p:pic>
      <p:pic>
        <p:nvPicPr>
          <p:cNvPr id="6" name="Picture 5">
            <a:extLst>
              <a:ext uri="{FF2B5EF4-FFF2-40B4-BE49-F238E27FC236}">
                <a16:creationId xmlns:a16="http://schemas.microsoft.com/office/drawing/2014/main" id="{61439489-A9F1-9B5C-80A5-15593E6EE32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281920" y="4685267"/>
            <a:ext cx="3510030" cy="1772683"/>
          </a:xfrm>
          <a:prstGeom prst="rect">
            <a:avLst/>
          </a:prstGeom>
        </p:spPr>
      </p:pic>
    </p:spTree>
    <p:extLst>
      <p:ext uri="{BB962C8B-B14F-4D97-AF65-F5344CB8AC3E}">
        <p14:creationId xmlns:p14="http://schemas.microsoft.com/office/powerpoint/2010/main" val="35994874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F194F4D6-0115-F287-58B4-6491C468E9ED}"/>
              </a:ext>
            </a:extLst>
          </p:cNvPr>
          <p:cNvGraphicFramePr>
            <a:graphicFrameLocks noGrp="1"/>
          </p:cNvGraphicFramePr>
          <p:nvPr>
            <p:extLst>
              <p:ext uri="{D42A27DB-BD31-4B8C-83A1-F6EECF244321}">
                <p14:modId xmlns:p14="http://schemas.microsoft.com/office/powerpoint/2010/main" val="2533930279"/>
              </p:ext>
            </p:extLst>
          </p:nvPr>
        </p:nvGraphicFramePr>
        <p:xfrm>
          <a:off x="97917" y="1031367"/>
          <a:ext cx="7409307" cy="4680852"/>
        </p:xfrm>
        <a:graphic>
          <a:graphicData uri="http://schemas.openxmlformats.org/drawingml/2006/table">
            <a:tbl>
              <a:tblPr/>
              <a:tblGrid>
                <a:gridCol w="1366151">
                  <a:extLst>
                    <a:ext uri="{9D8B030D-6E8A-4147-A177-3AD203B41FA5}">
                      <a16:colId xmlns:a16="http://schemas.microsoft.com/office/drawing/2014/main" val="3793983248"/>
                    </a:ext>
                  </a:extLst>
                </a:gridCol>
                <a:gridCol w="1178761">
                  <a:extLst>
                    <a:ext uri="{9D8B030D-6E8A-4147-A177-3AD203B41FA5}">
                      <a16:colId xmlns:a16="http://schemas.microsoft.com/office/drawing/2014/main" val="3579566069"/>
                    </a:ext>
                  </a:extLst>
                </a:gridCol>
                <a:gridCol w="4864395">
                  <a:extLst>
                    <a:ext uri="{9D8B030D-6E8A-4147-A177-3AD203B41FA5}">
                      <a16:colId xmlns:a16="http://schemas.microsoft.com/office/drawing/2014/main" val="3358287707"/>
                    </a:ext>
                  </a:extLst>
                </a:gridCol>
              </a:tblGrid>
              <a:tr h="642982">
                <a:tc>
                  <a:txBody>
                    <a:bodyPr/>
                    <a:lstStyle/>
                    <a:p>
                      <a:pPr algn="ctr">
                        <a:buNone/>
                      </a:pPr>
                      <a:r>
                        <a:rPr lang="el-GR" sz="1600" b="1" dirty="0">
                          <a:solidFill>
                            <a:schemeClr val="accent6">
                              <a:lumMod val="40000"/>
                              <a:lumOff val="60000"/>
                            </a:schemeClr>
                          </a:solidFill>
                        </a:rPr>
                        <a:t>α</a:t>
                      </a:r>
                      <a:endParaRPr lang="en-US" sz="1600" b="1" dirty="0">
                        <a:solidFill>
                          <a:schemeClr val="accent6">
                            <a:lumMod val="40000"/>
                            <a:lumOff val="60000"/>
                          </a:schemeClr>
                        </a:solidFill>
                      </a:endParaRPr>
                    </a:p>
                    <a:p>
                      <a:pPr algn="ctr">
                        <a:buNone/>
                      </a:pPr>
                      <a:r>
                        <a:rPr lang="en-US" sz="1600" b="1" dirty="0">
                          <a:solidFill>
                            <a:schemeClr val="accent6">
                              <a:lumMod val="40000"/>
                              <a:lumOff val="60000"/>
                            </a:schemeClr>
                          </a:solidFill>
                        </a:rPr>
                        <a:t>significance level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600" b="1" dirty="0">
                          <a:solidFill>
                            <a:schemeClr val="accent6">
                              <a:lumMod val="40000"/>
                              <a:lumOff val="60000"/>
                            </a:schemeClr>
                          </a:solidFill>
                        </a:rPr>
                        <a:t>Test Type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600" b="1" dirty="0">
                          <a:solidFill>
                            <a:schemeClr val="accent6">
                              <a:lumMod val="40000"/>
                              <a:lumOff val="60000"/>
                            </a:schemeClr>
                          </a:solidFill>
                        </a:rPr>
                        <a:t>Critical z-value(s)</a:t>
                      </a:r>
                    </a:p>
                    <a:p>
                      <a:pPr algn="ctr">
                        <a:buNone/>
                      </a:pPr>
                      <a:r>
                        <a:rPr lang="en-US" sz="1600" b="1" dirty="0">
                          <a:solidFill>
                            <a:schemeClr val="accent6">
                              <a:lumMod val="40000"/>
                              <a:lumOff val="60000"/>
                            </a:schemeClr>
                          </a:solidFill>
                        </a:rPr>
                        <a:t>(Found from z-table)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27212955"/>
                  </a:ext>
                </a:extLst>
              </a:tr>
              <a:tr h="642982">
                <a:tc>
                  <a:txBody>
                    <a:bodyPr/>
                    <a:lstStyle/>
                    <a:p>
                      <a:pPr algn="ctr">
                        <a:buNone/>
                      </a:pPr>
                      <a:r>
                        <a:rPr lang="en-US" sz="1600" b="1" dirty="0">
                          <a:solidFill>
                            <a:schemeClr val="accent4">
                              <a:lumMod val="40000"/>
                              <a:lumOff val="60000"/>
                            </a:schemeClr>
                          </a:solidFill>
                        </a:rPr>
                        <a:t>0.10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600" dirty="0">
                          <a:solidFill>
                            <a:schemeClr val="accent4">
                              <a:lumMod val="40000"/>
                              <a:lumOff val="60000"/>
                            </a:schemeClr>
                          </a:solidFill>
                        </a:rPr>
                        <a:t>Two-tailed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600" dirty="0">
                          <a:solidFill>
                            <a:schemeClr val="accent4">
                              <a:lumMod val="40000"/>
                              <a:lumOff val="60000"/>
                            </a:schemeClr>
                          </a:solidFill>
                        </a:rPr>
                        <a:t>+- 1.645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47092678"/>
                  </a:ext>
                </a:extLst>
              </a:tr>
              <a:tr h="642982">
                <a:tc>
                  <a:txBody>
                    <a:bodyPr/>
                    <a:lstStyle/>
                    <a:p>
                      <a:pPr algn="ctr">
                        <a:buNone/>
                      </a:pPr>
                      <a:r>
                        <a:rPr lang="en-US" sz="1600" b="1" dirty="0">
                          <a:solidFill>
                            <a:schemeClr val="accent4">
                              <a:lumMod val="40000"/>
                              <a:lumOff val="60000"/>
                            </a:schemeClr>
                          </a:solidFill>
                        </a:rPr>
                        <a:t>0.10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600" dirty="0">
                          <a:solidFill>
                            <a:schemeClr val="accent4">
                              <a:lumMod val="40000"/>
                              <a:lumOff val="60000"/>
                            </a:schemeClr>
                          </a:solidFill>
                        </a:rPr>
                        <a:t>One-tailed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600" dirty="0">
                          <a:solidFill>
                            <a:schemeClr val="accent4">
                              <a:lumMod val="40000"/>
                              <a:lumOff val="60000"/>
                            </a:schemeClr>
                          </a:solidFill>
                        </a:rPr>
                        <a:t>±1.28 (+ for Right Tailed and – for Left Tailed)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38500018"/>
                  </a:ext>
                </a:extLst>
              </a:tr>
              <a:tr h="642982">
                <a:tc>
                  <a:txBody>
                    <a:bodyPr/>
                    <a:lstStyle/>
                    <a:p>
                      <a:pPr algn="ctr">
                        <a:buNone/>
                      </a:pPr>
                      <a:r>
                        <a:rPr lang="en-US" sz="1600" b="1" dirty="0">
                          <a:solidFill>
                            <a:schemeClr val="tx1">
                              <a:lumMod val="95000"/>
                            </a:schemeClr>
                          </a:solidFill>
                        </a:rPr>
                        <a:t>0.05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600" dirty="0">
                          <a:solidFill>
                            <a:schemeClr val="tx1">
                              <a:lumMod val="95000"/>
                            </a:schemeClr>
                          </a:solidFill>
                        </a:rPr>
                        <a:t>Two-tailed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600" dirty="0">
                          <a:solidFill>
                            <a:schemeClr val="tx1">
                              <a:lumMod val="95000"/>
                            </a:schemeClr>
                          </a:solidFill>
                        </a:rPr>
                        <a:t>±1.96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8850832"/>
                  </a:ext>
                </a:extLst>
              </a:tr>
              <a:tr h="642982">
                <a:tc>
                  <a:txBody>
                    <a:bodyPr/>
                    <a:lstStyle/>
                    <a:p>
                      <a:pPr algn="ctr">
                        <a:buNone/>
                      </a:pPr>
                      <a:r>
                        <a:rPr lang="en-US" sz="1600" b="1" dirty="0">
                          <a:solidFill>
                            <a:schemeClr val="tx1">
                              <a:lumMod val="95000"/>
                            </a:schemeClr>
                          </a:solidFill>
                        </a:rPr>
                        <a:t>0.05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600" dirty="0">
                          <a:solidFill>
                            <a:schemeClr val="tx1">
                              <a:lumMod val="95000"/>
                            </a:schemeClr>
                          </a:solidFill>
                        </a:rPr>
                        <a:t>One-tailed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600" dirty="0">
                          <a:solidFill>
                            <a:schemeClr val="tx1">
                              <a:lumMod val="95000"/>
                            </a:schemeClr>
                          </a:solidFill>
                        </a:rPr>
                        <a:t>±1.645 (+ for Right Tailed and – for Left Tailed)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87315014"/>
                  </a:ext>
                </a:extLst>
              </a:tr>
              <a:tr h="642982">
                <a:tc>
                  <a:txBody>
                    <a:bodyPr/>
                    <a:lstStyle/>
                    <a:p>
                      <a:pPr algn="ctr">
                        <a:buNone/>
                      </a:pPr>
                      <a:r>
                        <a:rPr lang="en-US" sz="1600" b="1" dirty="0">
                          <a:solidFill>
                            <a:schemeClr val="accent5">
                              <a:lumMod val="60000"/>
                              <a:lumOff val="40000"/>
                            </a:schemeClr>
                          </a:solidFill>
                        </a:rPr>
                        <a:t>0.01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600" dirty="0">
                          <a:solidFill>
                            <a:schemeClr val="accent5">
                              <a:lumMod val="60000"/>
                              <a:lumOff val="40000"/>
                            </a:schemeClr>
                          </a:solidFill>
                        </a:rPr>
                        <a:t>Two-tailed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600" dirty="0">
                          <a:solidFill>
                            <a:schemeClr val="accent5">
                              <a:lumMod val="60000"/>
                              <a:lumOff val="40000"/>
                            </a:schemeClr>
                          </a:solidFill>
                        </a:rPr>
                        <a:t>±2.576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30173062"/>
                  </a:ext>
                </a:extLst>
              </a:tr>
              <a:tr h="642982">
                <a:tc>
                  <a:txBody>
                    <a:bodyPr/>
                    <a:lstStyle/>
                    <a:p>
                      <a:pPr algn="ctr">
                        <a:buNone/>
                      </a:pPr>
                      <a:r>
                        <a:rPr lang="en-US" sz="1600" b="1" dirty="0">
                          <a:solidFill>
                            <a:schemeClr val="accent5">
                              <a:lumMod val="60000"/>
                              <a:lumOff val="40000"/>
                            </a:schemeClr>
                          </a:solidFill>
                        </a:rPr>
                        <a:t>0.01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600" dirty="0">
                          <a:solidFill>
                            <a:schemeClr val="accent5">
                              <a:lumMod val="60000"/>
                              <a:lumOff val="40000"/>
                            </a:schemeClr>
                          </a:solidFill>
                        </a:rPr>
                        <a:t>One-tailed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600" dirty="0">
                          <a:solidFill>
                            <a:schemeClr val="accent5">
                              <a:lumMod val="60000"/>
                              <a:lumOff val="40000"/>
                            </a:schemeClr>
                          </a:solidFill>
                        </a:rPr>
                        <a:t>±2.33 (+ for Right Tailed and – for Left Tailed)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27478652"/>
                  </a:ext>
                </a:extLst>
              </a:tr>
            </a:tbl>
          </a:graphicData>
        </a:graphic>
      </p:graphicFrame>
      <p:pic>
        <p:nvPicPr>
          <p:cNvPr id="2" name="Picture 1">
            <a:extLst>
              <a:ext uri="{FF2B5EF4-FFF2-40B4-BE49-F238E27FC236}">
                <a16:creationId xmlns:a16="http://schemas.microsoft.com/office/drawing/2014/main" id="{2EB7AA9F-1344-27E2-11E7-4CF17D6053A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89930" y="219456"/>
            <a:ext cx="4268870" cy="1834387"/>
          </a:xfrm>
          <a:prstGeom prst="rect">
            <a:avLst/>
          </a:prstGeom>
        </p:spPr>
      </p:pic>
      <p:pic>
        <p:nvPicPr>
          <p:cNvPr id="3" name="Picture 2">
            <a:extLst>
              <a:ext uri="{FF2B5EF4-FFF2-40B4-BE49-F238E27FC236}">
                <a16:creationId xmlns:a16="http://schemas.microsoft.com/office/drawing/2014/main" id="{B076481A-C187-3F41-0444-DD768D033A2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730537" y="2050518"/>
            <a:ext cx="4268870" cy="2321234"/>
          </a:xfrm>
          <a:prstGeom prst="rect">
            <a:avLst/>
          </a:prstGeom>
        </p:spPr>
      </p:pic>
      <p:pic>
        <p:nvPicPr>
          <p:cNvPr id="5" name="Picture 4">
            <a:extLst>
              <a:ext uri="{FF2B5EF4-FFF2-40B4-BE49-F238E27FC236}">
                <a16:creationId xmlns:a16="http://schemas.microsoft.com/office/drawing/2014/main" id="{6AA308E6-6AC0-AAA2-A797-11C2EDF8305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635860" y="4371752"/>
            <a:ext cx="4458224" cy="2251553"/>
          </a:xfrm>
          <a:prstGeom prst="rect">
            <a:avLst/>
          </a:prstGeom>
        </p:spPr>
      </p:pic>
      <p:sp>
        <p:nvSpPr>
          <p:cNvPr id="6" name="TextBox 5">
            <a:extLst>
              <a:ext uri="{FF2B5EF4-FFF2-40B4-BE49-F238E27FC236}">
                <a16:creationId xmlns:a16="http://schemas.microsoft.com/office/drawing/2014/main" id="{810F00A2-B555-3BE9-478D-92679AD53DDB}"/>
              </a:ext>
            </a:extLst>
          </p:cNvPr>
          <p:cNvSpPr txBox="1"/>
          <p:nvPr/>
        </p:nvSpPr>
        <p:spPr>
          <a:xfrm>
            <a:off x="1847088" y="429768"/>
            <a:ext cx="4418967" cy="369332"/>
          </a:xfrm>
          <a:prstGeom prst="rect">
            <a:avLst/>
          </a:prstGeom>
          <a:noFill/>
        </p:spPr>
        <p:txBody>
          <a:bodyPr wrap="none" rtlCol="0">
            <a:spAutoFit/>
          </a:bodyPr>
          <a:lstStyle/>
          <a:p>
            <a:r>
              <a:rPr lang="en-US" u="sng" dirty="0">
                <a:solidFill>
                  <a:schemeClr val="accent6">
                    <a:lumMod val="40000"/>
                    <a:lumOff val="60000"/>
                  </a:schemeClr>
                </a:solidFill>
              </a:rPr>
              <a:t>Table to find critical value for few common </a:t>
            </a:r>
            <a:r>
              <a:rPr lang="el-GR" b="1" u="sng" dirty="0">
                <a:solidFill>
                  <a:schemeClr val="accent6">
                    <a:lumMod val="40000"/>
                    <a:lumOff val="60000"/>
                  </a:schemeClr>
                </a:solidFill>
              </a:rPr>
              <a:t>α</a:t>
            </a:r>
            <a:r>
              <a:rPr lang="en-US" u="sng" dirty="0">
                <a:solidFill>
                  <a:schemeClr val="accent6">
                    <a:lumMod val="40000"/>
                    <a:lumOff val="60000"/>
                  </a:schemeClr>
                </a:solidFill>
              </a:rPr>
              <a:t> </a:t>
            </a:r>
          </a:p>
        </p:txBody>
      </p:sp>
    </p:spTree>
    <p:extLst>
      <p:ext uri="{BB962C8B-B14F-4D97-AF65-F5344CB8AC3E}">
        <p14:creationId xmlns:p14="http://schemas.microsoft.com/office/powerpoint/2010/main" val="31647323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9EA692A9-D2C1-2C03-55AB-F3ED86EA5E0A}"/>
                  </a:ext>
                </a:extLst>
              </p:cNvPr>
              <p:cNvSpPr txBox="1"/>
              <p:nvPr/>
            </p:nvSpPr>
            <p:spPr>
              <a:xfrm>
                <a:off x="190500" y="166592"/>
                <a:ext cx="7503449" cy="6740307"/>
              </a:xfrm>
              <a:prstGeom prst="rect">
                <a:avLst/>
              </a:prstGeom>
              <a:noFill/>
            </p:spPr>
            <p:txBody>
              <a:bodyPr wrap="square">
                <a:spAutoFit/>
              </a:bodyPr>
              <a:lstStyle/>
              <a:p>
                <a:r>
                  <a:rPr lang="en-US" dirty="0">
                    <a:solidFill>
                      <a:schemeClr val="accent6">
                        <a:lumMod val="40000"/>
                        <a:lumOff val="60000"/>
                      </a:schemeClr>
                    </a:solidFill>
                  </a:rPr>
                  <a:t>Steps for solving hypothesis-testing problems</a:t>
                </a:r>
              </a:p>
              <a:p>
                <a:endParaRPr lang="en-US" dirty="0">
                  <a:solidFill>
                    <a:schemeClr val="accent6">
                      <a:lumMod val="40000"/>
                      <a:lumOff val="60000"/>
                    </a:schemeClr>
                  </a:solidFill>
                </a:endParaRPr>
              </a:p>
              <a:p>
                <a:r>
                  <a:rPr lang="en-US" dirty="0">
                    <a:solidFill>
                      <a:schemeClr val="accent6">
                        <a:lumMod val="40000"/>
                        <a:lumOff val="60000"/>
                      </a:schemeClr>
                    </a:solidFill>
                  </a:rPr>
                  <a:t>Preliminary: Make sure that </a:t>
                </a:r>
                <a:r>
                  <a:rPr lang="en-US" b="1" dirty="0">
                    <a:solidFill>
                      <a:schemeClr val="accent6">
                        <a:lumMod val="40000"/>
                        <a:lumOff val="60000"/>
                      </a:schemeClr>
                    </a:solidFill>
                  </a:rPr>
                  <a:t>2 assumptions for the z test for a mean when </a:t>
                </a:r>
                <a:r>
                  <a:rPr lang="el-GR" b="1" dirty="0">
                    <a:solidFill>
                      <a:schemeClr val="accent6">
                        <a:lumMod val="40000"/>
                        <a:lumOff val="60000"/>
                      </a:schemeClr>
                    </a:solidFill>
                  </a:rPr>
                  <a:t>σ</a:t>
                </a:r>
                <a:r>
                  <a:rPr lang="en-US" b="1" dirty="0">
                    <a:solidFill>
                      <a:schemeClr val="accent6">
                        <a:lumMod val="40000"/>
                        <a:lumOff val="60000"/>
                      </a:schemeClr>
                    </a:solidFill>
                  </a:rPr>
                  <a:t> Is known are satisfied before proceeding:</a:t>
                </a:r>
              </a:p>
              <a:p>
                <a:r>
                  <a:rPr lang="en-US" dirty="0">
                    <a:solidFill>
                      <a:schemeClr val="accent6">
                        <a:lumMod val="40000"/>
                        <a:lumOff val="60000"/>
                      </a:schemeClr>
                    </a:solidFill>
                  </a:rPr>
                  <a:t>1. The sample is a </a:t>
                </a:r>
                <a:r>
                  <a:rPr lang="en-US" b="1" dirty="0">
                    <a:solidFill>
                      <a:schemeClr val="accent4">
                        <a:lumMod val="40000"/>
                        <a:lumOff val="60000"/>
                      </a:schemeClr>
                    </a:solidFill>
                  </a:rPr>
                  <a:t>random sample.</a:t>
                </a:r>
                <a:r>
                  <a:rPr lang="en-US" dirty="0">
                    <a:solidFill>
                      <a:schemeClr val="accent4">
                        <a:lumMod val="40000"/>
                        <a:lumOff val="60000"/>
                      </a:schemeClr>
                    </a:solidFill>
                  </a:rPr>
                  <a:t> </a:t>
                </a:r>
              </a:p>
              <a:p>
                <a:r>
                  <a:rPr lang="en-US" dirty="0">
                    <a:solidFill>
                      <a:schemeClr val="accent6">
                        <a:lumMod val="40000"/>
                        <a:lumOff val="60000"/>
                      </a:schemeClr>
                    </a:solidFill>
                  </a:rPr>
                  <a:t>2. Either </a:t>
                </a:r>
                <a:r>
                  <a:rPr lang="en-US" b="1" dirty="0">
                    <a:solidFill>
                      <a:schemeClr val="accent4">
                        <a:lumMod val="40000"/>
                        <a:lumOff val="60000"/>
                      </a:schemeClr>
                    </a:solidFill>
                  </a:rPr>
                  <a:t>n &gt; 30</a:t>
                </a:r>
                <a:r>
                  <a:rPr lang="en-US" dirty="0">
                    <a:solidFill>
                      <a:schemeClr val="accent6">
                        <a:lumMod val="40000"/>
                        <a:lumOff val="60000"/>
                      </a:schemeClr>
                    </a:solidFill>
                  </a:rPr>
                  <a:t> or the </a:t>
                </a:r>
                <a:r>
                  <a:rPr lang="en-US" b="1" dirty="0">
                    <a:solidFill>
                      <a:schemeClr val="accent4">
                        <a:lumMod val="40000"/>
                        <a:lumOff val="60000"/>
                      </a:schemeClr>
                    </a:solidFill>
                  </a:rPr>
                  <a:t>population is normally distributed when n  &lt; 30</a:t>
                </a:r>
                <a:r>
                  <a:rPr lang="en-US" dirty="0">
                    <a:solidFill>
                      <a:schemeClr val="accent4">
                        <a:lumMod val="40000"/>
                        <a:lumOff val="60000"/>
                      </a:schemeClr>
                    </a:solidFill>
                  </a:rPr>
                  <a:t>.</a:t>
                </a:r>
              </a:p>
              <a:p>
                <a:endParaRPr lang="en-US" dirty="0">
                  <a:solidFill>
                    <a:schemeClr val="accent6">
                      <a:lumMod val="40000"/>
                      <a:lumOff val="60000"/>
                    </a:schemeClr>
                  </a:solidFill>
                </a:endParaRPr>
              </a:p>
              <a:p>
                <a:r>
                  <a:rPr lang="en-US" dirty="0">
                    <a:solidFill>
                      <a:schemeClr val="accent6">
                        <a:lumMod val="40000"/>
                        <a:lumOff val="60000"/>
                      </a:schemeClr>
                    </a:solidFill>
                  </a:rPr>
                  <a:t>Step 1) State the hypothesis and identify the claim. </a:t>
                </a:r>
              </a:p>
              <a:p>
                <a:endParaRPr lang="en-US" dirty="0">
                  <a:solidFill>
                    <a:schemeClr val="accent6">
                      <a:lumMod val="40000"/>
                      <a:lumOff val="60000"/>
                    </a:schemeClr>
                  </a:solidFill>
                </a:endParaRPr>
              </a:p>
              <a:p>
                <a:r>
                  <a:rPr lang="en-US" dirty="0">
                    <a:solidFill>
                      <a:schemeClr val="accent6">
                        <a:lumMod val="40000"/>
                        <a:lumOff val="60000"/>
                      </a:schemeClr>
                    </a:solidFill>
                  </a:rPr>
                  <a:t>Step 2) Find the </a:t>
                </a:r>
                <a:r>
                  <a:rPr lang="en-US" b="1" dirty="0">
                    <a:solidFill>
                      <a:schemeClr val="accent6">
                        <a:lumMod val="40000"/>
                        <a:lumOff val="60000"/>
                      </a:schemeClr>
                    </a:solidFill>
                  </a:rPr>
                  <a:t>critical value</a:t>
                </a:r>
                <a:r>
                  <a:rPr lang="en-US" dirty="0">
                    <a:solidFill>
                      <a:schemeClr val="accent6">
                        <a:lumMod val="40000"/>
                        <a:lumOff val="60000"/>
                      </a:schemeClr>
                    </a:solidFill>
                  </a:rPr>
                  <a:t>(s) from the z-table using significance level </a:t>
                </a:r>
                <a:r>
                  <a:rPr lang="el-GR" dirty="0">
                    <a:solidFill>
                      <a:schemeClr val="accent6">
                        <a:lumMod val="40000"/>
                        <a:lumOff val="60000"/>
                      </a:schemeClr>
                    </a:solidFill>
                  </a:rPr>
                  <a:t>α</a:t>
                </a:r>
                <a:r>
                  <a:rPr lang="en-US" dirty="0">
                    <a:solidFill>
                      <a:schemeClr val="accent6">
                        <a:lumMod val="40000"/>
                        <a:lumOff val="60000"/>
                      </a:schemeClr>
                    </a:solidFill>
                  </a:rPr>
                  <a:t>.</a:t>
                </a:r>
              </a:p>
              <a:p>
                <a:r>
                  <a:rPr lang="en-US" dirty="0">
                    <a:solidFill>
                      <a:schemeClr val="accent6">
                        <a:lumMod val="40000"/>
                        <a:lumOff val="60000"/>
                      </a:schemeClr>
                    </a:solidFill>
                  </a:rPr>
                  <a:t>For most part </a:t>
                </a:r>
                <a:r>
                  <a:rPr lang="el-GR" dirty="0">
                    <a:solidFill>
                      <a:schemeClr val="accent6">
                        <a:lumMod val="40000"/>
                        <a:lumOff val="60000"/>
                      </a:schemeClr>
                    </a:solidFill>
                  </a:rPr>
                  <a:t>α</a:t>
                </a:r>
                <a:r>
                  <a:rPr lang="en-US" dirty="0">
                    <a:solidFill>
                      <a:schemeClr val="accent6">
                        <a:lumMod val="40000"/>
                        <a:lumOff val="60000"/>
                      </a:schemeClr>
                    </a:solidFill>
                  </a:rPr>
                  <a:t> = 0.10, 0.05 or 0.01</a:t>
                </a:r>
              </a:p>
              <a:p>
                <a:endParaRPr lang="en-US" dirty="0">
                  <a:solidFill>
                    <a:schemeClr val="accent6">
                      <a:lumMod val="40000"/>
                      <a:lumOff val="60000"/>
                    </a:schemeClr>
                  </a:solidFill>
                </a:endParaRPr>
              </a:p>
              <a:p>
                <a:r>
                  <a:rPr lang="en-US" dirty="0">
                    <a:solidFill>
                      <a:schemeClr val="accent6">
                        <a:lumMod val="40000"/>
                        <a:lumOff val="60000"/>
                      </a:schemeClr>
                    </a:solidFill>
                  </a:rPr>
                  <a:t>Step 3) Compute the </a:t>
                </a:r>
                <a:r>
                  <a:rPr lang="en-US" b="1" dirty="0">
                    <a:solidFill>
                      <a:schemeClr val="accent6">
                        <a:lumMod val="40000"/>
                        <a:lumOff val="60000"/>
                      </a:schemeClr>
                    </a:solidFill>
                  </a:rPr>
                  <a:t>z-value (AKA test value):</a:t>
                </a:r>
              </a:p>
              <a:p>
                <a14:m>
                  <m:oMath xmlns:m="http://schemas.openxmlformats.org/officeDocument/2006/math">
                    <m:acc>
                      <m:accPr>
                        <m:chr m:val="̅"/>
                        <m:ctrlPr>
                          <a:rPr lang="en-US" i="1" dirty="0">
                            <a:solidFill>
                              <a:schemeClr val="accent6">
                                <a:lumMod val="40000"/>
                                <a:lumOff val="60000"/>
                              </a:schemeClr>
                            </a:solidFill>
                            <a:latin typeface="Cambria Math" panose="02040503050406030204" pitchFamily="18" charset="0"/>
                          </a:rPr>
                        </m:ctrlPr>
                      </m:accPr>
                      <m:e>
                        <m:r>
                          <a:rPr lang="en-US" i="1" dirty="0">
                            <a:solidFill>
                              <a:schemeClr val="accent6">
                                <a:lumMod val="40000"/>
                                <a:lumOff val="60000"/>
                              </a:schemeClr>
                            </a:solidFill>
                            <a:latin typeface="Cambria Math" panose="02040503050406030204" pitchFamily="18" charset="0"/>
                          </a:rPr>
                          <m:t>𝑋</m:t>
                        </m:r>
                      </m:e>
                    </m:acc>
                    <m:r>
                      <a:rPr lang="en-US" i="1" dirty="0">
                        <a:solidFill>
                          <a:schemeClr val="accent6">
                            <a:lumMod val="40000"/>
                            <a:lumOff val="60000"/>
                          </a:schemeClr>
                        </a:solidFill>
                        <a:latin typeface="Cambria Math" panose="02040503050406030204" pitchFamily="18" charset="0"/>
                      </a:rPr>
                      <m:t> </m:t>
                    </m:r>
                  </m:oMath>
                </a14:m>
                <a:r>
                  <a:rPr lang="en-US" dirty="0">
                    <a:solidFill>
                      <a:schemeClr val="accent6">
                        <a:lumMod val="40000"/>
                        <a:lumOff val="60000"/>
                      </a:schemeClr>
                    </a:solidFill>
                  </a:rPr>
                  <a:t> = </a:t>
                </a:r>
                <a:r>
                  <a:rPr lang="en-US" b="1" dirty="0">
                    <a:solidFill>
                      <a:schemeClr val="accent6">
                        <a:lumMod val="40000"/>
                        <a:lumOff val="60000"/>
                      </a:schemeClr>
                    </a:solidFill>
                  </a:rPr>
                  <a:t>sample</a:t>
                </a:r>
                <a:r>
                  <a:rPr lang="en-US" dirty="0">
                    <a:solidFill>
                      <a:schemeClr val="accent6">
                        <a:lumMod val="40000"/>
                        <a:lumOff val="60000"/>
                      </a:schemeClr>
                    </a:solidFill>
                  </a:rPr>
                  <a:t> mean (not the population  mean)</a:t>
                </a:r>
              </a:p>
              <a:p>
                <a:r>
                  <a:rPr lang="el-GR" dirty="0">
                    <a:solidFill>
                      <a:schemeClr val="accent6">
                        <a:lumMod val="40000"/>
                        <a:lumOff val="60000"/>
                      </a:schemeClr>
                    </a:solidFill>
                  </a:rPr>
                  <a:t>μ</a:t>
                </a:r>
                <a:r>
                  <a:rPr lang="en-US" dirty="0">
                    <a:solidFill>
                      <a:schemeClr val="accent6">
                        <a:lumMod val="40000"/>
                        <a:lumOff val="60000"/>
                      </a:schemeClr>
                    </a:solidFill>
                  </a:rPr>
                  <a:t> = </a:t>
                </a:r>
                <a:r>
                  <a:rPr lang="en-US" b="1" dirty="0">
                    <a:solidFill>
                      <a:schemeClr val="accent6">
                        <a:lumMod val="40000"/>
                        <a:lumOff val="60000"/>
                      </a:schemeClr>
                    </a:solidFill>
                  </a:rPr>
                  <a:t>hypothesized</a:t>
                </a:r>
                <a:r>
                  <a:rPr lang="en-US" dirty="0">
                    <a:solidFill>
                      <a:schemeClr val="accent6">
                        <a:lumMod val="40000"/>
                        <a:lumOff val="60000"/>
                      </a:schemeClr>
                    </a:solidFill>
                  </a:rPr>
                  <a:t> population mean </a:t>
                </a:r>
              </a:p>
              <a:p>
                <a:r>
                  <a:rPr lang="el-GR" dirty="0">
                    <a:solidFill>
                      <a:schemeClr val="accent6">
                        <a:lumMod val="40000"/>
                        <a:lumOff val="60000"/>
                      </a:schemeClr>
                    </a:solidFill>
                  </a:rPr>
                  <a:t>σ</a:t>
                </a:r>
                <a:r>
                  <a:rPr lang="en-US" dirty="0">
                    <a:solidFill>
                      <a:schemeClr val="accent6">
                        <a:lumMod val="40000"/>
                        <a:lumOff val="60000"/>
                      </a:schemeClr>
                    </a:solidFill>
                  </a:rPr>
                  <a:t> = </a:t>
                </a:r>
                <a:r>
                  <a:rPr lang="en-US" b="1" dirty="0">
                    <a:solidFill>
                      <a:schemeClr val="accent6">
                        <a:lumMod val="40000"/>
                        <a:lumOff val="60000"/>
                      </a:schemeClr>
                    </a:solidFill>
                  </a:rPr>
                  <a:t>population</a:t>
                </a:r>
                <a:r>
                  <a:rPr lang="en-US" dirty="0">
                    <a:solidFill>
                      <a:schemeClr val="accent6">
                        <a:lumMod val="40000"/>
                        <a:lumOff val="60000"/>
                      </a:schemeClr>
                    </a:solidFill>
                  </a:rPr>
                  <a:t> standard deviation </a:t>
                </a:r>
              </a:p>
              <a:p>
                <a:r>
                  <a:rPr lang="en-US" dirty="0">
                    <a:solidFill>
                      <a:schemeClr val="accent6">
                        <a:lumMod val="40000"/>
                        <a:lumOff val="60000"/>
                      </a:schemeClr>
                    </a:solidFill>
                  </a:rPr>
                  <a:t>n = sample size</a:t>
                </a:r>
              </a:p>
              <a:p>
                <a:endParaRPr lang="en-US" dirty="0">
                  <a:solidFill>
                    <a:schemeClr val="accent6">
                      <a:lumMod val="40000"/>
                      <a:lumOff val="60000"/>
                    </a:schemeClr>
                  </a:solidFill>
                </a:endParaRPr>
              </a:p>
              <a:p>
                <a:r>
                  <a:rPr lang="en-US" dirty="0">
                    <a:solidFill>
                      <a:schemeClr val="accent6">
                        <a:lumMod val="40000"/>
                        <a:lumOff val="60000"/>
                      </a:schemeClr>
                    </a:solidFill>
                  </a:rPr>
                  <a:t>Step 4) Make the decision to reject or not reject the null hypothesis.</a:t>
                </a:r>
              </a:p>
              <a:p>
                <a:pPr marL="342900" indent="-342900">
                  <a:buAutoNum type="alphaLcParenR"/>
                </a:pPr>
                <a:r>
                  <a:rPr lang="en-US" b="1" dirty="0">
                    <a:solidFill>
                      <a:schemeClr val="accent6">
                        <a:lumMod val="40000"/>
                        <a:lumOff val="60000"/>
                      </a:schemeClr>
                    </a:solidFill>
                  </a:rPr>
                  <a:t>Right-tailed test:</a:t>
                </a:r>
                <a:r>
                  <a:rPr lang="en-US" dirty="0">
                    <a:solidFill>
                      <a:schemeClr val="accent6">
                        <a:lumMod val="40000"/>
                        <a:lumOff val="60000"/>
                      </a:schemeClr>
                    </a:solidFill>
                  </a:rPr>
                  <a:t> if z-value &gt; critical value, reject the null hypothesis H0</a:t>
                </a:r>
              </a:p>
              <a:p>
                <a:pPr marL="342900" indent="-342900">
                  <a:buFontTx/>
                  <a:buAutoNum type="alphaLcParenR"/>
                </a:pPr>
                <a:r>
                  <a:rPr lang="en-US" b="1" dirty="0">
                    <a:solidFill>
                      <a:schemeClr val="accent6">
                        <a:lumMod val="40000"/>
                        <a:lumOff val="60000"/>
                      </a:schemeClr>
                    </a:solidFill>
                  </a:rPr>
                  <a:t>Left-tailed test:</a:t>
                </a:r>
                <a:r>
                  <a:rPr lang="en-US" dirty="0">
                    <a:solidFill>
                      <a:schemeClr val="accent6">
                        <a:lumMod val="40000"/>
                        <a:lumOff val="60000"/>
                      </a:schemeClr>
                    </a:solidFill>
                  </a:rPr>
                  <a:t>    if z-value &lt; critical value, reject the null hypothesis H0</a:t>
                </a:r>
              </a:p>
              <a:p>
                <a:pPr marL="342900" indent="-342900">
                  <a:buFontTx/>
                  <a:buAutoNum type="alphaLcParenR"/>
                </a:pPr>
                <a:r>
                  <a:rPr lang="en-US" b="1" dirty="0">
                    <a:solidFill>
                      <a:schemeClr val="accent6">
                        <a:lumMod val="40000"/>
                        <a:lumOff val="60000"/>
                      </a:schemeClr>
                    </a:solidFill>
                  </a:rPr>
                  <a:t>Two-tailed test</a:t>
                </a:r>
                <a:r>
                  <a:rPr lang="en-US" dirty="0">
                    <a:solidFill>
                      <a:schemeClr val="accent6">
                        <a:lumMod val="40000"/>
                        <a:lumOff val="60000"/>
                      </a:schemeClr>
                    </a:solidFill>
                  </a:rPr>
                  <a:t>:   if z-value falls in reject-region, reject the null hypo  H0</a:t>
                </a:r>
              </a:p>
              <a:p>
                <a:pPr marL="342900" indent="-342900">
                  <a:buFontTx/>
                  <a:buAutoNum type="alphaLcParenR"/>
                </a:pPr>
                <a:endParaRPr lang="en-US" dirty="0">
                  <a:solidFill>
                    <a:schemeClr val="accent6">
                      <a:lumMod val="40000"/>
                      <a:lumOff val="60000"/>
                    </a:schemeClr>
                  </a:solidFill>
                </a:endParaRPr>
              </a:p>
              <a:p>
                <a:r>
                  <a:rPr lang="en-US" dirty="0">
                    <a:solidFill>
                      <a:schemeClr val="accent6">
                        <a:lumMod val="40000"/>
                        <a:lumOff val="60000"/>
                      </a:schemeClr>
                    </a:solidFill>
                  </a:rPr>
                  <a:t>Step 5) Summarize the results. </a:t>
                </a:r>
              </a:p>
            </p:txBody>
          </p:sp>
        </mc:Choice>
        <mc:Fallback>
          <p:sp>
            <p:nvSpPr>
              <p:cNvPr id="5" name="TextBox 4">
                <a:extLst>
                  <a:ext uri="{FF2B5EF4-FFF2-40B4-BE49-F238E27FC236}">
                    <a16:creationId xmlns:a16="http://schemas.microsoft.com/office/drawing/2014/main" id="{9EA692A9-D2C1-2C03-55AB-F3ED86EA5E0A}"/>
                  </a:ext>
                </a:extLst>
              </p:cNvPr>
              <p:cNvSpPr txBox="1">
                <a:spLocks noRot="1" noChangeAspect="1" noMove="1" noResize="1" noEditPoints="1" noAdjustHandles="1" noChangeArrowheads="1" noChangeShapeType="1" noTextEdit="1"/>
              </p:cNvSpPr>
              <p:nvPr/>
            </p:nvSpPr>
            <p:spPr>
              <a:xfrm>
                <a:off x="190500" y="166592"/>
                <a:ext cx="7503449" cy="6740307"/>
              </a:xfrm>
              <a:prstGeom prst="rect">
                <a:avLst/>
              </a:prstGeom>
              <a:blipFill>
                <a:blip r:embed="rId2"/>
                <a:stretch>
                  <a:fillRect l="-650" t="-452" r="-812" b="-452"/>
                </a:stretch>
              </a:blipFill>
            </p:spPr>
            <p:txBody>
              <a:bodyPr/>
              <a:lstStyle/>
              <a:p>
                <a:r>
                  <a:rPr lang="en-US">
                    <a:noFill/>
                  </a:rPr>
                  <a:t> </a:t>
                </a:r>
              </a:p>
            </p:txBody>
          </p:sp>
        </mc:Fallback>
      </mc:AlternateContent>
      <p:pic>
        <p:nvPicPr>
          <p:cNvPr id="4" name="Picture 3">
            <a:extLst>
              <a:ext uri="{FF2B5EF4-FFF2-40B4-BE49-F238E27FC236}">
                <a16:creationId xmlns:a16="http://schemas.microsoft.com/office/drawing/2014/main" id="{792FDA3A-C073-42CB-90A1-4571A4CB386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93949" y="169424"/>
            <a:ext cx="4153315" cy="1784731"/>
          </a:xfrm>
          <a:prstGeom prst="rect">
            <a:avLst/>
          </a:prstGeom>
        </p:spPr>
      </p:pic>
      <p:pic>
        <p:nvPicPr>
          <p:cNvPr id="10" name="Picture 9">
            <a:extLst>
              <a:ext uri="{FF2B5EF4-FFF2-40B4-BE49-F238E27FC236}">
                <a16:creationId xmlns:a16="http://schemas.microsoft.com/office/drawing/2014/main" id="{86024531-0990-5281-5DD8-F601266F0A3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693949" y="2205659"/>
            <a:ext cx="4050791" cy="2202652"/>
          </a:xfrm>
          <a:prstGeom prst="rect">
            <a:avLst/>
          </a:prstGeom>
        </p:spPr>
      </p:pic>
      <p:pic>
        <p:nvPicPr>
          <p:cNvPr id="12" name="Picture 11">
            <a:extLst>
              <a:ext uri="{FF2B5EF4-FFF2-40B4-BE49-F238E27FC236}">
                <a16:creationId xmlns:a16="http://schemas.microsoft.com/office/drawing/2014/main" id="{6A00EE34-AF7B-5603-CC6C-FD4CE62ABFE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693949" y="4659815"/>
            <a:ext cx="4050791" cy="2045785"/>
          </a:xfrm>
          <a:prstGeom prst="rect">
            <a:avLst/>
          </a:prstGeom>
        </p:spPr>
      </p:pic>
      <p:pic>
        <p:nvPicPr>
          <p:cNvPr id="2" name="Picture 1">
            <a:extLst>
              <a:ext uri="{FF2B5EF4-FFF2-40B4-BE49-F238E27FC236}">
                <a16:creationId xmlns:a16="http://schemas.microsoft.com/office/drawing/2014/main" id="{03EC6C93-6427-662B-EBD3-413B9D41BE89}"/>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128886" y="3624949"/>
            <a:ext cx="1934228" cy="952003"/>
          </a:xfrm>
          <a:prstGeom prst="rect">
            <a:avLst/>
          </a:prstGeom>
        </p:spPr>
      </p:pic>
    </p:spTree>
    <p:extLst>
      <p:ext uri="{BB962C8B-B14F-4D97-AF65-F5344CB8AC3E}">
        <p14:creationId xmlns:p14="http://schemas.microsoft.com/office/powerpoint/2010/main" val="31967224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7AC06AE1-3373-891E-5638-1FEEDD5EA92F}"/>
              </a:ext>
            </a:extLst>
          </p:cNvPr>
          <p:cNvSpPr txBox="1"/>
          <p:nvPr/>
        </p:nvSpPr>
        <p:spPr>
          <a:xfrm>
            <a:off x="51815" y="140268"/>
            <a:ext cx="6689593" cy="5509200"/>
          </a:xfrm>
          <a:prstGeom prst="rect">
            <a:avLst/>
          </a:prstGeom>
          <a:noFill/>
        </p:spPr>
        <p:txBody>
          <a:bodyPr wrap="square">
            <a:spAutoFit/>
          </a:bodyPr>
          <a:lstStyle/>
          <a:p>
            <a:pPr>
              <a:buNone/>
            </a:pPr>
            <a:r>
              <a:rPr lang="en-US" sz="1600" dirty="0">
                <a:solidFill>
                  <a:schemeClr val="accent6">
                    <a:lumMod val="40000"/>
                    <a:lumOff val="60000"/>
                  </a:schemeClr>
                </a:solidFill>
              </a:rPr>
              <a:t>Example (Right-Tailed):  In a population of metal components, the </a:t>
            </a:r>
            <a:r>
              <a:rPr lang="en-US" sz="1600" b="1" dirty="0">
                <a:solidFill>
                  <a:schemeClr val="accent6">
                    <a:lumMod val="40000"/>
                    <a:lumOff val="60000"/>
                  </a:schemeClr>
                </a:solidFill>
              </a:rPr>
              <a:t>average lifetime without a protective paint coating is 101 months</a:t>
            </a:r>
            <a:r>
              <a:rPr lang="en-US" sz="1600" dirty="0">
                <a:solidFill>
                  <a:schemeClr val="accent6">
                    <a:lumMod val="40000"/>
                    <a:lumOff val="60000"/>
                  </a:schemeClr>
                </a:solidFill>
              </a:rPr>
              <a:t>. The lifetime is normally distributed, and the </a:t>
            </a:r>
            <a:r>
              <a:rPr lang="en-US" sz="1600" b="1" dirty="0">
                <a:solidFill>
                  <a:schemeClr val="accent6">
                    <a:lumMod val="40000"/>
                    <a:lumOff val="60000"/>
                  </a:schemeClr>
                </a:solidFill>
              </a:rPr>
              <a:t>population standard deviation is 15 months</a:t>
            </a:r>
            <a:r>
              <a:rPr lang="en-US" sz="1600" dirty="0">
                <a:solidFill>
                  <a:schemeClr val="accent6">
                    <a:lumMod val="40000"/>
                    <a:lumOff val="60000"/>
                  </a:schemeClr>
                </a:solidFill>
              </a:rPr>
              <a:t>. An engineer claims that applying the new protective paint coating </a:t>
            </a:r>
            <a:r>
              <a:rPr lang="en-US" sz="1600" b="1" dirty="0">
                <a:solidFill>
                  <a:schemeClr val="accent6">
                    <a:lumMod val="40000"/>
                    <a:lumOff val="60000"/>
                  </a:schemeClr>
                </a:solidFill>
              </a:rPr>
              <a:t>increases</a:t>
            </a:r>
            <a:r>
              <a:rPr lang="en-US" sz="1600" dirty="0">
                <a:solidFill>
                  <a:schemeClr val="accent6">
                    <a:lumMod val="40000"/>
                    <a:lumOff val="60000"/>
                  </a:schemeClr>
                </a:solidFill>
              </a:rPr>
              <a:t> the mean lifetime of the component beyond 101 months.</a:t>
            </a:r>
          </a:p>
          <a:p>
            <a:r>
              <a:rPr lang="en-US" sz="1600" dirty="0">
                <a:solidFill>
                  <a:schemeClr val="accent6">
                    <a:lumMod val="40000"/>
                    <a:lumOff val="60000"/>
                  </a:schemeClr>
                </a:solidFill>
              </a:rPr>
              <a:t>She tests this claim by selecting a random sample of </a:t>
            </a:r>
            <a:r>
              <a:rPr lang="en-US" sz="1600" b="1" dirty="0">
                <a:solidFill>
                  <a:schemeClr val="accent6">
                    <a:lumMod val="40000"/>
                    <a:lumOff val="60000"/>
                  </a:schemeClr>
                </a:solidFill>
              </a:rPr>
              <a:t>50 components</a:t>
            </a:r>
            <a:r>
              <a:rPr lang="en-US" sz="1600" dirty="0">
                <a:solidFill>
                  <a:schemeClr val="accent6">
                    <a:lumMod val="40000"/>
                    <a:lumOff val="60000"/>
                  </a:schemeClr>
                </a:solidFill>
              </a:rPr>
              <a:t> with the coating. </a:t>
            </a:r>
          </a:p>
          <a:p>
            <a:r>
              <a:rPr lang="en-US" sz="1600" dirty="0">
                <a:solidFill>
                  <a:schemeClr val="accent6">
                    <a:lumMod val="40000"/>
                    <a:lumOff val="60000"/>
                  </a:schemeClr>
                </a:solidFill>
              </a:rPr>
              <a:t>Following is 50 sample values: [114 107 115 124 106 106 125 116 104 114 104 104 111 90 92 103 99 112 100 95 123 107 109 95 103 110 97 113 103 106 103 127 109 98 117 97 111 89 96 111 116 111 108 106 94 102 104 119 112 91]</a:t>
            </a:r>
          </a:p>
          <a:p>
            <a:r>
              <a:rPr lang="en-US" sz="1600" dirty="0">
                <a:solidFill>
                  <a:schemeClr val="accent6">
                    <a:lumMod val="40000"/>
                    <a:lumOff val="60000"/>
                  </a:schemeClr>
                </a:solidFill>
              </a:rPr>
              <a:t>Test this claim at significance level, </a:t>
            </a:r>
            <a:r>
              <a:rPr lang="en-US" sz="1600" b="1" dirty="0">
                <a:solidFill>
                  <a:schemeClr val="accent6">
                    <a:lumMod val="40000"/>
                    <a:lumOff val="60000"/>
                  </a:schemeClr>
                </a:solidFill>
              </a:rPr>
              <a:t>α = 0.05 (i.e. 5%)</a:t>
            </a:r>
            <a:r>
              <a:rPr lang="en-US" sz="1600" dirty="0">
                <a:solidFill>
                  <a:schemeClr val="accent6">
                    <a:lumMod val="40000"/>
                    <a:lumOff val="60000"/>
                  </a:schemeClr>
                </a:solidFill>
              </a:rPr>
              <a:t>.</a:t>
            </a:r>
          </a:p>
          <a:p>
            <a:endParaRPr lang="en-US" sz="1600" dirty="0">
              <a:solidFill>
                <a:schemeClr val="accent6">
                  <a:lumMod val="40000"/>
                  <a:lumOff val="60000"/>
                </a:schemeClr>
              </a:solidFill>
            </a:endParaRPr>
          </a:p>
          <a:p>
            <a:r>
              <a:rPr lang="en-US" sz="1600" dirty="0">
                <a:solidFill>
                  <a:schemeClr val="accent6">
                    <a:lumMod val="40000"/>
                    <a:lumOff val="60000"/>
                  </a:schemeClr>
                </a:solidFill>
              </a:rPr>
              <a:t>Answer: The sample mean of above samples is calculated to be 107 approx.</a:t>
            </a:r>
          </a:p>
          <a:p>
            <a:endParaRPr lang="en-US" sz="1600" dirty="0">
              <a:solidFill>
                <a:schemeClr val="accent6">
                  <a:lumMod val="40000"/>
                  <a:lumOff val="60000"/>
                </a:schemeClr>
              </a:solidFill>
            </a:endParaRPr>
          </a:p>
          <a:p>
            <a:r>
              <a:rPr lang="en-US" sz="1600" dirty="0">
                <a:solidFill>
                  <a:schemeClr val="accent6">
                    <a:lumMod val="40000"/>
                    <a:lumOff val="60000"/>
                  </a:schemeClr>
                </a:solidFill>
              </a:rPr>
              <a:t>Step 1) State the hypothesis and identify the claim. </a:t>
            </a:r>
          </a:p>
          <a:p>
            <a:r>
              <a:rPr lang="en-US" sz="1600" dirty="0">
                <a:solidFill>
                  <a:schemeClr val="accent6">
                    <a:lumMod val="40000"/>
                    <a:lumOff val="60000"/>
                  </a:schemeClr>
                </a:solidFill>
              </a:rPr>
              <a:t>H0: </a:t>
            </a:r>
            <a:r>
              <a:rPr lang="el-GR" sz="1600" dirty="0">
                <a:solidFill>
                  <a:schemeClr val="accent6">
                    <a:lumMod val="40000"/>
                    <a:lumOff val="60000"/>
                  </a:schemeClr>
                </a:solidFill>
              </a:rPr>
              <a:t>μ</a:t>
            </a:r>
            <a:r>
              <a:rPr lang="en-US" sz="1600" dirty="0">
                <a:solidFill>
                  <a:schemeClr val="accent6">
                    <a:lumMod val="40000"/>
                    <a:lumOff val="60000"/>
                  </a:schemeClr>
                </a:solidFill>
              </a:rPr>
              <a:t>= 101 (The mean lifetime is 101 months; the coating has no effect)</a:t>
            </a:r>
          </a:p>
          <a:p>
            <a:r>
              <a:rPr lang="en-US" sz="1600" dirty="0">
                <a:solidFill>
                  <a:schemeClr val="accent6">
                    <a:lumMod val="40000"/>
                    <a:lumOff val="60000"/>
                  </a:schemeClr>
                </a:solidFill>
              </a:rPr>
              <a:t>H1: </a:t>
            </a:r>
            <a:r>
              <a:rPr lang="el-GR" sz="1600" dirty="0">
                <a:solidFill>
                  <a:schemeClr val="accent6">
                    <a:lumMod val="40000"/>
                    <a:lumOff val="60000"/>
                  </a:schemeClr>
                </a:solidFill>
              </a:rPr>
              <a:t>μ</a:t>
            </a:r>
            <a:r>
              <a:rPr lang="en-US" sz="1600" dirty="0">
                <a:solidFill>
                  <a:schemeClr val="accent6">
                    <a:lumMod val="40000"/>
                    <a:lumOff val="60000"/>
                  </a:schemeClr>
                </a:solidFill>
              </a:rPr>
              <a:t> &gt;  101 (Claim: The coating increases mean lifetime. This is R-tailed test)</a:t>
            </a:r>
          </a:p>
          <a:p>
            <a:endParaRPr lang="en-US" sz="1600" dirty="0">
              <a:solidFill>
                <a:schemeClr val="accent6">
                  <a:lumMod val="40000"/>
                  <a:lumOff val="60000"/>
                </a:schemeClr>
              </a:solidFill>
            </a:endParaRPr>
          </a:p>
          <a:p>
            <a:r>
              <a:rPr lang="en-US" sz="1600" dirty="0">
                <a:solidFill>
                  <a:schemeClr val="accent6">
                    <a:lumMod val="40000"/>
                    <a:lumOff val="60000"/>
                  </a:schemeClr>
                </a:solidFill>
              </a:rPr>
              <a:t>Step 2) Find the critical value. Since </a:t>
            </a:r>
            <a:r>
              <a:rPr lang="el-GR" sz="1600" dirty="0">
                <a:solidFill>
                  <a:schemeClr val="accent6">
                    <a:lumMod val="40000"/>
                    <a:lumOff val="60000"/>
                  </a:schemeClr>
                </a:solidFill>
              </a:rPr>
              <a:t>α</a:t>
            </a:r>
            <a:r>
              <a:rPr lang="en-US" sz="1600" dirty="0">
                <a:solidFill>
                  <a:schemeClr val="accent6">
                    <a:lumMod val="40000"/>
                    <a:lumOff val="60000"/>
                  </a:schemeClr>
                </a:solidFill>
              </a:rPr>
              <a:t> = 0.05 and the test is a right-tailed test, the critical value is z-critical = +1.65. </a:t>
            </a:r>
          </a:p>
          <a:p>
            <a:endParaRPr lang="en-US" sz="1600" dirty="0">
              <a:solidFill>
                <a:schemeClr val="accent6">
                  <a:lumMod val="40000"/>
                  <a:lumOff val="60000"/>
                </a:schemeClr>
              </a:solidFill>
            </a:endParaRPr>
          </a:p>
          <a:p>
            <a:r>
              <a:rPr lang="en-US" sz="1600" dirty="0">
                <a:solidFill>
                  <a:schemeClr val="accent6">
                    <a:lumMod val="40000"/>
                    <a:lumOff val="60000"/>
                  </a:schemeClr>
                </a:solidFill>
              </a:rPr>
              <a:t>Step 3) Compute the z test value .</a:t>
            </a:r>
          </a:p>
        </p:txBody>
      </p:sp>
      <p:cxnSp>
        <p:nvCxnSpPr>
          <p:cNvPr id="14" name="Straight Connector 13">
            <a:extLst>
              <a:ext uri="{FF2B5EF4-FFF2-40B4-BE49-F238E27FC236}">
                <a16:creationId xmlns:a16="http://schemas.microsoft.com/office/drawing/2014/main" id="{1FD2FAD3-72AA-F849-3D10-0E059D57D87A}"/>
              </a:ext>
            </a:extLst>
          </p:cNvPr>
          <p:cNvCxnSpPr>
            <a:cxnSpLocks/>
          </p:cNvCxnSpPr>
          <p:nvPr/>
        </p:nvCxnSpPr>
        <p:spPr>
          <a:xfrm>
            <a:off x="6848856" y="140268"/>
            <a:ext cx="0" cy="6589716"/>
          </a:xfrm>
          <a:prstGeom prst="line">
            <a:avLst/>
          </a:prstGeom>
        </p:spPr>
        <p:style>
          <a:lnRef idx="3">
            <a:schemeClr val="accent4"/>
          </a:lnRef>
          <a:fillRef idx="0">
            <a:schemeClr val="accent4"/>
          </a:fillRef>
          <a:effectRef idx="2">
            <a:schemeClr val="accent4"/>
          </a:effectRef>
          <a:fontRef idx="minor">
            <a:schemeClr val="tx1"/>
          </a:fontRef>
        </p:style>
      </p:cxnSp>
      <p:sp>
        <p:nvSpPr>
          <p:cNvPr id="18" name="TextBox 17">
            <a:extLst>
              <a:ext uri="{FF2B5EF4-FFF2-40B4-BE49-F238E27FC236}">
                <a16:creationId xmlns:a16="http://schemas.microsoft.com/office/drawing/2014/main" id="{F12C49D9-798D-9374-B526-93DF7D0C7FEE}"/>
              </a:ext>
            </a:extLst>
          </p:cNvPr>
          <p:cNvSpPr txBox="1"/>
          <p:nvPr/>
        </p:nvSpPr>
        <p:spPr>
          <a:xfrm>
            <a:off x="6942583" y="462838"/>
            <a:ext cx="5292083" cy="1077218"/>
          </a:xfrm>
          <a:prstGeom prst="rect">
            <a:avLst/>
          </a:prstGeom>
          <a:noFill/>
        </p:spPr>
        <p:txBody>
          <a:bodyPr wrap="square">
            <a:spAutoFit/>
          </a:bodyPr>
          <a:lstStyle/>
          <a:p>
            <a:r>
              <a:rPr lang="en-US" sz="1600" dirty="0">
                <a:solidFill>
                  <a:schemeClr val="accent6">
                    <a:lumMod val="40000"/>
                    <a:lumOff val="60000"/>
                  </a:schemeClr>
                </a:solidFill>
              </a:rPr>
              <a:t>Step 4) Make the decision to reject or not reject the null hypothesis.</a:t>
            </a:r>
          </a:p>
          <a:p>
            <a:r>
              <a:rPr lang="en-US" sz="1600" dirty="0">
                <a:solidFill>
                  <a:schemeClr val="accent6">
                    <a:lumMod val="40000"/>
                    <a:lumOff val="60000"/>
                  </a:schemeClr>
                </a:solidFill>
              </a:rPr>
              <a:t>Since 1.65 &lt; 2.82 (the critical value), so </a:t>
            </a:r>
            <a:r>
              <a:rPr lang="en-US" sz="1600" b="1" dirty="0">
                <a:solidFill>
                  <a:schemeClr val="accent6">
                    <a:lumMod val="40000"/>
                    <a:lumOff val="60000"/>
                  </a:schemeClr>
                </a:solidFill>
              </a:rPr>
              <a:t>reject the null hypothesis.</a:t>
            </a:r>
          </a:p>
        </p:txBody>
      </p:sp>
      <p:sp>
        <p:nvSpPr>
          <p:cNvPr id="21" name="TextBox 20">
            <a:extLst>
              <a:ext uri="{FF2B5EF4-FFF2-40B4-BE49-F238E27FC236}">
                <a16:creationId xmlns:a16="http://schemas.microsoft.com/office/drawing/2014/main" id="{35A04B46-0793-C62B-1E4E-74E5AC10B7A2}"/>
              </a:ext>
            </a:extLst>
          </p:cNvPr>
          <p:cNvSpPr txBox="1"/>
          <p:nvPr/>
        </p:nvSpPr>
        <p:spPr>
          <a:xfrm>
            <a:off x="6933439" y="4405241"/>
            <a:ext cx="5169130" cy="1077218"/>
          </a:xfrm>
          <a:prstGeom prst="rect">
            <a:avLst/>
          </a:prstGeom>
          <a:noFill/>
        </p:spPr>
        <p:txBody>
          <a:bodyPr wrap="square">
            <a:spAutoFit/>
          </a:bodyPr>
          <a:lstStyle/>
          <a:p>
            <a:r>
              <a:rPr lang="en-US" sz="1600" dirty="0">
                <a:solidFill>
                  <a:schemeClr val="accent6">
                    <a:lumMod val="40000"/>
                    <a:lumOff val="60000"/>
                  </a:schemeClr>
                </a:solidFill>
              </a:rPr>
              <a:t>Step 5) Summarize the results: 2 different ways</a:t>
            </a:r>
          </a:p>
          <a:p>
            <a:r>
              <a:rPr lang="en-US" sz="1600" dirty="0">
                <a:solidFill>
                  <a:schemeClr val="accent6">
                    <a:lumMod val="40000"/>
                    <a:lumOff val="60000"/>
                  </a:schemeClr>
                </a:solidFill>
              </a:rPr>
              <a:t>At the 5% significance level, there is enough evidence to support the claim that the paint coating increases the mean lifetime of the component.</a:t>
            </a:r>
          </a:p>
        </p:txBody>
      </p:sp>
      <p:pic>
        <p:nvPicPr>
          <p:cNvPr id="3" name="Picture 2">
            <a:extLst>
              <a:ext uri="{FF2B5EF4-FFF2-40B4-BE49-F238E27FC236}">
                <a16:creationId xmlns:a16="http://schemas.microsoft.com/office/drawing/2014/main" id="{0DA4AB04-CE67-F0CD-D2E9-8538D719099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124700" y="2002502"/>
            <a:ext cx="4560953" cy="1959898"/>
          </a:xfrm>
          <a:prstGeom prst="rect">
            <a:avLst/>
          </a:prstGeom>
        </p:spPr>
      </p:pic>
      <p:pic>
        <p:nvPicPr>
          <p:cNvPr id="4" name="Picture 3">
            <a:extLst>
              <a:ext uri="{FF2B5EF4-FFF2-40B4-BE49-F238E27FC236}">
                <a16:creationId xmlns:a16="http://schemas.microsoft.com/office/drawing/2014/main" id="{52688C10-38B8-2771-7E5F-7BD3519BCEC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6227" y="5704581"/>
            <a:ext cx="1623693" cy="799162"/>
          </a:xfrm>
          <a:prstGeom prst="rect">
            <a:avLst/>
          </a:prstGeom>
        </p:spPr>
      </p:pic>
      <p:pic>
        <p:nvPicPr>
          <p:cNvPr id="8" name="Picture 7">
            <a:extLst>
              <a:ext uri="{FF2B5EF4-FFF2-40B4-BE49-F238E27FC236}">
                <a16:creationId xmlns:a16="http://schemas.microsoft.com/office/drawing/2014/main" id="{8A15FEC8-1638-D084-B7B4-9B9456442C76}"/>
              </a:ext>
            </a:extLst>
          </p:cNvPr>
          <p:cNvPicPr>
            <a:picLocks noChangeAspect="1"/>
          </p:cNvPicPr>
          <p:nvPr/>
        </p:nvPicPr>
        <p:blipFill>
          <a:blip r:embed="rId4"/>
          <a:stretch>
            <a:fillRect/>
          </a:stretch>
        </p:blipFill>
        <p:spPr>
          <a:xfrm>
            <a:off x="2838450" y="5704581"/>
            <a:ext cx="2913718" cy="851869"/>
          </a:xfrm>
          <a:prstGeom prst="rect">
            <a:avLst/>
          </a:prstGeom>
        </p:spPr>
      </p:pic>
    </p:spTree>
    <p:extLst>
      <p:ext uri="{BB962C8B-B14F-4D97-AF65-F5344CB8AC3E}">
        <p14:creationId xmlns:p14="http://schemas.microsoft.com/office/powerpoint/2010/main" val="22535352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2E68CF-9DCB-627E-6DFB-F9807546C98A}"/>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7FB96EA8-0B95-E024-E664-38EA0BB195C2}"/>
              </a:ext>
            </a:extLst>
          </p:cNvPr>
          <p:cNvSpPr txBox="1"/>
          <p:nvPr/>
        </p:nvSpPr>
        <p:spPr>
          <a:xfrm>
            <a:off x="139446" y="266760"/>
            <a:ext cx="6094476" cy="5016758"/>
          </a:xfrm>
          <a:prstGeom prst="rect">
            <a:avLst/>
          </a:prstGeom>
          <a:noFill/>
        </p:spPr>
        <p:txBody>
          <a:bodyPr wrap="square">
            <a:spAutoFit/>
          </a:bodyPr>
          <a:lstStyle/>
          <a:p>
            <a:pPr>
              <a:buNone/>
            </a:pPr>
            <a:r>
              <a:rPr lang="en-US" sz="1600" dirty="0">
                <a:solidFill>
                  <a:schemeClr val="accent6">
                    <a:lumMod val="40000"/>
                    <a:lumOff val="60000"/>
                  </a:schemeClr>
                </a:solidFill>
              </a:rPr>
              <a:t>Example (Left-Tailed): A water treatment plant claims their new filtration system reduces contaminant levels to </a:t>
            </a:r>
            <a:r>
              <a:rPr lang="en-US" sz="1600" b="1" dirty="0">
                <a:solidFill>
                  <a:schemeClr val="accent6">
                    <a:lumMod val="40000"/>
                    <a:lumOff val="60000"/>
                  </a:schemeClr>
                </a:solidFill>
              </a:rPr>
              <a:t>below 5 ppm which is the population mean.</a:t>
            </a:r>
            <a:r>
              <a:rPr lang="en-US" sz="1600" dirty="0">
                <a:solidFill>
                  <a:schemeClr val="accent6">
                    <a:lumMod val="40000"/>
                    <a:lumOff val="60000"/>
                  </a:schemeClr>
                </a:solidFill>
              </a:rPr>
              <a:t> Environmental engineers want to verify that the system performs better than this standard.</a:t>
            </a:r>
          </a:p>
          <a:p>
            <a:r>
              <a:rPr lang="en-US" sz="1600" dirty="0">
                <a:solidFill>
                  <a:schemeClr val="accent6">
                    <a:lumMod val="40000"/>
                    <a:lumOff val="60000"/>
                  </a:schemeClr>
                </a:solidFill>
              </a:rPr>
              <a:t>A random sample of </a:t>
            </a:r>
            <a:r>
              <a:rPr lang="en-US" sz="1600" b="1" dirty="0">
                <a:solidFill>
                  <a:schemeClr val="accent6">
                    <a:lumMod val="40000"/>
                    <a:lumOff val="60000"/>
                  </a:schemeClr>
                </a:solidFill>
              </a:rPr>
              <a:t>60 water samples</a:t>
            </a:r>
            <a:r>
              <a:rPr lang="en-US" sz="1600" dirty="0">
                <a:solidFill>
                  <a:schemeClr val="accent6">
                    <a:lumMod val="40000"/>
                    <a:lumOff val="60000"/>
                  </a:schemeClr>
                </a:solidFill>
              </a:rPr>
              <a:t> is taken after treatment. The sample shows a mean contaminant level of </a:t>
            </a:r>
            <a:r>
              <a:rPr lang="en-US" sz="1600" b="1" dirty="0">
                <a:solidFill>
                  <a:schemeClr val="accent6">
                    <a:lumMod val="40000"/>
                    <a:lumOff val="60000"/>
                  </a:schemeClr>
                </a:solidFill>
              </a:rPr>
              <a:t>4.9 ppm</a:t>
            </a:r>
            <a:r>
              <a:rPr lang="en-US" sz="1600" dirty="0">
                <a:solidFill>
                  <a:schemeClr val="accent6">
                    <a:lumMod val="40000"/>
                    <a:lumOff val="60000"/>
                  </a:schemeClr>
                </a:solidFill>
              </a:rPr>
              <a:t>, with a known population standard deviation of </a:t>
            </a:r>
            <a:r>
              <a:rPr lang="en-US" sz="1600" b="1" dirty="0">
                <a:solidFill>
                  <a:schemeClr val="accent6">
                    <a:lumMod val="40000"/>
                    <a:lumOff val="60000"/>
                  </a:schemeClr>
                </a:solidFill>
              </a:rPr>
              <a:t>0.8 ppm</a:t>
            </a:r>
            <a:r>
              <a:rPr lang="en-US" sz="1600" dirty="0">
                <a:solidFill>
                  <a:schemeClr val="accent6">
                    <a:lumMod val="40000"/>
                    <a:lumOff val="60000"/>
                  </a:schemeClr>
                </a:solidFill>
              </a:rPr>
              <a:t>. </a:t>
            </a:r>
          </a:p>
          <a:p>
            <a:r>
              <a:rPr lang="en-US" sz="1600" dirty="0">
                <a:solidFill>
                  <a:schemeClr val="accent6">
                    <a:lumMod val="40000"/>
                    <a:lumOff val="60000"/>
                  </a:schemeClr>
                </a:solidFill>
              </a:rPr>
              <a:t>Test the claim that filtration decreases contaminant level at significance level, </a:t>
            </a:r>
            <a:r>
              <a:rPr lang="en-US" sz="1600" b="1" dirty="0">
                <a:solidFill>
                  <a:schemeClr val="accent6">
                    <a:lumMod val="40000"/>
                    <a:lumOff val="60000"/>
                  </a:schemeClr>
                </a:solidFill>
              </a:rPr>
              <a:t>α = 0.05 (i.e. 5%)</a:t>
            </a:r>
            <a:r>
              <a:rPr lang="en-US" sz="1600" dirty="0">
                <a:solidFill>
                  <a:schemeClr val="accent6">
                    <a:lumMod val="40000"/>
                    <a:lumOff val="60000"/>
                  </a:schemeClr>
                </a:solidFill>
              </a:rPr>
              <a:t>.</a:t>
            </a:r>
          </a:p>
          <a:p>
            <a:endParaRPr lang="en-US" sz="1600" dirty="0">
              <a:solidFill>
                <a:schemeClr val="accent6">
                  <a:lumMod val="40000"/>
                  <a:lumOff val="60000"/>
                </a:schemeClr>
              </a:solidFill>
            </a:endParaRPr>
          </a:p>
          <a:p>
            <a:r>
              <a:rPr lang="en-US" sz="1600" dirty="0">
                <a:solidFill>
                  <a:schemeClr val="accent6">
                    <a:lumMod val="40000"/>
                    <a:lumOff val="60000"/>
                  </a:schemeClr>
                </a:solidFill>
              </a:rPr>
              <a:t>Answer: </a:t>
            </a:r>
          </a:p>
          <a:p>
            <a:r>
              <a:rPr lang="en-US" sz="1600" dirty="0">
                <a:solidFill>
                  <a:schemeClr val="accent6">
                    <a:lumMod val="40000"/>
                    <a:lumOff val="60000"/>
                  </a:schemeClr>
                </a:solidFill>
              </a:rPr>
              <a:t>Step 1) State the hypothesis and identify the claim. </a:t>
            </a:r>
          </a:p>
          <a:p>
            <a:r>
              <a:rPr lang="en-US" sz="1600" dirty="0">
                <a:solidFill>
                  <a:schemeClr val="accent6">
                    <a:lumMod val="40000"/>
                    <a:lumOff val="60000"/>
                  </a:schemeClr>
                </a:solidFill>
              </a:rPr>
              <a:t>H0: </a:t>
            </a:r>
            <a:r>
              <a:rPr lang="el-GR" sz="1600" dirty="0">
                <a:solidFill>
                  <a:schemeClr val="accent6">
                    <a:lumMod val="40000"/>
                    <a:lumOff val="60000"/>
                  </a:schemeClr>
                </a:solidFill>
              </a:rPr>
              <a:t>μ</a:t>
            </a:r>
            <a:r>
              <a:rPr lang="en-US" sz="1600" dirty="0">
                <a:solidFill>
                  <a:schemeClr val="accent6">
                    <a:lumMod val="40000"/>
                    <a:lumOff val="60000"/>
                  </a:schemeClr>
                </a:solidFill>
              </a:rPr>
              <a:t> = 5 mm ( No improvement )</a:t>
            </a:r>
          </a:p>
          <a:p>
            <a:r>
              <a:rPr lang="en-US" sz="1600" dirty="0">
                <a:solidFill>
                  <a:schemeClr val="accent6">
                    <a:lumMod val="40000"/>
                    <a:lumOff val="60000"/>
                  </a:schemeClr>
                </a:solidFill>
              </a:rPr>
              <a:t>H1: </a:t>
            </a:r>
            <a:r>
              <a:rPr lang="el-GR" sz="1600" dirty="0">
                <a:solidFill>
                  <a:schemeClr val="accent6">
                    <a:lumMod val="40000"/>
                    <a:lumOff val="60000"/>
                  </a:schemeClr>
                </a:solidFill>
              </a:rPr>
              <a:t>μ</a:t>
            </a:r>
            <a:r>
              <a:rPr lang="en-US" sz="1600" dirty="0">
                <a:solidFill>
                  <a:schemeClr val="accent6">
                    <a:lumMod val="40000"/>
                    <a:lumOff val="60000"/>
                  </a:schemeClr>
                </a:solidFill>
              </a:rPr>
              <a:t> &lt;  5  ( Claim: System reduces mean contaminant level. This is </a:t>
            </a:r>
          </a:p>
          <a:p>
            <a:r>
              <a:rPr lang="en-US" sz="1600" dirty="0">
                <a:solidFill>
                  <a:schemeClr val="accent6">
                    <a:lumMod val="40000"/>
                    <a:lumOff val="60000"/>
                  </a:schemeClr>
                </a:solidFill>
              </a:rPr>
              <a:t>                               L- tailed test ) </a:t>
            </a:r>
          </a:p>
          <a:p>
            <a:endParaRPr lang="en-US" sz="1600" dirty="0">
              <a:solidFill>
                <a:schemeClr val="accent6">
                  <a:lumMod val="40000"/>
                  <a:lumOff val="60000"/>
                </a:schemeClr>
              </a:solidFill>
            </a:endParaRPr>
          </a:p>
          <a:p>
            <a:r>
              <a:rPr lang="en-US" sz="1600" dirty="0">
                <a:solidFill>
                  <a:schemeClr val="accent6">
                    <a:lumMod val="40000"/>
                    <a:lumOff val="60000"/>
                  </a:schemeClr>
                </a:solidFill>
              </a:rPr>
              <a:t>Step 2) Find the critical value. Since </a:t>
            </a:r>
            <a:r>
              <a:rPr lang="el-GR" sz="1600" dirty="0">
                <a:solidFill>
                  <a:schemeClr val="accent6">
                    <a:lumMod val="40000"/>
                    <a:lumOff val="60000"/>
                  </a:schemeClr>
                </a:solidFill>
              </a:rPr>
              <a:t>α</a:t>
            </a:r>
            <a:r>
              <a:rPr lang="en-US" sz="1600" dirty="0">
                <a:solidFill>
                  <a:schemeClr val="accent6">
                    <a:lumMod val="40000"/>
                    <a:lumOff val="60000"/>
                  </a:schemeClr>
                </a:solidFill>
              </a:rPr>
              <a:t> = 0.10 and the test is a left-tailed test, the critical value is z-critical = -1.28 </a:t>
            </a:r>
          </a:p>
          <a:p>
            <a:endParaRPr lang="en-US" sz="1600" dirty="0">
              <a:solidFill>
                <a:schemeClr val="accent6">
                  <a:lumMod val="40000"/>
                  <a:lumOff val="60000"/>
                </a:schemeClr>
              </a:solidFill>
            </a:endParaRPr>
          </a:p>
          <a:p>
            <a:r>
              <a:rPr lang="en-US" sz="1600" dirty="0">
                <a:solidFill>
                  <a:schemeClr val="accent6">
                    <a:lumMod val="40000"/>
                    <a:lumOff val="60000"/>
                  </a:schemeClr>
                </a:solidFill>
              </a:rPr>
              <a:t>Step 3) Compute the z test value .</a:t>
            </a:r>
          </a:p>
        </p:txBody>
      </p:sp>
      <p:sp>
        <p:nvSpPr>
          <p:cNvPr id="18" name="TextBox 17">
            <a:extLst>
              <a:ext uri="{FF2B5EF4-FFF2-40B4-BE49-F238E27FC236}">
                <a16:creationId xmlns:a16="http://schemas.microsoft.com/office/drawing/2014/main" id="{92267F1F-D997-81ED-1D24-91215399EEEC}"/>
              </a:ext>
            </a:extLst>
          </p:cNvPr>
          <p:cNvSpPr txBox="1"/>
          <p:nvPr/>
        </p:nvSpPr>
        <p:spPr>
          <a:xfrm>
            <a:off x="6878575" y="600379"/>
            <a:ext cx="5292083" cy="1077218"/>
          </a:xfrm>
          <a:prstGeom prst="rect">
            <a:avLst/>
          </a:prstGeom>
          <a:noFill/>
        </p:spPr>
        <p:txBody>
          <a:bodyPr wrap="square">
            <a:spAutoFit/>
          </a:bodyPr>
          <a:lstStyle/>
          <a:p>
            <a:r>
              <a:rPr lang="en-US" sz="1600" dirty="0">
                <a:solidFill>
                  <a:schemeClr val="accent6">
                    <a:lumMod val="40000"/>
                    <a:lumOff val="60000"/>
                  </a:schemeClr>
                </a:solidFill>
              </a:rPr>
              <a:t>Step 4) Make the decision to reject or not reject the null hypothesis.</a:t>
            </a:r>
          </a:p>
          <a:p>
            <a:r>
              <a:rPr lang="en-US" sz="1600" dirty="0">
                <a:solidFill>
                  <a:schemeClr val="accent6">
                    <a:lumMod val="40000"/>
                    <a:lumOff val="60000"/>
                  </a:schemeClr>
                </a:solidFill>
              </a:rPr>
              <a:t>Since -1.28 &lt; -0.968 (the critical value), so do NOT reject the null hypothesis.</a:t>
            </a:r>
          </a:p>
        </p:txBody>
      </p:sp>
      <p:sp>
        <p:nvSpPr>
          <p:cNvPr id="21" name="TextBox 20">
            <a:extLst>
              <a:ext uri="{FF2B5EF4-FFF2-40B4-BE49-F238E27FC236}">
                <a16:creationId xmlns:a16="http://schemas.microsoft.com/office/drawing/2014/main" id="{D33CBF5B-9EFD-5A9C-F4F0-7320208ACA23}"/>
              </a:ext>
            </a:extLst>
          </p:cNvPr>
          <p:cNvSpPr txBox="1"/>
          <p:nvPr/>
        </p:nvSpPr>
        <p:spPr>
          <a:xfrm>
            <a:off x="6942583" y="4085582"/>
            <a:ext cx="5228844" cy="1077218"/>
          </a:xfrm>
          <a:prstGeom prst="rect">
            <a:avLst/>
          </a:prstGeom>
          <a:noFill/>
        </p:spPr>
        <p:txBody>
          <a:bodyPr wrap="square">
            <a:spAutoFit/>
          </a:bodyPr>
          <a:lstStyle/>
          <a:p>
            <a:r>
              <a:rPr lang="en-US" sz="1600" dirty="0">
                <a:solidFill>
                  <a:schemeClr val="accent6">
                    <a:lumMod val="40000"/>
                    <a:lumOff val="60000"/>
                  </a:schemeClr>
                </a:solidFill>
              </a:rPr>
              <a:t>Step 5) Summarize the results:</a:t>
            </a:r>
          </a:p>
          <a:p>
            <a:r>
              <a:rPr lang="en-US" sz="1600" dirty="0">
                <a:solidFill>
                  <a:schemeClr val="accent6">
                    <a:lumMod val="40000"/>
                    <a:lumOff val="60000"/>
                  </a:schemeClr>
                </a:solidFill>
              </a:rPr>
              <a:t>At the 5% significance level, there is not enough evidence to conclude that the </a:t>
            </a:r>
            <a:r>
              <a:rPr lang="en-US" sz="1600" b="1" dirty="0">
                <a:solidFill>
                  <a:schemeClr val="accent6">
                    <a:lumMod val="40000"/>
                    <a:lumOff val="60000"/>
                  </a:schemeClr>
                </a:solidFill>
              </a:rPr>
              <a:t>new filtration system reduces the mean contaminant level below 5 ppm</a:t>
            </a:r>
            <a:r>
              <a:rPr lang="en-US" sz="1600" dirty="0">
                <a:solidFill>
                  <a:schemeClr val="accent6">
                    <a:lumMod val="40000"/>
                    <a:lumOff val="60000"/>
                  </a:schemeClr>
                </a:solidFill>
              </a:rPr>
              <a:t>.</a:t>
            </a:r>
          </a:p>
        </p:txBody>
      </p:sp>
      <p:cxnSp>
        <p:nvCxnSpPr>
          <p:cNvPr id="2" name="Straight Connector 1">
            <a:extLst>
              <a:ext uri="{FF2B5EF4-FFF2-40B4-BE49-F238E27FC236}">
                <a16:creationId xmlns:a16="http://schemas.microsoft.com/office/drawing/2014/main" id="{45465489-9691-75ED-E3E4-79A9D4965DC7}"/>
              </a:ext>
            </a:extLst>
          </p:cNvPr>
          <p:cNvCxnSpPr>
            <a:cxnSpLocks/>
          </p:cNvCxnSpPr>
          <p:nvPr/>
        </p:nvCxnSpPr>
        <p:spPr>
          <a:xfrm>
            <a:off x="6848856" y="167700"/>
            <a:ext cx="0" cy="6589716"/>
          </a:xfrm>
          <a:prstGeom prst="line">
            <a:avLst/>
          </a:prstGeom>
        </p:spPr>
        <p:style>
          <a:lnRef idx="3">
            <a:schemeClr val="accent4"/>
          </a:lnRef>
          <a:fillRef idx="0">
            <a:schemeClr val="accent4"/>
          </a:fillRef>
          <a:effectRef idx="2">
            <a:schemeClr val="accent4"/>
          </a:effectRef>
          <a:fontRef idx="minor">
            <a:schemeClr val="tx1"/>
          </a:fontRef>
        </p:style>
      </p:cxnSp>
      <p:pic>
        <p:nvPicPr>
          <p:cNvPr id="4" name="Picture 3">
            <a:extLst>
              <a:ext uri="{FF2B5EF4-FFF2-40B4-BE49-F238E27FC236}">
                <a16:creationId xmlns:a16="http://schemas.microsoft.com/office/drawing/2014/main" id="{2797D22D-C171-EF65-AEAF-0FC249879F1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65324" y="1817402"/>
            <a:ext cx="4050791" cy="2202652"/>
          </a:xfrm>
          <a:prstGeom prst="rect">
            <a:avLst/>
          </a:prstGeom>
        </p:spPr>
      </p:pic>
      <p:pic>
        <p:nvPicPr>
          <p:cNvPr id="6" name="Picture 5">
            <a:extLst>
              <a:ext uri="{FF2B5EF4-FFF2-40B4-BE49-F238E27FC236}">
                <a16:creationId xmlns:a16="http://schemas.microsoft.com/office/drawing/2014/main" id="{19EF712C-894C-DC42-998D-F96620FD7FE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6227" y="5704581"/>
            <a:ext cx="1623693" cy="799162"/>
          </a:xfrm>
          <a:prstGeom prst="rect">
            <a:avLst/>
          </a:prstGeom>
        </p:spPr>
      </p:pic>
      <p:pic>
        <p:nvPicPr>
          <p:cNvPr id="8" name="Picture 7">
            <a:extLst>
              <a:ext uri="{FF2B5EF4-FFF2-40B4-BE49-F238E27FC236}">
                <a16:creationId xmlns:a16="http://schemas.microsoft.com/office/drawing/2014/main" id="{84DAC6F8-C318-9E68-90B1-CB33BD67605B}"/>
              </a:ext>
            </a:extLst>
          </p:cNvPr>
          <p:cNvPicPr>
            <a:picLocks noChangeAspect="1"/>
          </p:cNvPicPr>
          <p:nvPr/>
        </p:nvPicPr>
        <p:blipFill>
          <a:blip r:embed="rId4"/>
          <a:stretch>
            <a:fillRect/>
          </a:stretch>
        </p:blipFill>
        <p:spPr>
          <a:xfrm>
            <a:off x="2695575" y="5602362"/>
            <a:ext cx="3038835" cy="1003600"/>
          </a:xfrm>
          <a:prstGeom prst="rect">
            <a:avLst/>
          </a:prstGeom>
        </p:spPr>
      </p:pic>
    </p:spTree>
    <p:extLst>
      <p:ext uri="{BB962C8B-B14F-4D97-AF65-F5344CB8AC3E}">
        <p14:creationId xmlns:p14="http://schemas.microsoft.com/office/powerpoint/2010/main" val="8232244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15C097-3A8B-B96C-CC32-164F6F74020F}"/>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1B4B57B8-B556-A8EF-F155-E4B5794B7434}"/>
              </a:ext>
            </a:extLst>
          </p:cNvPr>
          <p:cNvSpPr txBox="1"/>
          <p:nvPr/>
        </p:nvSpPr>
        <p:spPr>
          <a:xfrm>
            <a:off x="102870" y="112836"/>
            <a:ext cx="6094476" cy="6001643"/>
          </a:xfrm>
          <a:prstGeom prst="rect">
            <a:avLst/>
          </a:prstGeom>
          <a:noFill/>
        </p:spPr>
        <p:txBody>
          <a:bodyPr wrap="square">
            <a:spAutoFit/>
          </a:bodyPr>
          <a:lstStyle/>
          <a:p>
            <a:pPr>
              <a:buNone/>
            </a:pPr>
            <a:r>
              <a:rPr lang="en-US" sz="1600" dirty="0">
                <a:solidFill>
                  <a:schemeClr val="accent6">
                    <a:lumMod val="40000"/>
                    <a:lumOff val="60000"/>
                  </a:schemeClr>
                </a:solidFill>
              </a:rPr>
              <a:t>Example (2-Tailed Test): A medical researcher is interested in finding out whether a new medication will have any </a:t>
            </a:r>
            <a:r>
              <a:rPr lang="en-US" sz="1600" b="1" dirty="0">
                <a:solidFill>
                  <a:schemeClr val="accent6">
                    <a:lumMod val="40000"/>
                    <a:lumOff val="60000"/>
                  </a:schemeClr>
                </a:solidFill>
              </a:rPr>
              <a:t>undesirable side effects</a:t>
            </a:r>
            <a:r>
              <a:rPr lang="en-US" sz="1600" dirty="0">
                <a:solidFill>
                  <a:schemeClr val="accent6">
                    <a:lumMod val="40000"/>
                    <a:lumOff val="60000"/>
                  </a:schemeClr>
                </a:solidFill>
              </a:rPr>
              <a:t> on patients’ pulse rates. The researcher is concerned with whether the pulse rate </a:t>
            </a:r>
            <a:r>
              <a:rPr lang="en-US" sz="1600" b="1" dirty="0">
                <a:solidFill>
                  <a:schemeClr val="accent6">
                    <a:lumMod val="40000"/>
                    <a:lumOff val="60000"/>
                  </a:schemeClr>
                </a:solidFill>
              </a:rPr>
              <a:t>increases, decreases, or stays the same</a:t>
            </a:r>
            <a:r>
              <a:rPr lang="en-US" sz="1600" dirty="0">
                <a:solidFill>
                  <a:schemeClr val="accent6">
                    <a:lumMod val="40000"/>
                    <a:lumOff val="60000"/>
                  </a:schemeClr>
                </a:solidFill>
              </a:rPr>
              <a:t> after taking the medication.  The researcher knows that the </a:t>
            </a:r>
            <a:r>
              <a:rPr lang="en-US" sz="1600" b="1" dirty="0">
                <a:solidFill>
                  <a:schemeClr val="accent6">
                    <a:lumMod val="40000"/>
                    <a:lumOff val="60000"/>
                  </a:schemeClr>
                </a:solidFill>
              </a:rPr>
              <a:t>mean pulse rate</a:t>
            </a:r>
            <a:r>
              <a:rPr lang="en-US" sz="1600" dirty="0">
                <a:solidFill>
                  <a:schemeClr val="accent6">
                    <a:lumMod val="40000"/>
                    <a:lumOff val="60000"/>
                  </a:schemeClr>
                </a:solidFill>
              </a:rPr>
              <a:t> for the </a:t>
            </a:r>
            <a:r>
              <a:rPr lang="en-US" sz="1600" b="1" dirty="0">
                <a:solidFill>
                  <a:schemeClr val="accent6">
                    <a:lumMod val="40000"/>
                    <a:lumOff val="60000"/>
                  </a:schemeClr>
                </a:solidFill>
              </a:rPr>
              <a:t>population</a:t>
            </a:r>
            <a:r>
              <a:rPr lang="en-US" sz="1600" dirty="0">
                <a:solidFill>
                  <a:schemeClr val="accent6">
                    <a:lumMod val="40000"/>
                    <a:lumOff val="60000"/>
                  </a:schemeClr>
                </a:solidFill>
              </a:rPr>
              <a:t> under study is </a:t>
            </a:r>
            <a:r>
              <a:rPr lang="en-US" sz="1600" b="1" dirty="0">
                <a:solidFill>
                  <a:schemeClr val="accent6">
                    <a:lumMod val="40000"/>
                    <a:lumOff val="60000"/>
                  </a:schemeClr>
                </a:solidFill>
              </a:rPr>
              <a:t>82 beats per minute (BPM)</a:t>
            </a:r>
            <a:r>
              <a:rPr lang="en-US" sz="1600" dirty="0">
                <a:solidFill>
                  <a:schemeClr val="accent6">
                    <a:lumMod val="40000"/>
                    <a:lumOff val="60000"/>
                  </a:schemeClr>
                </a:solidFill>
              </a:rPr>
              <a:t>, with a </a:t>
            </a:r>
            <a:r>
              <a:rPr lang="en-US" sz="1600" b="1" dirty="0">
                <a:solidFill>
                  <a:schemeClr val="accent6">
                    <a:lumMod val="40000"/>
                    <a:lumOff val="60000"/>
                  </a:schemeClr>
                </a:solidFill>
              </a:rPr>
              <a:t>population standard deviation</a:t>
            </a:r>
            <a:r>
              <a:rPr lang="en-US" sz="1600" dirty="0">
                <a:solidFill>
                  <a:schemeClr val="accent6">
                    <a:lumMod val="40000"/>
                    <a:lumOff val="60000"/>
                  </a:schemeClr>
                </a:solidFill>
              </a:rPr>
              <a:t> of </a:t>
            </a:r>
            <a:r>
              <a:rPr lang="en-US" sz="1600" b="1" dirty="0">
                <a:solidFill>
                  <a:schemeClr val="accent6">
                    <a:lumMod val="40000"/>
                    <a:lumOff val="60000"/>
                  </a:schemeClr>
                </a:solidFill>
              </a:rPr>
              <a:t>5 BPM</a:t>
            </a:r>
            <a:r>
              <a:rPr lang="en-US" sz="1600" dirty="0">
                <a:solidFill>
                  <a:schemeClr val="accent6">
                    <a:lumMod val="40000"/>
                    <a:lumOff val="60000"/>
                  </a:schemeClr>
                </a:solidFill>
              </a:rPr>
              <a:t>. To investigate, the researcher selects a </a:t>
            </a:r>
            <a:r>
              <a:rPr lang="en-US" sz="1600" b="1" dirty="0">
                <a:solidFill>
                  <a:schemeClr val="accent6">
                    <a:lumMod val="40000"/>
                    <a:lumOff val="60000"/>
                  </a:schemeClr>
                </a:solidFill>
              </a:rPr>
              <a:t>random sample of 60 patients</a:t>
            </a:r>
            <a:r>
              <a:rPr lang="en-US" sz="1600" dirty="0">
                <a:solidFill>
                  <a:schemeClr val="accent6">
                    <a:lumMod val="40000"/>
                    <a:lumOff val="60000"/>
                  </a:schemeClr>
                </a:solidFill>
              </a:rPr>
              <a:t> who take the medication and finds that their </a:t>
            </a:r>
            <a:r>
              <a:rPr lang="en-US" sz="1600" b="1" dirty="0">
                <a:solidFill>
                  <a:schemeClr val="accent6">
                    <a:lumMod val="40000"/>
                    <a:lumOff val="60000"/>
                  </a:schemeClr>
                </a:solidFill>
              </a:rPr>
              <a:t>mean pulse rate</a:t>
            </a:r>
            <a:r>
              <a:rPr lang="en-US" sz="1600" dirty="0">
                <a:solidFill>
                  <a:schemeClr val="accent6">
                    <a:lumMod val="40000"/>
                    <a:lumOff val="60000"/>
                  </a:schemeClr>
                </a:solidFill>
              </a:rPr>
              <a:t> is </a:t>
            </a:r>
            <a:r>
              <a:rPr lang="en-US" sz="1600" b="1" dirty="0">
                <a:solidFill>
                  <a:schemeClr val="accent6">
                    <a:lumMod val="40000"/>
                    <a:lumOff val="60000"/>
                  </a:schemeClr>
                </a:solidFill>
              </a:rPr>
              <a:t>80.7 BPM</a:t>
            </a:r>
            <a:r>
              <a:rPr lang="en-US" sz="1600" dirty="0">
                <a:solidFill>
                  <a:schemeClr val="accent6">
                    <a:lumMod val="40000"/>
                    <a:lumOff val="60000"/>
                  </a:schemeClr>
                </a:solidFill>
              </a:rPr>
              <a:t>. </a:t>
            </a:r>
            <a:endParaRPr lang="en-US" sz="1600" b="1" dirty="0">
              <a:solidFill>
                <a:schemeClr val="accent6">
                  <a:lumMod val="40000"/>
                  <a:lumOff val="60000"/>
                </a:schemeClr>
              </a:solidFill>
            </a:endParaRPr>
          </a:p>
          <a:p>
            <a:r>
              <a:rPr lang="en-US" sz="1600" dirty="0">
                <a:solidFill>
                  <a:schemeClr val="accent6">
                    <a:lumMod val="40000"/>
                    <a:lumOff val="60000"/>
                  </a:schemeClr>
                </a:solidFill>
              </a:rPr>
              <a:t>Test the claim that medication </a:t>
            </a:r>
            <a:r>
              <a:rPr lang="en-US" sz="1600" b="1" dirty="0">
                <a:solidFill>
                  <a:schemeClr val="accent6">
                    <a:lumMod val="40000"/>
                    <a:lumOff val="60000"/>
                  </a:schemeClr>
                </a:solidFill>
              </a:rPr>
              <a:t>does affect</a:t>
            </a:r>
            <a:r>
              <a:rPr lang="en-US" sz="1600" dirty="0">
                <a:solidFill>
                  <a:schemeClr val="accent6">
                    <a:lumMod val="40000"/>
                    <a:lumOff val="60000"/>
                  </a:schemeClr>
                </a:solidFill>
              </a:rPr>
              <a:t> the mean pulse rate at significance level, </a:t>
            </a:r>
            <a:r>
              <a:rPr lang="en-US" sz="1600" b="1" dirty="0">
                <a:solidFill>
                  <a:schemeClr val="accent6">
                    <a:lumMod val="40000"/>
                    <a:lumOff val="60000"/>
                  </a:schemeClr>
                </a:solidFill>
              </a:rPr>
              <a:t>α = 0.01 (i.e. 1%)</a:t>
            </a:r>
            <a:r>
              <a:rPr lang="en-US" sz="1600" dirty="0">
                <a:solidFill>
                  <a:schemeClr val="accent6">
                    <a:lumMod val="40000"/>
                    <a:lumOff val="60000"/>
                  </a:schemeClr>
                </a:solidFill>
              </a:rPr>
              <a:t>.</a:t>
            </a:r>
          </a:p>
          <a:p>
            <a:endParaRPr lang="en-US" sz="1600" b="1" dirty="0">
              <a:solidFill>
                <a:schemeClr val="accent6">
                  <a:lumMod val="40000"/>
                  <a:lumOff val="60000"/>
                </a:schemeClr>
              </a:solidFill>
            </a:endParaRPr>
          </a:p>
          <a:p>
            <a:r>
              <a:rPr lang="en-US" sz="1600" dirty="0">
                <a:solidFill>
                  <a:schemeClr val="accent6">
                    <a:lumMod val="40000"/>
                    <a:lumOff val="60000"/>
                  </a:schemeClr>
                </a:solidFill>
              </a:rPr>
              <a:t>Answer:</a:t>
            </a:r>
            <a:endParaRPr lang="en-US" sz="1600" b="1" dirty="0">
              <a:solidFill>
                <a:schemeClr val="accent6">
                  <a:lumMod val="40000"/>
                  <a:lumOff val="60000"/>
                </a:schemeClr>
              </a:solidFill>
            </a:endParaRPr>
          </a:p>
          <a:p>
            <a:r>
              <a:rPr lang="en-US" sz="1600" dirty="0">
                <a:solidFill>
                  <a:schemeClr val="accent6">
                    <a:lumMod val="40000"/>
                    <a:lumOff val="60000"/>
                  </a:schemeClr>
                </a:solidFill>
              </a:rPr>
              <a:t>Step 1) State the hypothesis and identify the claim. </a:t>
            </a:r>
          </a:p>
          <a:p>
            <a:r>
              <a:rPr lang="en-US" sz="1600" dirty="0">
                <a:solidFill>
                  <a:schemeClr val="accent6">
                    <a:lumMod val="40000"/>
                    <a:lumOff val="60000"/>
                  </a:schemeClr>
                </a:solidFill>
              </a:rPr>
              <a:t>H0: </a:t>
            </a:r>
            <a:r>
              <a:rPr lang="el-GR" sz="1600" dirty="0">
                <a:solidFill>
                  <a:schemeClr val="accent6">
                    <a:lumMod val="40000"/>
                    <a:lumOff val="60000"/>
                  </a:schemeClr>
                </a:solidFill>
              </a:rPr>
              <a:t>μ</a:t>
            </a:r>
            <a:r>
              <a:rPr lang="en-US" sz="1600" dirty="0">
                <a:solidFill>
                  <a:schemeClr val="accent6">
                    <a:lumMod val="40000"/>
                    <a:lumOff val="60000"/>
                  </a:schemeClr>
                </a:solidFill>
              </a:rPr>
              <a:t> = 82 BPM  (The medication has </a:t>
            </a:r>
            <a:r>
              <a:rPr lang="en-US" sz="1600" b="1" dirty="0">
                <a:solidFill>
                  <a:schemeClr val="accent6">
                    <a:lumMod val="40000"/>
                    <a:lumOff val="60000"/>
                  </a:schemeClr>
                </a:solidFill>
              </a:rPr>
              <a:t>no effect</a:t>
            </a:r>
            <a:r>
              <a:rPr lang="en-US" sz="1600" dirty="0">
                <a:solidFill>
                  <a:schemeClr val="accent6">
                    <a:lumMod val="40000"/>
                    <a:lumOff val="60000"/>
                  </a:schemeClr>
                </a:solidFill>
              </a:rPr>
              <a:t> on BPM.)</a:t>
            </a:r>
          </a:p>
          <a:p>
            <a:r>
              <a:rPr lang="en-US" sz="1600" dirty="0">
                <a:solidFill>
                  <a:schemeClr val="accent6">
                    <a:lumMod val="40000"/>
                    <a:lumOff val="60000"/>
                  </a:schemeClr>
                </a:solidFill>
              </a:rPr>
              <a:t>H1: </a:t>
            </a:r>
            <a:r>
              <a:rPr lang="el-GR" sz="1600" dirty="0">
                <a:solidFill>
                  <a:schemeClr val="accent6">
                    <a:lumMod val="40000"/>
                    <a:lumOff val="60000"/>
                  </a:schemeClr>
                </a:solidFill>
              </a:rPr>
              <a:t>μ</a:t>
            </a:r>
            <a:r>
              <a:rPr lang="en-US" sz="1600" dirty="0">
                <a:solidFill>
                  <a:schemeClr val="accent6">
                    <a:lumMod val="40000"/>
                    <a:lumOff val="60000"/>
                  </a:schemeClr>
                </a:solidFill>
              </a:rPr>
              <a:t> != 82 BPM (Claim: The medication </a:t>
            </a:r>
            <a:r>
              <a:rPr lang="en-US" sz="1600" b="1" dirty="0">
                <a:solidFill>
                  <a:schemeClr val="accent6">
                    <a:lumMod val="40000"/>
                    <a:lumOff val="60000"/>
                  </a:schemeClr>
                </a:solidFill>
              </a:rPr>
              <a:t>does affect</a:t>
            </a:r>
            <a:r>
              <a:rPr lang="en-US" sz="1600" dirty="0">
                <a:solidFill>
                  <a:schemeClr val="accent6">
                    <a:lumMod val="40000"/>
                    <a:lumOff val="60000"/>
                  </a:schemeClr>
                </a:solidFill>
              </a:rPr>
              <a:t> the BPM. </a:t>
            </a:r>
          </a:p>
          <a:p>
            <a:r>
              <a:rPr lang="en-US" sz="1600" dirty="0">
                <a:solidFill>
                  <a:schemeClr val="accent6">
                    <a:lumMod val="40000"/>
                    <a:lumOff val="60000"/>
                  </a:schemeClr>
                </a:solidFill>
              </a:rPr>
              <a:t>                                 This is 2-tailed test )</a:t>
            </a:r>
          </a:p>
          <a:p>
            <a:endParaRPr lang="en-US" sz="1600" dirty="0">
              <a:solidFill>
                <a:schemeClr val="accent6">
                  <a:lumMod val="40000"/>
                  <a:lumOff val="60000"/>
                </a:schemeClr>
              </a:solidFill>
            </a:endParaRPr>
          </a:p>
          <a:p>
            <a:r>
              <a:rPr lang="en-US" sz="1600" dirty="0">
                <a:solidFill>
                  <a:schemeClr val="accent6">
                    <a:lumMod val="40000"/>
                    <a:lumOff val="60000"/>
                  </a:schemeClr>
                </a:solidFill>
              </a:rPr>
              <a:t>Step 2) Find the critical value. Since α = 0.01 and the test is a two-tailed test, the critical value are </a:t>
            </a:r>
          </a:p>
          <a:p>
            <a:r>
              <a:rPr lang="en-US" sz="1600" dirty="0">
                <a:solidFill>
                  <a:schemeClr val="accent6">
                    <a:lumMod val="40000"/>
                    <a:lumOff val="60000"/>
                  </a:schemeClr>
                </a:solidFill>
              </a:rPr>
              <a:t>z-critical = - 2.58 and </a:t>
            </a:r>
          </a:p>
          <a:p>
            <a:r>
              <a:rPr lang="en-US" sz="1600" dirty="0">
                <a:solidFill>
                  <a:schemeClr val="accent6">
                    <a:lumMod val="40000"/>
                    <a:lumOff val="60000"/>
                  </a:schemeClr>
                </a:solidFill>
              </a:rPr>
              <a:t>z-critical = +2.58 </a:t>
            </a:r>
          </a:p>
          <a:p>
            <a:endParaRPr lang="en-US" sz="1600" dirty="0">
              <a:solidFill>
                <a:schemeClr val="accent6">
                  <a:lumMod val="40000"/>
                  <a:lumOff val="60000"/>
                </a:schemeClr>
              </a:solidFill>
            </a:endParaRPr>
          </a:p>
          <a:p>
            <a:r>
              <a:rPr lang="en-US" sz="1600" dirty="0">
                <a:solidFill>
                  <a:schemeClr val="accent6">
                    <a:lumMod val="40000"/>
                    <a:lumOff val="60000"/>
                  </a:schemeClr>
                </a:solidFill>
              </a:rPr>
              <a:t>Step 3) Compute the z test value .</a:t>
            </a:r>
          </a:p>
        </p:txBody>
      </p:sp>
      <p:sp>
        <p:nvSpPr>
          <p:cNvPr id="18" name="TextBox 17">
            <a:extLst>
              <a:ext uri="{FF2B5EF4-FFF2-40B4-BE49-F238E27FC236}">
                <a16:creationId xmlns:a16="http://schemas.microsoft.com/office/drawing/2014/main" id="{06D8192E-9B38-4AB6-9C4B-436162C8AA60}"/>
              </a:ext>
            </a:extLst>
          </p:cNvPr>
          <p:cNvSpPr txBox="1"/>
          <p:nvPr/>
        </p:nvSpPr>
        <p:spPr>
          <a:xfrm>
            <a:off x="7052311" y="426643"/>
            <a:ext cx="4974827" cy="1077218"/>
          </a:xfrm>
          <a:prstGeom prst="rect">
            <a:avLst/>
          </a:prstGeom>
          <a:noFill/>
        </p:spPr>
        <p:txBody>
          <a:bodyPr wrap="square">
            <a:spAutoFit/>
          </a:bodyPr>
          <a:lstStyle/>
          <a:p>
            <a:r>
              <a:rPr lang="en-US" sz="1600" dirty="0">
                <a:solidFill>
                  <a:schemeClr val="accent6">
                    <a:lumMod val="40000"/>
                    <a:lumOff val="60000"/>
                  </a:schemeClr>
                </a:solidFill>
              </a:rPr>
              <a:t>Step 4) Make the decision to reject or not reject the null hypothesis.</a:t>
            </a:r>
          </a:p>
          <a:p>
            <a:r>
              <a:rPr lang="en-US" sz="1600" dirty="0">
                <a:solidFill>
                  <a:schemeClr val="accent6">
                    <a:lumMod val="40000"/>
                    <a:lumOff val="60000"/>
                  </a:schemeClr>
                </a:solidFill>
              </a:rPr>
              <a:t>Since  -2.58 (the critical value) &lt; -2.0137, so </a:t>
            </a:r>
            <a:r>
              <a:rPr lang="en-US" sz="1600" b="1" dirty="0">
                <a:solidFill>
                  <a:schemeClr val="accent6">
                    <a:lumMod val="40000"/>
                    <a:lumOff val="60000"/>
                  </a:schemeClr>
                </a:solidFill>
              </a:rPr>
              <a:t>do not reject the null hypothesis.</a:t>
            </a:r>
          </a:p>
        </p:txBody>
      </p:sp>
      <p:sp>
        <p:nvSpPr>
          <p:cNvPr id="21" name="TextBox 20">
            <a:extLst>
              <a:ext uri="{FF2B5EF4-FFF2-40B4-BE49-F238E27FC236}">
                <a16:creationId xmlns:a16="http://schemas.microsoft.com/office/drawing/2014/main" id="{B81BD518-0208-0443-2030-7142BDB1A9AA}"/>
              </a:ext>
            </a:extLst>
          </p:cNvPr>
          <p:cNvSpPr txBox="1"/>
          <p:nvPr/>
        </p:nvSpPr>
        <p:spPr>
          <a:xfrm>
            <a:off x="6997447" y="4588502"/>
            <a:ext cx="4974826" cy="1077218"/>
          </a:xfrm>
          <a:prstGeom prst="rect">
            <a:avLst/>
          </a:prstGeom>
          <a:noFill/>
        </p:spPr>
        <p:txBody>
          <a:bodyPr wrap="square">
            <a:spAutoFit/>
          </a:bodyPr>
          <a:lstStyle/>
          <a:p>
            <a:r>
              <a:rPr lang="en-US" sz="1600" dirty="0">
                <a:solidFill>
                  <a:schemeClr val="accent6">
                    <a:lumMod val="40000"/>
                    <a:lumOff val="60000"/>
                  </a:schemeClr>
                </a:solidFill>
              </a:rPr>
              <a:t>Step 5) Summarize the results:</a:t>
            </a:r>
          </a:p>
          <a:p>
            <a:r>
              <a:rPr lang="en-US" sz="1600" dirty="0">
                <a:solidFill>
                  <a:schemeClr val="accent6">
                    <a:lumMod val="40000"/>
                    <a:lumOff val="60000"/>
                  </a:schemeClr>
                </a:solidFill>
              </a:rPr>
              <a:t>At the 1% significance level, there is </a:t>
            </a:r>
            <a:r>
              <a:rPr lang="en-US" sz="1600" b="1" dirty="0">
                <a:solidFill>
                  <a:schemeClr val="accent6">
                    <a:lumMod val="40000"/>
                    <a:lumOff val="60000"/>
                  </a:schemeClr>
                </a:solidFill>
              </a:rPr>
              <a:t>not enough evidence</a:t>
            </a:r>
            <a:r>
              <a:rPr lang="en-US" sz="1600" dirty="0">
                <a:solidFill>
                  <a:schemeClr val="accent6">
                    <a:lumMod val="40000"/>
                    <a:lumOff val="60000"/>
                  </a:schemeClr>
                </a:solidFill>
              </a:rPr>
              <a:t> to conclude that the medication </a:t>
            </a:r>
            <a:r>
              <a:rPr lang="en-US" sz="1600" b="1" dirty="0">
                <a:solidFill>
                  <a:schemeClr val="accent6">
                    <a:lumMod val="40000"/>
                    <a:lumOff val="60000"/>
                  </a:schemeClr>
                </a:solidFill>
              </a:rPr>
              <a:t>has any effect</a:t>
            </a:r>
            <a:r>
              <a:rPr lang="en-US" sz="1600" dirty="0">
                <a:solidFill>
                  <a:schemeClr val="accent6">
                    <a:lumMod val="40000"/>
                    <a:lumOff val="60000"/>
                  </a:schemeClr>
                </a:solidFill>
              </a:rPr>
              <a:t> on mean pulse rate.</a:t>
            </a:r>
          </a:p>
        </p:txBody>
      </p:sp>
      <p:cxnSp>
        <p:nvCxnSpPr>
          <p:cNvPr id="2" name="Straight Connector 1">
            <a:extLst>
              <a:ext uri="{FF2B5EF4-FFF2-40B4-BE49-F238E27FC236}">
                <a16:creationId xmlns:a16="http://schemas.microsoft.com/office/drawing/2014/main" id="{DBD09EDC-154E-6EFC-89AA-272FB9914BE0}"/>
              </a:ext>
            </a:extLst>
          </p:cNvPr>
          <p:cNvCxnSpPr>
            <a:cxnSpLocks/>
          </p:cNvCxnSpPr>
          <p:nvPr/>
        </p:nvCxnSpPr>
        <p:spPr>
          <a:xfrm>
            <a:off x="6848856" y="140268"/>
            <a:ext cx="0" cy="6589716"/>
          </a:xfrm>
          <a:prstGeom prst="line">
            <a:avLst/>
          </a:prstGeom>
        </p:spPr>
        <p:style>
          <a:lnRef idx="3">
            <a:schemeClr val="accent4"/>
          </a:lnRef>
          <a:fillRef idx="0">
            <a:schemeClr val="accent4"/>
          </a:fillRef>
          <a:effectRef idx="2">
            <a:schemeClr val="accent4"/>
          </a:effectRef>
          <a:fontRef idx="minor">
            <a:schemeClr val="tx1"/>
          </a:fontRef>
        </p:style>
      </p:cxnSp>
      <p:pic>
        <p:nvPicPr>
          <p:cNvPr id="3" name="Picture 2">
            <a:extLst>
              <a:ext uri="{FF2B5EF4-FFF2-40B4-BE49-F238E27FC236}">
                <a16:creationId xmlns:a16="http://schemas.microsoft.com/office/drawing/2014/main" id="{FFFC27C1-02BB-D088-0187-589C9102302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42395" y="1954715"/>
            <a:ext cx="4239392" cy="2141035"/>
          </a:xfrm>
          <a:prstGeom prst="rect">
            <a:avLst/>
          </a:prstGeom>
        </p:spPr>
      </p:pic>
      <p:pic>
        <p:nvPicPr>
          <p:cNvPr id="5" name="Picture 4">
            <a:extLst>
              <a:ext uri="{FF2B5EF4-FFF2-40B4-BE49-F238E27FC236}">
                <a16:creationId xmlns:a16="http://schemas.microsoft.com/office/drawing/2014/main" id="{783E53BA-8CFB-1BDF-3C86-1DB52883735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3377" y="6058838"/>
            <a:ext cx="1623693" cy="799162"/>
          </a:xfrm>
          <a:prstGeom prst="rect">
            <a:avLst/>
          </a:prstGeom>
        </p:spPr>
      </p:pic>
      <p:pic>
        <p:nvPicPr>
          <p:cNvPr id="7" name="Picture 6">
            <a:extLst>
              <a:ext uri="{FF2B5EF4-FFF2-40B4-BE49-F238E27FC236}">
                <a16:creationId xmlns:a16="http://schemas.microsoft.com/office/drawing/2014/main" id="{97E076EF-96B4-165B-85E5-3479C7AFBC33}"/>
              </a:ext>
            </a:extLst>
          </p:cNvPr>
          <p:cNvPicPr>
            <a:picLocks noChangeAspect="1"/>
          </p:cNvPicPr>
          <p:nvPr/>
        </p:nvPicPr>
        <p:blipFill>
          <a:blip r:embed="rId4"/>
          <a:stretch>
            <a:fillRect/>
          </a:stretch>
        </p:blipFill>
        <p:spPr>
          <a:xfrm>
            <a:off x="2824651" y="5970988"/>
            <a:ext cx="3820751" cy="887012"/>
          </a:xfrm>
          <a:prstGeom prst="rect">
            <a:avLst/>
          </a:prstGeom>
        </p:spPr>
      </p:pic>
    </p:spTree>
    <p:extLst>
      <p:ext uri="{BB962C8B-B14F-4D97-AF65-F5344CB8AC3E}">
        <p14:creationId xmlns:p14="http://schemas.microsoft.com/office/powerpoint/2010/main" val="40883253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968C64-8332-B969-6091-DC2B2235D29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72844389-A2EA-ED74-BF6D-51144C512A63}"/>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363554447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2451</TotalTime>
  <Words>2209</Words>
  <Application>Microsoft Office PowerPoint</Application>
  <PresentationFormat>Widescreen</PresentationFormat>
  <Paragraphs>203</Paragraphs>
  <Slides>16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Arial</vt:lpstr>
      <vt:lpstr>Calibri</vt:lpstr>
      <vt:lpstr>Calibri Light</vt:lpstr>
      <vt:lpstr>Cambria Math</vt:lpstr>
      <vt:lpstr>Inter</vt:lpstr>
      <vt:lpstr>Office Theme</vt:lpstr>
      <vt:lpstr>Hypothesis Testing Understanding z-test for mean through examples</vt:lpstr>
      <vt:lpstr>PART 1</vt:lpstr>
      <vt:lpstr>PowerPoint Presentation</vt:lpstr>
      <vt:lpstr>PowerPoint Presentation</vt:lpstr>
      <vt:lpstr>PowerPoint Presentation</vt:lpstr>
      <vt:lpstr>PowerPoint Presentation</vt:lpstr>
      <vt:lpstr>PowerPoint Presentation</vt:lpstr>
      <vt:lpstr>PART 2</vt:lpstr>
      <vt:lpstr>Scenario: Here the population standard deviation (σ) is known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Ashwani Kumar</dc:creator>
  <cp:lastModifiedBy>Ashwani Kumar</cp:lastModifiedBy>
  <cp:revision>247</cp:revision>
  <dcterms:created xsi:type="dcterms:W3CDTF">2025-07-23T18:35:15Z</dcterms:created>
  <dcterms:modified xsi:type="dcterms:W3CDTF">2025-10-02T18:34:26Z</dcterms:modified>
</cp:coreProperties>
</file>