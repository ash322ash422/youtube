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74D04-9287-88FA-2A73-9747EEF2F7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7CB709-8917-46E7-B8A4-4AF3EBF6D8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A2428-FCE2-73E4-F5FC-B0BCA6487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778BA-74C1-48BE-B877-5508BD45B5C1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AF7C97-C8F9-3DC0-4948-C180CBF64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38833E-4FCE-00B8-9FBE-D9185A5E9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1E42E-D082-4888-9843-FB69EFF8A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248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FE073-BD3F-5FFF-834E-DC4ABB7B8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7B80D-65C0-DD42-A602-324C1C49E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B7FA1-87CA-C8C6-D275-22C190975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778BA-74C1-48BE-B877-5508BD45B5C1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4A84C-F89D-81B4-D566-03BD205C8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9F722-8E81-0936-74A4-B47702FB6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1E42E-D082-4888-9843-FB69EFF8A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593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A4AAC-532F-7C85-F168-7E397BD72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E4569F-5DE2-9E8C-FE62-F04223A852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643B2-6528-8E67-7396-9547708F9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778BA-74C1-48BE-B877-5508BD45B5C1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5A8CE-0EBE-318F-3BE8-66F2580E3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E6F307-2C6D-53E0-94E3-79EBE1F59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1E42E-D082-4888-9843-FB69EFF8A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338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679D3-01C9-6654-822D-F3604AAE8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586EB-0D0A-7702-90D6-DC44EF7EF1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58952D-5C40-79E1-9D37-BB6CEFE32F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26EB44-D789-E1F0-FA3B-4F341400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778BA-74C1-48BE-B877-5508BD45B5C1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018BCE-60C5-2174-68F1-5B46CB0B2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721F6-3F46-3E50-2DA2-A89F6F470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1E42E-D082-4888-9843-FB69EFF8A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728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B4BEB-341A-A6A3-67B2-BED3BFBD5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31B7A3-1CA9-E0A4-61BD-87CC9E4ED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21D02A-97A0-7184-7F9C-8F3F96F282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B6B401-2D70-65E7-3B14-7D99B22F00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8BD9CE-16E8-0535-D51F-937B51A084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11A6F-904E-58A1-016C-E135EF944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778BA-74C1-48BE-B877-5508BD45B5C1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272B4F-CEAC-5BFA-3D45-BA6FA43A0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C1176C-B51A-58DF-73A1-8D12E3801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1E42E-D082-4888-9843-FB69EFF8A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326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B2F87-32F7-2FFD-7AC4-898A9D930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E2C6E4-C2C5-87EE-5D5A-0D3B7825C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778BA-74C1-48BE-B877-5508BD45B5C1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75989C-7CAD-2B72-FC76-AE79D8B9F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C86D82-D57C-6285-2652-F9A842DBF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1E42E-D082-4888-9843-FB69EFF8A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373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85E1A9-8BDA-33DB-AD76-A68EB35EB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778BA-74C1-48BE-B877-5508BD45B5C1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CAB90F-BE70-57FD-7740-AF4B74F9B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5A89F2-D647-0629-7FE9-AFFA89FA9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1E42E-D082-4888-9843-FB69EFF8A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28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C292C-F57F-83A2-FE40-C32B7E628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A1A71-17D8-1170-0C90-446D16015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FFC056-8D79-4A5C-0856-631C6EB716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64EACD-BA0E-4AF1-CCA2-D3DD7DB48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778BA-74C1-48BE-B877-5508BD45B5C1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E6E818-412E-7230-C944-4A7F6D6FA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1AF831-1827-8176-8031-87863FAAA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1E42E-D082-4888-9843-FB69EFF8A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772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7EBE1-DCED-0078-1A09-A873E7F80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2F86DA-F3B0-B8A0-E949-2E62459E7D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856729-4829-EE44-87A0-F13BC6A08E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9351BD-AE42-8171-6515-F650F6C18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778BA-74C1-48BE-B877-5508BD45B5C1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1F6FBE-E062-9E1F-DA83-92ABFDCC5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476FFE-D78C-CFF9-3370-EB738E4FF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1E42E-D082-4888-9843-FB69EFF8A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614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A4DB4-1EBE-E1B8-ADA7-54ECB5ECA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2E0E19-7883-ECFE-0043-007D08EA3D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FA0CC-627C-C8B2-8D01-16C9F1F77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778BA-74C1-48BE-B877-5508BD45B5C1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607132-45A7-2D7D-162E-C5B717585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895CD-B4E7-C28B-2A00-A8618E713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1E42E-D082-4888-9843-FB69EFF8A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666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F6CAE6-DA97-8D59-C1E8-91A739BF60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E253C6-47EA-D9BE-8F4D-4C1C3352AE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D39EE-D37C-F571-D25B-A40E12351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778BA-74C1-48BE-B877-5508BD45B5C1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0D9202-8167-2877-6DE1-C6C34773B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0323B-AD67-53C4-71B7-D713C0877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1E42E-D082-4888-9843-FB69EFF8A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37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955992-F527-8AE5-02B4-8039C4899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B9D9A2-5DB6-6C62-6C71-C6C55B5EE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BA496-0066-09BA-C919-66C33901FF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2778BA-74C1-48BE-B877-5508BD45B5C1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EDEB1-CB2B-1F38-9FF3-E26ABD2F0A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1C561-EC07-660C-5E69-3AD61CE4B7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71E42E-D082-4888-9843-FB69EFF8A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873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11316-AB89-EBF0-F48B-003587C248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ANOVA – </a:t>
            </a:r>
            <a:r>
              <a:rPr lang="en-US"/>
              <a:t>1 way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32DDAF-3EC5-81E7-9D25-F7FCABE8D8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164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DFBFB90-38B4-A0B8-EE55-FACA2C63FC00}"/>
              </a:ext>
            </a:extLst>
          </p:cNvPr>
          <p:cNvSpPr txBox="1"/>
          <p:nvPr/>
        </p:nvSpPr>
        <p:spPr>
          <a:xfrm>
            <a:off x="256032" y="264265"/>
            <a:ext cx="884224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What is ANOVA?</a:t>
            </a:r>
          </a:p>
          <a:p>
            <a:pPr>
              <a:buNone/>
            </a:pPr>
            <a:r>
              <a:rPr lang="en-US" b="1" dirty="0"/>
              <a:t>ANOVA (Analysis of Variance)</a:t>
            </a:r>
            <a:r>
              <a:rPr lang="en-US" dirty="0"/>
              <a:t> is a statistical method used to test whether </a:t>
            </a:r>
            <a:r>
              <a:rPr lang="en-US" b="1" dirty="0"/>
              <a:t>three or more group means</a:t>
            </a:r>
            <a:r>
              <a:rPr lang="en-US" dirty="0"/>
              <a:t> are </a:t>
            </a:r>
            <a:r>
              <a:rPr lang="en-US" b="1" dirty="0"/>
              <a:t>significantly different</a:t>
            </a:r>
            <a:r>
              <a:rPr lang="en-US" dirty="0"/>
              <a:t> from each other.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does this </a:t>
            </a:r>
            <a:r>
              <a:rPr lang="en-US" b="1" dirty="0"/>
              <a:t>without increasing the risk of Type I error</a:t>
            </a:r>
            <a:r>
              <a:rPr lang="en-US" dirty="0"/>
              <a:t>, which would happen if you did multiple pairwise t-tests.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works by comparing </a:t>
            </a:r>
            <a:r>
              <a:rPr lang="en-US" b="1" dirty="0"/>
              <a:t>two types of variance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Between-group variance</a:t>
            </a:r>
            <a:r>
              <a:rPr lang="en-US" dirty="0"/>
              <a:t>: How much the group means differ from the </a:t>
            </a:r>
            <a:r>
              <a:rPr lang="en-US" b="1" dirty="0"/>
              <a:t>overall mean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Within-group variance</a:t>
            </a:r>
            <a:r>
              <a:rPr lang="en-US" dirty="0"/>
              <a:t>: How much the data points within each group differ from their </a:t>
            </a:r>
            <a:r>
              <a:rPr lang="en-US" b="1" dirty="0"/>
              <a:t>own group mean</a:t>
            </a:r>
            <a:r>
              <a:rPr lang="en-US" dirty="0"/>
              <a:t>.</a:t>
            </a:r>
          </a:p>
          <a:p>
            <a:r>
              <a:rPr lang="en-US" dirty="0"/>
              <a:t>If the groups really do come from different populations, the </a:t>
            </a:r>
            <a:r>
              <a:rPr lang="en-US" b="1" dirty="0"/>
              <a:t>between-group variance</a:t>
            </a:r>
            <a:r>
              <a:rPr lang="en-US" dirty="0"/>
              <a:t> should be large relative to the </a:t>
            </a:r>
            <a:r>
              <a:rPr lang="en-US" b="1" dirty="0"/>
              <a:t>within-group variance</a:t>
            </a:r>
            <a:r>
              <a:rPr lang="en-US" dirty="0"/>
              <a:t>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AEA5046-7185-9B64-DB2E-4CD9D52867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312" y="3460665"/>
            <a:ext cx="4723216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ANOVA tests one null hypothesis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H₀: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All group means are equal.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H₁: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At least one group mean is different.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3C3FEF-1C07-84CD-9162-967791865A9A}"/>
              </a:ext>
            </a:extLst>
          </p:cNvPr>
          <p:cNvSpPr txBox="1"/>
          <p:nvPr/>
        </p:nvSpPr>
        <p:spPr>
          <a:xfrm>
            <a:off x="557784" y="6163056"/>
            <a:ext cx="3512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See one note for detailed example. </a:t>
            </a:r>
          </a:p>
        </p:txBody>
      </p:sp>
    </p:spTree>
    <p:extLst>
      <p:ext uri="{BB962C8B-B14F-4D97-AF65-F5344CB8AC3E}">
        <p14:creationId xmlns:p14="http://schemas.microsoft.com/office/powerpoint/2010/main" val="373943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153</Words>
  <Application>Microsoft Office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ANOVA – 1 way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3</cp:revision>
  <dcterms:created xsi:type="dcterms:W3CDTF">2025-07-25T09:15:27Z</dcterms:created>
  <dcterms:modified xsi:type="dcterms:W3CDTF">2025-07-25T19:48:24Z</dcterms:modified>
</cp:coreProperties>
</file>