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8" r:id="rId3"/>
    <p:sldId id="281" r:id="rId4"/>
    <p:sldId id="279" r:id="rId5"/>
    <p:sldId id="258" r:id="rId6"/>
    <p:sldId id="280" r:id="rId7"/>
    <p:sldId id="263" r:id="rId8"/>
    <p:sldId id="260" r:id="rId9"/>
    <p:sldId id="286" r:id="rId10"/>
    <p:sldId id="261" r:id="rId11"/>
    <p:sldId id="259" r:id="rId12"/>
    <p:sldId id="282" r:id="rId13"/>
    <p:sldId id="283" r:id="rId14"/>
    <p:sldId id="262" r:id="rId15"/>
    <p:sldId id="287" r:id="rId16"/>
    <p:sldId id="285" r:id="rId17"/>
    <p:sldId id="264" r:id="rId18"/>
    <p:sldId id="288" r:id="rId19"/>
    <p:sldId id="265" r:id="rId20"/>
    <p:sldId id="266" r:id="rId21"/>
    <p:sldId id="289" r:id="rId22"/>
    <p:sldId id="267" r:id="rId23"/>
    <p:sldId id="290" r:id="rId24"/>
    <p:sldId id="268" r:id="rId25"/>
    <p:sldId id="277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F8A4BD-87FF-78B1-FA15-682E8BE7E05A}"/>
              </a:ext>
            </a:extLst>
          </p:cNvPr>
          <p:cNvSpPr txBox="1"/>
          <p:nvPr/>
        </p:nvSpPr>
        <p:spPr>
          <a:xfrm>
            <a:off x="3941064" y="2340864"/>
            <a:ext cx="4936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 Square Test</a:t>
            </a:r>
          </a:p>
        </p:txBody>
      </p:sp>
    </p:spTree>
    <p:extLst>
      <p:ext uri="{BB962C8B-B14F-4D97-AF65-F5344CB8AC3E}">
        <p14:creationId xmlns:p14="http://schemas.microsoft.com/office/powerpoint/2010/main" val="4224028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4F9353-F69D-B159-F1CE-3DE7EA98688C}"/>
              </a:ext>
            </a:extLst>
          </p:cNvPr>
          <p:cNvSpPr txBox="1"/>
          <p:nvPr/>
        </p:nvSpPr>
        <p:spPr>
          <a:xfrm>
            <a:off x="157734" y="562463"/>
            <a:ext cx="117203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Chi-Square Test?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Chi-Square Test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statistical test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used to examine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 between categorical variables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90ADB2-1CBC-5D48-B01F-197B249FF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440439"/>
              </p:ext>
            </p:extLst>
          </p:nvPr>
        </p:nvGraphicFramePr>
        <p:xfrm>
          <a:off x="1501648" y="3241009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961152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377899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18001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Sleep_level</a:t>
                      </a:r>
                      <a:r>
                        <a:rPr lang="en-US" dirty="0"/>
                        <a:t>(1 - 10)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0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2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7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12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14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48AC-CF33-07BA-55AF-A926048D5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F66176-3076-2025-9005-2BE4BE0073AD}"/>
              </a:ext>
            </a:extLst>
          </p:cNvPr>
          <p:cNvSpPr txBox="1"/>
          <p:nvPr/>
        </p:nvSpPr>
        <p:spPr>
          <a:xfrm>
            <a:off x="285750" y="176844"/>
            <a:ext cx="107510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type of variables is it used for?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Categorical variables only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variables that represent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groups or categories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numbers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Gender: Male, Female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Blood Type: A, B, AB, O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Favorite Color: Red, Blue, Green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use it directly for continuous variables like height, weight, or temperature unless you first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them into categories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(e.g., "short", "tall").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F00C39-9246-5B7C-955C-7D4931635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642085"/>
              </p:ext>
            </p:extLst>
          </p:nvPr>
        </p:nvGraphicFramePr>
        <p:xfrm>
          <a:off x="285750" y="4384009"/>
          <a:ext cx="59781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1360">
                  <a:extLst>
                    <a:ext uri="{9D8B030D-6E8A-4147-A177-3AD203B41FA5}">
                      <a16:colId xmlns:a16="http://schemas.microsoft.com/office/drawing/2014/main" val="3896115297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937789927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34180011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Sleep_level</a:t>
                      </a:r>
                      <a:r>
                        <a:rPr lang="en-US" dirty="0"/>
                        <a:t>(1 - 10)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0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2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young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7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middle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1218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97AF01-9099-6507-3E76-0C788E414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847674"/>
              </p:ext>
            </p:extLst>
          </p:nvPr>
        </p:nvGraphicFramePr>
        <p:xfrm>
          <a:off x="7545832" y="4370832"/>
          <a:ext cx="1488440" cy="2238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40">
                  <a:extLst>
                    <a:ext uri="{9D8B030D-6E8A-4147-A177-3AD203B41FA5}">
                      <a16:colId xmlns:a16="http://schemas.microsoft.com/office/drawing/2014/main" val="446413817"/>
                    </a:ext>
                  </a:extLst>
                </a:gridCol>
              </a:tblGrid>
              <a:tr h="3840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3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22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17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03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91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2585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D0ED5-9BD5-C85B-89F8-E139A02D0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820491"/>
              </p:ext>
            </p:extLst>
          </p:nvPr>
        </p:nvGraphicFramePr>
        <p:xfrm>
          <a:off x="9901936" y="4384009"/>
          <a:ext cx="14884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40">
                  <a:extLst>
                    <a:ext uri="{9D8B030D-6E8A-4147-A177-3AD203B41FA5}">
                      <a16:colId xmlns:a16="http://schemas.microsoft.com/office/drawing/2014/main" val="4464138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37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22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17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037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91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325854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7B41EFDB-6790-2A1C-4D36-9CCD22FCB8CD}"/>
              </a:ext>
            </a:extLst>
          </p:cNvPr>
          <p:cNvSpPr/>
          <p:nvPr/>
        </p:nvSpPr>
        <p:spPr>
          <a:xfrm>
            <a:off x="9188704" y="4992624"/>
            <a:ext cx="475488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EEA1-601B-BA3F-3CEE-EC9062B0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EE9C7F7-0254-0492-AC22-2EA46018DAE6}"/>
              </a:ext>
            </a:extLst>
          </p:cNvPr>
          <p:cNvSpPr txBox="1"/>
          <p:nvPr/>
        </p:nvSpPr>
        <p:spPr>
          <a:xfrm>
            <a:off x="265176" y="304860"/>
            <a:ext cx="119763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it?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use the Chi-Square test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questions like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there an association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gender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voting preference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smoking status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affect whether someone gets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lung disease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people from different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equally likely to prefer a particular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brand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short, it's about checking whether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observed differences between groups are statistically significant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could have happened just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23E158-F8EF-4CED-125F-CA81C136B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886334"/>
              </p:ext>
            </p:extLst>
          </p:nvPr>
        </p:nvGraphicFramePr>
        <p:xfrm>
          <a:off x="1501648" y="4365721"/>
          <a:ext cx="31435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6456">
                  <a:extLst>
                    <a:ext uri="{9D8B030D-6E8A-4147-A177-3AD203B41FA5}">
                      <a16:colId xmlns:a16="http://schemas.microsoft.com/office/drawing/2014/main" val="3896115297"/>
                    </a:ext>
                  </a:extLst>
                </a:gridCol>
                <a:gridCol w="1527048">
                  <a:extLst>
                    <a:ext uri="{9D8B030D-6E8A-4147-A177-3AD203B41FA5}">
                      <a16:colId xmlns:a16="http://schemas.microsoft.com/office/drawing/2014/main" val="937789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Voted_for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0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Party_a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2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Party_a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7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Party_b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Party_c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12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711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AFB887-DC6E-53A5-9ED5-0BF02BDEC54B}"/>
              </a:ext>
            </a:extLst>
          </p:cNvPr>
          <p:cNvSpPr txBox="1"/>
          <p:nvPr/>
        </p:nvSpPr>
        <p:spPr>
          <a:xfrm>
            <a:off x="0" y="239742"/>
            <a:ext cx="789813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Types of Chi-Square Tests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Chi-Square Test of Independence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Tests if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categorical variables are related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Is there a relationship between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education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job type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Chi-Square Goodness-of-Fit Test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Tests if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observed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a single categorical variable matches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Is a die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(i.e., all numbers appear equally)?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F35E62-CE70-15B2-66C6-C58E6A660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638841"/>
              </p:ext>
            </p:extLst>
          </p:nvPr>
        </p:nvGraphicFramePr>
        <p:xfrm>
          <a:off x="8284464" y="1574800"/>
          <a:ext cx="363016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9746">
                  <a:extLst>
                    <a:ext uri="{9D8B030D-6E8A-4147-A177-3AD203B41FA5}">
                      <a16:colId xmlns:a16="http://schemas.microsoft.com/office/drawing/2014/main" val="3896115297"/>
                    </a:ext>
                  </a:extLst>
                </a:gridCol>
                <a:gridCol w="2020422">
                  <a:extLst>
                    <a:ext uri="{9D8B030D-6E8A-4147-A177-3AD203B41FA5}">
                      <a16:colId xmlns:a16="http://schemas.microsoft.com/office/drawing/2014/main" val="937789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education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Job_type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00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Mgr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23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Clrk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376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Clrk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18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Janitor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1218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E00069-8788-B0BB-B20E-8BD87469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832433"/>
              </p:ext>
            </p:extLst>
          </p:nvPr>
        </p:nvGraphicFramePr>
        <p:xfrm>
          <a:off x="8816848" y="4170680"/>
          <a:ext cx="11684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378697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0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51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60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768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989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80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91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C6E0-6874-BA2A-AF88-FEFD8F234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D5EFC-9774-99C3-E2D7-46926223256C}"/>
              </a:ext>
            </a:extLst>
          </p:cNvPr>
          <p:cNvSpPr txBox="1"/>
          <p:nvPr/>
        </p:nvSpPr>
        <p:spPr>
          <a:xfrm>
            <a:off x="240030" y="219885"/>
            <a:ext cx="1032129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does the Chi-Square Test work?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Here’s the basic idea: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(what actually happened).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expected data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(what you would expect if there was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relationship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observed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 a statistic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Chi-Square (χ²)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chi-square value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it suggests there’s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significant difference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observed and expected values — i.e., something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going 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C5332-7F6C-7EFF-304E-011EFDB30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672" y="3008376"/>
            <a:ext cx="3512044" cy="111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6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9CC38-1A25-6777-DAE7-80CFC4B8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1) TEST FOR INDEPENDENCE</a:t>
            </a:r>
          </a:p>
        </p:txBody>
      </p:sp>
    </p:spTree>
    <p:extLst>
      <p:ext uri="{BB962C8B-B14F-4D97-AF65-F5344CB8AC3E}">
        <p14:creationId xmlns:p14="http://schemas.microsoft.com/office/powerpoint/2010/main" val="213644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9CD8EC-DE37-7CAA-5C11-D8C3842F1F56}"/>
              </a:ext>
            </a:extLst>
          </p:cNvPr>
          <p:cNvSpPr txBox="1"/>
          <p:nvPr/>
        </p:nvSpPr>
        <p:spPr>
          <a:xfrm>
            <a:off x="249174" y="226814"/>
            <a:ext cx="452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 for Chi-Square Test of Independence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A3D20-D7EE-3C33-6050-3805EBCA04F5}"/>
              </a:ext>
            </a:extLst>
          </p:cNvPr>
          <p:cNvSpPr txBox="1"/>
          <p:nvPr/>
        </p:nvSpPr>
        <p:spPr>
          <a:xfrm>
            <a:off x="148590" y="894326"/>
            <a:ext cx="594741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Set Up the Hypothesis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variables are independent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 relationship).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variables are associated (some relationship).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990A2-2E73-F7EB-AC81-ACF44111B420}"/>
              </a:ext>
            </a:extLst>
          </p:cNvPr>
          <p:cNvSpPr txBox="1"/>
          <p:nvPr/>
        </p:nvSpPr>
        <p:spPr>
          <a:xfrm>
            <a:off x="212598" y="2698141"/>
            <a:ext cx="5127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Calculate the Expected Counts E for each cell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503C7C-6640-031C-D02D-3DE6E8BD3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834" y="3495827"/>
            <a:ext cx="2819794" cy="543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A70BBE7-FBD1-D6DE-9F28-2001BB153DDB}"/>
              </a:ext>
            </a:extLst>
          </p:cNvPr>
          <p:cNvSpPr txBox="1"/>
          <p:nvPr/>
        </p:nvSpPr>
        <p:spPr>
          <a:xfrm>
            <a:off x="240030" y="4652510"/>
            <a:ext cx="4679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Compute the Chi-Square Statistic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6DA99C-C7F4-F628-EE05-22D8F8A7E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88" y="5342091"/>
            <a:ext cx="2420416" cy="7566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043180-F5DA-2CF4-0739-6C4B5A22B6F2}"/>
              </a:ext>
            </a:extLst>
          </p:cNvPr>
          <p:cNvSpPr txBox="1"/>
          <p:nvPr/>
        </p:nvSpPr>
        <p:spPr>
          <a:xfrm>
            <a:off x="236982" y="6234337"/>
            <a:ext cx="4197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up all values for all cells.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D9B8FC-787E-8D06-0D85-838326309276}"/>
              </a:ext>
            </a:extLst>
          </p:cNvPr>
          <p:cNvCxnSpPr/>
          <p:nvPr/>
        </p:nvCxnSpPr>
        <p:spPr>
          <a:xfrm>
            <a:off x="5879592" y="310896"/>
            <a:ext cx="0" cy="6291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9B7CF35-2863-85ED-2858-19FB49A15A3F}"/>
              </a:ext>
            </a:extLst>
          </p:cNvPr>
          <p:cNvSpPr txBox="1"/>
          <p:nvPr/>
        </p:nvSpPr>
        <p:spPr>
          <a:xfrm>
            <a:off x="5879592" y="566928"/>
            <a:ext cx="60632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Calculate the Degrees of Freedom</a:t>
            </a:r>
          </a:p>
          <a:p>
            <a:pPr>
              <a:buNone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(Number of Rows  − 1 )×( Number of Columns − 1)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EE7D6-4D52-A5B9-33F7-AD58423BDE04}"/>
              </a:ext>
            </a:extLst>
          </p:cNvPr>
          <p:cNvSpPr txBox="1"/>
          <p:nvPr/>
        </p:nvSpPr>
        <p:spPr>
          <a:xfrm>
            <a:off x="5879592" y="1488457"/>
            <a:ext cx="49994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Find the Critical Value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a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Chi-Square distribution table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software (Excel, Python, 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Compare your χ² statistic with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critical value: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 χ² &gt; critical value,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reject the null hypothesis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D63C9E-8250-9A56-B1FF-3038426E9409}"/>
              </a:ext>
            </a:extLst>
          </p:cNvPr>
          <p:cNvSpPr txBox="1"/>
          <p:nvPr/>
        </p:nvSpPr>
        <p:spPr>
          <a:xfrm>
            <a:off x="6578346" y="3667320"/>
            <a:ext cx="49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Summarize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000DBE-6B2F-6701-D46D-75052E12AB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654" y="4888377"/>
            <a:ext cx="2691318" cy="12743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1A50F8-4BE7-DE57-BF00-F5D957AD4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044" y="5034008"/>
            <a:ext cx="293056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3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E9D7D-18DD-ACA6-8D13-54ED1504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0AC6D7-974D-CAD2-E3B9-3FD04DCD02CB}"/>
              </a:ext>
            </a:extLst>
          </p:cNvPr>
          <p:cNvSpPr txBox="1"/>
          <p:nvPr/>
        </p:nvSpPr>
        <p:spPr>
          <a:xfrm>
            <a:off x="249174" y="226814"/>
            <a:ext cx="452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can also use P-value: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6EE2F-F624-2CDF-3ED2-716924416194}"/>
              </a:ext>
            </a:extLst>
          </p:cNvPr>
          <p:cNvSpPr txBox="1"/>
          <p:nvPr/>
        </p:nvSpPr>
        <p:spPr>
          <a:xfrm>
            <a:off x="148590" y="894326"/>
            <a:ext cx="629793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Set Up the Hypothesis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variables are independent (no relationship).</a:t>
            </a: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variables are associated (some relationship).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407C2-439C-D086-0C8F-2A73E7499986}"/>
              </a:ext>
            </a:extLst>
          </p:cNvPr>
          <p:cNvSpPr txBox="1"/>
          <p:nvPr/>
        </p:nvSpPr>
        <p:spPr>
          <a:xfrm>
            <a:off x="212598" y="2698141"/>
            <a:ext cx="5127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Calculate the Expected Counts E for each cell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EE5A6B-D635-C24E-B311-224934187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834" y="3495827"/>
            <a:ext cx="2819794" cy="5430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A476A9-E284-E29B-2D1B-09C766F4AA3D}"/>
              </a:ext>
            </a:extLst>
          </p:cNvPr>
          <p:cNvSpPr txBox="1"/>
          <p:nvPr/>
        </p:nvSpPr>
        <p:spPr>
          <a:xfrm>
            <a:off x="240030" y="4652510"/>
            <a:ext cx="4679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Compute the Chi-Square Statistic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6D70F3-4183-B705-B394-5491235B0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88" y="5342091"/>
            <a:ext cx="2420416" cy="75666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631E8E4-D54F-D789-52EB-F2F46D62781F}"/>
              </a:ext>
            </a:extLst>
          </p:cNvPr>
          <p:cNvSpPr txBox="1"/>
          <p:nvPr/>
        </p:nvSpPr>
        <p:spPr>
          <a:xfrm>
            <a:off x="236982" y="6234337"/>
            <a:ext cx="4197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 up all values for all cells.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5F84D5-C31D-E35D-F723-A8634178A372}"/>
              </a:ext>
            </a:extLst>
          </p:cNvPr>
          <p:cNvCxnSpPr/>
          <p:nvPr/>
        </p:nvCxnSpPr>
        <p:spPr>
          <a:xfrm>
            <a:off x="6254496" y="310896"/>
            <a:ext cx="0" cy="6291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A633AE2-8B9F-4BB8-83F3-72B20E64D71B}"/>
              </a:ext>
            </a:extLst>
          </p:cNvPr>
          <p:cNvSpPr txBox="1"/>
          <p:nvPr/>
        </p:nvSpPr>
        <p:spPr>
          <a:xfrm>
            <a:off x="6470904" y="329184"/>
            <a:ext cx="52882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Calculate the Degrees of Freedom</a:t>
            </a:r>
          </a:p>
          <a:p>
            <a:pPr>
              <a:buNone/>
            </a:pP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(Number of Rows−1)×(Number of Columns−1)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D1C278-699D-A3F4-BC1C-F3D8F60A9387}"/>
              </a:ext>
            </a:extLst>
          </p:cNvPr>
          <p:cNvSpPr txBox="1"/>
          <p:nvPr/>
        </p:nvSpPr>
        <p:spPr>
          <a:xfrm>
            <a:off x="6467094" y="1465040"/>
            <a:ext cx="499948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Find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P-Value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software (Excel, Python, 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p-value &lt; 0.05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(common threshold for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reject the null hypothesis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50A214-77F6-28EF-254E-314A261EB4CE}"/>
              </a:ext>
            </a:extLst>
          </p:cNvPr>
          <p:cNvSpPr txBox="1"/>
          <p:nvPr/>
        </p:nvSpPr>
        <p:spPr>
          <a:xfrm>
            <a:off x="6578346" y="3136968"/>
            <a:ext cx="4998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Summarize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5A6414-FD18-0E07-39F8-2C659E727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654" y="4888377"/>
            <a:ext cx="2691318" cy="127431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C7CA0C8-4AC3-E2F7-2925-C18CE11BD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044" y="5034008"/>
            <a:ext cx="2930569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53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7D76-6B28-433A-B9E3-9C85FF54B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" y="26797"/>
            <a:ext cx="7546848" cy="668147"/>
          </a:xfrm>
        </p:spPr>
        <p:txBody>
          <a:bodyPr>
            <a:noAutofit/>
          </a:bodyPr>
          <a:lstStyle/>
          <a:p>
            <a:r>
              <a:rPr lang="en-US" sz="2400" b="1" dirty="0"/>
              <a:t>How to find critical value using </a:t>
            </a:r>
            <a:r>
              <a:rPr lang="en-US" sz="2400" b="1" dirty="0" err="1"/>
              <a:t>d.f.</a:t>
            </a:r>
            <a:r>
              <a:rPr lang="en-US" sz="2400" b="1" dirty="0"/>
              <a:t> , </a:t>
            </a:r>
            <a:r>
              <a:rPr lang="el-GR" sz="2400" b="1" dirty="0"/>
              <a:t>α</a:t>
            </a:r>
            <a:r>
              <a:rPr lang="en-US" sz="2400" b="1" dirty="0"/>
              <a:t> and Chi square table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C7473-E929-C2C6-937D-2E6090929A49}"/>
              </a:ext>
            </a:extLst>
          </p:cNvPr>
          <p:cNvSpPr txBox="1"/>
          <p:nvPr/>
        </p:nvSpPr>
        <p:spPr>
          <a:xfrm>
            <a:off x="420624" y="886968"/>
            <a:ext cx="66700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 ,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0.05, find critical value. Answer: 3.841</a:t>
            </a:r>
          </a:p>
          <a:p>
            <a:pPr marL="342900" indent="-342900">
              <a:buFontTx/>
              <a:buAutoNum type="arabicParenR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4 , </a:t>
            </a:r>
            <a:r>
              <a:rPr lang="el-GR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0.025, find critical value. Answer: 11.143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50588-EAF1-4CF0-4069-AE5E8DE0B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153" y="186840"/>
            <a:ext cx="3257474" cy="15423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A5C44B-C832-FE3C-C81D-A718DCE89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" y="1841210"/>
            <a:ext cx="5138614" cy="48725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B07DB6-85B8-88D3-108F-C678AFEC3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232" y="1723779"/>
            <a:ext cx="5138614" cy="510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78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0DC39E-55A7-17A0-F3AB-059BE8C6D0DF}"/>
              </a:ext>
            </a:extLst>
          </p:cNvPr>
          <p:cNvSpPr txBox="1"/>
          <p:nvPr/>
        </p:nvSpPr>
        <p:spPr>
          <a:xfrm>
            <a:off x="213740" y="246519"/>
            <a:ext cx="87199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Chi-Square Test of Independence(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 and excel sheet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Following is the result of survey on whether male and female like certain product. At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0.05, can it be concluded that the there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 between gender and  preference for a product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6EBF04-5DE9-34A9-1399-C33963760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709819"/>
              </p:ext>
            </p:extLst>
          </p:nvPr>
        </p:nvGraphicFramePr>
        <p:xfrm>
          <a:off x="1024128" y="3670102"/>
          <a:ext cx="7178040" cy="2194560"/>
        </p:xfrm>
        <a:graphic>
          <a:graphicData uri="http://schemas.openxmlformats.org/drawingml/2006/table">
            <a:tbl>
              <a:tblPr/>
              <a:tblGrid>
                <a:gridCol w="1794510">
                  <a:extLst>
                    <a:ext uri="{9D8B030D-6E8A-4147-A177-3AD203B41FA5}">
                      <a16:colId xmlns:a16="http://schemas.microsoft.com/office/drawing/2014/main" val="625416070"/>
                    </a:ext>
                  </a:extLst>
                </a:gridCol>
                <a:gridCol w="1794510">
                  <a:extLst>
                    <a:ext uri="{9D8B030D-6E8A-4147-A177-3AD203B41FA5}">
                      <a16:colId xmlns:a16="http://schemas.microsoft.com/office/drawing/2014/main" val="1845308558"/>
                    </a:ext>
                  </a:extLst>
                </a:gridCol>
                <a:gridCol w="1794510">
                  <a:extLst>
                    <a:ext uri="{9D8B030D-6E8A-4147-A177-3AD203B41FA5}">
                      <a16:colId xmlns:a16="http://schemas.microsoft.com/office/drawing/2014/main" val="1420671429"/>
                    </a:ext>
                  </a:extLst>
                </a:gridCol>
                <a:gridCol w="1794510">
                  <a:extLst>
                    <a:ext uri="{9D8B030D-6E8A-4147-A177-3AD203B41FA5}">
                      <a16:colId xmlns:a16="http://schemas.microsoft.com/office/drawing/2014/main" val="340751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Don’t 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8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71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 sz="24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4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691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FE2C-863A-A455-9629-42BB04AA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B3FBC23-C3EC-4EC4-6AE5-8247F5D9DF26}"/>
              </a:ext>
            </a:extLst>
          </p:cNvPr>
          <p:cNvSpPr txBox="1"/>
          <p:nvPr/>
        </p:nvSpPr>
        <p:spPr>
          <a:xfrm>
            <a:off x="102870" y="139160"/>
            <a:ext cx="59138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Hypothesis: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Gender and preference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 relationship).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relationship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preference.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8ED0C8-D4A1-4691-2EB2-6A971C0BB287}"/>
              </a:ext>
            </a:extLst>
          </p:cNvPr>
          <p:cNvCxnSpPr/>
          <p:nvPr/>
        </p:nvCxnSpPr>
        <p:spPr>
          <a:xfrm>
            <a:off x="6016752" y="720590"/>
            <a:ext cx="0" cy="6009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32EE0F-CAD2-A8ED-7CE6-FD444C5E74E2}"/>
              </a:ext>
            </a:extLst>
          </p:cNvPr>
          <p:cNvSpPr txBox="1"/>
          <p:nvPr/>
        </p:nvSpPr>
        <p:spPr>
          <a:xfrm>
            <a:off x="102870" y="2956962"/>
            <a:ext cx="47434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Calculate Expected Counts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formula: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4B3B4E-7711-DA92-48DB-113022E66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" y="3847348"/>
            <a:ext cx="3120038" cy="6008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EEC839-6753-3E5B-F4F2-C451DB6BECC8}"/>
              </a:ext>
            </a:extLst>
          </p:cNvPr>
          <p:cNvSpPr txBox="1"/>
          <p:nvPr/>
        </p:nvSpPr>
        <p:spPr>
          <a:xfrm>
            <a:off x="6272352" y="382370"/>
            <a:ext cx="398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Chi using the formula: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6449E7-4F74-9038-D699-980F4D9B75AE}"/>
                  </a:ext>
                </a:extLst>
              </p:cNvPr>
              <p:cNvSpPr txBox="1"/>
              <p:nvPr/>
            </p:nvSpPr>
            <p:spPr>
              <a:xfrm>
                <a:off x="5972383" y="4257261"/>
                <a:ext cx="591388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Chi square =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240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−20</m:t>
                            </m:r>
                          </m:e>
                        </m:d>
                      </m:e>
                      <m:sup>
                        <m:r>
                          <a:rPr lang="en-US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0−20</m:t>
                            </m:r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16.66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6449E7-4F74-9038-D699-980F4D9B7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383" y="4257261"/>
                <a:ext cx="5913881" cy="2308324"/>
              </a:xfrm>
              <a:prstGeom prst="rect">
                <a:avLst/>
              </a:prstGeom>
              <a:blipFill>
                <a:blip r:embed="rId3"/>
                <a:stretch>
                  <a:fillRect l="-1649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5969839A-60FC-4D4A-FBB9-0C0467D73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084" y="963591"/>
            <a:ext cx="2385133" cy="7566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8A0909-E2E9-0B18-CA89-50B7616DBB5D}"/>
              </a:ext>
            </a:extLst>
          </p:cNvPr>
          <p:cNvSpPr txBox="1"/>
          <p:nvPr/>
        </p:nvSpPr>
        <p:spPr>
          <a:xfrm>
            <a:off x="32136" y="4823707"/>
            <a:ext cx="6028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expected count for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male and like product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 = (50*40)/100 = 20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AC3C8E7-ED41-CB67-AE84-598A81FED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369240"/>
              </p:ext>
            </p:extLst>
          </p:nvPr>
        </p:nvGraphicFramePr>
        <p:xfrm>
          <a:off x="1456944" y="5494469"/>
          <a:ext cx="4130040" cy="118872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059ADC-5F9C-AB14-DC3C-10804605C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56763"/>
              </p:ext>
            </p:extLst>
          </p:nvPr>
        </p:nvGraphicFramePr>
        <p:xfrm>
          <a:off x="6382512" y="2110744"/>
          <a:ext cx="4130040" cy="179832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30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20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10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40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96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6B38F-8954-300F-5E78-04C31488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0D263-9E6A-5343-A6EA-7AAB56B12DAF}"/>
              </a:ext>
            </a:extLst>
          </p:cNvPr>
          <p:cNvSpPr txBox="1"/>
          <p:nvPr/>
        </p:nvSpPr>
        <p:spPr>
          <a:xfrm>
            <a:off x="1142493" y="1488680"/>
            <a:ext cx="5752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At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 ,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1, using the table we find the critical value 3.841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C1859-4B4B-A9C7-A740-245AF97185EC}"/>
              </a:ext>
            </a:extLst>
          </p:cNvPr>
          <p:cNvSpPr txBox="1"/>
          <p:nvPr/>
        </p:nvSpPr>
        <p:spPr>
          <a:xfrm>
            <a:off x="1142493" y="673096"/>
            <a:ext cx="5129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EAC0F-7709-A689-9BFE-829ADEF262B5}"/>
              </a:ext>
            </a:extLst>
          </p:cNvPr>
          <p:cNvSpPr txBox="1"/>
          <p:nvPr/>
        </p:nvSpPr>
        <p:spPr>
          <a:xfrm>
            <a:off x="896112" y="4827811"/>
            <a:ext cx="9774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Since 3.841 &lt; 16.66, so we reject the null hypothesis.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statistically significant relationship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product preference.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48B4F-5DCB-D324-E694-47501765C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88" y="2487960"/>
            <a:ext cx="3974896" cy="188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9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62B0-2A77-C4F3-199F-88E0C37E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69CB12-53C4-D247-1465-8402E71195ED}"/>
              </a:ext>
            </a:extLst>
          </p:cNvPr>
          <p:cNvSpPr txBox="1"/>
          <p:nvPr/>
        </p:nvSpPr>
        <p:spPr>
          <a:xfrm>
            <a:off x="213740" y="246519"/>
            <a:ext cx="116521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redo the previous question, but use P-value.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Following is the result of survey on whether male and female like certain product. At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0.05, can it be concluded that the there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 between gender and  preference for a product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D57345-D039-64B0-AF9D-AEDCC6F82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670006"/>
              </p:ext>
            </p:extLst>
          </p:nvPr>
        </p:nvGraphicFramePr>
        <p:xfrm>
          <a:off x="1734312" y="2591110"/>
          <a:ext cx="5480304" cy="2194560"/>
        </p:xfrm>
        <a:graphic>
          <a:graphicData uri="http://schemas.openxmlformats.org/drawingml/2006/table">
            <a:tbl>
              <a:tblPr/>
              <a:tblGrid>
                <a:gridCol w="1164336">
                  <a:extLst>
                    <a:ext uri="{9D8B030D-6E8A-4147-A177-3AD203B41FA5}">
                      <a16:colId xmlns:a16="http://schemas.microsoft.com/office/drawing/2014/main" val="62541607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1845308558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1420671429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3407510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4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Don’t Like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860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284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71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 sz="24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4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3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31B6-471F-07EE-20CF-FAB2EF012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1DBAFA-B334-F1A0-8504-494C7D67AF30}"/>
              </a:ext>
            </a:extLst>
          </p:cNvPr>
          <p:cNvSpPr txBox="1"/>
          <p:nvPr/>
        </p:nvSpPr>
        <p:spPr>
          <a:xfrm>
            <a:off x="102870" y="139160"/>
            <a:ext cx="591388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Hypothesis: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Gender and preference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independent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(no relationship).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relationship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preference.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FCFBC-EF43-9AB2-7174-D1DFE83BE0A5}"/>
              </a:ext>
            </a:extLst>
          </p:cNvPr>
          <p:cNvCxnSpPr/>
          <p:nvPr/>
        </p:nvCxnSpPr>
        <p:spPr>
          <a:xfrm>
            <a:off x="6016752" y="720590"/>
            <a:ext cx="0" cy="6009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F073FAC-03DB-834C-B2EB-E8B0351473BE}"/>
              </a:ext>
            </a:extLst>
          </p:cNvPr>
          <p:cNvSpPr txBox="1"/>
          <p:nvPr/>
        </p:nvSpPr>
        <p:spPr>
          <a:xfrm>
            <a:off x="102870" y="2956962"/>
            <a:ext cx="47434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Calculate Expected Counts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formula: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E1B7AA-5E90-0B06-59E5-CF9BBDF49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" y="3847348"/>
            <a:ext cx="3120038" cy="6008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47A7790-0356-27CE-1237-578A7D63E384}"/>
              </a:ext>
            </a:extLst>
          </p:cNvPr>
          <p:cNvSpPr txBox="1"/>
          <p:nvPr/>
        </p:nvSpPr>
        <p:spPr>
          <a:xfrm>
            <a:off x="6272352" y="382370"/>
            <a:ext cx="398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Chi using the formula: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0B02F0-A34F-9FB5-7214-1D9340027625}"/>
                  </a:ext>
                </a:extLst>
              </p:cNvPr>
              <p:cNvSpPr txBox="1"/>
              <p:nvPr/>
            </p:nvSpPr>
            <p:spPr>
              <a:xfrm>
                <a:off x="5972383" y="4257261"/>
                <a:ext cx="591388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Chi square =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2400" i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−20</m:t>
                            </m:r>
                          </m:e>
                        </m:d>
                      </m:e>
                      <m:sup>
                        <m:r>
                          <a:rPr lang="en-US" sz="2400" i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0−20</m:t>
                            </m:r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+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0−</m:t>
                            </m:r>
                            <m:r>
                              <a:rPr lang="en-US" sz="2400" b="0" i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40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/20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16.66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30B02F0-A34F-9FB5-7214-1D9340027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383" y="4257261"/>
                <a:ext cx="5913881" cy="2308324"/>
              </a:xfrm>
              <a:prstGeom prst="rect">
                <a:avLst/>
              </a:prstGeom>
              <a:blipFill>
                <a:blip r:embed="rId3"/>
                <a:stretch>
                  <a:fillRect l="-1649" t="-2111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C6F9D83D-CE53-E287-BCDC-14D06AEB94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084" y="963591"/>
            <a:ext cx="2385133" cy="7566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B2EC46-0FAE-5E0E-3BAE-F722D7F40E50}"/>
              </a:ext>
            </a:extLst>
          </p:cNvPr>
          <p:cNvSpPr txBox="1"/>
          <p:nvPr/>
        </p:nvSpPr>
        <p:spPr>
          <a:xfrm>
            <a:off x="32136" y="4823707"/>
            <a:ext cx="60289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expected count for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male and like product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 = (50*40)/100 = 20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D87D5E-E46C-551C-EE87-E2739974CC50}"/>
              </a:ext>
            </a:extLst>
          </p:cNvPr>
          <p:cNvGraphicFramePr>
            <a:graphicFrameLocks noGrp="1"/>
          </p:cNvGraphicFramePr>
          <p:nvPr/>
        </p:nvGraphicFramePr>
        <p:xfrm>
          <a:off x="1456944" y="5494469"/>
          <a:ext cx="4130040" cy="118872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C0EEFA-EB3A-8AF6-FE74-B8772AC4C184}"/>
              </a:ext>
            </a:extLst>
          </p:cNvPr>
          <p:cNvGraphicFramePr>
            <a:graphicFrameLocks noGrp="1"/>
          </p:cNvGraphicFramePr>
          <p:nvPr/>
        </p:nvGraphicFramePr>
        <p:xfrm>
          <a:off x="6382512" y="2110744"/>
          <a:ext cx="4130040" cy="1798320"/>
        </p:xfrm>
        <a:graphic>
          <a:graphicData uri="http://schemas.openxmlformats.org/drawingml/2006/table">
            <a:tbl>
              <a:tblPr/>
              <a:tblGrid>
                <a:gridCol w="1376680">
                  <a:extLst>
                    <a:ext uri="{9D8B030D-6E8A-4147-A177-3AD203B41FA5}">
                      <a16:colId xmlns:a16="http://schemas.microsoft.com/office/drawing/2014/main" val="101894243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760207478"/>
                    </a:ext>
                  </a:extLst>
                </a:gridCol>
                <a:gridCol w="1376680">
                  <a:extLst>
                    <a:ext uri="{9D8B030D-6E8A-4147-A177-3AD203B41FA5}">
                      <a16:colId xmlns:a16="http://schemas.microsoft.com/office/drawing/2014/main" val="2166101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Don’t Like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419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30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20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227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Female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10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 = 40</a:t>
                      </a:r>
                    </a:p>
                    <a:p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 = 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1405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968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550F-7DCD-4EEC-37E7-0DA050AE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A4CE1B-74A2-9359-C386-368D9B5BEB73}"/>
              </a:ext>
            </a:extLst>
          </p:cNvPr>
          <p:cNvSpPr txBox="1"/>
          <p:nvPr/>
        </p:nvSpPr>
        <p:spPr>
          <a:xfrm>
            <a:off x="746760" y="1600088"/>
            <a:ext cx="6824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At chi square=16.66,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1, using table we find P-value = .000045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CCF58-B84D-D901-5C29-C2D6015B3633}"/>
              </a:ext>
            </a:extLst>
          </p:cNvPr>
          <p:cNvSpPr txBox="1"/>
          <p:nvPr/>
        </p:nvSpPr>
        <p:spPr>
          <a:xfrm>
            <a:off x="859125" y="574909"/>
            <a:ext cx="5129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(2-1)(2-1) =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55145-2088-E849-7BEC-44727A7479EE}"/>
              </a:ext>
            </a:extLst>
          </p:cNvPr>
          <p:cNvSpPr txBox="1"/>
          <p:nvPr/>
        </p:nvSpPr>
        <p:spPr>
          <a:xfrm>
            <a:off x="859125" y="4729787"/>
            <a:ext cx="9692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Since 0.000045 &lt; 0.05 , so we reject the null hypothesis.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 statistically significant relationship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between gender and product preference.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A7326D-3F99-D7BC-3E7C-18DD86D88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234" y="2672495"/>
            <a:ext cx="4433424" cy="181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405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C04195-DE04-4332-F183-C6AADC117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"/>
            <a:ext cx="7897327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44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2CEC0-0C11-77C2-B7B2-22727F0F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9ACE07-80B5-55B4-FD61-228C6C1A9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5" y="78967"/>
            <a:ext cx="9774014" cy="39915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B8F22B-9B4B-EC8D-9FFB-F4CE74F3B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08" y="4134507"/>
            <a:ext cx="8767531" cy="256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7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A62EB-11D7-F828-F634-95A29632A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3CB2-0C70-F941-63F6-34FEF94C8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8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dirty="0"/>
              <a:t>2) Goodness-of-Fit Test</a:t>
            </a:r>
          </a:p>
        </p:txBody>
      </p:sp>
    </p:spTree>
    <p:extLst>
      <p:ext uri="{BB962C8B-B14F-4D97-AF65-F5344CB8AC3E}">
        <p14:creationId xmlns:p14="http://schemas.microsoft.com/office/powerpoint/2010/main" val="1726716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34F9-7D5E-7243-E8CD-8393EB00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D131EE-BC4D-EC91-F166-0ABB4B9A904F}"/>
              </a:ext>
            </a:extLst>
          </p:cNvPr>
          <p:cNvSpPr txBox="1"/>
          <p:nvPr/>
        </p:nvSpPr>
        <p:spPr>
          <a:xfrm>
            <a:off x="285750" y="278999"/>
            <a:ext cx="9169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Goal of Goodness-of-Fit Test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to check whether 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distribution of a single categorical variable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matches some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31B7D0-B391-4582-50D3-171D7A506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61490"/>
              </p:ext>
            </p:extLst>
          </p:nvPr>
        </p:nvGraphicFramePr>
        <p:xfrm>
          <a:off x="344424" y="2721134"/>
          <a:ext cx="2965704" cy="3657600"/>
        </p:xfrm>
        <a:graphic>
          <a:graphicData uri="http://schemas.openxmlformats.org/drawingml/2006/table">
            <a:tbl>
              <a:tblPr/>
              <a:tblGrid>
                <a:gridCol w="1482852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1482852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004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581AD0-B34E-8559-356F-17C63232B9AA}"/>
              </a:ext>
            </a:extLst>
          </p:cNvPr>
          <p:cNvSpPr txBox="1"/>
          <p:nvPr/>
        </p:nvSpPr>
        <p:spPr>
          <a:xfrm>
            <a:off x="3925062" y="3949769"/>
            <a:ext cx="7015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 , can we conclude that the die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i.e., does each face have an equal probability?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928BC-2228-4A33-1DB0-D62D4249C089}"/>
              </a:ext>
            </a:extLst>
          </p:cNvPr>
          <p:cNvSpPr txBox="1"/>
          <p:nvPr/>
        </p:nvSpPr>
        <p:spPr>
          <a:xfrm>
            <a:off x="285750" y="1655064"/>
            <a:ext cx="11025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(see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n/b)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You perform an experiment to check if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dice is fair.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roll the dice total of 60 times and record its observed face.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158C0-49EC-6547-B70B-568DBDAC9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7900" y="2333850"/>
            <a:ext cx="1127666" cy="117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5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541FD-3ECD-2766-DCFC-DA95B708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F79863-B553-A4A4-7CC0-75DAFDB8A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977601"/>
              </p:ext>
            </p:extLst>
          </p:nvPr>
        </p:nvGraphicFramePr>
        <p:xfrm>
          <a:off x="7156323" y="3200400"/>
          <a:ext cx="4090797" cy="3657600"/>
        </p:xfrm>
        <a:graphic>
          <a:graphicData uri="http://schemas.openxmlformats.org/drawingml/2006/table">
            <a:tbl>
              <a:tblPr/>
              <a:tblGrid>
                <a:gridCol w="1140968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1468501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637829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Observed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Expected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Total</a:t>
                      </a:r>
                      <a:endPara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60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004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874B93C-6EFA-D247-3511-53F0A8AF0020}"/>
              </a:ext>
            </a:extLst>
          </p:cNvPr>
          <p:cNvSpPr txBox="1"/>
          <p:nvPr/>
        </p:nvSpPr>
        <p:spPr>
          <a:xfrm>
            <a:off x="124968" y="157448"/>
            <a:ext cx="112318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Hypotheses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Null Hypothesis (H₀):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die is fair (each face has equal probability: 1/6)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Alternative Hypothesis (H₁):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die is not fair (some faces are more/less likely)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D3691C-EDFE-88CB-7318-884654251970}"/>
              </a:ext>
            </a:extLst>
          </p:cNvPr>
          <p:cNvSpPr txBox="1"/>
          <p:nvPr/>
        </p:nvSpPr>
        <p:spPr>
          <a:xfrm>
            <a:off x="254509" y="2065312"/>
            <a:ext cx="93428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Calculate Expected Frequencies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the die is fair, then for 60 rolls, each face should appear: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E=1/6×60=10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 expected frequency for each face is 10.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D92DF1-2C7D-079E-8192-70F56C1BE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980" y="1875855"/>
            <a:ext cx="1127666" cy="117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19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9A347-B0AE-D404-5B6A-235D2FBB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A5D5B-1EE3-71B4-3361-97E916AD0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689949"/>
            <a:ext cx="3197047" cy="10142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CC79D-EA67-5A24-9CDE-ACFE76C941BC}"/>
              </a:ext>
            </a:extLst>
          </p:cNvPr>
          <p:cNvSpPr txBox="1"/>
          <p:nvPr/>
        </p:nvSpPr>
        <p:spPr>
          <a:xfrm>
            <a:off x="313182" y="181094"/>
            <a:ext cx="7340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Compute Chi-Square Statistic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F728AE-C77A-142A-6FDE-8FC828AC2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014211"/>
            <a:ext cx="9223248" cy="14067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FB0067-4C34-5A79-7EFC-3669673D16FE}"/>
              </a:ext>
            </a:extLst>
          </p:cNvPr>
          <p:cNvSpPr txBox="1"/>
          <p:nvPr/>
        </p:nvSpPr>
        <p:spPr>
          <a:xfrm>
            <a:off x="779526" y="3689251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Degrees of Freedom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Number of categories − 1 = 6−1 = 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B4257-C4CA-CF43-AE82-99F61E4543DD}"/>
              </a:ext>
            </a:extLst>
          </p:cNvPr>
          <p:cNvSpPr txBox="1"/>
          <p:nvPr/>
        </p:nvSpPr>
        <p:spPr>
          <a:xfrm>
            <a:off x="688086" y="4656296"/>
            <a:ext cx="1118082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OPTION1: Using P-value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Up p-value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 Chi-Square table or software we find using χ2 = 1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5, the p-value ≈ 0.96.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p-value &gt; 0.05,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to reject the null hypothesis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die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appears fair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8249D1-935B-7669-9442-69DB1A348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208817"/>
              </p:ext>
            </p:extLst>
          </p:nvPr>
        </p:nvGraphicFramePr>
        <p:xfrm>
          <a:off x="9476232" y="1178669"/>
          <a:ext cx="2715768" cy="256032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1831080272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573619839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6378298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Obs</a:t>
                      </a:r>
                      <a:endParaRPr lang="en-US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Exp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09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260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054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7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09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938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330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707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5957-70A8-4691-E952-E5BD2DA5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9611D4C9-4DFD-DD87-6966-6518A25ADB4B}"/>
              </a:ext>
            </a:extLst>
          </p:cNvPr>
          <p:cNvSpPr txBox="1"/>
          <p:nvPr/>
        </p:nvSpPr>
        <p:spPr>
          <a:xfrm>
            <a:off x="300228" y="190976"/>
            <a:ext cx="118917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OPTION2: Using critical value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a Chi-Square table,  at </a:t>
            </a:r>
            <a:r>
              <a:rPr lang="el-GR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α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0.05 , with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d.f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5, we find the critical value 11.07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1 &lt; 11.07, we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fail to reject the null hypothesis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die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appears fair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3B0F26-EA28-6C8E-974F-77A216D3E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11" y="2499300"/>
            <a:ext cx="4476351" cy="211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73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B3954-E38A-3CC4-7DFA-72BC50FD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319658-150A-7ACD-4AFE-EF2C7ED5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7" y="108612"/>
            <a:ext cx="7268589" cy="5068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FA7B3BD-093C-8DB6-383D-5B62C39A7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521" y="5396952"/>
            <a:ext cx="5774313" cy="135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52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ADDD-25C4-0F38-B5E8-8946606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D7287F-8821-4EF1-D7D8-8F28383F5271}"/>
              </a:ext>
            </a:extLst>
          </p:cNvPr>
          <p:cNvSpPr txBox="1"/>
          <p:nvPr/>
        </p:nvSpPr>
        <p:spPr>
          <a:xfrm>
            <a:off x="2112264" y="2121408"/>
            <a:ext cx="977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Dggfdfgf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gdfgfd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194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8168E-2889-EB8C-92FA-7877BF03B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8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1005</TotalTime>
  <Words>1643</Words>
  <Application>Microsoft Office PowerPoint</Application>
  <PresentationFormat>Widescreen</PresentationFormat>
  <Paragraphs>350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find critical value using d.f. , α and Chi square table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147</cp:revision>
  <dcterms:created xsi:type="dcterms:W3CDTF">2025-09-22T02:44:38Z</dcterms:created>
  <dcterms:modified xsi:type="dcterms:W3CDTF">2026-04-14T17:47:01Z</dcterms:modified>
</cp:coreProperties>
</file>