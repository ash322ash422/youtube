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8" r:id="rId3"/>
    <p:sldId id="279" r:id="rId4"/>
    <p:sldId id="258" r:id="rId5"/>
    <p:sldId id="280" r:id="rId6"/>
    <p:sldId id="263" r:id="rId7"/>
    <p:sldId id="260" r:id="rId8"/>
    <p:sldId id="261" r:id="rId9"/>
    <p:sldId id="259" r:id="rId10"/>
    <p:sldId id="262" r:id="rId11"/>
    <p:sldId id="264" r:id="rId12"/>
    <p:sldId id="265" r:id="rId13"/>
    <p:sldId id="266" r:id="rId14"/>
    <p:sldId id="267" r:id="rId15"/>
    <p:sldId id="268" r:id="rId16"/>
    <p:sldId id="27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F8A4BD-87FF-78B1-FA15-682E8BE7E05A}"/>
              </a:ext>
            </a:extLst>
          </p:cNvPr>
          <p:cNvSpPr txBox="1"/>
          <p:nvPr/>
        </p:nvSpPr>
        <p:spPr>
          <a:xfrm>
            <a:off x="3941064" y="2340864"/>
            <a:ext cx="4936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 Square Test</a:t>
            </a:r>
          </a:p>
        </p:txBody>
      </p:sp>
    </p:spTree>
    <p:extLst>
      <p:ext uri="{BB962C8B-B14F-4D97-AF65-F5344CB8AC3E}">
        <p14:creationId xmlns:p14="http://schemas.microsoft.com/office/powerpoint/2010/main" val="422402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4F9353-F69D-B159-F1CE-3DE7EA98688C}"/>
              </a:ext>
            </a:extLst>
          </p:cNvPr>
          <p:cNvSpPr txBox="1"/>
          <p:nvPr/>
        </p:nvSpPr>
        <p:spPr>
          <a:xfrm>
            <a:off x="157734" y="562463"/>
            <a:ext cx="117203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Chi-Square Test?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used to examine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categorical variables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4AC6E-9494-2422-73E2-E1B222CE13C8}"/>
              </a:ext>
            </a:extLst>
          </p:cNvPr>
          <p:cNvSpPr txBox="1"/>
          <p:nvPr/>
        </p:nvSpPr>
        <p:spPr>
          <a:xfrm>
            <a:off x="285750" y="2444556"/>
            <a:ext cx="107510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variables is it used for?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variables only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variables that represent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groups or categories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numbers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Gender: Male, Female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Blood Type: A, B, AB, O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Favorite Color: Red, Blue, Green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it directly for continuous variables like height, weight, or temperature unless you 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them into categories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"short", "tall").</a:t>
            </a:r>
          </a:p>
        </p:txBody>
      </p:sp>
    </p:spTree>
    <p:extLst>
      <p:ext uri="{BB962C8B-B14F-4D97-AF65-F5344CB8AC3E}">
        <p14:creationId xmlns:p14="http://schemas.microsoft.com/office/powerpoint/2010/main" val="209314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EEA1-601B-BA3F-3CEE-EC9062B0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E9C7F7-0254-0492-AC22-2EA46018DAE6}"/>
              </a:ext>
            </a:extLst>
          </p:cNvPr>
          <p:cNvSpPr txBox="1"/>
          <p:nvPr/>
        </p:nvSpPr>
        <p:spPr>
          <a:xfrm>
            <a:off x="265176" y="780348"/>
            <a:ext cx="119763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it?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the Chi-Square test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questions like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there an association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voting preference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smoking status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affect whether someone gets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lung disease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people from different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equally likely to prefer a particular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short, it's about checking whether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 differences between groups are statistically significant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could have happened just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2711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FB887-DC6E-53A5-9ED5-0BF02BDEC54B}"/>
              </a:ext>
            </a:extLst>
          </p:cNvPr>
          <p:cNvSpPr txBox="1"/>
          <p:nvPr/>
        </p:nvSpPr>
        <p:spPr>
          <a:xfrm>
            <a:off x="349758" y="380691"/>
            <a:ext cx="89862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Chi-Square Tests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Chi-Square Test of Independence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Tests 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categorical variables are related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Is there a relationship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education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type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Chi-Square Goodness-of-Fit Test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Tests if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single categorical variable matches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Is a die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(i.e., all numbers appear equally)?</a:t>
            </a:r>
          </a:p>
        </p:txBody>
      </p:sp>
    </p:spTree>
    <p:extLst>
      <p:ext uri="{BB962C8B-B14F-4D97-AF65-F5344CB8AC3E}">
        <p14:creationId xmlns:p14="http://schemas.microsoft.com/office/powerpoint/2010/main" val="37389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C6E0-6874-BA2A-AF88-FEFD8F23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D5EFC-9774-99C3-E2D7-46926223256C}"/>
              </a:ext>
            </a:extLst>
          </p:cNvPr>
          <p:cNvSpPr txBox="1"/>
          <p:nvPr/>
        </p:nvSpPr>
        <p:spPr>
          <a:xfrm>
            <a:off x="240030" y="219885"/>
            <a:ext cx="103212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does the Chi-Square Test work?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Here’s the basic idea: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(what actually happened).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expected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(what you would expect if there was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relationship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a statistic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(χ²)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chi-square value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it suggests there’s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significant difference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observed and expected values — i.e., something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going 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C5332-7F6C-7EFF-304E-011EFDB30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256" y="3931920"/>
            <a:ext cx="3512044" cy="11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6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CC38-1A25-6777-DAE7-80CFC4B8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1) TEST FOR INDEPENDENCE</a:t>
            </a:r>
          </a:p>
        </p:txBody>
      </p:sp>
    </p:spTree>
    <p:extLst>
      <p:ext uri="{BB962C8B-B14F-4D97-AF65-F5344CB8AC3E}">
        <p14:creationId xmlns:p14="http://schemas.microsoft.com/office/powerpoint/2010/main" val="213644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9CD8EC-DE37-7CAA-5C11-D8C3842F1F56}"/>
              </a:ext>
            </a:extLst>
          </p:cNvPr>
          <p:cNvSpPr txBox="1"/>
          <p:nvPr/>
        </p:nvSpPr>
        <p:spPr>
          <a:xfrm>
            <a:off x="249174" y="226814"/>
            <a:ext cx="452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for Chi-Square Test of Independence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A3D20-D7EE-3C33-6050-3805EBCA04F5}"/>
              </a:ext>
            </a:extLst>
          </p:cNvPr>
          <p:cNvSpPr txBox="1"/>
          <p:nvPr/>
        </p:nvSpPr>
        <p:spPr>
          <a:xfrm>
            <a:off x="148590" y="894326"/>
            <a:ext cx="629793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Set Up the Hypotheses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independent (no relationship).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associated (some relationship).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990A2-2E73-F7EB-AC81-ACF44111B420}"/>
              </a:ext>
            </a:extLst>
          </p:cNvPr>
          <p:cNvSpPr txBox="1"/>
          <p:nvPr/>
        </p:nvSpPr>
        <p:spPr>
          <a:xfrm>
            <a:off x="212598" y="2698141"/>
            <a:ext cx="5127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the Expected Counts E for each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503C7C-6640-031C-D02D-3DE6E8BD3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834" y="3495827"/>
            <a:ext cx="2819794" cy="543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70BBE7-FBD1-D6DE-9F28-2001BB153DDB}"/>
              </a:ext>
            </a:extLst>
          </p:cNvPr>
          <p:cNvSpPr txBox="1"/>
          <p:nvPr/>
        </p:nvSpPr>
        <p:spPr>
          <a:xfrm>
            <a:off x="240030" y="4652510"/>
            <a:ext cx="467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Compute the Chi-Square Statistic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6DA99C-C7F4-F628-EE05-22D8F8A7E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8" y="5342091"/>
            <a:ext cx="2420416" cy="7566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043180-F5DA-2CF4-0739-6C4B5A22B6F2}"/>
              </a:ext>
            </a:extLst>
          </p:cNvPr>
          <p:cNvSpPr txBox="1"/>
          <p:nvPr/>
        </p:nvSpPr>
        <p:spPr>
          <a:xfrm>
            <a:off x="236982" y="6234337"/>
            <a:ext cx="4197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up all values for all cells.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D9B8FC-787E-8D06-0D85-838326309276}"/>
              </a:ext>
            </a:extLst>
          </p:cNvPr>
          <p:cNvCxnSpPr/>
          <p:nvPr/>
        </p:nvCxnSpPr>
        <p:spPr>
          <a:xfrm>
            <a:off x="6254496" y="310896"/>
            <a:ext cx="0" cy="6291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9B7CF35-2863-85ED-2858-19FB49A15A3F}"/>
              </a:ext>
            </a:extLst>
          </p:cNvPr>
          <p:cNvSpPr txBox="1"/>
          <p:nvPr/>
        </p:nvSpPr>
        <p:spPr>
          <a:xfrm>
            <a:off x="6470904" y="329184"/>
            <a:ext cx="5288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Calculate the Degrees of Freedom</a:t>
            </a:r>
          </a:p>
          <a:p>
            <a:pPr>
              <a:buNone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(Number of Rows−1)×(Number of Columns−1)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EE7D6-4D52-A5B9-33F7-AD58423BDE04}"/>
              </a:ext>
            </a:extLst>
          </p:cNvPr>
          <p:cNvSpPr txBox="1"/>
          <p:nvPr/>
        </p:nvSpPr>
        <p:spPr>
          <a:xfrm>
            <a:off x="6467094" y="1465040"/>
            <a:ext cx="499948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Find the Critical Value or P-Value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distribution table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software (Excel, Python, 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your χ² statistic with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 value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find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p-value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D63C9E-8250-9A56-B1FF-3038426E9409}"/>
              </a:ext>
            </a:extLst>
          </p:cNvPr>
          <p:cNvSpPr txBox="1"/>
          <p:nvPr/>
        </p:nvSpPr>
        <p:spPr>
          <a:xfrm>
            <a:off x="6578346" y="3136968"/>
            <a:ext cx="4998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Make a Decision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p-value &lt; 0.05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(common threshold for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reject the null hypothesis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Otherwise,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to reject the null hypothesis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000DBE-6B2F-6701-D46D-75052E12A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654" y="4888377"/>
            <a:ext cx="2691318" cy="12743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1A50F8-4BE7-DE57-BF00-F5D957AD4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044" y="5034008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7D76-6B28-433A-B9E3-9C85FF54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26797"/>
            <a:ext cx="7546848" cy="668147"/>
          </a:xfrm>
        </p:spPr>
        <p:txBody>
          <a:bodyPr>
            <a:noAutofit/>
          </a:bodyPr>
          <a:lstStyle/>
          <a:p>
            <a:r>
              <a:rPr lang="en-US" sz="2400" b="1" dirty="0"/>
              <a:t>How to find critical value using </a:t>
            </a:r>
            <a:r>
              <a:rPr lang="en-US" sz="2400" b="1" dirty="0" err="1"/>
              <a:t>d.f.</a:t>
            </a:r>
            <a:r>
              <a:rPr lang="en-US" sz="2400" b="1" dirty="0"/>
              <a:t> , </a:t>
            </a:r>
            <a:r>
              <a:rPr lang="el-GR" sz="2400" b="1" dirty="0"/>
              <a:t>α</a:t>
            </a:r>
            <a:r>
              <a:rPr lang="en-US" sz="2400" b="1" dirty="0"/>
              <a:t> and Chi square table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7473-E929-C2C6-937D-2E6090929A49}"/>
              </a:ext>
            </a:extLst>
          </p:cNvPr>
          <p:cNvSpPr txBox="1"/>
          <p:nvPr/>
        </p:nvSpPr>
        <p:spPr>
          <a:xfrm>
            <a:off x="420624" y="886968"/>
            <a:ext cx="66700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 ,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find critical value. Answer: 3.841</a:t>
            </a:r>
          </a:p>
          <a:p>
            <a:pPr marL="342900" indent="-342900">
              <a:buFontTx/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 ,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0.025, find critical value. Answer: 11.143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50588-EAF1-4CF0-4069-AE5E8DE0B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3" y="186840"/>
            <a:ext cx="3257474" cy="1542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5C44B-C832-FE3C-C81D-A718DCE89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1841210"/>
            <a:ext cx="5138614" cy="48725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B07DB6-85B8-88D3-108F-C678AFEC3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232" y="1723779"/>
            <a:ext cx="5138614" cy="51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78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DC39E-55A7-17A0-F3AB-059BE8C6D0DF}"/>
              </a:ext>
            </a:extLst>
          </p:cNvPr>
          <p:cNvSpPr txBox="1"/>
          <p:nvPr/>
        </p:nvSpPr>
        <p:spPr>
          <a:xfrm>
            <a:off x="213740" y="246519"/>
            <a:ext cx="56144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Chi-Square Test of Independence(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</a:t>
            </a:r>
            <a:r>
              <a:rPr lang="en-US" sz="16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 and excel sheet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is the result of survey on whether male and female like certain product. At </a:t>
            </a:r>
            <a:r>
              <a:rPr lang="el-G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can it be concluded that the there is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gender and  preference for a product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6EBF04-5DE9-34A9-1399-C33963760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839499"/>
              </p:ext>
            </p:extLst>
          </p:nvPr>
        </p:nvGraphicFramePr>
        <p:xfrm>
          <a:off x="326136" y="1951030"/>
          <a:ext cx="5257800" cy="14325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4ED084-74C4-CB33-07AD-AC91D8CB0DC4}"/>
              </a:ext>
            </a:extLst>
          </p:cNvPr>
          <p:cNvSpPr txBox="1"/>
          <p:nvPr/>
        </p:nvSpPr>
        <p:spPr>
          <a:xfrm>
            <a:off x="249174" y="3732752"/>
            <a:ext cx="5614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1)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Gender and preference are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relationship).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relationship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AE84A7-75FF-52AC-DD45-9B3AE3B880CC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32B6C6-6D79-282A-B244-B3C41B58CF1E}"/>
              </a:ext>
            </a:extLst>
          </p:cNvPr>
          <p:cNvSpPr txBox="1"/>
          <p:nvPr/>
        </p:nvSpPr>
        <p:spPr>
          <a:xfrm>
            <a:off x="158649" y="5162918"/>
            <a:ext cx="474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Calculate Expected Counts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C9AA22-9109-7478-291D-24586F456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6" y="6028715"/>
            <a:ext cx="2819794" cy="54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DA1F3A-3115-8C82-74BE-BC15B357A8E6}"/>
              </a:ext>
            </a:extLst>
          </p:cNvPr>
          <p:cNvSpPr txBox="1"/>
          <p:nvPr/>
        </p:nvSpPr>
        <p:spPr>
          <a:xfrm>
            <a:off x="6393942" y="182880"/>
            <a:ext cx="563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expected count for male and like: e = (50*40)/100 = 20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59D3ED-13C2-F7D1-F711-0387B85CE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65200"/>
              </p:ext>
            </p:extLst>
          </p:nvPr>
        </p:nvGraphicFramePr>
        <p:xfrm>
          <a:off x="6499098" y="594764"/>
          <a:ext cx="4130040" cy="91440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1FE1F04-560A-278E-5867-752BDD0CFA9B}"/>
              </a:ext>
            </a:extLst>
          </p:cNvPr>
          <p:cNvSpPr txBox="1"/>
          <p:nvPr/>
        </p:nvSpPr>
        <p:spPr>
          <a:xfrm>
            <a:off x="6159733" y="1745467"/>
            <a:ext cx="271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Calculate Chi using the formula: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43A22B-634E-62CC-C978-039D19567D59}"/>
                  </a:ext>
                </a:extLst>
              </p:cNvPr>
              <p:cNvSpPr txBox="1"/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Chi square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2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12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16.66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43A22B-634E-62CC-C978-039D1956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DBD8FD8-EB84-B56B-B54B-4F86410EB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035" y="2127045"/>
            <a:ext cx="2385133" cy="756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7540FC-BF2B-E9DD-B29F-D27CAE39F39A}"/>
              </a:ext>
            </a:extLst>
          </p:cNvPr>
          <p:cNvSpPr txBox="1"/>
          <p:nvPr/>
        </p:nvSpPr>
        <p:spPr>
          <a:xfrm>
            <a:off x="6133926" y="3948416"/>
            <a:ext cx="5752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At </a:t>
            </a:r>
            <a:r>
              <a:rPr lang="el-GR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with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1, using the table we find the critical value 3.841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8BE86-CBBE-F184-C36A-798A8DBE50E9}"/>
              </a:ext>
            </a:extLst>
          </p:cNvPr>
          <p:cNvSpPr txBox="1"/>
          <p:nvPr/>
        </p:nvSpPr>
        <p:spPr>
          <a:xfrm>
            <a:off x="6126069" y="3446125"/>
            <a:ext cx="512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A1CE-E73B-D676-845D-E806BE9609BF}"/>
              </a:ext>
            </a:extLst>
          </p:cNvPr>
          <p:cNvSpPr txBox="1"/>
          <p:nvPr/>
        </p:nvSpPr>
        <p:spPr>
          <a:xfrm>
            <a:off x="6190489" y="5736966"/>
            <a:ext cx="5904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Since 3.841 &lt; 16.66, so we reject the null hypothesis.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statistically significant relationship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product preference.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FF110-44BB-55E2-B835-7F1FC6D5D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296" y="4446075"/>
            <a:ext cx="2540767" cy="120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9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62B0-2A77-C4F3-199F-88E0C37E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9CB12-53C4-D247-1465-8402E71195ED}"/>
              </a:ext>
            </a:extLst>
          </p:cNvPr>
          <p:cNvSpPr txBox="1"/>
          <p:nvPr/>
        </p:nvSpPr>
        <p:spPr>
          <a:xfrm>
            <a:off x="213740" y="246519"/>
            <a:ext cx="56144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redo the previous question, but use P-value.</a:t>
            </a: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is the result of survey on whether male and female like certain product. At </a:t>
            </a:r>
            <a:r>
              <a:rPr lang="el-G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can it be concluded that the there is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gender and  preference for a product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D57345-D039-64B0-AF9D-AEDCC6F82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456078"/>
              </p:ext>
            </p:extLst>
          </p:nvPr>
        </p:nvGraphicFramePr>
        <p:xfrm>
          <a:off x="326136" y="1951030"/>
          <a:ext cx="5257800" cy="14325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02C114-70AC-D46B-B9C0-93BF6A8E4490}"/>
              </a:ext>
            </a:extLst>
          </p:cNvPr>
          <p:cNvSpPr txBox="1"/>
          <p:nvPr/>
        </p:nvSpPr>
        <p:spPr>
          <a:xfrm>
            <a:off x="249174" y="3732752"/>
            <a:ext cx="5614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1)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Gender and preference are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relationship).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relationship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C146F6-C0B8-21B3-2B56-87DF52C3B5FE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C8C47A-824C-DCE2-42D8-351584751491}"/>
              </a:ext>
            </a:extLst>
          </p:cNvPr>
          <p:cNvSpPr txBox="1"/>
          <p:nvPr/>
        </p:nvSpPr>
        <p:spPr>
          <a:xfrm>
            <a:off x="158649" y="5162918"/>
            <a:ext cx="474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Calculate Expected Counts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B59624-A070-69B6-0E3D-A7C3780B5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6" y="6028715"/>
            <a:ext cx="2819794" cy="54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66D054-8CB5-53E0-3673-8AC680AAC5BE}"/>
              </a:ext>
            </a:extLst>
          </p:cNvPr>
          <p:cNvSpPr txBox="1"/>
          <p:nvPr/>
        </p:nvSpPr>
        <p:spPr>
          <a:xfrm>
            <a:off x="6393942" y="182880"/>
            <a:ext cx="563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expected count for male and like: e = (50*40)/100 = 20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D9B849-1B54-278B-BDD4-A98929DC7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300683"/>
              </p:ext>
            </p:extLst>
          </p:nvPr>
        </p:nvGraphicFramePr>
        <p:xfrm>
          <a:off x="6499098" y="594764"/>
          <a:ext cx="4130040" cy="91440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8F6C51D-9CF4-3027-CA04-3528AFDCEE76}"/>
              </a:ext>
            </a:extLst>
          </p:cNvPr>
          <p:cNvSpPr txBox="1"/>
          <p:nvPr/>
        </p:nvSpPr>
        <p:spPr>
          <a:xfrm>
            <a:off x="6159733" y="1745467"/>
            <a:ext cx="271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Calculate Chi using the formula: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01E49-9FEC-6A21-1B4F-79AC9CC28E88}"/>
                  </a:ext>
                </a:extLst>
              </p:cNvPr>
              <p:cNvSpPr txBox="1"/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Chi square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2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12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16.66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01E49-9FEC-6A21-1B4F-79AC9CC28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0DC4913-BC82-13E6-AECC-85F9FD3C7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035" y="2127045"/>
            <a:ext cx="2385133" cy="756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3A8933-805E-DBF3-2F9D-1F81889BFB88}"/>
              </a:ext>
            </a:extLst>
          </p:cNvPr>
          <p:cNvSpPr txBox="1"/>
          <p:nvPr/>
        </p:nvSpPr>
        <p:spPr>
          <a:xfrm>
            <a:off x="6133926" y="3948416"/>
            <a:ext cx="5752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At chi square=16.66, with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1, using table we find P-value = .000045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63B3E-7268-CB42-1B38-EB4A00BE9BF8}"/>
              </a:ext>
            </a:extLst>
          </p:cNvPr>
          <p:cNvSpPr txBox="1"/>
          <p:nvPr/>
        </p:nvSpPr>
        <p:spPr>
          <a:xfrm>
            <a:off x="6126069" y="3446125"/>
            <a:ext cx="512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09C45-092B-DBB0-02D8-CF6A316C0DA0}"/>
              </a:ext>
            </a:extLst>
          </p:cNvPr>
          <p:cNvSpPr txBox="1"/>
          <p:nvPr/>
        </p:nvSpPr>
        <p:spPr>
          <a:xfrm>
            <a:off x="6190489" y="5736966"/>
            <a:ext cx="5904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Since 0.000045 &lt; 0.05 , so we reject the null hypothesis.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statistically significant relationship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product preference.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118A50-E0B5-B3AC-F5A5-91882B59D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835" y="4317527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3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DBD35B-E1C2-F2B7-A986-F322DEACC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249" y="117507"/>
            <a:ext cx="6096638" cy="64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44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62EB-11D7-F828-F634-95A29632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3CB2-0C70-F941-63F6-34FEF94C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2) Goodness-of-Fit Test</a:t>
            </a:r>
          </a:p>
        </p:txBody>
      </p:sp>
    </p:spTree>
    <p:extLst>
      <p:ext uri="{BB962C8B-B14F-4D97-AF65-F5344CB8AC3E}">
        <p14:creationId xmlns:p14="http://schemas.microsoft.com/office/powerpoint/2010/main" val="172671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34F9-7D5E-7243-E8CD-8393EB00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D131EE-BC4D-EC91-F166-0ABB4B9A904F}"/>
              </a:ext>
            </a:extLst>
          </p:cNvPr>
          <p:cNvSpPr txBox="1"/>
          <p:nvPr/>
        </p:nvSpPr>
        <p:spPr>
          <a:xfrm>
            <a:off x="285750" y="278999"/>
            <a:ext cx="5429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of Goodness-of-Fit Test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to check whether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a single categorical variable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matches some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31B7D0-B391-4582-50D3-171D7A506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739915"/>
              </p:ext>
            </p:extLst>
          </p:nvPr>
        </p:nvGraphicFramePr>
        <p:xfrm>
          <a:off x="344424" y="2721134"/>
          <a:ext cx="2281936" cy="2926080"/>
        </p:xfrm>
        <a:graphic>
          <a:graphicData uri="http://schemas.openxmlformats.org/drawingml/2006/table">
            <a:tbl>
              <a:tblPr/>
              <a:tblGrid>
                <a:gridCol w="114096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7681F-E9B7-27D6-DCED-E88FACB63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03968"/>
              </p:ext>
            </p:extLst>
          </p:nvPr>
        </p:nvGraphicFramePr>
        <p:xfrm>
          <a:off x="7266051" y="3705638"/>
          <a:ext cx="3422904" cy="2926080"/>
        </p:xfrm>
        <a:graphic>
          <a:graphicData uri="http://schemas.openxmlformats.org/drawingml/2006/table">
            <a:tbl>
              <a:tblPr/>
              <a:tblGrid>
                <a:gridCol w="114096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637829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581AD0-B34E-8559-356F-17C63232B9AA}"/>
              </a:ext>
            </a:extLst>
          </p:cNvPr>
          <p:cNvSpPr txBox="1"/>
          <p:nvPr/>
        </p:nvSpPr>
        <p:spPr>
          <a:xfrm>
            <a:off x="285750" y="5888538"/>
            <a:ext cx="5429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can we conclude that the die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i.e., does each face have an equal probability?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928BC-2228-4A33-1DB0-D62D4249C089}"/>
              </a:ext>
            </a:extLst>
          </p:cNvPr>
          <p:cNvSpPr txBox="1"/>
          <p:nvPr/>
        </p:nvSpPr>
        <p:spPr>
          <a:xfrm>
            <a:off x="285750" y="1655064"/>
            <a:ext cx="510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(see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perform an experiment to check if the dice is fair. You roll the dice total of 60 times and record its observed face.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27EAC-170A-2B9C-19AD-104D331FCDB1}"/>
              </a:ext>
            </a:extLst>
          </p:cNvPr>
          <p:cNvSpPr txBox="1"/>
          <p:nvPr/>
        </p:nvSpPr>
        <p:spPr>
          <a:xfrm>
            <a:off x="6062472" y="173736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2817B-061E-1AD1-34D2-E410A8CC9A8E}"/>
              </a:ext>
            </a:extLst>
          </p:cNvPr>
          <p:cNvSpPr txBox="1"/>
          <p:nvPr/>
        </p:nvSpPr>
        <p:spPr>
          <a:xfrm>
            <a:off x="6096000" y="660368"/>
            <a:ext cx="59557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Hypotheses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die is fair (each face has equal probability: 1/6)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die is not fair (some faces are more/less likely)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D9B64-FB10-3F36-F9F4-E7ADEF27E69B}"/>
              </a:ext>
            </a:extLst>
          </p:cNvPr>
          <p:cNvSpPr txBox="1"/>
          <p:nvPr/>
        </p:nvSpPr>
        <p:spPr>
          <a:xfrm>
            <a:off x="6119622" y="230305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Calculate Expected Frequencies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die is fair, then for 60 rolls, each face should appear: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E=1/6×60=10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expected frequency for each face is 10.</a:t>
            </a:r>
          </a:p>
        </p:txBody>
      </p:sp>
    </p:spTree>
    <p:extLst>
      <p:ext uri="{BB962C8B-B14F-4D97-AF65-F5344CB8AC3E}">
        <p14:creationId xmlns:p14="http://schemas.microsoft.com/office/powerpoint/2010/main" val="3967253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A347-B0AE-D404-5B6A-235D2FBB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A5D5B-1EE3-71B4-3361-97E916AD0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0" y="658368"/>
            <a:ext cx="2359105" cy="748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CC79D-EA67-5A24-9CDE-ACFE76C941BC}"/>
              </a:ext>
            </a:extLst>
          </p:cNvPr>
          <p:cNvSpPr txBox="1"/>
          <p:nvPr/>
        </p:nvSpPr>
        <p:spPr>
          <a:xfrm>
            <a:off x="313182" y="181094"/>
            <a:ext cx="3911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Compute Chi-Square Statistic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F728AE-C77A-142A-6FDE-8FC828AC2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7" y="1514716"/>
            <a:ext cx="4533138" cy="6913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FB0067-4C34-5A79-7EFC-3669673D16FE}"/>
              </a:ext>
            </a:extLst>
          </p:cNvPr>
          <p:cNvSpPr txBox="1"/>
          <p:nvPr/>
        </p:nvSpPr>
        <p:spPr>
          <a:xfrm>
            <a:off x="157734" y="253756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Degrees of Freedom</a:t>
            </a:r>
          </a:p>
          <a:p>
            <a:pPr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 of categories − 1 = 6−1 =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B4257-C4CA-CF43-AE82-99F61E4543DD}"/>
              </a:ext>
            </a:extLst>
          </p:cNvPr>
          <p:cNvSpPr txBox="1"/>
          <p:nvPr/>
        </p:nvSpPr>
        <p:spPr>
          <a:xfrm>
            <a:off x="121158" y="3412712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OPTION1: Using P-value</a:t>
            </a: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Up p-value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 Chi-Square table or software we find using χ2 = 1 and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5, the p-value ≈ 0.96.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p-value &gt; 0.05, we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to reject the null hypothesis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die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appears fair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523BB-3288-481C-1C52-C7EBBDE9B1F9}"/>
              </a:ext>
            </a:extLst>
          </p:cNvPr>
          <p:cNvSpPr txBox="1"/>
          <p:nvPr/>
        </p:nvSpPr>
        <p:spPr>
          <a:xfrm>
            <a:off x="6646926" y="282416"/>
            <a:ext cx="52318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OPTION2: Using critical value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 Chi-Square table,  at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with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5, we find the critical value 11.07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1 &lt; 11.07, we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to reject the null hypothesis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die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appears fair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59F2DD-64C6-26F4-F21C-D21B41BC1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239" y="2373760"/>
            <a:ext cx="3421971" cy="1620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51ECE-1658-93BD-3445-35DC4BFB38D3}"/>
              </a:ext>
            </a:extLst>
          </p:cNvPr>
          <p:cNvSpPr txBox="1"/>
          <p:nvPr/>
        </p:nvSpPr>
        <p:spPr>
          <a:xfrm>
            <a:off x="7644384" y="5907024"/>
            <a:ext cx="251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next slide for code….</a:t>
            </a:r>
          </a:p>
        </p:txBody>
      </p:sp>
    </p:spTree>
    <p:extLst>
      <p:ext uri="{BB962C8B-B14F-4D97-AF65-F5344CB8AC3E}">
        <p14:creationId xmlns:p14="http://schemas.microsoft.com/office/powerpoint/2010/main" val="2014707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3954-E38A-3CC4-7DFA-72BC50FD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4FDE2-00CF-05AF-295C-0B1D9B57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12" y="308585"/>
            <a:ext cx="7339298" cy="58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D7287F-8821-4EF1-D7D8-8F28383F5271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933</TotalTime>
  <Words>1368</Words>
  <Application>Microsoft Office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find critical value using d.f. , α and Chi square table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127</cp:revision>
  <dcterms:created xsi:type="dcterms:W3CDTF">2025-09-22T02:44:38Z</dcterms:created>
  <dcterms:modified xsi:type="dcterms:W3CDTF">2026-04-07T19:45:51Z</dcterms:modified>
</cp:coreProperties>
</file>