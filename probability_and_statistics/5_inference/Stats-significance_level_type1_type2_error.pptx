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5" r:id="rId3"/>
    <p:sldId id="263" r:id="rId4"/>
    <p:sldId id="264" r:id="rId5"/>
    <p:sldId id="266" r:id="rId6"/>
    <p:sldId id="267" r:id="rId7"/>
    <p:sldId id="268" r:id="rId8"/>
    <p:sldId id="262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F67F-1D5C-7476-BD8A-26307D605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7C689-61B0-3A19-3367-9BEDE51CE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C50CD-4E69-1523-09D6-884BAE74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8EBD9-9440-7396-4663-7E92CE0F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4B5D7-F5AE-D36D-ECF3-11736067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0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E532-F19A-773A-CBFB-0DE5AF221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4BF23-7BC6-09B5-CF4F-DEDDF50A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94952-F9AE-2CAE-84D5-88373363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DCCF9-94B9-B34C-5A74-09675362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209E4-F3DB-7B62-A6AC-9B90F4F1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D9468-B60C-B51F-7A41-9988CBBE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3192A-B6E0-EC97-7125-90D9EA182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879C1-1743-62FA-DC8E-7E4CAF6F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94BF-5633-53FC-4085-F153EA14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0F3F-094F-B5DE-7C7C-A00CE83A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CDA5-58EB-1B9A-A8B8-3FF2E6AA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CE15-2D33-A64A-0A8F-E8CF81EC3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73915-8F48-32FC-5F78-7037074D2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07D1A-0B01-A361-C030-7C2B1B14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0AA1B-9DED-4CAF-DE22-272C3769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19FFA-4CFA-BF3F-F2B5-BFE7EF26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FCE92-15EC-6819-BE41-D963092F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FB93B-2D39-FA01-B804-DE992FA81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AC486-1EED-5E82-A1DE-F0DF6A7EF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524F7-DEC5-569D-BB91-6B9BBADB3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9758E-D499-9CE1-AF73-24A07B6CC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D71F-B246-E177-6224-059E6216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F5002A-0913-9235-103B-1FAA8D6F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78E9F-BD6B-22C5-7E39-FC6C8E3D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7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9D6A-6484-C375-A3DF-9449C869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B97F0-A833-F569-C8CC-C00C67C3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DFA7A-97C4-E804-BEEF-F52BB376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F1205-DBA9-BBC5-97D0-CA9414D2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6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1A8E2-F090-64C1-4EE9-227344BC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BAC7E-4E73-8D16-8A64-AB1BD83F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72077-716A-B5CD-D556-B588416E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4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CE8D-361A-1BD9-7BA4-D74AD0BB0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BEBA0-8244-B1E9-4C6F-973F31298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5D24C-FD68-C0C2-387C-CF9C30F46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B084A-8C77-9A97-BF65-EFA2E3BE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FD712-1436-EB7C-31EA-BBDAC47E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3C43E-F7AD-681D-A280-AE360EF3B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553F-DC08-495D-1703-C778F602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70C74-6D68-5AB9-FE4D-85C3ABA9B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5577E-7A0A-4F1C-4E81-90993B406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6E3A6-7152-01BF-5156-6BEB6F9B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4F86E-479A-F26D-96A7-3522F2EB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F8B0A-8E3E-4AEC-77C5-D9A1EEC3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6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4064-E7A3-963C-D9E5-8063F158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69923-911C-63ED-164B-76AA526B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FADC7-8EFC-04F1-CAED-16040B30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DE1CC-F1E3-3A85-0BEB-412DC406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124F7-C2DD-3857-83A3-767DF74A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4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1427F-325C-8204-4692-5B4623A8C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7B572-5F7E-5EC4-23B0-05342387E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0179-0B36-0C0D-597B-19961344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ACB70-1761-D532-BD8C-2F5ED236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00F1-7DDD-AFDD-7DB5-B3E69D03F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4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CF40A1-979F-3B97-144C-8EE04F82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03D10-6468-9059-560D-1CF0382BD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8E186-E56C-0599-D2F5-2ED55E2A6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38A22-B5A6-47DA-94CD-144E2EE07EA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2413A-2D3C-5EAC-9AB6-25DBEE4B8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3B056-E6D5-7138-A52C-4AAADDC5A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5FB28-37FD-485D-93D5-F5A544FDC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87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0EA8D3-6CD3-C565-64B3-C5EC3488CD03}"/>
              </a:ext>
            </a:extLst>
          </p:cNvPr>
          <p:cNvSpPr txBox="1"/>
          <p:nvPr/>
        </p:nvSpPr>
        <p:spPr>
          <a:xfrm>
            <a:off x="201168" y="935796"/>
            <a:ext cx="118506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you’ve developed a COVID test. 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Sometimes, it says someone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infected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they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actually are 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false alarm,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Sometimes it says someone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infected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they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actually are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 it misses real cases.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 are mistakes, but of different kinds: represented by α  and β.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how much risk of being wrong are you willing to accept?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would you define above risk in statistics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Among the types of risks: α / β, how would you decide which ones to use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2DCC8F-38F0-DA5C-D19C-29BD78F699DC}"/>
              </a:ext>
            </a:extLst>
          </p:cNvPr>
          <p:cNvSpPr txBox="1"/>
          <p:nvPr/>
        </p:nvSpPr>
        <p:spPr>
          <a:xfrm>
            <a:off x="612648" y="182880"/>
            <a:ext cx="1084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Hypothesis Testing: Understanding Significance Level, Type 1 and Type 2 Error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526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076E-DB8C-28EC-5715-3AC29E6C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A90E13-1368-8CBB-8A5C-4E959EAA735A}"/>
              </a:ext>
            </a:extLst>
          </p:cNvPr>
          <p:cNvSpPr txBox="1"/>
          <p:nvPr/>
        </p:nvSpPr>
        <p:spPr>
          <a:xfrm>
            <a:off x="502920" y="1082100"/>
            <a:ext cx="10844784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we do a hypothesis test, we generally follow 2 steps: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Step1) We start with two statements about population: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There is no effect or no difference.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“The new drug has no effect on population.”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There is an effect or difference.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“The new drug works better than the old one on population.”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Step2) Then we collect sample data, run a test (like a t-test or z-test), and make a decision — either reject H₀ or fail to reject H₀.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4 different scenarios are possible based on our decision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C696A-AACD-BDBD-F44F-F1E98D4968FD}"/>
              </a:ext>
            </a:extLst>
          </p:cNvPr>
          <p:cNvSpPr txBox="1"/>
          <p:nvPr/>
        </p:nvSpPr>
        <p:spPr>
          <a:xfrm>
            <a:off x="612648" y="182880"/>
            <a:ext cx="1084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Hypothesis Testing: Understanding Significance Level, Type 1 and Type 2 Error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0775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93DB3-985F-22E3-5A3F-D7A418D3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5C4178-3F38-7C37-F786-99F5B6C78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42227"/>
              </p:ext>
            </p:extLst>
          </p:nvPr>
        </p:nvGraphicFramePr>
        <p:xfrm>
          <a:off x="3394329" y="994791"/>
          <a:ext cx="4809744" cy="1856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4872">
                  <a:extLst>
                    <a:ext uri="{9D8B030D-6E8A-4147-A177-3AD203B41FA5}">
                      <a16:colId xmlns:a16="http://schemas.microsoft.com/office/drawing/2014/main" val="4100409205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319026824"/>
                    </a:ext>
                  </a:extLst>
                </a:gridCol>
              </a:tblGrid>
              <a:tr h="9281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highlight>
                            <a:srgbClr val="FF00FF"/>
                          </a:highlight>
                        </a:rPr>
                        <a:t>ERROR (TYPE 1)</a:t>
                      </a:r>
                    </a:p>
                    <a:p>
                      <a:pPr algn="ctr"/>
                      <a:r>
                        <a:rPr lang="el-GR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α</a:t>
                      </a:r>
                      <a:endParaRPr lang="en-US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highlight>
                          <a:srgbClr val="FF00FF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  <a:highlight>
                            <a:srgbClr val="00FF00"/>
                          </a:highlight>
                        </a:rPr>
                        <a:t>Correct 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32812"/>
                  </a:ext>
                </a:extLst>
              </a:tr>
              <a:tr h="92811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  <a:highlight>
                            <a:srgbClr val="00FF00"/>
                          </a:highlight>
                        </a:rPr>
                        <a:t>Correct 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highlight>
                            <a:srgbClr val="FF00FF"/>
                          </a:highlight>
                        </a:rPr>
                        <a:t>ERROR (TYPE 2)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highlight>
                          <a:srgbClr val="FF00FF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highlight>
                            <a:srgbClr val="000000"/>
                          </a:highlight>
                        </a:rPr>
                        <a:t>β</a:t>
                      </a:r>
                      <a:endParaRPr lang="en-US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292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FC2E57-36DD-C1EF-6513-2B0A94B2BB8A}"/>
              </a:ext>
            </a:extLst>
          </p:cNvPr>
          <p:cNvSpPr txBox="1"/>
          <p:nvPr/>
        </p:nvSpPr>
        <p:spPr>
          <a:xfrm>
            <a:off x="3915537" y="601599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H0 is true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74D1BD-8CF7-FAE5-F8F6-A52D3CDABB77}"/>
              </a:ext>
            </a:extLst>
          </p:cNvPr>
          <p:cNvSpPr txBox="1"/>
          <p:nvPr/>
        </p:nvSpPr>
        <p:spPr>
          <a:xfrm>
            <a:off x="6225921" y="607695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H0 is false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DF135-21E6-3E5A-73FD-E3B4E782ABAF}"/>
              </a:ext>
            </a:extLst>
          </p:cNvPr>
          <p:cNvSpPr txBox="1"/>
          <p:nvPr/>
        </p:nvSpPr>
        <p:spPr>
          <a:xfrm>
            <a:off x="2037969" y="1266063"/>
            <a:ext cx="115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Reject H0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F2E81-6308-57ED-C7A0-C7B8003B323F}"/>
              </a:ext>
            </a:extLst>
          </p:cNvPr>
          <p:cNvSpPr txBox="1"/>
          <p:nvPr/>
        </p:nvSpPr>
        <p:spPr>
          <a:xfrm>
            <a:off x="2053209" y="2104263"/>
            <a:ext cx="115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Do not reject H0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0E3DC6-2622-1C4B-64C3-AAD47AFBAD52}"/>
              </a:ext>
            </a:extLst>
          </p:cNvPr>
          <p:cNvSpPr txBox="1"/>
          <p:nvPr/>
        </p:nvSpPr>
        <p:spPr>
          <a:xfrm>
            <a:off x="75438" y="2996803"/>
            <a:ext cx="59559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P(type I error) = </a:t>
            </a:r>
            <a:r>
              <a:rPr lang="el-GR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α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 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Type I error occurs when you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reject the null hypothesis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(H₀)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when it's actually TRUE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It's a "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false positive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" - you conclude something is happening when it really IS NOT happening.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e.g. Person testing “positive” for COVID-19, when he is actually not: false alarm.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α (alpha) is the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significance level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you choose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before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conducting your test (commonly 0.10,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0.05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or 0.01). 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set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 = 0.05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you are saying: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am okay with being wrong 5% of the time when I say there is an effect.”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8C309-592A-A68C-BF14-328477F22D7A}"/>
              </a:ext>
            </a:extLst>
          </p:cNvPr>
          <p:cNvSpPr txBox="1"/>
          <p:nvPr/>
        </p:nvSpPr>
        <p:spPr>
          <a:xfrm>
            <a:off x="6203222" y="3039475"/>
            <a:ext cx="59559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P(type 2 error) = </a:t>
            </a:r>
            <a:r>
              <a:rPr lang="el-GR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β </a:t>
            </a:r>
            <a:endParaRPr lang="en-US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 Type II error occurs when you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fail to reject the null hypothesis when it's actually FALSE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It's a "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false negative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" - you conclude nothing is happening when something really IS happening.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e.g. Person testing “negative” for COVID-19, when he is actually positive: Missed  case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β = 0.20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you’re saying: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“I’m okay with being wrong 20% of the time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I say there is </a:t>
            </a: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effect (missed detection).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1F352-2B66-FE14-FFF0-B1FF19898C75}"/>
              </a:ext>
            </a:extLst>
          </p:cNvPr>
          <p:cNvSpPr txBox="1"/>
          <p:nvPr/>
        </p:nvSpPr>
        <p:spPr>
          <a:xfrm>
            <a:off x="612648" y="182880"/>
            <a:ext cx="1084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Hypothesis Testing: Understanding Significance Level, Type 1 and Type 2 Error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00317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22E2-CF82-F392-60E0-9EF56234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E32ED0-277B-1FC1-1CD7-E3AD13A551EA}"/>
              </a:ext>
            </a:extLst>
          </p:cNvPr>
          <p:cNvSpPr txBox="1"/>
          <p:nvPr/>
        </p:nvSpPr>
        <p:spPr>
          <a:xfrm>
            <a:off x="102870" y="1277731"/>
            <a:ext cx="66490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if you set α = 0.05  and β = 0.20, you are saying: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accept a 5% risk of a false alarm (Type I error)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a 20% risk of missing a true effect (Type II error).”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chosen by user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β 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dependent on size of sample n and population variability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n increases, β decreases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population standard deviation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σ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increases, β increase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does not have direct control on this.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 of test = 1 – β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measures the probability of correctly rejecting a false null hypothesis (i.e., detecting a real effect).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power (close to 1) means the test is good at detecting true effects.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2921A6-D3B3-4270-BF01-E7B871AF6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084489"/>
              </p:ext>
            </p:extLst>
          </p:nvPr>
        </p:nvGraphicFramePr>
        <p:xfrm>
          <a:off x="8055863" y="1399031"/>
          <a:ext cx="3952114" cy="142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057">
                  <a:extLst>
                    <a:ext uri="{9D8B030D-6E8A-4147-A177-3AD203B41FA5}">
                      <a16:colId xmlns:a16="http://schemas.microsoft.com/office/drawing/2014/main" val="4100409205"/>
                    </a:ext>
                  </a:extLst>
                </a:gridCol>
                <a:gridCol w="1976057">
                  <a:extLst>
                    <a:ext uri="{9D8B030D-6E8A-4147-A177-3AD203B41FA5}">
                      <a16:colId xmlns:a16="http://schemas.microsoft.com/office/drawing/2014/main" val="2319026824"/>
                    </a:ext>
                  </a:extLst>
                </a:gridCol>
              </a:tblGrid>
              <a:tr h="7122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highlight>
                            <a:srgbClr val="FF00FF"/>
                          </a:highlight>
                        </a:rPr>
                        <a:t>ERROR (TYPE 1)</a:t>
                      </a:r>
                    </a:p>
                    <a:p>
                      <a:pPr algn="ctr"/>
                      <a:r>
                        <a:rPr lang="el-GR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α</a:t>
                      </a:r>
                      <a:endParaRPr lang="en-US" sz="1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highlight>
                          <a:srgbClr val="FF00FF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2060"/>
                          </a:solidFill>
                          <a:highlight>
                            <a:srgbClr val="00FF00"/>
                          </a:highlight>
                        </a:rPr>
                        <a:t>Correct 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32812"/>
                  </a:ext>
                </a:extLst>
              </a:tr>
              <a:tr h="7122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highlight>
                            <a:srgbClr val="00FF00"/>
                          </a:highlight>
                        </a:rPr>
                        <a:t>Correct 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highlight>
                            <a:srgbClr val="FF00FF"/>
                          </a:highlight>
                        </a:rPr>
                        <a:t>ERROR (TYPE 2)</a:t>
                      </a:r>
                      <a:endParaRPr lang="en-US" sz="1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highlight>
                          <a:srgbClr val="FF00FF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highlight>
                            <a:srgbClr val="000000"/>
                          </a:highlight>
                        </a:rPr>
                        <a:t>β</a:t>
                      </a:r>
                      <a:endParaRPr lang="en-US" sz="1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292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D402C11-A94B-3DFC-28A8-62502AA1D794}"/>
              </a:ext>
            </a:extLst>
          </p:cNvPr>
          <p:cNvSpPr txBox="1"/>
          <p:nvPr/>
        </p:nvSpPr>
        <p:spPr>
          <a:xfrm>
            <a:off x="8619953" y="943519"/>
            <a:ext cx="905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H0 is 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AA087-CA4A-127C-AC93-AA1CA4CEE940}"/>
              </a:ext>
            </a:extLst>
          </p:cNvPr>
          <p:cNvSpPr txBox="1"/>
          <p:nvPr/>
        </p:nvSpPr>
        <p:spPr>
          <a:xfrm>
            <a:off x="10938535" y="949615"/>
            <a:ext cx="942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H0 is 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56D6C-8EEF-84D6-6B70-5A682D89219B}"/>
              </a:ext>
            </a:extLst>
          </p:cNvPr>
          <p:cNvSpPr txBox="1"/>
          <p:nvPr/>
        </p:nvSpPr>
        <p:spPr>
          <a:xfrm>
            <a:off x="6962256" y="1553119"/>
            <a:ext cx="949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Reject H0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A30C6B-E438-7AA9-733C-5C6ADDE99FAC}"/>
              </a:ext>
            </a:extLst>
          </p:cNvPr>
          <p:cNvSpPr txBox="1"/>
          <p:nvPr/>
        </p:nvSpPr>
        <p:spPr>
          <a:xfrm>
            <a:off x="6977496" y="2300289"/>
            <a:ext cx="949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Do not reject H0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70C80D-847B-B4C2-22D8-26866062A5D5}"/>
              </a:ext>
            </a:extLst>
          </p:cNvPr>
          <p:cNvSpPr txBox="1"/>
          <p:nvPr/>
        </p:nvSpPr>
        <p:spPr>
          <a:xfrm>
            <a:off x="612648" y="182880"/>
            <a:ext cx="1084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Hypothesis Testing: Understanding Significance Level, Type 1 and Type 2 Error</a:t>
            </a:r>
          </a:p>
        </p:txBody>
      </p:sp>
    </p:spTree>
    <p:extLst>
      <p:ext uri="{BB962C8B-B14F-4D97-AF65-F5344CB8AC3E}">
        <p14:creationId xmlns:p14="http://schemas.microsoft.com/office/powerpoint/2010/main" val="2861013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84EF0-9F44-7677-204D-6C026B99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CD9174-2CE4-7AC3-EA3A-746D4E2DEC2A}"/>
              </a:ext>
            </a:extLst>
          </p:cNvPr>
          <p:cNvSpPr txBox="1"/>
          <p:nvPr/>
        </p:nvSpPr>
        <p:spPr>
          <a:xfrm>
            <a:off x="676656" y="935796"/>
            <a:ext cx="108447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you’ve developed a COVID test. Sometimes, it says someone is infected when they’re not — and sometimes it misses real cases. Both are mistakes, but of different kinds.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how much risk of being wrong are you willing to accept?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That’s exactly what the significance level and Type I and II errors help us define in statistics.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amount of risk you’re willing to accept when being wrong is defined by your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significance level (α)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chance of a false alarm (Type I error) — and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β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chance of missing a real effect (Type II error).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BDA06-24D3-1664-A2D3-850FBD3649AB}"/>
              </a:ext>
            </a:extLst>
          </p:cNvPr>
          <p:cNvSpPr txBox="1"/>
          <p:nvPr/>
        </p:nvSpPr>
        <p:spPr>
          <a:xfrm>
            <a:off x="612648" y="182880"/>
            <a:ext cx="1084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Hypothesis Testing: Understanding Significance Level, Type 1 and Type 2 Error</a:t>
            </a:r>
          </a:p>
        </p:txBody>
      </p:sp>
    </p:spTree>
    <p:extLst>
      <p:ext uri="{BB962C8B-B14F-4D97-AF65-F5344CB8AC3E}">
        <p14:creationId xmlns:p14="http://schemas.microsoft.com/office/powerpoint/2010/main" val="394834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E36C-C0FF-5EDA-850F-C871BD6C9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8CBE77-91A5-CE4B-42A9-91B4CD0019E6}"/>
              </a:ext>
            </a:extLst>
          </p:cNvPr>
          <p:cNvSpPr txBox="1"/>
          <p:nvPr/>
        </p:nvSpPr>
        <p:spPr>
          <a:xfrm>
            <a:off x="228600" y="935796"/>
            <a:ext cx="118140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Medical drug approval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don’t want to approve a drug that doesn’t really work (or is harmful).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I Error → Approving a useless/harmful drug.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II Error → Failing to approve a helpful one.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</a:t>
            </a:r>
            <a:r>
              <a:rPr lang="el-GR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more important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safety first.</a:t>
            </a:r>
          </a:p>
          <a:p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That’s why Drug Companies often uses </a:t>
            </a:r>
            <a:r>
              <a:rPr lang="el-GR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 = 0.01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0.001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595BA-D46F-D48E-DA69-AC71E1F11123}"/>
              </a:ext>
            </a:extLst>
          </p:cNvPr>
          <p:cNvSpPr txBox="1"/>
          <p:nvPr/>
        </p:nvSpPr>
        <p:spPr>
          <a:xfrm>
            <a:off x="612648" y="182880"/>
            <a:ext cx="1084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more important (you want fewer false alarms)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14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AA27-1675-417F-DCFC-80654D12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F9F68-9A13-65AC-088B-BC33BE017481}"/>
              </a:ext>
            </a:extLst>
          </p:cNvPr>
          <p:cNvSpPr txBox="1"/>
          <p:nvPr/>
        </p:nvSpPr>
        <p:spPr>
          <a:xfrm>
            <a:off x="228600" y="880932"/>
            <a:ext cx="1181404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Disease screening tests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H₀: Person is healthy.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H₁: Person is infected.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I Error = False alarm (healthy person flagged).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II Error = Missed case (infected person not detected).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a real case can be deadly →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β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more important.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That’s why early COVID or cancer screening tests are designed for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power (low β)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even if α is higher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Quality control in manufacturing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H₀: Machine producing within tolerance.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H₁: Machine is faulty.</a:t>
            </a:r>
          </a:p>
          <a:p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Type II Error, which is letting defective products pass → costly/dangerous.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β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more critical here..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Balanced Scenarios for α and β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both types of errors are equally important (e.g., routine scientific studies), researchers typically choose: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 = 0.05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 = 0.80 (β = 0.20)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balances being too strict (missing effects) and too lenient (false claims).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3BA1A-A804-035F-E4EB-6FA543CAC424}"/>
              </a:ext>
            </a:extLst>
          </p:cNvPr>
          <p:cNvSpPr txBox="1"/>
          <p:nvPr/>
        </p:nvSpPr>
        <p:spPr>
          <a:xfrm>
            <a:off x="612648" y="182880"/>
            <a:ext cx="1084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β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more important (you want fewer missed detections)</a:t>
            </a:r>
          </a:p>
        </p:txBody>
      </p:sp>
    </p:spTree>
    <p:extLst>
      <p:ext uri="{BB962C8B-B14F-4D97-AF65-F5344CB8AC3E}">
        <p14:creationId xmlns:p14="http://schemas.microsoft.com/office/powerpoint/2010/main" val="700242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9202-9F2B-41E9-8C26-0C13AC31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365125"/>
            <a:ext cx="11601449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298093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94F4D6-0115-F287-58B4-6491C468E9ED}"/>
              </a:ext>
            </a:extLst>
          </p:cNvPr>
          <p:cNvGraphicFramePr>
            <a:graphicFrameLocks noGrp="1"/>
          </p:cNvGraphicFramePr>
          <p:nvPr/>
        </p:nvGraphicFramePr>
        <p:xfrm>
          <a:off x="97917" y="1031367"/>
          <a:ext cx="8250935" cy="4772292"/>
        </p:xfrm>
        <a:graphic>
          <a:graphicData uri="http://schemas.openxmlformats.org/drawingml/2006/table">
            <a:tbl>
              <a:tblPr/>
              <a:tblGrid>
                <a:gridCol w="1521333">
                  <a:extLst>
                    <a:ext uri="{9D8B030D-6E8A-4147-A177-3AD203B41FA5}">
                      <a16:colId xmlns:a16="http://schemas.microsoft.com/office/drawing/2014/main" val="3793983248"/>
                    </a:ext>
                  </a:extLst>
                </a:gridCol>
                <a:gridCol w="1312658">
                  <a:extLst>
                    <a:ext uri="{9D8B030D-6E8A-4147-A177-3AD203B41FA5}">
                      <a16:colId xmlns:a16="http://schemas.microsoft.com/office/drawing/2014/main" val="3579566069"/>
                    </a:ext>
                  </a:extLst>
                </a:gridCol>
                <a:gridCol w="5416944">
                  <a:extLst>
                    <a:ext uri="{9D8B030D-6E8A-4147-A177-3AD203B41FA5}">
                      <a16:colId xmlns:a16="http://schemas.microsoft.com/office/drawing/2014/main" val="3358287707"/>
                    </a:ext>
                  </a:extLst>
                </a:gridCol>
              </a:tblGrid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α</a:t>
                      </a:r>
                      <a:endParaRPr lang="en-US" b="1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significance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Test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Critical z-value(s)</a:t>
                      </a:r>
                    </a:p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(Found from z-table)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12955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Two-tailed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+- 1.645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092678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One-tailed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±1.28 (+ for Right Tailed and – for Left Tailed)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500018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Two-tailed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±1.96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50832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One-tailed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±1.645 (+ for Right Tailed and – for Left Tailed)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315014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Two-tailed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±2.576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173062"/>
                  </a:ext>
                </a:extLst>
              </a:tr>
              <a:tr h="64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One-tailed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±2.33 (+ for Right Tailed and – for Left Tailed)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7865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EB7AA9F-1344-27E2-11E7-4CF17D605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840" y="723899"/>
            <a:ext cx="3094960" cy="1329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76481A-C187-3F41-0444-DD768D033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840" y="2422151"/>
            <a:ext cx="3232243" cy="17575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A308E6-6AC0-AAA2-A797-11C2EDF83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840" y="4844609"/>
            <a:ext cx="3232243" cy="163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32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</TotalTime>
  <Words>1169</Words>
  <Application>Microsoft Office PowerPoint</Application>
  <PresentationFormat>Widescreen</PresentationFormat>
  <Paragraphs>132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177</cp:revision>
  <dcterms:created xsi:type="dcterms:W3CDTF">2025-07-23T18:35:15Z</dcterms:created>
  <dcterms:modified xsi:type="dcterms:W3CDTF">2025-10-23T15:24:56Z</dcterms:modified>
</cp:coreProperties>
</file>