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65" r:id="rId3"/>
    <p:sldId id="266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Sampling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547D-27FF-B536-650C-1A7802F3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B3EFEF-D4E6-4CA8-9EE5-0A472F547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What is a </a:t>
            </a:r>
            <a:r>
              <a:rPr lang="en-US" sz="3600" b="1" dirty="0"/>
              <a:t>Sampling Distribution</a:t>
            </a:r>
            <a:r>
              <a:rPr lang="en-US" sz="3600" dirty="0"/>
              <a:t>?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C34E7C-9B31-C22E-D0D3-EF57E012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76" y="902081"/>
            <a:ext cx="11728704" cy="2462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After you take a sample, you usually calculate a </a:t>
            </a:r>
            <a:r>
              <a:rPr lang="en-US" sz="1800" b="1" dirty="0"/>
              <a:t>statistic</a:t>
            </a:r>
            <a:r>
              <a:rPr lang="en-US" sz="1800" dirty="0"/>
              <a:t> (like mean, proportion, variance).</a:t>
            </a:r>
          </a:p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b="1" dirty="0"/>
              <a:t>sampling distribution</a:t>
            </a:r>
            <a:r>
              <a:rPr lang="en-US" sz="1800" dirty="0"/>
              <a:t> is the </a:t>
            </a:r>
            <a:r>
              <a:rPr lang="en-US" sz="1800" b="1" dirty="0"/>
              <a:t>probability distribution</a:t>
            </a:r>
            <a:r>
              <a:rPr lang="en-US" sz="1800" dirty="0"/>
              <a:t> of that statistic </a:t>
            </a:r>
            <a:r>
              <a:rPr lang="en-US" sz="1800" b="1" dirty="0"/>
              <a:t>if you repeated the sampling many times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For example:</a:t>
            </a:r>
          </a:p>
          <a:p>
            <a:r>
              <a:rPr lang="en-US" sz="1800" dirty="0"/>
              <a:t>You take 100 samples of size 5 from a population.</a:t>
            </a:r>
          </a:p>
          <a:p>
            <a:r>
              <a:rPr lang="en-US" sz="1800" dirty="0"/>
              <a:t>You compute the </a:t>
            </a:r>
            <a:r>
              <a:rPr lang="en-US" sz="1800" b="1" dirty="0"/>
              <a:t>sample mean</a:t>
            </a:r>
            <a:r>
              <a:rPr lang="en-US" sz="1800" dirty="0"/>
              <a:t> for each sample.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distribution of those 100 means</a:t>
            </a:r>
            <a:r>
              <a:rPr lang="en-US" sz="1800" dirty="0"/>
              <a:t> is called the </a:t>
            </a:r>
            <a:r>
              <a:rPr lang="en-US" sz="1800" b="1" dirty="0"/>
              <a:t>sampling distribution of the sample mean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DA837-9CF6-565B-58EF-70F83EFCC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12" y="3330102"/>
            <a:ext cx="10583752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3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90D6-B9D7-14E1-9800-4802C867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15926FF-14C4-63DE-7015-DA89C8D0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Why is Sampling Distribution Important?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24069F8-F90F-5D14-042B-9AABC8EE4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It helps us understand </a:t>
            </a:r>
            <a:r>
              <a:rPr lang="en-US" b="1" dirty="0"/>
              <a:t>how sample statistics vary</a:t>
            </a:r>
            <a:r>
              <a:rPr lang="en-US" dirty="0"/>
              <a:t> from sample to sample, and it’s the foundation for </a:t>
            </a:r>
            <a:r>
              <a:rPr lang="en-US" b="1" dirty="0"/>
              <a:t>statistical inference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insights:</a:t>
            </a:r>
          </a:p>
          <a:p>
            <a:r>
              <a:rPr lang="en-US" dirty="0"/>
              <a:t>It tells us </a:t>
            </a:r>
            <a:r>
              <a:rPr lang="en-US" b="1" dirty="0"/>
              <a:t>how accurate</a:t>
            </a:r>
            <a:r>
              <a:rPr lang="en-US" dirty="0"/>
              <a:t> our sample estimates are.</a:t>
            </a:r>
          </a:p>
          <a:p>
            <a:r>
              <a:rPr lang="en-US" dirty="0"/>
              <a:t>It allows us to calculate </a:t>
            </a:r>
            <a:r>
              <a:rPr lang="en-US" b="1" dirty="0"/>
              <a:t>standard error</a:t>
            </a:r>
            <a:r>
              <a:rPr lang="en-US" dirty="0"/>
              <a:t> (variability of sample means).</a:t>
            </a:r>
          </a:p>
          <a:p>
            <a:r>
              <a:rPr lang="en-US" dirty="0"/>
              <a:t>It leads to the </a:t>
            </a:r>
            <a:r>
              <a:rPr lang="en-US" b="1" dirty="0"/>
              <a:t>Central Limit Theorem (CLT)</a:t>
            </a:r>
            <a:r>
              <a:rPr lang="en-US" dirty="0"/>
              <a:t>, which states:</a:t>
            </a:r>
          </a:p>
          <a:p>
            <a:pPr marL="457200" lvl="1" indent="0">
              <a:buNone/>
            </a:pPr>
            <a:r>
              <a:rPr lang="en-US" dirty="0"/>
              <a:t>When sample size is large enough, the sampling distribution of the sample mean approaches a </a:t>
            </a:r>
            <a:r>
              <a:rPr lang="en-US" b="1" dirty="0"/>
              <a:t>normal distribution</a:t>
            </a:r>
            <a:r>
              <a:rPr lang="en-US" dirty="0"/>
              <a:t>, regardless of the population’s distribution.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66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0B3F-2C76-883B-FE83-C5A214F8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9D1A0D8-2A4D-7CDE-50BE-B8A70994C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Why is Sampling Distribution Important In Statistics?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E095E7D-9FF5-F21F-1912-02E2DFBF61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829935"/>
              </p:ext>
            </p:extLst>
          </p:nvPr>
        </p:nvGraphicFramePr>
        <p:xfrm>
          <a:off x="838200" y="2675414"/>
          <a:ext cx="10515600" cy="2651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883335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33554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Importance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577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 &amp; Reliability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Helps measure how close a sample statistic is to the population 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439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Inference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Basis for hypothesis testing, confidence intervals, regression,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03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Decision Making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Enables prediction about a population using limited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44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Error Measurement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Helps estimate sampling error and margin of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878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19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5C66-E3E4-5AAA-F4FC-C2A641EDE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9252F54-2607-9C4C-EA0B-0730A25B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Why is Sampling Distribution Important In Statistics?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98BC56-45E7-126A-1588-600453983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Example:</a:t>
            </a:r>
          </a:p>
          <a:p>
            <a:pPr>
              <a:buNone/>
            </a:pPr>
            <a:r>
              <a:rPr lang="en-US" dirty="0"/>
              <a:t>Let’s say you want to know the </a:t>
            </a:r>
            <a:r>
              <a:rPr lang="en-US" b="1" dirty="0"/>
              <a:t>average height of students</a:t>
            </a:r>
            <a:r>
              <a:rPr lang="en-US" dirty="0"/>
              <a:t> in a college with 10,000 students.</a:t>
            </a:r>
          </a:p>
          <a:p>
            <a:r>
              <a:rPr lang="en-US" dirty="0"/>
              <a:t>You take </a:t>
            </a:r>
            <a:r>
              <a:rPr lang="en-US" b="1" dirty="0"/>
              <a:t>100 random samples</a:t>
            </a:r>
            <a:r>
              <a:rPr lang="en-US" dirty="0"/>
              <a:t> of 50 students each.</a:t>
            </a:r>
          </a:p>
          <a:p>
            <a:r>
              <a:rPr lang="en-US" dirty="0"/>
              <a:t>For each sample, compute the </a:t>
            </a:r>
            <a:r>
              <a:rPr lang="en-US" b="1" dirty="0"/>
              <a:t>mean height</a:t>
            </a:r>
            <a:r>
              <a:rPr lang="en-US" dirty="0"/>
              <a:t>.</a:t>
            </a:r>
          </a:p>
          <a:p>
            <a:r>
              <a:rPr lang="en-US" dirty="0"/>
              <a:t>Plot those means → this gives you the </a:t>
            </a:r>
            <a:r>
              <a:rPr lang="en-US" b="1" dirty="0"/>
              <a:t>sampling distribution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mean of sampling distribution</a:t>
            </a:r>
            <a:r>
              <a:rPr lang="en-US" dirty="0"/>
              <a:t> ≈ true population mean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spread (standard error)</a:t>
            </a:r>
            <a:r>
              <a:rPr lang="en-US" dirty="0"/>
              <a:t> tells how much your sample means vary.</a:t>
            </a:r>
          </a:p>
        </p:txBody>
      </p:sp>
    </p:spTree>
    <p:extLst>
      <p:ext uri="{BB962C8B-B14F-4D97-AF65-F5344CB8AC3E}">
        <p14:creationId xmlns:p14="http://schemas.microsoft.com/office/powerpoint/2010/main" val="378997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EAB2-6138-4653-CA4C-F44C5533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2973DEF-ED33-4B9E-55CC-788CB6DE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6E20D1-43D7-CADA-627A-EE163C990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86648"/>
              </p:ext>
            </p:extLst>
          </p:nvPr>
        </p:nvGraphicFramePr>
        <p:xfrm>
          <a:off x="838200" y="2583974"/>
          <a:ext cx="10515600" cy="2834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338806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93170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85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Population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Entire group of interest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84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Subset of population used for study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143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Sampling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Process of selecting a sample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19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Sampling Method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How you select the sample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70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Sampling Distribution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Distribution of a sample statistic over many samples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8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Central Limit Theorem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Sampling distribution of mean becomes normal as sample size grows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270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16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178</TotalTime>
  <Words>366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Sampling Distribution</vt:lpstr>
      <vt:lpstr>What is a Sampling Distribution?</vt:lpstr>
      <vt:lpstr>Why is Sampling Distribution Important?</vt:lpstr>
      <vt:lpstr>Why is Sampling Distribution Important In Statistics?</vt:lpstr>
      <vt:lpstr>Why is Sampling Distribution Important In Statistics?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43</cp:revision>
  <dcterms:created xsi:type="dcterms:W3CDTF">2025-09-22T02:44:38Z</dcterms:created>
  <dcterms:modified xsi:type="dcterms:W3CDTF">2025-10-20T03:29:21Z</dcterms:modified>
</cp:coreProperties>
</file>