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59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CD88-3042-BB4B-6844-813CA0FE8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49E9D-1843-1C22-C20F-8F0D82982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80F09-D694-946F-C75A-25EA2802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052BC-E88D-771F-CB41-68BEBE85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1125F-FFDB-09BB-0FEC-0A327D19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2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C66E-9BCF-7C2A-E485-9A7DFEE9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47C3-D6B8-28B8-1365-DE13716A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D99F-6245-C1C2-41E6-0B5EF6B4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E60B6-1870-8B04-0C4E-61CF4633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66F90-5BFA-9DF8-CCF1-86DB5E0B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87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D492-967C-0B50-275D-9A1F1BAD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12FCD-C1FA-6876-FDCD-25E7D3157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EFF6A-5EE4-AF23-EF72-92054A3A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1BB14-D169-6591-BC3A-E81DA34A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6256-1D7E-6DA7-BB75-84FE3FBC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3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D90B-105F-4B75-1C99-60C0BAA9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838F-8C52-5340-2EDA-DA8A7CC30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33361-4016-CA00-3300-A5A862BC0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B1E9B-ED44-B43B-AA9C-12873A7D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9E6F-EA8F-7622-6304-8C611109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B148-6751-226C-BC0C-E116E8EB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0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3F12-25C7-6CDD-4FCF-9500FB75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2AE2-EB26-A234-4584-9C214655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289EA-BE66-94E1-424F-18E2A49D0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792CAD-BBC6-D6C7-89EE-A3114A730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D18CF-B815-B57F-5D64-68E31A4F2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26D7E-4B90-2BC7-FBE2-231CE6C9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C2501-D044-C19D-651D-B754C7F6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AD23E-CE51-1811-6FAF-13CA972F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7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B283-059A-01C9-45E2-83EF192F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3A7C7-44DD-E0E2-67F3-9157D467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98CBD-6A0A-DCC8-38DA-4D556C2F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AAD1B-B6B4-CAEF-F329-0067C327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83A09-9F10-6DE3-9AC7-B09FCFD3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A71AD-8993-107D-0DE3-4CBD1224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CCEBC-28AF-F898-0859-52E0EB06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8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D7C4-D4F4-BC79-C404-94E23D4A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B70B1-067D-E961-C74D-0113456C1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E1257-C91D-654E-5FCB-233C7A814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656B6-E96F-2F74-2E42-FA1BA5B5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D3F16-DC21-47AA-279F-73B86A0E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DCF5E-9912-7DC0-8A45-1DF4FD50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4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B56D-976A-C613-53C4-567C059E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58457-C3FA-90C2-E68E-6904385D6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0EE58-D72C-E9D6-7F5B-37EAC4B62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60ED9-9425-3B47-D13F-A9C9A14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C61CB-FB1E-EE1B-E08F-17D853C4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EBE87-17B1-05EA-7EB8-DE96E757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3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CB64-DDEF-B175-2E1B-5206407C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2D5A9-CCCD-8B98-52FD-8FA790EED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481A5-3CDE-9759-06EC-2EEBE840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B41DB-CAF9-DF20-1364-C49ED899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46721-B161-A5FD-0656-297F9FA5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9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CB300-DF38-9A1C-83F8-EBABBFDE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1D047-184E-7392-94DB-0992FE6DA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3546-E7A4-1558-8F54-BB127645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1BBE5-2940-856F-7F72-FB28F21C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6D40-2EDE-CD5D-4D4C-C4F1420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2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CE987-C6FC-8542-D92C-248579BB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21054-65A4-9A77-3371-E54FDFDF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B105E-9BFA-1DEB-1B1D-3954FA6D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74122-62CD-462B-8CE1-0BD31240C0B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940C-1741-5953-2D97-886FFDFAA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8A86-9923-6A7C-FEFB-F2E848EE5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47BD-8573-49C5-9447-2F8094276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8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CA9D-9D74-6E10-9E08-A4F1FA90E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Chi Square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E97B4-5908-F98B-3FF2-D7619FEF0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2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4F9353-F69D-B159-F1CE-3DE7EA98688C}"/>
              </a:ext>
            </a:extLst>
          </p:cNvPr>
          <p:cNvSpPr txBox="1"/>
          <p:nvPr/>
        </p:nvSpPr>
        <p:spPr>
          <a:xfrm>
            <a:off x="157734" y="562463"/>
            <a:ext cx="5209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the Chi-Square Test?</a:t>
            </a:r>
          </a:p>
          <a:p>
            <a:r>
              <a:rPr lang="en-US" dirty="0"/>
              <a:t>The </a:t>
            </a:r>
            <a:r>
              <a:rPr lang="en-US" b="1" dirty="0"/>
              <a:t>Chi-Square Test</a:t>
            </a:r>
            <a:r>
              <a:rPr lang="en-US" dirty="0"/>
              <a:t> is a </a:t>
            </a:r>
            <a:r>
              <a:rPr lang="en-US" b="1" dirty="0"/>
              <a:t>statistical test</a:t>
            </a:r>
            <a:r>
              <a:rPr lang="en-US" dirty="0"/>
              <a:t> used to examine the </a:t>
            </a:r>
            <a:r>
              <a:rPr lang="en-US" b="1" dirty="0"/>
              <a:t>relationship between categorical variables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4AC6E-9494-2422-73E2-E1B222CE13C8}"/>
              </a:ext>
            </a:extLst>
          </p:cNvPr>
          <p:cNvSpPr txBox="1"/>
          <p:nvPr/>
        </p:nvSpPr>
        <p:spPr>
          <a:xfrm>
            <a:off x="285750" y="2444556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type of variables is it used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Categorical variables only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are variables that represent </a:t>
            </a:r>
            <a:r>
              <a:rPr lang="en-US" b="1" dirty="0"/>
              <a:t>groups or categories</a:t>
            </a:r>
            <a:r>
              <a:rPr lang="en-US" dirty="0"/>
              <a:t>, </a:t>
            </a:r>
            <a:r>
              <a:rPr lang="en-US" b="1" dirty="0"/>
              <a:t>not numbers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Gender: Male, Female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Blood Type: A, B, AB, O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Favorite Color: Red, Blue, Green</a:t>
            </a:r>
          </a:p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use it directly for continuous variables like height, weight, or temperature unless you first </a:t>
            </a:r>
            <a:r>
              <a:rPr lang="en-US" b="1" dirty="0"/>
              <a:t>convert them into categories</a:t>
            </a:r>
            <a:r>
              <a:rPr lang="en-US" dirty="0"/>
              <a:t> (e.g., "short", "tall").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71D6CB-942C-145B-FB75-51FBFAC6EC89}"/>
              </a:ext>
            </a:extLst>
          </p:cNvPr>
          <p:cNvCxnSpPr/>
          <p:nvPr/>
        </p:nvCxnSpPr>
        <p:spPr>
          <a:xfrm>
            <a:off x="6096000" y="365760"/>
            <a:ext cx="0" cy="6089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C302653-BC9F-A4C8-A9A6-479051C97490}"/>
              </a:ext>
            </a:extLst>
          </p:cNvPr>
          <p:cNvSpPr txBox="1"/>
          <p:nvPr/>
        </p:nvSpPr>
        <p:spPr>
          <a:xfrm>
            <a:off x="6437376" y="780348"/>
            <a:ext cx="547496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do we need it?</a:t>
            </a:r>
          </a:p>
          <a:p>
            <a:pPr>
              <a:buNone/>
            </a:pPr>
            <a:r>
              <a:rPr lang="en-US" dirty="0"/>
              <a:t>We use the Chi-Square test to </a:t>
            </a:r>
            <a:r>
              <a:rPr lang="en-US" b="1" dirty="0"/>
              <a:t>answer questions like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there an association between </a:t>
            </a:r>
            <a:r>
              <a:rPr lang="en-US" b="1" dirty="0"/>
              <a:t>gender</a:t>
            </a:r>
            <a:r>
              <a:rPr lang="en-US" dirty="0"/>
              <a:t> and </a:t>
            </a:r>
            <a:r>
              <a:rPr lang="en-US" b="1" dirty="0"/>
              <a:t>voting preference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smoking status</a:t>
            </a:r>
            <a:r>
              <a:rPr lang="en-US" dirty="0"/>
              <a:t> affect whether someone gets </a:t>
            </a:r>
            <a:r>
              <a:rPr lang="en-US" b="1" dirty="0"/>
              <a:t>lung disease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people from different </a:t>
            </a:r>
            <a:r>
              <a:rPr lang="en-US" b="1" dirty="0"/>
              <a:t>cities</a:t>
            </a:r>
            <a:r>
              <a:rPr lang="en-US" dirty="0"/>
              <a:t> equally likely to prefer a particular </a:t>
            </a:r>
            <a:r>
              <a:rPr lang="en-US" b="1" dirty="0"/>
              <a:t>brand</a:t>
            </a:r>
            <a:r>
              <a:rPr lang="en-US" dirty="0"/>
              <a:t>?</a:t>
            </a:r>
          </a:p>
          <a:p>
            <a:r>
              <a:rPr lang="en-US" dirty="0"/>
              <a:t>In short, it's about checking whether </a:t>
            </a:r>
            <a:r>
              <a:rPr lang="en-US" b="1" dirty="0"/>
              <a:t>observed differences between groups are statistically significant</a:t>
            </a:r>
            <a:r>
              <a:rPr lang="en-US" dirty="0"/>
              <a:t> or could have happened just by </a:t>
            </a:r>
            <a:r>
              <a:rPr lang="en-US" b="1" dirty="0"/>
              <a:t>chance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314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FB887-DC6E-53A5-9ED5-0BF02BDEC54B}"/>
              </a:ext>
            </a:extLst>
          </p:cNvPr>
          <p:cNvSpPr txBox="1"/>
          <p:nvPr/>
        </p:nvSpPr>
        <p:spPr>
          <a:xfrm>
            <a:off x="349758" y="380691"/>
            <a:ext cx="6323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Chi-Square Tests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Chi-Square Test of Independence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Tests if </a:t>
            </a:r>
            <a:r>
              <a:rPr lang="en-US" b="1" dirty="0"/>
              <a:t>two categorical variables are related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Is there a relationship between </a:t>
            </a:r>
            <a:r>
              <a:rPr lang="en-US" b="1" dirty="0"/>
              <a:t>education level</a:t>
            </a:r>
            <a:r>
              <a:rPr lang="en-US" dirty="0"/>
              <a:t> and </a:t>
            </a:r>
            <a:r>
              <a:rPr lang="en-US" b="1" dirty="0"/>
              <a:t>job type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Chi-Square Goodness-of-Fit Test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Tests if the </a:t>
            </a:r>
            <a:r>
              <a:rPr lang="en-US" b="1" dirty="0"/>
              <a:t>observed distribution</a:t>
            </a:r>
            <a:r>
              <a:rPr lang="en-US" dirty="0"/>
              <a:t> of a single categorical variable matches an </a:t>
            </a:r>
            <a:r>
              <a:rPr lang="en-US" b="1" dirty="0"/>
              <a:t>expected distribution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Is a die </a:t>
            </a:r>
            <a:r>
              <a:rPr lang="en-US" b="1" dirty="0"/>
              <a:t>fair</a:t>
            </a:r>
            <a:r>
              <a:rPr lang="en-US" dirty="0"/>
              <a:t> (i.e., all numbers appear equally)?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56D3D-EF68-9A14-48C6-3C8291B9901E}"/>
              </a:ext>
            </a:extLst>
          </p:cNvPr>
          <p:cNvSpPr txBox="1"/>
          <p:nvPr/>
        </p:nvSpPr>
        <p:spPr>
          <a:xfrm>
            <a:off x="240030" y="3566589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does the Chi-Square Test work?</a:t>
            </a:r>
          </a:p>
          <a:p>
            <a:pPr>
              <a:buNone/>
            </a:pPr>
            <a:r>
              <a:rPr lang="en-US" dirty="0"/>
              <a:t>Here’s the basic idea: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Observe data</a:t>
            </a:r>
            <a:r>
              <a:rPr lang="en-US" dirty="0"/>
              <a:t> (what actually happened).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Calculate expected data</a:t>
            </a:r>
            <a:r>
              <a:rPr lang="en-US" dirty="0"/>
              <a:t> (what you would expect if there was </a:t>
            </a:r>
            <a:r>
              <a:rPr lang="en-US" b="1" dirty="0"/>
              <a:t>no relationship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</a:t>
            </a:r>
            <a:r>
              <a:rPr lang="en-US" b="1" dirty="0"/>
              <a:t>observed</a:t>
            </a:r>
            <a:r>
              <a:rPr lang="en-US" dirty="0"/>
              <a:t> vs </a:t>
            </a:r>
            <a:r>
              <a:rPr lang="en-US" b="1" dirty="0"/>
              <a:t>expected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a statistic called </a:t>
            </a:r>
            <a:r>
              <a:rPr lang="en-US" b="1" dirty="0"/>
              <a:t>Chi-Square (χ²)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the chi-square value is </a:t>
            </a:r>
            <a:r>
              <a:rPr lang="en-US" b="1" dirty="0"/>
              <a:t>large</a:t>
            </a:r>
            <a:r>
              <a:rPr lang="en-US" dirty="0"/>
              <a:t>, it suggests there’s a </a:t>
            </a:r>
            <a:r>
              <a:rPr lang="en-US" b="1" dirty="0"/>
              <a:t>significant difference</a:t>
            </a:r>
            <a:r>
              <a:rPr lang="en-US" dirty="0"/>
              <a:t> between observed and expected values — i.e., something </a:t>
            </a:r>
            <a:r>
              <a:rPr lang="en-US" b="1" dirty="0"/>
              <a:t>is going on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1272E-5F5D-6B8A-08C1-21F9D4242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266" y="4572000"/>
            <a:ext cx="2359105" cy="74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CC38-1A25-6777-DAE7-80CFC4B8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1) TEST FOR INDEPENDENCE</a:t>
            </a:r>
          </a:p>
        </p:txBody>
      </p:sp>
    </p:spTree>
    <p:extLst>
      <p:ext uri="{BB962C8B-B14F-4D97-AF65-F5344CB8AC3E}">
        <p14:creationId xmlns:p14="http://schemas.microsoft.com/office/powerpoint/2010/main" val="213644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9CD8EC-DE37-7CAA-5C11-D8C3842F1F56}"/>
              </a:ext>
            </a:extLst>
          </p:cNvPr>
          <p:cNvSpPr txBox="1"/>
          <p:nvPr/>
        </p:nvSpPr>
        <p:spPr>
          <a:xfrm>
            <a:off x="249174" y="473702"/>
            <a:ext cx="452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Steps for Chi-Square Test of Independence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A3D20-D7EE-3C33-6050-3805EBCA04F5}"/>
              </a:ext>
            </a:extLst>
          </p:cNvPr>
          <p:cNvSpPr txBox="1"/>
          <p:nvPr/>
        </p:nvSpPr>
        <p:spPr>
          <a:xfrm>
            <a:off x="148590" y="1369814"/>
            <a:ext cx="629793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 Set Up the Hypotheses</a:t>
            </a:r>
          </a:p>
          <a:p>
            <a:r>
              <a:rPr lang="en-US" sz="1600" b="1" dirty="0"/>
              <a:t>Null Hypothesis (H₀)</a:t>
            </a:r>
            <a:r>
              <a:rPr lang="en-US" sz="1600" dirty="0"/>
              <a:t>: The variables are independent (no relationship).</a:t>
            </a:r>
          </a:p>
          <a:p>
            <a:r>
              <a:rPr lang="en-US" sz="1600" b="1" dirty="0"/>
              <a:t>Alternative Hypothesis (H₁)</a:t>
            </a:r>
            <a:r>
              <a:rPr lang="en-US" sz="1600" dirty="0"/>
              <a:t>: The variables are associated (some relationship).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990A2-2E73-F7EB-AC81-ACF44111B420}"/>
              </a:ext>
            </a:extLst>
          </p:cNvPr>
          <p:cNvSpPr txBox="1"/>
          <p:nvPr/>
        </p:nvSpPr>
        <p:spPr>
          <a:xfrm>
            <a:off x="212598" y="2551837"/>
            <a:ext cx="512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2) Calculate the Expected Counts E for each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503C7C-6640-031C-D02D-3DE6E8BD3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834" y="3322091"/>
            <a:ext cx="2819794" cy="543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70BBE7-FBD1-D6DE-9F28-2001BB153DDB}"/>
              </a:ext>
            </a:extLst>
          </p:cNvPr>
          <p:cNvSpPr txBox="1"/>
          <p:nvPr/>
        </p:nvSpPr>
        <p:spPr>
          <a:xfrm>
            <a:off x="240030" y="4323326"/>
            <a:ext cx="4679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3) Compute the Chi-Square Statistic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6DA99C-C7F4-F628-EE05-22D8F8A7E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8" y="5012907"/>
            <a:ext cx="2420416" cy="7566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043180-F5DA-2CF4-0739-6C4B5A22B6F2}"/>
              </a:ext>
            </a:extLst>
          </p:cNvPr>
          <p:cNvSpPr txBox="1"/>
          <p:nvPr/>
        </p:nvSpPr>
        <p:spPr>
          <a:xfrm>
            <a:off x="236982" y="5905153"/>
            <a:ext cx="4197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up all values for all cells.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D9B8FC-787E-8D06-0D85-838326309276}"/>
              </a:ext>
            </a:extLst>
          </p:cNvPr>
          <p:cNvCxnSpPr/>
          <p:nvPr/>
        </p:nvCxnSpPr>
        <p:spPr>
          <a:xfrm>
            <a:off x="6254496" y="310896"/>
            <a:ext cx="0" cy="6291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9B7CF35-2863-85ED-2858-19FB49A15A3F}"/>
              </a:ext>
            </a:extLst>
          </p:cNvPr>
          <p:cNvSpPr txBox="1"/>
          <p:nvPr/>
        </p:nvSpPr>
        <p:spPr>
          <a:xfrm>
            <a:off x="6470904" y="329184"/>
            <a:ext cx="5288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4. Calculate the Degrees of Freedom</a:t>
            </a:r>
          </a:p>
          <a:p>
            <a:pPr>
              <a:buNone/>
            </a:pPr>
            <a:r>
              <a:rPr lang="en-US" dirty="0" err="1"/>
              <a:t>D.f.</a:t>
            </a:r>
            <a:r>
              <a:rPr lang="en-US" dirty="0"/>
              <a:t> = (Number of Rows−1)×(Number of Columns−1)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EE7D6-4D52-A5B9-33F7-AD58423BDE04}"/>
              </a:ext>
            </a:extLst>
          </p:cNvPr>
          <p:cNvSpPr txBox="1"/>
          <p:nvPr/>
        </p:nvSpPr>
        <p:spPr>
          <a:xfrm>
            <a:off x="6467094" y="1181576"/>
            <a:ext cx="4999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5. Find the Critical Value or P-Value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Chi-Square distribution table</a:t>
            </a:r>
            <a:r>
              <a:rPr lang="en-US" dirty="0"/>
              <a:t> or software (Excel, Python, 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your χ² statistic with the </a:t>
            </a:r>
            <a:r>
              <a:rPr lang="en-US" b="1" dirty="0"/>
              <a:t>critical value</a:t>
            </a:r>
            <a:r>
              <a:rPr lang="en-US" dirty="0"/>
              <a:t> or find the </a:t>
            </a:r>
            <a:r>
              <a:rPr lang="en-US" b="1" dirty="0"/>
              <a:t>p-value</a:t>
            </a:r>
            <a:r>
              <a:rPr lang="en-US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D63C9E-8250-9A56-B1FF-3038426E9409}"/>
              </a:ext>
            </a:extLst>
          </p:cNvPr>
          <p:cNvSpPr txBox="1"/>
          <p:nvPr/>
        </p:nvSpPr>
        <p:spPr>
          <a:xfrm>
            <a:off x="6578346" y="2890080"/>
            <a:ext cx="49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6. Make a Decision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p-value &lt; 0.05</a:t>
            </a:r>
            <a:r>
              <a:rPr lang="en-US" dirty="0"/>
              <a:t> (common threshold for </a:t>
            </a:r>
            <a:r>
              <a:rPr lang="el-GR" dirty="0"/>
              <a:t>α</a:t>
            </a:r>
            <a:r>
              <a:rPr lang="en-US" dirty="0"/>
              <a:t>), </a:t>
            </a:r>
            <a:r>
              <a:rPr lang="en-US" b="1" dirty="0"/>
              <a:t>reject the null hypothesis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Otherwise, </a:t>
            </a:r>
            <a:r>
              <a:rPr lang="en-US" b="1" dirty="0"/>
              <a:t>fail to reject the null hypothesis</a:t>
            </a:r>
            <a:r>
              <a:rPr lang="en-US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000DBE-6B2F-6701-D46D-75052E12A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656" y="4199097"/>
            <a:ext cx="2691318" cy="12743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1A50F8-4BE7-DE57-BF00-F5D957AD4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821" y="4220749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7D76-6B28-433A-B9E3-9C85FF54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26797"/>
            <a:ext cx="7546848" cy="668147"/>
          </a:xfrm>
        </p:spPr>
        <p:txBody>
          <a:bodyPr>
            <a:noAutofit/>
          </a:bodyPr>
          <a:lstStyle/>
          <a:p>
            <a:r>
              <a:rPr lang="en-US" sz="2400" b="1" dirty="0"/>
              <a:t>How to find critical value using </a:t>
            </a:r>
            <a:r>
              <a:rPr lang="en-US" sz="2400" b="1" dirty="0" err="1"/>
              <a:t>d.f.</a:t>
            </a:r>
            <a:r>
              <a:rPr lang="en-US" sz="2400" b="1" dirty="0"/>
              <a:t> , </a:t>
            </a:r>
            <a:r>
              <a:rPr lang="el-GR" sz="2400" b="1" dirty="0"/>
              <a:t>α</a:t>
            </a:r>
            <a:r>
              <a:rPr lang="en-US" sz="2400" b="1" dirty="0"/>
              <a:t> and Chi square table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7473-E929-C2C6-937D-2E6090929A49}"/>
              </a:ext>
            </a:extLst>
          </p:cNvPr>
          <p:cNvSpPr txBox="1"/>
          <p:nvPr/>
        </p:nvSpPr>
        <p:spPr>
          <a:xfrm>
            <a:off x="420624" y="886968"/>
            <a:ext cx="4832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1400" dirty="0"/>
              <a:t>Given </a:t>
            </a:r>
            <a:r>
              <a:rPr lang="en-US" sz="1400" dirty="0" err="1"/>
              <a:t>d.f.</a:t>
            </a:r>
            <a:r>
              <a:rPr lang="en-US" sz="1400" dirty="0"/>
              <a:t> = 1 , </a:t>
            </a:r>
            <a:r>
              <a:rPr lang="el-GR" sz="1400" dirty="0"/>
              <a:t>α</a:t>
            </a:r>
            <a:r>
              <a:rPr lang="en-US" sz="1400" dirty="0"/>
              <a:t> = 0.05, find critical value. Answer: 3.841</a:t>
            </a:r>
          </a:p>
          <a:p>
            <a:pPr marL="342900" indent="-342900">
              <a:buFontTx/>
              <a:buAutoNum type="arabicParenR"/>
            </a:pPr>
            <a:r>
              <a:rPr lang="en-US" sz="1400" dirty="0"/>
              <a:t>Given </a:t>
            </a:r>
            <a:r>
              <a:rPr lang="en-US" sz="1400" dirty="0" err="1"/>
              <a:t>d.f.</a:t>
            </a:r>
            <a:r>
              <a:rPr lang="en-US" sz="1400" dirty="0"/>
              <a:t> = 4 , </a:t>
            </a:r>
            <a:r>
              <a:rPr lang="el-GR" sz="1400" dirty="0"/>
              <a:t>α</a:t>
            </a:r>
            <a:r>
              <a:rPr lang="en-US" sz="1400" dirty="0"/>
              <a:t> = 0.025, find critical value. Answer: 11.143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50588-EAF1-4CF0-4069-AE5E8DE0B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3" y="186840"/>
            <a:ext cx="3257474" cy="1542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5C44B-C832-FE3C-C81D-A718DCE89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1841210"/>
            <a:ext cx="5138614" cy="48725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B07DB6-85B8-88D3-108F-C678AFEC3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232" y="1723779"/>
            <a:ext cx="5138614" cy="51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7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DC39E-55A7-17A0-F3AB-059BE8C6D0DF}"/>
              </a:ext>
            </a:extLst>
          </p:cNvPr>
          <p:cNvSpPr txBox="1"/>
          <p:nvPr/>
        </p:nvSpPr>
        <p:spPr>
          <a:xfrm>
            <a:off x="213740" y="246519"/>
            <a:ext cx="56144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Example: Chi-Square Test of Independence(</a:t>
            </a:r>
            <a:r>
              <a:rPr lang="en-US" sz="1600" b="1" dirty="0"/>
              <a:t>see </a:t>
            </a:r>
            <a:r>
              <a:rPr lang="en-US" sz="1600" b="1" dirty="0" err="1"/>
              <a:t>jupyter</a:t>
            </a:r>
            <a:r>
              <a:rPr lang="en-US" sz="1600" b="1" dirty="0"/>
              <a:t> n/b and excel sheet</a:t>
            </a:r>
            <a:r>
              <a:rPr lang="en-US" sz="1600" dirty="0"/>
              <a:t>)</a:t>
            </a:r>
          </a:p>
          <a:p>
            <a:r>
              <a:rPr lang="en-US" sz="1600" b="1" dirty="0"/>
              <a:t>Question: </a:t>
            </a:r>
            <a:r>
              <a:rPr lang="en-US" sz="1600" dirty="0"/>
              <a:t>Following is the result of survey on whether male and female like certain product. At </a:t>
            </a:r>
            <a:r>
              <a:rPr lang="el-GR" sz="1600" dirty="0"/>
              <a:t>α</a:t>
            </a:r>
            <a:r>
              <a:rPr lang="en-US" sz="1600" dirty="0"/>
              <a:t> = 0.05, can it be concluded that the there is a </a:t>
            </a:r>
            <a:r>
              <a:rPr lang="en-US" sz="1600" b="1" dirty="0"/>
              <a:t>relationship between gender and  preference for a product</a:t>
            </a:r>
            <a:r>
              <a:rPr lang="en-US" sz="1600" dirty="0"/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6EBF04-5DE9-34A9-1399-C33963760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62653"/>
              </p:ext>
            </p:extLst>
          </p:nvPr>
        </p:nvGraphicFramePr>
        <p:xfrm>
          <a:off x="326136" y="1951030"/>
          <a:ext cx="5257800" cy="14325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Total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4ED084-74C4-CB33-07AD-AC91D8CB0DC4}"/>
              </a:ext>
            </a:extLst>
          </p:cNvPr>
          <p:cNvSpPr txBox="1"/>
          <p:nvPr/>
        </p:nvSpPr>
        <p:spPr>
          <a:xfrm>
            <a:off x="249174" y="3732752"/>
            <a:ext cx="5614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Solution: 1)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Null Hypothesis (H₀):</a:t>
            </a:r>
            <a:r>
              <a:rPr lang="en-US" sz="1400" dirty="0"/>
              <a:t> Gender and preference are </a:t>
            </a:r>
            <a:r>
              <a:rPr lang="en-US" sz="1400" b="1" dirty="0"/>
              <a:t>independent</a:t>
            </a:r>
            <a:r>
              <a:rPr lang="en-US" sz="1400" dirty="0"/>
              <a:t> (no relationship).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Alternative Hypothesis (H₁):</a:t>
            </a:r>
            <a:r>
              <a:rPr lang="en-US" sz="1400" dirty="0"/>
              <a:t> There </a:t>
            </a:r>
            <a:r>
              <a:rPr lang="en-US" sz="1400" b="1" dirty="0"/>
              <a:t>is a relationship</a:t>
            </a:r>
            <a:r>
              <a:rPr lang="en-US" sz="1400" dirty="0"/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AE84A7-75FF-52AC-DD45-9B3AE3B880CC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32B6C6-6D79-282A-B244-B3C41B58CF1E}"/>
              </a:ext>
            </a:extLst>
          </p:cNvPr>
          <p:cNvSpPr txBox="1"/>
          <p:nvPr/>
        </p:nvSpPr>
        <p:spPr>
          <a:xfrm>
            <a:off x="158649" y="5162918"/>
            <a:ext cx="474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2. Calculate Expected Counts</a:t>
            </a:r>
          </a:p>
          <a:p>
            <a:r>
              <a:rPr lang="en-US" sz="1400" dirty="0"/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C9AA22-9109-7478-291D-24586F456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6" y="6028715"/>
            <a:ext cx="2819794" cy="54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DA1F3A-3115-8C82-74BE-BC15B357A8E6}"/>
              </a:ext>
            </a:extLst>
          </p:cNvPr>
          <p:cNvSpPr txBox="1"/>
          <p:nvPr/>
        </p:nvSpPr>
        <p:spPr>
          <a:xfrm>
            <a:off x="6393942" y="182880"/>
            <a:ext cx="563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example, expected count for male and like: e = (50*40)/100 = 20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59D3ED-13C2-F7D1-F711-0387B85CE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788234"/>
              </p:ext>
            </p:extLst>
          </p:nvPr>
        </p:nvGraphicFramePr>
        <p:xfrm>
          <a:off x="6499098" y="594764"/>
          <a:ext cx="4130040" cy="91440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1FE1F04-560A-278E-5867-752BDD0CFA9B}"/>
              </a:ext>
            </a:extLst>
          </p:cNvPr>
          <p:cNvSpPr txBox="1"/>
          <p:nvPr/>
        </p:nvSpPr>
        <p:spPr>
          <a:xfrm>
            <a:off x="6159733" y="1745467"/>
            <a:ext cx="271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3. Calculate Chi using the formula: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43A22B-634E-62CC-C978-039D19567D59}"/>
                  </a:ext>
                </a:extLst>
              </p:cNvPr>
              <p:cNvSpPr txBox="1"/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Chi square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200" i="0"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12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r>
                  <a:rPr lang="en-US" sz="1200" dirty="0"/>
                  <a:t>= 16.66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43A22B-634E-62CC-C978-039D1956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DBD8FD8-EB84-B56B-B54B-4F86410EB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035" y="2127045"/>
            <a:ext cx="2385133" cy="756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7540FC-BF2B-E9DD-B29F-D27CAE39F39A}"/>
              </a:ext>
            </a:extLst>
          </p:cNvPr>
          <p:cNvSpPr txBox="1"/>
          <p:nvPr/>
        </p:nvSpPr>
        <p:spPr>
          <a:xfrm>
            <a:off x="6133926" y="3948416"/>
            <a:ext cx="5752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5. At </a:t>
            </a:r>
            <a:r>
              <a:rPr lang="el-GR" sz="1400" dirty="0"/>
              <a:t>α</a:t>
            </a:r>
            <a:r>
              <a:rPr lang="en-US" sz="1400" dirty="0"/>
              <a:t> = 0.05 , with </a:t>
            </a:r>
            <a:r>
              <a:rPr lang="en-US" sz="1400" dirty="0" err="1"/>
              <a:t>d.f</a:t>
            </a:r>
            <a:r>
              <a:rPr lang="en-US" sz="1400" dirty="0"/>
              <a:t> = (2-1)(2-1) = 1, using the table we find the critical value 3.841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8BE86-CBBE-F184-C36A-798A8DBE50E9}"/>
              </a:ext>
            </a:extLst>
          </p:cNvPr>
          <p:cNvSpPr txBox="1"/>
          <p:nvPr/>
        </p:nvSpPr>
        <p:spPr>
          <a:xfrm>
            <a:off x="6126069" y="3446125"/>
            <a:ext cx="512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4. </a:t>
            </a:r>
            <a:r>
              <a:rPr lang="en-US" sz="1400" dirty="0" err="1"/>
              <a:t>d.f</a:t>
            </a:r>
            <a:r>
              <a:rPr lang="en-US" sz="1400" dirty="0"/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A1CE-E73B-D676-845D-E806BE9609BF}"/>
              </a:ext>
            </a:extLst>
          </p:cNvPr>
          <p:cNvSpPr txBox="1"/>
          <p:nvPr/>
        </p:nvSpPr>
        <p:spPr>
          <a:xfrm>
            <a:off x="6190489" y="5736966"/>
            <a:ext cx="5904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6. Since 3.841 &lt; 16.66, so we reject the null hypothesis.</a:t>
            </a:r>
          </a:p>
          <a:p>
            <a:r>
              <a:rPr lang="en-US" sz="1400" dirty="0"/>
              <a:t>There </a:t>
            </a:r>
            <a:r>
              <a:rPr lang="en-US" sz="1400" b="1" dirty="0"/>
              <a:t>is a statistically significant relationship</a:t>
            </a:r>
            <a:r>
              <a:rPr lang="en-US" sz="1400" dirty="0"/>
              <a:t> between gender and product preference.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FF110-44BB-55E2-B835-7F1FC6D5D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296" y="4446075"/>
            <a:ext cx="2540767" cy="120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91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62B0-2A77-C4F3-199F-88E0C37E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9CB12-53C4-D247-1465-8402E71195ED}"/>
              </a:ext>
            </a:extLst>
          </p:cNvPr>
          <p:cNvSpPr txBox="1"/>
          <p:nvPr/>
        </p:nvSpPr>
        <p:spPr>
          <a:xfrm>
            <a:off x="213740" y="246519"/>
            <a:ext cx="56144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Now we redo the previous question, but use P-value.</a:t>
            </a:r>
          </a:p>
          <a:p>
            <a:r>
              <a:rPr lang="en-US" sz="1600" b="1" dirty="0"/>
              <a:t>Question: </a:t>
            </a:r>
            <a:r>
              <a:rPr lang="en-US" sz="1600" dirty="0"/>
              <a:t>Following is the result of survey on whether male and female like certain product. At </a:t>
            </a:r>
            <a:r>
              <a:rPr lang="el-GR" sz="1600" dirty="0"/>
              <a:t>α</a:t>
            </a:r>
            <a:r>
              <a:rPr lang="en-US" sz="1600" dirty="0"/>
              <a:t> = 0.05, can it be concluded that the there is a </a:t>
            </a:r>
            <a:r>
              <a:rPr lang="en-US" sz="1600" b="1" dirty="0"/>
              <a:t>relationship between gender and  preference for a product</a:t>
            </a:r>
            <a:r>
              <a:rPr lang="en-US" sz="1600" dirty="0"/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D57345-D039-64B0-AF9D-AEDCC6F8225E}"/>
              </a:ext>
            </a:extLst>
          </p:cNvPr>
          <p:cNvGraphicFramePr>
            <a:graphicFrameLocks noGrp="1"/>
          </p:cNvGraphicFramePr>
          <p:nvPr/>
        </p:nvGraphicFramePr>
        <p:xfrm>
          <a:off x="326136" y="1951030"/>
          <a:ext cx="5257800" cy="14325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Total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02C114-70AC-D46B-B9C0-93BF6A8E4490}"/>
              </a:ext>
            </a:extLst>
          </p:cNvPr>
          <p:cNvSpPr txBox="1"/>
          <p:nvPr/>
        </p:nvSpPr>
        <p:spPr>
          <a:xfrm>
            <a:off x="249174" y="3732752"/>
            <a:ext cx="5614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Solution: 1)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Null Hypothesis (H₀):</a:t>
            </a:r>
            <a:r>
              <a:rPr lang="en-US" sz="1400" dirty="0"/>
              <a:t> Gender and preference are </a:t>
            </a:r>
            <a:r>
              <a:rPr lang="en-US" sz="1400" b="1" dirty="0"/>
              <a:t>independent</a:t>
            </a:r>
            <a:r>
              <a:rPr lang="en-US" sz="1400" dirty="0"/>
              <a:t> (no relationship).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Alternative Hypothesis (H₁):</a:t>
            </a:r>
            <a:r>
              <a:rPr lang="en-US" sz="1400" dirty="0"/>
              <a:t> There </a:t>
            </a:r>
            <a:r>
              <a:rPr lang="en-US" sz="1400" b="1" dirty="0"/>
              <a:t>is a relationship</a:t>
            </a:r>
            <a:r>
              <a:rPr lang="en-US" sz="1400" dirty="0"/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C146F6-C0B8-21B3-2B56-87DF52C3B5FE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C8C47A-824C-DCE2-42D8-351584751491}"/>
              </a:ext>
            </a:extLst>
          </p:cNvPr>
          <p:cNvSpPr txBox="1"/>
          <p:nvPr/>
        </p:nvSpPr>
        <p:spPr>
          <a:xfrm>
            <a:off x="158649" y="5162918"/>
            <a:ext cx="474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2. Calculate Expected Counts</a:t>
            </a:r>
          </a:p>
          <a:p>
            <a:r>
              <a:rPr lang="en-US" sz="1400" dirty="0"/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B59624-A070-69B6-0E3D-A7C3780B5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6" y="6028715"/>
            <a:ext cx="2819794" cy="54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66D054-8CB5-53E0-3673-8AC680AAC5BE}"/>
              </a:ext>
            </a:extLst>
          </p:cNvPr>
          <p:cNvSpPr txBox="1"/>
          <p:nvPr/>
        </p:nvSpPr>
        <p:spPr>
          <a:xfrm>
            <a:off x="6393942" y="182880"/>
            <a:ext cx="5630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example, expected count for male and like: e = (50*40)/100 = 20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D9B849-1B54-278B-BDD4-A98929DC7467}"/>
              </a:ext>
            </a:extLst>
          </p:cNvPr>
          <p:cNvGraphicFramePr>
            <a:graphicFrameLocks noGrp="1"/>
          </p:cNvGraphicFramePr>
          <p:nvPr/>
        </p:nvGraphicFramePr>
        <p:xfrm>
          <a:off x="6499098" y="594764"/>
          <a:ext cx="4130040" cy="91440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8F6C51D-9CF4-3027-CA04-3528AFDCEE76}"/>
              </a:ext>
            </a:extLst>
          </p:cNvPr>
          <p:cNvSpPr txBox="1"/>
          <p:nvPr/>
        </p:nvSpPr>
        <p:spPr>
          <a:xfrm>
            <a:off x="6159733" y="1745467"/>
            <a:ext cx="271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3. Calculate Chi using the formula: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01E49-9FEC-6A21-1B4F-79AC9CC28E88}"/>
                  </a:ext>
                </a:extLst>
              </p:cNvPr>
              <p:cNvSpPr txBox="1"/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Chi square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200" i="0"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12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r>
                  <a:rPr lang="en-US" sz="1200" dirty="0"/>
                  <a:t>= 16.66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01E49-9FEC-6A21-1B4F-79AC9CC28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70" y="2910796"/>
                <a:ext cx="5735567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0DC4913-BC82-13E6-AECC-85F9FD3C7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035" y="2127045"/>
            <a:ext cx="2385133" cy="756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3A8933-805E-DBF3-2F9D-1F81889BFB88}"/>
              </a:ext>
            </a:extLst>
          </p:cNvPr>
          <p:cNvSpPr txBox="1"/>
          <p:nvPr/>
        </p:nvSpPr>
        <p:spPr>
          <a:xfrm>
            <a:off x="6133926" y="3948416"/>
            <a:ext cx="5752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5. At chi square=16.66, with </a:t>
            </a:r>
            <a:r>
              <a:rPr lang="en-US" sz="1400" dirty="0" err="1"/>
              <a:t>d.f</a:t>
            </a:r>
            <a:r>
              <a:rPr lang="en-US" sz="1400" dirty="0"/>
              <a:t> = (2-1)(2-1) = 1, using table we find P-value = .000045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63B3E-7268-CB42-1B38-EB4A00BE9BF8}"/>
              </a:ext>
            </a:extLst>
          </p:cNvPr>
          <p:cNvSpPr txBox="1"/>
          <p:nvPr/>
        </p:nvSpPr>
        <p:spPr>
          <a:xfrm>
            <a:off x="6126069" y="3446125"/>
            <a:ext cx="512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4. </a:t>
            </a:r>
            <a:r>
              <a:rPr lang="en-US" sz="1400" dirty="0" err="1"/>
              <a:t>d.f</a:t>
            </a:r>
            <a:r>
              <a:rPr lang="en-US" sz="1400" dirty="0"/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09C45-092B-DBB0-02D8-CF6A316C0DA0}"/>
              </a:ext>
            </a:extLst>
          </p:cNvPr>
          <p:cNvSpPr txBox="1"/>
          <p:nvPr/>
        </p:nvSpPr>
        <p:spPr>
          <a:xfrm>
            <a:off x="6190489" y="5736966"/>
            <a:ext cx="5904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6. Since 0.000045 &lt; 0.05 , so we reject the null hypothesis.</a:t>
            </a:r>
          </a:p>
          <a:p>
            <a:r>
              <a:rPr lang="en-US" sz="1400" dirty="0"/>
              <a:t>There </a:t>
            </a:r>
            <a:r>
              <a:rPr lang="en-US" sz="1400" b="1" dirty="0"/>
              <a:t>is a statistically significant relationship</a:t>
            </a:r>
            <a:r>
              <a:rPr lang="en-US" sz="1400" dirty="0"/>
              <a:t> between gender and product preference.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118A50-E0B5-B3AC-F5A5-91882B59D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835" y="4317527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3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DBD35B-E1C2-F2B7-A986-F322DEACC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249" y="117507"/>
            <a:ext cx="6096638" cy="64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4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62EB-11D7-F828-F634-95A29632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3CB2-0C70-F941-63F6-34FEF94C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2) Goodness-of-Fit Test</a:t>
            </a:r>
          </a:p>
        </p:txBody>
      </p:sp>
    </p:spTree>
    <p:extLst>
      <p:ext uri="{BB962C8B-B14F-4D97-AF65-F5344CB8AC3E}">
        <p14:creationId xmlns:p14="http://schemas.microsoft.com/office/powerpoint/2010/main" val="172671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34F9-7D5E-7243-E8CD-8393EB00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D131EE-BC4D-EC91-F166-0ABB4B9A904F}"/>
              </a:ext>
            </a:extLst>
          </p:cNvPr>
          <p:cNvSpPr txBox="1"/>
          <p:nvPr/>
        </p:nvSpPr>
        <p:spPr>
          <a:xfrm>
            <a:off x="285750" y="278999"/>
            <a:ext cx="5429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Goal of Goodness-of-Fit Test</a:t>
            </a:r>
          </a:p>
          <a:p>
            <a:r>
              <a:rPr lang="en-US" dirty="0"/>
              <a:t>You want to check whether the </a:t>
            </a:r>
            <a:r>
              <a:rPr lang="en-US" b="1" dirty="0"/>
              <a:t>distribution of a single categorical variable</a:t>
            </a:r>
            <a:r>
              <a:rPr lang="en-US" dirty="0"/>
              <a:t> matches some </a:t>
            </a:r>
            <a:r>
              <a:rPr lang="en-US" b="1" dirty="0"/>
              <a:t>expected distribution</a:t>
            </a:r>
            <a:r>
              <a:rPr lang="en-US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31B7D0-B391-4582-50D3-171D7A506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93521"/>
              </p:ext>
            </p:extLst>
          </p:nvPr>
        </p:nvGraphicFramePr>
        <p:xfrm>
          <a:off x="344424" y="2721134"/>
          <a:ext cx="2281936" cy="2926080"/>
        </p:xfrm>
        <a:graphic>
          <a:graphicData uri="http://schemas.openxmlformats.org/drawingml/2006/table">
            <a:tbl>
              <a:tblPr/>
              <a:tblGrid>
                <a:gridCol w="114096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7681F-E9B7-27D6-DCED-E88FACB63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72438"/>
              </p:ext>
            </p:extLst>
          </p:nvPr>
        </p:nvGraphicFramePr>
        <p:xfrm>
          <a:off x="7266051" y="3705638"/>
          <a:ext cx="3422904" cy="2926080"/>
        </p:xfrm>
        <a:graphic>
          <a:graphicData uri="http://schemas.openxmlformats.org/drawingml/2006/table">
            <a:tbl>
              <a:tblPr/>
              <a:tblGrid>
                <a:gridCol w="114096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  <a:gridCol w="1140968">
                  <a:extLst>
                    <a:ext uri="{9D8B030D-6E8A-4147-A177-3AD203B41FA5}">
                      <a16:colId xmlns:a16="http://schemas.microsoft.com/office/drawing/2014/main" val="637829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C0C0C0"/>
                          </a:highlight>
                        </a:rPr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C0C0C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581AD0-B34E-8559-356F-17C63232B9AA}"/>
              </a:ext>
            </a:extLst>
          </p:cNvPr>
          <p:cNvSpPr txBox="1"/>
          <p:nvPr/>
        </p:nvSpPr>
        <p:spPr>
          <a:xfrm>
            <a:off x="285750" y="5888538"/>
            <a:ext cx="5429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Question:</a:t>
            </a:r>
          </a:p>
          <a:p>
            <a:r>
              <a:rPr lang="en-US" dirty="0"/>
              <a:t>At </a:t>
            </a:r>
            <a:r>
              <a:rPr lang="el-GR" dirty="0"/>
              <a:t>α</a:t>
            </a:r>
            <a:r>
              <a:rPr lang="en-US" dirty="0"/>
              <a:t> = 0.05 , can we conclude that the die is </a:t>
            </a:r>
            <a:r>
              <a:rPr lang="en-US" b="1" dirty="0"/>
              <a:t>fair</a:t>
            </a:r>
            <a:r>
              <a:rPr lang="en-US" dirty="0"/>
              <a:t>, i.e., does each face have an equal probability?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928BC-2228-4A33-1DB0-D62D4249C089}"/>
              </a:ext>
            </a:extLst>
          </p:cNvPr>
          <p:cNvSpPr txBox="1"/>
          <p:nvPr/>
        </p:nvSpPr>
        <p:spPr>
          <a:xfrm>
            <a:off x="285750" y="1655064"/>
            <a:ext cx="510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(see </a:t>
            </a:r>
            <a:r>
              <a:rPr lang="en-US" b="1" dirty="0" err="1"/>
              <a:t>jupyter</a:t>
            </a:r>
            <a:r>
              <a:rPr lang="en-US" b="1" dirty="0"/>
              <a:t> n/b)</a:t>
            </a:r>
            <a:r>
              <a:rPr lang="en-US" dirty="0"/>
              <a:t>: You perform an experiment to check if the dice is fair. You roll the dice total of 60 times and record its observed face.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27EAC-170A-2B9C-19AD-104D331FCDB1}"/>
              </a:ext>
            </a:extLst>
          </p:cNvPr>
          <p:cNvSpPr txBox="1"/>
          <p:nvPr/>
        </p:nvSpPr>
        <p:spPr>
          <a:xfrm>
            <a:off x="6062472" y="173736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2817B-061E-1AD1-34D2-E410A8CC9A8E}"/>
              </a:ext>
            </a:extLst>
          </p:cNvPr>
          <p:cNvSpPr txBox="1"/>
          <p:nvPr/>
        </p:nvSpPr>
        <p:spPr>
          <a:xfrm>
            <a:off x="6096000" y="660368"/>
            <a:ext cx="59557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Hypotheses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Null Hypothesis (H₀):</a:t>
            </a:r>
            <a:r>
              <a:rPr lang="en-US" dirty="0"/>
              <a:t> The die is fair (each face has equal probability: 1/6)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Alternative Hypothesis (H₁):</a:t>
            </a:r>
            <a:r>
              <a:rPr lang="en-US" dirty="0"/>
              <a:t> The die is not fair (some faces are more/less likely)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D9B64-FB10-3F36-F9F4-E7ADEF27E69B}"/>
              </a:ext>
            </a:extLst>
          </p:cNvPr>
          <p:cNvSpPr txBox="1"/>
          <p:nvPr/>
        </p:nvSpPr>
        <p:spPr>
          <a:xfrm>
            <a:off x="6119622" y="230305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Calculate Expected Frequencies</a:t>
            </a:r>
          </a:p>
          <a:p>
            <a:pPr>
              <a:buNone/>
            </a:pPr>
            <a:r>
              <a:rPr lang="en-US" dirty="0"/>
              <a:t>If the die is fair, then for 60 rolls, each face should appear:</a:t>
            </a:r>
          </a:p>
          <a:p>
            <a:r>
              <a:rPr lang="en-US" dirty="0"/>
              <a:t>E=1/6×60=10</a:t>
            </a:r>
          </a:p>
          <a:p>
            <a:r>
              <a:rPr lang="en-US" dirty="0"/>
              <a:t>So expected frequency for each face is 10.</a:t>
            </a:r>
          </a:p>
        </p:txBody>
      </p:sp>
    </p:spTree>
    <p:extLst>
      <p:ext uri="{BB962C8B-B14F-4D97-AF65-F5344CB8AC3E}">
        <p14:creationId xmlns:p14="http://schemas.microsoft.com/office/powerpoint/2010/main" val="396725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A347-B0AE-D404-5B6A-235D2FBB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A5D5B-1EE3-71B4-3361-97E916AD0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0" y="658368"/>
            <a:ext cx="2359105" cy="748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CC79D-EA67-5A24-9CDE-ACFE76C941BC}"/>
              </a:ext>
            </a:extLst>
          </p:cNvPr>
          <p:cNvSpPr txBox="1"/>
          <p:nvPr/>
        </p:nvSpPr>
        <p:spPr>
          <a:xfrm>
            <a:off x="313182" y="181094"/>
            <a:ext cx="3911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Step 3: Compute Chi-Square Statistic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F728AE-C77A-142A-6FDE-8FC828AC2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7" y="1514716"/>
            <a:ext cx="4533138" cy="6913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FB0067-4C34-5A79-7EFC-3669673D16FE}"/>
              </a:ext>
            </a:extLst>
          </p:cNvPr>
          <p:cNvSpPr txBox="1"/>
          <p:nvPr/>
        </p:nvSpPr>
        <p:spPr>
          <a:xfrm>
            <a:off x="157734" y="253756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4: Degrees of Freedom</a:t>
            </a:r>
          </a:p>
          <a:p>
            <a:pPr>
              <a:buNone/>
            </a:pPr>
            <a:r>
              <a:rPr lang="en-US" dirty="0" err="1"/>
              <a:t>D.f.</a:t>
            </a:r>
            <a:r>
              <a:rPr lang="en-US" dirty="0"/>
              <a:t> = Number of categories − 1 = 6−1 =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B4257-C4CA-CF43-AE82-99F61E4543DD}"/>
              </a:ext>
            </a:extLst>
          </p:cNvPr>
          <p:cNvSpPr txBox="1"/>
          <p:nvPr/>
        </p:nvSpPr>
        <p:spPr>
          <a:xfrm>
            <a:off x="121158" y="3412712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5: OPTION1: Using P-value</a:t>
            </a:r>
          </a:p>
          <a:p>
            <a:pPr>
              <a:buNone/>
            </a:pPr>
            <a:r>
              <a:rPr lang="en-US" b="1" dirty="0"/>
              <a:t>Look Up p-value</a:t>
            </a:r>
          </a:p>
          <a:p>
            <a:pPr>
              <a:buNone/>
            </a:pPr>
            <a:r>
              <a:rPr lang="en-US" dirty="0"/>
              <a:t>Using a Chi-Square table or software we find using χ2 = 1 and </a:t>
            </a:r>
            <a:r>
              <a:rPr lang="en-US" dirty="0" err="1"/>
              <a:t>d.f.</a:t>
            </a:r>
            <a:r>
              <a:rPr lang="en-US" dirty="0"/>
              <a:t> = 5, the p-value ≈ 0.96.</a:t>
            </a:r>
          </a:p>
          <a:p>
            <a:r>
              <a:rPr lang="en-US" dirty="0"/>
              <a:t>Since p-value &gt; 0.05, we </a:t>
            </a:r>
            <a:r>
              <a:rPr lang="en-US" b="1" dirty="0"/>
              <a:t>fail to reject the null hypothesis</a:t>
            </a:r>
            <a:r>
              <a:rPr lang="en-US" dirty="0"/>
              <a:t>.</a:t>
            </a:r>
          </a:p>
          <a:p>
            <a:r>
              <a:rPr lang="en-US" dirty="0"/>
              <a:t>The die </a:t>
            </a:r>
            <a:r>
              <a:rPr lang="en-US" b="1" dirty="0"/>
              <a:t>appears fair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523BB-3288-481C-1C52-C7EBBDE9B1F9}"/>
              </a:ext>
            </a:extLst>
          </p:cNvPr>
          <p:cNvSpPr txBox="1"/>
          <p:nvPr/>
        </p:nvSpPr>
        <p:spPr>
          <a:xfrm>
            <a:off x="6646926" y="282416"/>
            <a:ext cx="52318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5: OPTION2: Using critical value</a:t>
            </a:r>
          </a:p>
          <a:p>
            <a:pPr>
              <a:buNone/>
            </a:pPr>
            <a:r>
              <a:rPr lang="en-US" dirty="0"/>
              <a:t>Using a Chi-Square table,  at </a:t>
            </a:r>
            <a:r>
              <a:rPr lang="el-GR" dirty="0"/>
              <a:t>α</a:t>
            </a:r>
            <a:r>
              <a:rPr lang="en-US" dirty="0"/>
              <a:t> = 0.05 , with </a:t>
            </a:r>
            <a:r>
              <a:rPr lang="en-US" dirty="0" err="1"/>
              <a:t>d.f</a:t>
            </a:r>
            <a:r>
              <a:rPr lang="en-US" dirty="0"/>
              <a:t> = 5, we find the critical value 11.07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Since 1 &lt; 11.07, we </a:t>
            </a:r>
            <a:r>
              <a:rPr lang="en-US" b="1" dirty="0"/>
              <a:t>fail to reject the null hypothesis</a:t>
            </a:r>
            <a:r>
              <a:rPr lang="en-US" dirty="0"/>
              <a:t>.</a:t>
            </a:r>
          </a:p>
          <a:p>
            <a:r>
              <a:rPr lang="en-US" dirty="0"/>
              <a:t>The die </a:t>
            </a:r>
            <a:r>
              <a:rPr lang="en-US" b="1" dirty="0"/>
              <a:t>appears fair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59F2DD-64C6-26F4-F21C-D21B41BC1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239" y="2373760"/>
            <a:ext cx="3421971" cy="1620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51ECE-1658-93BD-3445-35DC4BFB38D3}"/>
              </a:ext>
            </a:extLst>
          </p:cNvPr>
          <p:cNvSpPr txBox="1"/>
          <p:nvPr/>
        </p:nvSpPr>
        <p:spPr>
          <a:xfrm>
            <a:off x="7644384" y="5907024"/>
            <a:ext cx="251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next slide for code….</a:t>
            </a:r>
          </a:p>
        </p:txBody>
      </p:sp>
    </p:spTree>
    <p:extLst>
      <p:ext uri="{BB962C8B-B14F-4D97-AF65-F5344CB8AC3E}">
        <p14:creationId xmlns:p14="http://schemas.microsoft.com/office/powerpoint/2010/main" val="2014707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3954-E38A-3CC4-7DFA-72BC50FD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4FDE2-00CF-05AF-295C-0B1D9B57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12" y="308585"/>
            <a:ext cx="7339298" cy="58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1364</Words>
  <Application>Microsoft Office PowerPoint</Application>
  <PresentationFormat>Widescreen</PresentationFormat>
  <Paragraphs>195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Chi Square Test</vt:lpstr>
      <vt:lpstr>PowerPoint Presentation</vt:lpstr>
      <vt:lpstr>PowerPoint Presentation</vt:lpstr>
      <vt:lpstr>PowerPoint Presentation</vt:lpstr>
      <vt:lpstr>PowerPoint Presentation</vt:lpstr>
      <vt:lpstr>How to find critical value using d.f. , α and Chi square table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45</cp:revision>
  <dcterms:created xsi:type="dcterms:W3CDTF">2025-07-26T03:07:36Z</dcterms:created>
  <dcterms:modified xsi:type="dcterms:W3CDTF">2025-07-31T03:15:47Z</dcterms:modified>
</cp:coreProperties>
</file>