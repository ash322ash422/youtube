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7" r:id="rId2"/>
    <p:sldId id="278" r:id="rId3"/>
    <p:sldId id="258" r:id="rId4"/>
    <p:sldId id="259" r:id="rId5"/>
    <p:sldId id="260" r:id="rId6"/>
    <p:sldId id="279" r:id="rId7"/>
    <p:sldId id="266" r:id="rId8"/>
    <p:sldId id="284" r:id="rId9"/>
    <p:sldId id="283" r:id="rId10"/>
    <p:sldId id="264" r:id="rId11"/>
    <p:sldId id="280" r:id="rId12"/>
    <p:sldId id="285" r:id="rId13"/>
    <p:sldId id="267" r:id="rId14"/>
    <p:sldId id="287" r:id="rId15"/>
    <p:sldId id="265" r:id="rId16"/>
    <p:sldId id="281" r:id="rId17"/>
    <p:sldId id="288" r:id="rId18"/>
    <p:sldId id="268" r:id="rId19"/>
    <p:sldId id="290" r:id="rId20"/>
    <p:sldId id="277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1A8B1E-1D7E-7780-CD47-36BCCF5C2E9A}"/>
              </a:ext>
            </a:extLst>
          </p:cNvPr>
          <p:cNvSpPr txBox="1"/>
          <p:nvPr/>
        </p:nvSpPr>
        <p:spPr>
          <a:xfrm>
            <a:off x="2112264" y="2121408"/>
            <a:ext cx="977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Dggfdfgf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gdfgfd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C7EA30-CFE1-0838-51B7-B2F68905C53A}"/>
              </a:ext>
            </a:extLst>
          </p:cNvPr>
          <p:cNvSpPr txBox="1"/>
          <p:nvPr/>
        </p:nvSpPr>
        <p:spPr>
          <a:xfrm>
            <a:off x="411480" y="2104888"/>
            <a:ext cx="1086307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 distribution is similar to the standard normal distribution in the following ways. 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bell-shaped. 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symmetric about the mean. 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mean, median, and mode are equal to 0 and are located at the center of the distribution.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curve approaches but never touches the x axis. </a:t>
            </a:r>
          </a:p>
          <a:p>
            <a:pPr marL="342900" indent="-342900">
              <a:buAutoNum type="arabicPeriod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 distribution differs from the standard normal distribution in the following ways.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The variance is greater than 1.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The t distribution is a family of curves based on the degrees of freedom, which is a number related to sample size.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As the sample size increases, the t distribution approaches the normal distribution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421480-B20D-B7EC-0710-6BE980F69F32}"/>
              </a:ext>
            </a:extLst>
          </p:cNvPr>
          <p:cNvSpPr txBox="1"/>
          <p:nvPr/>
        </p:nvSpPr>
        <p:spPr>
          <a:xfrm>
            <a:off x="486918" y="251567"/>
            <a:ext cx="99006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the population standard deviation is unknown, the z-test is not typically used for testing hypotheses involving means. A different test, called the t test, is used. </a:t>
            </a:r>
          </a:p>
        </p:txBody>
      </p:sp>
    </p:spTree>
    <p:extLst>
      <p:ext uri="{BB962C8B-B14F-4D97-AF65-F5344CB8AC3E}">
        <p14:creationId xmlns:p14="http://schemas.microsoft.com/office/powerpoint/2010/main" val="3085216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1961D-D214-3E41-5EA4-EAA7D5107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610A019-BE8C-A33F-6249-BF209CB841A8}"/>
              </a:ext>
            </a:extLst>
          </p:cNvPr>
          <p:cNvSpPr txBox="1"/>
          <p:nvPr/>
        </p:nvSpPr>
        <p:spPr>
          <a:xfrm>
            <a:off x="704548" y="849267"/>
            <a:ext cx="83297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t-test is a statistical test for the mean of a population and is used when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population is approximately normally distributed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σ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unknown.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formula for the t test is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191D6E-B469-0730-84D0-32BE83655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644" y="2340864"/>
            <a:ext cx="2418494" cy="13167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59990B-1DC2-002D-29EF-99D78E6F2BB5}"/>
              </a:ext>
            </a:extLst>
          </p:cNvPr>
          <p:cNvSpPr txBox="1"/>
          <p:nvPr/>
        </p:nvSpPr>
        <p:spPr>
          <a:xfrm>
            <a:off x="466804" y="3996142"/>
            <a:ext cx="9966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Assumptions for the t Test for a Mean When  Is Unknown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1. The sample is a random sample.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Either n &gt;= 30 or the population is normally distributed when n &lt; 30.</a:t>
            </a:r>
          </a:p>
        </p:txBody>
      </p:sp>
    </p:spTree>
    <p:extLst>
      <p:ext uri="{BB962C8B-B14F-4D97-AF65-F5344CB8AC3E}">
        <p14:creationId xmlns:p14="http://schemas.microsoft.com/office/powerpoint/2010/main" val="2873876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72AF27-2179-E275-AC3D-73882613BF2A}"/>
              </a:ext>
            </a:extLst>
          </p:cNvPr>
          <p:cNvSpPr txBox="1"/>
          <p:nvPr/>
        </p:nvSpPr>
        <p:spPr>
          <a:xfrm>
            <a:off x="294894" y="851053"/>
            <a:ext cx="1129055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you test hypotheses by using the t test (traditional method), follow the same procedure as for the z test, ( except use different table to find t-value) 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1) State the hypotheses and identify the claim.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2) Find the critical value from table.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3) Compute the t-test value.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4) Make the decision to reject or not reject the null hypothesis.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5) Summarize the results.</a:t>
            </a:r>
          </a:p>
        </p:txBody>
      </p:sp>
    </p:spTree>
    <p:extLst>
      <p:ext uri="{BB962C8B-B14F-4D97-AF65-F5344CB8AC3E}">
        <p14:creationId xmlns:p14="http://schemas.microsoft.com/office/powerpoint/2010/main" val="3290229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59D2A7-E99F-6FFE-5275-2A35577A250A}"/>
              </a:ext>
            </a:extLst>
          </p:cNvPr>
          <p:cNvSpPr txBox="1"/>
          <p:nvPr/>
        </p:nvSpPr>
        <p:spPr>
          <a:xfrm>
            <a:off x="349758" y="551748"/>
            <a:ext cx="1026642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a population of metal components, the average lifetime without a protective paint coating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101 months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The lifetime is assumed to be normally distributed, but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standard deviation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unknown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engineer claims that applying the new protective paint coating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increases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mean lifetime of the component beyond 101 months.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She tests this claim by selecting a random sample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20 components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 the coating and finds that the sample mean lifetime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107 months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standard deviation of 8 months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 the engineer’s claim at α=0.05.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4FBDA3-4B07-9277-8041-13088E4950EF}"/>
              </a:ext>
            </a:extLst>
          </p:cNvPr>
          <p:cNvSpPr txBox="1"/>
          <p:nvPr/>
        </p:nvSpPr>
        <p:spPr>
          <a:xfrm>
            <a:off x="596646" y="4237012"/>
            <a:ext cx="113637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Following are sample values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 mean 106.5 and standard deviation 7.963:</a:t>
            </a:r>
          </a:p>
          <a:p>
            <a:endParaRPr lang="en-US" sz="24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[112 107 113 121 106 106 121 114 104 112 104 104 110 92 94 103 100 111 100 96]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716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4B0D5-2EA2-D3FC-3C3D-DC1CBC45E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117D591-FC0F-7658-5507-B1D4E712100D}"/>
              </a:ext>
            </a:extLst>
          </p:cNvPr>
          <p:cNvSpPr txBox="1"/>
          <p:nvPr/>
        </p:nvSpPr>
        <p:spPr>
          <a:xfrm>
            <a:off x="201168" y="213652"/>
            <a:ext cx="629107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1)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State the hypotheses and identify the claim. 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H0: </a:t>
            </a:r>
            <a:r>
              <a:rPr lang="el-GR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101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 mean lifetime is 101 months; the coating has no effect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H1: </a:t>
            </a:r>
            <a:r>
              <a:rPr lang="el-GR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&gt;  101 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 claim:  The mean lifetime is greater than 101 months; the coating increases lifetime.)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2)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the critical value.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α = 0.05 and the test is a right-tailed test,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20-1 = 19,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critical value is tα  = 1.729 (use t-dist. table)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3)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 the t test value 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formula,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980C48-477F-18ED-E9BF-B6AA6775C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936" y="5278499"/>
            <a:ext cx="2647064" cy="14659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E2F10F-F345-2C68-90C1-3C69A3BE2516}"/>
              </a:ext>
            </a:extLst>
          </p:cNvPr>
          <p:cNvSpPr txBox="1"/>
          <p:nvPr/>
        </p:nvSpPr>
        <p:spPr>
          <a:xfrm>
            <a:off x="6631687" y="490651"/>
            <a:ext cx="529208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4)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the decision to reject or not reject the null hypothesis.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3.35 &gt; 1.729 (the critical value),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so, reject the null hypothesis.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686ABF-D425-C67B-A28B-E52ABE064717}"/>
              </a:ext>
            </a:extLst>
          </p:cNvPr>
          <p:cNvCxnSpPr/>
          <p:nvPr/>
        </p:nvCxnSpPr>
        <p:spPr>
          <a:xfrm>
            <a:off x="6572250" y="307110"/>
            <a:ext cx="0" cy="643737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76A83BB-B0F0-4FCC-BA02-FEE4E01B5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609" y="2299278"/>
            <a:ext cx="4848115" cy="20659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F4C8694-A014-1F51-1396-61EFA4C2B52F}"/>
              </a:ext>
            </a:extLst>
          </p:cNvPr>
          <p:cNvSpPr txBox="1"/>
          <p:nvPr/>
        </p:nvSpPr>
        <p:spPr>
          <a:xfrm>
            <a:off x="6576822" y="4606790"/>
            <a:ext cx="552983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5)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the results: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enough evidence to support the claim that the paint coating increases the mean lifetime of the component.</a:t>
            </a:r>
          </a:p>
        </p:txBody>
      </p:sp>
    </p:spTree>
    <p:extLst>
      <p:ext uri="{BB962C8B-B14F-4D97-AF65-F5344CB8AC3E}">
        <p14:creationId xmlns:p14="http://schemas.microsoft.com/office/powerpoint/2010/main" val="871711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9142A09-A0F3-2216-1E6A-46263B94315E}"/>
              </a:ext>
            </a:extLst>
          </p:cNvPr>
          <p:cNvSpPr txBox="1"/>
          <p:nvPr/>
        </p:nvSpPr>
        <p:spPr>
          <a:xfrm>
            <a:off x="1801368" y="1856232"/>
            <a:ext cx="70301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redo this using python code</a:t>
            </a:r>
          </a:p>
        </p:txBody>
      </p:sp>
    </p:spTree>
    <p:extLst>
      <p:ext uri="{BB962C8B-B14F-4D97-AF65-F5344CB8AC3E}">
        <p14:creationId xmlns:p14="http://schemas.microsoft.com/office/powerpoint/2010/main" val="2302689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86BB0-0170-3065-EE06-A43C29E1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3B7C6A-E4CB-1250-E6AC-12E154D5A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307" y="3615329"/>
            <a:ext cx="6220693" cy="29245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AADB47-7F72-36F8-8316-ED1ED8DDF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68" y="3283955"/>
            <a:ext cx="5445571" cy="31672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9B9A4A-ADBF-657F-CF57-E4C5F7F41F41}"/>
              </a:ext>
            </a:extLst>
          </p:cNvPr>
          <p:cNvSpPr txBox="1"/>
          <p:nvPr/>
        </p:nvSpPr>
        <p:spPr>
          <a:xfrm>
            <a:off x="237744" y="-29682"/>
            <a:ext cx="1184658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a population of metal components, the average lifetime without a protective paint coating is 101 months. The lifetime is assumed to be normally distributed, but the population standard deviation is unknown.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engineer claims that applying the new protective paint coating increases the mean lifetime of the component beyond 101 months. She tests this claim by selecting a random sample of 20 components with the coating and finds that the sample mean lifetime is 107 months with a sample standard deviation of 8 months.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 the engineer’s claim at α=0.05.</a:t>
            </a:r>
          </a:p>
        </p:txBody>
      </p:sp>
    </p:spTree>
    <p:extLst>
      <p:ext uri="{BB962C8B-B14F-4D97-AF65-F5344CB8AC3E}">
        <p14:creationId xmlns:p14="http://schemas.microsoft.com/office/powerpoint/2010/main" val="3908427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0F848-91E3-B4BF-FE76-82E8223D6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4F35761-20DB-BC6F-29C3-3B43F5465BF8}"/>
              </a:ext>
            </a:extLst>
          </p:cNvPr>
          <p:cNvSpPr txBox="1"/>
          <p:nvPr/>
        </p:nvSpPr>
        <p:spPr>
          <a:xfrm>
            <a:off x="219456" y="226913"/>
            <a:ext cx="10972800" cy="226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In a population of metal components, the average lifetime without a protective paint coating is 101 months. The lifetime is assumed to be normally distributed, but the population standard deviation is unknown.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An engineer claims that applying the new protective paint coating increases the mean lifetime of the component beyond 101 months.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She tests this claim by selecting a random sample of 20 components with the coating and finds that the sample mean lifetime is 107 months with a sample standard deviation of 8 months.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Test the engineer’s claim at α=0.05.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2E7035-3F92-B9B6-DE05-94C7DD3EA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2527369"/>
            <a:ext cx="9342975" cy="15414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3DFCA4-6E70-3680-8318-ED56E0F59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817" y="4279392"/>
            <a:ext cx="4648118" cy="184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506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E68CF-9DCB-627E-6DFB-F9807546C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FB96EA8-0B95-E024-E664-38EA0BB195C2}"/>
              </a:ext>
            </a:extLst>
          </p:cNvPr>
          <p:cNvSpPr txBox="1"/>
          <p:nvPr/>
        </p:nvSpPr>
        <p:spPr>
          <a:xfrm>
            <a:off x="349758" y="359724"/>
            <a:ext cx="1164717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water treatment plant claims their new filtration system reduces contaminant levels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below 5 ppm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(the historical population mean). Environmental engineers want to verify that the system performs better than this standard.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random sample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15 water samples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taken after treatment. The sample shows a mean contaminant level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4.7 ppm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with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standard deviation of 0.6 ppm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 the water treatment plant claim at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 = 0.10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23224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FF316-FECD-6D6E-A12F-520BABA34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01612DE-BD85-72D6-1598-820E58B90B1B}"/>
              </a:ext>
            </a:extLst>
          </p:cNvPr>
          <p:cNvSpPr txBox="1"/>
          <p:nvPr/>
        </p:nvSpPr>
        <p:spPr>
          <a:xfrm>
            <a:off x="85347" y="460540"/>
            <a:ext cx="654634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State the hypotheses and identify the claim.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H0: </a:t>
            </a:r>
            <a:r>
              <a:rPr lang="el-GR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5 mm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(no improvement)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H1: </a:t>
            </a:r>
            <a:r>
              <a:rPr lang="el-GR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&lt;  5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(claim: system reduces mean contaminant level)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the critical value.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α = 0.10 and the test is a left-tailed test, 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15-1 = 14,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critical value is tα  = -1.345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(use t-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dist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table, and use – sign because it is left-tailed)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 the t test value.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formula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E2B591-DFF9-4E01-B637-EB838FDFFE2D}"/>
              </a:ext>
            </a:extLst>
          </p:cNvPr>
          <p:cNvCxnSpPr/>
          <p:nvPr/>
        </p:nvCxnSpPr>
        <p:spPr>
          <a:xfrm>
            <a:off x="6537960" y="512064"/>
            <a:ext cx="0" cy="621792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485641F-7930-D7DF-9D2C-093343AA268E}"/>
              </a:ext>
            </a:extLst>
          </p:cNvPr>
          <p:cNvSpPr txBox="1"/>
          <p:nvPr/>
        </p:nvSpPr>
        <p:spPr>
          <a:xfrm>
            <a:off x="6631687" y="417499"/>
            <a:ext cx="529208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4)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the decision to reject or not reject the null hypothesis.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−1.94 &lt; −1.345 (the critical value)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 so, reject the null hypothesis.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16077E-44AC-1B5C-5326-E75E9772D565}"/>
              </a:ext>
            </a:extLst>
          </p:cNvPr>
          <p:cNvSpPr txBox="1"/>
          <p:nvPr/>
        </p:nvSpPr>
        <p:spPr>
          <a:xfrm>
            <a:off x="6576822" y="4766244"/>
            <a:ext cx="552983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the results: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enough evidence to conclude that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filtration system reduces the mean contaminant level below 5 ppm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A270A8-9E5E-2428-3AFA-4391D5753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989" y="2139219"/>
            <a:ext cx="4969040" cy="24592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8E2B5B-5C93-1CF8-A407-D0609B71A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491" y="5395907"/>
            <a:ext cx="2487167" cy="143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986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73173-0088-CE53-0091-2A700D856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3BBC43C-077F-5025-852C-0EA5BF9F3024}"/>
              </a:ext>
            </a:extLst>
          </p:cNvPr>
          <p:cNvSpPr txBox="1"/>
          <p:nvPr/>
        </p:nvSpPr>
        <p:spPr>
          <a:xfrm>
            <a:off x="1801368" y="1856232"/>
            <a:ext cx="70301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redo this using python code</a:t>
            </a:r>
          </a:p>
        </p:txBody>
      </p:sp>
    </p:spTree>
    <p:extLst>
      <p:ext uri="{BB962C8B-B14F-4D97-AF65-F5344CB8AC3E}">
        <p14:creationId xmlns:p14="http://schemas.microsoft.com/office/powerpoint/2010/main" val="3611155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68C4FD-CA4E-1852-E0EE-0C3FE103670C}"/>
              </a:ext>
            </a:extLst>
          </p:cNvPr>
          <p:cNvSpPr txBox="1"/>
          <p:nvPr/>
        </p:nvSpPr>
        <p:spPr>
          <a:xfrm>
            <a:off x="182880" y="294376"/>
            <a:ext cx="113659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water treatment plant claims their new filtration system reduces contaminant levels to below 5 ppm (the historical population mean).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Environmental engineers want to verify that the system performs better than this standard.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random sample of 15 water samples is taken after treatment. The sample shows a mean contaminant level of 4.7 ppm, with a sample standard deviation of 0.6 ppm.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 the water treatment plant claim at α = 0.10.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CAB22D-BED0-4575-83FA-111F14FAF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127248"/>
            <a:ext cx="5268713" cy="31114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A0942F-DDE5-2A7E-0717-99608D0D0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595" y="3209312"/>
            <a:ext cx="6724405" cy="311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586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0DAFA-063F-5D05-5C94-A355D0C99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A8E14E-59A8-FBBB-BC97-C30C4C426FD6}"/>
              </a:ext>
            </a:extLst>
          </p:cNvPr>
          <p:cNvSpPr txBox="1"/>
          <p:nvPr/>
        </p:nvSpPr>
        <p:spPr>
          <a:xfrm>
            <a:off x="182880" y="294376"/>
            <a:ext cx="113659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water treatment plant claims their new filtration system reduces contaminant levels to below 5 ppm (the historical population mean).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Environmental engineers want to verify that the system performs better than this standard.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random sample of 15 water samples is taken after treatment. The sample shows a mean contaminant level of 4.7 ppm, with a sample standard deviation of 0.6 ppm.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 the water treatment plant claim at α = 0.10.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08C8E1-0658-4AC5-B679-32F70A791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25" y="3129351"/>
            <a:ext cx="9301641" cy="15132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250FF5-28A7-0BC7-1C42-2A811A732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706" y="4799906"/>
            <a:ext cx="4487196" cy="170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741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5C097-3A8B-B96C-CC32-164F6F740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B4B57B8-B556-A8EF-F155-E4B5794B7434}"/>
              </a:ext>
            </a:extLst>
          </p:cNvPr>
          <p:cNvSpPr txBox="1"/>
          <p:nvPr/>
        </p:nvSpPr>
        <p:spPr>
          <a:xfrm>
            <a:off x="276606" y="515172"/>
            <a:ext cx="1140028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medical researcher is interested in finding out whether a new medication will have any undesirable side effects on patients’ pulse rates. The researcher is concerned whether the pulse rate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increases, decreases, or stays the same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after taking the medication.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mean pulse rate for the population under study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82 bpm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but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 standard deviation is unknown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investigate, the researcher selects a random sample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25 patients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who take the medication. The sample shows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 pulse rate of 80.7 bpm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with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standard deviation of 4.5 bpm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 the claim that the medication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does affect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mean pulse rate at α=0.01.</a:t>
            </a:r>
          </a:p>
        </p:txBody>
      </p:sp>
    </p:spTree>
    <p:extLst>
      <p:ext uri="{BB962C8B-B14F-4D97-AF65-F5344CB8AC3E}">
        <p14:creationId xmlns:p14="http://schemas.microsoft.com/office/powerpoint/2010/main" val="4088325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AADAF-3AD0-AFAD-BF54-9782D2AD5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3687E06-08C6-A485-295B-187496DEAD1D}"/>
              </a:ext>
            </a:extLst>
          </p:cNvPr>
          <p:cNvSpPr txBox="1"/>
          <p:nvPr/>
        </p:nvSpPr>
        <p:spPr>
          <a:xfrm>
            <a:off x="301752" y="222796"/>
            <a:ext cx="627507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State the hypothesis and identify the claim.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H0: </a:t>
            </a:r>
            <a:r>
              <a:rPr lang="el-GR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82 BPM (The medication has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effect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on mean pulse rate.)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H1: </a:t>
            </a:r>
            <a:r>
              <a:rPr lang="el-GR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!= 82 BPM (claim: The medication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does affect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mean pulse rate (it could be higher or lower))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the critical value. Since α = 0.01 and the test is a two-tailed test, 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25-1 = 24, the critical value is tα/2  = 2.797. (use t-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dist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table, and we use α/2 = 0.005 to find t value because it is 2-tailed)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 the t test value 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90B6C2A-2827-FDC1-C2CD-4F050A3A1379}"/>
              </a:ext>
            </a:extLst>
          </p:cNvPr>
          <p:cNvCxnSpPr/>
          <p:nvPr/>
        </p:nvCxnSpPr>
        <p:spPr>
          <a:xfrm>
            <a:off x="6537960" y="512064"/>
            <a:ext cx="0" cy="621792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3BAD18F-3F31-A845-64B3-2256632E86D5}"/>
              </a:ext>
            </a:extLst>
          </p:cNvPr>
          <p:cNvSpPr txBox="1"/>
          <p:nvPr/>
        </p:nvSpPr>
        <p:spPr>
          <a:xfrm>
            <a:off x="6631687" y="600379"/>
            <a:ext cx="529208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the decision to reject or not reject the null hypothesis.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-2.0137 (the critical value) &lt; -1.44, so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reject the null hypothesis.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AC91E4-D330-1494-4C5D-91687B11EF4F}"/>
              </a:ext>
            </a:extLst>
          </p:cNvPr>
          <p:cNvSpPr txBox="1"/>
          <p:nvPr/>
        </p:nvSpPr>
        <p:spPr>
          <a:xfrm>
            <a:off x="6576822" y="5036558"/>
            <a:ext cx="55298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5)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the results: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enough evidence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conclude that the medication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has any effect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on mean pulse rate.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98F58D-F28D-37AC-9D54-46984D968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916" y="2594708"/>
            <a:ext cx="4208212" cy="23073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4835CC-B5D4-9138-9895-C3E3987DB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378" y="5047011"/>
            <a:ext cx="2664709" cy="168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12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24D55-B3D7-EEFB-EF60-FB84FED71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6344B2A-D374-3847-0C76-0A25BA985235}"/>
              </a:ext>
            </a:extLst>
          </p:cNvPr>
          <p:cNvSpPr txBox="1"/>
          <p:nvPr/>
        </p:nvSpPr>
        <p:spPr>
          <a:xfrm>
            <a:off x="1801368" y="1856232"/>
            <a:ext cx="70301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redo this using python code</a:t>
            </a:r>
          </a:p>
        </p:txBody>
      </p:sp>
    </p:spTree>
    <p:extLst>
      <p:ext uri="{BB962C8B-B14F-4D97-AF65-F5344CB8AC3E}">
        <p14:creationId xmlns:p14="http://schemas.microsoft.com/office/powerpoint/2010/main" val="1035389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A97D9C-B763-452F-5EB1-8FCBFF8C3416}"/>
              </a:ext>
            </a:extLst>
          </p:cNvPr>
          <p:cNvSpPr txBox="1"/>
          <p:nvPr/>
        </p:nvSpPr>
        <p:spPr>
          <a:xfrm>
            <a:off x="219456" y="192453"/>
            <a:ext cx="1180490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medical researcher is interested in finding out whether a new medication will have any undesirable side effects on patients’ pulse rates. The researcher is concerned whether the pulse rate increases, decreases, or stays the same after taking the medication.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mean pulse rate for the population under study is 82 bpm, but the population standard deviation is unknown.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investigate, the researcher selects a random sample of 25 patients who take the medication. The sample shows a mean pulse rate of 80.7 bpm, with a sample standard deviation of 4.5 bpm.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 the claim that the medication does affect the mean pulse rate at α=0.01.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CD6A00-80FF-6E9C-8908-02350329A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2746998"/>
            <a:ext cx="3906840" cy="30790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2FFD51-3C3B-94AD-7DE8-B23C7FE45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991" y="3207151"/>
            <a:ext cx="6822104" cy="28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037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98D0A-1369-3A40-2E9B-AF29B449F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AE644D-A3B2-77F1-E536-E3DDE5DC612F}"/>
              </a:ext>
            </a:extLst>
          </p:cNvPr>
          <p:cNvSpPr txBox="1"/>
          <p:nvPr/>
        </p:nvSpPr>
        <p:spPr>
          <a:xfrm>
            <a:off x="219456" y="192453"/>
            <a:ext cx="1180490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medical researcher is interested in finding out whether a new medication will have any undesirable side effects on patients’ pulse rates. The researcher is concerned whether the pulse rate increases, decreases, or stays the same after taking the medication.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mean pulse rate for the population under study is 82 bpm, but the population standard deviation is unknown.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investigate, the researcher selects a random sample of 25 patients who take the medication. The sample shows a mean pulse rate of 80.7 bpm, with a sample standard deviation of 4.5 bpm.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 the claim that the medication does affect the mean pulse rate at α=0.01.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5DBA38-0656-3FEF-BC68-577E4D36F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" y="2953512"/>
            <a:ext cx="9073553" cy="15604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E8F2D3-08E8-EEF6-AF07-949C07893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556" y="4800600"/>
            <a:ext cx="4422087" cy="173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35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4ADDD-25C4-0F38-B5E8-89466069E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0D7287F-8821-4EF1-D7D8-8F28383F5271}"/>
              </a:ext>
            </a:extLst>
          </p:cNvPr>
          <p:cNvSpPr txBox="1"/>
          <p:nvPr/>
        </p:nvSpPr>
        <p:spPr>
          <a:xfrm>
            <a:off x="2112264" y="2121408"/>
            <a:ext cx="977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Dggfdfgf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gdfgfd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194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8168E-2889-EB8C-92FA-7877BF03B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880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966</TotalTime>
  <Words>1786</Words>
  <Application>Microsoft Office PowerPoint</Application>
  <PresentationFormat>Widescreen</PresentationFormat>
  <Paragraphs>133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146</cp:revision>
  <dcterms:created xsi:type="dcterms:W3CDTF">2025-09-22T02:44:38Z</dcterms:created>
  <dcterms:modified xsi:type="dcterms:W3CDTF">2026-04-07T19:31:36Z</dcterms:modified>
</cp:coreProperties>
</file>