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77" r:id="rId2"/>
    <p:sldId id="284" r:id="rId3"/>
    <p:sldId id="278" r:id="rId4"/>
    <p:sldId id="275" r:id="rId5"/>
    <p:sldId id="283" r:id="rId6"/>
    <p:sldId id="285" r:id="rId7"/>
    <p:sldId id="281" r:id="rId8"/>
    <p:sldId id="282" r:id="rId9"/>
    <p:sldId id="279" r:id="rId10"/>
    <p:sldId id="28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C95BC-A3DF-D7E4-ADB8-73577310A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A2F6202-263D-C4DF-5DD9-627E8AFE7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813"/>
            <a:ext cx="10515600" cy="604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Sample Size</a:t>
            </a:r>
            <a:endParaRPr lang="en-US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7E3CE2-2926-8758-CF9D-FC0F054D25EB}"/>
              </a:ext>
            </a:extLst>
          </p:cNvPr>
          <p:cNvSpPr txBox="1"/>
          <p:nvPr/>
        </p:nvSpPr>
        <p:spPr>
          <a:xfrm>
            <a:off x="77724" y="811566"/>
            <a:ext cx="1100480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Problem: I have 2 sets of population with 15 data points in each: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Population1 = [ 3, 4, 2, 5, 2, 6, 3, 4, 3, 3, 2, 1, 3, 2, 2 ]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Population1 has standard deviation of 1.33.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Population2 = [-4.35, -4.35, -4.35, -4.35, -4.35, 10.35, 10.35, 10.35, 10.35, 10.35, 3.00, 3.00, 3.00, 3.00, 3.00 ]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Population2 has standard deviation of 6.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Both population have same mean. We have to determine that mean value.  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I am allowed to take only 10 sample points to determine mean value, which population should I use to get better estimate of the mean?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E74FE6-2F96-3D87-BC99-4F15E5706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493" y="2423160"/>
            <a:ext cx="2055362" cy="237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520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2344A-D8B8-BD4C-2D30-68CF5C9DC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DB5425B-61A1-64D1-0ECF-F5005A5EE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813"/>
            <a:ext cx="10515600" cy="604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Factors that Effect the Accuracy of Estimate</a:t>
            </a:r>
            <a:endParaRPr lang="en-US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E0EC7-757A-B664-9C43-1FA3E9820795}"/>
              </a:ext>
            </a:extLst>
          </p:cNvPr>
          <p:cNvSpPr txBox="1"/>
          <p:nvPr/>
        </p:nvSpPr>
        <p:spPr>
          <a:xfrm>
            <a:off x="4572" y="1168182"/>
            <a:ext cx="58384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Small sample size gives more uncertainty i.e. less confident + less accurate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792F1B-2965-B283-A1FA-A1F2A88CA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31" y="1793839"/>
            <a:ext cx="11677435" cy="38959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48F662A-6291-F5DE-3022-8994590B46E2}"/>
              </a:ext>
            </a:extLst>
          </p:cNvPr>
          <p:cNvSpPr txBox="1"/>
          <p:nvPr/>
        </p:nvSpPr>
        <p:spPr>
          <a:xfrm>
            <a:off x="6222492" y="1150358"/>
            <a:ext cx="58384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Large sample size gives less uncertainty, i.e. more confident + more accurate</a:t>
            </a:r>
          </a:p>
        </p:txBody>
      </p:sp>
    </p:spTree>
    <p:extLst>
      <p:ext uri="{BB962C8B-B14F-4D97-AF65-F5344CB8AC3E}">
        <p14:creationId xmlns:p14="http://schemas.microsoft.com/office/powerpoint/2010/main" val="1907219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C3316-AD6B-5E48-B707-20F839E46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535C93-92A5-EDA9-8F13-781D08463021}"/>
              </a:ext>
            </a:extLst>
          </p:cNvPr>
          <p:cNvSpPr txBox="1"/>
          <p:nvPr/>
        </p:nvSpPr>
        <p:spPr>
          <a:xfrm>
            <a:off x="6515100" y="948726"/>
            <a:ext cx="52532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Low variability (i.e. low standard deviation </a:t>
            </a:r>
            <a:r>
              <a:rPr lang="el-GR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σ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the population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gives less uncertainty, i.e. more confident + more accurate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D8DEBC-BDEA-57BB-683E-FF1C1400B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57401"/>
            <a:ext cx="11996261" cy="356053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661616E-AC58-D828-B499-7998037A3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813"/>
            <a:ext cx="10515600" cy="604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Factors that Effect the Accuracy of Estimate</a:t>
            </a:r>
            <a:endParaRPr lang="en-US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36496A-F8C9-D264-B3EE-EB7FB9028B52}"/>
              </a:ext>
            </a:extLst>
          </p:cNvPr>
          <p:cNvSpPr txBox="1"/>
          <p:nvPr/>
        </p:nvSpPr>
        <p:spPr>
          <a:xfrm>
            <a:off x="178308" y="938707"/>
            <a:ext cx="54543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High variability (i.e. high standard deviation </a:t>
            </a:r>
            <a:r>
              <a:rPr lang="el-GR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σ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the population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gives more uncertainty i.e. less confident + less accurate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8428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9C2156F-9873-5949-9C3F-F2DB5FB3E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4995"/>
          </a:xfrm>
        </p:spPr>
        <p:txBody>
          <a:bodyPr>
            <a:normAutofit/>
          </a:bodyPr>
          <a:lstStyle/>
          <a:p>
            <a:r>
              <a:rPr lang="en-US" sz="2800" dirty="0"/>
              <a:t>How large a sample is necessary to make an accurate estimate 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57FE9FA-7AFA-4AFF-9F07-4AAA7C68AA2D}"/>
                  </a:ext>
                </a:extLst>
              </p:cNvPr>
              <p:cNvSpPr txBox="1"/>
              <p:nvPr/>
            </p:nvSpPr>
            <p:spPr>
              <a:xfrm>
                <a:off x="75438" y="1222171"/>
                <a:ext cx="11985498" cy="54050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We can derive the formula for sample size n from margin of error E, population standard deviation </a:t>
                </a:r>
                <a:r>
                  <a:rPr lang="el-G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σ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and critical z-value  as follows: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where,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       = desired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margin of error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(the maximum acceptable difference between sample mean and true mean)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z-score corresponding to the confidence level (e.g. 1.645 for 90%, 1.96 for 95%, 2.58 for 99%)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answer to above question depends on three factors: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Margin of error (E): How much error are you willing to accept ?  If you want less E, choose bigger sample size.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Population standard deviation (</a:t>
                </a:r>
                <a:r>
                  <a:rPr lang="el-G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σ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):  How much variation in the data exist ? If </a:t>
                </a:r>
                <a:r>
                  <a:rPr lang="el-G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σ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is high (high variability), then more samples are needed 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Degree of confidence (critical z-value) : What percentage of confidence level you want ? If you want high confidence,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 you need more samples.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57FE9FA-7AFA-4AFF-9F07-4AAA7C68AA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38" y="1222171"/>
                <a:ext cx="11985498" cy="5405069"/>
              </a:xfrm>
              <a:prstGeom prst="rect">
                <a:avLst/>
              </a:prstGeom>
              <a:blipFill>
                <a:blip r:embed="rId2"/>
                <a:stretch>
                  <a:fillRect l="-407" t="-564" b="-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0EA80813-26D3-B5FE-4F10-A5F836AE6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927" y="1719072"/>
            <a:ext cx="2692871" cy="1928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6BAAC-CAE1-9F12-3AB6-0A85E5447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34B91D0-471C-84FC-A4A4-B9910051D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4995"/>
          </a:xfrm>
        </p:spPr>
        <p:txBody>
          <a:bodyPr>
            <a:normAutofit/>
          </a:bodyPr>
          <a:lstStyle/>
          <a:p>
            <a:r>
              <a:rPr lang="en-US" sz="2800" dirty="0"/>
              <a:t>How large a sample is necessary to make an accurate estimate 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FAC8D0C-FF7E-0C01-906F-F3BFA5BD0E3E}"/>
                  </a:ext>
                </a:extLst>
              </p:cNvPr>
              <p:cNvSpPr txBox="1"/>
              <p:nvPr/>
            </p:nvSpPr>
            <p:spPr>
              <a:xfrm>
                <a:off x="585216" y="1125373"/>
                <a:ext cx="11354562" cy="26102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i="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effectLst/>
                    <a:latin typeface="Inter"/>
                  </a:rPr>
                  <a:t>Problem</a:t>
                </a:r>
                <a:r>
                  <a:rPr lang="en-US" b="0" i="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effectLst/>
                    <a:latin typeface="Inter"/>
                  </a:rPr>
                  <a:t>: An aerospace engineer is estimating the average fuel consumption rate of an aircraft engine during cruise conditions. For flight planning and performance certification, the engineer needs 99% confidence that the estimate is within 2 gallons per hour of the true mean consumption rate. Flight test data shows a standard deviation of 4.3 gallons per hour. How many minimum samples he needs?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Inter"/>
                </a:endParaRP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Inter"/>
                  </a:rPr>
                  <a:t>Ans: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Inter"/>
                  </a:rPr>
                  <a:t>Given: 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Inter"/>
                  </a:rPr>
                  <a:t> = 2.58 (for 99% confidence level) ,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 </a:t>
                </a:r>
                <a:r>
                  <a:rPr lang="el-G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σ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4.3, 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  E = 2 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FAC8D0C-FF7E-0C01-906F-F3BFA5BD0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216" y="1125373"/>
                <a:ext cx="11354562" cy="2610202"/>
              </a:xfrm>
              <a:prstGeom prst="rect">
                <a:avLst/>
              </a:prstGeom>
              <a:blipFill>
                <a:blip r:embed="rId2"/>
                <a:stretch>
                  <a:fillRect l="-429" t="-1402" b="-2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DF17FF0E-EF8C-4759-9424-7CE1D5878A10}"/>
              </a:ext>
            </a:extLst>
          </p:cNvPr>
          <p:cNvSpPr txBox="1"/>
          <p:nvPr/>
        </p:nvSpPr>
        <p:spPr>
          <a:xfrm>
            <a:off x="667512" y="5491079"/>
            <a:ext cx="99120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be 99% confident that the estimate is within 2 units of the true mean, the engineer needs a sample of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at least 32 measurements.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CE1124-2596-45C8-35A5-01D236861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3735575"/>
            <a:ext cx="2180568" cy="7742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FE3734-1C8D-BB9C-F7C9-7D1C502061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008" y="4646828"/>
            <a:ext cx="2620056" cy="7742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F5B7BDB-E131-C016-4006-70A9A18FFE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3584" y="2258994"/>
            <a:ext cx="3419952" cy="1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348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B431F-94E0-D3E6-3E18-FC5D7EC03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D87C62B-27A2-1076-AD33-E3A4C246E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813"/>
            <a:ext cx="10515600" cy="604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Sample Size</a:t>
            </a:r>
            <a:endParaRPr lang="en-US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501E41-6921-E16F-4705-8762DCD3CA1C}"/>
              </a:ext>
            </a:extLst>
          </p:cNvPr>
          <p:cNvSpPr txBox="1"/>
          <p:nvPr/>
        </p:nvSpPr>
        <p:spPr>
          <a:xfrm>
            <a:off x="77723" y="807107"/>
            <a:ext cx="1100480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Problem: I have 2 sets of population with 15 data points in each: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Population1 = [ 3, 4, 2, 5, 2, 6, 3, 4, 3, 3, 2, 1, 3, 2, 2 ]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Population1 has standard deviation of 1.33.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Population2 = [-4.35, -4.35, -4.35, -4.35, -4.35, 10.35, 10.35, 10.35, 10.35, 10.35, 3.00, 3.00, 3.00, 3.00, 3.00 ]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Population2 has standard deviation of 6.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Both population have same mean, and we have to determine that mean value.  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I am allowed to take only 10 sample points to determine mean value,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which population should I use to get better estimate of the mean?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Ans: From the relation,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we see that for E, margin of error, to be minimum we should select population with low standard deviation </a:t>
            </a:r>
            <a:r>
              <a:rPr lang="el-GR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σ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 Select population1.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1EEE31-5079-8E12-E776-1EE930D82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8545" y="4976096"/>
            <a:ext cx="3136132" cy="7088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8BD163-0BC5-2BEB-729C-8AF646D90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352" y="2258684"/>
            <a:ext cx="2347657" cy="271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158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FC560-213D-1E24-4DAF-4D80066B3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1764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639BD-7088-7A8A-2DC4-93464EEC6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0154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299A9-8B60-3AB4-8C11-D79265205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9A682-E186-067F-908A-9F1F877E0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2F828B-6C85-4B7B-1C32-F0415D75DB57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5458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DAB30-CEB3-B5B9-9894-04FFC0CAA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A69F5-1548-1E18-ED4E-822A76622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BCA2C9-FDBB-E835-A10E-FFE6F491D89C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4588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1038</TotalTime>
  <Words>745</Words>
  <Application>Microsoft Office PowerPoint</Application>
  <PresentationFormat>Widescreen</PresentationFormat>
  <Paragraphs>80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Inter</vt:lpstr>
      <vt:lpstr>Office Theme</vt:lpstr>
      <vt:lpstr>Sample Size</vt:lpstr>
      <vt:lpstr>Factors that Effect the Accuracy of Estimate</vt:lpstr>
      <vt:lpstr>Factors that Effect the Accuracy of Estimate</vt:lpstr>
      <vt:lpstr>How large a sample is necessary to make an accurate estimate ?</vt:lpstr>
      <vt:lpstr>How large a sample is necessary to make an accurate estimate ?</vt:lpstr>
      <vt:lpstr>Sample Size</vt:lpstr>
      <vt:lpstr>PowerPoint Presentation</vt:lpstr>
      <vt:lpstr>PowerPoint Presentation</vt:lpstr>
      <vt:lpstr>EXTRA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140</cp:revision>
  <dcterms:created xsi:type="dcterms:W3CDTF">2025-09-22T02:44:38Z</dcterms:created>
  <dcterms:modified xsi:type="dcterms:W3CDTF">2025-10-23T10:31:51Z</dcterms:modified>
</cp:coreProperties>
</file>