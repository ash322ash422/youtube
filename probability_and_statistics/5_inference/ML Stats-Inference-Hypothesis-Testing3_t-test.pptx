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4" r:id="rId8"/>
    <p:sldId id="267" r:id="rId9"/>
    <p:sldId id="265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D9F19-93F9-7828-38F8-879EA79F33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A9BB61-ED90-A142-ED8C-6F0CC8F69D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9D72F-BC4E-2DF6-EBB6-D517A5A7B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54E26-2C84-4DD7-A44C-34E9A4609F20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D36990-4366-D733-04CE-8FBB29CC0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DEE47-E747-BC92-DC75-533B21ABE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580D6-B413-4C32-9760-18E248CD1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488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CCDC6-E13A-FCCA-B3EB-A2502340B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E8D9F-FE33-3CF7-7574-24963281E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F8D6D-4EDC-6BD4-8019-BF5931D81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54E26-2C84-4DD7-A44C-34E9A4609F20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51F12-8E86-2ECA-751D-871740EBB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15035-C42F-58F6-26F6-0DDFB52D1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580D6-B413-4C32-9760-18E248CD1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316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ECFB7-91FD-A891-3E71-D7AB34630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5FDA4F-0136-678F-6435-721756E08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925BA-B8BB-F6B5-B0FD-F03EC0065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54E26-2C84-4DD7-A44C-34E9A4609F20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5985-A8CF-1333-7E11-1B085FFA0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24E88-10C0-88A4-B441-175F325F4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580D6-B413-4C32-9760-18E248CD1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359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B186F-BED3-0FD4-866F-331FFF473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3479E-A7EB-7AD6-7C91-D15563D620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32193C-0667-00B4-729C-5A701D0566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DE001-5B63-22F5-92EC-A94350007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54E26-2C84-4DD7-A44C-34E9A4609F20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ECD574-94FA-D042-237C-5F31C2F3E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F1A892-9453-E296-9BAA-0F589A3FD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580D6-B413-4C32-9760-18E248CD1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733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A0708-06EF-6F7F-1505-55788F4A6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97BDA-835A-324E-6052-3685AB326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433A68-3D7C-3440-24E2-2794E52C36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6D890F-5D4A-5195-0FE2-119BEF6B3F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41EECD-4CCF-3B92-21B0-2B21758060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2B7F6A-EAEC-413E-3AE1-0A24BF58B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54E26-2C84-4DD7-A44C-34E9A4609F20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907BC3-8A55-F7EB-25BB-9E78A17CA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BC282C-5CB7-D119-A887-CBBA19726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580D6-B413-4C32-9760-18E248CD1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745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A692E-B41C-8CB0-4C69-BCAD6A6D6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CF50D6-2C68-EC1D-6FDE-6598E9885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54E26-2C84-4DD7-A44C-34E9A4609F20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125488-87D2-9E6F-F1E9-B0F9BD20D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B39FE4-E221-3760-4FDC-F8576AC72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580D6-B413-4C32-9760-18E248CD1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436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3B6E2D-6D22-3E0F-5E65-EF72DAB04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54E26-2C84-4DD7-A44C-34E9A4609F20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B716C4-3307-AAE9-5688-D5915E433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397C82-B78D-281C-CA31-98BCD4C8C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580D6-B413-4C32-9760-18E248CD1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547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46FF7-F9CD-E940-58AF-A28D5B7F1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F1335-BE1B-F3A3-8780-98999C41F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ABA8C3-BA6D-C189-D460-11EED4209D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ABE6BE-D0A9-2901-A247-9D5F88A44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54E26-2C84-4DD7-A44C-34E9A4609F20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B645D-597B-D46B-23BD-CF555C71B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D72CB0-6695-E4C9-7417-12CE2E6F2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580D6-B413-4C32-9760-18E248CD1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676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46DFB-CB7E-18C6-DB36-DA6C48F83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C11BAE-32D6-5311-D385-27674E13CE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BB01D8-B2EE-1842-8421-0F84CF3141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F9A86C-B165-3A83-7591-D559278A0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54E26-2C84-4DD7-A44C-34E9A4609F20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2424F-1E94-4A8F-6144-29F39DDF0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3ADD6F-ED00-5FF3-493C-49E3D9D65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580D6-B413-4C32-9760-18E248CD1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118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91301-8FFE-30B5-3A24-BFFDA36F3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055B0B-16F8-0C2F-3965-FB84D047F2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124DF-CD06-BF43-5762-9107DB6C7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54E26-2C84-4DD7-A44C-34E9A4609F20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A3386-2B54-C582-F3BB-3CC2F2670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E3DCA-5B6A-3FD9-1438-F3429DE41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580D6-B413-4C32-9760-18E248CD1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178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4F0882-2905-ADDD-CFC9-8D43835EC3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EF62AB-F01E-0349-600B-166192A0F1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FA03D-0E80-8D95-3635-039C07C54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54E26-2C84-4DD7-A44C-34E9A4609F20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6D98B-2FA3-3D72-2B51-8EDBDEFA1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93BB4-F894-E8AA-84C8-431EA6876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580D6-B413-4C32-9760-18E248CD1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137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BDC7CE-1302-5C2A-784B-84232EEC9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78F2E2-8B2F-BD6D-2A36-0596312298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97D5EB-F0E4-1728-B259-5437833DDE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54E26-2C84-4DD7-A44C-34E9A4609F20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BB438-8A93-CB31-A9C9-BDF86AB297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47C5F-0C0B-89D3-98FE-7612C9E122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F580D6-B413-4C32-9760-18E248CD1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148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731AE-19A9-C617-E53A-4D765877DF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Hypothesis Testing using T-test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53FF5F-B325-ED55-CA9A-661FD62E4C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387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AC7EA30-CFE1-0838-51B7-B2F68905C53A}"/>
              </a:ext>
            </a:extLst>
          </p:cNvPr>
          <p:cNvSpPr txBox="1"/>
          <p:nvPr/>
        </p:nvSpPr>
        <p:spPr>
          <a:xfrm>
            <a:off x="411480" y="1391656"/>
            <a:ext cx="965606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t distribution is similar to the standard normal distribution in the following ways. </a:t>
            </a:r>
          </a:p>
          <a:p>
            <a:pPr marL="342900" indent="-342900">
              <a:buAutoNum type="arabicPeriod"/>
            </a:pPr>
            <a:r>
              <a:rPr lang="en-US" dirty="0"/>
              <a:t>It is bell-shaped. </a:t>
            </a:r>
          </a:p>
          <a:p>
            <a:pPr marL="342900" indent="-342900">
              <a:buAutoNum type="arabicPeriod"/>
            </a:pPr>
            <a:r>
              <a:rPr lang="en-US" dirty="0"/>
              <a:t>It is symmetric about the mean. </a:t>
            </a:r>
          </a:p>
          <a:p>
            <a:pPr marL="342900" indent="-342900">
              <a:buAutoNum type="arabicPeriod"/>
            </a:pPr>
            <a:r>
              <a:rPr lang="en-US" dirty="0"/>
              <a:t>The mean, median, and mode are equal to 0 and are located at the center of the distribution.</a:t>
            </a:r>
          </a:p>
          <a:p>
            <a:pPr marL="342900" indent="-342900">
              <a:buAutoNum type="arabicPeriod"/>
            </a:pPr>
            <a:r>
              <a:rPr lang="en-US" dirty="0"/>
              <a:t>The curve approaches but never touches the x axis. </a:t>
            </a:r>
          </a:p>
          <a:p>
            <a:pPr marL="342900" indent="-342900">
              <a:buAutoNum type="arabicPeriod"/>
            </a:pPr>
            <a:endParaRPr lang="en-US" dirty="0"/>
          </a:p>
          <a:p>
            <a:r>
              <a:rPr lang="en-US" dirty="0"/>
              <a:t>The t distribution differs from the standard normal distribution in the following ways.</a:t>
            </a:r>
          </a:p>
          <a:p>
            <a:r>
              <a:rPr lang="en-US" dirty="0"/>
              <a:t>1. The variance is greater than 1. </a:t>
            </a:r>
          </a:p>
          <a:p>
            <a:r>
              <a:rPr lang="en-US" dirty="0"/>
              <a:t>2. The t distribution is a family of curves based on the degrees of freedom, which is a number related to sample size. </a:t>
            </a:r>
          </a:p>
          <a:p>
            <a:r>
              <a:rPr lang="en-US" dirty="0"/>
              <a:t>3. As the sample size increases, the t distribution approaches the normal distribution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421480-B20D-B7EC-0710-6BE980F69F32}"/>
              </a:ext>
            </a:extLst>
          </p:cNvPr>
          <p:cNvSpPr txBox="1"/>
          <p:nvPr/>
        </p:nvSpPr>
        <p:spPr>
          <a:xfrm>
            <a:off x="486918" y="251567"/>
            <a:ext cx="83553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When the population standard deviation is unknown, the z-test is not typically used for testing hypotheses involving means. A different test, called the t test, is used. </a:t>
            </a:r>
          </a:p>
        </p:txBody>
      </p:sp>
    </p:spTree>
    <p:extLst>
      <p:ext uri="{BB962C8B-B14F-4D97-AF65-F5344CB8AC3E}">
        <p14:creationId xmlns:p14="http://schemas.microsoft.com/office/powerpoint/2010/main" val="3085216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1961D-D214-3E41-5EA4-EAA7D5107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610A019-BE8C-A33F-6249-BF209CB841A8}"/>
              </a:ext>
            </a:extLst>
          </p:cNvPr>
          <p:cNvSpPr txBox="1"/>
          <p:nvPr/>
        </p:nvSpPr>
        <p:spPr>
          <a:xfrm>
            <a:off x="157734" y="981748"/>
            <a:ext cx="60944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t test is a statistical test for the mean of a population and is used when the population is approximately normally distributed and </a:t>
            </a:r>
            <a:r>
              <a:rPr lang="el-GR" dirty="0"/>
              <a:t>σ</a:t>
            </a:r>
            <a:r>
              <a:rPr lang="en-US" dirty="0"/>
              <a:t> is unknown. The formula for the t test is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C191D6E-B469-0730-84D0-32BE83655A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154" y="2299609"/>
            <a:ext cx="1612329" cy="8778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59990B-1DC2-002D-29EF-99D78E6F2BB5}"/>
              </a:ext>
            </a:extLst>
          </p:cNvPr>
          <p:cNvSpPr txBox="1"/>
          <p:nvPr/>
        </p:nvSpPr>
        <p:spPr>
          <a:xfrm>
            <a:off x="340614" y="3881735"/>
            <a:ext cx="60944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Assumptions for the t Test for a Mean When  Is Unknown</a:t>
            </a:r>
          </a:p>
          <a:p>
            <a:r>
              <a:rPr lang="en-US" dirty="0"/>
              <a:t> 1. The sample is a random sample. </a:t>
            </a:r>
          </a:p>
          <a:p>
            <a:r>
              <a:rPr lang="en-US" dirty="0"/>
              <a:t>2. Either n &gt;= 30 or the population is normally distributed when n &lt; 30.</a:t>
            </a:r>
          </a:p>
        </p:txBody>
      </p:sp>
    </p:spTree>
    <p:extLst>
      <p:ext uri="{BB962C8B-B14F-4D97-AF65-F5344CB8AC3E}">
        <p14:creationId xmlns:p14="http://schemas.microsoft.com/office/powerpoint/2010/main" val="2873876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72AF27-2179-E275-AC3D-73882613BF2A}"/>
              </a:ext>
            </a:extLst>
          </p:cNvPr>
          <p:cNvSpPr txBox="1"/>
          <p:nvPr/>
        </p:nvSpPr>
        <p:spPr>
          <a:xfrm>
            <a:off x="294894" y="851053"/>
            <a:ext cx="652653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When you test hypotheses by using the t test (traditional method), follow the same procedure as for the z test, ( except use different table to find t-value) .</a:t>
            </a:r>
          </a:p>
          <a:p>
            <a:r>
              <a:rPr lang="en-US" dirty="0"/>
              <a:t>Step 1 State the hypotheses and identify the claim. </a:t>
            </a:r>
          </a:p>
          <a:p>
            <a:r>
              <a:rPr lang="en-US" dirty="0"/>
              <a:t>Step 2 Find the critical value from table. </a:t>
            </a:r>
          </a:p>
          <a:p>
            <a:r>
              <a:rPr lang="en-US" dirty="0"/>
              <a:t>Step 3 Compute the t test value. </a:t>
            </a:r>
          </a:p>
          <a:p>
            <a:r>
              <a:rPr lang="en-US" dirty="0"/>
              <a:t>Step 4 Make the decision to reject or not reject the null hypothesis. </a:t>
            </a:r>
          </a:p>
          <a:p>
            <a:r>
              <a:rPr lang="en-US" dirty="0"/>
              <a:t>Step 5 Summarize the results.</a:t>
            </a:r>
          </a:p>
        </p:txBody>
      </p:sp>
    </p:spTree>
    <p:extLst>
      <p:ext uri="{BB962C8B-B14F-4D97-AF65-F5344CB8AC3E}">
        <p14:creationId xmlns:p14="http://schemas.microsoft.com/office/powerpoint/2010/main" val="3290229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59D2A7-E99F-6FFE-5275-2A35577A250A}"/>
              </a:ext>
            </a:extLst>
          </p:cNvPr>
          <p:cNvSpPr txBox="1"/>
          <p:nvPr/>
        </p:nvSpPr>
        <p:spPr>
          <a:xfrm>
            <a:off x="349758" y="478596"/>
            <a:ext cx="609447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/>
              <a:t>In a population of metal components, the average lifetime without a protective paint coating is </a:t>
            </a:r>
            <a:r>
              <a:rPr lang="en-US" sz="1600" b="1" dirty="0"/>
              <a:t>101 months</a:t>
            </a:r>
            <a:r>
              <a:rPr lang="en-US" sz="1600" dirty="0"/>
              <a:t>. The lifetime is assumed to be normally distributed, but the </a:t>
            </a:r>
            <a:r>
              <a:rPr lang="en-US" sz="1600" b="1" dirty="0"/>
              <a:t>population</a:t>
            </a:r>
            <a:r>
              <a:rPr lang="en-US" sz="1600" dirty="0"/>
              <a:t> standard deviation is </a:t>
            </a:r>
            <a:r>
              <a:rPr lang="en-US" sz="1600" b="1" dirty="0"/>
              <a:t>unknown</a:t>
            </a:r>
            <a:r>
              <a:rPr lang="en-US" sz="1600" dirty="0"/>
              <a:t>.</a:t>
            </a:r>
            <a:br>
              <a:rPr lang="en-US" sz="1600" dirty="0"/>
            </a:br>
            <a:r>
              <a:rPr lang="en-US" sz="1600" dirty="0"/>
              <a:t>An engineer claims that applying the new protective paint coating </a:t>
            </a:r>
            <a:r>
              <a:rPr lang="en-US" sz="1600" b="1" dirty="0"/>
              <a:t>increases</a:t>
            </a:r>
            <a:r>
              <a:rPr lang="en-US" sz="1600" dirty="0"/>
              <a:t> the mean lifetime of the component beyond 101 months.</a:t>
            </a:r>
            <a:br>
              <a:rPr lang="en-US" sz="1600" dirty="0"/>
            </a:br>
            <a:r>
              <a:rPr lang="en-US" sz="1600" dirty="0"/>
              <a:t>She tests this claim by selecting a random sample of </a:t>
            </a:r>
            <a:r>
              <a:rPr lang="en-US" sz="1600" b="1" dirty="0"/>
              <a:t>20 components</a:t>
            </a:r>
            <a:r>
              <a:rPr lang="en-US" sz="1600" dirty="0"/>
              <a:t> with the coating and finds that the sample mean lifetime is </a:t>
            </a:r>
            <a:r>
              <a:rPr lang="en-US" sz="1600" b="1" dirty="0"/>
              <a:t>107 months</a:t>
            </a:r>
            <a:r>
              <a:rPr lang="en-US" sz="1600" dirty="0"/>
              <a:t> with a </a:t>
            </a:r>
            <a:r>
              <a:rPr lang="en-US" sz="1600" b="1" dirty="0"/>
              <a:t>sample standard deviation of 8 months</a:t>
            </a:r>
            <a:r>
              <a:rPr lang="en-US" sz="1600" dirty="0"/>
              <a:t>.</a:t>
            </a:r>
            <a:br>
              <a:rPr lang="en-US" sz="1600" dirty="0"/>
            </a:br>
            <a:r>
              <a:rPr lang="en-US" sz="1600" dirty="0"/>
              <a:t>Test the engineer’s claim at α=0.05.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F1DF8A-21C0-2E1F-07FD-30CF66457C64}"/>
              </a:ext>
            </a:extLst>
          </p:cNvPr>
          <p:cNvSpPr txBox="1"/>
          <p:nvPr/>
        </p:nvSpPr>
        <p:spPr>
          <a:xfrm>
            <a:off x="201168" y="4840516"/>
            <a:ext cx="609447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Step 1) State the hypotheses and identify the claim. </a:t>
            </a:r>
          </a:p>
          <a:p>
            <a:r>
              <a:rPr lang="en-US" sz="1400" dirty="0"/>
              <a:t>H0: </a:t>
            </a:r>
            <a:r>
              <a:rPr lang="el-GR" sz="1400" dirty="0"/>
              <a:t>μ</a:t>
            </a:r>
            <a:r>
              <a:rPr lang="en-US" sz="1400" dirty="0"/>
              <a:t>= 101 (The mean lifetime is 101 months; the coating has no effect)</a:t>
            </a:r>
          </a:p>
          <a:p>
            <a:r>
              <a:rPr lang="en-US" sz="1400" dirty="0"/>
              <a:t>H1: </a:t>
            </a:r>
            <a:r>
              <a:rPr lang="el-GR" sz="1400" dirty="0"/>
              <a:t>μ</a:t>
            </a:r>
            <a:r>
              <a:rPr lang="en-US" sz="1400" dirty="0"/>
              <a:t> &gt;  101 (claim: The mean lifetime is greater than 101 months; the coating increases lifetime.) </a:t>
            </a:r>
          </a:p>
          <a:p>
            <a:endParaRPr lang="en-US" sz="1400" dirty="0"/>
          </a:p>
          <a:p>
            <a:r>
              <a:rPr lang="en-US" sz="1400" dirty="0"/>
              <a:t>Step 2) Find the critical value. Since α = 0.05 and the test is a right-tailed test, and </a:t>
            </a:r>
            <a:r>
              <a:rPr lang="en-US" sz="1400" dirty="0" err="1"/>
              <a:t>d.f.</a:t>
            </a:r>
            <a:r>
              <a:rPr lang="en-US" sz="1400" dirty="0"/>
              <a:t> = 20-1 = 19, the critical value is t</a:t>
            </a:r>
            <a:r>
              <a:rPr lang="en-US" sz="1050" dirty="0"/>
              <a:t>α</a:t>
            </a:r>
            <a:r>
              <a:rPr lang="en-US" sz="1400" dirty="0"/>
              <a:t>  = 1.729 (use t-</a:t>
            </a:r>
            <a:r>
              <a:rPr lang="en-US" sz="1400" dirty="0" err="1"/>
              <a:t>dist</a:t>
            </a:r>
            <a:r>
              <a:rPr lang="en-US" sz="1400" dirty="0"/>
              <a:t> table) </a:t>
            </a:r>
          </a:p>
          <a:p>
            <a:endParaRPr lang="en-US" sz="1400" dirty="0"/>
          </a:p>
          <a:p>
            <a:r>
              <a:rPr lang="en-US" sz="1400" dirty="0"/>
              <a:t>Step 3) Compute the t test value . Using formula,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4989CF0-2DC8-93EE-1547-B413367629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1945" y="1137587"/>
            <a:ext cx="1743761" cy="96572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8DE2F3-3545-10FC-D160-CCAF804679E9}"/>
              </a:ext>
            </a:extLst>
          </p:cNvPr>
          <p:cNvSpPr txBox="1"/>
          <p:nvPr/>
        </p:nvSpPr>
        <p:spPr>
          <a:xfrm>
            <a:off x="6631687" y="2484043"/>
            <a:ext cx="52920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Step 4) Make the decision to reject or not reject the null hypothesis.</a:t>
            </a:r>
          </a:p>
          <a:p>
            <a:r>
              <a:rPr lang="en-US" sz="1400" dirty="0"/>
              <a:t>Since 3.35 &gt; 1.729 (the critical value), so reject the null hypothesis.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2E432C8-2244-8630-8907-C28370CC3841}"/>
              </a:ext>
            </a:extLst>
          </p:cNvPr>
          <p:cNvCxnSpPr/>
          <p:nvPr/>
        </p:nvCxnSpPr>
        <p:spPr>
          <a:xfrm>
            <a:off x="6432804" y="246888"/>
            <a:ext cx="0" cy="64373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9E63DD4E-317A-B9E5-E032-470BCC54B1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7728" y="4085451"/>
            <a:ext cx="4141842" cy="176502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68A46F2-D7C9-3A84-B17E-07D5BE7B95D6}"/>
              </a:ext>
            </a:extLst>
          </p:cNvPr>
          <p:cNvSpPr txBox="1"/>
          <p:nvPr/>
        </p:nvSpPr>
        <p:spPr>
          <a:xfrm>
            <a:off x="6576822" y="6005822"/>
            <a:ext cx="552983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Step 5) Summarize the results:</a:t>
            </a:r>
          </a:p>
          <a:p>
            <a:r>
              <a:rPr lang="en-US" sz="1400" dirty="0"/>
              <a:t>There is enough evidence to support the claim that the paint coating increases the mean lifetime of the component.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824C23F1-D25E-73B5-5EBD-B4975D2AF92B}"/>
              </a:ext>
            </a:extLst>
          </p:cNvPr>
          <p:cNvSpPr txBox="1">
            <a:spLocks/>
          </p:cNvSpPr>
          <p:nvPr/>
        </p:nvSpPr>
        <p:spPr>
          <a:xfrm>
            <a:off x="295656" y="206629"/>
            <a:ext cx="5443728" cy="3206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/>
              <a:t>Scenario2: t test for a mean when </a:t>
            </a:r>
            <a:r>
              <a:rPr lang="el-GR" sz="2000" b="1" dirty="0"/>
              <a:t>σ</a:t>
            </a:r>
            <a:r>
              <a:rPr lang="en-US" sz="2000" b="1" dirty="0"/>
              <a:t> is unknown (p3)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4FBDA3-4B07-9277-8041-13088E4950EF}"/>
              </a:ext>
            </a:extLst>
          </p:cNvPr>
          <p:cNvSpPr txBox="1"/>
          <p:nvPr/>
        </p:nvSpPr>
        <p:spPr>
          <a:xfrm>
            <a:off x="121158" y="3139732"/>
            <a:ext cx="609447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effectLst/>
              </a:rPr>
              <a:t>Following are sample </a:t>
            </a:r>
            <a:r>
              <a:rPr lang="en-US" sz="1400" b="0" i="0">
                <a:effectLst/>
              </a:rPr>
              <a:t>values</a:t>
            </a:r>
            <a:r>
              <a:rPr lang="en-US" sz="1400"/>
              <a:t> with mean </a:t>
            </a:r>
            <a:r>
              <a:rPr lang="en-US" sz="1400" dirty="0"/>
              <a:t>106.5 and standard deviation 7.963:</a:t>
            </a:r>
            <a:endParaRPr lang="en-US" sz="1400" b="0" i="0" dirty="0">
              <a:effectLst/>
            </a:endParaRPr>
          </a:p>
          <a:p>
            <a:r>
              <a:rPr lang="en-US" sz="1400" b="0" i="0" dirty="0">
                <a:effectLst/>
              </a:rPr>
              <a:t>[112 107 113 121 106 106 121 114 104 112 104 104 110 92 94 103 100 111 100 96]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680716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A6C237-98B8-E281-6541-BCFDD8F211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517" y="1070759"/>
            <a:ext cx="9523751" cy="52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689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E68CF-9DCB-627E-6DFB-F9807546C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FD86F32-FA03-2BEF-A4F4-BB2BFC986A47}"/>
              </a:ext>
            </a:extLst>
          </p:cNvPr>
          <p:cNvSpPr txBox="1"/>
          <p:nvPr/>
        </p:nvSpPr>
        <p:spPr>
          <a:xfrm>
            <a:off x="301752" y="3167164"/>
            <a:ext cx="60944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Step 1) State the hypotheses and identify the claim. </a:t>
            </a:r>
          </a:p>
          <a:p>
            <a:r>
              <a:rPr lang="en-US" sz="1600" dirty="0"/>
              <a:t>H0: </a:t>
            </a:r>
            <a:r>
              <a:rPr lang="el-GR" sz="1600" dirty="0"/>
              <a:t>μ</a:t>
            </a:r>
            <a:r>
              <a:rPr lang="en-US" sz="1600" dirty="0"/>
              <a:t> = 5 mm (no improvement)</a:t>
            </a:r>
          </a:p>
          <a:p>
            <a:r>
              <a:rPr lang="en-US" sz="1600" dirty="0"/>
              <a:t>H1: </a:t>
            </a:r>
            <a:r>
              <a:rPr lang="el-GR" sz="1600" dirty="0"/>
              <a:t>μ</a:t>
            </a:r>
            <a:r>
              <a:rPr lang="en-US" sz="1600" dirty="0"/>
              <a:t> &lt;  5 (claim: system reduces mean contaminant level) </a:t>
            </a:r>
          </a:p>
          <a:p>
            <a:endParaRPr lang="en-US" sz="1600" dirty="0"/>
          </a:p>
          <a:p>
            <a:r>
              <a:rPr lang="en-US" sz="1600" dirty="0"/>
              <a:t>Step 2) Find the critical value. Since α = 0.10 and the test is a left-tailed test, and </a:t>
            </a:r>
            <a:r>
              <a:rPr lang="en-US" sz="1600" dirty="0" err="1"/>
              <a:t>d.f.</a:t>
            </a:r>
            <a:r>
              <a:rPr lang="en-US" sz="1600" dirty="0"/>
              <a:t> = 15-1 = 14, the critical value is t</a:t>
            </a:r>
            <a:r>
              <a:rPr lang="en-US" sz="1100" dirty="0"/>
              <a:t>α</a:t>
            </a:r>
            <a:r>
              <a:rPr lang="en-US" sz="1600" dirty="0"/>
              <a:t>  = -1.345 (use t-</a:t>
            </a:r>
            <a:r>
              <a:rPr lang="en-US" sz="1600" dirty="0" err="1"/>
              <a:t>dist</a:t>
            </a:r>
            <a:r>
              <a:rPr lang="en-US" sz="1600" dirty="0"/>
              <a:t> table, and use – sign because it is left-tailed) </a:t>
            </a:r>
          </a:p>
          <a:p>
            <a:endParaRPr lang="en-US" sz="1600" dirty="0"/>
          </a:p>
          <a:p>
            <a:r>
              <a:rPr lang="en-US" sz="1600" dirty="0"/>
              <a:t>Step 3) Compute the t test value. Using formula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B96EA8-0B95-E024-E664-38EA0BB195C2}"/>
              </a:ext>
            </a:extLst>
          </p:cNvPr>
          <p:cNvSpPr txBox="1"/>
          <p:nvPr/>
        </p:nvSpPr>
        <p:spPr>
          <a:xfrm>
            <a:off x="349758" y="780348"/>
            <a:ext cx="60944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/>
              <a:t>Example: </a:t>
            </a:r>
          </a:p>
          <a:p>
            <a:r>
              <a:rPr lang="en-US" sz="1600" dirty="0"/>
              <a:t>A water treatment plant claims their new filtration system reduces contaminant levels to </a:t>
            </a:r>
            <a:r>
              <a:rPr lang="en-US" sz="1600" b="1" dirty="0"/>
              <a:t>below 5 ppm</a:t>
            </a:r>
            <a:r>
              <a:rPr lang="en-US" sz="1600" dirty="0"/>
              <a:t> (the historical population mean). Environmental engineers want to verify that the system performs better than this standard.</a:t>
            </a:r>
            <a:br>
              <a:rPr lang="en-US" sz="1600" dirty="0"/>
            </a:br>
            <a:r>
              <a:rPr lang="en-US" sz="1600" dirty="0"/>
              <a:t>A random sample of </a:t>
            </a:r>
            <a:r>
              <a:rPr lang="en-US" sz="1600" b="1" dirty="0"/>
              <a:t>15 water samples</a:t>
            </a:r>
            <a:r>
              <a:rPr lang="en-US" sz="1600" dirty="0"/>
              <a:t> is taken after treatment. The sample shows a mean contaminant level of </a:t>
            </a:r>
            <a:r>
              <a:rPr lang="en-US" sz="1600" b="1" dirty="0"/>
              <a:t>4.7 ppm</a:t>
            </a:r>
            <a:r>
              <a:rPr lang="en-US" sz="1600" dirty="0"/>
              <a:t>, with a </a:t>
            </a:r>
            <a:r>
              <a:rPr lang="en-US" sz="1600" b="1" dirty="0"/>
              <a:t>sample standard deviation of 0.6 ppm</a:t>
            </a:r>
            <a:r>
              <a:rPr lang="en-US" sz="1600" dirty="0"/>
              <a:t>.</a:t>
            </a:r>
          </a:p>
          <a:p>
            <a:r>
              <a:rPr lang="en-US" sz="1600" dirty="0"/>
              <a:t>Test the water treatment plant claim at </a:t>
            </a:r>
            <a:r>
              <a:rPr lang="en-US" sz="1600" b="1" dirty="0"/>
              <a:t>α = 0.10</a:t>
            </a:r>
            <a:r>
              <a:rPr lang="en-US" sz="1600" dirty="0"/>
              <a:t>.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0B24F1A-F97E-FFD7-2D9A-97A47BA989FA}"/>
              </a:ext>
            </a:extLst>
          </p:cNvPr>
          <p:cNvCxnSpPr/>
          <p:nvPr/>
        </p:nvCxnSpPr>
        <p:spPr>
          <a:xfrm>
            <a:off x="6537960" y="512064"/>
            <a:ext cx="0" cy="62179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2267F1F-D997-81ED-1D24-91215399EEEC}"/>
              </a:ext>
            </a:extLst>
          </p:cNvPr>
          <p:cNvSpPr txBox="1"/>
          <p:nvPr/>
        </p:nvSpPr>
        <p:spPr>
          <a:xfrm>
            <a:off x="6631687" y="600379"/>
            <a:ext cx="529208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Step 4) Make the decision to reject or not reject the null hypothesis.</a:t>
            </a:r>
          </a:p>
          <a:p>
            <a:r>
              <a:rPr lang="en-US" sz="1600" dirty="0"/>
              <a:t>Since −1.94 &lt; −1.345 (the critical value), so reject the null hypothesis.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33CBF5B-9EFD-5A9C-F4F0-7320208ACA23}"/>
              </a:ext>
            </a:extLst>
          </p:cNvPr>
          <p:cNvSpPr txBox="1"/>
          <p:nvPr/>
        </p:nvSpPr>
        <p:spPr>
          <a:xfrm>
            <a:off x="6576822" y="4085582"/>
            <a:ext cx="55298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Step 5) Summarize the results:</a:t>
            </a:r>
          </a:p>
          <a:p>
            <a:r>
              <a:rPr lang="en-US" sz="1600" dirty="0"/>
              <a:t>There is enough evidence to conclude that the </a:t>
            </a:r>
            <a:r>
              <a:rPr lang="en-US" sz="1600" b="1" dirty="0"/>
              <a:t>new filtration system reduces the mean contaminant level below 5 ppm</a:t>
            </a:r>
            <a:r>
              <a:rPr lang="en-US" sz="160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78B6B4-EB09-4324-4C30-094747B2AD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8073" y="1923330"/>
            <a:ext cx="3907107" cy="19337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9D5126-3431-80F1-E3CE-40EFCCD5E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88" y="154813"/>
            <a:ext cx="5443728" cy="320675"/>
          </a:xfrm>
        </p:spPr>
        <p:txBody>
          <a:bodyPr>
            <a:noAutofit/>
          </a:bodyPr>
          <a:lstStyle/>
          <a:p>
            <a:r>
              <a:rPr lang="en-US" sz="2000" b="1" dirty="0"/>
              <a:t>Scenario2: t test for a mean when </a:t>
            </a:r>
            <a:r>
              <a:rPr lang="el-GR" sz="2000" b="1" dirty="0"/>
              <a:t>σ</a:t>
            </a:r>
            <a:r>
              <a:rPr lang="en-US" sz="2000" b="1" dirty="0"/>
              <a:t> is unknown (p3)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96597A-B5E9-FAF2-5F1F-DB4FFA0CF7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59" y="5596332"/>
            <a:ext cx="1964033" cy="113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224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753023-7260-5C3C-2E83-83F4C62CCA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523" y="1364105"/>
            <a:ext cx="9813736" cy="4975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586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5C097-3A8B-B96C-CC32-164F6F740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16BE65A-20D5-9833-90EA-4B9AAD0277E6}"/>
              </a:ext>
            </a:extLst>
          </p:cNvPr>
          <p:cNvSpPr txBox="1"/>
          <p:nvPr/>
        </p:nvSpPr>
        <p:spPr>
          <a:xfrm>
            <a:off x="301752" y="3450628"/>
            <a:ext cx="609447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Step 1) State the hypothesis and identify the claim. </a:t>
            </a:r>
          </a:p>
          <a:p>
            <a:r>
              <a:rPr lang="en-US" sz="1600" dirty="0"/>
              <a:t>H0: </a:t>
            </a:r>
            <a:r>
              <a:rPr lang="el-GR" sz="1600" dirty="0"/>
              <a:t>μ</a:t>
            </a:r>
            <a:r>
              <a:rPr lang="en-US" sz="1600" dirty="0"/>
              <a:t> = 82 BPM (The medication has </a:t>
            </a:r>
            <a:r>
              <a:rPr lang="en-US" sz="1600" b="1" dirty="0"/>
              <a:t>no effect</a:t>
            </a:r>
            <a:r>
              <a:rPr lang="en-US" sz="1600" dirty="0"/>
              <a:t> on mean pulse rate.)</a:t>
            </a:r>
          </a:p>
          <a:p>
            <a:r>
              <a:rPr lang="en-US" sz="1600" dirty="0"/>
              <a:t>H1: </a:t>
            </a:r>
            <a:r>
              <a:rPr lang="el-GR" sz="1600" dirty="0"/>
              <a:t>μ</a:t>
            </a:r>
            <a:r>
              <a:rPr lang="en-US" sz="1600" dirty="0"/>
              <a:t> != 82 BPM (claim: The medication </a:t>
            </a:r>
            <a:r>
              <a:rPr lang="en-US" sz="1600" b="1" dirty="0"/>
              <a:t>does affect</a:t>
            </a:r>
            <a:r>
              <a:rPr lang="en-US" sz="1600" dirty="0"/>
              <a:t> the mean pulse rate (it could be higher or lower)) </a:t>
            </a:r>
          </a:p>
          <a:p>
            <a:endParaRPr lang="en-US" sz="1600" dirty="0"/>
          </a:p>
          <a:p>
            <a:r>
              <a:rPr lang="en-US" sz="1600" dirty="0"/>
              <a:t>Step 2) Find the critical value. Since α = 0.01 and the test is a two-tailed test, and </a:t>
            </a:r>
            <a:r>
              <a:rPr lang="en-US" sz="1600" dirty="0" err="1"/>
              <a:t>d.f.</a:t>
            </a:r>
            <a:r>
              <a:rPr lang="en-US" sz="1600" dirty="0"/>
              <a:t> = 25-1 = 24, the critical value is t</a:t>
            </a:r>
            <a:r>
              <a:rPr lang="en-US" sz="1100" dirty="0"/>
              <a:t>α/2</a:t>
            </a:r>
            <a:r>
              <a:rPr lang="en-US" sz="1600" dirty="0"/>
              <a:t>  = 2.797. (use t-</a:t>
            </a:r>
            <a:r>
              <a:rPr lang="en-US" sz="1600" dirty="0" err="1"/>
              <a:t>dist</a:t>
            </a:r>
            <a:r>
              <a:rPr lang="en-US" sz="1600" dirty="0"/>
              <a:t> table, and we use α/2 = 0.005 to find t value because it is 2-tailed) </a:t>
            </a:r>
          </a:p>
          <a:p>
            <a:endParaRPr lang="en-US" sz="1600" dirty="0"/>
          </a:p>
          <a:p>
            <a:r>
              <a:rPr lang="en-US" sz="1600" dirty="0"/>
              <a:t>Step 3) Compute the t test value 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4B57B8-B556-A8EF-F155-E4B5794B7434}"/>
              </a:ext>
            </a:extLst>
          </p:cNvPr>
          <p:cNvSpPr txBox="1"/>
          <p:nvPr/>
        </p:nvSpPr>
        <p:spPr>
          <a:xfrm>
            <a:off x="276606" y="515172"/>
            <a:ext cx="6094476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A medical researcher is interested in finding out whether a new medication will have any undesirable side effects on patients’ pulse rates. The researcher is concerned whether the pulse rate </a:t>
            </a:r>
            <a:r>
              <a:rPr lang="en-US" sz="1600" b="1" dirty="0"/>
              <a:t>increases, decreases, or stays the same</a:t>
            </a:r>
            <a:r>
              <a:rPr lang="en-US" sz="1600" dirty="0"/>
              <a:t> after taking the medication.</a:t>
            </a:r>
            <a:br>
              <a:rPr lang="en-US" sz="1600" dirty="0"/>
            </a:br>
            <a:r>
              <a:rPr lang="en-US" sz="1600" dirty="0"/>
              <a:t>The mean pulse rate for the population under study is </a:t>
            </a:r>
            <a:r>
              <a:rPr lang="en-US" sz="1600" b="1" dirty="0"/>
              <a:t>82 bpm</a:t>
            </a:r>
            <a:r>
              <a:rPr lang="en-US" sz="1600" dirty="0"/>
              <a:t>, but the </a:t>
            </a:r>
            <a:r>
              <a:rPr lang="en-US" sz="1600" b="1" dirty="0"/>
              <a:t>population standard deviation is unknown</a:t>
            </a:r>
            <a:r>
              <a:rPr lang="en-US" sz="1600" dirty="0"/>
              <a:t>.</a:t>
            </a:r>
            <a:br>
              <a:rPr lang="en-US" sz="1600" dirty="0"/>
            </a:br>
            <a:r>
              <a:rPr lang="en-US" sz="1600" dirty="0"/>
              <a:t>To investigate, the researcher selects a random sample of </a:t>
            </a:r>
            <a:r>
              <a:rPr lang="en-US" sz="1600" b="1" dirty="0"/>
              <a:t>25 patients</a:t>
            </a:r>
            <a:r>
              <a:rPr lang="en-US" sz="1600" dirty="0"/>
              <a:t> who take the medication. The sample shows a </a:t>
            </a:r>
            <a:r>
              <a:rPr lang="en-US" sz="1600" b="1" dirty="0"/>
              <a:t>mean pulse rate of 80.7 bpm</a:t>
            </a:r>
            <a:r>
              <a:rPr lang="en-US" sz="1600" dirty="0"/>
              <a:t>, with a </a:t>
            </a:r>
            <a:r>
              <a:rPr lang="en-US" sz="1600" b="1" dirty="0"/>
              <a:t>sample standard deviation of 4.5 bpm</a:t>
            </a:r>
            <a:r>
              <a:rPr lang="en-US" sz="1600" dirty="0"/>
              <a:t>.</a:t>
            </a:r>
            <a:br>
              <a:rPr lang="en-US" sz="1600" dirty="0"/>
            </a:br>
            <a:r>
              <a:rPr lang="en-US" sz="1600" dirty="0"/>
              <a:t>Test the claim that the medication </a:t>
            </a:r>
            <a:r>
              <a:rPr lang="en-US" sz="1600" b="1" dirty="0"/>
              <a:t>does affect</a:t>
            </a:r>
            <a:r>
              <a:rPr lang="en-US" sz="1600" dirty="0"/>
              <a:t> the mean pulse rate at α=0.01.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27D6C2-EE2C-3CB0-AE7E-39D13514FC2A}"/>
              </a:ext>
            </a:extLst>
          </p:cNvPr>
          <p:cNvCxnSpPr/>
          <p:nvPr/>
        </p:nvCxnSpPr>
        <p:spPr>
          <a:xfrm>
            <a:off x="6537960" y="512064"/>
            <a:ext cx="0" cy="62179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6D8192E-9B38-4AB6-9C4B-436162C8AA60}"/>
              </a:ext>
            </a:extLst>
          </p:cNvPr>
          <p:cNvSpPr txBox="1"/>
          <p:nvPr/>
        </p:nvSpPr>
        <p:spPr>
          <a:xfrm>
            <a:off x="6631687" y="600379"/>
            <a:ext cx="529208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Step 4) Make the decision to reject or not reject the null hypothesis.</a:t>
            </a:r>
          </a:p>
          <a:p>
            <a:r>
              <a:rPr lang="en-US" sz="1600"/>
              <a:t>Since -</a:t>
            </a:r>
            <a:r>
              <a:rPr lang="en-US" sz="1600" dirty="0"/>
              <a:t>2.0137 (the critical value) &lt; -1.44, so </a:t>
            </a:r>
            <a:r>
              <a:rPr lang="en-US" sz="1600" b="1" dirty="0"/>
              <a:t>do not reject the null hypothesis.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1BD518-0208-0443-2030-7142BDB1A9AA}"/>
              </a:ext>
            </a:extLst>
          </p:cNvPr>
          <p:cNvSpPr txBox="1"/>
          <p:nvPr/>
        </p:nvSpPr>
        <p:spPr>
          <a:xfrm>
            <a:off x="6576822" y="4085582"/>
            <a:ext cx="55298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Step 5) Summarize the results:</a:t>
            </a:r>
          </a:p>
          <a:p>
            <a:r>
              <a:rPr lang="en-US" sz="1600" dirty="0"/>
              <a:t>There is </a:t>
            </a:r>
            <a:r>
              <a:rPr lang="en-US" sz="1600" b="1" dirty="0"/>
              <a:t>not enough evidence</a:t>
            </a:r>
            <a:r>
              <a:rPr lang="en-US" sz="1600" dirty="0"/>
              <a:t> to conclude that the medication </a:t>
            </a:r>
            <a:r>
              <a:rPr lang="en-US" sz="1600" b="1" dirty="0"/>
              <a:t>has any effect</a:t>
            </a:r>
            <a:r>
              <a:rPr lang="en-US" sz="1600" dirty="0"/>
              <a:t> on mean pulse rate.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1145208-7F4E-CD14-58C2-5E88FFD461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340" y="1829028"/>
            <a:ext cx="4063873" cy="222823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0AD7597-E5D2-357E-146C-6D74F36CA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88" y="154813"/>
            <a:ext cx="5443728" cy="320675"/>
          </a:xfrm>
        </p:spPr>
        <p:txBody>
          <a:bodyPr>
            <a:noAutofit/>
          </a:bodyPr>
          <a:lstStyle/>
          <a:p>
            <a:r>
              <a:rPr lang="en-US" sz="2000" b="1" dirty="0"/>
              <a:t>Scenario2: t test for a mean when </a:t>
            </a:r>
            <a:r>
              <a:rPr lang="el-GR" sz="2000" b="1" dirty="0"/>
              <a:t>σ</a:t>
            </a:r>
            <a:r>
              <a:rPr lang="en-US" sz="2000" b="1" dirty="0"/>
              <a:t> is unknown (p3)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179EC21-774B-E55E-B017-3A47A66AA9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1377" y="5532120"/>
            <a:ext cx="1984493" cy="1253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325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78AE63-E966-4EFB-20C9-F14972BE53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733" y="749904"/>
            <a:ext cx="9868525" cy="535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037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1198</Words>
  <Application>Microsoft Office PowerPoint</Application>
  <PresentationFormat>Widescreen</PresentationFormat>
  <Paragraphs>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Hypothesis Testing using T-test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Scenario2: t test for a mean when σ is unknown (p3)</vt:lpstr>
      <vt:lpstr>PowerPoint Presentation</vt:lpstr>
      <vt:lpstr>Scenario2: t test for a mean when σ is unknown (p3)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24</cp:revision>
  <dcterms:created xsi:type="dcterms:W3CDTF">2025-07-25T03:44:23Z</dcterms:created>
  <dcterms:modified xsi:type="dcterms:W3CDTF">2025-07-29T03:59:38Z</dcterms:modified>
</cp:coreProperties>
</file>