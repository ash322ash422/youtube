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19"/>
  </p:handoutMasterIdLst>
  <p:sldIdLst>
    <p:sldId id="257" r:id="rId2"/>
    <p:sldId id="278" r:id="rId3"/>
    <p:sldId id="280" r:id="rId4"/>
    <p:sldId id="281" r:id="rId5"/>
    <p:sldId id="290" r:id="rId6"/>
    <p:sldId id="291" r:id="rId7"/>
    <p:sldId id="282" r:id="rId8"/>
    <p:sldId id="283" r:id="rId9"/>
    <p:sldId id="284" r:id="rId10"/>
    <p:sldId id="287" r:id="rId11"/>
    <p:sldId id="285" r:id="rId12"/>
    <p:sldId id="279" r:id="rId13"/>
    <p:sldId id="286" r:id="rId14"/>
    <p:sldId id="289" r:id="rId15"/>
    <p:sldId id="288" r:id="rId16"/>
    <p:sldId id="277" r:id="rId17"/>
    <p:sldId id="27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9D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F7051-67F5-C2A6-490D-03FD43804A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267077"/>
            <a:ext cx="10515600" cy="805307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400" b="1" dirty="0"/>
              <a:t>A/B Testing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340642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C8088-E8EF-61AC-E0D8-79E267BAF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2C389EB-0A5B-A085-0102-A68FBA0378D3}"/>
              </a:ext>
            </a:extLst>
          </p:cNvPr>
          <p:cNvSpPr txBox="1"/>
          <p:nvPr/>
        </p:nvSpPr>
        <p:spPr>
          <a:xfrm>
            <a:off x="293082" y="591235"/>
            <a:ext cx="100675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A/B Testing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(also called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split testing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controlled experiment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used to compare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two versions of something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 determine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which one performs better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based on real user behavior.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Idea: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A/B testing = show Version A to one group and Version B to another group, then measuring which performs better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using data.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is widely used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 science, product development, marketing, and AI systems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28F2D0-AB99-5283-B379-D05E7530EA88}"/>
              </a:ext>
            </a:extLst>
          </p:cNvPr>
          <p:cNvSpPr txBox="1"/>
          <p:nvPr/>
        </p:nvSpPr>
        <p:spPr>
          <a:xfrm>
            <a:off x="9974096" y="1472184"/>
            <a:ext cx="651140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0AEB82-3786-A2CF-6FA1-3D3DD99B6F0B}"/>
              </a:ext>
            </a:extLst>
          </p:cNvPr>
          <p:cNvSpPr txBox="1"/>
          <p:nvPr/>
        </p:nvSpPr>
        <p:spPr>
          <a:xfrm>
            <a:off x="10903736" y="1499616"/>
            <a:ext cx="61587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rgbClr val="E89D38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3310973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EF540-6F9D-A5C1-DD04-DA60DECDC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6E492A-BD84-7BA7-C8CF-698262A68E90}"/>
              </a:ext>
            </a:extLst>
          </p:cNvPr>
          <p:cNvSpPr txBox="1"/>
          <p:nvPr/>
        </p:nvSpPr>
        <p:spPr>
          <a:xfrm>
            <a:off x="150876" y="-47506"/>
            <a:ext cx="1007211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(Website Without/With Chatbot)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Imagine you run a website. You create a new website with chatbot.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6520DF3-A4D6-3913-2122-485E7AE9A4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951675"/>
              </p:ext>
            </p:extLst>
          </p:nvPr>
        </p:nvGraphicFramePr>
        <p:xfrm>
          <a:off x="150876" y="1068723"/>
          <a:ext cx="6624828" cy="1737360"/>
        </p:xfrm>
        <a:graphic>
          <a:graphicData uri="http://schemas.openxmlformats.org/drawingml/2006/table">
            <a:tbl>
              <a:tblPr/>
              <a:tblGrid>
                <a:gridCol w="1668780">
                  <a:extLst>
                    <a:ext uri="{9D8B030D-6E8A-4147-A177-3AD203B41FA5}">
                      <a16:colId xmlns:a16="http://schemas.microsoft.com/office/drawing/2014/main" val="2313327725"/>
                    </a:ext>
                  </a:extLst>
                </a:gridCol>
                <a:gridCol w="1847088">
                  <a:extLst>
                    <a:ext uri="{9D8B030D-6E8A-4147-A177-3AD203B41FA5}">
                      <a16:colId xmlns:a16="http://schemas.microsoft.com/office/drawing/2014/main" val="154814501"/>
                    </a:ext>
                  </a:extLst>
                </a:gridCol>
                <a:gridCol w="1527048">
                  <a:extLst>
                    <a:ext uri="{9D8B030D-6E8A-4147-A177-3AD203B41FA5}">
                      <a16:colId xmlns:a16="http://schemas.microsoft.com/office/drawing/2014/main" val="3961941874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18831571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Version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Chatbot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Purchases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60392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A(Control)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Without Chatbot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80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4167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B(Variant)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With Chatbot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561602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88B5E44-0CB5-A195-D15B-E968C0F9E913}"/>
              </a:ext>
            </a:extLst>
          </p:cNvPr>
          <p:cNvSpPr txBox="1"/>
          <p:nvPr/>
        </p:nvSpPr>
        <p:spPr>
          <a:xfrm>
            <a:off x="4462272" y="3017520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506F9E-B5AC-4C46-F8E0-DBAD50D326E0}"/>
              </a:ext>
            </a:extLst>
          </p:cNvPr>
          <p:cNvSpPr txBox="1"/>
          <p:nvPr/>
        </p:nvSpPr>
        <p:spPr>
          <a:xfrm>
            <a:off x="4431792" y="5266944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</a:rPr>
              <a:t>B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EB64DF7-2A69-181D-7BC5-5BECFC4F6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922" y="2529708"/>
            <a:ext cx="6589015" cy="18879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254BCC5-B653-7B39-9AF8-631FB9BFD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345" y="4632443"/>
            <a:ext cx="6589015" cy="188797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65ECF7C-4792-4A34-7759-BA2ADE5CAE87}"/>
              </a:ext>
            </a:extLst>
          </p:cNvPr>
          <p:cNvSpPr txBox="1"/>
          <p:nvPr/>
        </p:nvSpPr>
        <p:spPr>
          <a:xfrm>
            <a:off x="5797296" y="5779008"/>
            <a:ext cx="2366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Chatbot:</a:t>
            </a:r>
          </a:p>
          <a:p>
            <a:r>
              <a:rPr lang="en-US" b="1" dirty="0">
                <a:solidFill>
                  <a:srgbClr val="00B0F0"/>
                </a:solidFill>
              </a:rPr>
              <a:t>Hello. How can I help 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D7FE49-0DF6-CC7B-DBAA-55800A56C419}"/>
              </a:ext>
            </a:extLst>
          </p:cNvPr>
          <p:cNvSpPr txBox="1"/>
          <p:nvPr/>
        </p:nvSpPr>
        <p:spPr>
          <a:xfrm>
            <a:off x="37822" y="4121925"/>
            <a:ext cx="425071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Conversion Rate: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 → 80 / 1000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8%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 → 120 / 1000 =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12%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Version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 performs better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837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1C4A-611C-EA52-8D4C-2B6B480C7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570E50-796C-0E57-5F3C-AEE4678A14F3}"/>
              </a:ext>
            </a:extLst>
          </p:cNvPr>
          <p:cNvSpPr txBox="1"/>
          <p:nvPr/>
        </p:nvSpPr>
        <p:spPr>
          <a:xfrm>
            <a:off x="214884" y="141581"/>
            <a:ext cx="1018184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(ML Model)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Suppose you built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new ML model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for spam detection.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now have: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A (Control)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Old production model (Logistic Regression)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B (Variant)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→ New model (Transformer /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XGBoost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 have 2 group of users: A and B.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Incoming emails are randomly divided and sent to these models: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F11BBD3-245A-731A-825A-EFB7224516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5207684"/>
              </p:ext>
            </p:extLst>
          </p:nvPr>
        </p:nvGraphicFramePr>
        <p:xfrm>
          <a:off x="838200" y="4229894"/>
          <a:ext cx="5489448" cy="137160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1848421606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783615721"/>
                    </a:ext>
                  </a:extLst>
                </a:gridCol>
                <a:gridCol w="1435608">
                  <a:extLst>
                    <a:ext uri="{9D8B030D-6E8A-4147-A177-3AD203B41FA5}">
                      <a16:colId xmlns:a16="http://schemas.microsoft.com/office/drawing/2014/main" val="15288265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User Group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Model Used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Traffic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6682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Group 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Old 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50%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50464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Group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New Model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50%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925664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850F378-AD74-91FE-5A03-825530B155B1}"/>
              </a:ext>
            </a:extLst>
          </p:cNvPr>
          <p:cNvSpPr txBox="1"/>
          <p:nvPr/>
        </p:nvSpPr>
        <p:spPr>
          <a:xfrm>
            <a:off x="9523476" y="4129741"/>
            <a:ext cx="1746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FF00"/>
                </a:solidFill>
              </a:rPr>
              <a:t>Model 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D41508-5498-3348-8113-C030AF7CFB42}"/>
              </a:ext>
            </a:extLst>
          </p:cNvPr>
          <p:cNvSpPr txBox="1"/>
          <p:nvPr/>
        </p:nvSpPr>
        <p:spPr>
          <a:xfrm>
            <a:off x="9464040" y="5319029"/>
            <a:ext cx="1746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Model B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9F126D5-05C3-7B4A-B7A3-D7F93CCA59B5}"/>
              </a:ext>
            </a:extLst>
          </p:cNvPr>
          <p:cNvSpPr/>
          <p:nvPr/>
        </p:nvSpPr>
        <p:spPr>
          <a:xfrm>
            <a:off x="8782812" y="4247387"/>
            <a:ext cx="521208" cy="28792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7D5ADB1-BFF8-0897-3183-628A13927354}"/>
              </a:ext>
            </a:extLst>
          </p:cNvPr>
          <p:cNvSpPr/>
          <p:nvPr/>
        </p:nvSpPr>
        <p:spPr>
          <a:xfrm>
            <a:off x="8782812" y="5405896"/>
            <a:ext cx="521208" cy="28792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425F4C-6701-C08F-1AD6-4205842623E7}"/>
              </a:ext>
            </a:extLst>
          </p:cNvPr>
          <p:cNvSpPr txBox="1"/>
          <p:nvPr/>
        </p:nvSpPr>
        <p:spPr>
          <a:xfrm>
            <a:off x="7232904" y="4160520"/>
            <a:ext cx="1497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</a:rPr>
              <a:t>50% email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9A685D-9965-48FF-796C-A06CD3E392AC}"/>
              </a:ext>
            </a:extLst>
          </p:cNvPr>
          <p:cNvSpPr txBox="1"/>
          <p:nvPr/>
        </p:nvSpPr>
        <p:spPr>
          <a:xfrm>
            <a:off x="7246252" y="5319029"/>
            <a:ext cx="1497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50% email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0453E-5165-4FCA-34E1-77EFA883ED70}"/>
              </a:ext>
            </a:extLst>
          </p:cNvPr>
          <p:cNvSpPr txBox="1"/>
          <p:nvPr/>
        </p:nvSpPr>
        <p:spPr>
          <a:xfrm>
            <a:off x="493776" y="6336792"/>
            <a:ext cx="59817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will check which model gives better result </a:t>
            </a:r>
          </a:p>
        </p:txBody>
      </p:sp>
    </p:spTree>
    <p:extLst>
      <p:ext uri="{BB962C8B-B14F-4D97-AF65-F5344CB8AC3E}">
        <p14:creationId xmlns:p14="http://schemas.microsoft.com/office/powerpoint/2010/main" val="3953490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79276-12B2-98D4-8DD1-803EA96CC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BC0AB66-2110-19CD-664D-D78D39567862}"/>
              </a:ext>
            </a:extLst>
          </p:cNvPr>
          <p:cNvSpPr txBox="1"/>
          <p:nvPr/>
        </p:nvSpPr>
        <p:spPr>
          <a:xfrm>
            <a:off x="91440" y="219671"/>
            <a:ext cx="9985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Metrics to Measure for model: </a:t>
            </a:r>
          </a:p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 only accuracy, real business metrics matter: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2991E4E-41DB-D85B-446C-FB25412720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7273362"/>
              </p:ext>
            </p:extLst>
          </p:nvPr>
        </p:nvGraphicFramePr>
        <p:xfrm>
          <a:off x="280416" y="1641688"/>
          <a:ext cx="6321552" cy="2286000"/>
        </p:xfrm>
        <a:graphic>
          <a:graphicData uri="http://schemas.openxmlformats.org/drawingml/2006/table">
            <a:tbl>
              <a:tblPr/>
              <a:tblGrid>
                <a:gridCol w="2828544">
                  <a:extLst>
                    <a:ext uri="{9D8B030D-6E8A-4147-A177-3AD203B41FA5}">
                      <a16:colId xmlns:a16="http://schemas.microsoft.com/office/drawing/2014/main" val="3418911449"/>
                    </a:ext>
                  </a:extLst>
                </a:gridCol>
                <a:gridCol w="3493008">
                  <a:extLst>
                    <a:ext uri="{9D8B030D-6E8A-4147-A177-3AD203B41FA5}">
                      <a16:colId xmlns:a16="http://schemas.microsoft.com/office/drawing/2014/main" val="416089995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Why Important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0752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Spam detection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catches spam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3715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False positives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avoids blocking real emails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4982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User complaints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real satisfaction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1823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Email open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downstream impact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64344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7066ED54-584D-DE94-5010-83B4434CAF0E}"/>
              </a:ext>
            </a:extLst>
          </p:cNvPr>
          <p:cNvSpPr txBox="1"/>
          <p:nvPr/>
        </p:nvSpPr>
        <p:spPr>
          <a:xfrm>
            <a:off x="9523476" y="4129741"/>
            <a:ext cx="1746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FF00"/>
                </a:solidFill>
              </a:rPr>
              <a:t>Model 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84E212-0790-99F3-FE95-74D992B16EEC}"/>
              </a:ext>
            </a:extLst>
          </p:cNvPr>
          <p:cNvSpPr txBox="1"/>
          <p:nvPr/>
        </p:nvSpPr>
        <p:spPr>
          <a:xfrm>
            <a:off x="9464040" y="5319029"/>
            <a:ext cx="1746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Model B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C917A2B9-1C0A-761B-E787-0DE9B1271872}"/>
              </a:ext>
            </a:extLst>
          </p:cNvPr>
          <p:cNvSpPr/>
          <p:nvPr/>
        </p:nvSpPr>
        <p:spPr>
          <a:xfrm>
            <a:off x="8782812" y="4247387"/>
            <a:ext cx="521208" cy="28792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C95EA35-17B1-3CBE-8A2A-C6C531CA5ED9}"/>
              </a:ext>
            </a:extLst>
          </p:cNvPr>
          <p:cNvSpPr/>
          <p:nvPr/>
        </p:nvSpPr>
        <p:spPr>
          <a:xfrm>
            <a:off x="8782812" y="5405896"/>
            <a:ext cx="521208" cy="28792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D97845-B98B-0B8B-83CD-F5B6C49D35A6}"/>
              </a:ext>
            </a:extLst>
          </p:cNvPr>
          <p:cNvSpPr txBox="1"/>
          <p:nvPr/>
        </p:nvSpPr>
        <p:spPr>
          <a:xfrm>
            <a:off x="7232904" y="4160520"/>
            <a:ext cx="1497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</a:rPr>
              <a:t>50% email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DF16A8-6242-BEC3-1CEF-08A313DA187C}"/>
              </a:ext>
            </a:extLst>
          </p:cNvPr>
          <p:cNvSpPr txBox="1"/>
          <p:nvPr/>
        </p:nvSpPr>
        <p:spPr>
          <a:xfrm>
            <a:off x="7246252" y="5319029"/>
            <a:ext cx="1497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50% email</a:t>
            </a:r>
          </a:p>
        </p:txBody>
      </p:sp>
    </p:spTree>
    <p:extLst>
      <p:ext uri="{BB962C8B-B14F-4D97-AF65-F5344CB8AC3E}">
        <p14:creationId xmlns:p14="http://schemas.microsoft.com/office/powerpoint/2010/main" val="581403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A0B98-77E0-3305-5F5B-85C7A9CC6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E2F1A85-E457-CFA1-70BC-28000F74457D}"/>
              </a:ext>
            </a:extLst>
          </p:cNvPr>
          <p:cNvSpPr txBox="1"/>
          <p:nvPr/>
        </p:nvSpPr>
        <p:spPr>
          <a:xfrm>
            <a:off x="306324" y="491990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 Results After 1 Week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47A5C30-0D43-F99D-267C-2FC17A192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025358"/>
              </p:ext>
            </p:extLst>
          </p:nvPr>
        </p:nvGraphicFramePr>
        <p:xfrm>
          <a:off x="307848" y="1294670"/>
          <a:ext cx="7784592" cy="2286000"/>
        </p:xfrm>
        <a:graphic>
          <a:graphicData uri="http://schemas.openxmlformats.org/drawingml/2006/table">
            <a:tbl>
              <a:tblPr/>
              <a:tblGrid>
                <a:gridCol w="2755392">
                  <a:extLst>
                    <a:ext uri="{9D8B030D-6E8A-4147-A177-3AD203B41FA5}">
                      <a16:colId xmlns:a16="http://schemas.microsoft.com/office/drawing/2014/main" val="2344263914"/>
                    </a:ext>
                  </a:extLst>
                </a:gridCol>
                <a:gridCol w="1993392">
                  <a:extLst>
                    <a:ext uri="{9D8B030D-6E8A-4147-A177-3AD203B41FA5}">
                      <a16:colId xmlns:a16="http://schemas.microsoft.com/office/drawing/2014/main" val="1350278657"/>
                    </a:ext>
                  </a:extLst>
                </a:gridCol>
                <a:gridCol w="3035808">
                  <a:extLst>
                    <a:ext uri="{9D8B030D-6E8A-4147-A177-3AD203B41FA5}">
                      <a16:colId xmlns:a16="http://schemas.microsoft.com/office/drawing/2014/main" val="119394010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Model 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Model B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05712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Accuracy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92%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94%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8083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False Positive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rgbClr val="FFFF00"/>
                          </a:solidFill>
                        </a:rPr>
                        <a:t>2% (IMPORTANT)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8415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User Complaints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120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rgbClr val="FFFF00"/>
                          </a:solidFill>
                        </a:rPr>
                        <a:t>45 (IMPORTANT)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3962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Spam Detected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8,000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rgbClr val="FFFF00"/>
                          </a:solidFill>
                        </a:rPr>
                        <a:t>9,300 (IMPORTANT)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48236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63C2F18-B96D-606E-0BF8-B30E748B4C21}"/>
              </a:ext>
            </a:extLst>
          </p:cNvPr>
          <p:cNvSpPr txBox="1"/>
          <p:nvPr/>
        </p:nvSpPr>
        <p:spPr>
          <a:xfrm>
            <a:off x="672084" y="4241030"/>
            <a:ext cx="619048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Model B clearly improves real outcomes.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So, deploy Model B to 100% users.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671D82-871A-83AF-2CA9-6C9CD7CBCCB7}"/>
              </a:ext>
            </a:extLst>
          </p:cNvPr>
          <p:cNvSpPr txBox="1"/>
          <p:nvPr/>
        </p:nvSpPr>
        <p:spPr>
          <a:xfrm>
            <a:off x="9523476" y="4129741"/>
            <a:ext cx="1746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FF00"/>
                </a:solidFill>
              </a:rPr>
              <a:t>Model 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B946B4-6737-BF91-B507-509C9103765B}"/>
              </a:ext>
            </a:extLst>
          </p:cNvPr>
          <p:cNvSpPr txBox="1"/>
          <p:nvPr/>
        </p:nvSpPr>
        <p:spPr>
          <a:xfrm>
            <a:off x="9464040" y="5319029"/>
            <a:ext cx="17465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92D050"/>
                </a:solidFill>
              </a:rPr>
              <a:t>Model B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696BDD4D-814F-62E2-DF10-26205CC14A7F}"/>
              </a:ext>
            </a:extLst>
          </p:cNvPr>
          <p:cNvSpPr/>
          <p:nvPr/>
        </p:nvSpPr>
        <p:spPr>
          <a:xfrm>
            <a:off x="8782812" y="4247387"/>
            <a:ext cx="521208" cy="287929"/>
          </a:xfrm>
          <a:prstGeom prst="rightArrow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8BD5C259-7DF3-522F-F304-DA84EE368FAF}"/>
              </a:ext>
            </a:extLst>
          </p:cNvPr>
          <p:cNvSpPr/>
          <p:nvPr/>
        </p:nvSpPr>
        <p:spPr>
          <a:xfrm>
            <a:off x="8782812" y="5405896"/>
            <a:ext cx="521208" cy="287929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3A0982-7A8F-34FF-1E5F-39DAC9257805}"/>
              </a:ext>
            </a:extLst>
          </p:cNvPr>
          <p:cNvSpPr txBox="1"/>
          <p:nvPr/>
        </p:nvSpPr>
        <p:spPr>
          <a:xfrm>
            <a:off x="7232904" y="4160520"/>
            <a:ext cx="1497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FF00"/>
                </a:solidFill>
              </a:rPr>
              <a:t>50% email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1B00B6-96BB-F0D6-8A1D-ED8A19734EFD}"/>
              </a:ext>
            </a:extLst>
          </p:cNvPr>
          <p:cNvSpPr txBox="1"/>
          <p:nvPr/>
        </p:nvSpPr>
        <p:spPr>
          <a:xfrm>
            <a:off x="7246252" y="5319029"/>
            <a:ext cx="14975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50% email</a:t>
            </a:r>
          </a:p>
        </p:txBody>
      </p:sp>
    </p:spTree>
    <p:extLst>
      <p:ext uri="{BB962C8B-B14F-4D97-AF65-F5344CB8AC3E}">
        <p14:creationId xmlns:p14="http://schemas.microsoft.com/office/powerpoint/2010/main" val="3744643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F9E72-116C-26B3-56D3-95E7326D5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E681B9-19E6-2F31-B765-CA9B79BAA5DA}"/>
              </a:ext>
            </a:extLst>
          </p:cNvPr>
          <p:cNvSpPr txBox="1"/>
          <p:nvPr/>
        </p:nvSpPr>
        <p:spPr>
          <a:xfrm>
            <a:off x="150876" y="327398"/>
            <a:ext cx="774954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92D050"/>
                </a:solidFill>
              </a:rPr>
              <a:t>How A/B Testing Works (Step-by-Step)</a:t>
            </a:r>
          </a:p>
          <a:p>
            <a:endParaRPr lang="en-US" sz="2400" b="1" dirty="0">
              <a:solidFill>
                <a:srgbClr val="92D050"/>
              </a:solidFill>
            </a:endParaRPr>
          </a:p>
          <a:p>
            <a:r>
              <a:rPr lang="en-US" sz="2400" b="1" dirty="0">
                <a:solidFill>
                  <a:srgbClr val="92D050"/>
                </a:solidFill>
              </a:rPr>
              <a:t>1) Define Goal</a:t>
            </a:r>
          </a:p>
          <a:p>
            <a:r>
              <a:rPr lang="en-US" sz="2400" dirty="0">
                <a:solidFill>
                  <a:srgbClr val="92D050"/>
                </a:solidFill>
              </a:rPr>
              <a:t>Example: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Increase signup rate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Improve click rate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Reduce bounce rate (Users leaving immediately)</a:t>
            </a:r>
          </a:p>
          <a:p>
            <a:endParaRPr lang="en-US" sz="2400" dirty="0">
              <a:solidFill>
                <a:srgbClr val="92D050"/>
              </a:solidFill>
            </a:endParaRPr>
          </a:p>
          <a:p>
            <a:endParaRPr lang="en-US" sz="2400" dirty="0">
              <a:solidFill>
                <a:srgbClr val="92D050"/>
              </a:solidFill>
            </a:endParaRPr>
          </a:p>
          <a:p>
            <a:r>
              <a:rPr lang="en-US" sz="2400" b="1" dirty="0">
                <a:solidFill>
                  <a:srgbClr val="92D050"/>
                </a:solidFill>
              </a:rPr>
              <a:t>2) Create Hypothesis</a:t>
            </a:r>
          </a:p>
          <a:p>
            <a:r>
              <a:rPr lang="en-US" sz="2400" dirty="0">
                <a:solidFill>
                  <a:srgbClr val="92D050"/>
                </a:solidFill>
              </a:rPr>
              <a:t>Example: “Having a chatbot will increase conversions.”</a:t>
            </a:r>
          </a:p>
          <a:p>
            <a:endParaRPr lang="en-US" sz="2400" dirty="0">
              <a:solidFill>
                <a:srgbClr val="92D050"/>
              </a:solidFill>
            </a:endParaRPr>
          </a:p>
          <a:p>
            <a:r>
              <a:rPr lang="en-US" sz="2400" dirty="0">
                <a:solidFill>
                  <a:srgbClr val="92D050"/>
                </a:solidFill>
              </a:rPr>
              <a:t>Null Hypo. :   Chatbot had no effect</a:t>
            </a:r>
          </a:p>
          <a:p>
            <a:r>
              <a:rPr lang="en-US" sz="2400" dirty="0">
                <a:solidFill>
                  <a:srgbClr val="92D050"/>
                </a:solidFill>
              </a:rPr>
              <a:t>Alter Hypo.:  Chatbot increased signup rate</a:t>
            </a:r>
          </a:p>
          <a:p>
            <a:endParaRPr lang="en-US" sz="2400" dirty="0">
              <a:solidFill>
                <a:srgbClr val="92D05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A42BAD-36C6-A60E-5486-E5FF6C619581}"/>
              </a:ext>
            </a:extLst>
          </p:cNvPr>
          <p:cNvSpPr txBox="1"/>
          <p:nvPr/>
        </p:nvSpPr>
        <p:spPr>
          <a:xfrm>
            <a:off x="5922264" y="2961538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DD09A6-B739-A908-855E-AF7BD040F46A}"/>
              </a:ext>
            </a:extLst>
          </p:cNvPr>
          <p:cNvSpPr txBox="1"/>
          <p:nvPr/>
        </p:nvSpPr>
        <p:spPr>
          <a:xfrm>
            <a:off x="5922264" y="5409063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</a:rPr>
              <a:t>B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A3191067-391D-4B19-3413-3E21A5F6DF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961538"/>
            <a:ext cx="5081929" cy="145614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CA8A5BC-E15F-1CD3-941E-8F1ADCB6E6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428" y="5064271"/>
            <a:ext cx="5081932" cy="145614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F7D05C1-D4BA-2049-CB08-2D9E8D0203F1}"/>
              </a:ext>
            </a:extLst>
          </p:cNvPr>
          <p:cNvSpPr txBox="1"/>
          <p:nvPr/>
        </p:nvSpPr>
        <p:spPr>
          <a:xfrm>
            <a:off x="6942428" y="5774775"/>
            <a:ext cx="2366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Chatbot:</a:t>
            </a:r>
          </a:p>
          <a:p>
            <a:r>
              <a:rPr lang="en-US" b="1" dirty="0">
                <a:solidFill>
                  <a:srgbClr val="00B0F0"/>
                </a:solidFill>
              </a:rPr>
              <a:t>Hello. How can I help ?</a:t>
            </a:r>
          </a:p>
        </p:txBody>
      </p:sp>
    </p:spTree>
    <p:extLst>
      <p:ext uri="{BB962C8B-B14F-4D97-AF65-F5344CB8AC3E}">
        <p14:creationId xmlns:p14="http://schemas.microsoft.com/office/powerpoint/2010/main" val="3025673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C2379-ADA2-9D4C-E386-6BF59906D8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286087-F246-7AC7-8844-08313F386BD9}"/>
              </a:ext>
            </a:extLst>
          </p:cNvPr>
          <p:cNvSpPr txBox="1"/>
          <p:nvPr/>
        </p:nvSpPr>
        <p:spPr>
          <a:xfrm>
            <a:off x="361188" y="802886"/>
            <a:ext cx="619048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3) Split Users Randomly</a:t>
            </a:r>
          </a:p>
          <a:p>
            <a:endParaRPr lang="en-US" sz="2400" b="1" dirty="0">
              <a:solidFill>
                <a:srgbClr val="92D050"/>
              </a:solidFill>
            </a:endParaRPr>
          </a:p>
          <a:p>
            <a:r>
              <a:rPr lang="en-US" sz="2400" dirty="0">
                <a:solidFill>
                  <a:srgbClr val="92D050"/>
                </a:solidFill>
              </a:rPr>
              <a:t>Group A → sees </a:t>
            </a:r>
            <a:r>
              <a:rPr lang="en-US" sz="2400" b="1" dirty="0">
                <a:solidFill>
                  <a:srgbClr val="92D050"/>
                </a:solidFill>
              </a:rPr>
              <a:t>old</a:t>
            </a:r>
            <a:r>
              <a:rPr lang="en-US" sz="2400" dirty="0">
                <a:solidFill>
                  <a:srgbClr val="92D050"/>
                </a:solidFill>
              </a:rPr>
              <a:t> version, without chatbot</a:t>
            </a:r>
          </a:p>
          <a:p>
            <a:r>
              <a:rPr lang="en-US" sz="2400" dirty="0">
                <a:solidFill>
                  <a:srgbClr val="92D050"/>
                </a:solidFill>
              </a:rPr>
              <a:t>Group B → sees </a:t>
            </a:r>
            <a:r>
              <a:rPr lang="en-US" sz="2400" b="1" dirty="0">
                <a:solidFill>
                  <a:srgbClr val="92D050"/>
                </a:solidFill>
              </a:rPr>
              <a:t>new</a:t>
            </a:r>
            <a:r>
              <a:rPr lang="en-US" sz="2400" dirty="0">
                <a:solidFill>
                  <a:srgbClr val="92D050"/>
                </a:solidFill>
              </a:rPr>
              <a:t> version, with chatbot</a:t>
            </a:r>
          </a:p>
          <a:p>
            <a:endParaRPr lang="en-US" sz="2400" dirty="0">
              <a:solidFill>
                <a:srgbClr val="92D050"/>
              </a:solidFill>
            </a:endParaRPr>
          </a:p>
          <a:p>
            <a:r>
              <a:rPr lang="en-US" sz="2400" dirty="0">
                <a:solidFill>
                  <a:srgbClr val="92D050"/>
                </a:solidFill>
              </a:rPr>
              <a:t>(Randomization is VERY important.)</a:t>
            </a:r>
          </a:p>
          <a:p>
            <a:endParaRPr lang="en-US" sz="2400" dirty="0">
              <a:solidFill>
                <a:srgbClr val="92D050"/>
              </a:solidFill>
            </a:endParaRPr>
          </a:p>
          <a:p>
            <a:endParaRPr lang="en-US" sz="2400" dirty="0">
              <a:solidFill>
                <a:srgbClr val="92D050"/>
              </a:solidFill>
            </a:endParaRPr>
          </a:p>
          <a:p>
            <a:r>
              <a:rPr lang="en-US" sz="2400" b="1" dirty="0">
                <a:solidFill>
                  <a:srgbClr val="92D050"/>
                </a:solidFill>
              </a:rPr>
              <a:t>4) Run Experiment</a:t>
            </a:r>
          </a:p>
          <a:p>
            <a:endParaRPr lang="en-US" sz="2400" b="1" dirty="0">
              <a:solidFill>
                <a:srgbClr val="92D050"/>
              </a:solidFill>
            </a:endParaRPr>
          </a:p>
          <a:p>
            <a:r>
              <a:rPr lang="en-US" sz="2400" dirty="0">
                <a:solidFill>
                  <a:srgbClr val="92D050"/>
                </a:solidFill>
              </a:rPr>
              <a:t>Collect data for sufficient time.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3B10CE-ECE1-D0A6-3FF1-FC9ACA464155}"/>
              </a:ext>
            </a:extLst>
          </p:cNvPr>
          <p:cNvSpPr txBox="1"/>
          <p:nvPr/>
        </p:nvSpPr>
        <p:spPr>
          <a:xfrm>
            <a:off x="5922264" y="2961538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903AF9-D33C-6C2C-4E30-F7922F8CDCCA}"/>
              </a:ext>
            </a:extLst>
          </p:cNvPr>
          <p:cNvSpPr txBox="1"/>
          <p:nvPr/>
        </p:nvSpPr>
        <p:spPr>
          <a:xfrm>
            <a:off x="5922264" y="5409063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</a:rPr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D241380-030E-5EAD-870B-051A436FE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961538"/>
            <a:ext cx="5081929" cy="14561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2099AD9-B3CC-B45A-1855-B0718AE07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428" y="5064271"/>
            <a:ext cx="5081932" cy="14561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25D7231-7A92-3726-370B-88C3EF23564F}"/>
              </a:ext>
            </a:extLst>
          </p:cNvPr>
          <p:cNvSpPr txBox="1"/>
          <p:nvPr/>
        </p:nvSpPr>
        <p:spPr>
          <a:xfrm>
            <a:off x="6942428" y="5774775"/>
            <a:ext cx="2366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Chatbot:</a:t>
            </a:r>
          </a:p>
          <a:p>
            <a:r>
              <a:rPr lang="en-US" b="1" dirty="0">
                <a:solidFill>
                  <a:srgbClr val="00B0F0"/>
                </a:solidFill>
              </a:rPr>
              <a:t>Hello. How can I help ?</a:t>
            </a:r>
          </a:p>
        </p:txBody>
      </p:sp>
    </p:spTree>
    <p:extLst>
      <p:ext uri="{BB962C8B-B14F-4D97-AF65-F5344CB8AC3E}">
        <p14:creationId xmlns:p14="http://schemas.microsoft.com/office/powerpoint/2010/main" val="3512393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EE04D-5B7E-BA06-9323-866B7042E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1D9CF9B-63F7-C331-E37A-604211E46FDC}"/>
              </a:ext>
            </a:extLst>
          </p:cNvPr>
          <p:cNvSpPr txBox="1"/>
          <p:nvPr/>
        </p:nvSpPr>
        <p:spPr>
          <a:xfrm>
            <a:off x="361188" y="802886"/>
            <a:ext cx="1026414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5) Analyze Results</a:t>
            </a:r>
          </a:p>
          <a:p>
            <a:r>
              <a:rPr lang="en-US" sz="2400" dirty="0">
                <a:solidFill>
                  <a:srgbClr val="92D050"/>
                </a:solidFill>
              </a:rPr>
              <a:t>Use statistical testing: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t-test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z-test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chi-square 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00DEBF-56F1-A430-F7FC-86C9397CAA86}"/>
              </a:ext>
            </a:extLst>
          </p:cNvPr>
          <p:cNvSpPr txBox="1"/>
          <p:nvPr/>
        </p:nvSpPr>
        <p:spPr>
          <a:xfrm>
            <a:off x="5922264" y="2961538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94EB3E-FFDB-3F59-4755-CFC9F6A58443}"/>
              </a:ext>
            </a:extLst>
          </p:cNvPr>
          <p:cNvSpPr txBox="1"/>
          <p:nvPr/>
        </p:nvSpPr>
        <p:spPr>
          <a:xfrm>
            <a:off x="5922264" y="5409063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</a:rPr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657608-B0A3-F0CB-C221-1F79B029AA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961538"/>
            <a:ext cx="5081929" cy="14561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4534A3-9CF1-1FE5-52A9-2D9E3FF22D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428" y="5064271"/>
            <a:ext cx="5081932" cy="14561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558D809-52AF-4FBA-F3A8-3563BAC914B6}"/>
              </a:ext>
            </a:extLst>
          </p:cNvPr>
          <p:cNvSpPr txBox="1"/>
          <p:nvPr/>
        </p:nvSpPr>
        <p:spPr>
          <a:xfrm>
            <a:off x="6942428" y="5774775"/>
            <a:ext cx="2366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Chatbot:</a:t>
            </a:r>
          </a:p>
          <a:p>
            <a:r>
              <a:rPr lang="en-US" b="1" dirty="0">
                <a:solidFill>
                  <a:srgbClr val="00B0F0"/>
                </a:solidFill>
              </a:rPr>
              <a:t>Hello. How can I help ?</a:t>
            </a:r>
          </a:p>
        </p:txBody>
      </p:sp>
    </p:spTree>
    <p:extLst>
      <p:ext uri="{BB962C8B-B14F-4D97-AF65-F5344CB8AC3E}">
        <p14:creationId xmlns:p14="http://schemas.microsoft.com/office/powerpoint/2010/main" val="6280861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69284D-F25B-7E57-AA0C-71CFD2DB2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701432-34E5-8DA4-F927-E5E216911A68}"/>
              </a:ext>
            </a:extLst>
          </p:cNvPr>
          <p:cNvSpPr txBox="1"/>
          <p:nvPr/>
        </p:nvSpPr>
        <p:spPr>
          <a:xfrm>
            <a:off x="361188" y="802886"/>
            <a:ext cx="1026414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Statistical Concept Behind A/B Testing:</a:t>
            </a:r>
          </a:p>
          <a:p>
            <a:r>
              <a:rPr lang="en-US" sz="2400" dirty="0">
                <a:solidFill>
                  <a:srgbClr val="92D050"/>
                </a:solidFill>
              </a:rPr>
              <a:t>A/B testing relies on </a:t>
            </a:r>
            <a:r>
              <a:rPr lang="en-US" sz="2400" b="1" dirty="0">
                <a:solidFill>
                  <a:srgbClr val="92D050"/>
                </a:solidFill>
              </a:rPr>
              <a:t>hypothesis testing</a:t>
            </a:r>
            <a:r>
              <a:rPr lang="en-US" sz="2400" dirty="0">
                <a:solidFill>
                  <a:srgbClr val="92D050"/>
                </a:solidFill>
              </a:rPr>
              <a:t>.</a:t>
            </a:r>
          </a:p>
          <a:p>
            <a:endParaRPr lang="en-US" sz="2400" b="1" dirty="0">
              <a:solidFill>
                <a:srgbClr val="92D05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92D050"/>
                </a:solidFill>
              </a:rPr>
              <a:t>Null Hypothesis (H₀):  </a:t>
            </a:r>
            <a:r>
              <a:rPr lang="en-US" sz="2400" dirty="0">
                <a:solidFill>
                  <a:srgbClr val="92D050"/>
                </a:solidFill>
              </a:rPr>
              <a:t>No difference between A and B.</a:t>
            </a:r>
            <a:endParaRPr lang="en-US" sz="2400" b="1" dirty="0">
              <a:solidFill>
                <a:srgbClr val="92D050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rgbClr val="92D050"/>
                </a:solidFill>
              </a:rPr>
              <a:t>Alternative Hypothesis (H₁): </a:t>
            </a:r>
            <a:r>
              <a:rPr lang="en-US" sz="2400" dirty="0">
                <a:solidFill>
                  <a:srgbClr val="92D050"/>
                </a:solidFill>
              </a:rPr>
              <a:t>Version B is better than A.</a:t>
            </a:r>
          </a:p>
          <a:p>
            <a:endParaRPr lang="en-US" sz="2400" dirty="0">
              <a:solidFill>
                <a:srgbClr val="92D050"/>
              </a:solidFill>
            </a:endParaRPr>
          </a:p>
          <a:p>
            <a:r>
              <a:rPr lang="en-US" sz="2400" dirty="0">
                <a:solidFill>
                  <a:srgbClr val="92D050"/>
                </a:solidFill>
              </a:rPr>
              <a:t>If probability (p-value) is small,</a:t>
            </a:r>
          </a:p>
          <a:p>
            <a:r>
              <a:rPr lang="en-US" sz="2400" dirty="0">
                <a:solidFill>
                  <a:srgbClr val="92D050"/>
                </a:solidFill>
              </a:rPr>
              <a:t> -&gt; Reject H₀. </a:t>
            </a:r>
          </a:p>
          <a:p>
            <a:r>
              <a:rPr lang="en-US" sz="2400" dirty="0">
                <a:solidFill>
                  <a:srgbClr val="92D050"/>
                </a:solidFill>
              </a:rPr>
              <a:t>-&gt; There is statistical difference</a:t>
            </a:r>
          </a:p>
          <a:p>
            <a:r>
              <a:rPr lang="en-US" sz="2400" dirty="0">
                <a:solidFill>
                  <a:srgbClr val="92D050"/>
                </a:solidFill>
              </a:rPr>
              <a:t>      between A and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295F11-B8DA-BEB9-919B-B59E6EC87444}"/>
              </a:ext>
            </a:extLst>
          </p:cNvPr>
          <p:cNvSpPr txBox="1"/>
          <p:nvPr/>
        </p:nvSpPr>
        <p:spPr>
          <a:xfrm>
            <a:off x="5922264" y="2961538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700D2B-00D6-3F6C-7A59-A7409ECD6798}"/>
              </a:ext>
            </a:extLst>
          </p:cNvPr>
          <p:cNvSpPr txBox="1"/>
          <p:nvPr/>
        </p:nvSpPr>
        <p:spPr>
          <a:xfrm>
            <a:off x="5922264" y="5409063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</a:rPr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CA89CD6-D4E5-E0A6-0E51-F30614CEBE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961538"/>
            <a:ext cx="5081929" cy="14561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DFD3EC1-C748-FCCC-5D47-2CCC4B6C5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428" y="5064271"/>
            <a:ext cx="5081932" cy="14561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A597629-457D-982B-B676-AAF8F9EE0C10}"/>
              </a:ext>
            </a:extLst>
          </p:cNvPr>
          <p:cNvSpPr txBox="1"/>
          <p:nvPr/>
        </p:nvSpPr>
        <p:spPr>
          <a:xfrm>
            <a:off x="6942428" y="5774775"/>
            <a:ext cx="2366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Chatbot:</a:t>
            </a:r>
          </a:p>
          <a:p>
            <a:r>
              <a:rPr lang="en-US" b="1" dirty="0">
                <a:solidFill>
                  <a:srgbClr val="00B0F0"/>
                </a:solidFill>
              </a:rPr>
              <a:t>Hello. How can I help ?</a:t>
            </a:r>
          </a:p>
        </p:txBody>
      </p:sp>
    </p:spTree>
    <p:extLst>
      <p:ext uri="{BB962C8B-B14F-4D97-AF65-F5344CB8AC3E}">
        <p14:creationId xmlns:p14="http://schemas.microsoft.com/office/powerpoint/2010/main" val="12056521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867FC-A459-4E99-EE58-FFAA8DEB5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9C0584-7C72-8A94-D3FD-4908988C7A46}"/>
              </a:ext>
            </a:extLst>
          </p:cNvPr>
          <p:cNvSpPr txBox="1"/>
          <p:nvPr/>
        </p:nvSpPr>
        <p:spPr>
          <a:xfrm>
            <a:off x="361188" y="802886"/>
            <a:ext cx="80512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6) Make Decision</a:t>
            </a:r>
          </a:p>
          <a:p>
            <a:r>
              <a:rPr lang="en-US" sz="2400" dirty="0">
                <a:solidFill>
                  <a:srgbClr val="92D050"/>
                </a:solidFill>
              </a:rPr>
              <a:t>Choose version with </a:t>
            </a:r>
            <a:r>
              <a:rPr lang="en-US" sz="2400" b="1" dirty="0">
                <a:solidFill>
                  <a:srgbClr val="92D050"/>
                </a:solidFill>
              </a:rPr>
              <a:t>statistically significant improvement</a:t>
            </a:r>
            <a:r>
              <a:rPr lang="en-US" sz="2400" dirty="0">
                <a:solidFill>
                  <a:srgbClr val="92D050"/>
                </a:solidFill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20289-8CA3-9BCD-A940-F46967B33ACB}"/>
              </a:ext>
            </a:extLst>
          </p:cNvPr>
          <p:cNvSpPr txBox="1"/>
          <p:nvPr/>
        </p:nvSpPr>
        <p:spPr>
          <a:xfrm>
            <a:off x="5925312" y="3017520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C9F0C-40A1-80ED-CE5E-FD3F95977F6E}"/>
              </a:ext>
            </a:extLst>
          </p:cNvPr>
          <p:cNvSpPr txBox="1"/>
          <p:nvPr/>
        </p:nvSpPr>
        <p:spPr>
          <a:xfrm>
            <a:off x="5967984" y="5376672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92D050"/>
                </a:solidFill>
              </a:rPr>
              <a:t>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542239-1873-8E64-280A-C98511453B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143" y="3081528"/>
            <a:ext cx="5370921" cy="15389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D2233BB-3852-40CD-DB16-E1C57BB37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1143" y="5192733"/>
            <a:ext cx="5386541" cy="15434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3CB99D3-394D-455C-03C3-E5CD436BF515}"/>
              </a:ext>
            </a:extLst>
          </p:cNvPr>
          <p:cNvSpPr txBox="1"/>
          <p:nvPr/>
        </p:nvSpPr>
        <p:spPr>
          <a:xfrm>
            <a:off x="7040880" y="5980176"/>
            <a:ext cx="188250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</a:rPr>
              <a:t>Chatbot:</a:t>
            </a:r>
          </a:p>
          <a:p>
            <a:r>
              <a:rPr lang="en-US" sz="1400" b="1" dirty="0">
                <a:solidFill>
                  <a:srgbClr val="00B050"/>
                </a:solidFill>
              </a:rPr>
              <a:t>Hello. How can I help ?</a:t>
            </a:r>
          </a:p>
        </p:txBody>
      </p:sp>
    </p:spTree>
    <p:extLst>
      <p:ext uri="{BB962C8B-B14F-4D97-AF65-F5344CB8AC3E}">
        <p14:creationId xmlns:p14="http://schemas.microsoft.com/office/powerpoint/2010/main" val="3384790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EBCD8-4D54-3A68-C087-D07CAAC80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BE64E2E-EE2F-D49B-0D09-0D6CB2638891}"/>
              </a:ext>
            </a:extLst>
          </p:cNvPr>
          <p:cNvSpPr txBox="1"/>
          <p:nvPr/>
        </p:nvSpPr>
        <p:spPr>
          <a:xfrm>
            <a:off x="210312" y="572947"/>
            <a:ext cx="45262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Real-Life Uses</a:t>
            </a:r>
          </a:p>
          <a:p>
            <a:endParaRPr lang="en-US" sz="2400" b="1" dirty="0">
              <a:solidFill>
                <a:srgbClr val="92D050"/>
              </a:solidFill>
            </a:endParaRPr>
          </a:p>
          <a:p>
            <a:r>
              <a:rPr lang="en-US" sz="2400" b="1" dirty="0">
                <a:solidFill>
                  <a:srgbClr val="92D050"/>
                </a:solidFill>
              </a:rPr>
              <a:t>E-commerce: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Product page layout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Pricing display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Checkout flow</a:t>
            </a:r>
          </a:p>
          <a:p>
            <a:endParaRPr lang="en-US" sz="2400" b="1" dirty="0">
              <a:solidFill>
                <a:srgbClr val="92D050"/>
              </a:solidFill>
            </a:endParaRPr>
          </a:p>
          <a:p>
            <a:endParaRPr lang="en-US" sz="2400" b="1" dirty="0">
              <a:solidFill>
                <a:srgbClr val="92D050"/>
              </a:solidFill>
            </a:endParaRPr>
          </a:p>
          <a:p>
            <a:endParaRPr lang="en-US" sz="2400" b="1" dirty="0">
              <a:solidFill>
                <a:srgbClr val="92D050"/>
              </a:solidFill>
            </a:endParaRPr>
          </a:p>
          <a:p>
            <a:r>
              <a:rPr lang="en-US" sz="2400" b="1" dirty="0">
                <a:solidFill>
                  <a:srgbClr val="92D050"/>
                </a:solidFill>
              </a:rPr>
              <a:t>Apps: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UI design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Notification timing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Feature rollout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ABB1F2-8651-8283-F0CE-8E4ADE1979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7544" y="448053"/>
            <a:ext cx="3012123" cy="265120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A75442-E2A0-02B6-31A5-807A5F105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656251"/>
            <a:ext cx="3769490" cy="223480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180B0D9-62DA-7C9F-6C77-D6C60FF2151C}"/>
              </a:ext>
            </a:extLst>
          </p:cNvPr>
          <p:cNvSpPr txBox="1"/>
          <p:nvPr/>
        </p:nvSpPr>
        <p:spPr>
          <a:xfrm>
            <a:off x="5733288" y="3218688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AD795E-9503-AB29-A8E2-9AD4929BAFB0}"/>
              </a:ext>
            </a:extLst>
          </p:cNvPr>
          <p:cNvSpPr txBox="1"/>
          <p:nvPr/>
        </p:nvSpPr>
        <p:spPr>
          <a:xfrm>
            <a:off x="9552432" y="3282696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92D050"/>
                </a:solidFill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474408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FADB7-0566-9E57-A168-2307427A8F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A19EC5-7F05-279C-8631-347587F2446A}"/>
              </a:ext>
            </a:extLst>
          </p:cNvPr>
          <p:cNvSpPr txBox="1"/>
          <p:nvPr/>
        </p:nvSpPr>
        <p:spPr>
          <a:xfrm>
            <a:off x="260604" y="703410"/>
            <a:ext cx="6190488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Real-Life Uses</a:t>
            </a:r>
          </a:p>
          <a:p>
            <a:endParaRPr lang="en-US" sz="2400" b="1" dirty="0">
              <a:solidFill>
                <a:srgbClr val="92D050"/>
              </a:solidFill>
            </a:endParaRPr>
          </a:p>
          <a:p>
            <a:r>
              <a:rPr lang="en-US" sz="2400" b="1" dirty="0">
                <a:solidFill>
                  <a:srgbClr val="92D050"/>
                </a:solidFill>
              </a:rPr>
              <a:t>Email Marketing: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Subject lines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Email design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Send timing</a:t>
            </a:r>
          </a:p>
          <a:p>
            <a:endParaRPr lang="en-US" sz="2400" dirty="0">
              <a:solidFill>
                <a:srgbClr val="92D050"/>
              </a:solidFill>
            </a:endParaRPr>
          </a:p>
          <a:p>
            <a:endParaRPr lang="en-US" sz="2400" dirty="0">
              <a:solidFill>
                <a:srgbClr val="92D050"/>
              </a:solidFill>
            </a:endParaRPr>
          </a:p>
          <a:p>
            <a:endParaRPr lang="en-US" sz="2400" dirty="0">
              <a:solidFill>
                <a:srgbClr val="92D050"/>
              </a:solidFill>
            </a:endParaRPr>
          </a:p>
          <a:p>
            <a:r>
              <a:rPr lang="en-US" sz="2400" b="1" dirty="0">
                <a:solidFill>
                  <a:srgbClr val="92D050"/>
                </a:solidFill>
              </a:rPr>
              <a:t>Machine Learning: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92D050"/>
                </a:solidFill>
              </a:rPr>
              <a:t>Compare two models in production</a:t>
            </a:r>
          </a:p>
        </p:txBody>
      </p:sp>
    </p:spTree>
    <p:extLst>
      <p:ext uri="{BB962C8B-B14F-4D97-AF65-F5344CB8AC3E}">
        <p14:creationId xmlns:p14="http://schemas.microsoft.com/office/powerpoint/2010/main" val="132960708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D7E84-4487-A97B-7524-E8193BC81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6D6B14-B5E8-C6DA-555F-AF0C97C965B5}"/>
              </a:ext>
            </a:extLst>
          </p:cNvPr>
          <p:cNvSpPr txBox="1"/>
          <p:nvPr/>
        </p:nvSpPr>
        <p:spPr>
          <a:xfrm>
            <a:off x="260604" y="703410"/>
            <a:ext cx="964234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A/B Testing is Powerful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Data-driven decisions  and removes guessing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Improves products scientifically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9C2C62-941F-88CF-193D-9C0C8CD868D3}"/>
              </a:ext>
            </a:extLst>
          </p:cNvPr>
          <p:cNvSpPr txBox="1"/>
          <p:nvPr/>
        </p:nvSpPr>
        <p:spPr>
          <a:xfrm>
            <a:off x="5922264" y="2961538"/>
            <a:ext cx="55816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FFFF00"/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DE978-C6B6-2C74-F800-BCAF6815B843}"/>
              </a:ext>
            </a:extLst>
          </p:cNvPr>
          <p:cNvSpPr txBox="1"/>
          <p:nvPr/>
        </p:nvSpPr>
        <p:spPr>
          <a:xfrm>
            <a:off x="5922264" y="5409063"/>
            <a:ext cx="52931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dirty="0">
                <a:solidFill>
                  <a:srgbClr val="00B0F0"/>
                </a:solidFill>
              </a:rPr>
              <a:t>B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929EE1F-225B-722A-43A6-DF6D5E31B5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008" y="2961538"/>
            <a:ext cx="5081929" cy="14561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88A61E-7E21-8AC0-3D33-6DBBABE6E2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428" y="5064271"/>
            <a:ext cx="5081932" cy="14561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EAAE32E-FEE6-5A8B-5132-58DEB76FDED9}"/>
              </a:ext>
            </a:extLst>
          </p:cNvPr>
          <p:cNvSpPr txBox="1"/>
          <p:nvPr/>
        </p:nvSpPr>
        <p:spPr>
          <a:xfrm>
            <a:off x="6942428" y="5774775"/>
            <a:ext cx="2366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F0"/>
                </a:solidFill>
              </a:rPr>
              <a:t>Chatbot:</a:t>
            </a:r>
          </a:p>
          <a:p>
            <a:r>
              <a:rPr lang="en-US" b="1" dirty="0">
                <a:solidFill>
                  <a:srgbClr val="00B0F0"/>
                </a:solidFill>
              </a:rPr>
              <a:t>Hello. How can I help ?</a:t>
            </a:r>
          </a:p>
        </p:txBody>
      </p:sp>
    </p:spTree>
    <p:extLst>
      <p:ext uri="{BB962C8B-B14F-4D97-AF65-F5344CB8AC3E}">
        <p14:creationId xmlns:p14="http://schemas.microsoft.com/office/powerpoint/2010/main" val="33007889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3E57A-4629-BB0C-C57D-C2866D836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F266905-99E3-44B7-785F-2C368A1D8B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692812"/>
              </p:ext>
            </p:extLst>
          </p:nvPr>
        </p:nvGraphicFramePr>
        <p:xfrm>
          <a:off x="179832" y="1852454"/>
          <a:ext cx="7510272" cy="2743200"/>
        </p:xfrm>
        <a:graphic>
          <a:graphicData uri="http://schemas.openxmlformats.org/drawingml/2006/table">
            <a:tbl>
              <a:tblPr/>
              <a:tblGrid>
                <a:gridCol w="2956560">
                  <a:extLst>
                    <a:ext uri="{9D8B030D-6E8A-4147-A177-3AD203B41FA5}">
                      <a16:colId xmlns:a16="http://schemas.microsoft.com/office/drawing/2014/main" val="930938492"/>
                    </a:ext>
                  </a:extLst>
                </a:gridCol>
                <a:gridCol w="4553712">
                  <a:extLst>
                    <a:ext uri="{9D8B030D-6E8A-4147-A177-3AD203B41FA5}">
                      <a16:colId xmlns:a16="http://schemas.microsoft.com/office/drawing/2014/main" val="1742323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b="1" u="sng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Meaning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065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Conversion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% users completing action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1651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CTR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Click Through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08812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Bounce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Users leaving immediately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00814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Revenue per user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Business impact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392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Engagement Time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2400" dirty="0">
                          <a:solidFill>
                            <a:schemeClr val="accent6">
                              <a:lumMod val="60000"/>
                              <a:lumOff val="40000"/>
                            </a:schemeClr>
                          </a:solidFill>
                        </a:rPr>
                        <a:t>User interest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63533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E95272E-8F52-11F5-DC9A-FA1036EE6136}"/>
              </a:ext>
            </a:extLst>
          </p:cNvPr>
          <p:cNvSpPr txBox="1"/>
          <p:nvPr/>
        </p:nvSpPr>
        <p:spPr>
          <a:xfrm>
            <a:off x="589788" y="1223510"/>
            <a:ext cx="61904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Key Business Metrics Used for web pages</a:t>
            </a:r>
          </a:p>
        </p:txBody>
      </p:sp>
    </p:spTree>
    <p:extLst>
      <p:ext uri="{BB962C8B-B14F-4D97-AF65-F5344CB8AC3E}">
        <p14:creationId xmlns:p14="http://schemas.microsoft.com/office/powerpoint/2010/main" val="32335148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59D01-DFE5-FC2A-1748-3D5847C51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A18F7-B4BF-8F37-93C7-C6713312C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</a:t>
            </a:r>
          </a:p>
        </p:txBody>
      </p:sp>
    </p:spTree>
    <p:extLst>
      <p:ext uri="{BB962C8B-B14F-4D97-AF65-F5344CB8AC3E}">
        <p14:creationId xmlns:p14="http://schemas.microsoft.com/office/powerpoint/2010/main" val="39995902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9538B46-B035-0367-0027-D01DEA8F6D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454" y="1728215"/>
            <a:ext cx="4907608" cy="26643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A27BA7-DCEF-A66A-1D37-D2C19C686303}"/>
              </a:ext>
            </a:extLst>
          </p:cNvPr>
          <p:cNvSpPr txBox="1"/>
          <p:nvPr/>
        </p:nvSpPr>
        <p:spPr>
          <a:xfrm>
            <a:off x="1792224" y="1618488"/>
            <a:ext cx="466923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FFF00"/>
                </a:solidFill>
              </a:rPr>
              <a:t>Loxford</a:t>
            </a:r>
            <a:r>
              <a:rPr lang="en-US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40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Academy</a:t>
            </a:r>
          </a:p>
          <a:p>
            <a:r>
              <a:rPr lang="en-US" sz="3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Building a better future.</a:t>
            </a:r>
          </a:p>
          <a:p>
            <a:endParaRPr lang="en-US" sz="36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966254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537</TotalTime>
  <Words>732</Words>
  <Application>Microsoft Office PowerPoint</Application>
  <PresentationFormat>Widescreen</PresentationFormat>
  <Paragraphs>209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Calibri Light</vt:lpstr>
      <vt:lpstr>Office Theme</vt:lpstr>
      <vt:lpstr>A/B Testing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STOP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109</cp:revision>
  <dcterms:created xsi:type="dcterms:W3CDTF">2025-09-22T02:44:38Z</dcterms:created>
  <dcterms:modified xsi:type="dcterms:W3CDTF">2026-04-15T17:47:19Z</dcterms:modified>
</cp:coreProperties>
</file>