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57" r:id="rId2"/>
    <p:sldId id="278" r:id="rId3"/>
    <p:sldId id="280" r:id="rId4"/>
    <p:sldId id="281" r:id="rId5"/>
    <p:sldId id="290" r:id="rId6"/>
    <p:sldId id="291" r:id="rId7"/>
    <p:sldId id="282" r:id="rId8"/>
    <p:sldId id="283" r:id="rId9"/>
    <p:sldId id="284" r:id="rId10"/>
    <p:sldId id="287" r:id="rId11"/>
    <p:sldId id="285" r:id="rId12"/>
    <p:sldId id="279" r:id="rId13"/>
    <p:sldId id="286" r:id="rId14"/>
    <p:sldId id="289" r:id="rId15"/>
    <p:sldId id="288" r:id="rId16"/>
    <p:sldId id="27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9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67077"/>
            <a:ext cx="10515600" cy="8053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A/B Testing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8088-E8EF-61AC-E0D8-79E267BA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C389EB-0A5B-A085-0102-A68FBA0378D3}"/>
              </a:ext>
            </a:extLst>
          </p:cNvPr>
          <p:cNvSpPr txBox="1"/>
          <p:nvPr/>
        </p:nvSpPr>
        <p:spPr>
          <a:xfrm>
            <a:off x="293082" y="591235"/>
            <a:ext cx="100675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(also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testing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controlled experiment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used to compare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versions of something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determine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one performs better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real user behavior.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 = show Version A to one group and Version B to another group, then measuring which performs better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data.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widely used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science, product development, marketing, and AI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8F2D0-AB99-5283-B379-D05E7530EA88}"/>
              </a:ext>
            </a:extLst>
          </p:cNvPr>
          <p:cNvSpPr txBox="1"/>
          <p:nvPr/>
        </p:nvSpPr>
        <p:spPr>
          <a:xfrm>
            <a:off x="9974096" y="1472184"/>
            <a:ext cx="6511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AEB82-3786-A2CF-6FA1-3D3DD99B6F0B}"/>
              </a:ext>
            </a:extLst>
          </p:cNvPr>
          <p:cNvSpPr txBox="1"/>
          <p:nvPr/>
        </p:nvSpPr>
        <p:spPr>
          <a:xfrm>
            <a:off x="10903736" y="1499616"/>
            <a:ext cx="615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89D38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3109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F540-6F9D-A5C1-DD04-DA60DECD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E492A-BD84-7BA7-C8CF-698262A68E90}"/>
              </a:ext>
            </a:extLst>
          </p:cNvPr>
          <p:cNvSpPr txBox="1"/>
          <p:nvPr/>
        </p:nvSpPr>
        <p:spPr>
          <a:xfrm>
            <a:off x="150876" y="-47506"/>
            <a:ext cx="10072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(Website Without/With Chatbot)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 run a website. You create a new website with chatbot.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520DF3-A4D6-3913-2122-485E7AE9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51675"/>
              </p:ext>
            </p:extLst>
          </p:nvPr>
        </p:nvGraphicFramePr>
        <p:xfrm>
          <a:off x="150876" y="1068723"/>
          <a:ext cx="6624828" cy="1737360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313327725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1548145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3961941874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1883157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Purchases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039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A(Control)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Without 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B(Variant)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 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6160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8B5E44-0CB5-A195-D15B-E968C0F9E913}"/>
              </a:ext>
            </a:extLst>
          </p:cNvPr>
          <p:cNvSpPr txBox="1"/>
          <p:nvPr/>
        </p:nvSpPr>
        <p:spPr>
          <a:xfrm>
            <a:off x="446227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06F9E-B5AC-4C46-F8E0-DBAD50D326E0}"/>
              </a:ext>
            </a:extLst>
          </p:cNvPr>
          <p:cNvSpPr txBox="1"/>
          <p:nvPr/>
        </p:nvSpPr>
        <p:spPr>
          <a:xfrm>
            <a:off x="4431792" y="5266944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B64DF7-2A69-181D-7BC5-5BECFC4F6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344" y="2775278"/>
            <a:ext cx="6589015" cy="18879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54BCC5-B653-7B39-9AF8-631FB9BFD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345" y="4632443"/>
            <a:ext cx="6589015" cy="1887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5ECF7C-4792-4A34-7759-BA2ADE5CAE87}"/>
              </a:ext>
            </a:extLst>
          </p:cNvPr>
          <p:cNvSpPr txBox="1"/>
          <p:nvPr/>
        </p:nvSpPr>
        <p:spPr>
          <a:xfrm>
            <a:off x="5797296" y="5779008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7FE49-0DF6-CC7B-DBAA-55800A56C419}"/>
              </a:ext>
            </a:extLst>
          </p:cNvPr>
          <p:cNvSpPr txBox="1"/>
          <p:nvPr/>
        </p:nvSpPr>
        <p:spPr>
          <a:xfrm>
            <a:off x="37822" y="4121925"/>
            <a:ext cx="42507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Conversion Rate: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→ 80 / 1000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8%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→ 120 / 1000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12%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Version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performs better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483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1C4A-611C-EA52-8D4C-2B6B480C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570E50-796C-0E57-5F3C-AEE4678A14F3}"/>
              </a:ext>
            </a:extLst>
          </p:cNvPr>
          <p:cNvSpPr txBox="1"/>
          <p:nvPr/>
        </p:nvSpPr>
        <p:spPr>
          <a:xfrm>
            <a:off x="214884" y="141581"/>
            <a:ext cx="101818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(ML Model)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built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ML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spam detection.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now have: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 (Control)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Old production model (Logistic Regression)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 (Variant)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New model (Transformer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XGBoost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2 group of users: A and B.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Incoming emails are randomly divided and sent to these models: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11BBD3-245A-731A-825A-EFB722451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207684"/>
              </p:ext>
            </p:extLst>
          </p:nvPr>
        </p:nvGraphicFramePr>
        <p:xfrm>
          <a:off x="838200" y="4229894"/>
          <a:ext cx="5489448" cy="13716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848421606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783615721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1528826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68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Group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4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Group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New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256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50F378-AD74-91FE-5A03-825530B155B1}"/>
              </a:ext>
            </a:extLst>
          </p:cNvPr>
          <p:cNvSpPr txBox="1"/>
          <p:nvPr/>
        </p:nvSpPr>
        <p:spPr>
          <a:xfrm>
            <a:off x="9523476" y="4129741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41508-5498-3348-8113-C030AF7CFB42}"/>
              </a:ext>
            </a:extLst>
          </p:cNvPr>
          <p:cNvSpPr txBox="1"/>
          <p:nvPr/>
        </p:nvSpPr>
        <p:spPr>
          <a:xfrm>
            <a:off x="9464040" y="5319029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9F126D5-05C3-7B4A-B7A3-D7F93CCA59B5}"/>
              </a:ext>
            </a:extLst>
          </p:cNvPr>
          <p:cNvSpPr/>
          <p:nvPr/>
        </p:nvSpPr>
        <p:spPr>
          <a:xfrm>
            <a:off x="8782812" y="4247387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7D5ADB1-BFF8-0897-3183-628A13927354}"/>
              </a:ext>
            </a:extLst>
          </p:cNvPr>
          <p:cNvSpPr/>
          <p:nvPr/>
        </p:nvSpPr>
        <p:spPr>
          <a:xfrm>
            <a:off x="8782812" y="5405896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25F4C-6701-C08F-1AD6-4205842623E7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A685D-9965-48FF-796C-A06CD3E392AC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0453E-5165-4FCA-34E1-77EFA883ED70}"/>
              </a:ext>
            </a:extLst>
          </p:cNvPr>
          <p:cNvSpPr txBox="1"/>
          <p:nvPr/>
        </p:nvSpPr>
        <p:spPr>
          <a:xfrm>
            <a:off x="493776" y="6336792"/>
            <a:ext cx="5981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check which model gives better result </a:t>
            </a:r>
          </a:p>
        </p:txBody>
      </p:sp>
    </p:spTree>
    <p:extLst>
      <p:ext uri="{BB962C8B-B14F-4D97-AF65-F5344CB8AC3E}">
        <p14:creationId xmlns:p14="http://schemas.microsoft.com/office/powerpoint/2010/main" val="395349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79276-12B2-98D4-8DD1-803EA96C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C0AB66-2110-19CD-664D-D78D39567862}"/>
              </a:ext>
            </a:extLst>
          </p:cNvPr>
          <p:cNvSpPr txBox="1"/>
          <p:nvPr/>
        </p:nvSpPr>
        <p:spPr>
          <a:xfrm>
            <a:off x="91440" y="219671"/>
            <a:ext cx="9985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Metrics to Measure for model: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only accuracy, real business metrics matter: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991E4E-41DB-D85B-446C-FB2541272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273362"/>
              </p:ext>
            </p:extLst>
          </p:nvPr>
        </p:nvGraphicFramePr>
        <p:xfrm>
          <a:off x="280416" y="1641688"/>
          <a:ext cx="6321552" cy="2286000"/>
        </p:xfrm>
        <a:graphic>
          <a:graphicData uri="http://schemas.openxmlformats.org/drawingml/2006/table">
            <a:tbl>
              <a:tblPr/>
              <a:tblGrid>
                <a:gridCol w="2828544">
                  <a:extLst>
                    <a:ext uri="{9D8B030D-6E8A-4147-A177-3AD203B41FA5}">
                      <a16:colId xmlns:a16="http://schemas.microsoft.com/office/drawing/2014/main" val="3418911449"/>
                    </a:ext>
                  </a:extLst>
                </a:gridCol>
                <a:gridCol w="3493008">
                  <a:extLst>
                    <a:ext uri="{9D8B030D-6E8A-4147-A177-3AD203B41FA5}">
                      <a16:colId xmlns:a16="http://schemas.microsoft.com/office/drawing/2014/main" val="4160899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752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Spam detection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catches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71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 positives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avoids blocking real emails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982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real satisfaction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2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Email open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downstream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6434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66ED54-584D-DE94-5010-83B4434CAF0E}"/>
              </a:ext>
            </a:extLst>
          </p:cNvPr>
          <p:cNvSpPr txBox="1"/>
          <p:nvPr/>
        </p:nvSpPr>
        <p:spPr>
          <a:xfrm>
            <a:off x="9523476" y="4129741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4E212-0790-99F3-FE95-74D992B16EEC}"/>
              </a:ext>
            </a:extLst>
          </p:cNvPr>
          <p:cNvSpPr txBox="1"/>
          <p:nvPr/>
        </p:nvSpPr>
        <p:spPr>
          <a:xfrm>
            <a:off x="9464040" y="5319029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917A2B9-1C0A-761B-E787-0DE9B1271872}"/>
              </a:ext>
            </a:extLst>
          </p:cNvPr>
          <p:cNvSpPr/>
          <p:nvPr/>
        </p:nvSpPr>
        <p:spPr>
          <a:xfrm>
            <a:off x="8782812" y="4247387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95EA35-17B1-3CBE-8A2A-C6C531CA5ED9}"/>
              </a:ext>
            </a:extLst>
          </p:cNvPr>
          <p:cNvSpPr/>
          <p:nvPr/>
        </p:nvSpPr>
        <p:spPr>
          <a:xfrm>
            <a:off x="8782812" y="5405896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D97845-B98B-0B8B-83CD-F5B6C49D35A6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F16A8-6242-BEC3-1CEF-08A313DA187C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</p:spTree>
    <p:extLst>
      <p:ext uri="{BB962C8B-B14F-4D97-AF65-F5344CB8AC3E}">
        <p14:creationId xmlns:p14="http://schemas.microsoft.com/office/powerpoint/2010/main" val="58140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0B98-77E0-3305-5F5B-85C7A9CC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2F1A85-E457-CFA1-70BC-28000F74457D}"/>
              </a:ext>
            </a:extLst>
          </p:cNvPr>
          <p:cNvSpPr txBox="1"/>
          <p:nvPr/>
        </p:nvSpPr>
        <p:spPr>
          <a:xfrm>
            <a:off x="306324" y="49199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Results After 1 Week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7A5C30-0D43-F99D-267C-2FC17A192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25358"/>
              </p:ext>
            </p:extLst>
          </p:nvPr>
        </p:nvGraphicFramePr>
        <p:xfrm>
          <a:off x="307848" y="1294670"/>
          <a:ext cx="7784592" cy="2286000"/>
        </p:xfrm>
        <a:graphic>
          <a:graphicData uri="http://schemas.openxmlformats.org/drawingml/2006/table">
            <a:tbl>
              <a:tblPr/>
              <a:tblGrid>
                <a:gridCol w="2755392">
                  <a:extLst>
                    <a:ext uri="{9D8B030D-6E8A-4147-A177-3AD203B41FA5}">
                      <a16:colId xmlns:a16="http://schemas.microsoft.com/office/drawing/2014/main" val="2344263914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350278657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1193940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57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8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False Positive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2%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84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Complaints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45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96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Spam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9,300 (IMPORTANT)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23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3C2F18-B96D-606E-0BF8-B30E748B4C21}"/>
              </a:ext>
            </a:extLst>
          </p:cNvPr>
          <p:cNvSpPr txBox="1"/>
          <p:nvPr/>
        </p:nvSpPr>
        <p:spPr>
          <a:xfrm>
            <a:off x="672084" y="4241030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 clearly improves real outcomes.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deploy Model B to 100% users.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71D82-871A-83AF-2CA9-6C9CD7CBCCB7}"/>
              </a:ext>
            </a:extLst>
          </p:cNvPr>
          <p:cNvSpPr txBox="1"/>
          <p:nvPr/>
        </p:nvSpPr>
        <p:spPr>
          <a:xfrm>
            <a:off x="9523476" y="4129741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Model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946B4-6737-BF91-B507-509C9103765B}"/>
              </a:ext>
            </a:extLst>
          </p:cNvPr>
          <p:cNvSpPr txBox="1"/>
          <p:nvPr/>
        </p:nvSpPr>
        <p:spPr>
          <a:xfrm>
            <a:off x="9464040" y="5319029"/>
            <a:ext cx="174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Model B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96BDD4D-814F-62E2-DF10-26205CC14A7F}"/>
              </a:ext>
            </a:extLst>
          </p:cNvPr>
          <p:cNvSpPr/>
          <p:nvPr/>
        </p:nvSpPr>
        <p:spPr>
          <a:xfrm>
            <a:off x="8782812" y="4247387"/>
            <a:ext cx="521208" cy="2879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BD5C259-7DF3-522F-F304-DA84EE368FAF}"/>
              </a:ext>
            </a:extLst>
          </p:cNvPr>
          <p:cNvSpPr/>
          <p:nvPr/>
        </p:nvSpPr>
        <p:spPr>
          <a:xfrm>
            <a:off x="8782812" y="5405896"/>
            <a:ext cx="521208" cy="2879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A0982-7A8F-34FF-1E5F-39DAC9257805}"/>
              </a:ext>
            </a:extLst>
          </p:cNvPr>
          <p:cNvSpPr txBox="1"/>
          <p:nvPr/>
        </p:nvSpPr>
        <p:spPr>
          <a:xfrm>
            <a:off x="7232904" y="4160520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50% 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B00B6-96BB-F0D6-8A1D-ED8A19734EFD}"/>
              </a:ext>
            </a:extLst>
          </p:cNvPr>
          <p:cNvSpPr txBox="1"/>
          <p:nvPr/>
        </p:nvSpPr>
        <p:spPr>
          <a:xfrm>
            <a:off x="7246252" y="5319029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50% email</a:t>
            </a:r>
          </a:p>
        </p:txBody>
      </p:sp>
    </p:spTree>
    <p:extLst>
      <p:ext uri="{BB962C8B-B14F-4D97-AF65-F5344CB8AC3E}">
        <p14:creationId xmlns:p14="http://schemas.microsoft.com/office/powerpoint/2010/main" val="374464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9E72-116C-26B3-56D3-95E7326D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681B9-19E6-2F31-B765-CA9B79BAA5DA}"/>
              </a:ext>
            </a:extLst>
          </p:cNvPr>
          <p:cNvSpPr txBox="1"/>
          <p:nvPr/>
        </p:nvSpPr>
        <p:spPr>
          <a:xfrm>
            <a:off x="150876" y="327398"/>
            <a:ext cx="77495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How A/B Testing Works (Step-by-Step)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1) Define Goal</a:t>
            </a:r>
          </a:p>
          <a:p>
            <a:r>
              <a:rPr lang="en-US" sz="2400" dirty="0">
                <a:solidFill>
                  <a:srgbClr val="92D050"/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Increase signup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Improve click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Reduce bounce rate (Users leaving immediately)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2) Create Hypothesis</a:t>
            </a:r>
          </a:p>
          <a:p>
            <a:r>
              <a:rPr lang="en-US" sz="2400" dirty="0">
                <a:solidFill>
                  <a:srgbClr val="92D050"/>
                </a:solidFill>
              </a:rPr>
              <a:t>Example: “Having a chatbot will increase conversions.”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Null Hypo. :   Chatbot had no effect</a:t>
            </a:r>
          </a:p>
          <a:p>
            <a:r>
              <a:rPr lang="en-US" sz="2400" dirty="0">
                <a:solidFill>
                  <a:srgbClr val="92D050"/>
                </a:solidFill>
              </a:rPr>
              <a:t>Alter Hypo.:  Chatbot increased signup rate</a:t>
            </a:r>
          </a:p>
          <a:p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42BAD-36C6-A60E-5486-E5FF6C619581}"/>
              </a:ext>
            </a:extLst>
          </p:cNvPr>
          <p:cNvSpPr txBox="1"/>
          <p:nvPr/>
        </p:nvSpPr>
        <p:spPr>
          <a:xfrm>
            <a:off x="5922264" y="296153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D09A6-B739-A908-855E-AF7BD040F46A}"/>
              </a:ext>
            </a:extLst>
          </p:cNvPr>
          <p:cNvSpPr txBox="1"/>
          <p:nvPr/>
        </p:nvSpPr>
        <p:spPr>
          <a:xfrm>
            <a:off x="5922264" y="5409063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191067-391D-4B19-3413-3E21A5F6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961538"/>
            <a:ext cx="5081929" cy="14561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A8A5BC-E15F-1CD3-941E-8F1ADCB6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28" y="5064271"/>
            <a:ext cx="5081932" cy="14561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7D05C1-D4BA-2049-CB08-2D9E8D0203F1}"/>
              </a:ext>
            </a:extLst>
          </p:cNvPr>
          <p:cNvSpPr txBox="1"/>
          <p:nvPr/>
        </p:nvSpPr>
        <p:spPr>
          <a:xfrm>
            <a:off x="6942428" y="5774775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02567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2379-ADA2-9D4C-E386-6BF59906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86087-F246-7AC7-8844-08313F386BD9}"/>
              </a:ext>
            </a:extLst>
          </p:cNvPr>
          <p:cNvSpPr txBox="1"/>
          <p:nvPr/>
        </p:nvSpPr>
        <p:spPr>
          <a:xfrm>
            <a:off x="361188" y="802886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3) Split Users Randomly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Group A → sees </a:t>
            </a:r>
            <a:r>
              <a:rPr lang="en-US" sz="2400" b="1" dirty="0">
                <a:solidFill>
                  <a:srgbClr val="92D050"/>
                </a:solidFill>
              </a:rPr>
              <a:t>old</a:t>
            </a:r>
            <a:r>
              <a:rPr lang="en-US" sz="2400" dirty="0">
                <a:solidFill>
                  <a:srgbClr val="92D050"/>
                </a:solidFill>
              </a:rPr>
              <a:t> version, without chatbot</a:t>
            </a:r>
          </a:p>
          <a:p>
            <a:r>
              <a:rPr lang="en-US" sz="2400" dirty="0">
                <a:solidFill>
                  <a:srgbClr val="92D050"/>
                </a:solidFill>
              </a:rPr>
              <a:t>Group B → sees </a:t>
            </a:r>
            <a:r>
              <a:rPr lang="en-US" sz="2400" b="1" dirty="0">
                <a:solidFill>
                  <a:srgbClr val="92D050"/>
                </a:solidFill>
              </a:rPr>
              <a:t>new</a:t>
            </a:r>
            <a:r>
              <a:rPr lang="en-US" sz="2400" dirty="0">
                <a:solidFill>
                  <a:srgbClr val="92D050"/>
                </a:solidFill>
              </a:rPr>
              <a:t> version, with chatbot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(Randomization is VERY important.)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4) Run Experiment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Collect data for sufficient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B10CE-ECE1-D0A6-3FF1-FC9ACA464155}"/>
              </a:ext>
            </a:extLst>
          </p:cNvPr>
          <p:cNvSpPr txBox="1"/>
          <p:nvPr/>
        </p:nvSpPr>
        <p:spPr>
          <a:xfrm>
            <a:off x="5922264" y="296153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03AF9-D33C-6C2C-4E30-F7922F8CDCCA}"/>
              </a:ext>
            </a:extLst>
          </p:cNvPr>
          <p:cNvSpPr txBox="1"/>
          <p:nvPr/>
        </p:nvSpPr>
        <p:spPr>
          <a:xfrm>
            <a:off x="5922264" y="5409063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241380-030E-5EAD-870B-051A436FE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961538"/>
            <a:ext cx="5081929" cy="1456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099AD9-B3CC-B45A-1855-B0718AE07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28" y="5064271"/>
            <a:ext cx="5081932" cy="1456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5D7231-7A92-3726-370B-88C3EF23564F}"/>
              </a:ext>
            </a:extLst>
          </p:cNvPr>
          <p:cNvSpPr txBox="1"/>
          <p:nvPr/>
        </p:nvSpPr>
        <p:spPr>
          <a:xfrm>
            <a:off x="6942428" y="5774775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512393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E04D-5B7E-BA06-9323-866B7042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D9CF9B-63F7-C331-E37A-604211E46FDC}"/>
              </a:ext>
            </a:extLst>
          </p:cNvPr>
          <p:cNvSpPr txBox="1"/>
          <p:nvPr/>
        </p:nvSpPr>
        <p:spPr>
          <a:xfrm>
            <a:off x="361188" y="802886"/>
            <a:ext cx="102641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5) Analyze Results</a:t>
            </a:r>
          </a:p>
          <a:p>
            <a:r>
              <a:rPr lang="en-US" sz="2400" dirty="0">
                <a:solidFill>
                  <a:srgbClr val="92D050"/>
                </a:solidFill>
              </a:rPr>
              <a:t>Use statistical testing: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z-test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chi-square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0DEBF-56F1-A430-F7FC-86C9397CAA86}"/>
              </a:ext>
            </a:extLst>
          </p:cNvPr>
          <p:cNvSpPr txBox="1"/>
          <p:nvPr/>
        </p:nvSpPr>
        <p:spPr>
          <a:xfrm>
            <a:off x="5922264" y="296153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4EB3E-FFDB-3F59-4755-CFC9F6A58443}"/>
              </a:ext>
            </a:extLst>
          </p:cNvPr>
          <p:cNvSpPr txBox="1"/>
          <p:nvPr/>
        </p:nvSpPr>
        <p:spPr>
          <a:xfrm>
            <a:off x="5922264" y="5409063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657608-B0A3-F0CB-C221-1F79B029A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961538"/>
            <a:ext cx="5081929" cy="1456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4534A3-9CF1-1FE5-52A9-2D9E3FF2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28" y="5064271"/>
            <a:ext cx="5081932" cy="1456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58D809-52AF-4FBA-F3A8-3563BAC914B6}"/>
              </a:ext>
            </a:extLst>
          </p:cNvPr>
          <p:cNvSpPr txBox="1"/>
          <p:nvPr/>
        </p:nvSpPr>
        <p:spPr>
          <a:xfrm>
            <a:off x="6942428" y="5774775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628086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284D-F25B-7E57-AA0C-71CFD2DB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701432-34E5-8DA4-F927-E5E216911A68}"/>
              </a:ext>
            </a:extLst>
          </p:cNvPr>
          <p:cNvSpPr txBox="1"/>
          <p:nvPr/>
        </p:nvSpPr>
        <p:spPr>
          <a:xfrm>
            <a:off x="361188" y="802886"/>
            <a:ext cx="102641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Statistical Concept Behind A/B Testing:</a:t>
            </a:r>
          </a:p>
          <a:p>
            <a:r>
              <a:rPr lang="en-US" sz="2400" dirty="0">
                <a:solidFill>
                  <a:srgbClr val="92D050"/>
                </a:solidFill>
              </a:rPr>
              <a:t>A/B testing relies on </a:t>
            </a:r>
            <a:r>
              <a:rPr lang="en-US" sz="2400" b="1" dirty="0">
                <a:solidFill>
                  <a:srgbClr val="92D050"/>
                </a:solidFill>
              </a:rPr>
              <a:t>hypothesis testing</a:t>
            </a:r>
            <a:r>
              <a:rPr lang="en-US" sz="2400" dirty="0">
                <a:solidFill>
                  <a:srgbClr val="92D050"/>
                </a:solidFill>
              </a:rPr>
              <a:t>.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92D050"/>
                </a:solidFill>
              </a:rPr>
              <a:t>Null Hypothesis (H₀):  </a:t>
            </a:r>
            <a:r>
              <a:rPr lang="en-US" sz="2400" dirty="0">
                <a:solidFill>
                  <a:srgbClr val="92D050"/>
                </a:solidFill>
              </a:rPr>
              <a:t>No difference between A and B.</a:t>
            </a:r>
            <a:endParaRPr lang="en-US" sz="2400" b="1" dirty="0">
              <a:solidFill>
                <a:srgbClr val="92D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92D050"/>
                </a:solidFill>
              </a:rPr>
              <a:t>Alternative Hypothesis (H₁): </a:t>
            </a:r>
            <a:r>
              <a:rPr lang="en-US" sz="2400" dirty="0">
                <a:solidFill>
                  <a:srgbClr val="92D050"/>
                </a:solidFill>
              </a:rPr>
              <a:t>Version B is better than A.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If probability (p-value) is small,</a:t>
            </a:r>
          </a:p>
          <a:p>
            <a:r>
              <a:rPr lang="en-US" sz="2400" dirty="0">
                <a:solidFill>
                  <a:srgbClr val="92D050"/>
                </a:solidFill>
              </a:rPr>
              <a:t> -&gt; Reject H₀. </a:t>
            </a:r>
          </a:p>
          <a:p>
            <a:r>
              <a:rPr lang="en-US" sz="2400" dirty="0">
                <a:solidFill>
                  <a:srgbClr val="92D050"/>
                </a:solidFill>
              </a:rPr>
              <a:t>-&gt; There is statistical difference</a:t>
            </a:r>
          </a:p>
          <a:p>
            <a:r>
              <a:rPr lang="en-US" sz="2400" dirty="0">
                <a:solidFill>
                  <a:srgbClr val="92D050"/>
                </a:solidFill>
              </a:rPr>
              <a:t>      between A and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95F11-B8DA-BEB9-919B-B59E6EC87444}"/>
              </a:ext>
            </a:extLst>
          </p:cNvPr>
          <p:cNvSpPr txBox="1"/>
          <p:nvPr/>
        </p:nvSpPr>
        <p:spPr>
          <a:xfrm>
            <a:off x="5922264" y="296153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00D2B-00D6-3F6C-7A59-A7409ECD6798}"/>
              </a:ext>
            </a:extLst>
          </p:cNvPr>
          <p:cNvSpPr txBox="1"/>
          <p:nvPr/>
        </p:nvSpPr>
        <p:spPr>
          <a:xfrm>
            <a:off x="5922264" y="5409063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A89CD6-D4E5-E0A6-0E51-F30614CE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961538"/>
            <a:ext cx="5081929" cy="1456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FD3EC1-C748-FCCC-5D47-2CCC4B6C5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28" y="5064271"/>
            <a:ext cx="5081932" cy="1456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597629-457D-982B-B676-AAF8F9EE0C10}"/>
              </a:ext>
            </a:extLst>
          </p:cNvPr>
          <p:cNvSpPr txBox="1"/>
          <p:nvPr/>
        </p:nvSpPr>
        <p:spPr>
          <a:xfrm>
            <a:off x="6942428" y="5774775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1205652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67FC-A459-4E99-EE58-FFAA8DEB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C0584-7C72-8A94-D3FD-4908988C7A46}"/>
              </a:ext>
            </a:extLst>
          </p:cNvPr>
          <p:cNvSpPr txBox="1"/>
          <p:nvPr/>
        </p:nvSpPr>
        <p:spPr>
          <a:xfrm>
            <a:off x="361188" y="802886"/>
            <a:ext cx="8051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6) Make Decision</a:t>
            </a:r>
          </a:p>
          <a:p>
            <a:r>
              <a:rPr lang="en-US" sz="2400" dirty="0">
                <a:solidFill>
                  <a:srgbClr val="92D050"/>
                </a:solidFill>
              </a:rPr>
              <a:t>Choose version with </a:t>
            </a:r>
            <a:r>
              <a:rPr lang="en-US" sz="2400" b="1" dirty="0">
                <a:solidFill>
                  <a:srgbClr val="92D050"/>
                </a:solidFill>
              </a:rPr>
              <a:t>statistically significant improvement</a:t>
            </a:r>
            <a:r>
              <a:rPr lang="en-US" sz="2400" dirty="0">
                <a:solidFill>
                  <a:srgbClr val="92D050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20289-8CA3-9BCD-A940-F46967B33ACB}"/>
              </a:ext>
            </a:extLst>
          </p:cNvPr>
          <p:cNvSpPr txBox="1"/>
          <p:nvPr/>
        </p:nvSpPr>
        <p:spPr>
          <a:xfrm>
            <a:off x="5925312" y="301752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C9F0C-40A1-80ED-CE5E-FD3F95977F6E}"/>
              </a:ext>
            </a:extLst>
          </p:cNvPr>
          <p:cNvSpPr txBox="1"/>
          <p:nvPr/>
        </p:nvSpPr>
        <p:spPr>
          <a:xfrm>
            <a:off x="5967984" y="5376672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42239-1873-8E64-280A-C9851145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3081528"/>
            <a:ext cx="5370921" cy="1538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233BB-3852-40CD-DB16-E1C57BB3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43" y="5192733"/>
            <a:ext cx="5386541" cy="1543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B99D3-394D-455C-03C3-E5CD436BF515}"/>
              </a:ext>
            </a:extLst>
          </p:cNvPr>
          <p:cNvSpPr txBox="1"/>
          <p:nvPr/>
        </p:nvSpPr>
        <p:spPr>
          <a:xfrm>
            <a:off x="7040880" y="5980176"/>
            <a:ext cx="1882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Chatbot: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38479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BCD8-4D54-3A68-C087-D07CAAC8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E64E2E-EE2F-D49B-0D09-0D6CB2638891}"/>
              </a:ext>
            </a:extLst>
          </p:cNvPr>
          <p:cNvSpPr txBox="1"/>
          <p:nvPr/>
        </p:nvSpPr>
        <p:spPr>
          <a:xfrm>
            <a:off x="210312" y="572947"/>
            <a:ext cx="4526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Real-Life Uses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E-commerce: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Product page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Pricing display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Checkout flow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endParaRPr lang="en-US" sz="2400" b="1" dirty="0">
              <a:solidFill>
                <a:srgbClr val="92D050"/>
              </a:solidFill>
            </a:endParaRP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Apps: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UI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Notification timing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Feature rollout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BB1F2-8651-8283-F0CE-8E4ADE197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544" y="448053"/>
            <a:ext cx="3012123" cy="2651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A75442-E2A0-02B6-31A5-807A5F10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656251"/>
            <a:ext cx="3769490" cy="2234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80B0D9-62DA-7C9F-6C77-D6C60FF2151C}"/>
              </a:ext>
            </a:extLst>
          </p:cNvPr>
          <p:cNvSpPr txBox="1"/>
          <p:nvPr/>
        </p:nvSpPr>
        <p:spPr>
          <a:xfrm>
            <a:off x="5733288" y="321868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D795E-9503-AB29-A8E2-9AD4929BAFB0}"/>
              </a:ext>
            </a:extLst>
          </p:cNvPr>
          <p:cNvSpPr txBox="1"/>
          <p:nvPr/>
        </p:nvSpPr>
        <p:spPr>
          <a:xfrm>
            <a:off x="9552432" y="3282696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2D05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7440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ADB7-0566-9E57-A168-2307427A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19EC5-7F05-279C-8631-347587F2446A}"/>
              </a:ext>
            </a:extLst>
          </p:cNvPr>
          <p:cNvSpPr txBox="1"/>
          <p:nvPr/>
        </p:nvSpPr>
        <p:spPr>
          <a:xfrm>
            <a:off x="260604" y="703410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Real-Life Uses</a:t>
            </a:r>
          </a:p>
          <a:p>
            <a:endParaRPr lang="en-US" sz="2400" b="1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Email Marketing: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Subject 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Email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Send timing</a:t>
            </a: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endParaRPr lang="en-US" sz="2400" dirty="0">
              <a:solidFill>
                <a:srgbClr val="92D050"/>
              </a:solidFill>
            </a:endParaRPr>
          </a:p>
          <a:p>
            <a:r>
              <a:rPr lang="en-US" sz="2400" b="1" dirty="0">
                <a:solidFill>
                  <a:srgbClr val="92D050"/>
                </a:solidFill>
              </a:rPr>
              <a:t>Machine Learning: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Compare two models in production</a:t>
            </a:r>
          </a:p>
        </p:txBody>
      </p:sp>
    </p:spTree>
    <p:extLst>
      <p:ext uri="{BB962C8B-B14F-4D97-AF65-F5344CB8AC3E}">
        <p14:creationId xmlns:p14="http://schemas.microsoft.com/office/powerpoint/2010/main" val="1329607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7E84-4487-A97B-7524-E8193BC8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6D6B14-B5E8-C6DA-555F-AF0C97C965B5}"/>
              </a:ext>
            </a:extLst>
          </p:cNvPr>
          <p:cNvSpPr txBox="1"/>
          <p:nvPr/>
        </p:nvSpPr>
        <p:spPr>
          <a:xfrm>
            <a:off x="260604" y="703410"/>
            <a:ext cx="96423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A/B Testing is Powerful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Data-driven decisions  and removes guessing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products scientifically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C2C62-941F-88CF-193D-9C0C8CD868D3}"/>
              </a:ext>
            </a:extLst>
          </p:cNvPr>
          <p:cNvSpPr txBox="1"/>
          <p:nvPr/>
        </p:nvSpPr>
        <p:spPr>
          <a:xfrm>
            <a:off x="5922264" y="2961538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DE978-C6B6-2C74-F800-BCAF6815B843}"/>
              </a:ext>
            </a:extLst>
          </p:cNvPr>
          <p:cNvSpPr txBox="1"/>
          <p:nvPr/>
        </p:nvSpPr>
        <p:spPr>
          <a:xfrm>
            <a:off x="5922264" y="5409063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29EE1F-225B-722A-43A6-DF6D5E31B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961538"/>
            <a:ext cx="5081929" cy="1456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88A61E-7E21-8AC0-3D33-6DBBABE6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28" y="5064271"/>
            <a:ext cx="5081932" cy="1456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AAE32E-FEE6-5A8B-5132-58DEB76FDED9}"/>
              </a:ext>
            </a:extLst>
          </p:cNvPr>
          <p:cNvSpPr txBox="1"/>
          <p:nvPr/>
        </p:nvSpPr>
        <p:spPr>
          <a:xfrm>
            <a:off x="6942428" y="5774775"/>
            <a:ext cx="236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Chatbot:</a:t>
            </a:r>
          </a:p>
          <a:p>
            <a:r>
              <a:rPr lang="en-US" b="1" dirty="0">
                <a:solidFill>
                  <a:srgbClr val="00B0F0"/>
                </a:solidFill>
              </a:rPr>
              <a:t>Hello. How can I help ?</a:t>
            </a:r>
          </a:p>
        </p:txBody>
      </p:sp>
    </p:spTree>
    <p:extLst>
      <p:ext uri="{BB962C8B-B14F-4D97-AF65-F5344CB8AC3E}">
        <p14:creationId xmlns:p14="http://schemas.microsoft.com/office/powerpoint/2010/main" val="330078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E57A-4629-BB0C-C57D-C2866D83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266905-99E3-44B7-785F-2C368A1D8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92812"/>
              </p:ext>
            </p:extLst>
          </p:nvPr>
        </p:nvGraphicFramePr>
        <p:xfrm>
          <a:off x="179832" y="1852454"/>
          <a:ext cx="7510272" cy="2743200"/>
        </p:xfrm>
        <a:graphic>
          <a:graphicData uri="http://schemas.openxmlformats.org/drawingml/2006/table">
            <a:tbl>
              <a:tblPr/>
              <a:tblGrid>
                <a:gridCol w="2956560">
                  <a:extLst>
                    <a:ext uri="{9D8B030D-6E8A-4147-A177-3AD203B41FA5}">
                      <a16:colId xmlns:a16="http://schemas.microsoft.com/office/drawing/2014/main" val="930938492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174232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Conversion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% users completing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16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Click Through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1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Bounce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Users leaving immediately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8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 per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920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Engagement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User interest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353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95272E-8F52-11F5-DC9A-FA1036EE6136}"/>
              </a:ext>
            </a:extLst>
          </p:cNvPr>
          <p:cNvSpPr txBox="1"/>
          <p:nvPr/>
        </p:nvSpPr>
        <p:spPr>
          <a:xfrm>
            <a:off x="589788" y="122351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Business Metrics Used for web pages</a:t>
            </a:r>
          </a:p>
        </p:txBody>
      </p:sp>
    </p:spTree>
    <p:extLst>
      <p:ext uri="{BB962C8B-B14F-4D97-AF65-F5344CB8AC3E}">
        <p14:creationId xmlns:p14="http://schemas.microsoft.com/office/powerpoint/2010/main" val="3233514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D01-DFE5-FC2A-1748-3D5847C5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18F7-B4BF-8F37-93C7-C671331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999590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538B46-B035-0367-0027-D01DEA8F6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54" y="1728215"/>
            <a:ext cx="4907608" cy="2664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A27BA7-DCEF-A66A-1D37-D2C19C686303}"/>
              </a:ext>
            </a:extLst>
          </p:cNvPr>
          <p:cNvSpPr txBox="1"/>
          <p:nvPr/>
        </p:nvSpPr>
        <p:spPr>
          <a:xfrm>
            <a:off x="1792224" y="1618488"/>
            <a:ext cx="4669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</a:rPr>
              <a:t>Loxford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Academy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 better future.</a:t>
            </a:r>
          </a:p>
          <a:p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537</TotalTime>
  <Words>732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A/B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110</cp:revision>
  <dcterms:created xsi:type="dcterms:W3CDTF">2025-09-22T02:44:38Z</dcterms:created>
  <dcterms:modified xsi:type="dcterms:W3CDTF">2026-05-04T09:17:48Z</dcterms:modified>
</cp:coreProperties>
</file>