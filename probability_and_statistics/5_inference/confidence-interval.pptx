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73" r:id="rId3"/>
    <p:sldId id="276" r:id="rId4"/>
    <p:sldId id="266" r:id="rId5"/>
    <p:sldId id="269" r:id="rId6"/>
    <p:sldId id="261" r:id="rId7"/>
    <p:sldId id="267" r:id="rId8"/>
    <p:sldId id="265" r:id="rId9"/>
    <p:sldId id="264" r:id="rId10"/>
    <p:sldId id="277" r:id="rId11"/>
    <p:sldId id="272" r:id="rId12"/>
    <p:sldId id="278" r:id="rId13"/>
    <p:sldId id="279" r:id="rId14"/>
    <p:sldId id="271" r:id="rId15"/>
    <p:sldId id="280" r:id="rId16"/>
    <p:sldId id="275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2693-BAE9-9E0B-5B4E-FAEB6EC6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12DDA-932E-8AEB-1593-E17BC3104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2C23C-0D74-7F97-3726-D4017EB00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C5A31-190E-3183-0E80-8458E1B40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67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EDF49-B97E-6AEF-5DF5-9B8CAF936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FA4A9-9BAB-BCF2-74EB-F38E2C113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7C23C-3AF4-C634-5CCA-A93B0442B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FFBF4-58D2-1C41-E37B-E4A1004E8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39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082-1B1F-99E5-1A69-32837B0A2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FE1AC-6943-1251-5D31-F60A41C80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DB0E4-A21F-26DE-F9DC-25505D4B2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65899-32D5-1BC2-2C0B-F062DDC65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82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5AAE-3C8F-8CB5-64E3-B27C2DF6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E2777-5CF9-DF90-3F41-29B656358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E2C2C-7749-FBE2-23CB-9FC41FA67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1AA43-89EE-154B-E62D-0A2F7326E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89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C00C-57EF-4CA6-7093-4D5CD80C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A555C-38C4-0109-DA43-EBA992460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1855A-3F61-42B0-5778-8B4891885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68531-51AD-118A-6419-0241EB4C1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860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Confidence Interval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DD21-5A70-DBA7-8B6B-209DE2B3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84377"/>
            <a:ext cx="117226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Problem: A company claims their fries have an average weight of 54 g per pack. You buy 25 random packs and weigh them:</a:t>
            </a:r>
          </a:p>
          <a:p>
            <a:pPr marL="0" indent="0">
              <a:buNone/>
            </a:pPr>
            <a:r>
              <a:rPr lang="en-US" dirty="0"/>
              <a:t>41.4, 42.1, 42.6, 43.1, 44.0, 44.7, 45.4, 46.1, 46.8, 47.5, 48.2, 49.3, 50.0, 50.7, 51.8, 52.5, 53.2, 53.9, 54.6, 55.3, 56.0, 56.9, 57.4, 57.9, 58.6</a:t>
            </a:r>
          </a:p>
          <a:p>
            <a:pPr marL="0" indent="0">
              <a:buNone/>
            </a:pPr>
            <a:r>
              <a:rPr lang="en-US" dirty="0"/>
              <a:t>The total of above 25 samples is 1250 g. So, average weight of single pack is 1250/25 = 50 g.</a:t>
            </a:r>
          </a:p>
          <a:p>
            <a:pPr marL="0" indent="0">
              <a:buNone/>
            </a:pPr>
            <a:r>
              <a:rPr lang="en-US" dirty="0"/>
              <a:t>They seem lighter than the claim.</a:t>
            </a:r>
          </a:p>
          <a:p>
            <a:pPr marL="0" indent="0">
              <a:buNone/>
            </a:pPr>
            <a:r>
              <a:rPr lang="en-US" dirty="0"/>
              <a:t>You calculate the standard deviation of above data and it is 8 g.</a:t>
            </a:r>
          </a:p>
          <a:p>
            <a:pPr marL="0" indent="0">
              <a:buNone/>
            </a:pPr>
            <a:r>
              <a:rPr lang="en-US" dirty="0"/>
              <a:t>Can you </a:t>
            </a:r>
            <a:r>
              <a:rPr lang="en-US" i="1" dirty="0"/>
              <a:t>prove statistically, </a:t>
            </a:r>
            <a:r>
              <a:rPr lang="en-US" dirty="0"/>
              <a:t>at 95% confidence that the claim might be false?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99506-EB00-3DF9-7B90-E6B121B43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46189E9-90E3-6691-49EC-6B71470EA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210" y="4178808"/>
            <a:ext cx="4413910" cy="167535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38E4DF7-3BAD-460B-D491-BCBBC7AA1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Confidence Interval: Definition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19CFD-56E7-663F-0AC2-18A76222F0F0}"/>
              </a:ext>
            </a:extLst>
          </p:cNvPr>
          <p:cNvSpPr txBox="1"/>
          <p:nvPr/>
        </p:nvSpPr>
        <p:spPr>
          <a:xfrm>
            <a:off x="182880" y="781223"/>
            <a:ext cx="110185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interval (CI)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range of values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likely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contain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 population parameter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(like mean, proportion, or difference) with a certain level of confidence.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is generally expressed as  90%, 95% or 99%.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survey 100 students to find their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average study time per day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find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mean = 3.4 hours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with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95% confidence interval = [3.1, 3.7]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means that: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We are 95% confident that the true average study time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all students lies between 3.1 and 3.7 hours.  </a:t>
            </a:r>
          </a:p>
          <a:p>
            <a:pPr marL="0" indent="0" algn="ctr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Given the sample data, there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95% probability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the true mean lies between 3.1 and 3.7.</a:t>
            </a:r>
          </a:p>
        </p:txBody>
      </p:sp>
    </p:spTree>
    <p:extLst>
      <p:ext uri="{BB962C8B-B14F-4D97-AF65-F5344CB8AC3E}">
        <p14:creationId xmlns:p14="http://schemas.microsoft.com/office/powerpoint/2010/main" val="1059515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7222-6646-81BB-0626-10FACCD37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D09ACE-4D82-B7A0-CD61-6AA7386DF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22" y="1645920"/>
            <a:ext cx="7402878" cy="410836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79D2CF8-B407-728F-55F4-A11DFDC3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Confidence Interval: Interpretation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9C976-BE11-BA86-8D16-86F1DE1BC21E}"/>
              </a:ext>
            </a:extLst>
          </p:cNvPr>
          <p:cNvSpPr txBox="1"/>
          <p:nvPr/>
        </p:nvSpPr>
        <p:spPr>
          <a:xfrm>
            <a:off x="77724" y="967014"/>
            <a:ext cx="107762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95% CI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means that if we repeatedly sample from the population and calculate CIs, about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95% of these CIs would contain the true mean </a:t>
            </a:r>
            <a:r>
              <a:rPr lang="el-GR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understand this through an example: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the pop. mean is </a:t>
            </a:r>
            <a:r>
              <a:rPr lang="el-G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we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Attempting to find.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take sample1 and find its CI =  [6,11]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take sample2 and find its CI =  [7,13]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take sample3 and find its CI =  [1,8]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take sample1 and find its CI =  [6,14]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so on…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95% of these Cis would contain the true mean </a:t>
            </a:r>
            <a:r>
              <a:rPr lang="el-G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Width of CI tells how precise the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estimate is.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narrow CI,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say [2, 5], is more precise than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wider CI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say [2, 30]. </a:t>
            </a:r>
          </a:p>
        </p:txBody>
      </p:sp>
    </p:spTree>
    <p:extLst>
      <p:ext uri="{BB962C8B-B14F-4D97-AF65-F5344CB8AC3E}">
        <p14:creationId xmlns:p14="http://schemas.microsoft.com/office/powerpoint/2010/main" val="2746654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70E3-DC55-03EA-2F5C-E6F9CCDD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CA853F-45AF-8A6D-D265-A54CC938D102}"/>
                  </a:ext>
                </a:extLst>
              </p:cNvPr>
              <p:cNvSpPr txBox="1"/>
              <p:nvPr/>
            </p:nvSpPr>
            <p:spPr>
              <a:xfrm>
                <a:off x="124968" y="641253"/>
                <a:ext cx="8881872" cy="6115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Formula for CI of  mean: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</a:t>
                </a:r>
                <a:r>
                  <a:rPr lang="en-US" sz="20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population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SD σ  is known: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Term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called 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margin of error ME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(AKA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maximum error of the estimate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).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Another way of writing above is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where, </a:t>
                </a:r>
                <a:r>
                  <a:rPr lang="el-G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the population  mean.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 main assumptions for finding a confidence interval for a mean when σ Is Known:</a:t>
                </a:r>
              </a:p>
              <a:p>
                <a:pPr marL="514350" indent="-514350">
                  <a:buAutoNum type="arabicParenR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sample is a random sample</a:t>
                </a:r>
              </a:p>
              <a:p>
                <a:pPr marL="514350" indent="-514350">
                  <a:buAutoNum type="arabicParenR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Either n &gt;= 30 or the population is normally distributed when n &lt; 30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CA853F-45AF-8A6D-D265-A54CC938D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" y="641253"/>
                <a:ext cx="8881872" cy="6115777"/>
              </a:xfrm>
              <a:prstGeom prst="rect">
                <a:avLst/>
              </a:prstGeom>
              <a:blipFill>
                <a:blip r:embed="rId2"/>
                <a:stretch>
                  <a:fillRect l="-755" t="-499" r="-412" b="-9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EE103B5-B48F-0319-597C-6D06DDA10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913" y="671547"/>
            <a:ext cx="6095690" cy="224011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670AB38-49C4-B12A-260D-AAC2F7A51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432" y="-9779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Confidence Interval: Formula for z-distribution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5A5EAC-C032-672C-4E82-34374E008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128" y="3684342"/>
            <a:ext cx="3998976" cy="5668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3CD62C-EC33-44E2-4E83-F0FFA23B4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980" y="4428091"/>
            <a:ext cx="4108503" cy="4429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A39CDB-E689-DDAD-AE04-FE0092A75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6537" y="3392544"/>
            <a:ext cx="3920495" cy="207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9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C4C6-6965-C64A-C837-2D6CFA7D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8DF0D1-A64C-F02F-C774-278036A21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432" y="54229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Confidence Interval: Formula For t-distribution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E63F07-66E4-7E8C-A961-36329FA77711}"/>
                  </a:ext>
                </a:extLst>
              </p:cNvPr>
              <p:cNvSpPr txBox="1"/>
              <p:nvPr/>
            </p:nvSpPr>
            <p:spPr>
              <a:xfrm>
                <a:off x="124968" y="641253"/>
                <a:ext cx="10811256" cy="3257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Formula for CI of  mean: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Previously we used z-distribution because population SD σ was known. If population SD is unknown, then we use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t-distribution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instead.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degree of freedom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d.f.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n-1.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use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d.f.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confidence level to find t-values from the t-distribution table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Margin of error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defined similarly: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E63F07-66E4-7E8C-A961-36329FA77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" y="641253"/>
                <a:ext cx="10811256" cy="3257751"/>
              </a:xfrm>
              <a:prstGeom prst="rect">
                <a:avLst/>
              </a:prstGeom>
              <a:blipFill>
                <a:blip r:embed="rId2"/>
                <a:stretch>
                  <a:fillRect l="-902" t="-1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1CB4DE1-0C8F-21A4-11CB-3CD43E755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" y="3939749"/>
            <a:ext cx="6473565" cy="859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4CB012-ECBD-7AA2-9373-6F659F19A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613" y="5292585"/>
            <a:ext cx="6597905" cy="711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045AE5-266D-3610-F623-6F607DC94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4959" y="3648456"/>
            <a:ext cx="3920495" cy="207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8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D0F74-B73B-23F4-6724-0BED9F60F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F7B1C-0AF8-6879-D17B-9952E4A21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Confidence Interval: When to Use the z or t Distribution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89E35B-02CD-9B1E-3232-5D12AEBEB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863" y="1754534"/>
            <a:ext cx="8575490" cy="381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4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8F044-C8BD-67D1-9BF4-F8F5EFDF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9499D2-81A6-0ED3-E115-217F87FA7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Confidence Interval: Steps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FEA274-4573-0626-8E95-FE101BF389AD}"/>
                  </a:ext>
                </a:extLst>
              </p:cNvPr>
              <p:cNvSpPr txBox="1"/>
              <p:nvPr/>
            </p:nvSpPr>
            <p:spPr>
              <a:xfrm>
                <a:off x="173736" y="686973"/>
                <a:ext cx="10177272" cy="2826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Decide which distribution to use (z or t) and corresponding critical z-value or t-value.</a:t>
                </a:r>
              </a:p>
              <a:p>
                <a:pPr marL="342900" indent="-342900">
                  <a:buAutoNum type="arabicPeriod"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Compute the margin of error (ME):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or  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AutoNum type="arabicPeriod"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Construct the confidence interval</a:t>
                </a:r>
              </a:p>
              <a:p>
                <a:pPr marL="342900" indent="-342900">
                  <a:buAutoNum type="arabicPeriod"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         z- distribution                                                                   t- </a:t>
                </a:r>
                <a:r>
                  <a:rPr lang="en-US" sz="20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distibution</a:t>
                </a: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FEA274-4573-0626-8E95-FE101BF38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" y="686973"/>
                <a:ext cx="10177272" cy="2826864"/>
              </a:xfrm>
              <a:prstGeom prst="rect">
                <a:avLst/>
              </a:prstGeom>
              <a:blipFill>
                <a:blip r:embed="rId2"/>
                <a:stretch>
                  <a:fillRect l="-659" t="-1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ED34EE7-41A6-9932-AF07-DAEDCDC29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5" y="3232487"/>
            <a:ext cx="4995241" cy="7080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55A201-7BBF-F0EB-5359-99546A6F6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38" y="4120419"/>
            <a:ext cx="4995241" cy="538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74A16B-F7CC-07AC-FF03-65ED379CA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338" y="3212981"/>
            <a:ext cx="4901106" cy="650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E3D729-24B4-63F3-914D-29230ADDD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41" y="4081763"/>
            <a:ext cx="4995243" cy="53858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556D29-3688-5198-3217-728A51AB6A9D}"/>
              </a:ext>
            </a:extLst>
          </p:cNvPr>
          <p:cNvCxnSpPr>
            <a:cxnSpLocks/>
          </p:cNvCxnSpPr>
          <p:nvPr/>
        </p:nvCxnSpPr>
        <p:spPr>
          <a:xfrm>
            <a:off x="5513832" y="2834640"/>
            <a:ext cx="0" cy="135594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05873F6-1F6A-A804-8D70-9E9EE6430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4797163"/>
            <a:ext cx="3688751" cy="194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27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FB066-0ABF-540A-261C-304C81CB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38F461-6765-D536-AEA7-1C4E8BBA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Confidence Interval</a:t>
            </a:r>
            <a:endParaRPr lang="en-US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32FB2A-FF30-8F11-D041-031B80335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231647"/>
              </p:ext>
            </p:extLst>
          </p:nvPr>
        </p:nvGraphicFramePr>
        <p:xfrm>
          <a:off x="137160" y="1644135"/>
          <a:ext cx="9985248" cy="1889760"/>
        </p:xfrm>
        <a:graphic>
          <a:graphicData uri="http://schemas.openxmlformats.org/drawingml/2006/table">
            <a:tbl>
              <a:tblPr/>
              <a:tblGrid>
                <a:gridCol w="2523744">
                  <a:extLst>
                    <a:ext uri="{9D8B030D-6E8A-4147-A177-3AD203B41FA5}">
                      <a16:colId xmlns:a16="http://schemas.microsoft.com/office/drawing/2014/main" val="290913998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833557082"/>
                    </a:ext>
                  </a:extLst>
                </a:gridCol>
                <a:gridCol w="5632704">
                  <a:extLst>
                    <a:ext uri="{9D8B030D-6E8A-4147-A177-3AD203B41FA5}">
                      <a16:colId xmlns:a16="http://schemas.microsoft.com/office/drawing/2014/main" val="2859153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Confidence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Z-Value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1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1.645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90% confident true mean lies in interval; narrow interval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201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Most commonly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33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2.58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high confidence, but wider interval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682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7193836-FCED-2A6B-6AB3-6CA19406038F}"/>
              </a:ext>
            </a:extLst>
          </p:cNvPr>
          <p:cNvSpPr txBox="1"/>
          <p:nvPr/>
        </p:nvSpPr>
        <p:spPr>
          <a:xfrm>
            <a:off x="1293876" y="1049774"/>
            <a:ext cx="8471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Cheat Sheet: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Confidence Levels, their z-values and their meaning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36109E-5378-DD86-9DD2-F25BD70A5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680" y="3588077"/>
            <a:ext cx="5658640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10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95523-80E1-5CEC-3DDE-CF3997396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5FBF56A-4C08-A32D-F8BE-A941B32C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r>
              <a:rPr lang="en-US" sz="3600" b="1" dirty="0"/>
              <a:t>Confidence Interval: Application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4A2316-FE90-1048-10F2-D5659A30E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709" y="200420"/>
            <a:ext cx="3618515" cy="5129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1D1125-C3D1-8E6D-5B78-2E4140C3F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836" y="3511297"/>
            <a:ext cx="3549589" cy="18751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7C4B24-197E-242C-5923-9DD20EB7576A}"/>
                  </a:ext>
                </a:extLst>
              </p:cNvPr>
              <p:cNvSpPr txBox="1"/>
              <p:nvPr/>
            </p:nvSpPr>
            <p:spPr>
              <a:xfrm>
                <a:off x="365760" y="1186196"/>
                <a:ext cx="11826240" cy="2417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factory wants to find average weight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a packaged product.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You take a random sample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packages and find 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 mean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grams. 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population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standard deviation is known to be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grams. 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Find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95% confidence interval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 the true mean weight.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7C4B24-197E-242C-5923-9DD20EB75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186196"/>
                <a:ext cx="11826240" cy="2417841"/>
              </a:xfrm>
              <a:prstGeom prst="rect">
                <a:avLst/>
              </a:prstGeom>
              <a:blipFill>
                <a:blip r:embed="rId4"/>
                <a:stretch>
                  <a:fillRect l="-773" t="-2020" b="-5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4044A1A2-F090-1A0E-30CA-B40D9F784314}"/>
              </a:ext>
            </a:extLst>
          </p:cNvPr>
          <p:cNvSpPr/>
          <p:nvPr/>
        </p:nvSpPr>
        <p:spPr>
          <a:xfrm>
            <a:off x="1051560" y="3886200"/>
            <a:ext cx="420624" cy="3931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2A1E669-F419-8BC4-D4F4-94505D2BEC2C}"/>
              </a:ext>
            </a:extLst>
          </p:cNvPr>
          <p:cNvSpPr/>
          <p:nvPr/>
        </p:nvSpPr>
        <p:spPr>
          <a:xfrm>
            <a:off x="2036064" y="3922776"/>
            <a:ext cx="420624" cy="3931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376C89-44CF-12BF-0B54-58D7D273898A}"/>
              </a:ext>
            </a:extLst>
          </p:cNvPr>
          <p:cNvSpPr/>
          <p:nvPr/>
        </p:nvSpPr>
        <p:spPr>
          <a:xfrm>
            <a:off x="3147213" y="3767328"/>
            <a:ext cx="618744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72AC6D-C68F-855D-60BF-852EDC025BD1}"/>
              </a:ext>
            </a:extLst>
          </p:cNvPr>
          <p:cNvSpPr/>
          <p:nvPr/>
        </p:nvSpPr>
        <p:spPr>
          <a:xfrm>
            <a:off x="4974336" y="3822192"/>
            <a:ext cx="892962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196165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D259-E412-5D3F-8795-4080ACDB9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BB39252-51C1-3B83-8587-2DDCD070A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r>
              <a:rPr lang="en-US" sz="3600" b="1" dirty="0"/>
              <a:t>Confidence Interval: Application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C53478-0B41-4C36-B6AC-01CD5CBB7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537" y="304043"/>
            <a:ext cx="4262016" cy="6041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12F8F6-ED7D-CE28-8E5B-0C3CDBC51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411" y="2715769"/>
            <a:ext cx="3549589" cy="18751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2C423F-920F-C3F1-77D6-93BA8A90F5C7}"/>
                  </a:ext>
                </a:extLst>
              </p:cNvPr>
              <p:cNvSpPr txBox="1"/>
              <p:nvPr/>
            </p:nvSpPr>
            <p:spPr>
              <a:xfrm>
                <a:off x="156575" y="908182"/>
                <a:ext cx="11374009" cy="4844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Given: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g, Confidence level = 95%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1. Since we know pop. std dev.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we use z-distribution. Critical z value for 95%: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2. Compute the margin of error (ME):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= 1.96 x (8/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= 1.568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3. Construct the confidence interval: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50 – 1.568 &lt; </a:t>
                </a:r>
                <a:r>
                  <a:rPr lang="el-GR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&lt; 50 + 1.568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=&gt; 48.432 g &lt; </a:t>
                </a:r>
                <a:r>
                  <a:rPr lang="el-GR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&lt; 51.568 g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Interpretation: “We are 95% confident that the true mean weight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packaged product lies between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48.43 g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51.57 g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.”</a:t>
                </a:r>
                <a:b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2C423F-920F-C3F1-77D6-93BA8A90F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75" y="908182"/>
                <a:ext cx="11374009" cy="4844596"/>
              </a:xfrm>
              <a:prstGeom prst="rect">
                <a:avLst/>
              </a:prstGeom>
              <a:blipFill>
                <a:blip r:embed="rId4"/>
                <a:stretch>
                  <a:fillRect l="-857" t="-1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1487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EA716-FD29-D713-C9E6-F8040D80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27BAC2-A26F-B5AD-51CF-FD4A2110B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151" y="101423"/>
            <a:ext cx="4714370" cy="6682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4340E56-C40B-F705-E85A-EFFC477B1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797495"/>
            <a:ext cx="3797808" cy="20062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DE1D28-5E44-6011-F4BC-E24CC60765D1}"/>
                  </a:ext>
                </a:extLst>
              </p:cNvPr>
              <p:cNvSpPr txBox="1"/>
              <p:nvPr/>
            </p:nvSpPr>
            <p:spPr>
              <a:xfrm>
                <a:off x="229727" y="769683"/>
                <a:ext cx="10688497" cy="3156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Let’s redo previous problem but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smaller sample size n = 49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factory wants to find average weight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a packaged product.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You take a random sample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49 packages and find 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 mean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grams.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4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population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standard deviation is known to be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grams. 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Find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95% confidence interval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 the true mean weight.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DE1D28-5E44-6011-F4BC-E24CC6076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27" y="769683"/>
                <a:ext cx="10688497" cy="3156505"/>
              </a:xfrm>
              <a:prstGeom prst="rect">
                <a:avLst/>
              </a:prstGeom>
              <a:blipFill>
                <a:blip r:embed="rId5"/>
                <a:stretch>
                  <a:fillRect l="-913" t="-1544" b="-3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785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F0346-4AC7-36F8-C559-5079105C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07BDD8-EB45-9CD6-D877-E61761BB5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727" y="54116"/>
            <a:ext cx="4714370" cy="6682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7C8DFC-2933-8035-E8DD-9D7F4F041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221423"/>
            <a:ext cx="3797808" cy="20062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903719-50D8-053C-6AFB-667366E5BEC0}"/>
                  </a:ext>
                </a:extLst>
              </p:cNvPr>
              <p:cNvSpPr txBox="1"/>
              <p:nvPr/>
            </p:nvSpPr>
            <p:spPr>
              <a:xfrm>
                <a:off x="229727" y="440499"/>
                <a:ext cx="11374009" cy="5952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Given: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49,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g, Confidence level = 95%</a:t>
                </a:r>
              </a:p>
              <a:p>
                <a:pPr marL="342900" indent="-342900">
                  <a:buAutoNum type="arabicPeriod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Since we know pop. std dev.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we use z-distribution.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Critical z value for 95%: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2. Compute the margin of error (ME):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= 1.96 x (8/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=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2.24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(Note: ME became larger now)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3. Construct the confidence interval: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50 – 2.24 &lt; </a:t>
                </a:r>
                <a:r>
                  <a:rPr lang="el-GR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&lt; 50 + 2.24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=&gt; 47.76 g &lt; </a:t>
                </a:r>
                <a:r>
                  <a:rPr lang="el-GR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&lt; 52.24 g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Interpretation: “We are 95% confident that the true mean weight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packaged product lies between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47.76g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52.24g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.”</a:t>
                </a:r>
                <a:b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903719-50D8-053C-6AFB-667366E5B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27" y="440499"/>
                <a:ext cx="11374009" cy="5952592"/>
              </a:xfrm>
              <a:prstGeom prst="rect">
                <a:avLst/>
              </a:prstGeom>
              <a:blipFill>
                <a:blip r:embed="rId5"/>
                <a:stretch>
                  <a:fillRect l="-857" t="-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061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792F3-856D-DEA6-2AF2-3A9D3831B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B6CDAB-3B97-6720-85C8-EAD1FCB1A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727" y="54116"/>
            <a:ext cx="4714370" cy="6682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B3AF32-E187-8D49-8BBB-CBB8C780F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221423"/>
            <a:ext cx="3797808" cy="20062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272F18-A7EE-18F8-88D6-BA3BE5189645}"/>
              </a:ext>
            </a:extLst>
          </p:cNvPr>
          <p:cNvSpPr txBox="1"/>
          <p:nvPr/>
        </p:nvSpPr>
        <p:spPr>
          <a:xfrm>
            <a:off x="229727" y="440499"/>
            <a:ext cx="113740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n = 100, the CI was [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48.43, 51.57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]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n = 49,   the CI was [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47.76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52.24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]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Conclusion: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the sample size decreases, the interval becomes wider,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the estimate is less precise.</a:t>
            </a:r>
          </a:p>
        </p:txBody>
      </p:sp>
    </p:spTree>
    <p:extLst>
      <p:ext uri="{BB962C8B-B14F-4D97-AF65-F5344CB8AC3E}">
        <p14:creationId xmlns:p14="http://schemas.microsoft.com/office/powerpoint/2010/main" val="3750265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220FC-EDC1-F1C1-118E-0D0E83D9A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C3AE96-B72B-DF8A-9450-377ECC6F2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997289"/>
            <a:ext cx="4008120" cy="21173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1ECF12-D1D7-AB71-DB7D-83E0F8225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255117"/>
            <a:ext cx="3794372" cy="5038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C081A9-353C-6270-139E-63D03A64781F}"/>
                  </a:ext>
                </a:extLst>
              </p:cNvPr>
              <p:cNvSpPr txBox="1"/>
              <p:nvPr/>
            </p:nvSpPr>
            <p:spPr>
              <a:xfrm>
                <a:off x="255838" y="1098356"/>
                <a:ext cx="11283890" cy="27871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Let’s redo previous problem but smaller sample size n = 25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factory wants to find average weight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a packaged product.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You take a random sample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25 packages and find 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 mean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grams.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standard deviation was calculated to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grams. 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Find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95% confidence interval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 the true mean weight.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C081A9-353C-6270-139E-63D03A647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38" y="1098356"/>
                <a:ext cx="11283890" cy="2787173"/>
              </a:xfrm>
              <a:prstGeom prst="rect">
                <a:avLst/>
              </a:prstGeom>
              <a:blipFill>
                <a:blip r:embed="rId5"/>
                <a:stretch>
                  <a:fillRect l="-864" t="-1751" b="-4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457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395BB-E080-FCFC-99E7-2973E3BD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CB4383-6403-BE54-59CB-FC7244773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033865"/>
            <a:ext cx="4008120" cy="21173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AFEB97C-C944-7C62-4C54-FBB1F7C39E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016" y="874647"/>
                <a:ext cx="10689336" cy="526097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Ans: 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Given: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sz="2400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400" dirty="0"/>
                  <a:t> 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/>
                  <a:t> g, Confidence level = 95%</a:t>
                </a:r>
              </a:p>
              <a:p>
                <a:pPr marL="342900" indent="-342900">
                  <a:buAutoNum type="arabicPeriod"/>
                </a:pPr>
                <a:r>
                  <a:rPr lang="en-US" sz="2400" dirty="0"/>
                  <a:t>Since we do  not know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dirty="0"/>
                  <a:t>,  we know sample std dev.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we use t-distribution. </a:t>
                </a:r>
              </a:p>
              <a:p>
                <a:pPr marL="0" indent="0">
                  <a:buNone/>
                </a:pPr>
                <a:r>
                  <a:rPr lang="en-US" sz="2400" dirty="0"/>
                  <a:t>Here </a:t>
                </a:r>
                <a:r>
                  <a:rPr lang="en-US" sz="2400" dirty="0" err="1"/>
                  <a:t>d.f.</a:t>
                </a:r>
                <a:r>
                  <a:rPr lang="en-US" sz="2400" dirty="0"/>
                  <a:t> is 25-1=24. 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Using t-table, we find critical t- value for 95%: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/>
                      <m:t>2.064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2. Compute the margin of error (ME):  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  = 2.064 x (8/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US" sz="2400" dirty="0"/>
                  <a:t>) = 3.3024</a:t>
                </a:r>
                <a:r>
                  <a:rPr lang="en-US" sz="24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(Note: ME became larger now)</a:t>
                </a:r>
              </a:p>
              <a:p>
                <a:pPr marL="0" indent="0">
                  <a:buNone/>
                </a:pPr>
                <a:r>
                  <a:rPr lang="en-US" sz="2400" dirty="0"/>
                  <a:t>3. Construct the confidence interval:</a:t>
                </a:r>
              </a:p>
              <a:p>
                <a:pPr marL="0" indent="0">
                  <a:buNone/>
                </a:pPr>
                <a:r>
                  <a:rPr lang="en-US" sz="2400" dirty="0"/>
                  <a:t>    50 – 3.30 &lt; </a:t>
                </a:r>
                <a:r>
                  <a:rPr lang="el-GR" sz="2400" dirty="0"/>
                  <a:t>μ</a:t>
                </a:r>
                <a:r>
                  <a:rPr lang="en-US" sz="2400" dirty="0"/>
                  <a:t> &lt; 50 + 3.30</a:t>
                </a:r>
              </a:p>
              <a:p>
                <a:pPr marL="0" indent="0">
                  <a:buNone/>
                </a:pPr>
                <a:r>
                  <a:rPr lang="en-US" sz="2400" dirty="0"/>
                  <a:t> =&gt; 46.70 g &lt; </a:t>
                </a:r>
                <a:r>
                  <a:rPr lang="el-GR" sz="2400" dirty="0"/>
                  <a:t>μ</a:t>
                </a:r>
                <a:r>
                  <a:rPr lang="en-US" sz="2400" dirty="0"/>
                  <a:t> &lt; 53.30 g</a:t>
                </a:r>
              </a:p>
              <a:p>
                <a:pPr marL="0" indent="0">
                  <a:buNone/>
                </a:pPr>
                <a:r>
                  <a:rPr lang="en-US" sz="2400" dirty="0"/>
                  <a:t>Interpretation: “We are 95% confident that the true mean weight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of the packaged product lies between </a:t>
                </a:r>
                <a:r>
                  <a:rPr lang="en-US" sz="2400" b="1" dirty="0"/>
                  <a:t>46.70g</a:t>
                </a:r>
                <a:r>
                  <a:rPr lang="en-US" sz="2400" dirty="0"/>
                  <a:t> and </a:t>
                </a:r>
                <a:r>
                  <a:rPr lang="en-US" sz="2400" b="1" dirty="0"/>
                  <a:t>53.30g</a:t>
                </a:r>
                <a:r>
                  <a:rPr lang="en-US" sz="2400" dirty="0"/>
                  <a:t>.”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AFEB97C-C944-7C62-4C54-FBB1F7C39E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016" y="874647"/>
                <a:ext cx="10689336" cy="5260977"/>
              </a:xfrm>
              <a:blipFill>
                <a:blip r:embed="rId4"/>
                <a:stretch>
                  <a:fillRect l="-912" t="-1620" b="-8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02B029B-3274-60AB-9121-AD7D9C132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568" y="255117"/>
            <a:ext cx="4665669" cy="61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91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E8EE8-E34A-9248-7F3B-E0A175753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23AA1-466E-83DC-5CB0-126AEB2B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51292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Confidence Interval: Why Do We Need CI?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D139F-6ECD-7860-95B1-B584EF82FE93}"/>
              </a:ext>
            </a:extLst>
          </p:cNvPr>
          <p:cNvSpPr txBox="1"/>
          <p:nvPr/>
        </p:nvSpPr>
        <p:spPr>
          <a:xfrm>
            <a:off x="274320" y="933117"/>
            <a:ext cx="11658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Point estimates alone are incomplete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sample mean (e.g., 3.5 hours) doesn’t tell us how accurate it 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 gives a range that quantifies the uncertainty.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Accounts for sampling variability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sample gives a slightly different result.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 shows how much variation to expect.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Helps in decision-making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If a new medicine’s 95% CI for improvement = [1.2, 2.8], and it doesn’t include 0, we can infer the drug likely has a real effect.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Interpretable in real-world terms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Easier to explain uncertainty than p-values.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BD0E3A-7B39-DBE9-F406-82D20BE1D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775" y="649448"/>
            <a:ext cx="4676769" cy="66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45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961</TotalTime>
  <Words>1472</Words>
  <Application>Microsoft Office PowerPoint</Application>
  <PresentationFormat>Widescreen</PresentationFormat>
  <Paragraphs>184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Confidence Interval</vt:lpstr>
      <vt:lpstr>Confidence Interval: Definition</vt:lpstr>
      <vt:lpstr>Confidence Interval: Interpretation</vt:lpstr>
      <vt:lpstr>Confidence Interval: Formula for z-distribution</vt:lpstr>
      <vt:lpstr>Confidence Interval: Formula For t-distribution</vt:lpstr>
      <vt:lpstr>Confidence Interval: When to Use the z or t Distribution</vt:lpstr>
      <vt:lpstr>Confidence Interval: Steps</vt:lpstr>
      <vt:lpstr>Confidence Interval</vt:lpstr>
      <vt:lpstr>Confidence Interval: Application</vt:lpstr>
      <vt:lpstr>Confidence Interval: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  <vt:lpstr>Confidence Interval: Why Do We Need CI?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129</cp:revision>
  <dcterms:created xsi:type="dcterms:W3CDTF">2025-09-22T02:44:38Z</dcterms:created>
  <dcterms:modified xsi:type="dcterms:W3CDTF">2026-04-08T17:38:15Z</dcterms:modified>
</cp:coreProperties>
</file>