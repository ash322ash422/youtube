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73" r:id="rId3"/>
    <p:sldId id="276" r:id="rId4"/>
    <p:sldId id="266" r:id="rId5"/>
    <p:sldId id="269" r:id="rId6"/>
    <p:sldId id="261" r:id="rId7"/>
    <p:sldId id="267" r:id="rId8"/>
    <p:sldId id="265" r:id="rId9"/>
    <p:sldId id="264" r:id="rId10"/>
    <p:sldId id="272" r:id="rId11"/>
    <p:sldId id="271" r:id="rId12"/>
    <p:sldId id="270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82693-BAE9-9E0B-5B4E-FAEB6EC6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12DDA-932E-8AEB-1593-E17BC3104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12C23C-0D74-7F97-3726-D4017EB00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C5A31-190E-3183-0E80-8458E1B40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67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5AAE-3C8F-8CB5-64E3-B27C2DF6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E2777-5CF9-DF90-3F41-29B656358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E2C2C-7749-FBE2-23CB-9FC41FA67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1AA43-89EE-154B-E62D-0A2F7326E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89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7051-67F5-C2A6-490D-03FD438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Confidence Interval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DD21-5A70-DBA7-8B6B-209DE2B35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84377"/>
            <a:ext cx="117226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Problem: A company claims their fries have an average weight of 54 g per pack. You buy 25 random packs and weigh them:</a:t>
            </a:r>
          </a:p>
          <a:p>
            <a:pPr marL="0" indent="0">
              <a:buNone/>
            </a:pPr>
            <a:r>
              <a:rPr lang="en-US" dirty="0"/>
              <a:t>41.4, 42.1, 42.6, 43.1, 44.0, 44.7, 45.4, 46.1, 46.8, 47.5, 48.2, 49.3, 50.0, 50.7, 51.8, 52.5, 53.2, 53.9, 54.6, 55.3, 56.0, 56.9, 57.4, 57.9, 58.6</a:t>
            </a:r>
          </a:p>
          <a:p>
            <a:pPr marL="0" indent="0">
              <a:buNone/>
            </a:pPr>
            <a:r>
              <a:rPr lang="en-US" dirty="0"/>
              <a:t>The total of above 25 samples is 1250 g. So, average weight of single pack is 1250/25 = 50 g.</a:t>
            </a:r>
          </a:p>
          <a:p>
            <a:pPr marL="0" indent="0">
              <a:buNone/>
            </a:pPr>
            <a:r>
              <a:rPr lang="en-US" dirty="0"/>
              <a:t>They seem lighter than the claim.</a:t>
            </a:r>
          </a:p>
          <a:p>
            <a:pPr marL="0" indent="0">
              <a:buNone/>
            </a:pPr>
            <a:r>
              <a:rPr lang="en-US" dirty="0"/>
              <a:t>You calculate the standard deviation of above data and it is 8 g.</a:t>
            </a:r>
          </a:p>
          <a:p>
            <a:pPr marL="0" indent="0">
              <a:buNone/>
            </a:pPr>
            <a:r>
              <a:rPr lang="en-US" dirty="0"/>
              <a:t>Can you </a:t>
            </a:r>
            <a:r>
              <a:rPr lang="en-US" i="1" dirty="0"/>
              <a:t>prove statistically, </a:t>
            </a:r>
            <a:r>
              <a:rPr lang="en-US" dirty="0"/>
              <a:t>at 95% confidence that the claim might be false?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99506-EB00-3DF9-7B90-E6B121B43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38E4DF7-3BAD-460B-D491-BCBBC7AA1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Confidence Interval: Definition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19CFD-56E7-663F-0AC2-18A76222F0F0}"/>
              </a:ext>
            </a:extLst>
          </p:cNvPr>
          <p:cNvSpPr txBox="1"/>
          <p:nvPr/>
        </p:nvSpPr>
        <p:spPr>
          <a:xfrm>
            <a:off x="182880" y="781223"/>
            <a:ext cx="110185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 interval (CI)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range of values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is likely to contain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 population parameter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(like mean, proportion, or difference) with a certain level of confidence.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 is generally expressed as  90%, 95% or 99%.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survey 100 students to find their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average study time per day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find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mean = 3.4 hours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with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95% confidence interval = [3.1, 3.7]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means that: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We are 95% confident that the true average study time for all students lies between 3.1 and 3.7 hours.  </a:t>
            </a: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</a:t>
            </a: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Tx/>
              <a:buChar char="-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Given the sample data, there is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95% probability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the true mean lies between 3.1 and 3.7.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6189E9-90E3-6691-49EC-6B71470EA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353" y="3874377"/>
            <a:ext cx="5220429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15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67222-6646-81BB-0626-10FACCD37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79D2CF8-B407-728F-55F4-A11DFDC3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Confidence Interval: Interpretation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49C976-BE11-BA86-8D16-86F1DE1BC21E}"/>
              </a:ext>
            </a:extLst>
          </p:cNvPr>
          <p:cNvSpPr txBox="1"/>
          <p:nvPr/>
        </p:nvSpPr>
        <p:spPr>
          <a:xfrm>
            <a:off x="77724" y="967014"/>
            <a:ext cx="107762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95% CI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means that if we repeatedly sample from the population and calculate CIs, about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95% of these CIs would contain the true mean </a:t>
            </a:r>
            <a:r>
              <a:rPr lang="el-GR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μ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understand this through an example: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the pop. mean is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we attempting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find.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take sample1 and find its CI =  [6,11]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take sample2 and find its CI =  [7,13]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take sample3 and find its CI =  [1,8]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take sample1 and find its CI =  [6,14]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so on…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95% of these Cis would contain the true mean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μ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Width of CI tells how precise the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estimate is.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narrow CI,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say [2, 5], is more precise than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wider CI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say [2, 30].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D09ACE-4D82-B7A0-CD61-6AA7386DF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398" y="1481328"/>
            <a:ext cx="7402878" cy="410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654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E70E3-DC55-03EA-2F5C-E6F9CCDD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E103B5-B48F-0319-597C-6D06DDA10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7" y="1306858"/>
            <a:ext cx="5525851" cy="203070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670AB38-49C4-B12A-260D-AAC2F7A51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432" y="163957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Confidence Interval: Formula for z-distribution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CA853F-45AF-8A6D-D265-A54CC938D102}"/>
                  </a:ext>
                </a:extLst>
              </p:cNvPr>
              <p:cNvSpPr txBox="1"/>
              <p:nvPr/>
            </p:nvSpPr>
            <p:spPr>
              <a:xfrm>
                <a:off x="124968" y="641253"/>
                <a:ext cx="8881872" cy="60674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Formula for mean: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</a:t>
                </a:r>
                <a:r>
                  <a:rPr lang="en-US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population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SD σ  is known: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Term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called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margin of error ME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(AKA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maximum error of the estimate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Another way of writing above is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where,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μ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the population  mean.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 main assumptions for finding a confidence interval for a mean when σ Is Known:</a:t>
                </a:r>
              </a:p>
              <a:p>
                <a:pPr marL="514350" indent="-514350">
                  <a:buAutoNum type="arabicParenR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sample is a random sample</a:t>
                </a:r>
              </a:p>
              <a:p>
                <a:pPr marL="514350" indent="-514350">
                  <a:buAutoNum type="arabicParenR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Either n &gt;= 30 or the population is normally distributed when n &lt; 30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CA853F-45AF-8A6D-D265-A54CC938D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8" y="641253"/>
                <a:ext cx="8881872" cy="6067430"/>
              </a:xfrm>
              <a:prstGeom prst="rect">
                <a:avLst/>
              </a:prstGeom>
              <a:blipFill>
                <a:blip r:embed="rId3"/>
                <a:stretch>
                  <a:fillRect l="-618" t="-502" b="-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535A5EAC-C032-672C-4E82-34374E008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832" y="4144666"/>
            <a:ext cx="3998976" cy="5668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3CD62C-EC33-44E2-4E83-F0FFA23B48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19" y="4773269"/>
            <a:ext cx="4108503" cy="4429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A39CDB-E689-DDAD-AE04-FE0092A75B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6537" y="3392544"/>
            <a:ext cx="3920495" cy="207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97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C4C6-6965-C64A-C837-2D6CFA7D4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8DF0D1-A64C-F02F-C774-278036A21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432" y="163957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Confidence Interval: Formula For t-distribution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E63F07-66E4-7E8C-A961-36329FA77711}"/>
                  </a:ext>
                </a:extLst>
              </p:cNvPr>
              <p:cNvSpPr txBox="1"/>
              <p:nvPr/>
            </p:nvSpPr>
            <p:spPr>
              <a:xfrm>
                <a:off x="124968" y="641253"/>
                <a:ext cx="10811256" cy="2189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Formula for mean: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Previously we used z-distribution because population SD σ was known. If population SD is unknown, then we use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t-distribution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instead.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degree of freedom </a:t>
                </a:r>
                <a:r>
                  <a:rPr lang="en-US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d.f.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n-1. We use </a:t>
                </a:r>
                <a:r>
                  <a:rPr lang="en-US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d.f.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confidence level to find t-values from the t-distribution table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Margin of error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defined similarly: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E63F07-66E4-7E8C-A961-36329FA77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8" y="641253"/>
                <a:ext cx="10811256" cy="2189446"/>
              </a:xfrm>
              <a:prstGeom prst="rect">
                <a:avLst/>
              </a:prstGeom>
              <a:blipFill>
                <a:blip r:embed="rId2"/>
                <a:stretch>
                  <a:fillRect l="-508" t="-1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1CB4DE1-0C8F-21A4-11CB-3CD43E755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" y="3281381"/>
            <a:ext cx="6473565" cy="859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4CB012-ECBD-7AA2-9373-6F659F19A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613" y="4634217"/>
            <a:ext cx="6597905" cy="7113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045AE5-266D-3610-F623-6F607DC94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5815" y="3429000"/>
            <a:ext cx="3920495" cy="207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88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D0F74-B73B-23F4-6724-0BED9F60F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F7B1C-0AF8-6879-D17B-9952E4A21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Confidence Interval: When to Use the z or t Distribution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89E35B-02CD-9B1E-3232-5D12AEBEB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863" y="1754534"/>
            <a:ext cx="8575490" cy="381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4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8F044-C8BD-67D1-9BF4-F8F5EFDF8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9499D2-81A6-0ED3-E115-217F87FA7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Confidence Interval: Steps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FEA274-4573-0626-8E95-FE101BF389AD}"/>
                  </a:ext>
                </a:extLst>
              </p:cNvPr>
              <p:cNvSpPr txBox="1"/>
              <p:nvPr/>
            </p:nvSpPr>
            <p:spPr>
              <a:xfrm>
                <a:off x="173736" y="686973"/>
                <a:ext cx="10177272" cy="2730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Decide which distribution to use (z or t) and corresponding critical z-value or t-value.</a:t>
                </a:r>
              </a:p>
              <a:p>
                <a:pPr marL="342900" indent="-342900">
                  <a:buAutoNum type="arabicPeriod"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Compute the margin of error (ME):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or  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AutoNum type="arabicPeriod"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Construct the confidence interval</a:t>
                </a:r>
              </a:p>
              <a:p>
                <a:pPr marL="342900" indent="-342900">
                  <a:buAutoNum type="arabicPeriod"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                   z- distribution                                                                   t- </a:t>
                </a:r>
                <a:r>
                  <a:rPr lang="en-US" sz="20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distibution</a:t>
                </a: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FEA274-4573-0626-8E95-FE101BF38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6" y="686973"/>
                <a:ext cx="10177272" cy="2730235"/>
              </a:xfrm>
              <a:prstGeom prst="rect">
                <a:avLst/>
              </a:prstGeom>
              <a:blipFill>
                <a:blip r:embed="rId2"/>
                <a:stretch>
                  <a:fillRect l="-659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ED34EE7-41A6-9932-AF07-DAEDCDC29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5" y="3022175"/>
            <a:ext cx="4489991" cy="6364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55A201-7BBF-F0EB-5359-99546A6F6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38" y="3910107"/>
            <a:ext cx="4489991" cy="484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74A16B-F7CC-07AC-FF03-65ED379CA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338" y="2984381"/>
            <a:ext cx="4901106" cy="6507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E3D729-24B4-63F3-914D-29230ADDD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41" y="3853163"/>
            <a:ext cx="4995243" cy="53858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556D29-3688-5198-3217-728A51AB6A9D}"/>
              </a:ext>
            </a:extLst>
          </p:cNvPr>
          <p:cNvCxnSpPr>
            <a:cxnSpLocks/>
          </p:cNvCxnSpPr>
          <p:nvPr/>
        </p:nvCxnSpPr>
        <p:spPr>
          <a:xfrm>
            <a:off x="5513832" y="2834640"/>
            <a:ext cx="0" cy="135594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05873F6-1F6A-A804-8D70-9E9EE64302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4754517"/>
            <a:ext cx="3688751" cy="194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27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FB066-0ABF-540A-261C-304C81CB0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38F461-6765-D536-AEA7-1C4E8BBA1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Confidence Interval</a:t>
            </a:r>
            <a:endParaRPr lang="en-US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32FB2A-FF30-8F11-D041-031B80335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15085"/>
              </p:ext>
            </p:extLst>
          </p:nvPr>
        </p:nvGraphicFramePr>
        <p:xfrm>
          <a:off x="137160" y="1644135"/>
          <a:ext cx="9985248" cy="1463040"/>
        </p:xfrm>
        <a:graphic>
          <a:graphicData uri="http://schemas.openxmlformats.org/drawingml/2006/table">
            <a:tbl>
              <a:tblPr/>
              <a:tblGrid>
                <a:gridCol w="2523744">
                  <a:extLst>
                    <a:ext uri="{9D8B030D-6E8A-4147-A177-3AD203B41FA5}">
                      <a16:colId xmlns:a16="http://schemas.microsoft.com/office/drawing/2014/main" val="290913998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833557082"/>
                    </a:ext>
                  </a:extLst>
                </a:gridCol>
                <a:gridCol w="5632704">
                  <a:extLst>
                    <a:ext uri="{9D8B030D-6E8A-4147-A177-3AD203B41FA5}">
                      <a16:colId xmlns:a16="http://schemas.microsoft.com/office/drawing/2014/main" val="2859153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Confidence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Z-Value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1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1.645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90% confident true mean lies in interval; narrow interval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201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Most commonly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336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2.58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high confidence, but wider interval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682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7193836-FCED-2A6B-6AB3-6CA19406038F}"/>
              </a:ext>
            </a:extLst>
          </p:cNvPr>
          <p:cNvSpPr txBox="1"/>
          <p:nvPr/>
        </p:nvSpPr>
        <p:spPr>
          <a:xfrm>
            <a:off x="1293876" y="1049774"/>
            <a:ext cx="8471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Cheat Sheet: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Confidence Levels, their z-values and their meaning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36109E-5378-DD86-9DD2-F25BD70A5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824" y="3502152"/>
            <a:ext cx="5658640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10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95523-80E1-5CEC-3DDE-CF3997396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587F7D7-51E3-D7A7-B671-DA048CBF2F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016" y="838071"/>
                <a:ext cx="11978640" cy="5764531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Problem: A factory wants to find average weight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of a packaged product. You take a random sample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packages and find the </a:t>
                </a:r>
                <a:r>
                  <a:rPr lang="en-US" b="1" dirty="0"/>
                  <a:t>sample mean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grams. The </a:t>
                </a:r>
                <a:r>
                  <a:rPr lang="en-US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population</a:t>
                </a:r>
                <a:r>
                  <a:rPr lang="en-US" dirty="0"/>
                  <a:t> standard deviation is known to be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 grams. </a:t>
                </a:r>
              </a:p>
              <a:p>
                <a:pPr marL="0" indent="0">
                  <a:buNone/>
                </a:pPr>
                <a:r>
                  <a:rPr lang="en-US" dirty="0"/>
                  <a:t>Find a </a:t>
                </a:r>
                <a:r>
                  <a:rPr lang="en-US" b="1" dirty="0"/>
                  <a:t>95% confidence interval</a:t>
                </a:r>
                <a:r>
                  <a:rPr lang="en-US" dirty="0"/>
                  <a:t> for the true mean weight.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Ans: </a:t>
                </a:r>
              </a:p>
              <a:p>
                <a:pPr marL="0" indent="0">
                  <a:buNone/>
                </a:pPr>
                <a:r>
                  <a:rPr lang="en-US" b="1" dirty="0"/>
                  <a:t>Given: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g,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 g, Confidence level = 95%</a:t>
                </a:r>
              </a:p>
              <a:p>
                <a:pPr marL="0" indent="0">
                  <a:buNone/>
                </a:pPr>
                <a:r>
                  <a:rPr lang="en-US" dirty="0"/>
                  <a:t>1. Since we know pop. std dev.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we use z-distribution. Critical z value for 95%: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2. Compute the margin of error (ME):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dirty="0"/>
                  <a:t>  = 1.96 x (8/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rad>
                  </m:oMath>
                </a14:m>
                <a:r>
                  <a:rPr lang="en-US" dirty="0"/>
                  <a:t>) = 1.568</a:t>
                </a:r>
              </a:p>
              <a:p>
                <a:pPr marL="0" indent="0">
                  <a:buNone/>
                </a:pPr>
                <a:r>
                  <a:rPr lang="en-US" dirty="0"/>
                  <a:t>3. Construct the confidence interval:</a:t>
                </a:r>
              </a:p>
              <a:p>
                <a:pPr marL="0" indent="0">
                  <a:buNone/>
                </a:pPr>
                <a:r>
                  <a:rPr lang="en-US" dirty="0"/>
                  <a:t>    50 – 1.568 &lt; </a:t>
                </a:r>
                <a:r>
                  <a:rPr lang="el-GR" dirty="0"/>
                  <a:t>μ</a:t>
                </a:r>
                <a:r>
                  <a:rPr lang="en-US" dirty="0"/>
                  <a:t> &lt; 50 + 1.568</a:t>
                </a:r>
              </a:p>
              <a:p>
                <a:pPr marL="0" indent="0">
                  <a:buNone/>
                </a:pPr>
                <a:r>
                  <a:rPr lang="en-US" dirty="0"/>
                  <a:t> =&gt; 48.432 g &lt; </a:t>
                </a:r>
                <a:r>
                  <a:rPr lang="el-GR" dirty="0"/>
                  <a:t>μ</a:t>
                </a:r>
                <a:r>
                  <a:rPr lang="en-US" dirty="0"/>
                  <a:t> &lt; 51.568 g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Interpretation: “We are 95% confident that the true mean weight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of the packaged product lies between </a:t>
                </a:r>
                <a:r>
                  <a:rPr lang="en-US" b="1" dirty="0"/>
                  <a:t>48.43 g</a:t>
                </a:r>
                <a:r>
                  <a:rPr lang="en-US" dirty="0"/>
                  <a:t> and </a:t>
                </a:r>
                <a:r>
                  <a:rPr lang="en-US" b="1" dirty="0"/>
                  <a:t>51.57 g</a:t>
                </a:r>
                <a:r>
                  <a:rPr lang="en-US" dirty="0"/>
                  <a:t>.”</a:t>
                </a:r>
                <a:br>
                  <a:rPr lang="en-US" dirty="0"/>
                </a:br>
                <a:r>
                  <a:rPr lang="en-US" dirty="0"/>
                  <a:t>(Meaning: the procedure used to create this interval will capture the true mean in about 95% of repeated random samples of size 100.)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587F7D7-51E3-D7A7-B671-DA048CBF2F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016" y="838071"/>
                <a:ext cx="11978640" cy="5764531"/>
              </a:xfrm>
              <a:blipFill>
                <a:blip r:embed="rId2"/>
                <a:stretch>
                  <a:fillRect l="-509" t="-1903" r="-407" b="-1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35FBF56A-4C08-A32D-F8BE-A941B32C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r>
              <a:rPr lang="en-US" sz="3600" b="1" dirty="0"/>
              <a:t>Confidence Interval: Application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4A2316-FE90-1048-10F2-D5659A30E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709" y="200420"/>
            <a:ext cx="3618515" cy="5129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1D1125-C3D1-8E6D-5B78-2E4140C3F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836" y="3511297"/>
            <a:ext cx="3549589" cy="187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65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EA716-FD29-D713-C9E6-F8040D80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C629600-A874-8576-5E52-03A36AD8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r>
              <a:rPr lang="en-US" sz="3600" b="1" dirty="0"/>
              <a:t>Confidence Interval: Application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27BAC2-A26F-B5AD-51CF-FD4A2110B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709" y="200420"/>
            <a:ext cx="3618515" cy="5129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4340E56-C40B-F705-E85A-EFFC477B1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2797495"/>
            <a:ext cx="3797808" cy="20062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DE1D28-5E44-6011-F4BC-E24CC60765D1}"/>
                  </a:ext>
                </a:extLst>
              </p:cNvPr>
              <p:cNvSpPr txBox="1"/>
              <p:nvPr/>
            </p:nvSpPr>
            <p:spPr>
              <a:xfrm>
                <a:off x="229727" y="769683"/>
                <a:ext cx="10688497" cy="59548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Let’s redo previous problem but smaller sample size n = 49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factory wants to find average weight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a packaged product. You take a random sample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49 packages and find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sample mean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grams. The </a:t>
                </a:r>
                <a:r>
                  <a:rPr lang="en-US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population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standard deviation is known to be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grams.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Find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95% confidence interval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for the true mean weight.</a:t>
                </a:r>
              </a:p>
              <a:p>
                <a:pPr marL="0" indent="0">
                  <a:buNone/>
                </a:pPr>
                <a:endParaRPr lang="en-US" sz="18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Given: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sz="18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sz="18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 sz="18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 sz="18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g,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8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g, Confidence level = 95%</a:t>
                </a:r>
              </a:p>
              <a:p>
                <a:pPr marL="342900" indent="-342900">
                  <a:buAutoNum type="arabicPeriod"/>
                </a:pP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Since we know pop. std dev.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8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we use z-distribution.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</a:t>
                </a: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Critical z value for 95%: </a:t>
                </a:r>
                <a14:m>
                  <m:oMath xmlns:m="http://schemas.openxmlformats.org/officeDocument/2006/math">
                    <m:r>
                      <a:rPr lang="en-US" sz="18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8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ar-AE" sz="18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18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8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endParaRPr lang="en-US" sz="18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2. Compute the margin of error (ME):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sz="18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8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800" i="1">
                                    <a:solidFill>
                                      <a:schemeClr val="accent6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= 1.96 x (8/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</m:rad>
                  </m:oMath>
                </a14:m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 = </a:t>
                </a:r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2.24 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(Note: ME became larger now)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3. Construct the confidence interval: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50 – 2.24 &lt; </a:t>
                </a:r>
                <a:r>
                  <a:rPr lang="el-GR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μ</a:t>
                </a: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&lt; 50 + 2.24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=&gt; 47.76 g &lt; </a:t>
                </a:r>
                <a:r>
                  <a:rPr lang="el-GR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μ</a:t>
                </a: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&lt; 52.24 g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Interpretation: “We are 95% confident that the true mean weight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the packaged product lies between </a:t>
                </a:r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47.76g</a:t>
                </a: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</a:t>
                </a:r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52.24g</a:t>
                </a: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.”</a:t>
                </a:r>
                <a:b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endParaRPr lang="en-US" sz="18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n = 100, the CI was [</a:t>
                </a:r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48.43, 51.57</a:t>
                </a: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]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n = 49,   the CI was [</a:t>
                </a:r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47.76</a:t>
                </a: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</a:t>
                </a:r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52.24</a:t>
                </a: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]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Conclusion: As the sample size decreases, the interval becomes wider, so the estimate is less precise.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DE1D28-5E44-6011-F4BC-E24CC6076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27" y="769683"/>
                <a:ext cx="10688497" cy="5954835"/>
              </a:xfrm>
              <a:prstGeom prst="rect">
                <a:avLst/>
              </a:prstGeom>
              <a:blipFill>
                <a:blip r:embed="rId5"/>
                <a:stretch>
                  <a:fillRect l="-513" t="-512" r="-342" b="-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785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220FC-EDC1-F1C1-118E-0D0E83D9A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2757EEC-C566-5F54-6902-9CCA20E2A3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016" y="874647"/>
                <a:ext cx="10689336" cy="598335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Problem: Let’s redo previous problem but smaller sample size n = 25</a:t>
                </a:r>
              </a:p>
              <a:p>
                <a:pPr marL="0" indent="0">
                  <a:buNone/>
                </a:pPr>
                <a:r>
                  <a:rPr lang="en-US" sz="1800" dirty="0"/>
                  <a:t>A factory wants to find average weight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800" dirty="0"/>
                  <a:t> of a packaged product. You take a random sample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dirty="0"/>
                  <a:t> 25 packages and find the </a:t>
                </a:r>
                <a:r>
                  <a:rPr lang="en-US" sz="1800" b="1" dirty="0"/>
                  <a:t>sample mean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 sz="1800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800" dirty="0"/>
                  <a:t> grams. The </a:t>
                </a:r>
                <a:r>
                  <a:rPr lang="en-US" sz="18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sample</a:t>
                </a:r>
                <a:r>
                  <a:rPr lang="en-US" sz="1800" dirty="0"/>
                  <a:t> standard deviation was calculated to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1800" dirty="0"/>
                  <a:t> grams. </a:t>
                </a:r>
              </a:p>
              <a:p>
                <a:pPr marL="0" indent="0">
                  <a:buNone/>
                </a:pPr>
                <a:r>
                  <a:rPr lang="en-US" sz="1800" dirty="0"/>
                  <a:t>Find a </a:t>
                </a:r>
                <a:r>
                  <a:rPr lang="en-US" sz="1800" b="1" dirty="0"/>
                  <a:t>95% confidence interval</a:t>
                </a:r>
                <a:r>
                  <a:rPr lang="en-US" sz="1800" dirty="0"/>
                  <a:t> for the true mean weight.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Ans: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Given: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lim>
                        <m:r>
                          <a:rPr lang="ar-AE" sz="1800">
                            <a:latin typeface="Cambria Math" panose="02040503050406030204" pitchFamily="18" charset="0"/>
                          </a:rPr>
                          <m:t>ˉ</m:t>
                        </m:r>
                      </m:lim>
                    </m:limUpp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1800" dirty="0"/>
                  <a:t> 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1800" dirty="0"/>
                  <a:t> g, Confidence level = 95%</a:t>
                </a:r>
              </a:p>
              <a:p>
                <a:pPr marL="342900" indent="-342900">
                  <a:buAutoNum type="arabicPeriod"/>
                </a:pPr>
                <a:r>
                  <a:rPr lang="en-US" sz="1800" dirty="0"/>
                  <a:t>Since we know sample. std dev.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, we use t-distribution. Here </a:t>
                </a:r>
                <a:r>
                  <a:rPr lang="en-US" sz="1800" dirty="0" err="1"/>
                  <a:t>d.f.</a:t>
                </a:r>
                <a:r>
                  <a:rPr lang="en-US" sz="1800" dirty="0"/>
                  <a:t> is 25-1=24.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Using t-table, we find critical t- value for 95%: </a:t>
                </a:r>
                <a14:m>
                  <m:oMath xmlns:m="http://schemas.openxmlformats.org/officeDocument/2006/math">
                    <m:r>
                      <a:rPr lang="en-US" sz="1800" b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800"/>
                      <m:t>2.064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2. Compute the margin of error (ME):  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sz="1800" dirty="0"/>
                  <a:t>  = 2.064 x (8/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lang="en-US" sz="1800" dirty="0"/>
                  <a:t>) = 3.3024</a:t>
                </a:r>
                <a:r>
                  <a:rPr lang="en-US" sz="18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(Note: ME became larger now)</a:t>
                </a:r>
              </a:p>
              <a:p>
                <a:pPr marL="0" indent="0">
                  <a:buNone/>
                </a:pPr>
                <a:r>
                  <a:rPr lang="en-US" sz="1800" dirty="0"/>
                  <a:t>3. Construct the confidence interval:</a:t>
                </a:r>
              </a:p>
              <a:p>
                <a:pPr marL="0" indent="0">
                  <a:buNone/>
                </a:pPr>
                <a:r>
                  <a:rPr lang="en-US" sz="1800" dirty="0"/>
                  <a:t>    50 – 3.30 &lt; </a:t>
                </a:r>
                <a:r>
                  <a:rPr lang="el-GR" sz="1800" dirty="0"/>
                  <a:t>μ</a:t>
                </a:r>
                <a:r>
                  <a:rPr lang="en-US" sz="1800" dirty="0"/>
                  <a:t> &lt; 50 + 3.30</a:t>
                </a:r>
              </a:p>
              <a:p>
                <a:pPr marL="0" indent="0">
                  <a:buNone/>
                </a:pPr>
                <a:r>
                  <a:rPr lang="en-US" sz="1800" dirty="0"/>
                  <a:t> =&gt; 46.70 g &lt; </a:t>
                </a:r>
                <a:r>
                  <a:rPr lang="el-GR" sz="1800" dirty="0"/>
                  <a:t>μ</a:t>
                </a:r>
                <a:r>
                  <a:rPr lang="en-US" sz="1800" dirty="0"/>
                  <a:t> &lt; 53.30 g</a:t>
                </a:r>
              </a:p>
              <a:p>
                <a:pPr marL="0" indent="0">
                  <a:buNone/>
                </a:pPr>
                <a:r>
                  <a:rPr lang="en-US" sz="1800" dirty="0"/>
                  <a:t>Interpretation: “We are 95% confident that the true mean weight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800" dirty="0"/>
                  <a:t> of the packaged product lies between </a:t>
                </a:r>
                <a:r>
                  <a:rPr lang="en-US" sz="1800" b="1" dirty="0"/>
                  <a:t>46.70g</a:t>
                </a:r>
                <a:r>
                  <a:rPr lang="en-US" sz="1800" dirty="0"/>
                  <a:t> and </a:t>
                </a:r>
                <a:r>
                  <a:rPr lang="en-US" sz="1800" b="1" dirty="0"/>
                  <a:t>53.30g</a:t>
                </a:r>
                <a:r>
                  <a:rPr lang="en-US" sz="1800" dirty="0"/>
                  <a:t>.”</a:t>
                </a:r>
                <a:br>
                  <a:rPr lang="en-US" sz="1800" dirty="0"/>
                </a:br>
                <a:endParaRPr lang="en-US" sz="1800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2757EEC-C566-5F54-6902-9CCA20E2A3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016" y="874647"/>
                <a:ext cx="10689336" cy="5983353"/>
              </a:xfrm>
              <a:blipFill>
                <a:blip r:embed="rId3"/>
                <a:stretch>
                  <a:fillRect l="-456" t="-916" r="-285" b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8FEA277-D95E-36DA-FE8A-2D983CB59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604139"/>
          </a:xfrm>
        </p:spPr>
        <p:txBody>
          <a:bodyPr>
            <a:normAutofit/>
          </a:bodyPr>
          <a:lstStyle/>
          <a:p>
            <a:r>
              <a:rPr lang="en-US" sz="3600" b="1" dirty="0"/>
              <a:t>Confidence Interval: Application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C3AE96-B72B-DF8A-9450-377ECC6F2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997289"/>
            <a:ext cx="4008120" cy="21173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1ECF12-D1D7-AB71-DB7D-83E0F8225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144" y="255117"/>
            <a:ext cx="3794372" cy="50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57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E8EE8-E34A-9248-7F3B-E0A175753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23AA1-466E-83DC-5CB0-126AEB2B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Confidence Interval: Why Do We Need CI?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DD139F-6ECD-7860-95B1-B584EF82FE93}"/>
              </a:ext>
            </a:extLst>
          </p:cNvPr>
          <p:cNvSpPr txBox="1"/>
          <p:nvPr/>
        </p:nvSpPr>
        <p:spPr>
          <a:xfrm>
            <a:off x="274320" y="933117"/>
            <a:ext cx="11658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Point estimates alone are incomplete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sample mean (e.g., 3.5 hours) doesn’t tell us how accurate it 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 gives a range that quantifies the uncertainty.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Accounts for sampling variability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sample gives a slightly different result.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 shows how much variation to expect.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Helps in decision-making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If a new medicine’s 95% CI for improvement = [1.2, 2.8], and it doesn’t include 0, we can infer the drug likely has a real effect.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Interpretable in real-world terms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Easier to explain uncertainty than p-values.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BD0E3A-7B39-DBE9-F406-82D20BE1D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69" y="799455"/>
            <a:ext cx="3618515" cy="51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445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922</TotalTime>
  <Words>1488</Words>
  <Application>Microsoft Office PowerPoint</Application>
  <PresentationFormat>Widescreen</PresentationFormat>
  <Paragraphs>171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Confidence Interval</vt:lpstr>
      <vt:lpstr>Confidence Interval: Definition</vt:lpstr>
      <vt:lpstr>Confidence Interval: Interpretation</vt:lpstr>
      <vt:lpstr>Confidence Interval: Formula for z-distribution</vt:lpstr>
      <vt:lpstr>Confidence Interval: Formula For t-distribution</vt:lpstr>
      <vt:lpstr>Confidence Interval: When to Use the z or t Distribution</vt:lpstr>
      <vt:lpstr>Confidence Interval: Steps</vt:lpstr>
      <vt:lpstr>Confidence Interval</vt:lpstr>
      <vt:lpstr>Confidence Interval: Application</vt:lpstr>
      <vt:lpstr>Confidence Interval: Application</vt:lpstr>
      <vt:lpstr>Confidence Interval: Application</vt:lpstr>
      <vt:lpstr>Confidence Interval: Why Do We Need CI?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122</cp:revision>
  <dcterms:created xsi:type="dcterms:W3CDTF">2025-09-22T02:44:38Z</dcterms:created>
  <dcterms:modified xsi:type="dcterms:W3CDTF">2025-10-23T06:46:29Z</dcterms:modified>
</cp:coreProperties>
</file>