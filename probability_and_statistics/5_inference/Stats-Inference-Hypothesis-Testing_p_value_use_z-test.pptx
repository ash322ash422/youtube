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96" r:id="rId3"/>
    <p:sldId id="277" r:id="rId4"/>
    <p:sldId id="294" r:id="rId5"/>
    <p:sldId id="295" r:id="rId6"/>
    <p:sldId id="285" r:id="rId7"/>
    <p:sldId id="281" r:id="rId8"/>
    <p:sldId id="286" r:id="rId9"/>
    <p:sldId id="283" r:id="rId10"/>
    <p:sldId id="288" r:id="rId11"/>
    <p:sldId id="279" r:id="rId12"/>
    <p:sldId id="287" r:id="rId13"/>
    <p:sldId id="284" r:id="rId14"/>
    <p:sldId id="291" r:id="rId15"/>
    <p:sldId id="289" r:id="rId16"/>
    <p:sldId id="290" r:id="rId17"/>
    <p:sldId id="258" r:id="rId18"/>
    <p:sldId id="293"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4T09:45:01.510"/>
    </inkml:context>
    <inkml:brush xml:id="br0">
      <inkml:brushProperty name="width" value="0.2" units="cm"/>
      <inkml:brushProperty name="height" value="0.2" units="cm"/>
    </inkml:brush>
  </inkml:definitions>
  <inkml:trace contextRef="#ctx0" brushRef="#br0">1 1 24575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4T09:45:01.510"/>
    </inkml:context>
    <inkml:brush xml:id="br0">
      <inkml:brushProperty name="width" value="0.2" units="cm"/>
      <inkml:brushProperty name="height" value="0.2" units="cm"/>
    </inkml:brush>
  </inkml:definitions>
  <inkml:trace contextRef="#ctx0" brushRef="#br0">1 1 24575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0D7C8F-2B23-4650-AB9D-CA67F6AED26B}" type="datetimeFigureOut">
              <a:rPr lang="en-US" smtClean="0"/>
              <a:t>10/25/2025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50FE7-A5D7-4B19-A799-7E498FAF4E0D}" type="slidenum">
              <a:rPr lang="en-US" smtClean="0"/>
              <a:t>‹#›</a:t>
            </a:fld>
            <a:endParaRPr lang="en-US"/>
          </a:p>
        </p:txBody>
      </p:sp>
    </p:spTree>
    <p:extLst>
      <p:ext uri="{BB962C8B-B14F-4D97-AF65-F5344CB8AC3E}">
        <p14:creationId xmlns:p14="http://schemas.microsoft.com/office/powerpoint/2010/main" val="215042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94009-9514-F820-0CC0-350901715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4EE31-E0FC-D5D8-5ACF-FED80AECB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6F75B-D035-ED4D-79B4-FC83F0CC08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351F3E-F065-6249-8E42-19893F7B0438}"/>
              </a:ext>
            </a:extLst>
          </p:cNvPr>
          <p:cNvSpPr>
            <a:spLocks noGrp="1"/>
          </p:cNvSpPr>
          <p:nvPr>
            <p:ph type="sldNum" sz="quarter" idx="5"/>
          </p:nvPr>
        </p:nvSpPr>
        <p:spPr/>
        <p:txBody>
          <a:bodyPr/>
          <a:lstStyle/>
          <a:p>
            <a:fld id="{4D750FE7-A5D7-4B19-A799-7E498FAF4E0D}" type="slidenum">
              <a:rPr lang="en-US" smtClean="0"/>
              <a:t>2</a:t>
            </a:fld>
            <a:endParaRPr lang="en-US"/>
          </a:p>
        </p:txBody>
      </p:sp>
    </p:spTree>
    <p:extLst>
      <p:ext uri="{BB962C8B-B14F-4D97-AF65-F5344CB8AC3E}">
        <p14:creationId xmlns:p14="http://schemas.microsoft.com/office/powerpoint/2010/main" val="918280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750FE7-A5D7-4B19-A799-7E498FAF4E0D}" type="slidenum">
              <a:rPr lang="en-US" smtClean="0"/>
              <a:t>11</a:t>
            </a:fld>
            <a:endParaRPr lang="en-US"/>
          </a:p>
        </p:txBody>
      </p:sp>
    </p:spTree>
    <p:extLst>
      <p:ext uri="{BB962C8B-B14F-4D97-AF65-F5344CB8AC3E}">
        <p14:creationId xmlns:p14="http://schemas.microsoft.com/office/powerpoint/2010/main" val="2041292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F67F-1D5C-7476-BD8A-26307D605C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B7C689-61B0-3A19-3367-9BEDE51CE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8C50CD-4E69-1523-09D6-884BAE749AF2}"/>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5" name="Footer Placeholder 4">
            <a:extLst>
              <a:ext uri="{FF2B5EF4-FFF2-40B4-BE49-F238E27FC236}">
                <a16:creationId xmlns:a16="http://schemas.microsoft.com/office/drawing/2014/main" id="{B738EBD9-9440-7396-4663-7E92CE0F11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4B5D7-F5AE-D36D-ECF3-11736067EC4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23290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E532-F19A-773A-CBFB-0DE5AF221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D4BF23-7BC6-09B5-CF4F-DEDDF50AA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194952-F9AE-2CAE-84D5-88373363491A}"/>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5" name="Footer Placeholder 4">
            <a:extLst>
              <a:ext uri="{FF2B5EF4-FFF2-40B4-BE49-F238E27FC236}">
                <a16:creationId xmlns:a16="http://schemas.microsoft.com/office/drawing/2014/main" id="{53CDCCF9-94B9-B34C-5A74-0967536201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209E4-F3DB-7B62-A6AC-9B90F4F1EB9A}"/>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86953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D9468-B60C-B51F-7A41-9988CBBE6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33192A-B6E0-EC97-7125-90D9EA182F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2879C1-1743-62FA-DC8E-7E4CAF6F8629}"/>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5" name="Footer Placeholder 4">
            <a:extLst>
              <a:ext uri="{FF2B5EF4-FFF2-40B4-BE49-F238E27FC236}">
                <a16:creationId xmlns:a16="http://schemas.microsoft.com/office/drawing/2014/main" id="{157694BF-5633-53FC-4085-F153EA146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60F3F-094F-B5DE-7C7C-A00CE83A1FF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6403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CDA5-58EB-1B9A-A8B8-3FF2E6AA85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70CE15-2D33-A64A-0A8F-E8CF81EC3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473915-8F48-32FC-5F78-7037074D2F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607D1A-0B01-A361-C030-7C2B1B147992}"/>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6" name="Footer Placeholder 5">
            <a:extLst>
              <a:ext uri="{FF2B5EF4-FFF2-40B4-BE49-F238E27FC236}">
                <a16:creationId xmlns:a16="http://schemas.microsoft.com/office/drawing/2014/main" id="{12F0AA1B-9DED-4CAF-DE22-272C37698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19FFA-4CFA-BF3F-F2B5-BFE7EF2637D6}"/>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703235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CE92-15EC-6819-BE41-D963092F2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6FB93B-2D39-FA01-B804-DE992FA814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AC486-1EED-5E82-A1DE-F0DF6A7EF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B524F7-DEC5-569D-BB91-6B9BBADB3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9758E-D499-9CE1-AF73-24A07B6CCE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D71F-B246-E177-6224-059E62168B1B}"/>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8" name="Footer Placeholder 7">
            <a:extLst>
              <a:ext uri="{FF2B5EF4-FFF2-40B4-BE49-F238E27FC236}">
                <a16:creationId xmlns:a16="http://schemas.microsoft.com/office/drawing/2014/main" id="{9BF5002A-0913-9235-103B-1FAA8D6F09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378E9F-BD6B-22C5-7E39-FC6C8E3D3CA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425007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9D6A-6484-C375-A3DF-9449C869F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8B97F0-A833-F569-C8CC-C00C67C382FD}"/>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4" name="Footer Placeholder 3">
            <a:extLst>
              <a:ext uri="{FF2B5EF4-FFF2-40B4-BE49-F238E27FC236}">
                <a16:creationId xmlns:a16="http://schemas.microsoft.com/office/drawing/2014/main" id="{5AEDFA7A-97C4-E804-BEEF-F52BB376A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F1205-DBA9-BBC5-97D0-CA9414D2498D}"/>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721462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1A8E2-F090-64C1-4EE9-227344BC0170}"/>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3" name="Footer Placeholder 2">
            <a:extLst>
              <a:ext uri="{FF2B5EF4-FFF2-40B4-BE49-F238E27FC236}">
                <a16:creationId xmlns:a16="http://schemas.microsoft.com/office/drawing/2014/main" id="{667BAC7E-4E73-8D16-8A64-AB1BD83F39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72077-716A-B5CD-D556-B588416E08D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904848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CE8D-361A-1BD9-7BA4-D74AD0BB0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BEBA0-8244-B1E9-4C6F-973F31298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95D24C-FD68-C0C2-387C-CF9C30F46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B084A-8C77-9A97-BF65-EFA2E3BE2C26}"/>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6" name="Footer Placeholder 5">
            <a:extLst>
              <a:ext uri="{FF2B5EF4-FFF2-40B4-BE49-F238E27FC236}">
                <a16:creationId xmlns:a16="http://schemas.microsoft.com/office/drawing/2014/main" id="{CDEFD712-1436-EB7C-31EA-BBDAC47EF2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3C43E-F7AD-681D-A280-AE360EF3BA1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933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553F-DC08-495D-1703-C778F602F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B70C74-6D68-5AB9-FE4D-85C3ABA9B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E5577E-7A0A-4F1C-4E81-90993B406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06E3A6-7152-01BF-5156-6BEB6F9BEB57}"/>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6" name="Footer Placeholder 5">
            <a:extLst>
              <a:ext uri="{FF2B5EF4-FFF2-40B4-BE49-F238E27FC236}">
                <a16:creationId xmlns:a16="http://schemas.microsoft.com/office/drawing/2014/main" id="{DEB4F86E-479A-F26D-96A7-3522F2EB95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0F8B0A-8E3E-4AEC-77C5-D9A1EEC36015}"/>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64126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B4064-E7A3-963C-D9E5-8063F15859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469923-911C-63ED-164B-76AA526B1E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FADC7-8EFC-04F1-CAED-16040B302A80}"/>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5" name="Footer Placeholder 4">
            <a:extLst>
              <a:ext uri="{FF2B5EF4-FFF2-40B4-BE49-F238E27FC236}">
                <a16:creationId xmlns:a16="http://schemas.microsoft.com/office/drawing/2014/main" id="{6C7DE1CC-F1E3-3A85-0BEB-412DC406C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124F7-C2DD-3857-83A3-767DF74A0D4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92154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21427F-325C-8204-4692-5B4623A8C7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7B572-5F7E-5EC4-23B0-05342387E9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A0179-0B36-0C0D-597B-19961344B6C9}"/>
              </a:ext>
            </a:extLst>
          </p:cNvPr>
          <p:cNvSpPr>
            <a:spLocks noGrp="1"/>
          </p:cNvSpPr>
          <p:nvPr>
            <p:ph type="dt" sz="half" idx="10"/>
          </p:nvPr>
        </p:nvSpPr>
        <p:spPr/>
        <p:txBody>
          <a:bodyPr/>
          <a:lstStyle/>
          <a:p>
            <a:fld id="{8F838A22-B5A6-47DA-94CD-144E2EE07EA6}" type="datetimeFigureOut">
              <a:rPr lang="en-US" smtClean="0"/>
              <a:t>10/25/2025</a:t>
            </a:fld>
            <a:endParaRPr lang="en-US"/>
          </a:p>
        </p:txBody>
      </p:sp>
      <p:sp>
        <p:nvSpPr>
          <p:cNvPr id="5" name="Footer Placeholder 4">
            <a:extLst>
              <a:ext uri="{FF2B5EF4-FFF2-40B4-BE49-F238E27FC236}">
                <a16:creationId xmlns:a16="http://schemas.microsoft.com/office/drawing/2014/main" id="{665ACB70-1761-D532-BD8C-2F5ED236C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E00F1-7DDD-AFDD-7DB5-B3E69D03FBEE}"/>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223644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CF40A1-979F-3B97-144C-8EE04F82F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03D10-6468-9059-560D-1CF0382BD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8E186-E56C-0599-D2F5-2ED55E2A6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38A22-B5A6-47DA-94CD-144E2EE07EA6}" type="datetimeFigureOut">
              <a:rPr lang="en-US" smtClean="0"/>
              <a:t>10/25/2025</a:t>
            </a:fld>
            <a:endParaRPr lang="en-US"/>
          </a:p>
        </p:txBody>
      </p:sp>
      <p:sp>
        <p:nvSpPr>
          <p:cNvPr id="5" name="Footer Placeholder 4">
            <a:extLst>
              <a:ext uri="{FF2B5EF4-FFF2-40B4-BE49-F238E27FC236}">
                <a16:creationId xmlns:a16="http://schemas.microsoft.com/office/drawing/2014/main" id="{0622413A-2D3C-5EAC-9AB6-25DBEE4B88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F3B056-E6D5-7138-A52C-4AAADDC5A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15FB28-37FD-485D-93D5-F5A544FDC930}" type="slidenum">
              <a:rPr lang="en-US" smtClean="0"/>
              <a:t>‹#›</a:t>
            </a:fld>
            <a:endParaRPr lang="en-US"/>
          </a:p>
        </p:txBody>
      </p:sp>
    </p:spTree>
    <p:extLst>
      <p:ext uri="{BB962C8B-B14F-4D97-AF65-F5344CB8AC3E}">
        <p14:creationId xmlns:p14="http://schemas.microsoft.com/office/powerpoint/2010/main" val="257318792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17.png"/><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A81301B-33CC-1F59-813F-5AEF92DA1C2C}"/>
              </a:ext>
            </a:extLst>
          </p:cNvPr>
          <p:cNvSpPr>
            <a:spLocks noGrp="1"/>
          </p:cNvSpPr>
          <p:nvPr>
            <p:ph type="ctrTitle"/>
          </p:nvPr>
        </p:nvSpPr>
        <p:spPr>
          <a:xfrm>
            <a:off x="1524000" y="1122363"/>
            <a:ext cx="9144000" cy="2387600"/>
          </a:xfrm>
        </p:spPr>
        <p:txBody>
          <a:bodyPr>
            <a:normAutofit fontScale="90000"/>
          </a:bodyPr>
          <a:lstStyle/>
          <a:p>
            <a:r>
              <a:rPr lang="en-US" dirty="0">
                <a:solidFill>
                  <a:schemeClr val="accent6">
                    <a:lumMod val="20000"/>
                    <a:lumOff val="80000"/>
                  </a:schemeClr>
                </a:solidFill>
              </a:rPr>
              <a:t>Hypothesis Testing</a:t>
            </a:r>
            <a:br>
              <a:rPr lang="en-US" dirty="0">
                <a:solidFill>
                  <a:schemeClr val="accent6">
                    <a:lumMod val="20000"/>
                    <a:lumOff val="80000"/>
                  </a:schemeClr>
                </a:solidFill>
              </a:rPr>
            </a:br>
            <a:r>
              <a:rPr lang="en-US" dirty="0">
                <a:solidFill>
                  <a:schemeClr val="accent6">
                    <a:lumMod val="20000"/>
                    <a:lumOff val="80000"/>
                  </a:schemeClr>
                </a:solidFill>
              </a:rPr>
              <a:t>(</a:t>
            </a:r>
            <a:r>
              <a:rPr lang="el-GR" dirty="0">
                <a:solidFill>
                  <a:schemeClr val="accent6">
                    <a:lumMod val="20000"/>
                    <a:lumOff val="80000"/>
                  </a:schemeClr>
                </a:solidFill>
              </a:rPr>
              <a:t>σ</a:t>
            </a:r>
            <a:r>
              <a:rPr lang="en-US" dirty="0">
                <a:solidFill>
                  <a:schemeClr val="accent6">
                    <a:lumMod val="20000"/>
                    <a:lumOff val="80000"/>
                  </a:schemeClr>
                </a:solidFill>
              </a:rPr>
              <a:t> is known)</a:t>
            </a:r>
            <a:br>
              <a:rPr lang="en-US" dirty="0">
                <a:solidFill>
                  <a:schemeClr val="accent6">
                    <a:lumMod val="20000"/>
                    <a:lumOff val="80000"/>
                  </a:schemeClr>
                </a:solidFill>
              </a:rPr>
            </a:br>
            <a:r>
              <a:rPr lang="en-US" dirty="0">
                <a:solidFill>
                  <a:schemeClr val="accent6">
                    <a:lumMod val="20000"/>
                    <a:lumOff val="80000"/>
                  </a:schemeClr>
                </a:solidFill>
              </a:rPr>
              <a:t>p-value</a:t>
            </a:r>
          </a:p>
        </p:txBody>
      </p:sp>
    </p:spTree>
    <p:extLst>
      <p:ext uri="{BB962C8B-B14F-4D97-AF65-F5344CB8AC3E}">
        <p14:creationId xmlns:p14="http://schemas.microsoft.com/office/powerpoint/2010/main" val="2020006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5DD22-44D7-0967-1862-BF90DD1D16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FF0EFF-C667-11B4-A102-8512784EF2D4}"/>
              </a:ext>
            </a:extLst>
          </p:cNvPr>
          <p:cNvSpPr txBox="1"/>
          <p:nvPr/>
        </p:nvSpPr>
        <p:spPr>
          <a:xfrm>
            <a:off x="274320" y="917508"/>
            <a:ext cx="11786616" cy="3785652"/>
          </a:xfrm>
          <a:prstGeom prst="rect">
            <a:avLst/>
          </a:prstGeom>
          <a:noFill/>
        </p:spPr>
        <p:txBody>
          <a:bodyPr wrap="square">
            <a:spAutoFit/>
          </a:bodyPr>
          <a:lstStyle/>
          <a:p>
            <a:pPr>
              <a:buNone/>
            </a:pPr>
            <a:r>
              <a:rPr lang="en-US" sz="2000" b="1" dirty="0">
                <a:solidFill>
                  <a:schemeClr val="accent6">
                    <a:lumMod val="40000"/>
                    <a:lumOff val="60000"/>
                  </a:schemeClr>
                </a:solidFill>
              </a:rPr>
              <a:t>Problem</a:t>
            </a:r>
            <a:r>
              <a:rPr lang="en-US" sz="2000" dirty="0">
                <a:solidFill>
                  <a:schemeClr val="accent6">
                    <a:lumMod val="40000"/>
                    <a:lumOff val="60000"/>
                  </a:schemeClr>
                </a:solidFill>
              </a:rPr>
              <a:t>:  A medical researcher wants to find out whether a new medication will have any </a:t>
            </a:r>
            <a:r>
              <a:rPr lang="en-US" sz="2000" b="1" dirty="0">
                <a:solidFill>
                  <a:schemeClr val="accent6">
                    <a:lumMod val="40000"/>
                    <a:lumOff val="60000"/>
                  </a:schemeClr>
                </a:solidFill>
              </a:rPr>
              <a:t>undesirable side effects</a:t>
            </a:r>
            <a:r>
              <a:rPr lang="en-US" sz="2000" dirty="0">
                <a:solidFill>
                  <a:schemeClr val="accent6">
                    <a:lumMod val="40000"/>
                    <a:lumOff val="60000"/>
                  </a:schemeClr>
                </a:solidFill>
              </a:rPr>
              <a:t> on patients’ pulse rates. The researcher is concerned with whether the pulse rate </a:t>
            </a:r>
            <a:r>
              <a:rPr lang="en-US" sz="2000" b="1" dirty="0">
                <a:solidFill>
                  <a:schemeClr val="accent6">
                    <a:lumMod val="40000"/>
                    <a:lumOff val="60000"/>
                  </a:schemeClr>
                </a:solidFill>
              </a:rPr>
              <a:t>increases, decreases, or stays the same</a:t>
            </a:r>
            <a:r>
              <a:rPr lang="en-US" sz="2000" dirty="0">
                <a:solidFill>
                  <a:schemeClr val="accent6">
                    <a:lumMod val="40000"/>
                    <a:lumOff val="60000"/>
                  </a:schemeClr>
                </a:solidFill>
              </a:rPr>
              <a:t> after taking the medication.</a:t>
            </a:r>
          </a:p>
          <a:p>
            <a:pPr>
              <a:buNone/>
            </a:pPr>
            <a:endParaRPr lang="en-US" sz="2000" dirty="0">
              <a:solidFill>
                <a:schemeClr val="accent6">
                  <a:lumMod val="40000"/>
                  <a:lumOff val="60000"/>
                </a:schemeClr>
              </a:solidFill>
            </a:endParaRPr>
          </a:p>
          <a:p>
            <a:r>
              <a:rPr lang="en-US" sz="2000" dirty="0">
                <a:solidFill>
                  <a:schemeClr val="accent6">
                    <a:lumMod val="40000"/>
                    <a:lumOff val="60000"/>
                  </a:schemeClr>
                </a:solidFill>
              </a:rPr>
              <a:t>The researcher knows that the </a:t>
            </a:r>
          </a:p>
          <a:p>
            <a:pPr marL="342900" indent="-342900">
              <a:buFont typeface="Arial" panose="020B0604020202020204" pitchFamily="34" charset="0"/>
              <a:buChar char="•"/>
            </a:pPr>
            <a:r>
              <a:rPr lang="en-US" sz="2000" b="1" dirty="0">
                <a:solidFill>
                  <a:schemeClr val="accent6">
                    <a:lumMod val="40000"/>
                    <a:lumOff val="60000"/>
                  </a:schemeClr>
                </a:solidFill>
              </a:rPr>
              <a:t>mean pulse rate </a:t>
            </a:r>
            <a:r>
              <a:rPr lang="el-GR" sz="2000" b="1" dirty="0">
                <a:solidFill>
                  <a:schemeClr val="accent6">
                    <a:lumMod val="40000"/>
                    <a:lumOff val="60000"/>
                  </a:schemeClr>
                </a:solidFill>
              </a:rPr>
              <a:t>μ</a:t>
            </a:r>
            <a:r>
              <a:rPr lang="en-US" sz="2000" dirty="0">
                <a:solidFill>
                  <a:schemeClr val="accent6">
                    <a:lumMod val="40000"/>
                    <a:lumOff val="60000"/>
                  </a:schemeClr>
                </a:solidFill>
              </a:rPr>
              <a:t> for the population under study is </a:t>
            </a:r>
            <a:r>
              <a:rPr lang="en-US" sz="2000" b="1" dirty="0">
                <a:solidFill>
                  <a:schemeClr val="accent6">
                    <a:lumMod val="40000"/>
                    <a:lumOff val="60000"/>
                  </a:schemeClr>
                </a:solidFill>
              </a:rPr>
              <a:t>82 beats per minute (bpm)</a:t>
            </a:r>
            <a:r>
              <a:rPr lang="en-US" sz="2000" dirty="0">
                <a:solidFill>
                  <a:schemeClr val="accent6">
                    <a:lumMod val="40000"/>
                    <a:lumOff val="60000"/>
                  </a:schemeClr>
                </a:solidFill>
              </a:rPr>
              <a:t>,  and</a:t>
            </a:r>
          </a:p>
          <a:p>
            <a:pPr marL="342900" indent="-342900">
              <a:buFont typeface="Arial" panose="020B0604020202020204" pitchFamily="34" charset="0"/>
              <a:buChar char="•"/>
            </a:pPr>
            <a:r>
              <a:rPr lang="en-US" sz="2000" b="1" dirty="0">
                <a:solidFill>
                  <a:schemeClr val="accent6">
                    <a:lumMod val="40000"/>
                    <a:lumOff val="60000"/>
                  </a:schemeClr>
                </a:solidFill>
              </a:rPr>
              <a:t>population standard deviation</a:t>
            </a:r>
            <a:r>
              <a:rPr lang="en-US" sz="2000" dirty="0">
                <a:solidFill>
                  <a:schemeClr val="accent6">
                    <a:lumMod val="40000"/>
                    <a:lumOff val="60000"/>
                  </a:schemeClr>
                </a:solidFill>
              </a:rPr>
              <a:t> </a:t>
            </a:r>
            <a:r>
              <a:rPr lang="el-GR" sz="2000" b="1" dirty="0">
                <a:solidFill>
                  <a:schemeClr val="accent6">
                    <a:lumMod val="40000"/>
                    <a:lumOff val="60000"/>
                  </a:schemeClr>
                </a:solidFill>
              </a:rPr>
              <a:t>σ</a:t>
            </a:r>
            <a:r>
              <a:rPr lang="en-US" sz="2000" b="1" dirty="0">
                <a:solidFill>
                  <a:schemeClr val="accent6">
                    <a:lumMod val="40000"/>
                    <a:lumOff val="60000"/>
                  </a:schemeClr>
                </a:solidFill>
              </a:rPr>
              <a:t> </a:t>
            </a:r>
            <a:r>
              <a:rPr lang="en-US" sz="2000" dirty="0">
                <a:solidFill>
                  <a:schemeClr val="accent6">
                    <a:lumMod val="40000"/>
                    <a:lumOff val="60000"/>
                  </a:schemeClr>
                </a:solidFill>
              </a:rPr>
              <a:t>is </a:t>
            </a:r>
            <a:r>
              <a:rPr lang="en-US" sz="2000" b="1" dirty="0">
                <a:solidFill>
                  <a:schemeClr val="accent6">
                    <a:lumMod val="40000"/>
                    <a:lumOff val="60000"/>
                  </a:schemeClr>
                </a:solidFill>
              </a:rPr>
              <a:t>5 bpm</a:t>
            </a:r>
            <a:r>
              <a:rPr lang="en-US" sz="2000" dirty="0">
                <a:solidFill>
                  <a:schemeClr val="accent6">
                    <a:lumMod val="40000"/>
                    <a:lumOff val="60000"/>
                  </a:schemeClr>
                </a:solidFill>
              </a:rPr>
              <a:t>.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The researcher selects a </a:t>
            </a:r>
            <a:r>
              <a:rPr lang="en-US" sz="2000" b="1" dirty="0">
                <a:solidFill>
                  <a:schemeClr val="accent6">
                    <a:lumMod val="40000"/>
                    <a:lumOff val="60000"/>
                  </a:schemeClr>
                </a:solidFill>
              </a:rPr>
              <a:t>random sample of 60 patients</a:t>
            </a:r>
            <a:r>
              <a:rPr lang="en-US" sz="2000" dirty="0">
                <a:solidFill>
                  <a:schemeClr val="accent6">
                    <a:lumMod val="40000"/>
                    <a:lumOff val="60000"/>
                  </a:schemeClr>
                </a:solidFill>
              </a:rPr>
              <a:t> who take the medication and finds that their </a:t>
            </a:r>
            <a:r>
              <a:rPr lang="en-US" sz="2000" b="1" dirty="0">
                <a:solidFill>
                  <a:schemeClr val="accent6">
                    <a:lumMod val="40000"/>
                    <a:lumOff val="60000"/>
                  </a:schemeClr>
                </a:solidFill>
              </a:rPr>
              <a:t>mean pulse rate</a:t>
            </a:r>
            <a:r>
              <a:rPr lang="en-US" sz="2000" dirty="0">
                <a:solidFill>
                  <a:schemeClr val="accent6">
                    <a:lumMod val="40000"/>
                    <a:lumOff val="60000"/>
                  </a:schemeClr>
                </a:solidFill>
              </a:rPr>
              <a:t> is </a:t>
            </a:r>
            <a:r>
              <a:rPr lang="en-US" sz="2000" b="1" dirty="0">
                <a:solidFill>
                  <a:schemeClr val="accent6">
                    <a:lumMod val="40000"/>
                    <a:lumOff val="60000"/>
                  </a:schemeClr>
                </a:solidFill>
              </a:rPr>
              <a:t>80.7 bpm</a:t>
            </a:r>
            <a:r>
              <a:rPr lang="en-US" sz="2000" dirty="0">
                <a:solidFill>
                  <a:schemeClr val="accent6">
                    <a:lumMod val="40000"/>
                    <a:lumOff val="60000"/>
                  </a:schemeClr>
                </a:solidFill>
              </a:rPr>
              <a:t>.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How would you test the claim that medication </a:t>
            </a:r>
            <a:r>
              <a:rPr lang="en-US" sz="2000" b="1" dirty="0">
                <a:solidFill>
                  <a:schemeClr val="accent6">
                    <a:lumMod val="40000"/>
                    <a:lumOff val="60000"/>
                  </a:schemeClr>
                </a:solidFill>
              </a:rPr>
              <a:t>does affect</a:t>
            </a:r>
            <a:r>
              <a:rPr lang="en-US" sz="2000" dirty="0">
                <a:solidFill>
                  <a:schemeClr val="accent6">
                    <a:lumMod val="40000"/>
                    <a:lumOff val="60000"/>
                  </a:schemeClr>
                </a:solidFill>
              </a:rPr>
              <a:t> the mean pulse rate, at significance level </a:t>
            </a:r>
            <a:r>
              <a:rPr lang="en-US" sz="2000" b="1" dirty="0">
                <a:solidFill>
                  <a:schemeClr val="accent6">
                    <a:lumMod val="40000"/>
                    <a:lumOff val="60000"/>
                  </a:schemeClr>
                </a:solidFill>
              </a:rPr>
              <a:t>α = 0.01 ?</a:t>
            </a:r>
            <a:endParaRPr lang="en-US" sz="2000" dirty="0">
              <a:solidFill>
                <a:schemeClr val="accent6">
                  <a:lumMod val="40000"/>
                  <a:lumOff val="60000"/>
                </a:schemeClr>
              </a:solidFill>
            </a:endParaRPr>
          </a:p>
        </p:txBody>
      </p:sp>
      <p:sp>
        <p:nvSpPr>
          <p:cNvPr id="4" name="Title 1">
            <a:extLst>
              <a:ext uri="{FF2B5EF4-FFF2-40B4-BE49-F238E27FC236}">
                <a16:creationId xmlns:a16="http://schemas.microsoft.com/office/drawing/2014/main" id="{35F31B4A-4C1A-044F-B79F-A8CF7D8F5E38}"/>
              </a:ext>
            </a:extLst>
          </p:cNvPr>
          <p:cNvSpPr>
            <a:spLocks noGrp="1"/>
          </p:cNvSpPr>
          <p:nvPr>
            <p:ph type="title"/>
          </p:nvPr>
        </p:nvSpPr>
        <p:spPr>
          <a:xfrm>
            <a:off x="2337816" y="246253"/>
            <a:ext cx="7190232" cy="457835"/>
          </a:xfrm>
        </p:spPr>
        <p:txBody>
          <a:bodyPr>
            <a:normAutofit fontScale="90000"/>
          </a:bodyPr>
          <a:lstStyle/>
          <a:p>
            <a:pPr algn="ctr"/>
            <a:r>
              <a:rPr lang="en-US" dirty="0">
                <a:solidFill>
                  <a:schemeClr val="accent6">
                    <a:lumMod val="40000"/>
                    <a:lumOff val="60000"/>
                  </a:schemeClr>
                </a:solidFill>
              </a:rPr>
              <a:t>P-value</a:t>
            </a:r>
          </a:p>
        </p:txBody>
      </p:sp>
    </p:spTree>
    <p:extLst>
      <p:ext uri="{BB962C8B-B14F-4D97-AF65-F5344CB8AC3E}">
        <p14:creationId xmlns:p14="http://schemas.microsoft.com/office/powerpoint/2010/main" val="691450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864FB-51A9-BA73-B76F-4E34EC155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28F0C-55E2-6073-ECA7-B4C40531DF58}"/>
              </a:ext>
            </a:extLst>
          </p:cNvPr>
          <p:cNvSpPr>
            <a:spLocks noGrp="1"/>
          </p:cNvSpPr>
          <p:nvPr>
            <p:ph type="title"/>
          </p:nvPr>
        </p:nvSpPr>
        <p:spPr>
          <a:xfrm>
            <a:off x="2337816" y="246253"/>
            <a:ext cx="7190232" cy="457835"/>
          </a:xfrm>
        </p:spPr>
        <p:txBody>
          <a:bodyPr>
            <a:normAutofit fontScale="90000"/>
          </a:bodyPr>
          <a:lstStyle/>
          <a:p>
            <a:pPr algn="ctr"/>
            <a:r>
              <a:rPr lang="en-US" dirty="0">
                <a:solidFill>
                  <a:schemeClr val="accent6">
                    <a:lumMod val="40000"/>
                    <a:lumOff val="60000"/>
                  </a:schemeClr>
                </a:solidFill>
              </a:rPr>
              <a:t>P-value</a:t>
            </a:r>
          </a:p>
        </p:txBody>
      </p:sp>
      <p:sp>
        <p:nvSpPr>
          <p:cNvPr id="3" name="TextBox 2">
            <a:extLst>
              <a:ext uri="{FF2B5EF4-FFF2-40B4-BE49-F238E27FC236}">
                <a16:creationId xmlns:a16="http://schemas.microsoft.com/office/drawing/2014/main" id="{3CA31949-9940-8592-99B5-A01F9309A3BF}"/>
              </a:ext>
            </a:extLst>
          </p:cNvPr>
          <p:cNvSpPr txBox="1"/>
          <p:nvPr/>
        </p:nvSpPr>
        <p:spPr>
          <a:xfrm>
            <a:off x="219456" y="844588"/>
            <a:ext cx="11804904" cy="3139321"/>
          </a:xfrm>
          <a:prstGeom prst="rect">
            <a:avLst/>
          </a:prstGeom>
          <a:noFill/>
        </p:spPr>
        <p:txBody>
          <a:bodyPr wrap="square">
            <a:spAutoFit/>
          </a:bodyPr>
          <a:lstStyle/>
          <a:p>
            <a:r>
              <a:rPr lang="en-US" dirty="0">
                <a:solidFill>
                  <a:schemeClr val="accent6">
                    <a:lumMod val="40000"/>
                    <a:lumOff val="60000"/>
                  </a:schemeClr>
                </a:solidFill>
              </a:rPr>
              <a:t>A </a:t>
            </a:r>
            <a:r>
              <a:rPr lang="en-US" b="1" dirty="0">
                <a:solidFill>
                  <a:schemeClr val="accent6">
                    <a:lumMod val="40000"/>
                    <a:lumOff val="60000"/>
                  </a:schemeClr>
                </a:solidFill>
              </a:rPr>
              <a:t>P-value</a:t>
            </a:r>
            <a:r>
              <a:rPr lang="en-US" dirty="0">
                <a:solidFill>
                  <a:schemeClr val="accent6">
                    <a:lumMod val="40000"/>
                    <a:lumOff val="60000"/>
                  </a:schemeClr>
                </a:solidFill>
              </a:rPr>
              <a:t> in hypothesis testing is the </a:t>
            </a:r>
            <a:r>
              <a:rPr lang="en-US" b="1" dirty="0">
                <a:solidFill>
                  <a:schemeClr val="accent6">
                    <a:lumMod val="40000"/>
                    <a:lumOff val="60000"/>
                  </a:schemeClr>
                </a:solidFill>
              </a:rPr>
              <a:t>probability of obtaining results as extreme as, or more extreme than, the observed data, assuming the null hypothesis is true</a:t>
            </a:r>
            <a:r>
              <a:rPr lang="en-US" dirty="0">
                <a:solidFill>
                  <a:schemeClr val="accent6">
                    <a:lumMod val="40000"/>
                    <a:lumOff val="60000"/>
                  </a:schemeClr>
                </a:solidFill>
              </a:rPr>
              <a:t>. </a:t>
            </a:r>
          </a:p>
          <a:p>
            <a:endParaRPr lang="en-US" dirty="0">
              <a:solidFill>
                <a:schemeClr val="accent6">
                  <a:lumMod val="40000"/>
                  <a:lumOff val="60000"/>
                </a:schemeClr>
              </a:solidFill>
            </a:endParaRPr>
          </a:p>
          <a:p>
            <a:endParaRPr lang="en-US" dirty="0">
              <a:solidFill>
                <a:schemeClr val="accent6">
                  <a:lumMod val="40000"/>
                  <a:lumOff val="60000"/>
                </a:schemeClr>
              </a:solidFill>
            </a:endParaRPr>
          </a:p>
          <a:p>
            <a:r>
              <a:rPr lang="en-US" dirty="0">
                <a:solidFill>
                  <a:schemeClr val="accent6">
                    <a:lumMod val="40000"/>
                    <a:lumOff val="60000"/>
                  </a:schemeClr>
                </a:solidFill>
              </a:rPr>
              <a:t>It measures the strength of evidence against the null hypothesis;</a:t>
            </a:r>
          </a:p>
          <a:p>
            <a:pPr marL="285750" indent="-285750">
              <a:buFontTx/>
              <a:buChar char="-"/>
            </a:pPr>
            <a:r>
              <a:rPr lang="en-US" dirty="0">
                <a:solidFill>
                  <a:schemeClr val="accent6">
                    <a:lumMod val="40000"/>
                    <a:lumOff val="60000"/>
                  </a:schemeClr>
                </a:solidFill>
              </a:rPr>
              <a:t>a </a:t>
            </a:r>
            <a:r>
              <a:rPr lang="en-US" b="1" dirty="0">
                <a:solidFill>
                  <a:schemeClr val="accent6">
                    <a:lumMod val="40000"/>
                    <a:lumOff val="60000"/>
                  </a:schemeClr>
                </a:solidFill>
              </a:rPr>
              <a:t>small P-value</a:t>
            </a:r>
            <a:r>
              <a:rPr lang="en-US" dirty="0">
                <a:solidFill>
                  <a:schemeClr val="accent6">
                    <a:lumMod val="40000"/>
                    <a:lumOff val="60000"/>
                  </a:schemeClr>
                </a:solidFill>
              </a:rPr>
              <a:t> (typically &lt; 0.05) suggests the results are statistically significant. </a:t>
            </a:r>
          </a:p>
          <a:p>
            <a:r>
              <a:rPr lang="en-US" dirty="0">
                <a:solidFill>
                  <a:schemeClr val="accent6">
                    <a:lumMod val="40000"/>
                    <a:lumOff val="60000"/>
                  </a:schemeClr>
                </a:solidFill>
              </a:rPr>
              <a:t>      Evidence is against null hypothesis </a:t>
            </a:r>
            <a:r>
              <a:rPr lang="en-US" dirty="0">
                <a:solidFill>
                  <a:schemeClr val="accent6">
                    <a:lumMod val="40000"/>
                    <a:lumOff val="60000"/>
                  </a:schemeClr>
                </a:solidFill>
                <a:sym typeface="Wingdings" panose="05000000000000000000" pitchFamily="2" charset="2"/>
              </a:rPr>
              <a:t> </a:t>
            </a:r>
            <a:r>
              <a:rPr lang="en-US" b="1" dirty="0">
                <a:solidFill>
                  <a:schemeClr val="accent6">
                    <a:lumMod val="40000"/>
                    <a:lumOff val="60000"/>
                  </a:schemeClr>
                </a:solidFill>
                <a:sym typeface="Wingdings" panose="05000000000000000000" pitchFamily="2" charset="2"/>
              </a:rPr>
              <a:t>N</a:t>
            </a:r>
            <a:r>
              <a:rPr lang="en-US" b="1" dirty="0">
                <a:solidFill>
                  <a:schemeClr val="accent6">
                    <a:lumMod val="40000"/>
                    <a:lumOff val="60000"/>
                  </a:schemeClr>
                </a:solidFill>
              </a:rPr>
              <a:t>ull hypothesis can be rejected</a:t>
            </a:r>
            <a:r>
              <a:rPr lang="en-US" dirty="0">
                <a:solidFill>
                  <a:schemeClr val="accent6">
                    <a:lumMod val="40000"/>
                    <a:lumOff val="60000"/>
                  </a:schemeClr>
                </a:solidFill>
              </a:rPr>
              <a:t>. </a:t>
            </a:r>
          </a:p>
          <a:p>
            <a:endParaRPr lang="en-US" dirty="0">
              <a:solidFill>
                <a:schemeClr val="accent6">
                  <a:lumMod val="40000"/>
                  <a:lumOff val="60000"/>
                </a:schemeClr>
              </a:solidFill>
            </a:endParaRPr>
          </a:p>
          <a:p>
            <a:pPr marL="285750" indent="-285750">
              <a:buFontTx/>
              <a:buChar char="-"/>
            </a:pPr>
            <a:r>
              <a:rPr lang="en-US" dirty="0">
                <a:solidFill>
                  <a:schemeClr val="accent6">
                    <a:lumMod val="40000"/>
                    <a:lumOff val="60000"/>
                  </a:schemeClr>
                </a:solidFill>
              </a:rPr>
              <a:t>a </a:t>
            </a:r>
            <a:r>
              <a:rPr lang="en-US" b="1" dirty="0">
                <a:solidFill>
                  <a:schemeClr val="accent6">
                    <a:lumMod val="40000"/>
                    <a:lumOff val="60000"/>
                  </a:schemeClr>
                </a:solidFill>
              </a:rPr>
              <a:t>large P-value</a:t>
            </a:r>
            <a:r>
              <a:rPr lang="en-US" dirty="0">
                <a:solidFill>
                  <a:schemeClr val="accent6">
                    <a:lumMod val="40000"/>
                    <a:lumOff val="60000"/>
                  </a:schemeClr>
                </a:solidFill>
              </a:rPr>
              <a:t> (typically &gt; 0.05) suggests the observed results are likely due to random chance.</a:t>
            </a:r>
          </a:p>
          <a:p>
            <a:r>
              <a:rPr lang="en-US" dirty="0">
                <a:solidFill>
                  <a:schemeClr val="accent6">
                    <a:lumMod val="40000"/>
                    <a:lumOff val="60000"/>
                  </a:schemeClr>
                </a:solidFill>
              </a:rPr>
              <a:t>      Evidence is not against null hypothesis </a:t>
            </a:r>
            <a:r>
              <a:rPr lang="en-US" dirty="0">
                <a:solidFill>
                  <a:schemeClr val="accent6">
                    <a:lumMod val="40000"/>
                    <a:lumOff val="60000"/>
                  </a:schemeClr>
                </a:solidFill>
                <a:sym typeface="Wingdings" panose="05000000000000000000" pitchFamily="2" charset="2"/>
              </a:rPr>
              <a:t> </a:t>
            </a:r>
            <a:r>
              <a:rPr lang="en-US" b="1" dirty="0">
                <a:solidFill>
                  <a:schemeClr val="accent6">
                    <a:lumMod val="40000"/>
                    <a:lumOff val="60000"/>
                  </a:schemeClr>
                </a:solidFill>
              </a:rPr>
              <a:t>Null hypothesis cannot be rejected</a:t>
            </a:r>
            <a:r>
              <a:rPr lang="en-US" dirty="0">
                <a:solidFill>
                  <a:schemeClr val="accent6">
                    <a:lumMod val="40000"/>
                    <a:lumOff val="60000"/>
                  </a:schemeClr>
                </a:solidFill>
              </a:rPr>
              <a:t>.  </a:t>
            </a:r>
          </a:p>
          <a:p>
            <a:endParaRPr lang="en-US" dirty="0">
              <a:solidFill>
                <a:schemeClr val="accent6">
                  <a:lumMod val="40000"/>
                  <a:lumOff val="60000"/>
                </a:schemeClr>
              </a:solidFill>
            </a:endParaRPr>
          </a:p>
        </p:txBody>
      </p:sp>
      <p:pic>
        <p:nvPicPr>
          <p:cNvPr id="7" name="Picture 6">
            <a:extLst>
              <a:ext uri="{FF2B5EF4-FFF2-40B4-BE49-F238E27FC236}">
                <a16:creationId xmlns:a16="http://schemas.microsoft.com/office/drawing/2014/main" id="{245020D0-EB76-AB59-4494-8B4552570BF6}"/>
              </a:ext>
            </a:extLst>
          </p:cNvPr>
          <p:cNvPicPr>
            <a:picLocks noChangeAspect="1"/>
          </p:cNvPicPr>
          <p:nvPr/>
        </p:nvPicPr>
        <p:blipFill>
          <a:blip r:embed="rId2"/>
          <a:stretch>
            <a:fillRect/>
          </a:stretch>
        </p:blipFill>
        <p:spPr>
          <a:xfrm>
            <a:off x="5052441" y="3779080"/>
            <a:ext cx="6554269" cy="2756468"/>
          </a:xfrm>
          <a:prstGeom prst="rect">
            <a:avLst/>
          </a:prstGeom>
        </p:spPr>
      </p:pic>
    </p:spTree>
    <p:extLst>
      <p:ext uri="{BB962C8B-B14F-4D97-AF65-F5344CB8AC3E}">
        <p14:creationId xmlns:p14="http://schemas.microsoft.com/office/powerpoint/2010/main" val="4125117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46422-3460-F1A7-05BF-096A68039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851C9-4DFC-701A-F260-524E9750223B}"/>
              </a:ext>
            </a:extLst>
          </p:cNvPr>
          <p:cNvSpPr>
            <a:spLocks noGrp="1"/>
          </p:cNvSpPr>
          <p:nvPr>
            <p:ph type="title"/>
          </p:nvPr>
        </p:nvSpPr>
        <p:spPr>
          <a:xfrm>
            <a:off x="2337816" y="246253"/>
            <a:ext cx="7190232" cy="457835"/>
          </a:xfrm>
        </p:spPr>
        <p:txBody>
          <a:bodyPr>
            <a:normAutofit fontScale="90000"/>
          </a:bodyPr>
          <a:lstStyle/>
          <a:p>
            <a:pPr algn="ctr"/>
            <a:r>
              <a:rPr lang="en-US" dirty="0">
                <a:solidFill>
                  <a:schemeClr val="accent6">
                    <a:lumMod val="40000"/>
                    <a:lumOff val="60000"/>
                  </a:schemeClr>
                </a:solidFill>
              </a:rPr>
              <a:t>P-value</a:t>
            </a:r>
          </a:p>
        </p:txBody>
      </p:sp>
      <p:sp>
        <p:nvSpPr>
          <p:cNvPr id="3" name="TextBox 2">
            <a:extLst>
              <a:ext uri="{FF2B5EF4-FFF2-40B4-BE49-F238E27FC236}">
                <a16:creationId xmlns:a16="http://schemas.microsoft.com/office/drawing/2014/main" id="{CBF63268-065D-EBD0-E394-9E298A97F217}"/>
              </a:ext>
            </a:extLst>
          </p:cNvPr>
          <p:cNvSpPr txBox="1"/>
          <p:nvPr/>
        </p:nvSpPr>
        <p:spPr>
          <a:xfrm>
            <a:off x="219456" y="768388"/>
            <a:ext cx="11804904" cy="2893100"/>
          </a:xfrm>
          <a:prstGeom prst="rect">
            <a:avLst/>
          </a:prstGeom>
          <a:noFill/>
        </p:spPr>
        <p:txBody>
          <a:bodyPr wrap="square">
            <a:spAutoFit/>
          </a:bodyPr>
          <a:lstStyle/>
          <a:p>
            <a:pPr algn="ctr"/>
            <a:r>
              <a:rPr lang="en-US" sz="2000" b="1" dirty="0">
                <a:solidFill>
                  <a:schemeClr val="accent6">
                    <a:lumMod val="60000"/>
                    <a:lumOff val="40000"/>
                  </a:schemeClr>
                </a:solidFill>
              </a:rPr>
              <a:t>A simple example to understand p-value:</a:t>
            </a:r>
          </a:p>
          <a:p>
            <a:r>
              <a:rPr lang="en-US" dirty="0">
                <a:solidFill>
                  <a:schemeClr val="accent6">
                    <a:lumMod val="60000"/>
                    <a:lumOff val="40000"/>
                  </a:schemeClr>
                </a:solidFill>
              </a:rPr>
              <a:t>Let Null hypothesis = "The medicine doesn’t work."</a:t>
            </a:r>
          </a:p>
          <a:p>
            <a:endParaRPr lang="en-US" dirty="0">
              <a:solidFill>
                <a:schemeClr val="accent6">
                  <a:lumMod val="60000"/>
                  <a:lumOff val="40000"/>
                </a:schemeClr>
              </a:solidFill>
            </a:endParaRPr>
          </a:p>
          <a:p>
            <a:r>
              <a:rPr lang="en-US" dirty="0">
                <a:solidFill>
                  <a:schemeClr val="accent6">
                    <a:lumMod val="60000"/>
                    <a:lumOff val="40000"/>
                  </a:schemeClr>
                </a:solidFill>
              </a:rPr>
              <a:t>Then,  p-value = "How surprising are my results </a:t>
            </a:r>
            <a:r>
              <a:rPr lang="en-US" i="1" dirty="0">
                <a:solidFill>
                  <a:schemeClr val="accent6">
                    <a:lumMod val="60000"/>
                    <a:lumOff val="40000"/>
                  </a:schemeClr>
                </a:solidFill>
              </a:rPr>
              <a:t>if</a:t>
            </a:r>
            <a:r>
              <a:rPr lang="en-US" dirty="0">
                <a:solidFill>
                  <a:schemeClr val="accent6">
                    <a:lumMod val="60000"/>
                    <a:lumOff val="40000"/>
                  </a:schemeClr>
                </a:solidFill>
              </a:rPr>
              <a:t> the medicine truly doesn’t work?"</a:t>
            </a:r>
          </a:p>
          <a:p>
            <a:endParaRPr lang="en-US" dirty="0">
              <a:solidFill>
                <a:schemeClr val="accent6">
                  <a:lumMod val="60000"/>
                  <a:lumOff val="40000"/>
                </a:schemeClr>
              </a:solidFill>
            </a:endParaRPr>
          </a:p>
          <a:p>
            <a:r>
              <a:rPr lang="en-US" dirty="0">
                <a:solidFill>
                  <a:schemeClr val="accent6">
                    <a:lumMod val="60000"/>
                    <a:lumOff val="40000"/>
                  </a:schemeClr>
                </a:solidFill>
              </a:rPr>
              <a:t>Let’ say we choose a significance level, </a:t>
            </a:r>
            <a:r>
              <a:rPr lang="en-US" b="1" dirty="0">
                <a:solidFill>
                  <a:schemeClr val="accent6">
                    <a:lumMod val="60000"/>
                    <a:lumOff val="40000"/>
                  </a:schemeClr>
                </a:solidFill>
              </a:rPr>
              <a:t>α = 0.05 (5%)</a:t>
            </a:r>
            <a:r>
              <a:rPr lang="en-US" dirty="0">
                <a:solidFill>
                  <a:schemeClr val="accent6">
                    <a:lumMod val="60000"/>
                    <a:lumOff val="40000"/>
                  </a:schemeClr>
                </a:solidFill>
              </a:rPr>
              <a:t>, which sets our threshold for surprising result.</a:t>
            </a:r>
          </a:p>
          <a:p>
            <a:endParaRPr lang="en-US" dirty="0">
              <a:solidFill>
                <a:schemeClr val="accent6">
                  <a:lumMod val="60000"/>
                  <a:lumOff val="40000"/>
                </a:schemeClr>
              </a:solidFill>
            </a:endParaRPr>
          </a:p>
          <a:p>
            <a:r>
              <a:rPr lang="en-US" dirty="0">
                <a:solidFill>
                  <a:schemeClr val="accent6">
                    <a:lumMod val="60000"/>
                    <a:lumOff val="40000"/>
                  </a:schemeClr>
                </a:solidFill>
              </a:rPr>
              <a:t>If p = 0.001 = 0.1% &lt; 5%,  the results are </a:t>
            </a:r>
            <a:r>
              <a:rPr lang="en-US" b="1" dirty="0">
                <a:solidFill>
                  <a:schemeClr val="accent6">
                    <a:lumMod val="60000"/>
                    <a:lumOff val="40000"/>
                  </a:schemeClr>
                </a:solidFill>
              </a:rPr>
              <a:t>very surprising</a:t>
            </a:r>
            <a:r>
              <a:rPr lang="en-US" dirty="0">
                <a:solidFill>
                  <a:schemeClr val="accent6">
                    <a:lumMod val="60000"/>
                    <a:lumOff val="40000"/>
                  </a:schemeClr>
                </a:solidFill>
              </a:rPr>
              <a:t> → strong evidence the medicine </a:t>
            </a:r>
            <a:r>
              <a:rPr lang="en-US" i="1" dirty="0">
                <a:solidFill>
                  <a:schemeClr val="accent6">
                    <a:lumMod val="60000"/>
                    <a:lumOff val="40000"/>
                  </a:schemeClr>
                </a:solidFill>
              </a:rPr>
              <a:t>might actually work</a:t>
            </a:r>
            <a:r>
              <a:rPr lang="en-US" dirty="0">
                <a:solidFill>
                  <a:schemeClr val="accent6">
                    <a:lumMod val="60000"/>
                    <a:lumOff val="40000"/>
                  </a:schemeClr>
                </a:solidFill>
              </a:rPr>
              <a:t>.</a:t>
            </a:r>
            <a:br>
              <a:rPr lang="en-US" dirty="0">
                <a:solidFill>
                  <a:schemeClr val="accent6">
                    <a:lumMod val="60000"/>
                    <a:lumOff val="40000"/>
                  </a:schemeClr>
                </a:solidFill>
              </a:rPr>
            </a:br>
            <a:r>
              <a:rPr lang="en-US" dirty="0">
                <a:solidFill>
                  <a:schemeClr val="accent6">
                    <a:lumMod val="60000"/>
                    <a:lumOff val="40000"/>
                  </a:schemeClr>
                </a:solidFill>
              </a:rPr>
              <a:t>If p = 0.6     = 60%  &gt; 5% , the results are </a:t>
            </a:r>
            <a:r>
              <a:rPr lang="en-US" b="1" dirty="0">
                <a:solidFill>
                  <a:schemeClr val="accent6">
                    <a:lumMod val="60000"/>
                    <a:lumOff val="40000"/>
                  </a:schemeClr>
                </a:solidFill>
              </a:rPr>
              <a:t>not surprising</a:t>
            </a:r>
            <a:r>
              <a:rPr lang="en-US" dirty="0">
                <a:solidFill>
                  <a:schemeClr val="accent6">
                    <a:lumMod val="60000"/>
                    <a:lumOff val="40000"/>
                  </a:schemeClr>
                </a:solidFill>
              </a:rPr>
              <a:t> → no evidence that the medicine helps.</a:t>
            </a:r>
          </a:p>
          <a:p>
            <a:endParaRPr lang="en-US" dirty="0">
              <a:solidFill>
                <a:schemeClr val="accent6">
                  <a:lumMod val="60000"/>
                  <a:lumOff val="40000"/>
                </a:schemeClr>
              </a:solidFill>
            </a:endParaRPr>
          </a:p>
        </p:txBody>
      </p:sp>
      <p:pic>
        <p:nvPicPr>
          <p:cNvPr id="6" name="Picture 5">
            <a:extLst>
              <a:ext uri="{FF2B5EF4-FFF2-40B4-BE49-F238E27FC236}">
                <a16:creationId xmlns:a16="http://schemas.microsoft.com/office/drawing/2014/main" id="{79DF4B4C-D33B-CA98-BC33-A1DBB7FBD137}"/>
              </a:ext>
            </a:extLst>
          </p:cNvPr>
          <p:cNvPicPr>
            <a:picLocks noChangeAspect="1"/>
          </p:cNvPicPr>
          <p:nvPr/>
        </p:nvPicPr>
        <p:blipFill>
          <a:blip r:embed="rId2"/>
          <a:stretch>
            <a:fillRect/>
          </a:stretch>
        </p:blipFill>
        <p:spPr>
          <a:xfrm>
            <a:off x="1685925" y="3463601"/>
            <a:ext cx="7576185" cy="3186246"/>
          </a:xfrm>
          <a:prstGeom prst="rect">
            <a:avLst/>
          </a:prstGeom>
        </p:spPr>
      </p:pic>
    </p:spTree>
    <p:extLst>
      <p:ext uri="{BB962C8B-B14F-4D97-AF65-F5344CB8AC3E}">
        <p14:creationId xmlns:p14="http://schemas.microsoft.com/office/powerpoint/2010/main" val="1166548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4B00C-AE2D-5DFD-E08E-049C43ECC54E}"/>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86B3430-63F2-626A-BDAF-57BE0A37FB02}"/>
              </a:ext>
            </a:extLst>
          </p:cNvPr>
          <p:cNvSpPr>
            <a:spLocks noGrp="1"/>
          </p:cNvSpPr>
          <p:nvPr>
            <p:ph type="title"/>
          </p:nvPr>
        </p:nvSpPr>
        <p:spPr>
          <a:xfrm>
            <a:off x="604266" y="170053"/>
            <a:ext cx="3862959" cy="457835"/>
          </a:xfrm>
        </p:spPr>
        <p:txBody>
          <a:bodyPr>
            <a:normAutofit fontScale="90000"/>
          </a:bodyPr>
          <a:lstStyle/>
          <a:p>
            <a:r>
              <a:rPr lang="en-US" dirty="0">
                <a:solidFill>
                  <a:schemeClr val="accent6">
                    <a:lumMod val="40000"/>
                    <a:lumOff val="60000"/>
                  </a:schemeClr>
                </a:solidFill>
              </a:rPr>
              <a:t>P-value</a:t>
            </a:r>
          </a:p>
        </p:txBody>
      </p:sp>
      <p:sp>
        <p:nvSpPr>
          <p:cNvPr id="2" name="TextBox 1">
            <a:extLst>
              <a:ext uri="{FF2B5EF4-FFF2-40B4-BE49-F238E27FC236}">
                <a16:creationId xmlns:a16="http://schemas.microsoft.com/office/drawing/2014/main" id="{79BBA0B3-8CD9-6A37-56BC-635EA77AA7C5}"/>
              </a:ext>
            </a:extLst>
          </p:cNvPr>
          <p:cNvSpPr txBox="1"/>
          <p:nvPr/>
        </p:nvSpPr>
        <p:spPr>
          <a:xfrm>
            <a:off x="82296" y="749808"/>
            <a:ext cx="6840855" cy="5324535"/>
          </a:xfrm>
          <a:prstGeom prst="rect">
            <a:avLst/>
          </a:prstGeom>
          <a:noFill/>
        </p:spPr>
        <p:txBody>
          <a:bodyPr wrap="square" rtlCol="0">
            <a:spAutoFit/>
          </a:bodyPr>
          <a:lstStyle/>
          <a:p>
            <a:r>
              <a:rPr lang="en-US" sz="2000" dirty="0">
                <a:solidFill>
                  <a:schemeClr val="accent6">
                    <a:lumMod val="40000"/>
                    <a:lumOff val="60000"/>
                  </a:schemeClr>
                </a:solidFill>
              </a:rPr>
              <a:t>Hypothesis problems fall under 3 categories:</a:t>
            </a:r>
          </a:p>
          <a:p>
            <a:endParaRPr lang="en-US" sz="2000" dirty="0">
              <a:solidFill>
                <a:schemeClr val="accent6">
                  <a:lumMod val="40000"/>
                  <a:lumOff val="60000"/>
                </a:schemeClr>
              </a:solidFill>
            </a:endParaRPr>
          </a:p>
          <a:p>
            <a:r>
              <a:rPr lang="en-US" sz="2000" b="1" dirty="0">
                <a:solidFill>
                  <a:schemeClr val="accent4">
                    <a:lumMod val="40000"/>
                    <a:lumOff val="60000"/>
                  </a:schemeClr>
                </a:solidFill>
                <a:latin typeface="Inter"/>
              </a:rPr>
              <a:t>Left-tailed test</a:t>
            </a:r>
            <a:r>
              <a:rPr lang="en-US" sz="2000" b="1" dirty="0">
                <a:solidFill>
                  <a:schemeClr val="accent4">
                    <a:lumMod val="40000"/>
                    <a:lumOff val="60000"/>
                  </a:schemeClr>
                </a:solidFill>
              </a:rPr>
              <a:t> </a:t>
            </a: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r>
              <a:rPr lang="en-US" sz="2000" b="1" dirty="0">
                <a:solidFill>
                  <a:schemeClr val="accent4">
                    <a:lumMod val="40000"/>
                    <a:lumOff val="60000"/>
                  </a:schemeClr>
                </a:solidFill>
                <a:latin typeface="Inter"/>
              </a:rPr>
              <a:t>Right-tailed test</a:t>
            </a: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endParaRPr>
          </a:p>
          <a:p>
            <a:r>
              <a:rPr lang="en-US" sz="2000" b="1" dirty="0">
                <a:solidFill>
                  <a:schemeClr val="accent4">
                    <a:lumMod val="40000"/>
                    <a:lumOff val="60000"/>
                  </a:schemeClr>
                </a:solidFill>
              </a:rPr>
              <a:t>2-tailed test</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3070BD1-BDD9-179D-D5EA-63D3827EB264}"/>
                  </a:ext>
                </a:extLst>
              </p14:cNvPr>
              <p14:cNvContentPartPr/>
              <p14:nvPr/>
            </p14:nvContentPartPr>
            <p14:xfrm>
              <a:off x="903231" y="3019035"/>
              <a:ext cx="360" cy="360"/>
            </p14:xfrm>
          </p:contentPart>
        </mc:Choice>
        <mc:Fallback xmlns="">
          <p:pic>
            <p:nvPicPr>
              <p:cNvPr id="9" name="Ink 8">
                <a:extLst>
                  <a:ext uri="{FF2B5EF4-FFF2-40B4-BE49-F238E27FC236}">
                    <a16:creationId xmlns:a16="http://schemas.microsoft.com/office/drawing/2014/main" id="{8A8602A6-58F5-FC3C-4727-DEA9913C2D79}"/>
                  </a:ext>
                </a:extLst>
              </p:cNvPr>
              <p:cNvPicPr/>
              <p:nvPr/>
            </p:nvPicPr>
            <p:blipFill>
              <a:blip r:embed="rId6"/>
              <a:stretch>
                <a:fillRect/>
              </a:stretch>
            </p:blipFill>
            <p:spPr>
              <a:xfrm>
                <a:off x="867231" y="2983035"/>
                <a:ext cx="72000" cy="72000"/>
              </a:xfrm>
              <a:prstGeom prst="rect">
                <a:avLst/>
              </a:prstGeom>
            </p:spPr>
          </p:pic>
        </mc:Fallback>
      </mc:AlternateContent>
      <p:pic>
        <p:nvPicPr>
          <p:cNvPr id="12" name="Picture 11">
            <a:extLst>
              <a:ext uri="{FF2B5EF4-FFF2-40B4-BE49-F238E27FC236}">
                <a16:creationId xmlns:a16="http://schemas.microsoft.com/office/drawing/2014/main" id="{EB76543C-8CA1-E770-FC18-675DBE234878}"/>
              </a:ext>
            </a:extLst>
          </p:cNvPr>
          <p:cNvPicPr>
            <a:picLocks noChangeAspect="1"/>
          </p:cNvPicPr>
          <p:nvPr/>
        </p:nvPicPr>
        <p:blipFill>
          <a:blip r:embed="rId7"/>
          <a:stretch>
            <a:fillRect/>
          </a:stretch>
        </p:blipFill>
        <p:spPr>
          <a:xfrm>
            <a:off x="5791201" y="16240"/>
            <a:ext cx="4457700" cy="2135259"/>
          </a:xfrm>
          <a:prstGeom prst="rect">
            <a:avLst/>
          </a:prstGeom>
        </p:spPr>
      </p:pic>
      <p:pic>
        <p:nvPicPr>
          <p:cNvPr id="14" name="Picture 13">
            <a:extLst>
              <a:ext uri="{FF2B5EF4-FFF2-40B4-BE49-F238E27FC236}">
                <a16:creationId xmlns:a16="http://schemas.microsoft.com/office/drawing/2014/main" id="{02107D9A-4965-F4A8-4578-EDDAE514219A}"/>
              </a:ext>
            </a:extLst>
          </p:cNvPr>
          <p:cNvPicPr>
            <a:picLocks noChangeAspect="1"/>
          </p:cNvPicPr>
          <p:nvPr/>
        </p:nvPicPr>
        <p:blipFill>
          <a:blip r:embed="rId8"/>
          <a:stretch>
            <a:fillRect/>
          </a:stretch>
        </p:blipFill>
        <p:spPr>
          <a:xfrm>
            <a:off x="6307177" y="2263893"/>
            <a:ext cx="4992902" cy="2095342"/>
          </a:xfrm>
          <a:prstGeom prst="rect">
            <a:avLst/>
          </a:prstGeom>
        </p:spPr>
      </p:pic>
      <p:pic>
        <p:nvPicPr>
          <p:cNvPr id="16" name="Picture 15">
            <a:extLst>
              <a:ext uri="{FF2B5EF4-FFF2-40B4-BE49-F238E27FC236}">
                <a16:creationId xmlns:a16="http://schemas.microsoft.com/office/drawing/2014/main" id="{4DA8B621-6F02-DDFB-D39D-B1E43F8A1656}"/>
              </a:ext>
            </a:extLst>
          </p:cNvPr>
          <p:cNvPicPr>
            <a:picLocks noChangeAspect="1"/>
          </p:cNvPicPr>
          <p:nvPr/>
        </p:nvPicPr>
        <p:blipFill>
          <a:blip r:embed="rId9"/>
          <a:stretch>
            <a:fillRect/>
          </a:stretch>
        </p:blipFill>
        <p:spPr>
          <a:xfrm>
            <a:off x="5873275" y="4444960"/>
            <a:ext cx="6095681" cy="2319785"/>
          </a:xfrm>
          <a:prstGeom prst="rect">
            <a:avLst/>
          </a:prstGeom>
        </p:spPr>
      </p:pic>
    </p:spTree>
    <p:extLst>
      <p:ext uri="{BB962C8B-B14F-4D97-AF65-F5344CB8AC3E}">
        <p14:creationId xmlns:p14="http://schemas.microsoft.com/office/powerpoint/2010/main" val="39965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A33E4-C371-30E0-8D51-44198D70A32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20B151C-123E-EB79-EF31-9B11A163455C}"/>
              </a:ext>
            </a:extLst>
          </p:cNvPr>
          <p:cNvSpPr txBox="1"/>
          <p:nvPr/>
        </p:nvSpPr>
        <p:spPr>
          <a:xfrm>
            <a:off x="301752" y="1210348"/>
            <a:ext cx="8531352" cy="4093428"/>
          </a:xfrm>
          <a:prstGeom prst="rect">
            <a:avLst/>
          </a:prstGeom>
          <a:noFill/>
        </p:spPr>
        <p:txBody>
          <a:bodyPr wrap="square">
            <a:spAutoFit/>
          </a:bodyPr>
          <a:lstStyle/>
          <a:p>
            <a:r>
              <a:rPr lang="en-US" sz="2000" b="1" dirty="0">
                <a:solidFill>
                  <a:schemeClr val="accent6">
                    <a:lumMod val="40000"/>
                    <a:lumOff val="60000"/>
                  </a:schemeClr>
                </a:solidFill>
              </a:rPr>
              <a:t>Steps In Solving Hypothesis-testing Problems (P-Value method)</a:t>
            </a:r>
          </a:p>
          <a:p>
            <a:endParaRPr lang="en-US" sz="2000" b="1" dirty="0">
              <a:solidFill>
                <a:schemeClr val="accent6">
                  <a:lumMod val="40000"/>
                  <a:lumOff val="60000"/>
                </a:schemeClr>
              </a:solidFill>
            </a:endParaRPr>
          </a:p>
          <a:p>
            <a:r>
              <a:rPr lang="en-US" sz="2000" dirty="0">
                <a:solidFill>
                  <a:schemeClr val="accent6">
                    <a:lumMod val="40000"/>
                    <a:lumOff val="60000"/>
                  </a:schemeClr>
                </a:solidFill>
              </a:rPr>
              <a:t>Step 1) State the hypothesis and identify the claim.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2) Compute the z test value (or t test value)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3) Find the P-value for the above test value.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4) Compare P-value with</a:t>
            </a:r>
            <a:r>
              <a:rPr lang="el-GR" sz="2000" dirty="0">
                <a:solidFill>
                  <a:schemeClr val="accent6">
                    <a:lumMod val="40000"/>
                    <a:lumOff val="60000"/>
                  </a:schemeClr>
                </a:solidFill>
              </a:rPr>
              <a:t> </a:t>
            </a:r>
            <a:r>
              <a:rPr lang="en-US" sz="2000" dirty="0">
                <a:solidFill>
                  <a:schemeClr val="accent6">
                    <a:lumMod val="40000"/>
                    <a:lumOff val="60000"/>
                  </a:schemeClr>
                </a:solidFill>
              </a:rPr>
              <a:t>significance level </a:t>
            </a:r>
            <a:r>
              <a:rPr lang="el-GR" sz="2000" dirty="0">
                <a:solidFill>
                  <a:schemeClr val="accent6">
                    <a:lumMod val="40000"/>
                    <a:lumOff val="60000"/>
                  </a:schemeClr>
                </a:solidFill>
              </a:rPr>
              <a:t>α</a:t>
            </a:r>
            <a:r>
              <a:rPr lang="en-US" sz="2000" dirty="0">
                <a:solidFill>
                  <a:schemeClr val="accent6">
                    <a:lumMod val="40000"/>
                    <a:lumOff val="60000"/>
                  </a:schemeClr>
                </a:solidFill>
              </a:rPr>
              <a:t> and make the decision:</a:t>
            </a:r>
          </a:p>
          <a:p>
            <a:pPr marL="285750" indent="-285750">
              <a:buFont typeface="Arial" panose="020B0604020202020204" pitchFamily="34" charset="0"/>
              <a:buChar char="•"/>
            </a:pPr>
            <a:r>
              <a:rPr lang="en-US" sz="2000" b="1" dirty="0">
                <a:solidFill>
                  <a:schemeClr val="accent6">
                    <a:lumMod val="40000"/>
                    <a:lumOff val="60000"/>
                  </a:schemeClr>
                </a:solidFill>
              </a:rPr>
              <a:t>If P-value &lt;= </a:t>
            </a:r>
            <a:r>
              <a:rPr lang="el-GR" sz="2000" b="1" dirty="0">
                <a:solidFill>
                  <a:schemeClr val="accent6">
                    <a:lumMod val="40000"/>
                    <a:lumOff val="60000"/>
                  </a:schemeClr>
                </a:solidFill>
              </a:rPr>
              <a:t>α</a:t>
            </a:r>
            <a:r>
              <a:rPr lang="en-US" sz="2000" b="1" dirty="0">
                <a:solidFill>
                  <a:schemeClr val="accent6">
                    <a:lumMod val="40000"/>
                    <a:lumOff val="60000"/>
                  </a:schemeClr>
                </a:solidFill>
              </a:rPr>
              <a:t>, reject the null hypothesis.</a:t>
            </a:r>
          </a:p>
          <a:p>
            <a:pPr marL="285750" indent="-285750">
              <a:buFont typeface="Arial" panose="020B0604020202020204" pitchFamily="34" charset="0"/>
              <a:buChar char="•"/>
            </a:pPr>
            <a:r>
              <a:rPr lang="en-US" sz="2000" b="1" dirty="0">
                <a:solidFill>
                  <a:schemeClr val="accent6">
                    <a:lumMod val="40000"/>
                    <a:lumOff val="60000"/>
                  </a:schemeClr>
                </a:solidFill>
              </a:rPr>
              <a:t>If P-value &gt; </a:t>
            </a:r>
            <a:r>
              <a:rPr lang="el-GR" sz="2000" b="1" dirty="0">
                <a:solidFill>
                  <a:schemeClr val="accent6">
                    <a:lumMod val="40000"/>
                    <a:lumOff val="60000"/>
                  </a:schemeClr>
                </a:solidFill>
              </a:rPr>
              <a:t>α</a:t>
            </a:r>
            <a:r>
              <a:rPr lang="en-US" sz="2000" b="1" dirty="0">
                <a:solidFill>
                  <a:schemeClr val="accent6">
                    <a:lumMod val="40000"/>
                    <a:lumOff val="60000"/>
                  </a:schemeClr>
                </a:solidFill>
              </a:rPr>
              <a:t>, do not reject the null hypothesis.</a:t>
            </a:r>
          </a:p>
          <a:p>
            <a:r>
              <a:rPr lang="en-US" sz="2000" dirty="0">
                <a:solidFill>
                  <a:schemeClr val="accent6">
                    <a:lumMod val="40000"/>
                    <a:lumOff val="60000"/>
                  </a:schemeClr>
                </a:solidFill>
              </a:rPr>
              <a:t> </a:t>
            </a:r>
          </a:p>
          <a:p>
            <a:r>
              <a:rPr lang="en-US" sz="2000" dirty="0">
                <a:solidFill>
                  <a:schemeClr val="accent6">
                    <a:lumMod val="40000"/>
                    <a:lumOff val="60000"/>
                  </a:schemeClr>
                </a:solidFill>
              </a:rPr>
              <a:t>Step 5) Summarize the results.</a:t>
            </a:r>
          </a:p>
        </p:txBody>
      </p:sp>
      <p:sp>
        <p:nvSpPr>
          <p:cNvPr id="7" name="Title 1">
            <a:extLst>
              <a:ext uri="{FF2B5EF4-FFF2-40B4-BE49-F238E27FC236}">
                <a16:creationId xmlns:a16="http://schemas.microsoft.com/office/drawing/2014/main" id="{0436B00E-9903-92A3-F42C-9FB43AB826AC}"/>
              </a:ext>
            </a:extLst>
          </p:cNvPr>
          <p:cNvSpPr>
            <a:spLocks noGrp="1"/>
          </p:cNvSpPr>
          <p:nvPr>
            <p:ph type="title"/>
          </p:nvPr>
        </p:nvSpPr>
        <p:spPr>
          <a:xfrm>
            <a:off x="2337816" y="246253"/>
            <a:ext cx="7190232" cy="457835"/>
          </a:xfrm>
        </p:spPr>
        <p:txBody>
          <a:bodyPr>
            <a:normAutofit fontScale="90000"/>
          </a:bodyPr>
          <a:lstStyle/>
          <a:p>
            <a:pPr algn="ctr"/>
            <a:r>
              <a:rPr lang="en-US" dirty="0">
                <a:solidFill>
                  <a:schemeClr val="accent6">
                    <a:lumMod val="40000"/>
                    <a:lumOff val="60000"/>
                  </a:schemeClr>
                </a:solidFill>
              </a:rPr>
              <a:t>P-value</a:t>
            </a:r>
          </a:p>
        </p:txBody>
      </p:sp>
      <p:pic>
        <p:nvPicPr>
          <p:cNvPr id="2" name="Picture 1">
            <a:extLst>
              <a:ext uri="{FF2B5EF4-FFF2-40B4-BE49-F238E27FC236}">
                <a16:creationId xmlns:a16="http://schemas.microsoft.com/office/drawing/2014/main" id="{0E1704B8-0E28-19EC-6738-E14412B5E0C5}"/>
              </a:ext>
            </a:extLst>
          </p:cNvPr>
          <p:cNvPicPr>
            <a:picLocks noChangeAspect="1"/>
          </p:cNvPicPr>
          <p:nvPr/>
        </p:nvPicPr>
        <p:blipFill>
          <a:blip r:embed="rId2"/>
          <a:stretch>
            <a:fillRect/>
          </a:stretch>
        </p:blipFill>
        <p:spPr>
          <a:xfrm>
            <a:off x="8064698" y="1458786"/>
            <a:ext cx="3003353" cy="1438620"/>
          </a:xfrm>
          <a:prstGeom prst="rect">
            <a:avLst/>
          </a:prstGeom>
        </p:spPr>
      </p:pic>
      <p:pic>
        <p:nvPicPr>
          <p:cNvPr id="3" name="Picture 2">
            <a:extLst>
              <a:ext uri="{FF2B5EF4-FFF2-40B4-BE49-F238E27FC236}">
                <a16:creationId xmlns:a16="http://schemas.microsoft.com/office/drawing/2014/main" id="{617E1AF4-CFC6-8942-BCBA-AF7B351385CC}"/>
              </a:ext>
            </a:extLst>
          </p:cNvPr>
          <p:cNvPicPr>
            <a:picLocks noChangeAspect="1"/>
          </p:cNvPicPr>
          <p:nvPr/>
        </p:nvPicPr>
        <p:blipFill>
          <a:blip r:embed="rId3"/>
          <a:stretch>
            <a:fillRect/>
          </a:stretch>
        </p:blipFill>
        <p:spPr>
          <a:xfrm>
            <a:off x="8452878" y="3145844"/>
            <a:ext cx="3428027" cy="1438621"/>
          </a:xfrm>
          <a:prstGeom prst="rect">
            <a:avLst/>
          </a:prstGeom>
        </p:spPr>
      </p:pic>
      <p:pic>
        <p:nvPicPr>
          <p:cNvPr id="4" name="Picture 3">
            <a:extLst>
              <a:ext uri="{FF2B5EF4-FFF2-40B4-BE49-F238E27FC236}">
                <a16:creationId xmlns:a16="http://schemas.microsoft.com/office/drawing/2014/main" id="{565395E8-0BB6-C467-BECE-8419EBEEED11}"/>
              </a:ext>
            </a:extLst>
          </p:cNvPr>
          <p:cNvPicPr>
            <a:picLocks noChangeAspect="1"/>
          </p:cNvPicPr>
          <p:nvPr/>
        </p:nvPicPr>
        <p:blipFill>
          <a:blip r:embed="rId4"/>
          <a:stretch>
            <a:fillRect/>
          </a:stretch>
        </p:blipFill>
        <p:spPr>
          <a:xfrm>
            <a:off x="8332118" y="5038675"/>
            <a:ext cx="3780253" cy="1438621"/>
          </a:xfrm>
          <a:prstGeom prst="rect">
            <a:avLst/>
          </a:prstGeom>
        </p:spPr>
      </p:pic>
    </p:spTree>
    <p:extLst>
      <p:ext uri="{BB962C8B-B14F-4D97-AF65-F5344CB8AC3E}">
        <p14:creationId xmlns:p14="http://schemas.microsoft.com/office/powerpoint/2010/main" val="422502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FC8E3-C85A-5DD6-FFC2-A73789C9E5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28D36BB-53E5-794D-9B61-9C824FC5DF0F}"/>
              </a:ext>
            </a:extLst>
          </p:cNvPr>
          <p:cNvSpPr txBox="1"/>
          <p:nvPr/>
        </p:nvSpPr>
        <p:spPr>
          <a:xfrm>
            <a:off x="69341" y="442020"/>
            <a:ext cx="6038851" cy="3354765"/>
          </a:xfrm>
          <a:prstGeom prst="rect">
            <a:avLst/>
          </a:prstGeom>
          <a:noFill/>
        </p:spPr>
        <p:txBody>
          <a:bodyPr wrap="square">
            <a:spAutoFit/>
          </a:bodyPr>
          <a:lstStyle/>
          <a:p>
            <a:pPr>
              <a:buNone/>
            </a:pPr>
            <a:r>
              <a:rPr lang="en-US" sz="1600" b="1" dirty="0">
                <a:solidFill>
                  <a:schemeClr val="accent6">
                    <a:lumMod val="40000"/>
                    <a:lumOff val="60000"/>
                  </a:schemeClr>
                </a:solidFill>
              </a:rPr>
              <a:t>Problem :</a:t>
            </a:r>
            <a:r>
              <a:rPr lang="en-US" sz="1600" dirty="0">
                <a:solidFill>
                  <a:schemeClr val="accent6">
                    <a:lumMod val="40000"/>
                    <a:lumOff val="60000"/>
                  </a:schemeClr>
                </a:solidFill>
              </a:rPr>
              <a:t>  In a population of metal components, the average lifetime </a:t>
            </a:r>
            <a:r>
              <a:rPr lang="el-GR" sz="1600" b="1" dirty="0">
                <a:solidFill>
                  <a:schemeClr val="accent6">
                    <a:lumMod val="40000"/>
                    <a:lumOff val="60000"/>
                  </a:schemeClr>
                </a:solidFill>
              </a:rPr>
              <a:t>μ</a:t>
            </a:r>
            <a:r>
              <a:rPr lang="en-US" sz="1600" dirty="0">
                <a:solidFill>
                  <a:schemeClr val="accent6">
                    <a:lumMod val="40000"/>
                    <a:lumOff val="60000"/>
                  </a:schemeClr>
                </a:solidFill>
              </a:rPr>
              <a:t> </a:t>
            </a:r>
            <a:r>
              <a:rPr lang="en-US" sz="1600" b="1" dirty="0">
                <a:solidFill>
                  <a:schemeClr val="accent6">
                    <a:lumMod val="40000"/>
                    <a:lumOff val="60000"/>
                  </a:schemeClr>
                </a:solidFill>
              </a:rPr>
              <a:t>without</a:t>
            </a:r>
            <a:r>
              <a:rPr lang="en-US" sz="1600" dirty="0">
                <a:solidFill>
                  <a:schemeClr val="accent6">
                    <a:lumMod val="40000"/>
                    <a:lumOff val="60000"/>
                  </a:schemeClr>
                </a:solidFill>
              </a:rPr>
              <a:t> a protective paint coating is 101</a:t>
            </a:r>
            <a:r>
              <a:rPr lang="en-US" sz="1600" b="1" dirty="0">
                <a:solidFill>
                  <a:schemeClr val="accent6">
                    <a:lumMod val="40000"/>
                    <a:lumOff val="60000"/>
                  </a:schemeClr>
                </a:solidFill>
              </a:rPr>
              <a:t> </a:t>
            </a:r>
            <a:r>
              <a:rPr lang="en-US" sz="1600" dirty="0">
                <a:solidFill>
                  <a:schemeClr val="accent6">
                    <a:lumMod val="40000"/>
                    <a:lumOff val="60000"/>
                  </a:schemeClr>
                </a:solidFill>
              </a:rPr>
              <a:t>days. The lifetime is normally distributed, and the population standard deviation </a:t>
            </a:r>
            <a:r>
              <a:rPr lang="el-GR" sz="1600" dirty="0">
                <a:solidFill>
                  <a:schemeClr val="accent6">
                    <a:lumMod val="40000"/>
                    <a:lumOff val="60000"/>
                  </a:schemeClr>
                </a:solidFill>
              </a:rPr>
              <a:t>σ</a:t>
            </a:r>
            <a:r>
              <a:rPr lang="en-US" sz="1600" dirty="0">
                <a:solidFill>
                  <a:schemeClr val="accent6">
                    <a:lumMod val="40000"/>
                    <a:lumOff val="60000"/>
                  </a:schemeClr>
                </a:solidFill>
              </a:rPr>
              <a:t> is </a:t>
            </a:r>
            <a:r>
              <a:rPr lang="en-US" sz="1600" b="1" dirty="0">
                <a:solidFill>
                  <a:schemeClr val="accent6">
                    <a:lumMod val="40000"/>
                    <a:lumOff val="60000"/>
                  </a:schemeClr>
                </a:solidFill>
              </a:rPr>
              <a:t>15 </a:t>
            </a:r>
            <a:r>
              <a:rPr lang="en-US" sz="1600" dirty="0">
                <a:solidFill>
                  <a:schemeClr val="accent6">
                    <a:lumMod val="40000"/>
                    <a:lumOff val="60000"/>
                  </a:schemeClr>
                </a:solidFill>
              </a:rPr>
              <a:t>days. An engineer claims that applying the </a:t>
            </a:r>
            <a:r>
              <a:rPr lang="en-US" sz="1600" b="1" dirty="0">
                <a:solidFill>
                  <a:schemeClr val="accent6">
                    <a:lumMod val="40000"/>
                    <a:lumOff val="60000"/>
                  </a:schemeClr>
                </a:solidFill>
              </a:rPr>
              <a:t>new</a:t>
            </a:r>
            <a:r>
              <a:rPr lang="en-US" sz="1600" dirty="0">
                <a:solidFill>
                  <a:schemeClr val="accent6">
                    <a:lumMod val="40000"/>
                    <a:lumOff val="60000"/>
                  </a:schemeClr>
                </a:solidFill>
              </a:rPr>
              <a:t> protective paint coating </a:t>
            </a:r>
            <a:r>
              <a:rPr lang="en-US" sz="1600" b="1" dirty="0">
                <a:solidFill>
                  <a:schemeClr val="accent6">
                    <a:lumMod val="40000"/>
                    <a:lumOff val="60000"/>
                  </a:schemeClr>
                </a:solidFill>
              </a:rPr>
              <a:t>increases</a:t>
            </a:r>
            <a:r>
              <a:rPr lang="en-US" sz="1600" dirty="0">
                <a:solidFill>
                  <a:schemeClr val="accent6">
                    <a:lumMod val="40000"/>
                    <a:lumOff val="60000"/>
                  </a:schemeClr>
                </a:solidFill>
              </a:rPr>
              <a:t> the mean lifetime of the component beyond 101 days.</a:t>
            </a:r>
          </a:p>
          <a:p>
            <a:r>
              <a:rPr lang="en-US" sz="1600" dirty="0">
                <a:solidFill>
                  <a:schemeClr val="accent6">
                    <a:lumMod val="40000"/>
                    <a:lumOff val="60000"/>
                  </a:schemeClr>
                </a:solidFill>
              </a:rPr>
              <a:t>She tests this claim by selecting a random sample of </a:t>
            </a:r>
            <a:r>
              <a:rPr lang="en-US" sz="1600" b="1" dirty="0">
                <a:solidFill>
                  <a:schemeClr val="accent6">
                    <a:lumMod val="40000"/>
                    <a:lumOff val="60000"/>
                  </a:schemeClr>
                </a:solidFill>
              </a:rPr>
              <a:t>50 components</a:t>
            </a:r>
            <a:r>
              <a:rPr lang="en-US" sz="1600" dirty="0">
                <a:solidFill>
                  <a:schemeClr val="accent6">
                    <a:lumMod val="40000"/>
                    <a:lumOff val="60000"/>
                  </a:schemeClr>
                </a:solidFill>
              </a:rPr>
              <a:t> with the coating and observes following lifetime:</a:t>
            </a:r>
          </a:p>
          <a:p>
            <a:r>
              <a:rPr lang="en-US" sz="1600" dirty="0">
                <a:solidFill>
                  <a:schemeClr val="accent6">
                    <a:lumMod val="40000"/>
                    <a:lumOff val="60000"/>
                  </a:schemeClr>
                </a:solidFill>
              </a:rPr>
              <a:t> [114 107 115 124 106 106 125 116 104 114 104 104 111 90 92 103 99 112 100 95 123 107 109 95 103 110 97 113 103 106 103 127 109 98 117 97 111 89 96 111 116 111 108 106 94 102 104 119 112 91]</a:t>
            </a:r>
          </a:p>
          <a:p>
            <a:r>
              <a:rPr lang="en-US" sz="1600" dirty="0">
                <a:solidFill>
                  <a:schemeClr val="accent6">
                    <a:lumMod val="40000"/>
                    <a:lumOff val="60000"/>
                  </a:schemeClr>
                </a:solidFill>
              </a:rPr>
              <a:t>The mean of above 50 samples is 107 days approx.</a:t>
            </a:r>
          </a:p>
          <a:p>
            <a:r>
              <a:rPr lang="en-US" sz="1600" dirty="0">
                <a:solidFill>
                  <a:schemeClr val="accent6">
                    <a:lumMod val="40000"/>
                    <a:lumOff val="60000"/>
                  </a:schemeClr>
                </a:solidFill>
              </a:rPr>
              <a:t>Test the engineer’s claim at significance level </a:t>
            </a:r>
            <a:r>
              <a:rPr lang="en-US" sz="1600" b="1" dirty="0">
                <a:solidFill>
                  <a:schemeClr val="accent6">
                    <a:lumMod val="40000"/>
                    <a:lumOff val="60000"/>
                  </a:schemeClr>
                </a:solidFill>
              </a:rPr>
              <a:t>α = 0.05. </a:t>
            </a:r>
            <a:r>
              <a:rPr lang="en-US" sz="1600" dirty="0">
                <a:solidFill>
                  <a:schemeClr val="accent6">
                    <a:lumMod val="40000"/>
                    <a:lumOff val="60000"/>
                  </a:schemeClr>
                </a:solidFill>
              </a:rPr>
              <a:t>Use the P-value method.</a:t>
            </a:r>
          </a:p>
        </p:txBody>
      </p:sp>
      <p:sp>
        <p:nvSpPr>
          <p:cNvPr id="4" name="TextBox 3">
            <a:extLst>
              <a:ext uri="{FF2B5EF4-FFF2-40B4-BE49-F238E27FC236}">
                <a16:creationId xmlns:a16="http://schemas.microsoft.com/office/drawing/2014/main" id="{84BCE23D-8382-A71F-AF23-86AD67ED9C5A}"/>
              </a:ext>
            </a:extLst>
          </p:cNvPr>
          <p:cNvSpPr txBox="1"/>
          <p:nvPr/>
        </p:nvSpPr>
        <p:spPr>
          <a:xfrm>
            <a:off x="137160" y="3852964"/>
            <a:ext cx="6428232" cy="2062103"/>
          </a:xfrm>
          <a:prstGeom prst="rect">
            <a:avLst/>
          </a:prstGeom>
          <a:noFill/>
        </p:spPr>
        <p:txBody>
          <a:bodyPr wrap="square">
            <a:spAutoFit/>
          </a:bodyPr>
          <a:lstStyle/>
          <a:p>
            <a:r>
              <a:rPr lang="en-US" sz="1600" dirty="0">
                <a:solidFill>
                  <a:schemeClr val="accent6">
                    <a:lumMod val="40000"/>
                    <a:lumOff val="60000"/>
                  </a:schemeClr>
                </a:solidFill>
              </a:rPr>
              <a:t>Ans:</a:t>
            </a:r>
          </a:p>
          <a:p>
            <a:r>
              <a:rPr lang="en-US" sz="1600" dirty="0">
                <a:solidFill>
                  <a:schemeClr val="accent6">
                    <a:lumMod val="40000"/>
                    <a:lumOff val="60000"/>
                  </a:schemeClr>
                </a:solidFill>
              </a:rPr>
              <a:t>Step 1) State the hypothesis and identify the claim.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H0: </a:t>
            </a:r>
            <a:r>
              <a:rPr lang="el-GR" sz="1600" dirty="0">
                <a:solidFill>
                  <a:schemeClr val="accent6">
                    <a:lumMod val="40000"/>
                    <a:lumOff val="60000"/>
                  </a:schemeClr>
                </a:solidFill>
              </a:rPr>
              <a:t>μ</a:t>
            </a:r>
            <a:r>
              <a:rPr lang="en-US" sz="1600" dirty="0">
                <a:solidFill>
                  <a:schemeClr val="accent6">
                    <a:lumMod val="40000"/>
                    <a:lumOff val="60000"/>
                  </a:schemeClr>
                </a:solidFill>
              </a:rPr>
              <a:t> = 101 (The mean lifetime is 101  days; the coating has no effect)</a:t>
            </a:r>
          </a:p>
          <a:p>
            <a:r>
              <a:rPr lang="en-US" sz="1600" dirty="0">
                <a:solidFill>
                  <a:schemeClr val="accent6">
                    <a:lumMod val="40000"/>
                    <a:lumOff val="60000"/>
                  </a:schemeClr>
                </a:solidFill>
              </a:rPr>
              <a:t>H1: </a:t>
            </a:r>
            <a:r>
              <a:rPr lang="el-GR" sz="1600" dirty="0">
                <a:solidFill>
                  <a:schemeClr val="accent6">
                    <a:lumMod val="40000"/>
                    <a:lumOff val="60000"/>
                  </a:schemeClr>
                </a:solidFill>
              </a:rPr>
              <a:t>μ</a:t>
            </a:r>
            <a:r>
              <a:rPr lang="en-US" sz="1600" dirty="0">
                <a:solidFill>
                  <a:schemeClr val="accent6">
                    <a:lumMod val="40000"/>
                    <a:lumOff val="60000"/>
                  </a:schemeClr>
                </a:solidFill>
              </a:rPr>
              <a:t> &gt;  101 ( claim: The mean lifetime &gt; 101 days; the coating increases</a:t>
            </a:r>
          </a:p>
          <a:p>
            <a:r>
              <a:rPr lang="en-US" sz="1600" dirty="0">
                <a:solidFill>
                  <a:schemeClr val="accent6">
                    <a:lumMod val="40000"/>
                    <a:lumOff val="60000"/>
                  </a:schemeClr>
                </a:solidFill>
              </a:rPr>
              <a:t>                                       the lifetime) This is right-tailed test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2) Here </a:t>
            </a:r>
            <a:r>
              <a:rPr lang="el-GR" sz="1600" dirty="0">
                <a:solidFill>
                  <a:schemeClr val="accent6">
                    <a:lumMod val="40000"/>
                    <a:lumOff val="60000"/>
                  </a:schemeClr>
                </a:solidFill>
              </a:rPr>
              <a:t>σ</a:t>
            </a:r>
            <a:r>
              <a:rPr lang="en-US" sz="1600" dirty="0">
                <a:solidFill>
                  <a:schemeClr val="accent6">
                    <a:lumMod val="40000"/>
                    <a:lumOff val="60000"/>
                  </a:schemeClr>
                </a:solidFill>
              </a:rPr>
              <a:t> is known, so compute the z test value for </a:t>
            </a:r>
            <a:r>
              <a:rPr lang="el-GR" sz="1600" dirty="0">
                <a:solidFill>
                  <a:schemeClr val="accent6">
                    <a:lumMod val="40000"/>
                    <a:lumOff val="60000"/>
                  </a:schemeClr>
                </a:solidFill>
              </a:rPr>
              <a:t>μ</a:t>
            </a:r>
            <a:r>
              <a:rPr lang="en-US" sz="1600" dirty="0">
                <a:solidFill>
                  <a:schemeClr val="accent6">
                    <a:lumMod val="40000"/>
                    <a:lumOff val="60000"/>
                  </a:schemeClr>
                </a:solidFill>
              </a:rPr>
              <a:t> = 101:</a:t>
            </a:r>
          </a:p>
        </p:txBody>
      </p:sp>
      <p:sp>
        <p:nvSpPr>
          <p:cNvPr id="7" name="TextBox 6">
            <a:extLst>
              <a:ext uri="{FF2B5EF4-FFF2-40B4-BE49-F238E27FC236}">
                <a16:creationId xmlns:a16="http://schemas.microsoft.com/office/drawing/2014/main" id="{AAA6C4CB-7E0A-435E-8CAD-790326958369}"/>
              </a:ext>
            </a:extLst>
          </p:cNvPr>
          <p:cNvSpPr txBox="1"/>
          <p:nvPr/>
        </p:nvSpPr>
        <p:spPr>
          <a:xfrm>
            <a:off x="6986017" y="569702"/>
            <a:ext cx="5215127" cy="1815882"/>
          </a:xfrm>
          <a:prstGeom prst="rect">
            <a:avLst/>
          </a:prstGeom>
          <a:noFill/>
        </p:spPr>
        <p:txBody>
          <a:bodyPr wrap="square">
            <a:spAutoFit/>
          </a:bodyPr>
          <a:lstStyle/>
          <a:p>
            <a:pPr>
              <a:buNone/>
            </a:pPr>
            <a:r>
              <a:rPr lang="en-US" sz="1600" dirty="0">
                <a:solidFill>
                  <a:schemeClr val="accent6">
                    <a:lumMod val="40000"/>
                    <a:lumOff val="60000"/>
                  </a:schemeClr>
                </a:solidFill>
              </a:rPr>
              <a:t>Step 3) Find the p-value</a:t>
            </a:r>
          </a:p>
          <a:p>
            <a:r>
              <a:rPr lang="en-US" sz="1600" dirty="0">
                <a:solidFill>
                  <a:schemeClr val="accent6">
                    <a:lumMod val="40000"/>
                    <a:lumOff val="60000"/>
                  </a:schemeClr>
                </a:solidFill>
              </a:rPr>
              <a:t>Look up the Z value in the Standard Normal table for Z=2.83</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Now, </a:t>
            </a:r>
            <a:r>
              <a:rPr lang="pl-PL" sz="1600" dirty="0">
                <a:solidFill>
                  <a:schemeClr val="accent6">
                    <a:lumMod val="40000"/>
                    <a:lumOff val="60000"/>
                  </a:schemeClr>
                </a:solidFill>
              </a:rPr>
              <a:t>P(Z&gt;2.8</a:t>
            </a:r>
            <a:r>
              <a:rPr lang="en-US" sz="1600" dirty="0">
                <a:solidFill>
                  <a:schemeClr val="accent6">
                    <a:lumMod val="40000"/>
                    <a:lumOff val="60000"/>
                  </a:schemeClr>
                </a:solidFill>
              </a:rPr>
              <a:t>3</a:t>
            </a:r>
            <a:r>
              <a:rPr lang="pl-PL" sz="1600" dirty="0">
                <a:solidFill>
                  <a:schemeClr val="accent6">
                    <a:lumMod val="40000"/>
                    <a:lumOff val="60000"/>
                  </a:schemeClr>
                </a:solidFill>
              </a:rPr>
              <a:t>)</a:t>
            </a:r>
            <a:endParaRPr lang="en-US" sz="1600" dirty="0">
              <a:solidFill>
                <a:schemeClr val="accent6">
                  <a:lumMod val="40000"/>
                  <a:lumOff val="60000"/>
                </a:schemeClr>
              </a:solidFill>
            </a:endParaRPr>
          </a:p>
          <a:p>
            <a:r>
              <a:rPr lang="pl-PL" sz="1600" dirty="0">
                <a:solidFill>
                  <a:schemeClr val="accent6">
                    <a:lumMod val="40000"/>
                    <a:lumOff val="60000"/>
                  </a:schemeClr>
                </a:solidFill>
              </a:rPr>
              <a:t>=</a:t>
            </a:r>
            <a:r>
              <a:rPr lang="en-US" sz="1600" dirty="0">
                <a:solidFill>
                  <a:schemeClr val="accent6">
                    <a:lumMod val="40000"/>
                    <a:lumOff val="60000"/>
                  </a:schemeClr>
                </a:solidFill>
              </a:rPr>
              <a:t> </a:t>
            </a:r>
            <a:r>
              <a:rPr lang="pl-PL" sz="1600" dirty="0">
                <a:solidFill>
                  <a:schemeClr val="accent6">
                    <a:lumMod val="40000"/>
                    <a:lumOff val="60000"/>
                  </a:schemeClr>
                </a:solidFill>
              </a:rPr>
              <a:t>1</a:t>
            </a:r>
            <a:r>
              <a:rPr lang="en-US" sz="1600" dirty="0">
                <a:solidFill>
                  <a:schemeClr val="accent6">
                    <a:lumMod val="40000"/>
                    <a:lumOff val="60000"/>
                  </a:schemeClr>
                </a:solidFill>
              </a:rPr>
              <a:t> </a:t>
            </a:r>
            <a:r>
              <a:rPr lang="pl-PL" sz="1600" dirty="0">
                <a:solidFill>
                  <a:schemeClr val="accent6">
                    <a:lumMod val="40000"/>
                    <a:lumOff val="60000"/>
                  </a:schemeClr>
                </a:solidFill>
              </a:rPr>
              <a:t>−</a:t>
            </a:r>
            <a:r>
              <a:rPr lang="en-US" sz="1600" dirty="0">
                <a:solidFill>
                  <a:schemeClr val="accent6">
                    <a:lumMod val="40000"/>
                    <a:lumOff val="60000"/>
                  </a:schemeClr>
                </a:solidFill>
              </a:rPr>
              <a:t> </a:t>
            </a:r>
            <a:r>
              <a:rPr lang="pl-PL" sz="1600" dirty="0">
                <a:solidFill>
                  <a:schemeClr val="accent6">
                    <a:lumMod val="40000"/>
                    <a:lumOff val="60000"/>
                  </a:schemeClr>
                </a:solidFill>
              </a:rPr>
              <a:t>P(Z&lt;2.8</a:t>
            </a:r>
            <a:r>
              <a:rPr lang="en-US" sz="1600" dirty="0">
                <a:solidFill>
                  <a:schemeClr val="accent6">
                    <a:lumMod val="40000"/>
                    <a:lumOff val="60000"/>
                  </a:schemeClr>
                </a:solidFill>
              </a:rPr>
              <a:t>3</a:t>
            </a:r>
            <a:r>
              <a:rPr lang="pl-PL" sz="1600" dirty="0">
                <a:solidFill>
                  <a:schemeClr val="accent6">
                    <a:lumMod val="40000"/>
                    <a:lumOff val="60000"/>
                  </a:schemeClr>
                </a:solidFill>
              </a:rPr>
              <a:t>)</a:t>
            </a:r>
            <a:r>
              <a:rPr lang="en-US" sz="1600" dirty="0">
                <a:solidFill>
                  <a:schemeClr val="accent6">
                    <a:lumMod val="40000"/>
                    <a:lumOff val="60000"/>
                  </a:schemeClr>
                </a:solidFill>
              </a:rPr>
              <a:t>    (here look  up in SN table)</a:t>
            </a:r>
          </a:p>
          <a:p>
            <a:r>
              <a:rPr lang="en-US" sz="1600" dirty="0">
                <a:solidFill>
                  <a:schemeClr val="accent6">
                    <a:lumMod val="40000"/>
                    <a:lumOff val="60000"/>
                  </a:schemeClr>
                </a:solidFill>
              </a:rPr>
              <a:t>= 1 – 0.9977 = 0.0023</a:t>
            </a:r>
          </a:p>
          <a:p>
            <a:r>
              <a:rPr lang="en-US" sz="1600" dirty="0">
                <a:solidFill>
                  <a:schemeClr val="accent6">
                    <a:lumMod val="40000"/>
                    <a:lumOff val="60000"/>
                  </a:schemeClr>
                </a:solidFill>
              </a:rPr>
              <a:t>So, the p-value is 0.0023           </a:t>
            </a:r>
          </a:p>
        </p:txBody>
      </p:sp>
      <p:sp>
        <p:nvSpPr>
          <p:cNvPr id="8" name="TextBox 7">
            <a:extLst>
              <a:ext uri="{FF2B5EF4-FFF2-40B4-BE49-F238E27FC236}">
                <a16:creationId xmlns:a16="http://schemas.microsoft.com/office/drawing/2014/main" id="{AE7D1940-8983-6F21-1832-EB0DB2E595E2}"/>
              </a:ext>
            </a:extLst>
          </p:cNvPr>
          <p:cNvSpPr txBox="1"/>
          <p:nvPr/>
        </p:nvSpPr>
        <p:spPr>
          <a:xfrm>
            <a:off x="6957442" y="4805635"/>
            <a:ext cx="5123688" cy="1815882"/>
          </a:xfrm>
          <a:prstGeom prst="rect">
            <a:avLst/>
          </a:prstGeom>
          <a:noFill/>
        </p:spPr>
        <p:txBody>
          <a:bodyPr wrap="square" rtlCol="0">
            <a:spAutoFit/>
          </a:bodyPr>
          <a:lstStyle/>
          <a:p>
            <a:r>
              <a:rPr lang="en-US" sz="1600" dirty="0">
                <a:solidFill>
                  <a:schemeClr val="accent6">
                    <a:lumMod val="40000"/>
                    <a:lumOff val="60000"/>
                  </a:schemeClr>
                </a:solidFill>
              </a:rPr>
              <a:t>Step 4)</a:t>
            </a:r>
          </a:p>
          <a:p>
            <a:r>
              <a:rPr lang="en-US" sz="1600" dirty="0">
                <a:solidFill>
                  <a:schemeClr val="accent6">
                    <a:lumMod val="40000"/>
                    <a:lumOff val="60000"/>
                  </a:schemeClr>
                </a:solidFill>
              </a:rPr>
              <a:t>Since the P-value 0.0023 is less than </a:t>
            </a:r>
            <a:r>
              <a:rPr lang="el-GR" sz="1600" dirty="0">
                <a:solidFill>
                  <a:schemeClr val="accent6">
                    <a:lumMod val="40000"/>
                    <a:lumOff val="60000"/>
                  </a:schemeClr>
                </a:solidFill>
              </a:rPr>
              <a:t>α</a:t>
            </a:r>
            <a:r>
              <a:rPr lang="en-US" sz="1600" dirty="0">
                <a:solidFill>
                  <a:schemeClr val="accent6">
                    <a:lumMod val="40000"/>
                    <a:lumOff val="60000"/>
                  </a:schemeClr>
                </a:solidFill>
              </a:rPr>
              <a:t> value of 0.05, we </a:t>
            </a:r>
            <a:r>
              <a:rPr lang="en-US" sz="1600" b="1" dirty="0">
                <a:solidFill>
                  <a:schemeClr val="accent6">
                    <a:lumMod val="40000"/>
                    <a:lumOff val="60000"/>
                  </a:schemeClr>
                </a:solidFill>
              </a:rPr>
              <a:t>reject the null hypothesis</a:t>
            </a:r>
            <a:r>
              <a:rPr lang="en-US" sz="1600" dirty="0">
                <a:solidFill>
                  <a:schemeClr val="accent6">
                    <a:lumMod val="40000"/>
                    <a:lumOff val="60000"/>
                  </a:schemeClr>
                </a:solidFill>
              </a:rPr>
              <a:t> at 5% significance level</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5) There </a:t>
            </a:r>
            <a:r>
              <a:rPr lang="en-US" sz="1600" b="1" dirty="0">
                <a:solidFill>
                  <a:schemeClr val="accent6">
                    <a:lumMod val="40000"/>
                    <a:lumOff val="60000"/>
                  </a:schemeClr>
                </a:solidFill>
              </a:rPr>
              <a:t>is</a:t>
            </a:r>
            <a:r>
              <a:rPr lang="en-US" sz="1600" dirty="0">
                <a:solidFill>
                  <a:schemeClr val="accent6">
                    <a:lumMod val="40000"/>
                    <a:lumOff val="60000"/>
                  </a:schemeClr>
                </a:solidFill>
              </a:rPr>
              <a:t> </a:t>
            </a:r>
            <a:r>
              <a:rPr lang="en-US" sz="1600" b="1" dirty="0">
                <a:solidFill>
                  <a:schemeClr val="accent6">
                    <a:lumMod val="40000"/>
                    <a:lumOff val="60000"/>
                  </a:schemeClr>
                </a:solidFill>
              </a:rPr>
              <a:t>enough evidence at the 5% significance level</a:t>
            </a:r>
            <a:r>
              <a:rPr lang="en-US" sz="1600" dirty="0">
                <a:solidFill>
                  <a:schemeClr val="accent6">
                    <a:lumMod val="40000"/>
                    <a:lumOff val="60000"/>
                  </a:schemeClr>
                </a:solidFill>
              </a:rPr>
              <a:t> to conclude that the new protective coating has no effect.</a:t>
            </a:r>
          </a:p>
        </p:txBody>
      </p:sp>
      <p:pic>
        <p:nvPicPr>
          <p:cNvPr id="11" name="Picture 10">
            <a:extLst>
              <a:ext uri="{FF2B5EF4-FFF2-40B4-BE49-F238E27FC236}">
                <a16:creationId xmlns:a16="http://schemas.microsoft.com/office/drawing/2014/main" id="{1A0CC63D-5166-F4C5-C4C8-C474A983E395}"/>
              </a:ext>
            </a:extLst>
          </p:cNvPr>
          <p:cNvPicPr>
            <a:picLocks noChangeAspect="1"/>
          </p:cNvPicPr>
          <p:nvPr/>
        </p:nvPicPr>
        <p:blipFill>
          <a:blip r:embed="rId2"/>
          <a:stretch>
            <a:fillRect/>
          </a:stretch>
        </p:blipFill>
        <p:spPr>
          <a:xfrm>
            <a:off x="2423159" y="6090243"/>
            <a:ext cx="3291469" cy="548578"/>
          </a:xfrm>
          <a:prstGeom prst="rect">
            <a:avLst/>
          </a:prstGeom>
        </p:spPr>
      </p:pic>
      <p:pic>
        <p:nvPicPr>
          <p:cNvPr id="13" name="Picture 12">
            <a:extLst>
              <a:ext uri="{FF2B5EF4-FFF2-40B4-BE49-F238E27FC236}">
                <a16:creationId xmlns:a16="http://schemas.microsoft.com/office/drawing/2014/main" id="{84B369E0-81DC-D7C3-BD74-05CC815B4C3E}"/>
              </a:ext>
            </a:extLst>
          </p:cNvPr>
          <p:cNvPicPr>
            <a:picLocks noChangeAspect="1"/>
          </p:cNvPicPr>
          <p:nvPr/>
        </p:nvPicPr>
        <p:blipFill>
          <a:blip r:embed="rId3"/>
          <a:stretch>
            <a:fillRect/>
          </a:stretch>
        </p:blipFill>
        <p:spPr>
          <a:xfrm>
            <a:off x="484631" y="5933539"/>
            <a:ext cx="1268215" cy="705282"/>
          </a:xfrm>
          <a:prstGeom prst="rect">
            <a:avLst/>
          </a:prstGeom>
        </p:spPr>
      </p:pic>
      <p:cxnSp>
        <p:nvCxnSpPr>
          <p:cNvPr id="18" name="Straight Connector 17">
            <a:extLst>
              <a:ext uri="{FF2B5EF4-FFF2-40B4-BE49-F238E27FC236}">
                <a16:creationId xmlns:a16="http://schemas.microsoft.com/office/drawing/2014/main" id="{33F826FC-0EC3-29A0-1C4B-EBC3AE026AF7}"/>
              </a:ext>
            </a:extLst>
          </p:cNvPr>
          <p:cNvCxnSpPr/>
          <p:nvPr/>
        </p:nvCxnSpPr>
        <p:spPr>
          <a:xfrm>
            <a:off x="6391656" y="512064"/>
            <a:ext cx="0" cy="6217920"/>
          </a:xfrm>
          <a:prstGeom prst="line">
            <a:avLst/>
          </a:prstGeom>
        </p:spPr>
        <p:style>
          <a:lnRef idx="3">
            <a:schemeClr val="accent2"/>
          </a:lnRef>
          <a:fillRef idx="0">
            <a:schemeClr val="accent2"/>
          </a:fillRef>
          <a:effectRef idx="2">
            <a:schemeClr val="accent2"/>
          </a:effectRef>
          <a:fontRef idx="minor">
            <a:schemeClr val="tx1"/>
          </a:fontRef>
        </p:style>
      </p:cxnSp>
      <p:sp>
        <p:nvSpPr>
          <p:cNvPr id="23" name="Title 1">
            <a:extLst>
              <a:ext uri="{FF2B5EF4-FFF2-40B4-BE49-F238E27FC236}">
                <a16:creationId xmlns:a16="http://schemas.microsoft.com/office/drawing/2014/main" id="{A499A972-1C59-075D-BD24-321A6D6E8088}"/>
              </a:ext>
            </a:extLst>
          </p:cNvPr>
          <p:cNvSpPr txBox="1">
            <a:spLocks/>
          </p:cNvSpPr>
          <p:nvPr/>
        </p:nvSpPr>
        <p:spPr>
          <a:xfrm>
            <a:off x="694944" y="136525"/>
            <a:ext cx="10908789" cy="3452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chemeClr val="accent6">
                    <a:lumMod val="40000"/>
                    <a:lumOff val="60000"/>
                  </a:schemeClr>
                </a:solidFill>
              </a:rPr>
              <a:t>P-value: Applications</a:t>
            </a:r>
          </a:p>
        </p:txBody>
      </p:sp>
      <p:pic>
        <p:nvPicPr>
          <p:cNvPr id="2" name="Picture 1">
            <a:extLst>
              <a:ext uri="{FF2B5EF4-FFF2-40B4-BE49-F238E27FC236}">
                <a16:creationId xmlns:a16="http://schemas.microsoft.com/office/drawing/2014/main" id="{3803AA42-E322-26AF-64B7-C0FF3AC9197B}"/>
              </a:ext>
            </a:extLst>
          </p:cNvPr>
          <p:cNvPicPr>
            <a:picLocks noChangeAspect="1"/>
          </p:cNvPicPr>
          <p:nvPr/>
        </p:nvPicPr>
        <p:blipFill>
          <a:blip r:embed="rId4"/>
          <a:stretch>
            <a:fillRect/>
          </a:stretch>
        </p:blipFill>
        <p:spPr>
          <a:xfrm>
            <a:off x="6871717" y="2438400"/>
            <a:ext cx="5289409" cy="2224517"/>
          </a:xfrm>
          <a:prstGeom prst="rect">
            <a:avLst/>
          </a:prstGeom>
        </p:spPr>
      </p:pic>
    </p:spTree>
    <p:extLst>
      <p:ext uri="{BB962C8B-B14F-4D97-AF65-F5344CB8AC3E}">
        <p14:creationId xmlns:p14="http://schemas.microsoft.com/office/powerpoint/2010/main" val="1193062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EDF40-B971-B13C-1C04-1893E4B3B9F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1F5D89-63FA-E9A8-61BF-3C78130F6743}"/>
              </a:ext>
            </a:extLst>
          </p:cNvPr>
          <p:cNvPicPr>
            <a:picLocks noChangeAspect="1"/>
          </p:cNvPicPr>
          <p:nvPr/>
        </p:nvPicPr>
        <p:blipFill>
          <a:blip r:embed="rId2"/>
          <a:stretch>
            <a:fillRect/>
          </a:stretch>
        </p:blipFill>
        <p:spPr>
          <a:xfrm>
            <a:off x="64008" y="413363"/>
            <a:ext cx="11905488" cy="6477279"/>
          </a:xfrm>
          <a:prstGeom prst="rect">
            <a:avLst/>
          </a:prstGeom>
        </p:spPr>
      </p:pic>
      <p:sp>
        <p:nvSpPr>
          <p:cNvPr id="2" name="TextBox 1">
            <a:extLst>
              <a:ext uri="{FF2B5EF4-FFF2-40B4-BE49-F238E27FC236}">
                <a16:creationId xmlns:a16="http://schemas.microsoft.com/office/drawing/2014/main" id="{2CF666E7-7A80-312B-0C53-3D7CA45EA6B2}"/>
              </a:ext>
            </a:extLst>
          </p:cNvPr>
          <p:cNvSpPr txBox="1"/>
          <p:nvPr/>
        </p:nvSpPr>
        <p:spPr>
          <a:xfrm>
            <a:off x="877824" y="10291"/>
            <a:ext cx="10707624" cy="369332"/>
          </a:xfrm>
          <a:prstGeom prst="rect">
            <a:avLst/>
          </a:prstGeom>
          <a:noFill/>
        </p:spPr>
        <p:txBody>
          <a:bodyPr wrap="square" rtlCol="0">
            <a:spAutoFit/>
          </a:bodyPr>
          <a:lstStyle/>
          <a:p>
            <a:pPr algn="ctr"/>
            <a:r>
              <a:rPr lang="en-US" b="1" dirty="0">
                <a:solidFill>
                  <a:schemeClr val="accent6">
                    <a:lumMod val="60000"/>
                    <a:lumOff val="40000"/>
                  </a:schemeClr>
                </a:solidFill>
              </a:rPr>
              <a:t>Computing p-value programmatically</a:t>
            </a:r>
          </a:p>
        </p:txBody>
      </p:sp>
      <p:pic>
        <p:nvPicPr>
          <p:cNvPr id="5" name="Picture 4">
            <a:extLst>
              <a:ext uri="{FF2B5EF4-FFF2-40B4-BE49-F238E27FC236}">
                <a16:creationId xmlns:a16="http://schemas.microsoft.com/office/drawing/2014/main" id="{792FD46F-37C5-37DE-ED76-105C2A2AE4E2}"/>
              </a:ext>
            </a:extLst>
          </p:cNvPr>
          <p:cNvPicPr>
            <a:picLocks noChangeAspect="1"/>
          </p:cNvPicPr>
          <p:nvPr/>
        </p:nvPicPr>
        <p:blipFill>
          <a:blip r:embed="rId3"/>
          <a:stretch>
            <a:fillRect/>
          </a:stretch>
        </p:blipFill>
        <p:spPr>
          <a:xfrm>
            <a:off x="6871717" y="2438400"/>
            <a:ext cx="5289409" cy="2224517"/>
          </a:xfrm>
          <a:prstGeom prst="rect">
            <a:avLst/>
          </a:prstGeom>
        </p:spPr>
      </p:pic>
    </p:spTree>
    <p:extLst>
      <p:ext uri="{BB962C8B-B14F-4D97-AF65-F5344CB8AC3E}">
        <p14:creationId xmlns:p14="http://schemas.microsoft.com/office/powerpoint/2010/main" val="1755382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EDC36-7330-1C95-DC12-A59E3EEA42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938452-8B7B-0BCF-6AD2-B1740590E52A}"/>
              </a:ext>
            </a:extLst>
          </p:cNvPr>
          <p:cNvSpPr txBox="1"/>
          <p:nvPr/>
        </p:nvSpPr>
        <p:spPr>
          <a:xfrm>
            <a:off x="128016" y="2819692"/>
            <a:ext cx="6094476" cy="2062103"/>
          </a:xfrm>
          <a:prstGeom prst="rect">
            <a:avLst/>
          </a:prstGeom>
          <a:noFill/>
        </p:spPr>
        <p:txBody>
          <a:bodyPr wrap="square">
            <a:spAutoFit/>
          </a:bodyPr>
          <a:lstStyle/>
          <a:p>
            <a:r>
              <a:rPr lang="en-US" sz="1600" dirty="0">
                <a:solidFill>
                  <a:schemeClr val="accent6">
                    <a:lumMod val="40000"/>
                    <a:lumOff val="60000"/>
                  </a:schemeClr>
                </a:solidFill>
              </a:rPr>
              <a:t>Ans:</a:t>
            </a:r>
          </a:p>
          <a:p>
            <a:r>
              <a:rPr lang="en-US" sz="1600" dirty="0">
                <a:solidFill>
                  <a:schemeClr val="accent6">
                    <a:lumMod val="40000"/>
                    <a:lumOff val="60000"/>
                  </a:schemeClr>
                </a:solidFill>
              </a:rPr>
              <a:t>Step 1) State the hypothesis and identify the claim.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H0: </a:t>
            </a:r>
            <a:r>
              <a:rPr lang="el-GR" sz="1600" dirty="0">
                <a:solidFill>
                  <a:schemeClr val="accent6">
                    <a:lumMod val="40000"/>
                    <a:lumOff val="60000"/>
                  </a:schemeClr>
                </a:solidFill>
              </a:rPr>
              <a:t>μ</a:t>
            </a:r>
            <a:r>
              <a:rPr lang="en-US" sz="1600" dirty="0">
                <a:solidFill>
                  <a:schemeClr val="accent6">
                    <a:lumMod val="40000"/>
                    <a:lumOff val="60000"/>
                  </a:schemeClr>
                </a:solidFill>
              </a:rPr>
              <a:t> = 5 ppm ( No improvement )</a:t>
            </a:r>
          </a:p>
          <a:p>
            <a:r>
              <a:rPr lang="en-US" sz="1600" dirty="0">
                <a:solidFill>
                  <a:schemeClr val="accent6">
                    <a:lumMod val="40000"/>
                    <a:lumOff val="60000"/>
                  </a:schemeClr>
                </a:solidFill>
              </a:rPr>
              <a:t>H1: </a:t>
            </a:r>
            <a:r>
              <a:rPr lang="el-GR" sz="1600" dirty="0">
                <a:solidFill>
                  <a:schemeClr val="accent6">
                    <a:lumMod val="40000"/>
                    <a:lumOff val="60000"/>
                  </a:schemeClr>
                </a:solidFill>
              </a:rPr>
              <a:t>μ</a:t>
            </a:r>
            <a:r>
              <a:rPr lang="en-US" sz="1600" dirty="0">
                <a:solidFill>
                  <a:schemeClr val="accent6">
                    <a:lumMod val="40000"/>
                    <a:lumOff val="60000"/>
                  </a:schemeClr>
                </a:solidFill>
              </a:rPr>
              <a:t> &lt; 5 ppm ( Claim: System reduces mean contaminant level ) </a:t>
            </a:r>
          </a:p>
          <a:p>
            <a:r>
              <a:rPr lang="en-US" sz="1600" dirty="0">
                <a:solidFill>
                  <a:schemeClr val="accent6">
                    <a:lumMod val="40000"/>
                    <a:lumOff val="60000"/>
                  </a:schemeClr>
                </a:solidFill>
              </a:rPr>
              <a:t>                        This is left-tailed test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2) Here </a:t>
            </a:r>
            <a:r>
              <a:rPr lang="el-GR" sz="1600" dirty="0">
                <a:solidFill>
                  <a:schemeClr val="accent6">
                    <a:lumMod val="40000"/>
                    <a:lumOff val="60000"/>
                  </a:schemeClr>
                </a:solidFill>
              </a:rPr>
              <a:t>σ</a:t>
            </a:r>
            <a:r>
              <a:rPr lang="en-US" sz="1600" dirty="0">
                <a:solidFill>
                  <a:schemeClr val="accent6">
                    <a:lumMod val="40000"/>
                    <a:lumOff val="60000"/>
                  </a:schemeClr>
                </a:solidFill>
              </a:rPr>
              <a:t> is known, so compute the z test value .</a:t>
            </a:r>
          </a:p>
        </p:txBody>
      </p:sp>
      <p:sp>
        <p:nvSpPr>
          <p:cNvPr id="3" name="TextBox 2">
            <a:extLst>
              <a:ext uri="{FF2B5EF4-FFF2-40B4-BE49-F238E27FC236}">
                <a16:creationId xmlns:a16="http://schemas.microsoft.com/office/drawing/2014/main" id="{C9686507-F19D-72F6-431B-8E19D4ECA745}"/>
              </a:ext>
            </a:extLst>
          </p:cNvPr>
          <p:cNvSpPr txBox="1"/>
          <p:nvPr/>
        </p:nvSpPr>
        <p:spPr>
          <a:xfrm>
            <a:off x="139446" y="533460"/>
            <a:ext cx="6094476" cy="1815882"/>
          </a:xfrm>
          <a:prstGeom prst="rect">
            <a:avLst/>
          </a:prstGeom>
          <a:noFill/>
        </p:spPr>
        <p:txBody>
          <a:bodyPr wrap="square">
            <a:spAutoFit/>
          </a:bodyPr>
          <a:lstStyle/>
          <a:p>
            <a:pPr>
              <a:buNone/>
            </a:pPr>
            <a:r>
              <a:rPr lang="en-US" sz="1600" b="1" dirty="0">
                <a:solidFill>
                  <a:schemeClr val="accent6">
                    <a:lumMod val="40000"/>
                    <a:lumOff val="60000"/>
                  </a:schemeClr>
                </a:solidFill>
              </a:rPr>
              <a:t>Problem:</a:t>
            </a:r>
            <a:r>
              <a:rPr lang="en-US" sz="1600" dirty="0">
                <a:solidFill>
                  <a:schemeClr val="accent6">
                    <a:lumMod val="40000"/>
                    <a:lumOff val="60000"/>
                  </a:schemeClr>
                </a:solidFill>
              </a:rPr>
              <a:t> A water treatment plant claims their new filtration system reduces contaminant levels to </a:t>
            </a:r>
            <a:r>
              <a:rPr lang="en-US" sz="1600" b="1" dirty="0">
                <a:solidFill>
                  <a:schemeClr val="accent6">
                    <a:lumMod val="40000"/>
                    <a:lumOff val="60000"/>
                  </a:schemeClr>
                </a:solidFill>
              </a:rPr>
              <a:t>below 5 ppm which is the population mean </a:t>
            </a:r>
            <a:r>
              <a:rPr lang="el-GR" sz="1600" b="1" dirty="0">
                <a:solidFill>
                  <a:schemeClr val="accent6">
                    <a:lumMod val="40000"/>
                    <a:lumOff val="60000"/>
                  </a:schemeClr>
                </a:solidFill>
              </a:rPr>
              <a:t>μ</a:t>
            </a:r>
            <a:r>
              <a:rPr lang="en-US" sz="1600" b="1" dirty="0">
                <a:solidFill>
                  <a:schemeClr val="accent6">
                    <a:lumMod val="40000"/>
                    <a:lumOff val="60000"/>
                  </a:schemeClr>
                </a:solidFill>
              </a:rPr>
              <a:t>.</a:t>
            </a:r>
            <a:r>
              <a:rPr lang="en-US" sz="1600" dirty="0">
                <a:solidFill>
                  <a:schemeClr val="accent6">
                    <a:lumMod val="40000"/>
                    <a:lumOff val="60000"/>
                  </a:schemeClr>
                </a:solidFill>
              </a:rPr>
              <a:t> Environmental engineers want to verify the claim.</a:t>
            </a:r>
          </a:p>
          <a:p>
            <a:r>
              <a:rPr lang="en-US" sz="1600" dirty="0">
                <a:solidFill>
                  <a:schemeClr val="accent6">
                    <a:lumMod val="40000"/>
                    <a:lumOff val="60000"/>
                  </a:schemeClr>
                </a:solidFill>
              </a:rPr>
              <a:t>A random sample of </a:t>
            </a:r>
            <a:r>
              <a:rPr lang="en-US" sz="1600" b="1" dirty="0">
                <a:solidFill>
                  <a:schemeClr val="accent6">
                    <a:lumMod val="40000"/>
                    <a:lumOff val="60000"/>
                  </a:schemeClr>
                </a:solidFill>
              </a:rPr>
              <a:t>60 water samples</a:t>
            </a:r>
            <a:r>
              <a:rPr lang="en-US" sz="1600" dirty="0">
                <a:solidFill>
                  <a:schemeClr val="accent6">
                    <a:lumMod val="40000"/>
                    <a:lumOff val="60000"/>
                  </a:schemeClr>
                </a:solidFill>
              </a:rPr>
              <a:t> is taken after treatment. The sample shows a mean contaminant level of </a:t>
            </a:r>
            <a:r>
              <a:rPr lang="en-US" sz="1600" b="1" dirty="0">
                <a:solidFill>
                  <a:schemeClr val="accent6">
                    <a:lumMod val="40000"/>
                    <a:lumOff val="60000"/>
                  </a:schemeClr>
                </a:solidFill>
              </a:rPr>
              <a:t>4.9 ppm</a:t>
            </a:r>
            <a:r>
              <a:rPr lang="en-US" sz="1600" dirty="0">
                <a:solidFill>
                  <a:schemeClr val="accent6">
                    <a:lumMod val="40000"/>
                    <a:lumOff val="60000"/>
                  </a:schemeClr>
                </a:solidFill>
              </a:rPr>
              <a:t>, with a known population standard deviation </a:t>
            </a:r>
            <a:r>
              <a:rPr lang="el-GR" sz="1600" dirty="0">
                <a:solidFill>
                  <a:schemeClr val="accent6">
                    <a:lumMod val="40000"/>
                    <a:lumOff val="60000"/>
                  </a:schemeClr>
                </a:solidFill>
              </a:rPr>
              <a:t>σ</a:t>
            </a:r>
            <a:r>
              <a:rPr lang="en-US" sz="1600" dirty="0">
                <a:solidFill>
                  <a:schemeClr val="accent6">
                    <a:lumMod val="40000"/>
                    <a:lumOff val="60000"/>
                  </a:schemeClr>
                </a:solidFill>
              </a:rPr>
              <a:t> of </a:t>
            </a:r>
            <a:r>
              <a:rPr lang="en-US" sz="1600" b="1" dirty="0">
                <a:solidFill>
                  <a:schemeClr val="accent6">
                    <a:lumMod val="40000"/>
                    <a:lumOff val="60000"/>
                  </a:schemeClr>
                </a:solidFill>
              </a:rPr>
              <a:t>0.8 ppm</a:t>
            </a:r>
            <a:r>
              <a:rPr lang="en-US" sz="1600" dirty="0">
                <a:solidFill>
                  <a:schemeClr val="accent6">
                    <a:lumMod val="40000"/>
                    <a:lumOff val="60000"/>
                  </a:schemeClr>
                </a:solidFill>
              </a:rPr>
              <a:t>. Test the water treatment plant claim at significance level </a:t>
            </a:r>
            <a:r>
              <a:rPr lang="en-US" sz="1600" b="1" dirty="0">
                <a:solidFill>
                  <a:schemeClr val="accent6">
                    <a:lumMod val="40000"/>
                    <a:lumOff val="60000"/>
                  </a:schemeClr>
                </a:solidFill>
              </a:rPr>
              <a:t>α = 0.10</a:t>
            </a:r>
            <a:r>
              <a:rPr lang="en-US" sz="1600" dirty="0">
                <a:solidFill>
                  <a:schemeClr val="accent6">
                    <a:lumMod val="40000"/>
                    <a:lumOff val="60000"/>
                  </a:schemeClr>
                </a:solidFill>
              </a:rPr>
              <a:t>. </a:t>
            </a:r>
          </a:p>
        </p:txBody>
      </p:sp>
      <p:cxnSp>
        <p:nvCxnSpPr>
          <p:cNvPr id="5" name="Straight Connector 4">
            <a:extLst>
              <a:ext uri="{FF2B5EF4-FFF2-40B4-BE49-F238E27FC236}">
                <a16:creationId xmlns:a16="http://schemas.microsoft.com/office/drawing/2014/main" id="{3AB3B378-1784-A284-E15D-E1DD137D87AA}"/>
              </a:ext>
            </a:extLst>
          </p:cNvPr>
          <p:cNvCxnSpPr/>
          <p:nvPr/>
        </p:nvCxnSpPr>
        <p:spPr>
          <a:xfrm>
            <a:off x="6364224" y="512064"/>
            <a:ext cx="0" cy="6217920"/>
          </a:xfrm>
          <a:prstGeom prst="line">
            <a:avLst/>
          </a:prstGeom>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4712CEE8-90AD-96EC-60B6-E7B2704D0E5A}"/>
              </a:ext>
            </a:extLst>
          </p:cNvPr>
          <p:cNvSpPr txBox="1"/>
          <p:nvPr/>
        </p:nvSpPr>
        <p:spPr>
          <a:xfrm>
            <a:off x="6499103" y="543229"/>
            <a:ext cx="5607550" cy="1323439"/>
          </a:xfrm>
          <a:prstGeom prst="rect">
            <a:avLst/>
          </a:prstGeom>
          <a:noFill/>
        </p:spPr>
        <p:txBody>
          <a:bodyPr wrap="square">
            <a:spAutoFit/>
          </a:bodyPr>
          <a:lstStyle/>
          <a:p>
            <a:r>
              <a:rPr lang="en-US" sz="1600" dirty="0">
                <a:solidFill>
                  <a:schemeClr val="accent6">
                    <a:lumMod val="40000"/>
                    <a:lumOff val="60000"/>
                  </a:schemeClr>
                </a:solidFill>
              </a:rPr>
              <a:t>Step 3)  Find the p-value</a:t>
            </a:r>
          </a:p>
          <a:p>
            <a:r>
              <a:rPr lang="en-US" sz="1600" dirty="0">
                <a:solidFill>
                  <a:schemeClr val="accent6">
                    <a:lumMod val="40000"/>
                    <a:lumOff val="60000"/>
                  </a:schemeClr>
                </a:solidFill>
              </a:rPr>
              <a:t>Look up the Z value in the Standard Normal table for Z = -0.97</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Now P( Z &lt; -0.97) = 0.1660</a:t>
            </a:r>
          </a:p>
          <a:p>
            <a:r>
              <a:rPr lang="en-US" sz="1600" dirty="0">
                <a:solidFill>
                  <a:schemeClr val="accent6">
                    <a:lumMod val="40000"/>
                    <a:lumOff val="60000"/>
                  </a:schemeClr>
                </a:solidFill>
              </a:rPr>
              <a:t>So, the p-value is 0.1660</a:t>
            </a:r>
          </a:p>
        </p:txBody>
      </p:sp>
      <p:sp>
        <p:nvSpPr>
          <p:cNvPr id="7" name="TextBox 6">
            <a:extLst>
              <a:ext uri="{FF2B5EF4-FFF2-40B4-BE49-F238E27FC236}">
                <a16:creationId xmlns:a16="http://schemas.microsoft.com/office/drawing/2014/main" id="{840F2911-0CE5-E605-0D5F-8911A929B341}"/>
              </a:ext>
            </a:extLst>
          </p:cNvPr>
          <p:cNvSpPr txBox="1"/>
          <p:nvPr/>
        </p:nvSpPr>
        <p:spPr>
          <a:xfrm>
            <a:off x="6522341" y="4593455"/>
            <a:ext cx="5648702" cy="2308324"/>
          </a:xfrm>
          <a:prstGeom prst="rect">
            <a:avLst/>
          </a:prstGeom>
          <a:noFill/>
        </p:spPr>
        <p:txBody>
          <a:bodyPr wrap="square">
            <a:spAutoFit/>
          </a:bodyPr>
          <a:lstStyle/>
          <a:p>
            <a:r>
              <a:rPr lang="en-US" sz="1600" dirty="0">
                <a:solidFill>
                  <a:schemeClr val="accent6">
                    <a:lumMod val="40000"/>
                    <a:lumOff val="60000"/>
                  </a:schemeClr>
                </a:solidFill>
              </a:rPr>
              <a:t>Step 4)</a:t>
            </a:r>
          </a:p>
          <a:p>
            <a:r>
              <a:rPr lang="en-US" sz="1600" dirty="0">
                <a:solidFill>
                  <a:schemeClr val="accent6">
                    <a:lumMod val="40000"/>
                    <a:lumOff val="60000"/>
                  </a:schemeClr>
                </a:solidFill>
              </a:rPr>
              <a:t>Since the P-value 0.1660 is greater than </a:t>
            </a:r>
            <a:r>
              <a:rPr lang="el-GR" sz="1600" dirty="0">
                <a:solidFill>
                  <a:schemeClr val="accent6">
                    <a:lumMod val="40000"/>
                    <a:lumOff val="60000"/>
                  </a:schemeClr>
                </a:solidFill>
              </a:rPr>
              <a:t>α</a:t>
            </a:r>
            <a:r>
              <a:rPr lang="en-US" sz="1600" dirty="0">
                <a:solidFill>
                  <a:schemeClr val="accent6">
                    <a:lumMod val="40000"/>
                    <a:lumOff val="60000"/>
                  </a:schemeClr>
                </a:solidFill>
              </a:rPr>
              <a:t> value of 0.10, we do </a:t>
            </a:r>
            <a:r>
              <a:rPr lang="en-US" sz="1600" b="1" dirty="0">
                <a:solidFill>
                  <a:schemeClr val="accent6">
                    <a:lumMod val="40000"/>
                    <a:lumOff val="60000"/>
                  </a:schemeClr>
                </a:solidFill>
              </a:rPr>
              <a:t>not reject the null hypothesis</a:t>
            </a:r>
            <a:r>
              <a:rPr lang="en-US" sz="1600" dirty="0">
                <a:solidFill>
                  <a:schemeClr val="accent6">
                    <a:lumMod val="40000"/>
                    <a:lumOff val="60000"/>
                  </a:schemeClr>
                </a:solidFill>
              </a:rPr>
              <a:t> at 10% significance level</a:t>
            </a:r>
          </a:p>
          <a:p>
            <a:endParaRPr lang="en-US" sz="1600" dirty="0">
              <a:solidFill>
                <a:schemeClr val="accent6">
                  <a:lumMod val="40000"/>
                  <a:lumOff val="60000"/>
                </a:schemeClr>
              </a:solidFill>
            </a:endParaRPr>
          </a:p>
          <a:p>
            <a:r>
              <a:rPr lang="en-US" sz="1600" dirty="0">
                <a:solidFill>
                  <a:schemeClr val="accent6">
                    <a:lumMod val="60000"/>
                    <a:lumOff val="40000"/>
                  </a:schemeClr>
                </a:solidFill>
              </a:rPr>
              <a:t>Step 5) </a:t>
            </a:r>
          </a:p>
          <a:p>
            <a:r>
              <a:rPr lang="en-US" sz="1600" dirty="0">
                <a:solidFill>
                  <a:schemeClr val="accent6">
                    <a:lumMod val="60000"/>
                    <a:lumOff val="40000"/>
                  </a:schemeClr>
                </a:solidFill>
              </a:rPr>
              <a:t>Although the sample mean (4.9 ppm) is lower than 5 ppm, there is </a:t>
            </a:r>
            <a:r>
              <a:rPr lang="en-US" sz="1600" b="1" dirty="0">
                <a:solidFill>
                  <a:schemeClr val="accent6">
                    <a:lumMod val="60000"/>
                    <a:lumOff val="40000"/>
                  </a:schemeClr>
                </a:solidFill>
              </a:rPr>
              <a:t>not enough evidence at the 10% level</a:t>
            </a:r>
            <a:r>
              <a:rPr lang="en-US" sz="1600" dirty="0">
                <a:solidFill>
                  <a:schemeClr val="accent6">
                    <a:lumMod val="60000"/>
                    <a:lumOff val="40000"/>
                  </a:schemeClr>
                </a:solidFill>
              </a:rPr>
              <a:t> to conclude that the  new filtration system reduces contaminant level.</a:t>
            </a:r>
          </a:p>
          <a:p>
            <a:endParaRPr lang="en-US" sz="1600" dirty="0">
              <a:solidFill>
                <a:schemeClr val="accent6">
                  <a:lumMod val="40000"/>
                  <a:lumOff val="60000"/>
                </a:schemeClr>
              </a:solidFill>
            </a:endParaRPr>
          </a:p>
        </p:txBody>
      </p:sp>
      <p:pic>
        <p:nvPicPr>
          <p:cNvPr id="9" name="Picture 8">
            <a:extLst>
              <a:ext uri="{FF2B5EF4-FFF2-40B4-BE49-F238E27FC236}">
                <a16:creationId xmlns:a16="http://schemas.microsoft.com/office/drawing/2014/main" id="{4D5B04F3-4495-5C24-26E1-CB8E7D74D1C2}"/>
              </a:ext>
            </a:extLst>
          </p:cNvPr>
          <p:cNvPicPr>
            <a:picLocks noChangeAspect="1"/>
          </p:cNvPicPr>
          <p:nvPr/>
        </p:nvPicPr>
        <p:blipFill>
          <a:blip r:embed="rId2"/>
          <a:stretch>
            <a:fillRect/>
          </a:stretch>
        </p:blipFill>
        <p:spPr>
          <a:xfrm>
            <a:off x="231442" y="5191726"/>
            <a:ext cx="1268215" cy="705282"/>
          </a:xfrm>
          <a:prstGeom prst="rect">
            <a:avLst/>
          </a:prstGeom>
        </p:spPr>
      </p:pic>
      <p:pic>
        <p:nvPicPr>
          <p:cNvPr id="11" name="Picture 10">
            <a:extLst>
              <a:ext uri="{FF2B5EF4-FFF2-40B4-BE49-F238E27FC236}">
                <a16:creationId xmlns:a16="http://schemas.microsoft.com/office/drawing/2014/main" id="{24363363-B682-2732-9FEC-5285B2127386}"/>
              </a:ext>
            </a:extLst>
          </p:cNvPr>
          <p:cNvPicPr>
            <a:picLocks noChangeAspect="1"/>
          </p:cNvPicPr>
          <p:nvPr/>
        </p:nvPicPr>
        <p:blipFill>
          <a:blip r:embed="rId3"/>
          <a:stretch>
            <a:fillRect/>
          </a:stretch>
        </p:blipFill>
        <p:spPr>
          <a:xfrm>
            <a:off x="1805507" y="5191726"/>
            <a:ext cx="4464991" cy="739600"/>
          </a:xfrm>
          <a:prstGeom prst="rect">
            <a:avLst/>
          </a:prstGeom>
        </p:spPr>
      </p:pic>
      <p:sp>
        <p:nvSpPr>
          <p:cNvPr id="16" name="Title 1">
            <a:extLst>
              <a:ext uri="{FF2B5EF4-FFF2-40B4-BE49-F238E27FC236}">
                <a16:creationId xmlns:a16="http://schemas.microsoft.com/office/drawing/2014/main" id="{20EBDA32-0597-7D71-DB49-35148CF19B19}"/>
              </a:ext>
            </a:extLst>
          </p:cNvPr>
          <p:cNvSpPr txBox="1">
            <a:spLocks/>
          </p:cNvSpPr>
          <p:nvPr/>
        </p:nvSpPr>
        <p:spPr>
          <a:xfrm>
            <a:off x="694944" y="136525"/>
            <a:ext cx="10908789" cy="3452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chemeClr val="accent6">
                    <a:lumMod val="40000"/>
                    <a:lumOff val="60000"/>
                  </a:schemeClr>
                </a:solidFill>
              </a:rPr>
              <a:t>P-value: Applications</a:t>
            </a:r>
          </a:p>
        </p:txBody>
      </p:sp>
      <p:pic>
        <p:nvPicPr>
          <p:cNvPr id="10" name="Picture 9">
            <a:extLst>
              <a:ext uri="{FF2B5EF4-FFF2-40B4-BE49-F238E27FC236}">
                <a16:creationId xmlns:a16="http://schemas.microsoft.com/office/drawing/2014/main" id="{50D70208-1E3A-7C76-47FE-E0830E559CE1}"/>
              </a:ext>
            </a:extLst>
          </p:cNvPr>
          <p:cNvPicPr>
            <a:picLocks noChangeAspect="1"/>
          </p:cNvPicPr>
          <p:nvPr/>
        </p:nvPicPr>
        <p:blipFill>
          <a:blip r:embed="rId4"/>
          <a:stretch>
            <a:fillRect/>
          </a:stretch>
        </p:blipFill>
        <p:spPr>
          <a:xfrm>
            <a:off x="6719613" y="2042464"/>
            <a:ext cx="5166529" cy="2474791"/>
          </a:xfrm>
          <a:prstGeom prst="rect">
            <a:avLst/>
          </a:prstGeom>
        </p:spPr>
      </p:pic>
    </p:spTree>
    <p:extLst>
      <p:ext uri="{BB962C8B-B14F-4D97-AF65-F5344CB8AC3E}">
        <p14:creationId xmlns:p14="http://schemas.microsoft.com/office/powerpoint/2010/main" val="912599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40D46-861F-2C35-37CA-AA013A89CC1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6082263-0003-CB39-CBF5-D33F77FEC370}"/>
              </a:ext>
            </a:extLst>
          </p:cNvPr>
          <p:cNvPicPr>
            <a:picLocks noChangeAspect="1"/>
          </p:cNvPicPr>
          <p:nvPr/>
        </p:nvPicPr>
        <p:blipFill>
          <a:blip r:embed="rId2"/>
          <a:stretch>
            <a:fillRect/>
          </a:stretch>
        </p:blipFill>
        <p:spPr>
          <a:xfrm>
            <a:off x="145078" y="566928"/>
            <a:ext cx="11766013" cy="6259705"/>
          </a:xfrm>
          <a:prstGeom prst="rect">
            <a:avLst/>
          </a:prstGeom>
        </p:spPr>
      </p:pic>
      <p:sp>
        <p:nvSpPr>
          <p:cNvPr id="2" name="TextBox 1">
            <a:extLst>
              <a:ext uri="{FF2B5EF4-FFF2-40B4-BE49-F238E27FC236}">
                <a16:creationId xmlns:a16="http://schemas.microsoft.com/office/drawing/2014/main" id="{237F18AC-FA15-8B0D-2D30-250C8F665601}"/>
              </a:ext>
            </a:extLst>
          </p:cNvPr>
          <p:cNvSpPr txBox="1"/>
          <p:nvPr/>
        </p:nvSpPr>
        <p:spPr>
          <a:xfrm>
            <a:off x="877824" y="10291"/>
            <a:ext cx="10707624" cy="369332"/>
          </a:xfrm>
          <a:prstGeom prst="rect">
            <a:avLst/>
          </a:prstGeom>
          <a:noFill/>
        </p:spPr>
        <p:txBody>
          <a:bodyPr wrap="square" rtlCol="0">
            <a:spAutoFit/>
          </a:bodyPr>
          <a:lstStyle/>
          <a:p>
            <a:pPr algn="ctr"/>
            <a:r>
              <a:rPr lang="en-US" b="1" dirty="0">
                <a:solidFill>
                  <a:schemeClr val="accent6">
                    <a:lumMod val="60000"/>
                    <a:lumOff val="40000"/>
                  </a:schemeClr>
                </a:solidFill>
              </a:rPr>
              <a:t>Computing p-value programmatically</a:t>
            </a:r>
          </a:p>
        </p:txBody>
      </p:sp>
      <p:pic>
        <p:nvPicPr>
          <p:cNvPr id="3" name="Picture 2">
            <a:extLst>
              <a:ext uri="{FF2B5EF4-FFF2-40B4-BE49-F238E27FC236}">
                <a16:creationId xmlns:a16="http://schemas.microsoft.com/office/drawing/2014/main" id="{1A6B7A7F-3CA7-2FF8-5B03-73C227880062}"/>
              </a:ext>
            </a:extLst>
          </p:cNvPr>
          <p:cNvPicPr>
            <a:picLocks noChangeAspect="1"/>
          </p:cNvPicPr>
          <p:nvPr/>
        </p:nvPicPr>
        <p:blipFill>
          <a:blip r:embed="rId3"/>
          <a:stretch>
            <a:fillRect/>
          </a:stretch>
        </p:blipFill>
        <p:spPr>
          <a:xfrm>
            <a:off x="6719613" y="2042464"/>
            <a:ext cx="5166529" cy="2474791"/>
          </a:xfrm>
          <a:prstGeom prst="rect">
            <a:avLst/>
          </a:prstGeom>
        </p:spPr>
      </p:pic>
    </p:spTree>
    <p:extLst>
      <p:ext uri="{BB962C8B-B14F-4D97-AF65-F5344CB8AC3E}">
        <p14:creationId xmlns:p14="http://schemas.microsoft.com/office/powerpoint/2010/main" val="3209509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4DE8A-4547-96A4-8405-9F7D179598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2F2598-2843-0B2A-19DB-3ADCA1C50AF4}"/>
              </a:ext>
            </a:extLst>
          </p:cNvPr>
          <p:cNvSpPr txBox="1"/>
          <p:nvPr/>
        </p:nvSpPr>
        <p:spPr>
          <a:xfrm>
            <a:off x="54863" y="3450628"/>
            <a:ext cx="6389369" cy="2062103"/>
          </a:xfrm>
          <a:prstGeom prst="rect">
            <a:avLst/>
          </a:prstGeom>
          <a:noFill/>
        </p:spPr>
        <p:txBody>
          <a:bodyPr wrap="square">
            <a:spAutoFit/>
          </a:bodyPr>
          <a:lstStyle/>
          <a:p>
            <a:r>
              <a:rPr lang="en-US" sz="1600" dirty="0">
                <a:solidFill>
                  <a:schemeClr val="accent6">
                    <a:lumMod val="40000"/>
                    <a:lumOff val="60000"/>
                  </a:schemeClr>
                </a:solidFill>
              </a:rPr>
              <a:t>Ans:</a:t>
            </a:r>
          </a:p>
          <a:p>
            <a:r>
              <a:rPr lang="en-US" sz="1600" dirty="0">
                <a:solidFill>
                  <a:schemeClr val="accent6">
                    <a:lumMod val="40000"/>
                    <a:lumOff val="60000"/>
                  </a:schemeClr>
                </a:solidFill>
              </a:rPr>
              <a:t>Step 1) State the hypothesis and identify the claim. </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H0: </a:t>
            </a:r>
            <a:r>
              <a:rPr lang="el-GR" sz="1600" dirty="0">
                <a:solidFill>
                  <a:schemeClr val="accent6">
                    <a:lumMod val="40000"/>
                    <a:lumOff val="60000"/>
                  </a:schemeClr>
                </a:solidFill>
              </a:rPr>
              <a:t>μ</a:t>
            </a:r>
            <a:r>
              <a:rPr lang="en-US" sz="1600" dirty="0">
                <a:solidFill>
                  <a:schemeClr val="accent6">
                    <a:lumMod val="40000"/>
                    <a:lumOff val="60000"/>
                  </a:schemeClr>
                </a:solidFill>
              </a:rPr>
              <a:t> = 82 BPM (The medication has </a:t>
            </a:r>
            <a:r>
              <a:rPr lang="en-US" sz="1600" b="1" dirty="0">
                <a:solidFill>
                  <a:schemeClr val="accent6">
                    <a:lumMod val="40000"/>
                    <a:lumOff val="60000"/>
                  </a:schemeClr>
                </a:solidFill>
              </a:rPr>
              <a:t>no effect</a:t>
            </a:r>
            <a:r>
              <a:rPr lang="en-US" sz="1600" dirty="0">
                <a:solidFill>
                  <a:schemeClr val="accent6">
                    <a:lumMod val="40000"/>
                    <a:lumOff val="60000"/>
                  </a:schemeClr>
                </a:solidFill>
              </a:rPr>
              <a:t> on mean pulse rate.)</a:t>
            </a:r>
          </a:p>
          <a:p>
            <a:r>
              <a:rPr lang="en-US" sz="1600" dirty="0">
                <a:solidFill>
                  <a:schemeClr val="accent6">
                    <a:lumMod val="40000"/>
                    <a:lumOff val="60000"/>
                  </a:schemeClr>
                </a:solidFill>
              </a:rPr>
              <a:t>H1: </a:t>
            </a:r>
            <a:r>
              <a:rPr lang="el-GR" sz="1600" dirty="0">
                <a:solidFill>
                  <a:schemeClr val="accent6">
                    <a:lumMod val="40000"/>
                    <a:lumOff val="60000"/>
                  </a:schemeClr>
                </a:solidFill>
              </a:rPr>
              <a:t>μ</a:t>
            </a:r>
            <a:r>
              <a:rPr lang="en-US" sz="1600" dirty="0">
                <a:solidFill>
                  <a:schemeClr val="accent6">
                    <a:lumMod val="40000"/>
                    <a:lumOff val="60000"/>
                  </a:schemeClr>
                </a:solidFill>
              </a:rPr>
              <a:t> != 82 BPM (claim: The medication </a:t>
            </a:r>
            <a:r>
              <a:rPr lang="en-US" sz="1600" b="1" dirty="0">
                <a:solidFill>
                  <a:schemeClr val="accent6">
                    <a:lumMod val="40000"/>
                    <a:lumOff val="60000"/>
                  </a:schemeClr>
                </a:solidFill>
              </a:rPr>
              <a:t>does affect</a:t>
            </a:r>
            <a:r>
              <a:rPr lang="en-US" sz="1600" dirty="0">
                <a:solidFill>
                  <a:schemeClr val="accent6">
                    <a:lumMod val="40000"/>
                    <a:lumOff val="60000"/>
                  </a:schemeClr>
                </a:solidFill>
              </a:rPr>
              <a:t> the mean pulse rate (it could be higher or lower). This is 2-tailed test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2) Here </a:t>
            </a:r>
            <a:r>
              <a:rPr lang="el-GR" sz="1600" dirty="0">
                <a:solidFill>
                  <a:schemeClr val="accent6">
                    <a:lumMod val="40000"/>
                    <a:lumOff val="60000"/>
                  </a:schemeClr>
                </a:solidFill>
              </a:rPr>
              <a:t>σ</a:t>
            </a:r>
            <a:r>
              <a:rPr lang="en-US" sz="1600" dirty="0">
                <a:solidFill>
                  <a:schemeClr val="accent6">
                    <a:lumMod val="40000"/>
                    <a:lumOff val="60000"/>
                  </a:schemeClr>
                </a:solidFill>
              </a:rPr>
              <a:t> is known, so compute the z test value .</a:t>
            </a:r>
          </a:p>
        </p:txBody>
      </p:sp>
      <p:sp>
        <p:nvSpPr>
          <p:cNvPr id="3" name="TextBox 2">
            <a:extLst>
              <a:ext uri="{FF2B5EF4-FFF2-40B4-BE49-F238E27FC236}">
                <a16:creationId xmlns:a16="http://schemas.microsoft.com/office/drawing/2014/main" id="{D15D8226-F23B-B7A5-E08C-90CF0B5FB12B}"/>
              </a:ext>
            </a:extLst>
          </p:cNvPr>
          <p:cNvSpPr txBox="1"/>
          <p:nvPr/>
        </p:nvSpPr>
        <p:spPr>
          <a:xfrm>
            <a:off x="85349" y="515172"/>
            <a:ext cx="6285733" cy="2616101"/>
          </a:xfrm>
          <a:prstGeom prst="rect">
            <a:avLst/>
          </a:prstGeom>
          <a:noFill/>
        </p:spPr>
        <p:txBody>
          <a:bodyPr wrap="square">
            <a:spAutoFit/>
          </a:bodyPr>
          <a:lstStyle/>
          <a:p>
            <a:pPr>
              <a:buNone/>
            </a:pPr>
            <a:r>
              <a:rPr lang="en-US" sz="1600" b="1" dirty="0">
                <a:solidFill>
                  <a:schemeClr val="accent6">
                    <a:lumMod val="40000"/>
                    <a:lumOff val="60000"/>
                  </a:schemeClr>
                </a:solidFill>
              </a:rPr>
              <a:t>Problem</a:t>
            </a:r>
            <a:r>
              <a:rPr lang="en-US" sz="1600" dirty="0">
                <a:solidFill>
                  <a:schemeClr val="accent6">
                    <a:lumMod val="40000"/>
                    <a:lumOff val="60000"/>
                  </a:schemeClr>
                </a:solidFill>
              </a:rPr>
              <a:t>:  A medical researcher is interested in finding out whether a new medication will have any </a:t>
            </a:r>
            <a:r>
              <a:rPr lang="en-US" sz="1600" b="1" dirty="0">
                <a:solidFill>
                  <a:schemeClr val="accent6">
                    <a:lumMod val="40000"/>
                    <a:lumOff val="60000"/>
                  </a:schemeClr>
                </a:solidFill>
              </a:rPr>
              <a:t>undesirable side effects</a:t>
            </a:r>
            <a:r>
              <a:rPr lang="en-US" sz="1600" dirty="0">
                <a:solidFill>
                  <a:schemeClr val="accent6">
                    <a:lumMod val="40000"/>
                    <a:lumOff val="60000"/>
                  </a:schemeClr>
                </a:solidFill>
              </a:rPr>
              <a:t> on patients’ pulse rates. The researcher is concerned with whether the pulse rate </a:t>
            </a:r>
            <a:r>
              <a:rPr lang="en-US" sz="1600" b="1" dirty="0">
                <a:solidFill>
                  <a:schemeClr val="accent6">
                    <a:lumMod val="40000"/>
                    <a:lumOff val="60000"/>
                  </a:schemeClr>
                </a:solidFill>
              </a:rPr>
              <a:t>increases, decreases, or stays the same</a:t>
            </a:r>
            <a:r>
              <a:rPr lang="en-US" sz="1600" dirty="0">
                <a:solidFill>
                  <a:schemeClr val="accent6">
                    <a:lumMod val="40000"/>
                    <a:lumOff val="60000"/>
                  </a:schemeClr>
                </a:solidFill>
              </a:rPr>
              <a:t> after taking the medication.</a:t>
            </a:r>
          </a:p>
          <a:p>
            <a:r>
              <a:rPr lang="en-US" sz="1600" dirty="0">
                <a:solidFill>
                  <a:schemeClr val="accent6">
                    <a:lumMod val="40000"/>
                    <a:lumOff val="60000"/>
                  </a:schemeClr>
                </a:solidFill>
              </a:rPr>
              <a:t>The researcher knows that the </a:t>
            </a:r>
            <a:r>
              <a:rPr lang="en-US" sz="1600" b="1" dirty="0">
                <a:solidFill>
                  <a:schemeClr val="accent6">
                    <a:lumMod val="40000"/>
                    <a:lumOff val="60000"/>
                  </a:schemeClr>
                </a:solidFill>
              </a:rPr>
              <a:t>mean pulse rate </a:t>
            </a:r>
            <a:r>
              <a:rPr lang="el-GR" sz="1600" b="1" dirty="0">
                <a:solidFill>
                  <a:schemeClr val="accent6">
                    <a:lumMod val="40000"/>
                    <a:lumOff val="60000"/>
                  </a:schemeClr>
                </a:solidFill>
              </a:rPr>
              <a:t>μ</a:t>
            </a:r>
            <a:r>
              <a:rPr lang="en-US" sz="1600" b="1" dirty="0">
                <a:solidFill>
                  <a:schemeClr val="accent6">
                    <a:lumMod val="40000"/>
                    <a:lumOff val="60000"/>
                  </a:schemeClr>
                </a:solidFill>
              </a:rPr>
              <a:t> </a:t>
            </a:r>
            <a:r>
              <a:rPr lang="en-US" sz="1600" dirty="0">
                <a:solidFill>
                  <a:schemeClr val="accent6">
                    <a:lumMod val="40000"/>
                    <a:lumOff val="60000"/>
                  </a:schemeClr>
                </a:solidFill>
              </a:rPr>
              <a:t>for the population under study is </a:t>
            </a:r>
            <a:r>
              <a:rPr lang="en-US" sz="1600" b="1" dirty="0">
                <a:solidFill>
                  <a:schemeClr val="accent6">
                    <a:lumMod val="40000"/>
                    <a:lumOff val="60000"/>
                  </a:schemeClr>
                </a:solidFill>
              </a:rPr>
              <a:t>82 beats per minute (bpm)</a:t>
            </a:r>
            <a:r>
              <a:rPr lang="en-US" sz="1600" dirty="0">
                <a:solidFill>
                  <a:schemeClr val="accent6">
                    <a:lumMod val="40000"/>
                    <a:lumOff val="60000"/>
                  </a:schemeClr>
                </a:solidFill>
              </a:rPr>
              <a:t>, with a </a:t>
            </a:r>
            <a:r>
              <a:rPr lang="en-US" sz="1600" b="1" dirty="0">
                <a:solidFill>
                  <a:schemeClr val="accent6">
                    <a:lumMod val="40000"/>
                    <a:lumOff val="60000"/>
                  </a:schemeClr>
                </a:solidFill>
              </a:rPr>
              <a:t>population standard deviation </a:t>
            </a:r>
            <a:r>
              <a:rPr lang="el-GR" sz="1600" b="1" dirty="0">
                <a:solidFill>
                  <a:schemeClr val="accent6">
                    <a:lumMod val="40000"/>
                    <a:lumOff val="60000"/>
                  </a:schemeClr>
                </a:solidFill>
              </a:rPr>
              <a:t>σ</a:t>
            </a:r>
            <a:r>
              <a:rPr lang="en-US" sz="1600" dirty="0">
                <a:solidFill>
                  <a:schemeClr val="accent6">
                    <a:lumMod val="40000"/>
                    <a:lumOff val="60000"/>
                  </a:schemeClr>
                </a:solidFill>
              </a:rPr>
              <a:t> of </a:t>
            </a:r>
            <a:r>
              <a:rPr lang="en-US" sz="1600" b="1" dirty="0">
                <a:solidFill>
                  <a:schemeClr val="accent6">
                    <a:lumMod val="40000"/>
                    <a:lumOff val="60000"/>
                  </a:schemeClr>
                </a:solidFill>
              </a:rPr>
              <a:t>5 bpm</a:t>
            </a:r>
            <a:r>
              <a:rPr lang="en-US" sz="1600" dirty="0">
                <a:solidFill>
                  <a:schemeClr val="accent6">
                    <a:lumMod val="40000"/>
                    <a:lumOff val="60000"/>
                  </a:schemeClr>
                </a:solidFill>
              </a:rPr>
              <a:t>. To investigate, the researcher selects a </a:t>
            </a:r>
            <a:r>
              <a:rPr lang="en-US" sz="1600" b="1" dirty="0">
                <a:solidFill>
                  <a:schemeClr val="accent6">
                    <a:lumMod val="40000"/>
                    <a:lumOff val="60000"/>
                  </a:schemeClr>
                </a:solidFill>
              </a:rPr>
              <a:t>random sample of 60 patients</a:t>
            </a:r>
            <a:r>
              <a:rPr lang="en-US" sz="1600" dirty="0">
                <a:solidFill>
                  <a:schemeClr val="accent6">
                    <a:lumMod val="40000"/>
                    <a:lumOff val="60000"/>
                  </a:schemeClr>
                </a:solidFill>
              </a:rPr>
              <a:t> who take the medication and finds that their </a:t>
            </a:r>
            <a:r>
              <a:rPr lang="en-US" sz="1600" b="1" dirty="0">
                <a:solidFill>
                  <a:schemeClr val="accent6">
                    <a:lumMod val="40000"/>
                    <a:lumOff val="60000"/>
                  </a:schemeClr>
                </a:solidFill>
              </a:rPr>
              <a:t>mean pulse rate</a:t>
            </a:r>
            <a:r>
              <a:rPr lang="en-US" sz="1600" dirty="0">
                <a:solidFill>
                  <a:schemeClr val="accent6">
                    <a:lumMod val="40000"/>
                    <a:lumOff val="60000"/>
                  </a:schemeClr>
                </a:solidFill>
              </a:rPr>
              <a:t> is </a:t>
            </a:r>
            <a:r>
              <a:rPr lang="en-US" sz="1600" b="1" dirty="0">
                <a:solidFill>
                  <a:schemeClr val="accent6">
                    <a:lumMod val="40000"/>
                    <a:lumOff val="60000"/>
                  </a:schemeClr>
                </a:solidFill>
              </a:rPr>
              <a:t>80.7 bpm</a:t>
            </a:r>
            <a:r>
              <a:rPr lang="en-US" sz="1600" dirty="0">
                <a:solidFill>
                  <a:schemeClr val="accent6">
                    <a:lumMod val="40000"/>
                    <a:lumOff val="60000"/>
                  </a:schemeClr>
                </a:solidFill>
              </a:rPr>
              <a:t>. Test the claim that medication </a:t>
            </a:r>
            <a:r>
              <a:rPr lang="en-US" sz="1600" b="1" dirty="0">
                <a:solidFill>
                  <a:schemeClr val="accent6">
                    <a:lumMod val="40000"/>
                    <a:lumOff val="60000"/>
                  </a:schemeClr>
                </a:solidFill>
              </a:rPr>
              <a:t>does affect</a:t>
            </a:r>
            <a:r>
              <a:rPr lang="en-US" sz="1600" dirty="0">
                <a:solidFill>
                  <a:schemeClr val="accent6">
                    <a:lumMod val="40000"/>
                    <a:lumOff val="60000"/>
                  </a:schemeClr>
                </a:solidFill>
              </a:rPr>
              <a:t> the mean pulse rate at significance level </a:t>
            </a:r>
            <a:r>
              <a:rPr lang="en-US" sz="1600" b="1" dirty="0">
                <a:solidFill>
                  <a:schemeClr val="accent6">
                    <a:lumMod val="40000"/>
                    <a:lumOff val="60000"/>
                  </a:schemeClr>
                </a:solidFill>
              </a:rPr>
              <a:t>α = 0.01</a:t>
            </a:r>
            <a:endParaRPr lang="en-US" sz="1600" dirty="0">
              <a:solidFill>
                <a:schemeClr val="accent6">
                  <a:lumMod val="40000"/>
                  <a:lumOff val="60000"/>
                </a:schemeClr>
              </a:solidFill>
            </a:endParaRPr>
          </a:p>
        </p:txBody>
      </p:sp>
      <p:sp>
        <p:nvSpPr>
          <p:cNvPr id="6" name="TextBox 5">
            <a:extLst>
              <a:ext uri="{FF2B5EF4-FFF2-40B4-BE49-F238E27FC236}">
                <a16:creationId xmlns:a16="http://schemas.microsoft.com/office/drawing/2014/main" id="{9473CDF1-C021-3D82-F6C9-42BB80F3EF47}"/>
              </a:ext>
            </a:extLst>
          </p:cNvPr>
          <p:cNvSpPr txBox="1"/>
          <p:nvPr/>
        </p:nvSpPr>
        <p:spPr>
          <a:xfrm>
            <a:off x="6631687" y="499795"/>
            <a:ext cx="5474964" cy="2308324"/>
          </a:xfrm>
          <a:prstGeom prst="rect">
            <a:avLst/>
          </a:prstGeom>
          <a:noFill/>
        </p:spPr>
        <p:txBody>
          <a:bodyPr wrap="square">
            <a:spAutoFit/>
          </a:bodyPr>
          <a:lstStyle/>
          <a:p>
            <a:r>
              <a:rPr lang="en-US" sz="1600" dirty="0">
                <a:solidFill>
                  <a:schemeClr val="accent6">
                    <a:lumMod val="40000"/>
                    <a:lumOff val="60000"/>
                  </a:schemeClr>
                </a:solidFill>
              </a:rPr>
              <a:t>Step 3) Find the P-value</a:t>
            </a:r>
          </a:p>
          <a:p>
            <a:r>
              <a:rPr lang="en-US" sz="1600" dirty="0">
                <a:solidFill>
                  <a:schemeClr val="accent6">
                    <a:lumMod val="40000"/>
                    <a:lumOff val="60000"/>
                  </a:schemeClr>
                </a:solidFill>
              </a:rPr>
              <a:t>Look up the Z value in the standard normal table for Z = -2.014</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Here, </a:t>
            </a:r>
            <a:r>
              <a:rPr lang="pl-PL" sz="1600" dirty="0">
                <a:solidFill>
                  <a:schemeClr val="accent6">
                    <a:lumMod val="40000"/>
                    <a:lumOff val="60000"/>
                  </a:schemeClr>
                </a:solidFill>
              </a:rPr>
              <a:t>P(</a:t>
            </a:r>
            <a:r>
              <a:rPr lang="en-US" sz="1600" dirty="0">
                <a:solidFill>
                  <a:schemeClr val="accent6">
                    <a:lumMod val="40000"/>
                    <a:lumOff val="60000"/>
                  </a:schemeClr>
                </a:solidFill>
              </a:rPr>
              <a:t>|</a:t>
            </a:r>
            <a:r>
              <a:rPr lang="pl-PL" sz="1600" dirty="0">
                <a:solidFill>
                  <a:schemeClr val="accent6">
                    <a:lumMod val="40000"/>
                    <a:lumOff val="60000"/>
                  </a:schemeClr>
                </a:solidFill>
              </a:rPr>
              <a:t>Z</a:t>
            </a:r>
            <a:r>
              <a:rPr lang="en-US" sz="1600" dirty="0">
                <a:solidFill>
                  <a:schemeClr val="accent6">
                    <a:lumMod val="40000"/>
                    <a:lumOff val="60000"/>
                  </a:schemeClr>
                </a:solidFill>
              </a:rPr>
              <a:t>| </a:t>
            </a:r>
            <a:r>
              <a:rPr lang="pl-PL" sz="1600" dirty="0">
                <a:solidFill>
                  <a:schemeClr val="accent6">
                    <a:lumMod val="40000"/>
                    <a:lumOff val="60000"/>
                  </a:schemeClr>
                </a:solidFill>
              </a:rPr>
              <a:t>&gt;</a:t>
            </a:r>
            <a:r>
              <a:rPr lang="en-US" sz="1600" dirty="0">
                <a:solidFill>
                  <a:schemeClr val="accent6">
                    <a:lumMod val="40000"/>
                    <a:lumOff val="60000"/>
                  </a:schemeClr>
                </a:solidFill>
              </a:rPr>
              <a:t> </a:t>
            </a:r>
            <a:r>
              <a:rPr lang="pl-PL" sz="1600" dirty="0">
                <a:solidFill>
                  <a:schemeClr val="accent6">
                    <a:lumMod val="40000"/>
                    <a:lumOff val="60000"/>
                  </a:schemeClr>
                </a:solidFill>
              </a:rPr>
              <a:t>2.</a:t>
            </a:r>
            <a:r>
              <a:rPr lang="en-US" sz="1600" dirty="0">
                <a:solidFill>
                  <a:schemeClr val="accent6">
                    <a:lumMod val="40000"/>
                    <a:lumOff val="60000"/>
                  </a:schemeClr>
                </a:solidFill>
              </a:rPr>
              <a:t>014</a:t>
            </a:r>
            <a:r>
              <a:rPr lang="pl-PL" sz="1600" dirty="0">
                <a:solidFill>
                  <a:schemeClr val="accent6">
                    <a:lumMod val="40000"/>
                    <a:lumOff val="60000"/>
                  </a:schemeClr>
                </a:solidFill>
              </a:rPr>
              <a:t>)</a:t>
            </a:r>
            <a:r>
              <a:rPr lang="en-US" sz="1600" dirty="0">
                <a:solidFill>
                  <a:schemeClr val="accent6">
                    <a:lumMod val="40000"/>
                    <a:lumOff val="60000"/>
                  </a:schemeClr>
                </a:solidFill>
              </a:rPr>
              <a:t> = 2*P(</a:t>
            </a:r>
            <a:r>
              <a:rPr lang="pl-PL" sz="1600" dirty="0">
                <a:solidFill>
                  <a:schemeClr val="accent6">
                    <a:lumMod val="40000"/>
                    <a:lumOff val="60000"/>
                  </a:schemeClr>
                </a:solidFill>
              </a:rPr>
              <a:t>Z</a:t>
            </a:r>
            <a:r>
              <a:rPr lang="en-US" sz="1600" dirty="0">
                <a:solidFill>
                  <a:schemeClr val="accent6">
                    <a:lumMod val="40000"/>
                    <a:lumOff val="60000"/>
                  </a:schemeClr>
                </a:solidFill>
              </a:rPr>
              <a:t> </a:t>
            </a:r>
            <a:r>
              <a:rPr lang="pl-PL" sz="1600" dirty="0">
                <a:solidFill>
                  <a:schemeClr val="accent6">
                    <a:lumMod val="40000"/>
                    <a:lumOff val="60000"/>
                  </a:schemeClr>
                </a:solidFill>
              </a:rPr>
              <a:t>&gt;</a:t>
            </a:r>
            <a:r>
              <a:rPr lang="en-US" sz="1600" dirty="0">
                <a:solidFill>
                  <a:schemeClr val="accent6">
                    <a:lumMod val="40000"/>
                    <a:lumOff val="60000"/>
                  </a:schemeClr>
                </a:solidFill>
              </a:rPr>
              <a:t> </a:t>
            </a:r>
            <a:r>
              <a:rPr lang="pl-PL" sz="1600" dirty="0">
                <a:solidFill>
                  <a:schemeClr val="accent6">
                    <a:lumMod val="40000"/>
                    <a:lumOff val="60000"/>
                  </a:schemeClr>
                </a:solidFill>
              </a:rPr>
              <a:t>2.</a:t>
            </a:r>
            <a:r>
              <a:rPr lang="en-US" sz="1600" dirty="0">
                <a:solidFill>
                  <a:schemeClr val="accent6">
                    <a:lumMod val="40000"/>
                    <a:lumOff val="60000"/>
                  </a:schemeClr>
                </a:solidFill>
              </a:rPr>
              <a:t>014) because of symmetrical nature of standard distribution curve.</a:t>
            </a:r>
          </a:p>
          <a:p>
            <a:r>
              <a:rPr lang="en-US" sz="1600" dirty="0">
                <a:solidFill>
                  <a:schemeClr val="accent6">
                    <a:lumMod val="40000"/>
                    <a:lumOff val="60000"/>
                  </a:schemeClr>
                </a:solidFill>
              </a:rPr>
              <a:t>Now, </a:t>
            </a:r>
            <a:r>
              <a:rPr lang="pl-PL" sz="1600" dirty="0">
                <a:solidFill>
                  <a:schemeClr val="accent6">
                    <a:lumMod val="40000"/>
                    <a:lumOff val="60000"/>
                  </a:schemeClr>
                </a:solidFill>
              </a:rPr>
              <a:t>P(Z</a:t>
            </a:r>
            <a:r>
              <a:rPr lang="en-US" sz="1600" dirty="0">
                <a:solidFill>
                  <a:schemeClr val="accent6">
                    <a:lumMod val="40000"/>
                    <a:lumOff val="60000"/>
                  </a:schemeClr>
                </a:solidFill>
              </a:rPr>
              <a:t> </a:t>
            </a:r>
            <a:r>
              <a:rPr lang="pl-PL" sz="1600" dirty="0">
                <a:solidFill>
                  <a:schemeClr val="accent6">
                    <a:lumMod val="40000"/>
                    <a:lumOff val="60000"/>
                  </a:schemeClr>
                </a:solidFill>
              </a:rPr>
              <a:t>&gt;</a:t>
            </a:r>
            <a:r>
              <a:rPr lang="en-US" sz="1600" dirty="0">
                <a:solidFill>
                  <a:schemeClr val="accent6">
                    <a:lumMod val="40000"/>
                    <a:lumOff val="60000"/>
                  </a:schemeClr>
                </a:solidFill>
              </a:rPr>
              <a:t> </a:t>
            </a:r>
            <a:r>
              <a:rPr lang="pl-PL" sz="1600" dirty="0">
                <a:solidFill>
                  <a:schemeClr val="accent6">
                    <a:lumMod val="40000"/>
                    <a:lumOff val="60000"/>
                  </a:schemeClr>
                </a:solidFill>
              </a:rPr>
              <a:t>2.</a:t>
            </a:r>
            <a:r>
              <a:rPr lang="en-US" sz="1600" dirty="0">
                <a:solidFill>
                  <a:schemeClr val="accent6">
                    <a:lumMod val="40000"/>
                    <a:lumOff val="60000"/>
                  </a:schemeClr>
                </a:solidFill>
              </a:rPr>
              <a:t>014</a:t>
            </a:r>
            <a:r>
              <a:rPr lang="pl-PL" sz="1600" dirty="0">
                <a:solidFill>
                  <a:schemeClr val="accent6">
                    <a:lumMod val="40000"/>
                    <a:lumOff val="60000"/>
                  </a:schemeClr>
                </a:solidFill>
              </a:rPr>
              <a:t>)</a:t>
            </a:r>
            <a:endParaRPr lang="en-US" sz="1600" dirty="0">
              <a:solidFill>
                <a:schemeClr val="accent6">
                  <a:lumMod val="40000"/>
                  <a:lumOff val="60000"/>
                </a:schemeClr>
              </a:solidFill>
            </a:endParaRPr>
          </a:p>
          <a:p>
            <a:r>
              <a:rPr lang="pl-PL" sz="1600" dirty="0">
                <a:solidFill>
                  <a:schemeClr val="accent6">
                    <a:lumMod val="40000"/>
                    <a:lumOff val="60000"/>
                  </a:schemeClr>
                </a:solidFill>
              </a:rPr>
              <a:t>=</a:t>
            </a:r>
            <a:r>
              <a:rPr lang="en-US" sz="1600" dirty="0">
                <a:solidFill>
                  <a:schemeClr val="accent6">
                    <a:lumMod val="40000"/>
                    <a:lumOff val="60000"/>
                  </a:schemeClr>
                </a:solidFill>
              </a:rPr>
              <a:t> </a:t>
            </a:r>
            <a:r>
              <a:rPr lang="pl-PL" sz="1600" dirty="0">
                <a:solidFill>
                  <a:schemeClr val="accent6">
                    <a:lumMod val="40000"/>
                    <a:lumOff val="60000"/>
                  </a:schemeClr>
                </a:solidFill>
              </a:rPr>
              <a:t>1</a:t>
            </a:r>
            <a:r>
              <a:rPr lang="en-US" sz="1600" dirty="0">
                <a:solidFill>
                  <a:schemeClr val="accent6">
                    <a:lumMod val="40000"/>
                    <a:lumOff val="60000"/>
                  </a:schemeClr>
                </a:solidFill>
              </a:rPr>
              <a:t> </a:t>
            </a:r>
            <a:r>
              <a:rPr lang="pl-PL" sz="1600" dirty="0">
                <a:solidFill>
                  <a:schemeClr val="accent6">
                    <a:lumMod val="40000"/>
                    <a:lumOff val="60000"/>
                  </a:schemeClr>
                </a:solidFill>
              </a:rPr>
              <a:t>−</a:t>
            </a:r>
            <a:r>
              <a:rPr lang="en-US" sz="1600" dirty="0">
                <a:solidFill>
                  <a:schemeClr val="accent6">
                    <a:lumMod val="40000"/>
                    <a:lumOff val="60000"/>
                  </a:schemeClr>
                </a:solidFill>
              </a:rPr>
              <a:t> </a:t>
            </a:r>
            <a:r>
              <a:rPr lang="pl-PL" sz="1600" dirty="0">
                <a:solidFill>
                  <a:schemeClr val="accent6">
                    <a:lumMod val="40000"/>
                    <a:lumOff val="60000"/>
                  </a:schemeClr>
                </a:solidFill>
              </a:rPr>
              <a:t>P(Z</a:t>
            </a:r>
            <a:r>
              <a:rPr lang="en-US" sz="1600" dirty="0">
                <a:solidFill>
                  <a:schemeClr val="accent6">
                    <a:lumMod val="40000"/>
                    <a:lumOff val="60000"/>
                  </a:schemeClr>
                </a:solidFill>
              </a:rPr>
              <a:t> </a:t>
            </a:r>
            <a:r>
              <a:rPr lang="pl-PL" sz="1600" dirty="0">
                <a:solidFill>
                  <a:schemeClr val="accent6">
                    <a:lumMod val="40000"/>
                    <a:lumOff val="60000"/>
                  </a:schemeClr>
                </a:solidFill>
              </a:rPr>
              <a:t>&lt;</a:t>
            </a:r>
            <a:r>
              <a:rPr lang="en-US" sz="1600" dirty="0">
                <a:solidFill>
                  <a:schemeClr val="accent6">
                    <a:lumMod val="40000"/>
                    <a:lumOff val="60000"/>
                  </a:schemeClr>
                </a:solidFill>
              </a:rPr>
              <a:t> </a:t>
            </a:r>
            <a:r>
              <a:rPr lang="pl-PL" sz="1600" dirty="0">
                <a:solidFill>
                  <a:schemeClr val="accent6">
                    <a:lumMod val="40000"/>
                    <a:lumOff val="60000"/>
                  </a:schemeClr>
                </a:solidFill>
              </a:rPr>
              <a:t>2.</a:t>
            </a:r>
            <a:r>
              <a:rPr lang="en-US" sz="1600" dirty="0">
                <a:solidFill>
                  <a:schemeClr val="accent6">
                    <a:lumMod val="40000"/>
                    <a:lumOff val="60000"/>
                  </a:schemeClr>
                </a:solidFill>
              </a:rPr>
              <a:t>014</a:t>
            </a:r>
            <a:r>
              <a:rPr lang="pl-PL" sz="1600" dirty="0">
                <a:solidFill>
                  <a:schemeClr val="accent6">
                    <a:lumMod val="40000"/>
                    <a:lumOff val="60000"/>
                  </a:schemeClr>
                </a:solidFill>
              </a:rPr>
              <a:t>)</a:t>
            </a:r>
            <a:r>
              <a:rPr lang="en-US" sz="1600" dirty="0">
                <a:solidFill>
                  <a:schemeClr val="accent6">
                    <a:lumMod val="40000"/>
                    <a:lumOff val="60000"/>
                  </a:schemeClr>
                </a:solidFill>
              </a:rPr>
              <a:t>    (here look up in SN table)</a:t>
            </a:r>
          </a:p>
          <a:p>
            <a:r>
              <a:rPr lang="en-US" sz="1600" dirty="0">
                <a:solidFill>
                  <a:schemeClr val="accent6">
                    <a:lumMod val="40000"/>
                    <a:lumOff val="60000"/>
                  </a:schemeClr>
                </a:solidFill>
              </a:rPr>
              <a:t>= 1 – 0.9778 = 0.0222</a:t>
            </a:r>
          </a:p>
          <a:p>
            <a:r>
              <a:rPr lang="en-US" sz="1600" dirty="0">
                <a:solidFill>
                  <a:schemeClr val="accent6">
                    <a:lumMod val="40000"/>
                    <a:lumOff val="60000"/>
                  </a:schemeClr>
                </a:solidFill>
              </a:rPr>
              <a:t>So, the p-value is </a:t>
            </a:r>
            <a:r>
              <a:rPr lang="pl-PL" sz="1600" dirty="0">
                <a:solidFill>
                  <a:schemeClr val="accent6">
                    <a:lumMod val="40000"/>
                    <a:lumOff val="60000"/>
                  </a:schemeClr>
                </a:solidFill>
              </a:rPr>
              <a:t>P(</a:t>
            </a:r>
            <a:r>
              <a:rPr lang="en-US" sz="1600" dirty="0">
                <a:solidFill>
                  <a:schemeClr val="accent6">
                    <a:lumMod val="40000"/>
                    <a:lumOff val="60000"/>
                  </a:schemeClr>
                </a:solidFill>
              </a:rPr>
              <a:t>|</a:t>
            </a:r>
            <a:r>
              <a:rPr lang="pl-PL" sz="1600" dirty="0">
                <a:solidFill>
                  <a:schemeClr val="accent6">
                    <a:lumMod val="40000"/>
                    <a:lumOff val="60000"/>
                  </a:schemeClr>
                </a:solidFill>
              </a:rPr>
              <a:t>Z</a:t>
            </a:r>
            <a:r>
              <a:rPr lang="en-US" sz="1600" dirty="0">
                <a:solidFill>
                  <a:schemeClr val="accent6">
                    <a:lumMod val="40000"/>
                    <a:lumOff val="60000"/>
                  </a:schemeClr>
                </a:solidFill>
              </a:rPr>
              <a:t>| </a:t>
            </a:r>
            <a:r>
              <a:rPr lang="pl-PL" sz="1600" dirty="0">
                <a:solidFill>
                  <a:schemeClr val="accent6">
                    <a:lumMod val="40000"/>
                    <a:lumOff val="60000"/>
                  </a:schemeClr>
                </a:solidFill>
              </a:rPr>
              <a:t>&gt;</a:t>
            </a:r>
            <a:r>
              <a:rPr lang="en-US" sz="1600" dirty="0">
                <a:solidFill>
                  <a:schemeClr val="accent6">
                    <a:lumMod val="40000"/>
                    <a:lumOff val="60000"/>
                  </a:schemeClr>
                </a:solidFill>
              </a:rPr>
              <a:t> </a:t>
            </a:r>
            <a:r>
              <a:rPr lang="pl-PL" sz="1600" dirty="0">
                <a:solidFill>
                  <a:schemeClr val="accent6">
                    <a:lumMod val="40000"/>
                    <a:lumOff val="60000"/>
                  </a:schemeClr>
                </a:solidFill>
              </a:rPr>
              <a:t>2.</a:t>
            </a:r>
            <a:r>
              <a:rPr lang="en-US" sz="1600" dirty="0">
                <a:solidFill>
                  <a:schemeClr val="accent6">
                    <a:lumMod val="40000"/>
                    <a:lumOff val="60000"/>
                  </a:schemeClr>
                </a:solidFill>
              </a:rPr>
              <a:t>013</a:t>
            </a:r>
            <a:r>
              <a:rPr lang="pl-PL" sz="1600" dirty="0">
                <a:solidFill>
                  <a:schemeClr val="accent6">
                    <a:lumMod val="40000"/>
                    <a:lumOff val="60000"/>
                  </a:schemeClr>
                </a:solidFill>
              </a:rPr>
              <a:t>) </a:t>
            </a:r>
            <a:r>
              <a:rPr lang="en-US" sz="1600" dirty="0">
                <a:solidFill>
                  <a:schemeClr val="accent6">
                    <a:lumMod val="40000"/>
                    <a:lumOff val="60000"/>
                  </a:schemeClr>
                </a:solidFill>
              </a:rPr>
              <a:t>= 2(0.0222)= 0.0444               </a:t>
            </a:r>
          </a:p>
        </p:txBody>
      </p:sp>
      <p:sp>
        <p:nvSpPr>
          <p:cNvPr id="8" name="Title 1">
            <a:extLst>
              <a:ext uri="{FF2B5EF4-FFF2-40B4-BE49-F238E27FC236}">
                <a16:creationId xmlns:a16="http://schemas.microsoft.com/office/drawing/2014/main" id="{94CA7B9F-1162-6249-D6F3-63D7EFD9CE1A}"/>
              </a:ext>
            </a:extLst>
          </p:cNvPr>
          <p:cNvSpPr txBox="1">
            <a:spLocks/>
          </p:cNvSpPr>
          <p:nvPr/>
        </p:nvSpPr>
        <p:spPr>
          <a:xfrm>
            <a:off x="694944" y="136525"/>
            <a:ext cx="10908789" cy="34520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chemeClr val="accent6">
                    <a:lumMod val="40000"/>
                    <a:lumOff val="60000"/>
                  </a:schemeClr>
                </a:solidFill>
              </a:rPr>
              <a:t>P-value: Applications</a:t>
            </a:r>
          </a:p>
        </p:txBody>
      </p:sp>
      <p:sp>
        <p:nvSpPr>
          <p:cNvPr id="9" name="TextBox 8">
            <a:extLst>
              <a:ext uri="{FF2B5EF4-FFF2-40B4-BE49-F238E27FC236}">
                <a16:creationId xmlns:a16="http://schemas.microsoft.com/office/drawing/2014/main" id="{B0CFFE72-4370-DC27-BB3B-6FE148CCACE6}"/>
              </a:ext>
            </a:extLst>
          </p:cNvPr>
          <p:cNvSpPr txBox="1"/>
          <p:nvPr/>
        </p:nvSpPr>
        <p:spPr>
          <a:xfrm>
            <a:off x="6563106" y="4902028"/>
            <a:ext cx="5543543" cy="1815882"/>
          </a:xfrm>
          <a:prstGeom prst="rect">
            <a:avLst/>
          </a:prstGeom>
          <a:noFill/>
        </p:spPr>
        <p:txBody>
          <a:bodyPr wrap="square" rtlCol="0">
            <a:spAutoFit/>
          </a:bodyPr>
          <a:lstStyle/>
          <a:p>
            <a:r>
              <a:rPr lang="en-US" sz="1600" dirty="0">
                <a:solidFill>
                  <a:schemeClr val="accent6">
                    <a:lumMod val="40000"/>
                    <a:lumOff val="60000"/>
                  </a:schemeClr>
                </a:solidFill>
              </a:rPr>
              <a:t>Step 4) Since the P-value 0.0444 is greater than </a:t>
            </a:r>
            <a:r>
              <a:rPr lang="el-GR" sz="1600" dirty="0">
                <a:solidFill>
                  <a:schemeClr val="accent6">
                    <a:lumMod val="40000"/>
                    <a:lumOff val="60000"/>
                  </a:schemeClr>
                </a:solidFill>
              </a:rPr>
              <a:t>α</a:t>
            </a:r>
            <a:r>
              <a:rPr lang="en-US" sz="1600" dirty="0">
                <a:solidFill>
                  <a:schemeClr val="accent6">
                    <a:lumMod val="40000"/>
                    <a:lumOff val="60000"/>
                  </a:schemeClr>
                </a:solidFill>
              </a:rPr>
              <a:t> value of 0.01, we </a:t>
            </a:r>
            <a:r>
              <a:rPr lang="en-US" sz="1600" b="1" dirty="0">
                <a:solidFill>
                  <a:schemeClr val="accent6">
                    <a:lumMod val="40000"/>
                    <a:lumOff val="60000"/>
                  </a:schemeClr>
                </a:solidFill>
              </a:rPr>
              <a:t>do not reject the null hypothesis at 1% significance level</a:t>
            </a:r>
            <a:r>
              <a:rPr lang="en-US" sz="1600" dirty="0">
                <a:solidFill>
                  <a:schemeClr val="accent6">
                    <a:lumMod val="40000"/>
                    <a:lumOff val="60000"/>
                  </a:schemeClr>
                </a:solidFill>
              </a:rPr>
              <a:t>.</a:t>
            </a:r>
          </a:p>
          <a:p>
            <a:endParaRPr lang="en-US" sz="1600" dirty="0">
              <a:solidFill>
                <a:schemeClr val="accent6">
                  <a:lumMod val="40000"/>
                  <a:lumOff val="60000"/>
                </a:schemeClr>
              </a:solidFill>
            </a:endParaRPr>
          </a:p>
          <a:p>
            <a:r>
              <a:rPr lang="en-US" sz="1600" dirty="0">
                <a:solidFill>
                  <a:schemeClr val="accent6">
                    <a:lumMod val="40000"/>
                    <a:lumOff val="60000"/>
                  </a:schemeClr>
                </a:solidFill>
              </a:rPr>
              <a:t>Step 5) </a:t>
            </a:r>
            <a:r>
              <a:rPr lang="en-US" sz="1600" dirty="0">
                <a:solidFill>
                  <a:schemeClr val="accent6">
                    <a:lumMod val="60000"/>
                    <a:lumOff val="40000"/>
                  </a:schemeClr>
                </a:solidFill>
              </a:rPr>
              <a:t>Although the sample mean pulse rate after medication (80.7 bpm) is lower than the population mean 82.0 bpm, there is </a:t>
            </a:r>
            <a:r>
              <a:rPr lang="en-US" sz="1600" b="1" dirty="0">
                <a:solidFill>
                  <a:schemeClr val="accent6">
                    <a:lumMod val="60000"/>
                    <a:lumOff val="40000"/>
                  </a:schemeClr>
                </a:solidFill>
              </a:rPr>
              <a:t>not enough evidence at the 1% level</a:t>
            </a:r>
            <a:r>
              <a:rPr lang="en-US" sz="1600" dirty="0">
                <a:solidFill>
                  <a:schemeClr val="accent6">
                    <a:lumMod val="60000"/>
                    <a:lumOff val="40000"/>
                  </a:schemeClr>
                </a:solidFill>
              </a:rPr>
              <a:t> to conclude that the medication </a:t>
            </a:r>
            <a:r>
              <a:rPr lang="en-US" sz="1600" b="1" dirty="0">
                <a:solidFill>
                  <a:schemeClr val="accent6">
                    <a:lumMod val="60000"/>
                    <a:lumOff val="40000"/>
                  </a:schemeClr>
                </a:solidFill>
              </a:rPr>
              <a:t>has any effect</a:t>
            </a:r>
            <a:r>
              <a:rPr lang="en-US" sz="1600" dirty="0">
                <a:solidFill>
                  <a:schemeClr val="accent6">
                    <a:lumMod val="60000"/>
                    <a:lumOff val="40000"/>
                  </a:schemeClr>
                </a:solidFill>
              </a:rPr>
              <a:t> on mean pulse rate.</a:t>
            </a:r>
          </a:p>
        </p:txBody>
      </p:sp>
      <p:pic>
        <p:nvPicPr>
          <p:cNvPr id="12" name="Picture 11">
            <a:extLst>
              <a:ext uri="{FF2B5EF4-FFF2-40B4-BE49-F238E27FC236}">
                <a16:creationId xmlns:a16="http://schemas.microsoft.com/office/drawing/2014/main" id="{763A61AA-F03E-C893-A63C-BE0B151CB7E4}"/>
              </a:ext>
            </a:extLst>
          </p:cNvPr>
          <p:cNvPicPr>
            <a:picLocks noChangeAspect="1"/>
          </p:cNvPicPr>
          <p:nvPr/>
        </p:nvPicPr>
        <p:blipFill>
          <a:blip r:embed="rId3"/>
          <a:stretch>
            <a:fillRect/>
          </a:stretch>
        </p:blipFill>
        <p:spPr>
          <a:xfrm>
            <a:off x="362712" y="5708912"/>
            <a:ext cx="1307712" cy="727248"/>
          </a:xfrm>
          <a:prstGeom prst="rect">
            <a:avLst/>
          </a:prstGeom>
        </p:spPr>
      </p:pic>
      <p:pic>
        <p:nvPicPr>
          <p:cNvPr id="14" name="Picture 13">
            <a:extLst>
              <a:ext uri="{FF2B5EF4-FFF2-40B4-BE49-F238E27FC236}">
                <a16:creationId xmlns:a16="http://schemas.microsoft.com/office/drawing/2014/main" id="{728B0F15-6D0A-3A6A-3EE2-FB20597C9E5E}"/>
              </a:ext>
            </a:extLst>
          </p:cNvPr>
          <p:cNvPicPr>
            <a:picLocks noChangeAspect="1"/>
          </p:cNvPicPr>
          <p:nvPr/>
        </p:nvPicPr>
        <p:blipFill>
          <a:blip r:embed="rId4"/>
          <a:stretch>
            <a:fillRect/>
          </a:stretch>
        </p:blipFill>
        <p:spPr>
          <a:xfrm>
            <a:off x="2229579" y="5748234"/>
            <a:ext cx="3749226" cy="733976"/>
          </a:xfrm>
          <a:prstGeom prst="rect">
            <a:avLst/>
          </a:prstGeom>
        </p:spPr>
      </p:pic>
      <p:cxnSp>
        <p:nvCxnSpPr>
          <p:cNvPr id="17" name="Straight Connector 16">
            <a:extLst>
              <a:ext uri="{FF2B5EF4-FFF2-40B4-BE49-F238E27FC236}">
                <a16:creationId xmlns:a16="http://schemas.microsoft.com/office/drawing/2014/main" id="{A7AB253E-D566-3223-D739-59FBA68E4B7F}"/>
              </a:ext>
            </a:extLst>
          </p:cNvPr>
          <p:cNvCxnSpPr/>
          <p:nvPr/>
        </p:nvCxnSpPr>
        <p:spPr>
          <a:xfrm>
            <a:off x="6419088" y="512064"/>
            <a:ext cx="0" cy="6217920"/>
          </a:xfrm>
          <a:prstGeom prst="line">
            <a:avLst/>
          </a:prstGeom>
        </p:spPr>
        <p:style>
          <a:lnRef idx="3">
            <a:schemeClr val="accent2"/>
          </a:lnRef>
          <a:fillRef idx="0">
            <a:schemeClr val="accent2"/>
          </a:fillRef>
          <a:effectRef idx="2">
            <a:schemeClr val="accent2"/>
          </a:effectRef>
          <a:fontRef idx="minor">
            <a:schemeClr val="tx1"/>
          </a:fontRef>
        </p:style>
      </p:cxnSp>
      <p:pic>
        <p:nvPicPr>
          <p:cNvPr id="4" name="Picture 3">
            <a:extLst>
              <a:ext uri="{FF2B5EF4-FFF2-40B4-BE49-F238E27FC236}">
                <a16:creationId xmlns:a16="http://schemas.microsoft.com/office/drawing/2014/main" id="{BF40ABC5-E962-45AD-BEF0-BD8BD1C12D80}"/>
              </a:ext>
            </a:extLst>
          </p:cNvPr>
          <p:cNvPicPr>
            <a:picLocks noChangeAspect="1"/>
          </p:cNvPicPr>
          <p:nvPr/>
        </p:nvPicPr>
        <p:blipFill>
          <a:blip r:embed="rId5"/>
          <a:stretch>
            <a:fillRect/>
          </a:stretch>
        </p:blipFill>
        <p:spPr>
          <a:xfrm>
            <a:off x="6734174" y="2941292"/>
            <a:ext cx="4802271" cy="1827562"/>
          </a:xfrm>
          <a:prstGeom prst="rect">
            <a:avLst/>
          </a:prstGeom>
        </p:spPr>
      </p:pic>
    </p:spTree>
    <p:extLst>
      <p:ext uri="{BB962C8B-B14F-4D97-AF65-F5344CB8AC3E}">
        <p14:creationId xmlns:p14="http://schemas.microsoft.com/office/powerpoint/2010/main" val="3216225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C8557-6D99-D97D-BEF4-967437FDCE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2E0CA15-C84C-4EF7-9867-47C027902E2A}"/>
              </a:ext>
            </a:extLst>
          </p:cNvPr>
          <p:cNvPicPr>
            <a:picLocks noChangeAspect="1"/>
          </p:cNvPicPr>
          <p:nvPr/>
        </p:nvPicPr>
        <p:blipFill>
          <a:blip r:embed="rId2"/>
          <a:stretch>
            <a:fillRect/>
          </a:stretch>
        </p:blipFill>
        <p:spPr>
          <a:xfrm>
            <a:off x="365760" y="425343"/>
            <a:ext cx="11173968" cy="6413354"/>
          </a:xfrm>
          <a:prstGeom prst="rect">
            <a:avLst/>
          </a:prstGeom>
        </p:spPr>
      </p:pic>
      <p:sp>
        <p:nvSpPr>
          <p:cNvPr id="2" name="TextBox 1">
            <a:extLst>
              <a:ext uri="{FF2B5EF4-FFF2-40B4-BE49-F238E27FC236}">
                <a16:creationId xmlns:a16="http://schemas.microsoft.com/office/drawing/2014/main" id="{252FD8A6-6A65-C6BD-4D70-1E2D86E9CCA2}"/>
              </a:ext>
            </a:extLst>
          </p:cNvPr>
          <p:cNvSpPr txBox="1"/>
          <p:nvPr/>
        </p:nvSpPr>
        <p:spPr>
          <a:xfrm>
            <a:off x="877824" y="10291"/>
            <a:ext cx="10707624" cy="369332"/>
          </a:xfrm>
          <a:prstGeom prst="rect">
            <a:avLst/>
          </a:prstGeom>
          <a:noFill/>
        </p:spPr>
        <p:txBody>
          <a:bodyPr wrap="square" rtlCol="0">
            <a:spAutoFit/>
          </a:bodyPr>
          <a:lstStyle/>
          <a:p>
            <a:pPr algn="ctr"/>
            <a:r>
              <a:rPr lang="en-US" b="1" dirty="0">
                <a:solidFill>
                  <a:schemeClr val="accent6">
                    <a:lumMod val="60000"/>
                    <a:lumOff val="40000"/>
                  </a:schemeClr>
                </a:solidFill>
              </a:rPr>
              <a:t>Computing p-value programmatically</a:t>
            </a:r>
          </a:p>
        </p:txBody>
      </p:sp>
      <p:pic>
        <p:nvPicPr>
          <p:cNvPr id="3" name="Picture 2">
            <a:extLst>
              <a:ext uri="{FF2B5EF4-FFF2-40B4-BE49-F238E27FC236}">
                <a16:creationId xmlns:a16="http://schemas.microsoft.com/office/drawing/2014/main" id="{6512C439-BD11-420D-B1E4-18BB757E657F}"/>
              </a:ext>
            </a:extLst>
          </p:cNvPr>
          <p:cNvPicPr>
            <a:picLocks noChangeAspect="1"/>
          </p:cNvPicPr>
          <p:nvPr/>
        </p:nvPicPr>
        <p:blipFill>
          <a:blip r:embed="rId3"/>
          <a:stretch>
            <a:fillRect/>
          </a:stretch>
        </p:blipFill>
        <p:spPr>
          <a:xfrm>
            <a:off x="6546499" y="2826181"/>
            <a:ext cx="5418572" cy="2062103"/>
          </a:xfrm>
          <a:prstGeom prst="rect">
            <a:avLst/>
          </a:prstGeom>
        </p:spPr>
      </p:pic>
    </p:spTree>
    <p:extLst>
      <p:ext uri="{BB962C8B-B14F-4D97-AF65-F5344CB8AC3E}">
        <p14:creationId xmlns:p14="http://schemas.microsoft.com/office/powerpoint/2010/main" val="1134989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522AA-7874-EDE5-A9FB-FDC856D6C2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9FF6FE-8F82-97FD-92E4-2541851A3B31}"/>
              </a:ext>
            </a:extLst>
          </p:cNvPr>
          <p:cNvSpPr txBox="1"/>
          <p:nvPr/>
        </p:nvSpPr>
        <p:spPr>
          <a:xfrm>
            <a:off x="1261872" y="704088"/>
            <a:ext cx="787395" cy="369332"/>
          </a:xfrm>
          <a:prstGeom prst="rect">
            <a:avLst/>
          </a:prstGeom>
          <a:noFill/>
        </p:spPr>
        <p:txBody>
          <a:bodyPr wrap="none" rtlCol="0">
            <a:spAutoFit/>
          </a:bodyPr>
          <a:lstStyle/>
          <a:p>
            <a:r>
              <a:rPr lang="en-US" dirty="0"/>
              <a:t>EXTRA</a:t>
            </a:r>
          </a:p>
        </p:txBody>
      </p:sp>
    </p:spTree>
    <p:extLst>
      <p:ext uri="{BB962C8B-B14F-4D97-AF65-F5344CB8AC3E}">
        <p14:creationId xmlns:p14="http://schemas.microsoft.com/office/powerpoint/2010/main" val="99655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825E3-743B-2F8C-0B56-0D0438E9D0DB}"/>
            </a:ext>
          </a:extLst>
        </p:cNvPr>
        <p:cNvGrpSpPr/>
        <p:nvPr/>
      </p:nvGrpSpPr>
      <p:grpSpPr>
        <a:xfrm>
          <a:off x="0" y="0"/>
          <a:ext cx="0" cy="0"/>
          <a:chOff x="0" y="0"/>
          <a:chExt cx="0" cy="0"/>
        </a:xfrm>
      </p:grpSpPr>
    </p:spTree>
    <p:extLst>
      <p:ext uri="{BB962C8B-B14F-4D97-AF65-F5344CB8AC3E}">
        <p14:creationId xmlns:p14="http://schemas.microsoft.com/office/powerpoint/2010/main" val="2488519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1ADF3-BFC1-D453-45B6-31386DB43B9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845E932-69A6-61CC-ED00-9D18B18B6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 y="3215908"/>
            <a:ext cx="4445942" cy="2270492"/>
          </a:xfrm>
          <a:prstGeom prst="rect">
            <a:avLst/>
          </a:prstGeom>
        </p:spPr>
      </p:pic>
      <p:pic>
        <p:nvPicPr>
          <p:cNvPr id="3" name="Picture 2">
            <a:extLst>
              <a:ext uri="{FF2B5EF4-FFF2-40B4-BE49-F238E27FC236}">
                <a16:creationId xmlns:a16="http://schemas.microsoft.com/office/drawing/2014/main" id="{84CDEB00-4298-BF06-4DA4-C19B853986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1882" y="57089"/>
            <a:ext cx="7040118" cy="6800911"/>
          </a:xfrm>
          <a:prstGeom prst="rect">
            <a:avLst/>
          </a:prstGeom>
        </p:spPr>
      </p:pic>
      <p:sp>
        <p:nvSpPr>
          <p:cNvPr id="4" name="Content Placeholder 2">
            <a:extLst>
              <a:ext uri="{FF2B5EF4-FFF2-40B4-BE49-F238E27FC236}">
                <a16:creationId xmlns:a16="http://schemas.microsoft.com/office/drawing/2014/main" id="{CD858681-3EA9-85D5-8259-AEBC62F54E08}"/>
              </a:ext>
            </a:extLst>
          </p:cNvPr>
          <p:cNvSpPr txBox="1">
            <a:spLocks/>
          </p:cNvSpPr>
          <p:nvPr/>
        </p:nvSpPr>
        <p:spPr>
          <a:xfrm>
            <a:off x="344424" y="133985"/>
            <a:ext cx="4730496" cy="75900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t>Standard Normal Distribution: </a:t>
            </a:r>
          </a:p>
          <a:p>
            <a:pPr marL="0" indent="0">
              <a:buFont typeface="Arial" panose="020B0604020202020204" pitchFamily="34" charset="0"/>
              <a:buNone/>
            </a:pPr>
            <a:r>
              <a:rPr lang="en-US" sz="1800" b="1" dirty="0"/>
              <a:t>Table values represent AREA to the LEFT of the z-score</a:t>
            </a:r>
          </a:p>
        </p:txBody>
      </p:sp>
      <p:sp>
        <p:nvSpPr>
          <p:cNvPr id="5" name="TextBox 4">
            <a:extLst>
              <a:ext uri="{FF2B5EF4-FFF2-40B4-BE49-F238E27FC236}">
                <a16:creationId xmlns:a16="http://schemas.microsoft.com/office/drawing/2014/main" id="{87F8E147-6B3C-A482-F3DD-996318E9BA03}"/>
              </a:ext>
            </a:extLst>
          </p:cNvPr>
          <p:cNvSpPr txBox="1"/>
          <p:nvPr/>
        </p:nvSpPr>
        <p:spPr>
          <a:xfrm>
            <a:off x="267462" y="1944547"/>
            <a:ext cx="3188970" cy="646331"/>
          </a:xfrm>
          <a:prstGeom prst="rect">
            <a:avLst/>
          </a:prstGeom>
          <a:noFill/>
        </p:spPr>
        <p:txBody>
          <a:bodyPr wrap="square">
            <a:spAutoFit/>
          </a:bodyPr>
          <a:lstStyle/>
          <a:p>
            <a:r>
              <a:rPr lang="en-US" dirty="0">
                <a:solidFill>
                  <a:schemeClr val="accent6">
                    <a:lumMod val="60000"/>
                    <a:lumOff val="40000"/>
                  </a:schemeClr>
                </a:solidFill>
              </a:rPr>
              <a:t>This table shows area for </a:t>
            </a:r>
          </a:p>
          <a:p>
            <a:r>
              <a:rPr lang="en-US" dirty="0">
                <a:solidFill>
                  <a:schemeClr val="accent6">
                    <a:lumMod val="60000"/>
                    <a:lumOff val="40000"/>
                  </a:schemeClr>
                </a:solidFill>
              </a:rPr>
              <a:t>z-values between </a:t>
            </a:r>
            <a:r>
              <a:rPr lang="en-US" b="1" dirty="0">
                <a:solidFill>
                  <a:schemeClr val="accent6">
                    <a:lumMod val="60000"/>
                    <a:lumOff val="40000"/>
                  </a:schemeClr>
                </a:solidFill>
              </a:rPr>
              <a:t>-3.1 to -0.1</a:t>
            </a:r>
            <a:endParaRPr lang="en-US" b="1" dirty="0"/>
          </a:p>
        </p:txBody>
      </p:sp>
    </p:spTree>
    <p:extLst>
      <p:ext uri="{BB962C8B-B14F-4D97-AF65-F5344CB8AC3E}">
        <p14:creationId xmlns:p14="http://schemas.microsoft.com/office/powerpoint/2010/main" val="586118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1F82B-65DF-CCBF-CEC5-B659F9C0E84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D215D1-17DB-3339-D472-449D95D27E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7840" y="45855"/>
            <a:ext cx="6614160" cy="6760061"/>
          </a:xfrm>
          <a:prstGeom prst="rect">
            <a:avLst/>
          </a:prstGeom>
        </p:spPr>
      </p:pic>
      <p:sp>
        <p:nvSpPr>
          <p:cNvPr id="5" name="TextBox 4">
            <a:extLst>
              <a:ext uri="{FF2B5EF4-FFF2-40B4-BE49-F238E27FC236}">
                <a16:creationId xmlns:a16="http://schemas.microsoft.com/office/drawing/2014/main" id="{2B27BB14-BA5B-4E81-AE77-4C01977DDCB9}"/>
              </a:ext>
            </a:extLst>
          </p:cNvPr>
          <p:cNvSpPr txBox="1"/>
          <p:nvPr/>
        </p:nvSpPr>
        <p:spPr>
          <a:xfrm>
            <a:off x="267462" y="1843963"/>
            <a:ext cx="2942082" cy="646331"/>
          </a:xfrm>
          <a:prstGeom prst="rect">
            <a:avLst/>
          </a:prstGeom>
          <a:noFill/>
        </p:spPr>
        <p:txBody>
          <a:bodyPr wrap="square">
            <a:spAutoFit/>
          </a:bodyPr>
          <a:lstStyle/>
          <a:p>
            <a:r>
              <a:rPr lang="en-US" dirty="0">
                <a:solidFill>
                  <a:schemeClr val="accent6">
                    <a:lumMod val="60000"/>
                    <a:lumOff val="40000"/>
                  </a:schemeClr>
                </a:solidFill>
              </a:rPr>
              <a:t>This table shows area for </a:t>
            </a:r>
          </a:p>
          <a:p>
            <a:r>
              <a:rPr lang="en-US" dirty="0">
                <a:solidFill>
                  <a:schemeClr val="accent6">
                    <a:lumMod val="60000"/>
                    <a:lumOff val="40000"/>
                  </a:schemeClr>
                </a:solidFill>
              </a:rPr>
              <a:t>z-values between </a:t>
            </a:r>
            <a:r>
              <a:rPr lang="en-US" b="1" dirty="0">
                <a:solidFill>
                  <a:schemeClr val="accent6">
                    <a:lumMod val="60000"/>
                    <a:lumOff val="40000"/>
                  </a:schemeClr>
                </a:solidFill>
              </a:rPr>
              <a:t>0.0 to +3.0</a:t>
            </a:r>
            <a:endParaRPr lang="en-US" b="1" dirty="0"/>
          </a:p>
        </p:txBody>
      </p:sp>
      <p:pic>
        <p:nvPicPr>
          <p:cNvPr id="8" name="Picture 7">
            <a:extLst>
              <a:ext uri="{FF2B5EF4-FFF2-40B4-BE49-F238E27FC236}">
                <a16:creationId xmlns:a16="http://schemas.microsoft.com/office/drawing/2014/main" id="{E4C7CB96-DD38-D41D-5296-5AF1252D71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0" y="3215908"/>
            <a:ext cx="4445942" cy="2270492"/>
          </a:xfrm>
          <a:prstGeom prst="rect">
            <a:avLst/>
          </a:prstGeom>
        </p:spPr>
      </p:pic>
      <p:sp>
        <p:nvSpPr>
          <p:cNvPr id="9" name="Content Placeholder 2">
            <a:extLst>
              <a:ext uri="{FF2B5EF4-FFF2-40B4-BE49-F238E27FC236}">
                <a16:creationId xmlns:a16="http://schemas.microsoft.com/office/drawing/2014/main" id="{68E0EABE-9FA2-47FB-BA9A-1F3E8DF22FBA}"/>
              </a:ext>
            </a:extLst>
          </p:cNvPr>
          <p:cNvSpPr txBox="1">
            <a:spLocks/>
          </p:cNvSpPr>
          <p:nvPr/>
        </p:nvSpPr>
        <p:spPr>
          <a:xfrm>
            <a:off x="344424" y="133985"/>
            <a:ext cx="4730496" cy="75900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t>Standard Normal Distribution: </a:t>
            </a:r>
          </a:p>
          <a:p>
            <a:pPr marL="0" indent="0">
              <a:buFont typeface="Arial" panose="020B0604020202020204" pitchFamily="34" charset="0"/>
              <a:buNone/>
            </a:pPr>
            <a:r>
              <a:rPr lang="en-US" sz="1800" b="1" dirty="0"/>
              <a:t>Table values represent AREA to the LEFT of the z-score</a:t>
            </a:r>
          </a:p>
        </p:txBody>
      </p:sp>
    </p:spTree>
    <p:extLst>
      <p:ext uri="{BB962C8B-B14F-4D97-AF65-F5344CB8AC3E}">
        <p14:creationId xmlns:p14="http://schemas.microsoft.com/office/powerpoint/2010/main" val="3416475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94C8BE-D25B-24BF-D0E0-96609EE72A8D}"/>
              </a:ext>
            </a:extLst>
          </p:cNvPr>
          <p:cNvSpPr txBox="1"/>
          <p:nvPr/>
        </p:nvSpPr>
        <p:spPr>
          <a:xfrm>
            <a:off x="155448" y="307771"/>
            <a:ext cx="11292840" cy="6555641"/>
          </a:xfrm>
          <a:prstGeom prst="rect">
            <a:avLst/>
          </a:prstGeom>
          <a:noFill/>
        </p:spPr>
        <p:txBody>
          <a:bodyPr wrap="square">
            <a:spAutoFit/>
          </a:bodyPr>
          <a:lstStyle/>
          <a:p>
            <a:r>
              <a:rPr lang="en-US" sz="2000" dirty="0">
                <a:solidFill>
                  <a:schemeClr val="accent6">
                    <a:lumMod val="40000"/>
                    <a:lumOff val="60000"/>
                  </a:schemeClr>
                </a:solidFill>
              </a:rPr>
              <a:t>A </a:t>
            </a:r>
            <a:r>
              <a:rPr lang="en-US" sz="2000" b="1" dirty="0">
                <a:solidFill>
                  <a:schemeClr val="accent4">
                    <a:lumMod val="40000"/>
                    <a:lumOff val="60000"/>
                  </a:schemeClr>
                </a:solidFill>
              </a:rPr>
              <a:t>statistical hypothesis</a:t>
            </a:r>
            <a:r>
              <a:rPr lang="en-US" sz="2000" dirty="0">
                <a:solidFill>
                  <a:schemeClr val="accent4">
                    <a:lumMod val="40000"/>
                    <a:lumOff val="60000"/>
                  </a:schemeClr>
                </a:solidFill>
              </a:rPr>
              <a:t> is a conjecture</a:t>
            </a:r>
            <a:r>
              <a:rPr lang="en-US" sz="2000" dirty="0">
                <a:solidFill>
                  <a:schemeClr val="accent6">
                    <a:lumMod val="40000"/>
                    <a:lumOff val="60000"/>
                  </a:schemeClr>
                </a:solidFill>
              </a:rPr>
              <a:t> about a population parameter (e.g. mean, variance, etc. ). This conjecture may or may not be true.</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The </a:t>
            </a:r>
            <a:r>
              <a:rPr lang="en-US" sz="2000" b="1" dirty="0">
                <a:solidFill>
                  <a:schemeClr val="accent6">
                    <a:lumMod val="40000"/>
                    <a:lumOff val="60000"/>
                  </a:schemeClr>
                </a:solidFill>
              </a:rPr>
              <a:t>null hypothesis (H0): </a:t>
            </a:r>
            <a:r>
              <a:rPr lang="en-US" sz="2000" dirty="0">
                <a:solidFill>
                  <a:schemeClr val="accent6">
                    <a:lumMod val="40000"/>
                    <a:lumOff val="60000"/>
                  </a:schemeClr>
                </a:solidFill>
              </a:rPr>
              <a:t>is a statistical hypothesis that states that </a:t>
            </a:r>
            <a:r>
              <a:rPr lang="en-US" sz="2000" b="1" dirty="0">
                <a:solidFill>
                  <a:schemeClr val="accent6">
                    <a:lumMod val="40000"/>
                    <a:lumOff val="60000"/>
                  </a:schemeClr>
                </a:solidFill>
              </a:rPr>
              <a:t>there is no difference between a population parameter and the observed parameter. </a:t>
            </a:r>
            <a:r>
              <a:rPr lang="en-US" sz="2000" dirty="0">
                <a:solidFill>
                  <a:schemeClr val="accent6">
                    <a:lumMod val="40000"/>
                    <a:lumOff val="60000"/>
                  </a:schemeClr>
                </a:solidFill>
              </a:rPr>
              <a:t>That is, </a:t>
            </a:r>
            <a:r>
              <a:rPr lang="en-US" sz="2000" dirty="0">
                <a:solidFill>
                  <a:schemeClr val="accent4">
                    <a:lumMod val="40000"/>
                    <a:lumOff val="60000"/>
                  </a:schemeClr>
                </a:solidFill>
              </a:rPr>
              <a:t>nothing is happening. Status quo</a:t>
            </a:r>
            <a:endParaRPr lang="en-US" sz="2000" dirty="0">
              <a:solidFill>
                <a:schemeClr val="accent6">
                  <a:lumMod val="60000"/>
                  <a:lumOff val="40000"/>
                </a:schemeClr>
              </a:solidFill>
            </a:endParaRPr>
          </a:p>
          <a:p>
            <a:endParaRPr lang="en-US" sz="2000" dirty="0">
              <a:solidFill>
                <a:schemeClr val="accent6">
                  <a:lumMod val="40000"/>
                  <a:lumOff val="60000"/>
                </a:schemeClr>
              </a:solidFill>
            </a:endParaRPr>
          </a:p>
          <a:p>
            <a:r>
              <a:rPr lang="en-US" sz="2000" dirty="0">
                <a:solidFill>
                  <a:schemeClr val="accent6">
                    <a:lumMod val="40000"/>
                    <a:lumOff val="60000"/>
                  </a:schemeClr>
                </a:solidFill>
              </a:rPr>
              <a:t>The </a:t>
            </a:r>
            <a:r>
              <a:rPr lang="en-US" sz="2000" b="1" dirty="0">
                <a:solidFill>
                  <a:schemeClr val="accent6">
                    <a:lumMod val="40000"/>
                    <a:lumOff val="60000"/>
                  </a:schemeClr>
                </a:solidFill>
              </a:rPr>
              <a:t>alternative hypothesis (H1): </a:t>
            </a:r>
            <a:r>
              <a:rPr lang="en-US" sz="2000" dirty="0">
                <a:solidFill>
                  <a:schemeClr val="accent6">
                    <a:lumMod val="40000"/>
                    <a:lumOff val="60000"/>
                  </a:schemeClr>
                </a:solidFill>
              </a:rPr>
              <a:t>is a statistical hypothesis that states that </a:t>
            </a:r>
            <a:r>
              <a:rPr lang="en-US" sz="2000" b="1" dirty="0">
                <a:solidFill>
                  <a:schemeClr val="accent6">
                    <a:lumMod val="40000"/>
                    <a:lumOff val="60000"/>
                  </a:schemeClr>
                </a:solidFill>
              </a:rPr>
              <a:t>there is</a:t>
            </a:r>
            <a:r>
              <a:rPr lang="en-US" sz="2000" dirty="0">
                <a:solidFill>
                  <a:schemeClr val="accent6">
                    <a:lumMod val="40000"/>
                    <a:lumOff val="60000"/>
                  </a:schemeClr>
                </a:solidFill>
              </a:rPr>
              <a:t> </a:t>
            </a:r>
            <a:r>
              <a:rPr lang="en-US" sz="2000" b="1" dirty="0">
                <a:solidFill>
                  <a:schemeClr val="accent6">
                    <a:lumMod val="40000"/>
                    <a:lumOff val="60000"/>
                  </a:schemeClr>
                </a:solidFill>
              </a:rPr>
              <a:t>a difference between population parameter and the observed parameter. </a:t>
            </a:r>
            <a:r>
              <a:rPr lang="en-US" sz="2000" dirty="0">
                <a:solidFill>
                  <a:schemeClr val="accent6">
                    <a:lumMod val="40000"/>
                    <a:lumOff val="60000"/>
                  </a:schemeClr>
                </a:solidFill>
              </a:rPr>
              <a:t>That is, </a:t>
            </a:r>
            <a:r>
              <a:rPr lang="en-US" sz="2000" dirty="0">
                <a:solidFill>
                  <a:schemeClr val="accent4">
                    <a:lumMod val="40000"/>
                    <a:lumOff val="60000"/>
                  </a:schemeClr>
                </a:solidFill>
              </a:rPr>
              <a:t>something is happening.</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Simple Example:  Imagine you want to test if a new teaching method improves test scores.</a:t>
            </a:r>
          </a:p>
          <a:p>
            <a:endParaRPr lang="en-US" sz="2000" dirty="0">
              <a:solidFill>
                <a:schemeClr val="accent6">
                  <a:lumMod val="60000"/>
                  <a:lumOff val="40000"/>
                </a:schemeClr>
              </a:solidFill>
            </a:endParaRPr>
          </a:p>
          <a:p>
            <a:r>
              <a:rPr lang="en-US" sz="2000" b="1" dirty="0">
                <a:solidFill>
                  <a:schemeClr val="accent6">
                    <a:lumMod val="60000"/>
                    <a:lumOff val="40000"/>
                  </a:schemeClr>
                </a:solidFill>
              </a:rPr>
              <a:t>Null hypothesis (H0):</a:t>
            </a:r>
            <a:r>
              <a:rPr lang="en-US" sz="2000" dirty="0">
                <a:solidFill>
                  <a:schemeClr val="accent6">
                    <a:lumMod val="60000"/>
                    <a:lumOff val="40000"/>
                  </a:schemeClr>
                </a:solidFill>
              </a:rPr>
              <a:t> The new teaching method has </a:t>
            </a:r>
            <a:r>
              <a:rPr lang="en-US" sz="2000" b="1" dirty="0">
                <a:solidFill>
                  <a:schemeClr val="accent6">
                    <a:lumMod val="60000"/>
                    <a:lumOff val="40000"/>
                  </a:schemeClr>
                </a:solidFill>
              </a:rPr>
              <a:t>no effect</a:t>
            </a:r>
            <a:r>
              <a:rPr lang="en-US" sz="2000" dirty="0">
                <a:solidFill>
                  <a:schemeClr val="accent6">
                    <a:lumMod val="60000"/>
                    <a:lumOff val="40000"/>
                  </a:schemeClr>
                </a:solidFill>
              </a:rPr>
              <a:t> on test scores</a:t>
            </a:r>
          </a:p>
          <a:p>
            <a:r>
              <a:rPr lang="en-US" sz="2000" dirty="0">
                <a:solidFill>
                  <a:schemeClr val="accent6">
                    <a:lumMod val="60000"/>
                    <a:lumOff val="40000"/>
                  </a:schemeClr>
                </a:solidFill>
              </a:rPr>
              <a:t>                                     ( Students scores remained same as before. Nothing happened. </a:t>
            </a:r>
            <a:r>
              <a:rPr lang="en-US" sz="2000" b="1" dirty="0">
                <a:solidFill>
                  <a:schemeClr val="accent6">
                    <a:lumMod val="60000"/>
                    <a:lumOff val="40000"/>
                  </a:schemeClr>
                </a:solidFill>
              </a:rPr>
              <a:t>No</a:t>
            </a:r>
            <a:r>
              <a:rPr lang="en-US" sz="2000" dirty="0">
                <a:solidFill>
                  <a:schemeClr val="accent6">
                    <a:lumMod val="60000"/>
                    <a:lumOff val="40000"/>
                  </a:schemeClr>
                </a:solidFill>
              </a:rPr>
              <a:t> </a:t>
            </a:r>
            <a:r>
              <a:rPr lang="en-US" sz="2000" b="1" dirty="0">
                <a:solidFill>
                  <a:schemeClr val="accent6">
                    <a:lumMod val="60000"/>
                    <a:lumOff val="40000"/>
                  </a:schemeClr>
                </a:solidFill>
              </a:rPr>
              <a:t>significant</a:t>
            </a:r>
            <a:r>
              <a:rPr lang="en-US" sz="2000" dirty="0">
                <a:solidFill>
                  <a:schemeClr val="accent6">
                    <a:lumMod val="60000"/>
                    <a:lumOff val="40000"/>
                  </a:schemeClr>
                </a:solidFill>
              </a:rPr>
              <a:t> change)</a:t>
            </a:r>
          </a:p>
          <a:p>
            <a:endParaRPr lang="en-US" sz="2000" dirty="0">
              <a:solidFill>
                <a:schemeClr val="accent6">
                  <a:lumMod val="60000"/>
                  <a:lumOff val="40000"/>
                </a:schemeClr>
              </a:solidFill>
            </a:endParaRPr>
          </a:p>
          <a:p>
            <a:r>
              <a:rPr lang="en-US" sz="2000" b="1" dirty="0">
                <a:solidFill>
                  <a:schemeClr val="accent6">
                    <a:lumMod val="60000"/>
                    <a:lumOff val="40000"/>
                  </a:schemeClr>
                </a:solidFill>
              </a:rPr>
              <a:t>Alternative hypothesis(H1):</a:t>
            </a:r>
            <a:r>
              <a:rPr lang="en-US" sz="2000" dirty="0">
                <a:solidFill>
                  <a:schemeClr val="accent6">
                    <a:lumMod val="60000"/>
                    <a:lumOff val="40000"/>
                  </a:schemeClr>
                </a:solidFill>
              </a:rPr>
              <a:t> The new teaching method has </a:t>
            </a:r>
            <a:r>
              <a:rPr lang="en-US" sz="2000" b="1" dirty="0">
                <a:solidFill>
                  <a:schemeClr val="accent6">
                    <a:lumMod val="60000"/>
                    <a:lumOff val="40000"/>
                  </a:schemeClr>
                </a:solidFill>
              </a:rPr>
              <a:t>positive effect</a:t>
            </a:r>
            <a:r>
              <a:rPr lang="en-US" sz="2000" dirty="0">
                <a:solidFill>
                  <a:schemeClr val="accent6">
                    <a:lumMod val="60000"/>
                    <a:lumOff val="40000"/>
                  </a:schemeClr>
                </a:solidFill>
              </a:rPr>
              <a:t> test scores.</a:t>
            </a:r>
          </a:p>
          <a:p>
            <a:r>
              <a:rPr lang="en-US" sz="2000" dirty="0">
                <a:solidFill>
                  <a:schemeClr val="accent6">
                    <a:lumMod val="60000"/>
                    <a:lumOff val="40000"/>
                  </a:schemeClr>
                </a:solidFill>
              </a:rPr>
              <a:t>                                     ( Students scores increased. Something happened. There </a:t>
            </a:r>
            <a:r>
              <a:rPr lang="en-US" sz="2000" b="1" dirty="0">
                <a:solidFill>
                  <a:schemeClr val="accent6">
                    <a:lumMod val="60000"/>
                    <a:lumOff val="40000"/>
                  </a:schemeClr>
                </a:solidFill>
              </a:rPr>
              <a:t>was</a:t>
            </a:r>
            <a:r>
              <a:rPr lang="en-US" sz="2000" dirty="0">
                <a:solidFill>
                  <a:schemeClr val="accent6">
                    <a:lumMod val="60000"/>
                    <a:lumOff val="40000"/>
                  </a:schemeClr>
                </a:solidFill>
              </a:rPr>
              <a:t> </a:t>
            </a:r>
            <a:r>
              <a:rPr lang="en-US" sz="2000" b="1" dirty="0">
                <a:solidFill>
                  <a:schemeClr val="accent6">
                    <a:lumMod val="60000"/>
                    <a:lumOff val="40000"/>
                  </a:schemeClr>
                </a:solidFill>
              </a:rPr>
              <a:t>significant</a:t>
            </a:r>
            <a:r>
              <a:rPr lang="en-US" sz="2000" dirty="0">
                <a:solidFill>
                  <a:schemeClr val="accent6">
                    <a:lumMod val="60000"/>
                    <a:lumOff val="40000"/>
                  </a:schemeClr>
                </a:solidFill>
              </a:rPr>
              <a:t> change)</a:t>
            </a:r>
          </a:p>
          <a:p>
            <a:endParaRPr lang="en-US" sz="2000" dirty="0">
              <a:solidFill>
                <a:schemeClr val="accent6">
                  <a:lumMod val="60000"/>
                  <a:lumOff val="40000"/>
                </a:schemeClr>
              </a:solidFill>
            </a:endParaRPr>
          </a:p>
          <a:p>
            <a:r>
              <a:rPr lang="en-US" sz="2000" b="1" dirty="0">
                <a:solidFill>
                  <a:schemeClr val="accent6">
                    <a:lumMod val="40000"/>
                    <a:lumOff val="60000"/>
                  </a:schemeClr>
                </a:solidFill>
              </a:rPr>
              <a:t>Side Note</a:t>
            </a:r>
            <a:r>
              <a:rPr lang="en-US" sz="2000" dirty="0">
                <a:solidFill>
                  <a:schemeClr val="accent6">
                    <a:lumMod val="40000"/>
                    <a:lumOff val="60000"/>
                  </a:schemeClr>
                </a:solidFill>
              </a:rPr>
              <a:t>: The null hypothesis isn’t always only about comparing “population mean vs observed mean” — it can also be about </a:t>
            </a:r>
            <a:r>
              <a:rPr lang="en-US" sz="2000" dirty="0">
                <a:solidFill>
                  <a:schemeClr val="accent4">
                    <a:lumMod val="40000"/>
                    <a:lumOff val="60000"/>
                  </a:schemeClr>
                </a:solidFill>
              </a:rPr>
              <a:t>proportions, variances, correlations, regression coefficients, etc.</a:t>
            </a:r>
          </a:p>
          <a:p>
            <a:endParaRPr lang="en-US" sz="2000" dirty="0">
              <a:solidFill>
                <a:schemeClr val="accent6">
                  <a:lumMod val="60000"/>
                  <a:lumOff val="40000"/>
                </a:schemeClr>
              </a:solidFill>
            </a:endParaRPr>
          </a:p>
        </p:txBody>
      </p:sp>
    </p:spTree>
    <p:extLst>
      <p:ext uri="{BB962C8B-B14F-4D97-AF65-F5344CB8AC3E}">
        <p14:creationId xmlns:p14="http://schemas.microsoft.com/office/powerpoint/2010/main" val="2102239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554EC-212B-C42A-51DB-A4B5F9987C8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E4C8CA91-A9F1-A69F-9FEA-943ABBFF4D6E}"/>
              </a:ext>
            </a:extLst>
          </p:cNvPr>
          <p:cNvSpPr>
            <a:spLocks noGrp="1"/>
          </p:cNvSpPr>
          <p:nvPr>
            <p:ph type="title"/>
          </p:nvPr>
        </p:nvSpPr>
        <p:spPr>
          <a:xfrm>
            <a:off x="2337816" y="246253"/>
            <a:ext cx="7190232" cy="457835"/>
          </a:xfrm>
        </p:spPr>
        <p:txBody>
          <a:bodyPr>
            <a:normAutofit fontScale="90000"/>
          </a:bodyPr>
          <a:lstStyle/>
          <a:p>
            <a:pPr algn="ctr"/>
            <a:r>
              <a:rPr lang="en-US" dirty="0">
                <a:solidFill>
                  <a:schemeClr val="accent6">
                    <a:lumMod val="40000"/>
                    <a:lumOff val="60000"/>
                  </a:schemeClr>
                </a:solidFill>
              </a:rPr>
              <a:t>P-value</a:t>
            </a:r>
          </a:p>
        </p:txBody>
      </p:sp>
      <p:sp>
        <p:nvSpPr>
          <p:cNvPr id="2" name="TextBox 1">
            <a:extLst>
              <a:ext uri="{FF2B5EF4-FFF2-40B4-BE49-F238E27FC236}">
                <a16:creationId xmlns:a16="http://schemas.microsoft.com/office/drawing/2014/main" id="{745A8930-1A1A-52F6-51CF-3D322DAF847D}"/>
              </a:ext>
            </a:extLst>
          </p:cNvPr>
          <p:cNvSpPr txBox="1"/>
          <p:nvPr/>
        </p:nvSpPr>
        <p:spPr>
          <a:xfrm>
            <a:off x="82296" y="749808"/>
            <a:ext cx="6840855" cy="5324535"/>
          </a:xfrm>
          <a:prstGeom prst="rect">
            <a:avLst/>
          </a:prstGeom>
          <a:noFill/>
        </p:spPr>
        <p:txBody>
          <a:bodyPr wrap="square" rtlCol="0">
            <a:spAutoFit/>
          </a:bodyPr>
          <a:lstStyle/>
          <a:p>
            <a:r>
              <a:rPr lang="en-US" sz="2000" dirty="0">
                <a:solidFill>
                  <a:schemeClr val="accent6">
                    <a:lumMod val="40000"/>
                    <a:lumOff val="60000"/>
                  </a:schemeClr>
                </a:solidFill>
              </a:rPr>
              <a:t>Hypothesis problems fall under following 3 categories:</a:t>
            </a:r>
          </a:p>
          <a:p>
            <a:endParaRPr lang="en-US" sz="2000" dirty="0">
              <a:solidFill>
                <a:schemeClr val="accent6">
                  <a:lumMod val="40000"/>
                  <a:lumOff val="60000"/>
                </a:schemeClr>
              </a:solidFill>
            </a:endParaRPr>
          </a:p>
          <a:p>
            <a:r>
              <a:rPr lang="en-US" sz="2000" b="1" dirty="0">
                <a:solidFill>
                  <a:schemeClr val="accent4">
                    <a:lumMod val="40000"/>
                    <a:lumOff val="60000"/>
                  </a:schemeClr>
                </a:solidFill>
                <a:latin typeface="Inter"/>
              </a:rPr>
              <a:t>Left-tailed test</a:t>
            </a:r>
            <a:r>
              <a:rPr lang="en-US" sz="2000" b="1" dirty="0">
                <a:solidFill>
                  <a:schemeClr val="accent4">
                    <a:lumMod val="40000"/>
                    <a:lumOff val="60000"/>
                  </a:schemeClr>
                </a:solidFill>
              </a:rPr>
              <a:t> </a:t>
            </a: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endParaRPr lang="en-US" sz="2000" b="1" dirty="0">
              <a:solidFill>
                <a:schemeClr val="accent4">
                  <a:lumMod val="40000"/>
                  <a:lumOff val="60000"/>
                </a:schemeClr>
              </a:solidFill>
            </a:endParaRPr>
          </a:p>
          <a:p>
            <a:r>
              <a:rPr lang="en-US" sz="2000" b="1" dirty="0">
                <a:solidFill>
                  <a:schemeClr val="accent4">
                    <a:lumMod val="40000"/>
                    <a:lumOff val="60000"/>
                  </a:schemeClr>
                </a:solidFill>
                <a:latin typeface="Inter"/>
              </a:rPr>
              <a:t>Right-tailed test</a:t>
            </a: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latin typeface="Inter"/>
            </a:endParaRPr>
          </a:p>
          <a:p>
            <a:endParaRPr lang="en-US" sz="2000" b="1" dirty="0">
              <a:solidFill>
                <a:schemeClr val="accent4">
                  <a:lumMod val="40000"/>
                  <a:lumOff val="60000"/>
                </a:schemeClr>
              </a:solidFill>
            </a:endParaRPr>
          </a:p>
          <a:p>
            <a:r>
              <a:rPr lang="en-US" sz="2000" b="1" dirty="0">
                <a:solidFill>
                  <a:schemeClr val="accent4">
                    <a:lumMod val="40000"/>
                    <a:lumOff val="60000"/>
                  </a:schemeClr>
                </a:solidFill>
              </a:rPr>
              <a:t>2-tailed test</a:t>
            </a:r>
          </a:p>
        </p:txBody>
      </p:sp>
      <p:pic>
        <p:nvPicPr>
          <p:cNvPr id="3" name="Picture 2">
            <a:extLst>
              <a:ext uri="{FF2B5EF4-FFF2-40B4-BE49-F238E27FC236}">
                <a16:creationId xmlns:a16="http://schemas.microsoft.com/office/drawing/2014/main" id="{25D0A419-E14F-4FBD-B2D3-33F6A28554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27336" y="2749932"/>
            <a:ext cx="4054302" cy="1742184"/>
          </a:xfrm>
          <a:prstGeom prst="rect">
            <a:avLst/>
          </a:prstGeom>
        </p:spPr>
      </p:pic>
      <p:pic>
        <p:nvPicPr>
          <p:cNvPr id="4" name="Picture 3">
            <a:extLst>
              <a:ext uri="{FF2B5EF4-FFF2-40B4-BE49-F238E27FC236}">
                <a16:creationId xmlns:a16="http://schemas.microsoft.com/office/drawing/2014/main" id="{EDA6893C-1F3A-B517-9E18-2918A4D29B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8379" y="390891"/>
            <a:ext cx="3857034" cy="2097294"/>
          </a:xfrm>
          <a:prstGeom prst="rect">
            <a:avLst/>
          </a:prstGeom>
        </p:spPr>
      </p:pic>
      <p:pic>
        <p:nvPicPr>
          <p:cNvPr id="6" name="Picture 5">
            <a:extLst>
              <a:ext uri="{FF2B5EF4-FFF2-40B4-BE49-F238E27FC236}">
                <a16:creationId xmlns:a16="http://schemas.microsoft.com/office/drawing/2014/main" id="{B69B8861-C402-B1E0-956D-1D2D5EBC7F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7336" y="4753863"/>
            <a:ext cx="4152781" cy="2097294"/>
          </a:xfrm>
          <a:prstGeom prst="rect">
            <a:avLst/>
          </a:prstGeom>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8A8602A6-58F5-FC3C-4727-DEA9913C2D79}"/>
                  </a:ext>
                </a:extLst>
              </p14:cNvPr>
              <p14:cNvContentPartPr/>
              <p14:nvPr/>
            </p14:nvContentPartPr>
            <p14:xfrm>
              <a:off x="903231" y="3019035"/>
              <a:ext cx="360" cy="360"/>
            </p14:xfrm>
          </p:contentPart>
        </mc:Choice>
        <mc:Fallback xmlns="">
          <p:pic>
            <p:nvPicPr>
              <p:cNvPr id="9" name="Ink 8">
                <a:extLst>
                  <a:ext uri="{FF2B5EF4-FFF2-40B4-BE49-F238E27FC236}">
                    <a16:creationId xmlns:a16="http://schemas.microsoft.com/office/drawing/2014/main" id="{8A8602A6-58F5-FC3C-4727-DEA9913C2D79}"/>
                  </a:ext>
                </a:extLst>
              </p:cNvPr>
              <p:cNvPicPr/>
              <p:nvPr/>
            </p:nvPicPr>
            <p:blipFill>
              <a:blip r:embed="rId6"/>
              <a:stretch>
                <a:fillRect/>
              </a:stretch>
            </p:blipFill>
            <p:spPr>
              <a:xfrm>
                <a:off x="867231" y="2983035"/>
                <a:ext cx="72000" cy="72000"/>
              </a:xfrm>
              <a:prstGeom prst="rect">
                <a:avLst/>
              </a:prstGeom>
            </p:spPr>
          </p:pic>
        </mc:Fallback>
      </mc:AlternateContent>
    </p:spTree>
    <p:extLst>
      <p:ext uri="{BB962C8B-B14F-4D97-AF65-F5344CB8AC3E}">
        <p14:creationId xmlns:p14="http://schemas.microsoft.com/office/powerpoint/2010/main" val="2733963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8C64-8332-B969-6091-DC2B2235D2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844389-A2EA-ED74-BF6D-51144C512A6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35544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3051</TotalTime>
  <Words>1707</Words>
  <Application>Microsoft Office PowerPoint</Application>
  <PresentationFormat>Widescreen</PresentationFormat>
  <Paragraphs>177</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Inter</vt:lpstr>
      <vt:lpstr>Wingdings</vt:lpstr>
      <vt:lpstr>Office Theme</vt:lpstr>
      <vt:lpstr>Hypothesis Testing (σ is known) p-value</vt:lpstr>
      <vt:lpstr>P-value</vt:lpstr>
      <vt:lpstr>P-value</vt:lpstr>
      <vt:lpstr>P-value</vt:lpstr>
      <vt:lpstr>P-value</vt:lpstr>
      <vt:lpstr>P-value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P-value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317</cp:revision>
  <dcterms:created xsi:type="dcterms:W3CDTF">2025-07-23T18:35:15Z</dcterms:created>
  <dcterms:modified xsi:type="dcterms:W3CDTF">2025-10-25T08:34:03Z</dcterms:modified>
</cp:coreProperties>
</file>