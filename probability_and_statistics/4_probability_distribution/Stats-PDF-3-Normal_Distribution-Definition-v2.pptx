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92" r:id="rId2"/>
    <p:sldId id="298" r:id="rId3"/>
    <p:sldId id="293" r:id="rId4"/>
    <p:sldId id="291" r:id="rId5"/>
    <p:sldId id="294" r:id="rId6"/>
    <p:sldId id="296" r:id="rId7"/>
    <p:sldId id="297" r:id="rId8"/>
    <p:sldId id="299" r:id="rId9"/>
    <p:sldId id="300" r:id="rId10"/>
    <p:sldId id="28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8T19:49:06.35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75 93 4384 0 0,'0'0'633'0'0,"-4"-1"-612"0"0,-5-2-2 0 0,-9-1 286 0 0,18 4-304 0 0,0 1-1 0 0,-1-1 1 0 0,1 0 0 0 0,-1 0 0 0 0,1 1 0 0 0,0-1 0 0 0,-1 0 0 0 0,1 1 0 0 0,0-1 0 0 0,-1 0 0 0 0,1 1 0 0 0,0-1 0 0 0,0 0 0 0 0,-1 1-1 0 0,1-1 1 0 0,0 0 0 0 0,0 1 0 0 0,0-1 0 0 0,-1 1 0 0 0,1-1 0 0 0,0 1 0 0 0,0-1 0 0 0,0 0 0 0 0,0 1 0 0 0,0-1 0 0 0,0 1 0 0 0,0-1 0 0 0,0 1-1 0 0,0-1 1 0 0,0 1 0 0 0,0-1 0 0 0,0 0 0 0 0,0 1 0 0 0,0-1 0 0 0,1 1 0 0 0,-1 0 0 0 0,4 60 32 0 0,3 15 36 0 0,-3-60 10 0 0,-1 0 1 0 0,1 32-1 0 0,-4-47 186 0 0,1 1 20 0 0,-1-2-270 0 0,0 0 0 0 0,0 0 0 0 0,0 0 0 0 0,0-1 0 0 0,1 1 0 0 0,-1 0 1 0 0,0 0-1 0 0,0 0 0 0 0,0 0 0 0 0,0 0 0 0 0,0 0 0 0 0,0 0 0 0 0,0 0 1 0 0,1 0-1 0 0,-1 0 0 0 0,0 0 0 0 0,0 0 0 0 0,0 0 0 0 0,0 0 0 0 0,0 0 1 0 0,0 0-1 0 0,1 0 0 0 0,-1 0 0 0 0,0 0 0 0 0,0 0 0 0 0,0 0 0 0 0,0 1 0 0 0,0-1 1 0 0,0 0-1 0 0,0 0 0 0 0,0 0 0 0 0,1 0 0 0 0,-1 0 0 0 0,0 0 0 0 0,0 0 1 0 0,0 0-1 0 0,0 0 0 0 0,0 0 0 0 0,0 1 0 0 0,0-1 0 0 0,0 0 0 0 0,0 0 0 0 0,0 0 1 0 0,0 0-1 0 0,0 0 0 0 0,0 0 0 0 0,0 0 0 0 0,0 1 0 0 0,0-1 0 0 0,0 0 1 0 0,0 0-1 0 0,0 0 0 0 0,0 0 0 0 0,0 0 0 0 0,0 0 0 0 0,0 1 0 0 0,0-1 1 0 0,0 0-1 0 0,0 0 0 0 0,0 0 0 0 0,0 0 0 0 0,0 0 0 0 0,0 0 0 0 0,0 0 0 0 0,0 0 1 0 0,0 1-1 0 0,0-1 0 0 0,0 0 0 0 0,3-16 124 0 0,0 1 1 0 0,3-33-1 0 0,2-17 44 0 0,-1 28 39 0 0,-1-1 0 0 0,0-48 0 0 0,-6 84-204 0 0,0-9 3 0 0,0 6-31 0 0,0 7-63 0 0,6 230 143 0 0,-6-230 254 0 0,-1 5-69 0 0,1-7-239 0 0,0 0 0 0 0,0 0 0 0 0,0 0 0 0 0,0-1 1 0 0,0 1-1 0 0,0 0 0 0 0,0 0 0 0 0,0 0 0 0 0,0 0 0 0 0,0 0 0 0 0,-1 0 0 0 0,1 0 0 0 0,0 0 0 0 0,0 0 0 0 0,0 0 1 0 0,0 0-1 0 0,0 0 0 0 0,0-1 0 0 0,0 1 0 0 0,0 0 0 0 0,-1 0 0 0 0,1 0 0 0 0,0 0 0 0 0,0 0 0 0 0,0 0 0 0 0,0 0 1 0 0,0 0-1 0 0,0 0 0 0 0,0 0 0 0 0,0 0 0 0 0,-1 0 0 0 0,1 0 0 0 0,0 0 0 0 0,0 0 0 0 0,0 0 0 0 0,0 0 0 0 0,0 0 1 0 0,0 0-1 0 0,0 1 0 0 0,0-1 0 0 0,-1 0 0 0 0,1 0 0 0 0,0 0 0 0 0,0 0 0 0 0,0 0 0 0 0,0 0 0 0 0,0 0 0 0 0,0 0 1 0 0,0 0-1 0 0,0 0 0 0 0,0 0 0 0 0,0 0 0 0 0,0 1 0 0 0,0-1 0 0 0,-1 0 0 0 0,1 0 0 0 0,0 0 0 0 0,0 0 0 0 0,0 0 1 0 0,0 0-1 0 0,-5-11 95 0 0,0 0 1 0 0,0-1 0 0 0,1 0-1 0 0,1 0 1 0 0,-4-19-1 0 0,-10-34 271 0 0,17 59-354 0 0,-5-6-55 0 0,4 11 17 0 0,-18 70-23 0 0,10-36 58 0 0,4-15 213 0 0,-4-36-136 0 0,5-2-59 0 0,1 0-1 0 0,1 0 1 0 0,1 0-1 0 0,1-22 1 0 0,0 24-30 0 0,0 17-32 0 0,0 7-108 0 0,8 99 95 0 0,-8-92 295 0 0,0 7-1045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8T19:49:08.24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9 819 6477 0 0,'0'0'-399'0'0,"-9"8"573"0"0,190-134 688 0 0,131-102-560 0 0,-267 190-143 0 0,-1-2 1 0 0,-3-1-1 0 0,-1-2 1 0 0,-2-2-1 0 0,46-72 1 0 0,-66 88 372 0 0,21-51 1 0 0,-39 78-462 0 0,12-28 784 0 0,-7 23-707 0 0,-12 16-131 0 0,-17 26-57 0 0,1 9 22 0 0,-33 45-1 0 0,32-53 49 0 0,-15 29 1 0 0,26-40 12 0 0,-1-1-1 0 0,-1-1 1 0 0,-22 25-1 0 0,31-40-16 0 0,0 1 0 0 0,1 0 1 0 0,0 0-1 0 0,1 0 0 0 0,0 0 0 0 0,-5 17 0 0 0,9-25-22 0 0,0-1 0 0 0,1 1 0 0 0,-1 0 0 0 0,0-1 0 0 0,0 1 0 0 0,1-1-1 0 0,-1 1 1 0 0,0 0 0 0 0,1-1 0 0 0,-1 1 0 0 0,0-1 0 0 0,1 1 0 0 0,-1-1-1 0 0,1 1 1 0 0,-1-1 0 0 0,1 0 0 0 0,-1 1 0 0 0,1-1 0 0 0,0 1 0 0 0,-1-1 0 0 0,1 0-1 0 0,-1 0 1 0 0,1 1 0 0 0,0-1 0 0 0,-1 0 0 0 0,1 0 0 0 0,-1 0 0 0 0,1 1-1 0 0,0-1 1 0 0,-1 0 0 0 0,1 0 0 0 0,0 0 0 0 0,-1 0 0 0 0,1 0 0 0 0,0-1 0 0 0,1 1-1 0 0,22-4 60 0 0,-23 4-55 0 0,19-5 15 0 0,-1 0 1 0 0,-1-2-1 0 0,1 0 1 0 0,-1-1-1 0 0,0-1 1 0 0,-1 0-1 0 0,23-18 1 0 0,102-91 66 0 0,-120 98-72 0 0,60-61 270 0 0,-81 80-241 0 0,10-12 670 0 0,-26 29-710 0 0,-12 14-25 0 0,-27 43 0 0 0,48-65 16 0 0,1 0 0 0 0,0 1 1 0 0,0 0-1 0 0,1 0 1 0 0,0 0-1 0 0,1 0 0 0 0,0 1 1 0 0,0-1-1 0 0,1 1 1 0 0,-2 19-1 0 0,4-27 7 0 0,1 1 0 0 0,-1-1 0 0 0,1 0 0 0 0,0 1 0 0 0,0-1 0 0 0,0 0 0 0 0,0 1 0 0 0,0-1 0 0 0,0 0 0 0 0,0 0 0 0 0,1 0 0 0 0,-1 0-1 0 0,1 0 1 0 0,0 0 0 0 0,-1-1 0 0 0,1 1 0 0 0,0 0 0 0 0,0-1 0 0 0,0 1 0 0 0,0-1 0 0 0,0 0 0 0 0,1 0 0 0 0,-1 0 0 0 0,0 0 0 0 0,0 0 0 0 0,1 0 0 0 0,-1-1 0 0 0,1 1 0 0 0,-1-1 0 0 0,1 1 0 0 0,-1-1 0 0 0,3 0-1 0 0,12 2-21 0 0,0-1 0 0 0,0-1-1 0 0,22-1 1 0 0,-38 1 9 0 0,41-4-620 0 0,70-14 0 0 0,-92 13-525 0 0,0 0 0 0 0,-1-2 0 0 0,0 0-1 0 0,0-1 1 0 0,30-17 0 0 0,-32 12-1283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016C56-1FF4-4C61-8068-216C2A04DFD2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1F4B03-26BA-4ADE-B8A5-AB5819FE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275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customXml" Target="../ink/ink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9BEBE-BFE8-D4D7-6E0B-A116D479C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AEADFA9-6630-BE01-AFA2-2346EC4C002B}"/>
              </a:ext>
            </a:extLst>
          </p:cNvPr>
          <p:cNvSpPr txBox="1"/>
          <p:nvPr/>
        </p:nvSpPr>
        <p:spPr>
          <a:xfrm>
            <a:off x="74755" y="457200"/>
            <a:ext cx="1186900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Normal Distribution: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normal distribution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continuous probability distribution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 which data is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symmetrically distributed around the mean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forming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bell-shaped curve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Most values occur near the average (mean), and fewer values appear as you move away from the center.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B3AD6AAE-07C6-680A-E4DA-FC41A3ED7E27}"/>
              </a:ext>
            </a:extLst>
          </p:cNvPr>
          <p:cNvSpPr/>
          <p:nvPr/>
        </p:nvSpPr>
        <p:spPr>
          <a:xfrm>
            <a:off x="1975104" y="3504188"/>
            <a:ext cx="7333488" cy="2347558"/>
          </a:xfrm>
          <a:custGeom>
            <a:avLst/>
            <a:gdLst>
              <a:gd name="connsiteX0" fmla="*/ 0 w 11320272"/>
              <a:gd name="connsiteY0" fmla="*/ 4892040 h 4892040"/>
              <a:gd name="connsiteX1" fmla="*/ 3593592 w 11320272"/>
              <a:gd name="connsiteY1" fmla="*/ 3584448 h 4892040"/>
              <a:gd name="connsiteX2" fmla="*/ 5687568 w 11320272"/>
              <a:gd name="connsiteY2" fmla="*/ 0 h 4892040"/>
              <a:gd name="connsiteX3" fmla="*/ 7799832 w 11320272"/>
              <a:gd name="connsiteY3" fmla="*/ 3593592 h 4892040"/>
              <a:gd name="connsiteX4" fmla="*/ 11320272 w 11320272"/>
              <a:gd name="connsiteY4" fmla="*/ 4855464 h 4892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20272" h="4892040">
                <a:moveTo>
                  <a:pt x="0" y="4892040"/>
                </a:moveTo>
                <a:cubicBezTo>
                  <a:pt x="1322832" y="4645914"/>
                  <a:pt x="2645664" y="4399788"/>
                  <a:pt x="3593592" y="3584448"/>
                </a:cubicBezTo>
                <a:cubicBezTo>
                  <a:pt x="4541520" y="2769108"/>
                  <a:pt x="4986528" y="-1524"/>
                  <a:pt x="5687568" y="0"/>
                </a:cubicBezTo>
                <a:cubicBezTo>
                  <a:pt x="6388608" y="1524"/>
                  <a:pt x="6861048" y="2784348"/>
                  <a:pt x="7799832" y="3593592"/>
                </a:cubicBezTo>
                <a:cubicBezTo>
                  <a:pt x="8738616" y="4402836"/>
                  <a:pt x="10029444" y="4629150"/>
                  <a:pt x="11320272" y="4855464"/>
                </a:cubicBezTo>
              </a:path>
            </a:pathLst>
          </a:custGeom>
          <a:solidFill>
            <a:schemeClr val="accent4">
              <a:lumMod val="75000"/>
            </a:schemeClr>
          </a:solidFill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5197FE3-8DD0-FDD0-C437-E5A8ED402466}"/>
              </a:ext>
            </a:extLst>
          </p:cNvPr>
          <p:cNvGrpSpPr/>
          <p:nvPr/>
        </p:nvGrpSpPr>
        <p:grpSpPr>
          <a:xfrm>
            <a:off x="5633064" y="5789736"/>
            <a:ext cx="492120" cy="475200"/>
            <a:chOff x="5633064" y="5789736"/>
            <a:chExt cx="492120" cy="47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B45DA51-5734-9E04-A790-0A6CAB61C803}"/>
                    </a:ext>
                  </a:extLst>
                </p14:cNvPr>
                <p14:cNvContentPartPr/>
                <p14:nvPr/>
              </p14:nvContentPartPr>
              <p14:xfrm>
                <a:off x="5684184" y="5789736"/>
                <a:ext cx="39960" cy="1166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B45DA51-5734-9E04-A790-0A6CAB61C80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648544" y="5754096"/>
                  <a:ext cx="1116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66FA1AD-F072-AE6E-15C5-071D9F1A3512}"/>
                    </a:ext>
                  </a:extLst>
                </p14:cNvPr>
                <p14:cNvContentPartPr/>
                <p14:nvPr/>
              </p14:nvContentPartPr>
              <p14:xfrm>
                <a:off x="5633064" y="5966856"/>
                <a:ext cx="492120" cy="2980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66FA1AD-F072-AE6E-15C5-071D9F1A351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597064" y="5931216"/>
                  <a:ext cx="563760" cy="369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13699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AE2CD-F4B6-8BAE-A0BF-473EEEDA5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EEDF22D-C165-97AD-3A22-0D102104B9C9}"/>
              </a:ext>
            </a:extLst>
          </p:cNvPr>
          <p:cNvSpPr txBox="1"/>
          <p:nvPr/>
        </p:nvSpPr>
        <p:spPr>
          <a:xfrm>
            <a:off x="246888" y="1115568"/>
            <a:ext cx="51269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 you have following data (age):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1B01A9-B601-E62E-B8D9-EC229ADC03D0}"/>
              </a:ext>
            </a:extLst>
          </p:cNvPr>
          <p:cNvSpPr txBox="1"/>
          <p:nvPr/>
        </p:nvSpPr>
        <p:spPr>
          <a:xfrm>
            <a:off x="64008" y="1738021"/>
            <a:ext cx="1191463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menlo"/>
              </a:rPr>
              <a:t>51, 55, 55, 55, 56, 56, 57, 57, 57, 57, 58, 58, 59, 59, 59, 59, 59, 60, 60, 60, 61, 61, 61, 61, 61, 61, 62, 62, 62, 62, 62, 62, 62, 62, 62, 62, 63, 63, 63, 63, 63, 63, 63, 63, 63, 63, 63, 63, 64, 64, 64, 64, 64, 64, 65, 65, 65, 65, 65, 65, 65, 65, 66, 66, 66, 66, 66, 66, 66, 66, 66, 66, 66, 66, 66, 67, 67, 67, 68, 68, 68, 68, 69, 69, 69, 69, 69, 69, 69, 70, 70, 70, 71, 72, 72, 72, 72, 72, 72, 74</a:t>
            </a:r>
          </a:p>
        </p:txBody>
      </p:sp>
    </p:spTree>
    <p:extLst>
      <p:ext uri="{BB962C8B-B14F-4D97-AF65-F5344CB8AC3E}">
        <p14:creationId xmlns:p14="http://schemas.microsoft.com/office/powerpoint/2010/main" val="2650809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86CD9-1CEE-C620-832F-71962E7DA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1DE0B21-6E2F-F281-EAF2-1F77A262192B}"/>
              </a:ext>
            </a:extLst>
          </p:cNvPr>
          <p:cNvSpPr txBox="1"/>
          <p:nvPr/>
        </p:nvSpPr>
        <p:spPr>
          <a:xfrm>
            <a:off x="64008" y="4536085"/>
            <a:ext cx="1191463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US" sz="2400" b="0" i="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menlo"/>
              </a:rPr>
              <a:t>51, 55, 55, 55, 56, 56, 57, 57, 57, 57, 58, 58, 59, 59, 59, 59, 59, 60, 60, 60, 61, 61, 61, 61, 61, 61, 62, 62, 62, 62, 62, 62, 62, 62, 62, 62,</a:t>
            </a:r>
            <a:r>
              <a:rPr lang="en-US" sz="2400" b="0" i="0" dirty="0">
                <a:solidFill>
                  <a:srgbClr val="FFFFFF"/>
                </a:solidFill>
                <a:effectLst/>
                <a:latin typeface="menlo"/>
              </a:rPr>
              <a:t> </a:t>
            </a:r>
            <a:r>
              <a:rPr lang="en-US" sz="24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menlo"/>
              </a:rPr>
              <a:t>63, 63, 63, 63, 63, 63, 63, 63, 63, 63, 63, 63, 64, 64, 64, 64, 64, 64, 65, 65, 65, 65, 65, 65, 65, 65, 66, 66, 66, 66, 66, 66, 66, 66, 66, 66, 66, 66, 66, 67, 67, 67, 68, 68, 68, 68, 69, 69, 69, 69, 69, 69, 69, 70, 70, 70, 71, 72, 72, 72, 72, 72, 72, 74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B6E424-106D-11EB-92F1-75F97DDD3E73}"/>
              </a:ext>
            </a:extLst>
          </p:cNvPr>
          <p:cNvSpPr txBox="1"/>
          <p:nvPr/>
        </p:nvSpPr>
        <p:spPr>
          <a:xfrm>
            <a:off x="155448" y="128016"/>
            <a:ext cx="854964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we create 2 bins of equal size. We would get following: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atinLnBrk="1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 would get  following counts for the 2 bins: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000B89-CBFE-DBBA-2893-F5C2CDABA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322" y="871783"/>
            <a:ext cx="8783276" cy="1381318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B010D1A-870B-21D2-6BD3-D8D1FD2E65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0002025"/>
              </p:ext>
            </p:extLst>
          </p:nvPr>
        </p:nvGraphicFramePr>
        <p:xfrm>
          <a:off x="770128" y="2862511"/>
          <a:ext cx="2567432" cy="1121003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14704">
                  <a:extLst>
                    <a:ext uri="{9D8B030D-6E8A-4147-A177-3AD203B41FA5}">
                      <a16:colId xmlns:a16="http://schemas.microsoft.com/office/drawing/2014/main" val="592760628"/>
                    </a:ext>
                  </a:extLst>
                </a:gridCol>
                <a:gridCol w="1252728">
                  <a:extLst>
                    <a:ext uri="{9D8B030D-6E8A-4147-A177-3AD203B41FA5}">
                      <a16:colId xmlns:a16="http://schemas.microsoft.com/office/drawing/2014/main" val="3977680361"/>
                    </a:ext>
                  </a:extLst>
                </a:gridCol>
              </a:tblGrid>
              <a:tr h="37932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Bin 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963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51 - 62.5</a:t>
                      </a:r>
                      <a:endParaRPr lang="en-US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40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62.5 - 74 </a:t>
                      </a:r>
                      <a:endParaRPr lang="en-US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05707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1178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93E2F-4875-5337-96CB-203780D76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D0A69ADD-ED34-9FD5-0E24-E66B69FACC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215" y="67654"/>
            <a:ext cx="5430481" cy="436261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564B100-8F5E-AA5B-8976-8FF03222EE35}"/>
              </a:ext>
            </a:extLst>
          </p:cNvPr>
          <p:cNvSpPr txBox="1"/>
          <p:nvPr/>
        </p:nvSpPr>
        <p:spPr>
          <a:xfrm>
            <a:off x="326135" y="664464"/>
            <a:ext cx="51236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we create histogram of these 2 bins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 would get -&gt;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436EAB-85C6-385E-C185-57DAFEC03463}"/>
              </a:ext>
            </a:extLst>
          </p:cNvPr>
          <p:cNvSpPr txBox="1"/>
          <p:nvPr/>
        </p:nvSpPr>
        <p:spPr>
          <a:xfrm>
            <a:off x="64008" y="4536085"/>
            <a:ext cx="1191463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US" sz="2400" b="0" i="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menlo"/>
              </a:rPr>
              <a:t>51, 55, 55, 55, 56, 56, 57, 57, 57, 57, 58, 58, 59, 59, 59, 59, 59, 60, 60, 60, 61, 61, 61, 61, 61, 61, 62, 62, 62, 62, 62, 62, 62, 62, 62, 62,</a:t>
            </a:r>
            <a:r>
              <a:rPr lang="en-US" sz="2400" b="0" i="0" dirty="0">
                <a:solidFill>
                  <a:srgbClr val="FFFFFF"/>
                </a:solidFill>
                <a:effectLst/>
                <a:latin typeface="menlo"/>
              </a:rPr>
              <a:t> </a:t>
            </a:r>
            <a:r>
              <a:rPr lang="en-US" sz="24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menlo"/>
              </a:rPr>
              <a:t>63, 63, 63, 63, 63, 63, 63, 63, 63, 63, 63, 63, 64, 64, 64, 64, 64, 64, 65, 65, 65, 65, 65, 65, 65, 65, 66, 66, 66, 66, 66, 66, 66, 66, 66, 66, 66, 66, 66, 67, 67, 67, 68, 68, 68, 68, 69, 69, 69, 69, 69, 69, 69, 70, 70, 70, 71, 72, 72, 72, 72, 72, 72, 74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2C37551-CFD7-341E-D912-45B18C4604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5513831"/>
              </p:ext>
            </p:extLst>
          </p:nvPr>
        </p:nvGraphicFramePr>
        <p:xfrm>
          <a:off x="770128" y="2862511"/>
          <a:ext cx="2567432" cy="1121003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14704">
                  <a:extLst>
                    <a:ext uri="{9D8B030D-6E8A-4147-A177-3AD203B41FA5}">
                      <a16:colId xmlns:a16="http://schemas.microsoft.com/office/drawing/2014/main" val="592760628"/>
                    </a:ext>
                  </a:extLst>
                </a:gridCol>
                <a:gridCol w="1252728">
                  <a:extLst>
                    <a:ext uri="{9D8B030D-6E8A-4147-A177-3AD203B41FA5}">
                      <a16:colId xmlns:a16="http://schemas.microsoft.com/office/drawing/2014/main" val="3977680361"/>
                    </a:ext>
                  </a:extLst>
                </a:gridCol>
              </a:tblGrid>
              <a:tr h="37932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Bin 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963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51 - 62.5</a:t>
                      </a:r>
                      <a:endParaRPr lang="en-US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40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62.5 - 74 </a:t>
                      </a:r>
                      <a:endParaRPr lang="en-US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05707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3199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C7C79-8BFB-92DB-BFA9-6E1A5E416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0497E9F3-F784-7B8E-687A-68662E5ECBBC}"/>
              </a:ext>
            </a:extLst>
          </p:cNvPr>
          <p:cNvSpPr txBox="1"/>
          <p:nvPr/>
        </p:nvSpPr>
        <p:spPr>
          <a:xfrm>
            <a:off x="326136" y="335280"/>
            <a:ext cx="57906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Let’s increase the bin count to 4.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So, the bin width = (74-51)/4 = 5.75</a:t>
            </a:r>
          </a:p>
          <a:p>
            <a:pPr latinLnBrk="1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 would get  following counts for the 4 bins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485F51-D65E-3D18-84DF-9EA4037C57D4}"/>
              </a:ext>
            </a:extLst>
          </p:cNvPr>
          <p:cNvSpPr txBox="1"/>
          <p:nvPr/>
        </p:nvSpPr>
        <p:spPr>
          <a:xfrm>
            <a:off x="64008" y="4536085"/>
            <a:ext cx="1199692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US" sz="2400" i="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menlo"/>
              </a:rPr>
              <a:t>51, 55, 55, 55, 56, 56, </a:t>
            </a:r>
            <a:r>
              <a:rPr lang="en-US" sz="240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menlo"/>
              </a:rPr>
              <a:t>57, 57, 57, 57, 58, 58, 59, 59, 59, 59, 59, 60, 60, 60, 61, 61, 61, 61, 61, 61, 62, 62, 62, 62, 62, 62, 62, 62, 62, 62,</a:t>
            </a:r>
            <a:r>
              <a:rPr lang="en-US" sz="2400" i="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menlo"/>
              </a:rPr>
              <a:t> 63, 63, 63, 63, 63, 63, 63, 63, 63, 63, 63, 63, 64, 64, 64, 64, 64, 64, 65, 65, 65, 65, 65, 65, 65, 65, 66, 66, 66, 66, 66, 66, 66, 66, 66, 66, 66, 66, 66, 67, 67, 67, 68, 68, 68, 68,</a:t>
            </a:r>
            <a:r>
              <a:rPr lang="en-US" sz="240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menlo"/>
              </a:rPr>
              <a:t> 69, 69, 69, 69, 69, 69, 69, 70, 70, 70, 71, 72, 72, 72, 72, 72, 72, 74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BE24280-104E-C430-D807-17EABE05F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7320" y="37585"/>
            <a:ext cx="5790672" cy="4568660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3F49F69-B860-A232-BEAB-746D3910EE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5030585"/>
              </p:ext>
            </p:extLst>
          </p:nvPr>
        </p:nvGraphicFramePr>
        <p:xfrm>
          <a:off x="1243584" y="2075027"/>
          <a:ext cx="2838724" cy="1862683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53624">
                  <a:extLst>
                    <a:ext uri="{9D8B030D-6E8A-4147-A177-3AD203B41FA5}">
                      <a16:colId xmlns:a16="http://schemas.microsoft.com/office/drawing/2014/main" val="592760628"/>
                    </a:ext>
                  </a:extLst>
                </a:gridCol>
                <a:gridCol w="1385100">
                  <a:extLst>
                    <a:ext uri="{9D8B030D-6E8A-4147-A177-3AD203B41FA5}">
                      <a16:colId xmlns:a16="http://schemas.microsoft.com/office/drawing/2014/main" val="3977680361"/>
                    </a:ext>
                  </a:extLst>
                </a:gridCol>
              </a:tblGrid>
              <a:tr h="37932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Bin 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963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51 – 56.75</a:t>
                      </a:r>
                      <a:endParaRPr lang="en-US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40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56.75 – 62.5 </a:t>
                      </a:r>
                      <a:endParaRPr lang="en-US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0570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62.5 – 68.25</a:t>
                      </a:r>
                      <a:endParaRPr lang="en-US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1967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68.25 – 74</a:t>
                      </a:r>
                      <a:endParaRPr lang="en-US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07374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2698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125EA-AFA1-82EB-D005-3151E1099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6CBABC1C-B276-2573-5730-D1C8D0840946}"/>
              </a:ext>
            </a:extLst>
          </p:cNvPr>
          <p:cNvSpPr txBox="1"/>
          <p:nvPr/>
        </p:nvSpPr>
        <p:spPr>
          <a:xfrm>
            <a:off x="326136" y="243840"/>
            <a:ext cx="601118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Let’s increase the bin count to 10: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So, the bin width = (74-51)/10 = 2.3</a:t>
            </a:r>
          </a:p>
          <a:p>
            <a:pPr latinLnBrk="1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 would get  following counts for the 10 bins: 1, 3, 6, 10, 16, 18, 24, 11,  4,  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647F62-EBAA-0D82-DCB8-6FCB01ED78D5}"/>
              </a:ext>
            </a:extLst>
          </p:cNvPr>
          <p:cNvSpPr txBox="1"/>
          <p:nvPr/>
        </p:nvSpPr>
        <p:spPr>
          <a:xfrm>
            <a:off x="64008" y="4536085"/>
            <a:ext cx="1199692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US" sz="2400" i="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menlo"/>
              </a:rPr>
              <a:t>51</a:t>
            </a:r>
            <a:r>
              <a:rPr lang="en-US" sz="240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menlo"/>
              </a:rPr>
              <a:t>, </a:t>
            </a:r>
            <a:r>
              <a:rPr lang="en-US" sz="2400" i="0" dirty="0">
                <a:solidFill>
                  <a:schemeClr val="accent5">
                    <a:lumMod val="20000"/>
                    <a:lumOff val="80000"/>
                  </a:schemeClr>
                </a:solidFill>
                <a:effectLst/>
                <a:latin typeface="menlo"/>
              </a:rPr>
              <a:t>55, 55, 55,</a:t>
            </a:r>
            <a:r>
              <a:rPr lang="en-US" sz="240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menlo"/>
              </a:rPr>
              <a:t> </a:t>
            </a:r>
            <a:r>
              <a:rPr lang="en-US" sz="2400" i="0" dirty="0">
                <a:solidFill>
                  <a:schemeClr val="accent4">
                    <a:lumMod val="75000"/>
                  </a:schemeClr>
                </a:solidFill>
                <a:effectLst/>
                <a:latin typeface="menlo"/>
              </a:rPr>
              <a:t>56, 56, 57, 57, 57, 57,</a:t>
            </a:r>
            <a:r>
              <a:rPr lang="en-US" sz="240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menlo"/>
              </a:rPr>
              <a:t> 58, 58, 59, 59, 59, 59, 59, 60, 60, 60, 61, 61, 61, 61, 61, 61, 62, 62, 62, 62, 62, 62, 62, 62, 62, 62, 63, 63, 63, 63, 63, 63, 63, 63, 63, 63, 63, 63, 64, 64, 64, 64, 64, 64, 65, 65, 65, 65, 65, 65, 65, 65, 66, 66, 66, 66, 66, 66, 66, 66, 66, 66, 66, 66, 66, 67, 67, 67, 68, 68, 68, 68, 69, 69, 69, 69, 69, 69, 69, 70, 70, 70, 71, 72, 72, 72, 72, 72, 72, 74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95239A-7BF8-2B8D-DF50-5FB05CF417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7322" y="30420"/>
            <a:ext cx="5723614" cy="4582989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5298DA0-7AF8-2325-2825-601971A356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16462"/>
              </p:ext>
            </p:extLst>
          </p:nvPr>
        </p:nvGraphicFramePr>
        <p:xfrm>
          <a:off x="576072" y="2321252"/>
          <a:ext cx="2838724" cy="1862683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53624">
                  <a:extLst>
                    <a:ext uri="{9D8B030D-6E8A-4147-A177-3AD203B41FA5}">
                      <a16:colId xmlns:a16="http://schemas.microsoft.com/office/drawing/2014/main" val="592760628"/>
                    </a:ext>
                  </a:extLst>
                </a:gridCol>
                <a:gridCol w="1385100">
                  <a:extLst>
                    <a:ext uri="{9D8B030D-6E8A-4147-A177-3AD203B41FA5}">
                      <a16:colId xmlns:a16="http://schemas.microsoft.com/office/drawing/2014/main" val="3977680361"/>
                    </a:ext>
                  </a:extLst>
                </a:gridCol>
              </a:tblGrid>
              <a:tr h="37932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Bin 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963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51 – 53.3</a:t>
                      </a:r>
                      <a:endParaRPr lang="en-US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40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53.3 – 55.6 </a:t>
                      </a:r>
                      <a:endParaRPr lang="en-US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0570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……</a:t>
                      </a:r>
                      <a:endParaRPr lang="en-US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…..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1967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71.7 – 74</a:t>
                      </a:r>
                      <a:endParaRPr lang="en-US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07374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4528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02BE6-7090-D9D9-0163-5227CEB0D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8D66EE4C-E13F-9F18-A0AC-A00135D49A9C}"/>
              </a:ext>
            </a:extLst>
          </p:cNvPr>
          <p:cNvSpPr txBox="1"/>
          <p:nvPr/>
        </p:nvSpPr>
        <p:spPr>
          <a:xfrm>
            <a:off x="326136" y="664464"/>
            <a:ext cx="55285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As bins increases, the histogram becomes bell shaped, that is takes a shape of normal distribution.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E06D76-0BAD-15C9-6BF5-8AFBE554D146}"/>
              </a:ext>
            </a:extLst>
          </p:cNvPr>
          <p:cNvSpPr txBox="1"/>
          <p:nvPr/>
        </p:nvSpPr>
        <p:spPr>
          <a:xfrm>
            <a:off x="64008" y="4536085"/>
            <a:ext cx="1199692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US" sz="240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menlo"/>
              </a:rPr>
              <a:t>51, 55, 55, 55, 56, 56, 57, 57, 57, 57, 58, 58, 59, 59, 59, 59, 59, 60, 60, 60, 61, 61, 61, 61, 61, 61, 62, 62, 62, 62, 62, 62, 62, 62, 62, 62, 63, 63, 63, 63, 63, 63, 63, 63, 63, 63, 63, 63, 64, 64, 64, 64, 64, 64, 65, 65, 65, 65, 65, 65, 65, 65, 66, 66, 66, 66, 66, 66, 66, 66, 66, 66, 66, 66, 66, 67, 67, 67, 68, 68, 68, 68, 69, 69, 69, 69, 69, 69, 69, 70, 70, 70, 71, 72, 72, 72, 72, 72, 72, 74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99D0CF-E91A-6008-9C79-26708193F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7322" y="30420"/>
            <a:ext cx="5723614" cy="458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601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26877-EFBE-4562-C9A8-74CA7EC6B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E5645A6D-1A91-D931-116F-3840D6617E40}"/>
              </a:ext>
            </a:extLst>
          </p:cNvPr>
          <p:cNvSpPr txBox="1"/>
          <p:nvPr/>
        </p:nvSpPr>
        <p:spPr>
          <a:xfrm>
            <a:off x="2118360" y="371856"/>
            <a:ext cx="5528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Code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63A46D-3010-85CE-5090-0E9B2AAA1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56" y="1014984"/>
            <a:ext cx="10528647" cy="4435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985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2DFF5-00C6-760B-4E93-8DAFC0AEA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69D5F6F-2CD6-D1F4-E8FD-A6A6D8091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827" y="137160"/>
            <a:ext cx="8260641" cy="45859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9832DF-F7CB-DBF9-7475-D4FCDE081A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931" y="2468880"/>
            <a:ext cx="4962222" cy="3973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975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18DFF-EA39-3BBA-EADE-8658D2C16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DBD6BB1-ECA4-14F0-628E-567966A2AABB}"/>
              </a:ext>
            </a:extLst>
          </p:cNvPr>
          <p:cNvSpPr txBox="1">
            <a:spLocks/>
          </p:cNvSpPr>
          <p:nvPr/>
        </p:nvSpPr>
        <p:spPr>
          <a:xfrm>
            <a:off x="301752" y="98625"/>
            <a:ext cx="11052048" cy="6041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/>
              <a:t>Normal Distribution Functions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754977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1340</TotalTime>
  <Words>1444</Words>
  <Application>Microsoft Office PowerPoint</Application>
  <PresentationFormat>Widescreen</PresentationFormat>
  <Paragraphs>64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209</cp:revision>
  <dcterms:created xsi:type="dcterms:W3CDTF">2025-09-22T02:44:38Z</dcterms:created>
  <dcterms:modified xsi:type="dcterms:W3CDTF">2026-04-07T03:09:19Z</dcterms:modified>
</cp:coreProperties>
</file>