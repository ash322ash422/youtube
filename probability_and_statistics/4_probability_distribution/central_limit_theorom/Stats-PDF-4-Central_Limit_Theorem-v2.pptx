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2.xml" ContentType="application/vnd.openxmlformats-officedocument.presentationml.notesSlide+xml"/>
  <Override PartName="/ppt/ink/ink12.xml" ContentType="application/inkml+xml"/>
  <Override PartName="/ppt/notesSlides/notesSlide3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01" r:id="rId2"/>
    <p:sldId id="271" r:id="rId3"/>
    <p:sldId id="302" r:id="rId4"/>
    <p:sldId id="303" r:id="rId5"/>
    <p:sldId id="283" r:id="rId6"/>
    <p:sldId id="285" r:id="rId7"/>
    <p:sldId id="289" r:id="rId8"/>
    <p:sldId id="290" r:id="rId9"/>
    <p:sldId id="291" r:id="rId10"/>
    <p:sldId id="294" r:id="rId11"/>
    <p:sldId id="295" r:id="rId12"/>
    <p:sldId id="292" r:id="rId13"/>
    <p:sldId id="293" r:id="rId14"/>
    <p:sldId id="286" r:id="rId15"/>
    <p:sldId id="296" r:id="rId16"/>
    <p:sldId id="299" r:id="rId17"/>
    <p:sldId id="297" r:id="rId18"/>
    <p:sldId id="300" r:id="rId19"/>
    <p:sldId id="287" r:id="rId20"/>
    <p:sldId id="288" r:id="rId21"/>
    <p:sldId id="28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57EB4-E2BA-40D4-B624-7EDCB7AD9A2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9BDC4-5E14-4967-9B6F-E5FF44006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17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9BDC4-5E14-4967-9B6F-E5FF44006E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06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9BDC4-5E14-4967-9B6F-E5FF44006EB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82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5D223-AEF9-AA92-01B1-C4F95D426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D854D7-5733-1812-6944-1370B85F8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763EBA-26EB-4586-8AA3-9CDFE6574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E4290-EC30-0A6B-99EC-C4453547C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9BDC4-5E14-4967-9B6F-E5FF44006EB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4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3.png"/><Relationship Id="rId4" Type="http://schemas.openxmlformats.org/officeDocument/2006/relationships/image" Target="../media/image1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customXml" Target="../ink/ink14.xml"/><Relationship Id="rId7" Type="http://schemas.openxmlformats.org/officeDocument/2006/relationships/image" Target="../media/image2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0.png"/><Relationship Id="rId4" Type="http://schemas.openxmlformats.org/officeDocument/2006/relationships/image" Target="../media/image20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3.png"/><Relationship Id="rId4" Type="http://schemas.openxmlformats.org/officeDocument/2006/relationships/image" Target="../media/image1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1A809-C408-5C87-DD90-B4FDEF17A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43CC12B-2F32-F13F-3E93-D259011B6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</a:t>
            </a:r>
            <a:endParaRPr 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77C320-1E48-84F8-7E52-8E6EA2F16ADC}"/>
              </a:ext>
            </a:extLst>
          </p:cNvPr>
          <p:cNvSpPr/>
          <p:nvPr/>
        </p:nvSpPr>
        <p:spPr>
          <a:xfrm>
            <a:off x="240033" y="654584"/>
            <a:ext cx="1150347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 professor administered an 8-point quiz to a small class of four students — A, B, C, and D — whose scores are: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                                  Assume these four students represent the entire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population. 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histogram graph of the population is uniform: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I take ordered samples of size = 2 with replacement from above population and compute their mean. (See the table.)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Ordered sample means that sample scores of (2,4) and (4,2)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considered different: (2,4) ≠ (4,2) 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shape of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sampling distribution of the above sample means 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7585067-63BA-017C-1BA2-966464618BA3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0C7D5C-AA39-D2E0-5EF4-DBA617DDFE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AD734E-6953-947E-7CD7-D090383E2005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029494"/>
          <a:ext cx="1786128" cy="1524000"/>
        </p:xfrm>
        <a:graphic>
          <a:graphicData uri="http://schemas.openxmlformats.org/drawingml/2006/table">
            <a:tbl>
              <a:tblPr/>
              <a:tblGrid>
                <a:gridCol w="893064">
                  <a:extLst>
                    <a:ext uri="{9D8B030D-6E8A-4147-A177-3AD203B41FA5}">
                      <a16:colId xmlns:a16="http://schemas.microsoft.com/office/drawing/2014/main" val="346269843"/>
                    </a:ext>
                  </a:extLst>
                </a:gridCol>
                <a:gridCol w="893064">
                  <a:extLst>
                    <a:ext uri="{9D8B030D-6E8A-4147-A177-3AD203B41FA5}">
                      <a16:colId xmlns:a16="http://schemas.microsoft.com/office/drawing/2014/main" val="1451667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647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194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130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951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30109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C441911-60EB-C054-B25B-60DF8B6D2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431" y="1882479"/>
            <a:ext cx="2203369" cy="13172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2D06FA-3BEC-5CD8-DD72-328D0131C3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737" y="5178899"/>
            <a:ext cx="9722596" cy="16157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A9427AB-8038-4F71-E800-60D5CDC98E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6550" y="3502152"/>
            <a:ext cx="2977783" cy="156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51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DE7A7-E651-4DD5-5FBC-27BB1329E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55DD9B-EE36-45D3-D536-2F1B17043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Theory</a:t>
            </a:r>
            <a:endParaRPr 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E59A10-FA50-974D-25CD-40607B19A631}"/>
              </a:ext>
            </a:extLst>
          </p:cNvPr>
          <p:cNvSpPr/>
          <p:nvPr/>
        </p:nvSpPr>
        <p:spPr>
          <a:xfrm>
            <a:off x="240034" y="974624"/>
            <a:ext cx="11610590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Central Limit Theorem (CLT)?</a:t>
            </a: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simple terms: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matter what the shape of the original population distribution is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distribution of the sample means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will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approximate a Normal Distribution as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sample size (n) gets larger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C133EDE-A0F1-9E03-DF5D-12633CC48FDB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C133EDE-A0F1-9E03-DF5D-12633CC48F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2C1DADA3-94B8-6169-249D-1D5527E6D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490472"/>
            <a:ext cx="7211057" cy="37398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AB9A49-58A8-3049-74D4-02250374C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848" y="2797344"/>
            <a:ext cx="1452491" cy="254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645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4C273-E9F8-37F8-807E-9ABE3565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4A6630-4BFE-B80D-7A7F-9FBD44D0D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</a:t>
            </a:r>
            <a:endParaRPr 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984382-24ED-CA80-19CF-08492A7E7EA5}"/>
              </a:ext>
            </a:extLst>
          </p:cNvPr>
          <p:cNvSpPr/>
          <p:nvPr/>
        </p:nvSpPr>
        <p:spPr>
          <a:xfrm>
            <a:off x="240034" y="572288"/>
            <a:ext cx="640765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Understanding CLT through an example: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have data from a population that has uniform distribution (UD):  All values within a range are equal likely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(E.g.: You pick a random time between 2:00 PM and 3:00 PM)</a:t>
            </a:r>
          </a:p>
          <a:p>
            <a:pPr marL="342900" indent="-342900">
              <a:buAutoNum type="arabicParenR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take a sample of 4 points from UD and calculate its mean. Then plot the mean on the histogram</a:t>
            </a:r>
          </a:p>
          <a:p>
            <a:pPr marL="342900" indent="-342900">
              <a:buFontTx/>
              <a:buAutoNum type="arabicParenR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AutoNum type="arabicParenR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take another sample of 4 points from UD and calculate its mean. Then plot the mean on the histogram</a:t>
            </a:r>
          </a:p>
          <a:p>
            <a:pPr marL="342900" indent="-342900">
              <a:buAutoNum type="arabicParenR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  You take another sample of 4 points from UD and calculate its mean. Then plot the mean on the histogram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(And you keep doing this for 1000 times)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At the end histogram will take a shape of Normal Distribution.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the essential idea: </a:t>
            </a:r>
            <a:r>
              <a:rPr lang="en-US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 matter the distribution of your population, the distribution of the sample means would always come closer to normal distribution as sample size increases.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35E1F89-C90C-A736-6388-9184B8CFC772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35E1F89-C90C-A736-6388-9184B8CFC7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26892F6-A4DA-C844-8A31-FA9397674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758170"/>
            <a:ext cx="4259549" cy="27349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AA35C6-50BC-022D-F379-52D23FF7C6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3604107"/>
            <a:ext cx="4023360" cy="30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75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9AE91-2C8D-33DF-074D-DE11EBCB1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223B40-0FB7-B083-AA0A-D81B45EB2E85}"/>
              </a:ext>
            </a:extLst>
          </p:cNvPr>
          <p:cNvSpPr/>
          <p:nvPr/>
        </p:nvSpPr>
        <p:spPr>
          <a:xfrm>
            <a:off x="240034" y="169952"/>
            <a:ext cx="1141856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(EXTRA Add-On) Another visual way to understand CLT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 have a population of 100,000 data points.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randomly draw 30 sample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it repeatedly and calculate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each time, then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distribution of those means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will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always tend toward a normal distribution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EE1A854-5B0C-64BE-B19F-E8D358212025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EE1A854-5B0C-64BE-B19F-E8D3582120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816D5EB8-3E33-6442-2E52-997EB1977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13" y="1572769"/>
            <a:ext cx="9998471" cy="528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005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CB068-BE3D-0146-E5EC-461FD012C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16B40B-4A3F-2EFE-2510-E9E5674A9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-5549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</a:t>
            </a:r>
            <a:endParaRPr 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EB4BD8-A480-0707-B1BD-CD4AD1E44B62}"/>
              </a:ext>
            </a:extLst>
          </p:cNvPr>
          <p:cNvSpPr/>
          <p:nvPr/>
        </p:nvSpPr>
        <p:spPr>
          <a:xfrm>
            <a:off x="240034" y="736880"/>
            <a:ext cx="1084249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idea of CLT: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can be anything: normal, skewed, uniform, bimodal or any weird shape.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randomly sample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it repeatedly and calculate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each time, then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distribution of those means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will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always tend toward a normal distribution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774D984-8A63-841B-F7C3-F1D703CFE641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774D984-8A63-841B-F7C3-F1D703CFE6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E3173EF-5C72-EE02-14A4-F9497C22B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86" y="2715768"/>
            <a:ext cx="10384263" cy="395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095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05794-ED77-328F-8427-6D2DB6434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1F9728E-20D4-EE2A-213E-26C02B7B7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CLT: The Effect Of Sample Size n On The Distribution Of Samples Mean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0AC6570-2EAF-22AC-3280-AED07B186085}"/>
                  </a:ext>
                </a:extLst>
              </p:cNvPr>
              <p:cNvSpPr/>
              <p:nvPr/>
            </p:nvSpPr>
            <p:spPr>
              <a:xfrm>
                <a:off x="69378" y="581432"/>
                <a:ext cx="11988431" cy="20923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1) Start with a population that has a mean of </a:t>
                </a:r>
                <a:r>
                  <a:rPr lang="el-G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μ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2 and can follow any type of distribution.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2) From this population, randomly draw n=2 data points. Then calculate the mean of those n=2 values.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4) To get reliable results, repeat this process 1,000 times for this n=2. This gives us 1,000 sample means, each representing one possible estimate of the population mean.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5) Finally, plot the distribution of these 1,000 sample means for sample size n = 2.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6) Repeat steps 2 to 5 for n =  5, 10, 30, and 50</a:t>
                </a:r>
              </a:p>
              <a:p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Observation: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As n becomes large, 50,</a:t>
                </a: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the distribution of the sample means is normal with mean = </a:t>
                </a:r>
                <a:r>
                  <a:rPr lang="el-GR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μ</a:t>
                </a:r>
                <a:r>
                  <a:rPr lang="en-US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= 2 and </a:t>
                </a:r>
              </a:p>
              <a:p>
                <a:r>
                  <a:rPr lang="en-US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standard deviation = </a:t>
                </a:r>
                <a:r>
                  <a:rPr lang="el-GR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σ</a:t>
                </a:r>
                <a:r>
                  <a:rPr lang="en-US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b="1" i="1" dirty="0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b="1" i="1" dirty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rad>
                  </m:oMath>
                </a14:m>
                <a:r>
                  <a:rPr lang="en-US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= 2 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b="1" i="1" dirty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b="1" i="1" dirty="0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𝟓𝟎</m:t>
                        </m:r>
                      </m:e>
                    </m:rad>
                  </m:oMath>
                </a14:m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. </a:t>
                </a:r>
                <a:r>
                  <a:rPr lang="en-US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The</a:t>
                </a: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standard deviation decreases with increasing n.</a:t>
                </a:r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0AC6570-2EAF-22AC-3280-AED07B1860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8" y="581432"/>
                <a:ext cx="11988431" cy="2092368"/>
              </a:xfrm>
              <a:prstGeom prst="rect">
                <a:avLst/>
              </a:prstGeom>
              <a:blipFill>
                <a:blip r:embed="rId2"/>
                <a:stretch>
                  <a:fillRect l="-254" t="-872" b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3B1F7CB-12BC-EA17-705F-E43AD293FEB5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3B1F7CB-12BC-EA17-705F-E43AD293FE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DC69748E-8BCB-D82D-797A-CC0CC9EC67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198" y="2624784"/>
            <a:ext cx="10899602" cy="20865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FC2884D-3B3B-ED80-C778-9C7DCF4BFD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559" y="4711964"/>
            <a:ext cx="11244155" cy="212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77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CECE8-6B2C-089B-85CC-CE5E2DFC6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D578090-C26C-2DB3-16F9-54F9C9D06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Effect of Population Distribution</a:t>
            </a:r>
            <a:endParaRPr lang="en-US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B1B4A1B-140A-C41B-B9D6-7AF3E58EB66E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B1B4A1B-140A-C41B-B9D6-7AF3E58EB6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1AC6A9D-924F-EFAB-4D9A-09D20EB47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1975229"/>
            <a:ext cx="11186160" cy="47823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6980D5-4E22-7817-A9DB-E7D09C995499}"/>
              </a:ext>
            </a:extLst>
          </p:cNvPr>
          <p:cNvSpPr txBox="1"/>
          <p:nvPr/>
        </p:nvSpPr>
        <p:spPr>
          <a:xfrm>
            <a:off x="1746504" y="1426464"/>
            <a:ext cx="245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Exponential Distribution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00D082-D3D9-4F69-78B3-2B035242DE8C}"/>
              </a:ext>
            </a:extLst>
          </p:cNvPr>
          <p:cNvSpPr txBox="1"/>
          <p:nvPr/>
        </p:nvSpPr>
        <p:spPr>
          <a:xfrm>
            <a:off x="374904" y="713232"/>
            <a:ext cx="11186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drew 1,000 random samples from an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exponential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calculated the mean of each sample.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resulting distribution of these sample means followed an approximately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113D03-99EF-7AD0-5822-825F6B645C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602469"/>
            <a:ext cx="2858741" cy="4165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8F282A-EBD9-DB4A-3C74-AEEA23459F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1368707"/>
            <a:ext cx="1933903" cy="22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431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6D7A6-85DB-513F-58CE-64964A417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956DD70-0268-9845-C26B-C575CBCEE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Effect of Population Distribution</a:t>
            </a:r>
            <a:endParaRPr lang="en-US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87DA395-7327-9EB5-2BB0-4B53B5F2E656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87DA395-7327-9EB5-2BB0-4B53B5F2E6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4B52A01-7050-25AB-4697-7004FCF7B5AE}"/>
              </a:ext>
            </a:extLst>
          </p:cNvPr>
          <p:cNvSpPr txBox="1"/>
          <p:nvPr/>
        </p:nvSpPr>
        <p:spPr>
          <a:xfrm>
            <a:off x="2350008" y="1481328"/>
            <a:ext cx="2046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25134F-5D11-A274-6D67-74083BA72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58" y="2092213"/>
            <a:ext cx="11052048" cy="47657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728457-724F-EAC6-6DE3-B556D6A219E6}"/>
              </a:ext>
            </a:extLst>
          </p:cNvPr>
          <p:cNvSpPr txBox="1"/>
          <p:nvPr/>
        </p:nvSpPr>
        <p:spPr>
          <a:xfrm>
            <a:off x="374904" y="713232"/>
            <a:ext cx="11186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drew 1,000 random samples from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calculated the mean of each sample.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resulting distribution of these sample means followed an approximately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C41BAF-68CF-86E1-1ADD-6BDDFB54EB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1602469"/>
            <a:ext cx="2858741" cy="416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45A658-F92A-315E-DFA0-4F3259DD8D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368707"/>
            <a:ext cx="1933903" cy="22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501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263A0-8370-49FA-C301-15978FDF5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94A0D6-6876-5FEE-38D2-180AD4613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Effect of Population Distribution</a:t>
            </a:r>
            <a:endParaRPr lang="en-US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D6A1B32-4832-42FB-15E8-99E191D2BAFE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D6A1B32-4832-42FB-15E8-99E191D2BA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BE2D90A-E409-1160-3097-3C26DAAF3C15}"/>
              </a:ext>
            </a:extLst>
          </p:cNvPr>
          <p:cNvSpPr txBox="1"/>
          <p:nvPr/>
        </p:nvSpPr>
        <p:spPr>
          <a:xfrm>
            <a:off x="2350008" y="1444752"/>
            <a:ext cx="2121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Uniform Distribution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8A6CFB-1B67-4DAD-2108-86FE892FB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1970565"/>
            <a:ext cx="11250168" cy="48874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E0371A-9C75-0DCE-9FE4-B1D195419015}"/>
              </a:ext>
            </a:extLst>
          </p:cNvPr>
          <p:cNvSpPr txBox="1"/>
          <p:nvPr/>
        </p:nvSpPr>
        <p:spPr>
          <a:xfrm>
            <a:off x="374904" y="713232"/>
            <a:ext cx="11186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drew 1,000 random samples from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uniform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calculated the mean of each sample.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resulting distribution of these sample means followed an approximately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832E40-4F02-60E4-838B-39BBB866A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1602469"/>
            <a:ext cx="2858741" cy="416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31E254-FDE6-695E-C6A0-94288D1BE5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368707"/>
            <a:ext cx="1933903" cy="22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6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64739-69D5-1528-CB5D-1664AFBA2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60393A-5C24-939F-6F38-3F29DF2BD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Effect of Population Distribution</a:t>
            </a:r>
            <a:endParaRPr lang="en-US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9D0289E-3C16-ACC6-1D7C-4FF2A09350BE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9D0289E-3C16-ACC6-1D7C-4FF2A09350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7F8F752-4B3B-710E-6D9B-8052F7757DEA}"/>
              </a:ext>
            </a:extLst>
          </p:cNvPr>
          <p:cNvSpPr txBox="1"/>
          <p:nvPr/>
        </p:nvSpPr>
        <p:spPr>
          <a:xfrm>
            <a:off x="2377440" y="1408176"/>
            <a:ext cx="2511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Multi-modal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2BC92-D21E-A0AB-99A1-947BBDBA7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2085019"/>
            <a:ext cx="11186160" cy="47729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9EF827-D6AD-B1D1-CCF7-5A9AD8D70CBE}"/>
              </a:ext>
            </a:extLst>
          </p:cNvPr>
          <p:cNvSpPr txBox="1"/>
          <p:nvPr/>
        </p:nvSpPr>
        <p:spPr>
          <a:xfrm>
            <a:off x="374904" y="713232"/>
            <a:ext cx="11186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drew 1,000 random samples from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multi-modal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calculated the mean of each sample.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resulting distribution of these sample means followed an approximately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D4328F-E6BB-D7BD-4CF0-303F5128AD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1602469"/>
            <a:ext cx="2858741" cy="416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F24B36-5E90-E7BD-8A67-45A367FCC6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368707"/>
            <a:ext cx="1933903" cy="22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907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AC370-D737-7931-7773-5FD431DC9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690211-CE4E-5D6C-E75D-FB437A36F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Effect of Population Distribution</a:t>
            </a:r>
            <a:endParaRPr lang="en-US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18301D7-CD1E-65B7-F7BC-4818216508C9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18301D7-CD1E-65B7-F7BC-4818216508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6902127-1DBE-DD92-1639-67C79DD2BAF1}"/>
              </a:ext>
            </a:extLst>
          </p:cNvPr>
          <p:cNvSpPr txBox="1"/>
          <p:nvPr/>
        </p:nvSpPr>
        <p:spPr>
          <a:xfrm>
            <a:off x="2276856" y="1618488"/>
            <a:ext cx="2541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Weird-shape Distribution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CAC831-DE0C-0FC4-1F9F-E29A40E47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2209701"/>
            <a:ext cx="10875264" cy="46482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9BA688-246B-C2A1-CCF8-24D4E7B4B91E}"/>
              </a:ext>
            </a:extLst>
          </p:cNvPr>
          <p:cNvSpPr txBox="1"/>
          <p:nvPr/>
        </p:nvSpPr>
        <p:spPr>
          <a:xfrm>
            <a:off x="374904" y="713232"/>
            <a:ext cx="11186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drew 1,000 random samples from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weird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calculated the mean of each sample.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resulting distribution of these sample means followed an approximately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1B07F4-1259-6D98-F5BF-94FD030D8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1602469"/>
            <a:ext cx="2858741" cy="416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CDC02C-3C27-4A95-028C-0629D82474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368707"/>
            <a:ext cx="1933903" cy="22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799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CCDF6-917C-16F0-4FEF-3C4579CBE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0E8F3F-732D-7272-DCCA-4A8E02224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Effect of Population Distribution</a:t>
            </a:r>
            <a:endParaRPr lang="en-US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F694EC9-D74D-ACD4-16F7-672C7A7DE92A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F694EC9-D74D-ACD4-16F7-672C7A7DE9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F2D936D-5945-D079-20FA-A7E7C5CEE7DD}"/>
              </a:ext>
            </a:extLst>
          </p:cNvPr>
          <p:cNvSpPr txBox="1"/>
          <p:nvPr/>
        </p:nvSpPr>
        <p:spPr>
          <a:xfrm>
            <a:off x="1865376" y="1618488"/>
            <a:ext cx="2059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Poisson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846AAB-F475-AE57-341F-3C55ED4CB2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2359152"/>
            <a:ext cx="10505042" cy="44988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3C54ED-3F45-5593-B75A-AA61CBE3808E}"/>
              </a:ext>
            </a:extLst>
          </p:cNvPr>
          <p:cNvSpPr txBox="1"/>
          <p:nvPr/>
        </p:nvSpPr>
        <p:spPr>
          <a:xfrm>
            <a:off x="374904" y="713232"/>
            <a:ext cx="11186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drew 1,000 random samples from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Poisson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calculated the mean of each sample.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resulting distribution of these sample means followed an approximately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1D528C-A2F3-6C3F-D13D-99AA9D6539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602469"/>
            <a:ext cx="2858741" cy="4165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AFDDBE-21D0-FCA7-7747-CF9999FB18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1368707"/>
            <a:ext cx="1933903" cy="22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031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BB8E7-0B65-9963-6F28-C77C5CF4B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D622FB-F039-5E5D-1948-516F0FD2A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Effect of Population Distribution</a:t>
            </a:r>
            <a:endParaRPr lang="en-US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61235B2-0C8A-DECC-015F-849FB78A65B8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61235B2-0C8A-DECC-015F-849FB78A65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DC6B463-D187-FFC3-E4D4-22026440148D}"/>
              </a:ext>
            </a:extLst>
          </p:cNvPr>
          <p:cNvSpPr txBox="1"/>
          <p:nvPr/>
        </p:nvSpPr>
        <p:spPr>
          <a:xfrm>
            <a:off x="2258568" y="1600200"/>
            <a:ext cx="2169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Binomial Distribution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B91911-866D-FD40-2988-D2377B4B33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" y="2210169"/>
            <a:ext cx="10792968" cy="46199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22600D-24FA-6399-50D4-0B4FB79EFF91}"/>
              </a:ext>
            </a:extLst>
          </p:cNvPr>
          <p:cNvSpPr txBox="1"/>
          <p:nvPr/>
        </p:nvSpPr>
        <p:spPr>
          <a:xfrm>
            <a:off x="374904" y="713232"/>
            <a:ext cx="11567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drew 1,000 random samples from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Binomial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calculated the mean of each sample.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resulting distribution of these sample means followed an approximately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1A5506-47BC-A8E3-DAE9-9072628676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602469"/>
            <a:ext cx="2858741" cy="4165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1BC0B8-7BE4-90C6-B1E3-9E67E35B02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1368707"/>
            <a:ext cx="1933903" cy="22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298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00D4D-8450-1BA5-41E1-75F36212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037A40-621F-3D4D-C0D6-DAB13A49E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The Essence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2491818-43EE-D517-DD64-73C50B86AFF9}"/>
                  </a:ext>
                </a:extLst>
              </p:cNvPr>
              <p:cNvSpPr/>
              <p:nvPr/>
            </p:nvSpPr>
            <p:spPr>
              <a:xfrm>
                <a:off x="240033" y="682016"/>
                <a:ext cx="11866623" cy="25545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Two important observation about distribution of sample means: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If population mean is </a:t>
                </a:r>
                <a:r>
                  <a:rPr lang="el-G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μ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population standard deviation  is </a:t>
                </a:r>
                <a:r>
                  <a:rPr lang="el-G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σ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then as you take larger and larger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samples of size n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the distribution of sample means will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normal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 have following 2 characteristic: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the spread (standard deviation)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shrinks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grows — that’s why the histograms get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narrower and smoother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2491818-43EE-D517-DD64-73C50B86AF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33" y="682016"/>
                <a:ext cx="11866623" cy="2554545"/>
              </a:xfrm>
              <a:prstGeom prst="rect">
                <a:avLst/>
              </a:prstGeom>
              <a:blipFill>
                <a:blip r:embed="rId2"/>
                <a:stretch>
                  <a:fillRect l="-514" t="-1432" r="-873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C9CC2B1-FEA4-A148-3BA7-DE2C98FB0941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C9CC2B1-FEA4-A148-3BA7-DE2C98FB09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FD8668C-8811-BB42-B13F-05FE258624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297" y="2138757"/>
            <a:ext cx="3993089" cy="581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AAB947-ED64-471B-81CA-EA175436F4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297" y="1764789"/>
            <a:ext cx="2738575" cy="3180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75F6FA-FDBD-33E4-BE01-5B21E2ED8D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254" y="3325091"/>
            <a:ext cx="5572482" cy="33924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1C3CD6-26AE-BCAA-ACCE-5E45B06434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7728" y="3330649"/>
            <a:ext cx="4507992" cy="352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19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C8160-4221-B752-0E39-F5DC868FF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12D92A1-0C50-275B-ADC6-96E6D5B9B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Application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B179D5B-258E-FF47-A6F2-7E25B5F2D88E}"/>
                  </a:ext>
                </a:extLst>
              </p:cNvPr>
              <p:cNvSpPr/>
              <p:nvPr/>
            </p:nvSpPr>
            <p:spPr>
              <a:xfrm>
                <a:off x="240033" y="654584"/>
                <a:ext cx="11756895" cy="6238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 professor administered an 8-point quiz to a small class of four students — A, B, C, and D — whose scores are: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                                      Assume these four students represent the entire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population. 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histogram graph of the population is uniform: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How many ordered samples of size = 2 with replacement can be drawn from above population ?</a:t>
                </a: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Verify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 theoretical relationships between the population parameters and the sampling distribution parameters:</a:t>
                </a: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where -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limUpp>
                          <m:limUppPr>
                            <m:ctrlPr>
                              <a:rPr lang="ar-AE" sz="16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ar-AE" sz="16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lim>
                            <m:r>
                              <a:rPr lang="ar-AE" sz="16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ˉ</m:t>
                            </m:r>
                          </m:lim>
                        </m:limUpp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limUpp>
                          <m:limUppPr>
                            <m:ctrlPr>
                              <a:rPr lang="ar-AE" sz="16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ar-AE" sz="16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lim>
                            <m:r>
                              <a:rPr lang="ar-AE" sz="16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ˉ</m:t>
                            </m:r>
                          </m:lim>
                        </m:limUpp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are the mean and standard deviation of the sampling distribution of sample means, respectively.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- 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are the population mean and standard deviation, respectively,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- 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2 is the sample size.</a:t>
                </a: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Finally,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examine the shape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sampling distribution of the sample means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and compare it to the shape of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population distribution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B179D5B-258E-FF47-A6F2-7E25B5F2D8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33" y="654584"/>
                <a:ext cx="11756895" cy="6238439"/>
              </a:xfrm>
              <a:prstGeom prst="rect">
                <a:avLst/>
              </a:prstGeom>
              <a:blipFill>
                <a:blip r:embed="rId2"/>
                <a:stretch>
                  <a:fillRect l="-415" t="-488" b="-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0C7D5C-AA39-D2E0-5EF4-DBA617DDFEAD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0C7D5C-AA39-D2E0-5EF4-DBA617DDFE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DB90A10-6D01-F93D-011D-71B6540F74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8480" y="4508713"/>
            <a:ext cx="936681" cy="85440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149ECFB-4267-6736-9F96-B8D9608D4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192181"/>
              </p:ext>
            </p:extLst>
          </p:nvPr>
        </p:nvGraphicFramePr>
        <p:xfrm>
          <a:off x="609600" y="1029494"/>
          <a:ext cx="1786128" cy="1676400"/>
        </p:xfrm>
        <a:graphic>
          <a:graphicData uri="http://schemas.openxmlformats.org/drawingml/2006/table">
            <a:tbl>
              <a:tblPr/>
              <a:tblGrid>
                <a:gridCol w="893064">
                  <a:extLst>
                    <a:ext uri="{9D8B030D-6E8A-4147-A177-3AD203B41FA5}">
                      <a16:colId xmlns:a16="http://schemas.microsoft.com/office/drawing/2014/main" val="346269843"/>
                    </a:ext>
                  </a:extLst>
                </a:gridCol>
                <a:gridCol w="893064">
                  <a:extLst>
                    <a:ext uri="{9D8B030D-6E8A-4147-A177-3AD203B41FA5}">
                      <a16:colId xmlns:a16="http://schemas.microsoft.com/office/drawing/2014/main" val="1451667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647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194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130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951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30109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E508317-5F12-5F60-DB66-1B074CF9A6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1065" y="2480794"/>
            <a:ext cx="2464283" cy="147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664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34623-FB01-7BDC-65FD-83E50C9CB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DAE41F1-7EC1-85B9-2505-C12EE5FD3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Application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25BC08B-F69D-269A-A4ED-BDD56C7CDD03}"/>
                  </a:ext>
                </a:extLst>
              </p:cNvPr>
              <p:cNvSpPr/>
              <p:nvPr/>
            </p:nvSpPr>
            <p:spPr>
              <a:xfrm>
                <a:off x="240033" y="682016"/>
                <a:ext cx="11766039" cy="62786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the population is [2, 6, 4, 8]. These are scores of students.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mean of the population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is  (2+6+4+8) / 4 = 5.0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standard deviation of the population </a:t>
                </a:r>
                <a:r>
                  <a:rPr lang="el-GR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σ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Now, if all ordered samples of size 2 are taken with replacement and the mean of each sample is found, the distribution of the samples would be as shown: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sample means are [2, 3, 4, 5, 3, 4, 5, 6, 4, 5, 6, 7, 5, 6, 7, 8]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25BC08B-F69D-269A-A4ED-BDD56C7CDD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33" y="682016"/>
                <a:ext cx="11766039" cy="6278642"/>
              </a:xfrm>
              <a:prstGeom prst="rect">
                <a:avLst/>
              </a:prstGeom>
              <a:blipFill>
                <a:blip r:embed="rId2"/>
                <a:stretch>
                  <a:fillRect l="-518" t="-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D666DE5-0121-23C6-AE8D-CDA98C9DFECB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D666DE5-0121-23C6-AE8D-CDA98C9DFE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DE077E6-0443-79BB-C81D-345243A9A2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5789" y="2100170"/>
            <a:ext cx="4907524" cy="11776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8FA493-D24C-259B-8691-D7E561D80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617" y="4215771"/>
            <a:ext cx="3441061" cy="180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158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9BF48-90E1-E3D4-295E-7804EE7DE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5574386-A475-54B2-4C3A-941219FD7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Application</a:t>
            </a:r>
            <a:endParaRPr 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C08E8-8B9D-F95F-F4FF-0BF5F34FD34C}"/>
              </a:ext>
            </a:extLst>
          </p:cNvPr>
          <p:cNvSpPr/>
          <p:nvPr/>
        </p:nvSpPr>
        <p:spPr>
          <a:xfrm>
            <a:off x="240033" y="682016"/>
            <a:ext cx="11503475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frequency distribution of sample means is as follows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From this we can draw the graph of the sample means which is a Bell curve(i.e. Normal) as shown: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5E6FF30-E20A-564F-1AD5-C6AB2DEFF56C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5E6FF30-E20A-564F-1AD5-C6AB2DEFF5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5B9909-5C10-7A86-1A4B-BB3FE1512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404766"/>
              </p:ext>
            </p:extLst>
          </p:nvPr>
        </p:nvGraphicFramePr>
        <p:xfrm>
          <a:off x="576072" y="1056926"/>
          <a:ext cx="2779776" cy="3200400"/>
        </p:xfrm>
        <a:graphic>
          <a:graphicData uri="http://schemas.openxmlformats.org/drawingml/2006/table">
            <a:tbl>
              <a:tblPr/>
              <a:tblGrid>
                <a:gridCol w="1389888">
                  <a:extLst>
                    <a:ext uri="{9D8B030D-6E8A-4147-A177-3AD203B41FA5}">
                      <a16:colId xmlns:a16="http://schemas.microsoft.com/office/drawing/2014/main" val="2252171602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1520302910"/>
                    </a:ext>
                  </a:extLst>
                </a:gridCol>
              </a:tblGrid>
              <a:tr h="231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Sample Mean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Frequency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3084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389332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210125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089555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779167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474472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956677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93984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A4A9B20-55D7-9111-4CD7-73EF5C6CF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7334" y="4773167"/>
            <a:ext cx="3189278" cy="179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44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0DEBF-C7CC-0E71-6DA0-86820E5C6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487E9DB-A175-32A9-7B84-475E2CC84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Application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69189BA-6940-463B-3DDA-4F8C940C2141}"/>
                  </a:ext>
                </a:extLst>
              </p:cNvPr>
              <p:cNvSpPr/>
              <p:nvPr/>
            </p:nvSpPr>
            <p:spPr>
              <a:xfrm>
                <a:off x="240033" y="682016"/>
                <a:ext cx="11503475" cy="60726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mean of the sample means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is 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(2 + 3 + 4 + 5 + 3 + 4 + 5 + 6 + 4 + 5 + 6 + 7 + 5 + 6 + 7 + 8) / 16 = 5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This is same as the population mean. 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standard deviation of the sample means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This is same as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2.236/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1.581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Conclusion: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shape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the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sampling distribution of the sample means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is bell curve.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mean and standard deviation of the sampling distribution of sample means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satisfy following relation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69189BA-6940-463B-3DDA-4F8C940C21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33" y="682016"/>
                <a:ext cx="11503475" cy="6072688"/>
              </a:xfrm>
              <a:prstGeom prst="rect">
                <a:avLst/>
              </a:prstGeom>
              <a:blipFill>
                <a:blip r:embed="rId2"/>
                <a:stretch>
                  <a:fillRect l="-583" t="-602" r="-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7BD1AE7-13C4-CA83-C926-CD665B626109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7BD1AE7-13C4-CA83-C926-CD665B6261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4070D3D2-A590-0FAF-D5F3-25F070E4FD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8636" y="2444439"/>
            <a:ext cx="7425858" cy="12569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463E45-8F7A-68CD-8ACF-0D12D55CCE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7592" y="5783745"/>
            <a:ext cx="1064459" cy="97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459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5A5A3-47AB-80FD-2786-A52F4F52F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8C240BB-E5DC-52F5-3870-24422F3DF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Application</a:t>
            </a:r>
            <a:endParaRPr 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29BE63-36FB-25C6-B11E-1724E73BA04C}"/>
              </a:ext>
            </a:extLst>
          </p:cNvPr>
          <p:cNvSpPr/>
          <p:nvPr/>
        </p:nvSpPr>
        <p:spPr>
          <a:xfrm>
            <a:off x="121161" y="682016"/>
            <a:ext cx="10238991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Imagine a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factory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produces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light bulbs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light bulb has a lifetime (in hours), and they want to determine average lifetime of bulbs.</a:t>
            </a:r>
          </a:p>
          <a:p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it’s impossible to test </a:t>
            </a:r>
            <a:r>
              <a:rPr lang="en-US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single bulb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that would destroy them all!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instead, the quality control team takes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say, 30 bulbs each day — and measures their lifetimes.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 though,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 distribution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lifetimes might be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skewed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(some bulbs last much longer than average, some much shorter),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Central Limit Theorem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says that if enough samples are taken, say maybe for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50 days,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distribution of sample means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(average lifetimes from those 30 bulbs) will be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approximately normal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Because of CLT, the company can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the normal distribution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make predictions about average lifetime.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can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 confidence intervals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 hypothesis tests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on the average bulb life.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CLT, we’d need to know the true population distribution (which we almost never do).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57D5DD5-FAA7-078E-A94E-EAC0C7C44476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57D5DD5-FAA7-078E-A94E-EAC0C7C444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6DFAADF-FB8C-0F8B-2FFE-265AD2F60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5517" y="1139216"/>
            <a:ext cx="1357783" cy="10907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4880B1-8E95-3FC9-2EF4-E5FB46A682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2957116"/>
            <a:ext cx="2840736" cy="112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438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DE334-76E7-3A04-05A6-4FB48AA4C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7A81E-7CB7-9957-7960-B5FD3E9A9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376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AC7AC9-1FCD-C900-2F69-B9C43E438185}"/>
              </a:ext>
            </a:extLst>
          </p:cNvPr>
          <p:cNvSpPr/>
          <p:nvPr/>
        </p:nvSpPr>
        <p:spPr>
          <a:xfrm>
            <a:off x="220798" y="870448"/>
            <a:ext cx="1167554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population is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daily spending by customers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at a store: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It’s highly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skewed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because a few people spend a LOT.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 daily spending: $50, variance: known.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 1 random customer → that spending is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normal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take 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of 100 customers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find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average spending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that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average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nearly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normally distributed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repeat this process (many samples of 100),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histogram of those averages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will look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bell-shaped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centered at the true mean ($50).</a:t>
            </a:r>
          </a:p>
        </p:txBody>
      </p:sp>
    </p:spTree>
    <p:extLst>
      <p:ext uri="{BB962C8B-B14F-4D97-AF65-F5344CB8AC3E}">
        <p14:creationId xmlns:p14="http://schemas.microsoft.com/office/powerpoint/2010/main" val="226782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3192</TotalTime>
  <Words>1741</Words>
  <Application>Microsoft Office PowerPoint</Application>
  <PresentationFormat>Widescreen</PresentationFormat>
  <Paragraphs>240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Office Theme</vt:lpstr>
      <vt:lpstr>Central Limit Theorem (CLT)</vt:lpstr>
      <vt:lpstr>Central Limit Theorem (CLT): Theory</vt:lpstr>
      <vt:lpstr>Central Limit Theorem (CLT)</vt:lpstr>
      <vt:lpstr>PowerPoint Presentation</vt:lpstr>
      <vt:lpstr>Central Limit Theorem (CLT)</vt:lpstr>
      <vt:lpstr>CLT: The Effect Of Sample Size n On The Distribution Of Samples Mean</vt:lpstr>
      <vt:lpstr>Central Limit Theorem (CLT): Effect of Population Distribution</vt:lpstr>
      <vt:lpstr>Central Limit Theorem (CLT): Effect of Population Distribution</vt:lpstr>
      <vt:lpstr>Central Limit Theorem (CLT): Effect of Population Distribution</vt:lpstr>
      <vt:lpstr>Central Limit Theorem (CLT): Effect of Population Distribution</vt:lpstr>
      <vt:lpstr>Central Limit Theorem (CLT): Effect of Population Distribution</vt:lpstr>
      <vt:lpstr>Central Limit Theorem (CLT): Effect of Population Distribution</vt:lpstr>
      <vt:lpstr>Central Limit Theorem (CLT): Effect of Population Distribution</vt:lpstr>
      <vt:lpstr>Central Limit Theorem (CLT): The Essence</vt:lpstr>
      <vt:lpstr>Central Limit Theorem (CLT): Application</vt:lpstr>
      <vt:lpstr>Central Limit Theorem (CLT): Application</vt:lpstr>
      <vt:lpstr>Central Limit Theorem (CLT): Application</vt:lpstr>
      <vt:lpstr>Central Limit Theorem (CLT): Application</vt:lpstr>
      <vt:lpstr>Central Limit Theorem (CLT): Application</vt:lpstr>
      <vt:lpstr>EXTRA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288</cp:revision>
  <dcterms:created xsi:type="dcterms:W3CDTF">2025-09-22T02:44:38Z</dcterms:created>
  <dcterms:modified xsi:type="dcterms:W3CDTF">2026-04-07T18:29:12Z</dcterms:modified>
</cp:coreProperties>
</file>