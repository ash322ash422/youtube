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3" r:id="rId2"/>
    <p:sldId id="279" r:id="rId3"/>
    <p:sldId id="274" r:id="rId4"/>
    <p:sldId id="276" r:id="rId5"/>
    <p:sldId id="277" r:id="rId6"/>
    <p:sldId id="260" r:id="rId7"/>
    <p:sldId id="28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D46CA-DADD-48B7-9585-0545AF96B2B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34005-00D7-48C2-A164-94768CDBC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4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3BBF7-E59E-4163-ACB9-0E40D427E7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10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6C481-79A1-4053-086C-A73F6408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B00AAE-9D90-778B-660F-5B5B1A24B82A}"/>
              </a:ext>
            </a:extLst>
          </p:cNvPr>
          <p:cNvSpPr txBox="1"/>
          <p:nvPr/>
        </p:nvSpPr>
        <p:spPr>
          <a:xfrm>
            <a:off x="301752" y="802886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 Continuous Probability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553607-D6F5-A008-1AB9-670EC0ABEC84}"/>
              </a:ext>
            </a:extLst>
          </p:cNvPr>
          <p:cNvSpPr txBox="1"/>
          <p:nvPr/>
        </p:nvSpPr>
        <p:spPr>
          <a:xfrm>
            <a:off x="96012" y="1284607"/>
            <a:ext cx="107121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 applies when outcomes are uncountable, i.e., can take </a:t>
            </a: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any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value in a range. For examples height of people, weight of boxes, temperature, time to finish a task, etc. : Temperature could be 34, 32.3, -5.2, etc.</a:t>
            </a:r>
          </a:p>
          <a:p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To calculate PDF for continuous variables, we calculate probability over an 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interval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 The area under the curve represents probability for that interval. </a:t>
            </a:r>
          </a:p>
          <a:p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Unlike discrete case, the probability of a single value is technically 0.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859CFDF-F81E-1A4A-3BF3-F6AFB9D8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2 Types of Probability Distribution Functions: Discrete and Continuous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277FC5-12BE-C267-CFBD-E418EA0D6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195" y="3566359"/>
            <a:ext cx="6691141" cy="298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75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1CDF4-536B-2C6B-CCF9-B2D02B76A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BE9DF6-A5A6-3073-AD9A-8D06A32CB5C2}"/>
              </a:ext>
            </a:extLst>
          </p:cNvPr>
          <p:cNvSpPr txBox="1"/>
          <p:nvPr/>
        </p:nvSpPr>
        <p:spPr>
          <a:xfrm>
            <a:off x="301752" y="802886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 Continuous Probability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1610B5-6E4A-9B7C-EF34-5156351B0CA2}"/>
              </a:ext>
            </a:extLst>
          </p:cNvPr>
          <p:cNvSpPr txBox="1"/>
          <p:nvPr/>
        </p:nvSpPr>
        <p:spPr>
          <a:xfrm>
            <a:off x="96012" y="1284607"/>
            <a:ext cx="8545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Example of continuous PDF: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ED752D-5F6E-CF32-A363-CC9AA3D94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318257"/>
            <a:ext cx="5118932" cy="18265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54724D8-08AE-2ECB-A2A7-88F554078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28" y="1951906"/>
            <a:ext cx="5737529" cy="1888574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43AF280B-F12F-163D-02FB-8B083DAD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2 Types of Probability Distribution Functions: Discrete and Continuous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13BFA-20B3-6CBB-40C5-3B6835108D6E}"/>
              </a:ext>
            </a:extLst>
          </p:cNvPr>
          <p:cNvSpPr txBox="1"/>
          <p:nvPr/>
        </p:nvSpPr>
        <p:spPr>
          <a:xfrm>
            <a:off x="6583680" y="5029200"/>
            <a:ext cx="4429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find area under curve using z-table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A9DD6-9823-3D45-744B-7FBE8477093E}"/>
              </a:ext>
            </a:extLst>
          </p:cNvPr>
          <p:cNvSpPr txBox="1"/>
          <p:nvPr/>
        </p:nvSpPr>
        <p:spPr>
          <a:xfrm>
            <a:off x="6626352" y="2566416"/>
            <a:ext cx="514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find area of rectangle using length X height</a:t>
            </a:r>
          </a:p>
        </p:txBody>
      </p:sp>
    </p:spTree>
    <p:extLst>
      <p:ext uri="{BB962C8B-B14F-4D97-AF65-F5344CB8AC3E}">
        <p14:creationId xmlns:p14="http://schemas.microsoft.com/office/powerpoint/2010/main" val="595728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F226A-AC00-2571-AC5A-B524A84C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D9755F6-87CA-0E62-5516-99336F50C8F5}"/>
              </a:ext>
            </a:extLst>
          </p:cNvPr>
          <p:cNvSpPr txBox="1"/>
          <p:nvPr/>
        </p:nvSpPr>
        <p:spPr>
          <a:xfrm>
            <a:off x="301752" y="802886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 Continuous Probability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40B92A-0403-9C77-6699-4996CCE45758}"/>
              </a:ext>
            </a:extLst>
          </p:cNvPr>
          <p:cNvSpPr txBox="1"/>
          <p:nvPr/>
        </p:nvSpPr>
        <p:spPr>
          <a:xfrm>
            <a:off x="96012" y="1284607"/>
            <a:ext cx="101086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Imagine a bus that runs every 10 minutes, and you arrive randomly at the bus stop. Your waiting time X follows a Uniform(0, 10) distribution, i.e. you could wait anywhere between 0 and 10 minutes with equal probability. After arriving at bus stop, what is the probability that you wait 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than 4 minutes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than 7 minutes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 3 and 8 minutes</a:t>
            </a:r>
          </a:p>
          <a:p>
            <a:pPr marL="342900" indent="-342900">
              <a:buFontTx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 3 and 12 minutes</a:t>
            </a:r>
          </a:p>
          <a:p>
            <a:pPr marL="342900" indent="-342900">
              <a:buFontTx/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 11 and 12 minutes</a:t>
            </a:r>
          </a:p>
          <a:p>
            <a:pPr marL="342900" indent="-342900">
              <a:buAutoNum type="alphaL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Exactly 2 minutes</a:t>
            </a:r>
          </a:p>
          <a:p>
            <a:pPr marL="342900" indent="-342900">
              <a:buAutoNum type="alphaLcParenR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P(0 &lt; X &lt; 4)     = Area between 0 and 4      = 0.1 x 4 = 0.4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P(7 &lt; X &lt; 10)   = Area between 7 and 10   = 0.1 x 3 = 0.3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P(3 &lt; X &lt; 8)      = Area between 3 and 8     = 0.1 x 5 = 0.5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P(3 &lt; X &lt; 12)   = Area between 3 and 12   = 0.1 x 7 = 0.7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P(11 &lt; X &lt; 12) = Area between 11 and 12 = 0    x 1 = 0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P(X = 2 )          = Area between 2 and 2      = 0.1 x 0 = 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94F656-26FE-663E-A508-8D825F1B6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020" y="2773985"/>
            <a:ext cx="8377692" cy="18582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03CFE2-9DAF-46F9-2595-819575B6A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529" y="1335802"/>
            <a:ext cx="1537222" cy="593581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07FEBEE2-D140-07AC-BF4B-D70CAD7A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2 Types of Probability Distribution Functions: Discrete and Continuous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75180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6F21-3C6F-42E8-A413-F13DE799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7A121F-4837-EE27-1D2D-2613C9559767}"/>
              </a:ext>
            </a:extLst>
          </p:cNvPr>
          <p:cNvSpPr txBox="1"/>
          <p:nvPr/>
        </p:nvSpPr>
        <p:spPr>
          <a:xfrm>
            <a:off x="301752" y="802886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 Continuous Probability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B9EDEE-A16F-DD41-1473-99C5C5F94886}"/>
                  </a:ext>
                </a:extLst>
              </p:cNvPr>
              <p:cNvSpPr txBox="1"/>
              <p:nvPr/>
            </p:nvSpPr>
            <p:spPr>
              <a:xfrm>
                <a:off x="96012" y="1284607"/>
                <a:ext cx="11138916" cy="5324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 Adult male heights, X, in a city are approximately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normally distributed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with mean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=170</m:t>
                    </m:r>
                    <m:r>
                      <m:rPr>
                        <m:nor/>
                      </m:rP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cm</m:t>
                    </m:r>
                    <m:r>
                      <m:rPr>
                        <m:nor/>
                      </m:rPr>
                      <a:rPr lang="en-US" sz="20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standard deviation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m:rPr>
                        <m:nor/>
                      </m:rP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cm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If you randomly pick an adult, then what is the probability that his</a:t>
                </a:r>
              </a:p>
              <a:p>
                <a:pPr marL="342900" indent="-342900">
                  <a:buFontTx/>
                  <a:buAutoNum type="alphaLcParenR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Height is less than 155 cm;  </a:t>
                </a:r>
              </a:p>
              <a:p>
                <a:pPr marL="342900" indent="-342900">
                  <a:buFontTx/>
                  <a:buAutoNum type="alphaLcParenR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Height is greater than 190 cm;</a:t>
                </a:r>
              </a:p>
              <a:p>
                <a:pPr marL="342900" indent="-342900">
                  <a:buFontTx/>
                  <a:buAutoNum type="alphaLcParenR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Height is between 160 cm and 180 cm</a:t>
                </a:r>
              </a:p>
              <a:p>
                <a:pPr marL="342900" indent="-342900">
                  <a:buFontTx/>
                  <a:buAutoNum type="alphaLcParenR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Height is exactly 190 cm;</a:t>
                </a:r>
              </a:p>
              <a:p>
                <a:pPr marL="342900" indent="-342900">
                  <a:buFontTx/>
                  <a:buAutoNum type="alphaLcParenR"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 It’s given that height is normally distributed. So, to answer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above we convert above values into z-score and then we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calculate their probability using z-table.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AutoNum type="alphaLcParenR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X = 155 cm  -&gt; z-score = (X -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/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(155 - 170) / 10 = -1.5</a:t>
                </a:r>
              </a:p>
              <a:p>
                <a:pPr marL="342900" indent="-342900">
                  <a:buAutoNum type="alphaLcParenR"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 X &lt; 155 )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P ( z &lt; -1.5)     ( this is area under the curve and now use z-table )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0.0668 = 6.68%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B9EDEE-A16F-DD41-1473-99C5C5F94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" y="1284607"/>
                <a:ext cx="11138916" cy="5324535"/>
              </a:xfrm>
              <a:prstGeom prst="rect">
                <a:avLst/>
              </a:prstGeom>
              <a:blipFill>
                <a:blip r:embed="rId2"/>
                <a:stretch>
                  <a:fillRect l="-602" t="-687" b="-1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BD816A0-6841-66C8-76A0-41A479CA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133" y="1216151"/>
            <a:ext cx="878891" cy="11267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06DEA5-02E3-1227-9ECA-ABD5EF3C7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2294397"/>
            <a:ext cx="4634485" cy="403433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EBCEF1A-337C-7479-8C00-79EAEE18A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2 Types of Probability Distribution Functions: Discrete and Continuous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651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AD9C-0AC3-E896-EA65-2336B5CDD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64C955-C579-31AE-5AB7-BB797E7C7621}"/>
              </a:ext>
            </a:extLst>
          </p:cNvPr>
          <p:cNvSpPr txBox="1"/>
          <p:nvPr/>
        </p:nvSpPr>
        <p:spPr>
          <a:xfrm>
            <a:off x="301752" y="802886"/>
            <a:ext cx="8215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 Continuous Probability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8E98CE-7AC2-4F7F-DA40-9500644E18D3}"/>
                  </a:ext>
                </a:extLst>
              </p:cNvPr>
              <p:cNvSpPr txBox="1"/>
              <p:nvPr/>
            </p:nvSpPr>
            <p:spPr>
              <a:xfrm>
                <a:off x="96012" y="1284607"/>
                <a:ext cx="10108692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b) X = 190 cm  -&gt; z-score = (X -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/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(190 - 170) / 10 = 2.0</a:t>
                </a:r>
              </a:p>
              <a:p>
                <a:pPr marL="342900" indent="-342900">
                  <a:buAutoNum type="alphaLcParenR"/>
                </a:pPr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 X &gt; 190 )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P ( z &gt; 2.0)      ( this is area under the curve and now use z-table )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 – 0.977 = 0.023 = 2.3%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c) X = 160 cm  -&gt; z-score = (X -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/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(160 - 170) / 10 = - 1.0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X = 180 cm  -&gt; z-score = (X -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/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(180 - 170) / 10 = +1.0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 (160 &lt; X &lt; 180)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P (-1.0 &lt; z &lt; +1.0) ( this is area under the curve and now use z-table )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0.6827 = 68.27%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d) X = 190 cm.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do not need to convert this into z-score because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P(X = 190 cm) = 0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8E98CE-7AC2-4F7F-DA40-9500644E1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" y="1284607"/>
                <a:ext cx="10108692" cy="5632311"/>
              </a:xfrm>
              <a:prstGeom prst="rect">
                <a:avLst/>
              </a:prstGeom>
              <a:blipFill>
                <a:blip r:embed="rId2"/>
                <a:stretch>
                  <a:fillRect l="-663" t="-649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B068F63-17DA-340C-5C68-019FB12B2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133" y="1216151"/>
            <a:ext cx="878891" cy="11267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B23A11-6F6C-6812-AAE9-6537FF854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326237"/>
            <a:ext cx="4597909" cy="400249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DBA3F68-BCF5-8C85-A72C-632FF56A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2 Types of Probability Distribution Functions: Discrete and Continuous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621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3946-2E66-8DBA-07FD-F1DFB365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8CDE75-F718-81F7-E76F-EA27DA04C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136916"/>
            <a:ext cx="4445942" cy="2270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ECD0D4-1983-8A3D-ECB1-3FD476AED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112" y="400820"/>
            <a:ext cx="6623304" cy="639825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B7F5BA-DB52-B819-DE2E-05E35C7A1D73}"/>
              </a:ext>
            </a:extLst>
          </p:cNvPr>
          <p:cNvSpPr txBox="1">
            <a:spLocks/>
          </p:cNvSpPr>
          <p:nvPr/>
        </p:nvSpPr>
        <p:spPr>
          <a:xfrm>
            <a:off x="344424" y="106553"/>
            <a:ext cx="8717280" cy="2806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/>
              <a:t>Standard Normal Distribution: Table values represent AREA to the LEFT of the z-score</a:t>
            </a: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346DA-F707-25F4-FC61-736485391F75}"/>
              </a:ext>
            </a:extLst>
          </p:cNvPr>
          <p:cNvSpPr txBox="1"/>
          <p:nvPr/>
        </p:nvSpPr>
        <p:spPr>
          <a:xfrm>
            <a:off x="267462" y="591235"/>
            <a:ext cx="436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table shows z-values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-3.1 </a:t>
            </a: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to -0.1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37700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4FD8-40C0-F5CA-A9C9-EACD2689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6D65E-5512-5C41-C928-8905FDD79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6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1501</TotalTime>
  <Words>769</Words>
  <Application>Microsoft Office PowerPoint</Application>
  <PresentationFormat>Widescreen</PresentationFormat>
  <Paragraphs>70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2 Types of Probability Distribution Functions: Discrete and Continuous</vt:lpstr>
      <vt:lpstr>2 Types of Probability Distribution Functions: Discrete and Continuous</vt:lpstr>
      <vt:lpstr>2 Types of Probability Distribution Functions: Discrete and Continuous</vt:lpstr>
      <vt:lpstr>2 Types of Probability Distribution Functions: Discrete and Continuous</vt:lpstr>
      <vt:lpstr>2 Types of Probability Distribution Functions: Discrete and Continuous</vt:lpstr>
      <vt:lpstr>PowerPoint Presentation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165</cp:revision>
  <dcterms:created xsi:type="dcterms:W3CDTF">2025-09-22T02:44:38Z</dcterms:created>
  <dcterms:modified xsi:type="dcterms:W3CDTF">2025-10-09T03:25:01Z</dcterms:modified>
</cp:coreProperties>
</file>