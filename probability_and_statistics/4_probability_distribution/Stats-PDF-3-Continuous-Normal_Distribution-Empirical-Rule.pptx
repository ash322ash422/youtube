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3.xml" ContentType="application/vnd.openxmlformats-officedocument.presentationml.notesSlide+xml"/>
  <Override PartName="/ppt/ink/ink16.xml" ContentType="application/inkml+xml"/>
  <Override PartName="/ppt/ink/ink17.xml" ContentType="application/inkml+xml"/>
  <Override PartName="/ppt/notesSlides/notesSlide4.xml" ContentType="application/vnd.openxmlformats-officedocument.presentationml.notesSlide+xml"/>
  <Override PartName="/ppt/ink/ink1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90" r:id="rId2"/>
    <p:sldId id="291" r:id="rId3"/>
    <p:sldId id="293" r:id="rId4"/>
    <p:sldId id="263" r:id="rId5"/>
    <p:sldId id="282" r:id="rId6"/>
    <p:sldId id="297" r:id="rId7"/>
    <p:sldId id="289" r:id="rId8"/>
    <p:sldId id="285" r:id="rId9"/>
    <p:sldId id="294" r:id="rId10"/>
    <p:sldId id="292" r:id="rId11"/>
    <p:sldId id="286" r:id="rId12"/>
    <p:sldId id="277" r:id="rId13"/>
    <p:sldId id="295" r:id="rId14"/>
    <p:sldId id="296" r:id="rId15"/>
    <p:sldId id="260" r:id="rId16"/>
    <p:sldId id="273" r:id="rId17"/>
    <p:sldId id="287" r:id="rId18"/>
    <p:sldId id="276" r:id="rId19"/>
    <p:sldId id="288" r:id="rId20"/>
    <p:sldId id="283" r:id="rId21"/>
    <p:sldId id="28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78"/>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10/10/2025</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9T18:38:52.782"/>
    </inkml:context>
    <inkml:brush xml:id="br0">
      <inkml:brushProperty name="width" value="0.1" units="cm"/>
      <inkml:brushProperty name="height" value="0.1" units="cm"/>
      <inkml:brushProperty name="color" value="#66CC00"/>
    </inkml:brush>
  </inkml:definitions>
  <inkml:trace contextRef="#ctx0" brushRef="#br0">772 110 6397 0 0,'8'-55'-379'0'0,"-1"0"3754"0"0,25 537-3695 0 0,-33-256 369 0 0,-3-94-17 0 0,-8-3 3 0 0,-1 14 5 0 0,22 77-15 0 0,-7-197-19 0 0,-1-1 1 0 0,0 1 0 0 0,-4 29 0 0 0,-2 36 2 0 0,6-74 2593 0 0,-1-47-1838 0 0,-1-58-369 0 0,-12-262 503 0 0,17 71-745 0 0,3 86-186 0 0,-6 138 13 0 0,1 31 43 0 0,-5-54 0 0 0,-2 27-8 0 0,-6-34 12 0 0,8 73-32 0 0,1 1-1 0 0,1-1 0 0 0,1-25 1 0 0,0 29 2 0 0,0-1 0 0 0,-1 1 0 0 0,0-1 0 0 0,-2-11 0 0 0,2 20 3 0 0,0-1 0 0 0,1 0 0 0 0,-1 0 0 0 0,1 1 0 0 0,0-1 0 0 0,1 0 0 0 0,-1 0-1 0 0,0 1 1 0 0,1-1 0 0 0,1-5 0 0 0,-4 24-861 0 0,1 0 0 0 0,0 0 0 0 0,1 19-1 0 0,14 127 570 0 0,-7-82 12 0 0,2 284-41 0 0,-42-44 221 0 0,11-198 53 0 0,-11 85-268 0 0,30-78-258 0 0,3-89 407 0 0,8 30-6 0 0,-8-67 170 0 0,20 51-71 0 0,-10-33-344 0 0,-4-6 4667 0 0,-67-65-3727 0 0,2-3 0 0 0,2-2 0 0 0,-87-113 0 0 0,1-35-97 0 0,83 126-331 0 0,-82-96 199 0 0,91 106-76 0 0,49 67-186 0 0,-23-30-220 0 0,87 114-3104 0 0,113 138 2819 0 0,-34-70 375 0 0,12 15-160 0 0,-129-138 114 0 0,1-1-1 0 0,1-2 1 0 0,1 0-1 0 0,51 34 1 0 0,-16-14-21 0 0,-61-44 158 0 0,2 1 125 0 0,-1 1 0 0 0,1-1 0 0 0,0 0 0 0 0,-1 0 0 0 0,1 0 0 0 0,0 0 0 0 0,1 0 0 0 0,-1-1 0 0 0,0 0 0 0 0,4 2 0 0 0,25-29 27 0 0,-1-2-1 0 0,51-61 1 0 0,45-76-94 0 0,-89 112 10 0 0,-7 10-34 0 0,11-15-22 0 0,2 1 0 0 0,85-83-1 0 0,-98 108-44 0 0,-21 20 35 0 0,0 1 0 0 0,1 0 0 0 0,22-16 0 0 0,-31 26 8 0 0,8-13 12 0 0,-9 13-11 0 0,-4 2-466 0 0,-11 9 478 0 0,-93 65-124 0 0,3 4 0 0 0,-159 159 0 0 0,212-183-380 0 0,-73 101 0 0 0,110-137 345 0 0,-24 41-490 0 0,37-59 618 0 0,-3 7 428 0 0,1-2-1828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0T07:50:32.242"/>
    </inkml:context>
    <inkml:brush xml:id="br0">
      <inkml:brushProperty name="width" value="0.1" units="cm"/>
      <inkml:brushProperty name="height" value="0.1" units="cm"/>
      <inkml:brushProperty name="color" value="#66CC00"/>
    </inkml:brush>
  </inkml:definitions>
  <inkml:trace contextRef="#ctx0" brushRef="#br0">772 110 6397 0 0,'8'-55'-379'0'0,"-1"0"3754"0"0,25 537-3695 0 0,-33-256 369 0 0,-3-94-17 0 0,-8-3 3 0 0,-1 14 5 0 0,22 77-15 0 0,-7-197-19 0 0,-1-1 1 0 0,0 1 0 0 0,-4 29 0 0 0,-2 36 2 0 0,6-74 2593 0 0,-1-47-1838 0 0,-1-58-369 0 0,-12-262 503 0 0,17 71-745 0 0,3 86-186 0 0,-6 138 13 0 0,1 31 43 0 0,-5-54 0 0 0,-2 27-8 0 0,-6-34 12 0 0,8 73-32 0 0,1 1-1 0 0,1-1 0 0 0,1-25 1 0 0,0 29 2 0 0,0-1 0 0 0,-1 1 0 0 0,0-1 0 0 0,-2-11 0 0 0,2 20 3 0 0,0-1 0 0 0,1 0 0 0 0,-1 0 0 0 0,1 1 0 0 0,0-1 0 0 0,1 0 0 0 0,-1 0-1 0 0,0 1 1 0 0,1-1 0 0 0,1-5 0 0 0,-4 24-861 0 0,1 0 0 0 0,0 0 0 0 0,1 19-1 0 0,14 127 570 0 0,-7-82 12 0 0,2 284-41 0 0,-42-44 221 0 0,11-198 53 0 0,-11 85-268 0 0,30-78-258 0 0,3-89 407 0 0,8 30-6 0 0,-8-67 170 0 0,20 51-71 0 0,-10-33-344 0 0,-4-6 4667 0 0,-67-65-3727 0 0,2-3 0 0 0,2-2 0 0 0,-87-113 0 0 0,1-35-97 0 0,83 126-331 0 0,-82-96 199 0 0,91 106-76 0 0,49 67-186 0 0,-23-30-220 0 0,87 114-3104 0 0,113 138 2819 0 0,-34-70 375 0 0,12 15-160 0 0,-129-138 114 0 0,1-1-1 0 0,1-2 1 0 0,1 0-1 0 0,51 34 1 0 0,-16-14-21 0 0,-61-44 158 0 0,2 1 125 0 0,-1 1 0 0 0,1-1 0 0 0,0 0 0 0 0,-1 0 0 0 0,1 0 0 0 0,0 0 0 0 0,1 0 0 0 0,-1-1 0 0 0,0 0 0 0 0,4 2 0 0 0,25-29 27 0 0,-1-2-1 0 0,51-61 1 0 0,45-76-94 0 0,-89 112 10 0 0,-7 10-34 0 0,11-15-22 0 0,2 1 0 0 0,85-83-1 0 0,-98 108-44 0 0,-21 20 35 0 0,0 1 0 0 0,1 0 0 0 0,22-16 0 0 0,-31 26 8 0 0,8-13 12 0 0,-9 13-11 0 0,-4 2-466 0 0,-11 9 478 0 0,-93 65-124 0 0,3 4 0 0 0,-159 159 0 0 0,212-183-380 0 0,-73 101 0 0 0,110-137 345 0 0,-24 41-490 0 0,37-59 618 0 0,-3 7 428 0 0,1-2-1828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0T07:50:41.625"/>
    </inkml:context>
    <inkml:brush xml:id="br0">
      <inkml:brushProperty name="width" value="0.1" units="cm"/>
      <inkml:brushProperty name="height" value="0.1" units="cm"/>
      <inkml:brushProperty name="color" value="#66CC00"/>
    </inkml:brush>
  </inkml:definitions>
  <inkml:trace contextRef="#ctx0" brushRef="#br0">772 110 6397 0 0,'8'-55'-379'0'0,"-1"0"3754"0"0,25 537-3695 0 0,-33-256 369 0 0,-3-94-17 0 0,-8-3 3 0 0,-1 14 5 0 0,22 77-15 0 0,-7-197-19 0 0,-1-1 1 0 0,0 1 0 0 0,-4 29 0 0 0,-2 36 2 0 0,6-74 2593 0 0,-1-47-1838 0 0,-1-58-369 0 0,-12-262 503 0 0,17 71-745 0 0,3 86-186 0 0,-6 138 13 0 0,1 31 43 0 0,-5-54 0 0 0,-2 27-8 0 0,-6-34 12 0 0,8 73-32 0 0,1 1-1 0 0,1-1 0 0 0,1-25 1 0 0,0 29 2 0 0,0-1 0 0 0,-1 1 0 0 0,0-1 0 0 0,-2-11 0 0 0,2 20 3 0 0,0-1 0 0 0,1 0 0 0 0,-1 0 0 0 0,1 1 0 0 0,0-1 0 0 0,1 0 0 0 0,-1 0-1 0 0,0 1 1 0 0,1-1 0 0 0,1-5 0 0 0,-4 24-861 0 0,1 0 0 0 0,0 0 0 0 0,1 19-1 0 0,14 127 570 0 0,-7-82 12 0 0,2 284-41 0 0,-42-44 221 0 0,11-198 53 0 0,-11 85-268 0 0,30-78-258 0 0,3-89 407 0 0,8 30-6 0 0,-8-67 170 0 0,20 51-71 0 0,-10-33-344 0 0,-4-6 4667 0 0,-67-65-3727 0 0,2-3 0 0 0,2-2 0 0 0,-87-113 0 0 0,1-35-97 0 0,83 126-331 0 0,-82-96 199 0 0,91 106-76 0 0,49 67-186 0 0,-23-30-220 0 0,87 114-3104 0 0,113 138 2819 0 0,-34-70 375 0 0,12 15-160 0 0,-129-138 114 0 0,1-1-1 0 0,1-2 1 0 0,1 0-1 0 0,51 34 1 0 0,-16-14-21 0 0,-61-44 158 0 0,2 1 125 0 0,-1 1 0 0 0,1-1 0 0 0,0 0 0 0 0,-1 0 0 0 0,1 0 0 0 0,0 0 0 0 0,1 0 0 0 0,-1-1 0 0 0,0 0 0 0 0,4 2 0 0 0,25-29 27 0 0,-1-2-1 0 0,51-61 1 0 0,45-76-94 0 0,-89 112 10 0 0,-7 10-34 0 0,11-15-22 0 0,2 1 0 0 0,85-83-1 0 0,-98 108-44 0 0,-21 20 35 0 0,0 1 0 0 0,1 0 0 0 0,22-16 0 0 0,-31 26 8 0 0,8-13 12 0 0,-9 13-11 0 0,-4 2-466 0 0,-11 9 478 0 0,-93 65-124 0 0,3 4 0 0 0,-159 159 0 0 0,212-183-380 0 0,-73 101 0 0 0,110-137 345 0 0,-24 41-490 0 0,37-59 618 0 0,-3 7 428 0 0,1-2-1828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0T09:35:11.550"/>
    </inkml:context>
    <inkml:brush xml:id="br0">
      <inkml:brushProperty name="width" value="0.1" units="cm"/>
      <inkml:brushProperty name="height" value="0.1" units="cm"/>
      <inkml:brushProperty name="color" value="#66CC00"/>
    </inkml:brush>
  </inkml:definitions>
  <inkml:trace contextRef="#ctx0" brushRef="#br0">772 110 6397 0 0,'8'-55'-379'0'0,"-1"0"3754"0"0,25 537-3695 0 0,-33-256 369 0 0,-3-94-17 0 0,-8-3 3 0 0,-1 14 5 0 0,22 77-15 0 0,-7-197-19 0 0,-1-1 1 0 0,0 1 0 0 0,-4 29 0 0 0,-2 36 2 0 0,6-74 2593 0 0,-1-47-1838 0 0,-1-58-369 0 0,-12-262 503 0 0,17 71-745 0 0,3 86-186 0 0,-6 138 13 0 0,1 31 43 0 0,-5-54 0 0 0,-2 27-8 0 0,-6-34 12 0 0,8 73-32 0 0,1 1-1 0 0,1-1 0 0 0,1-25 1 0 0,0 29 2 0 0,0-1 0 0 0,-1 1 0 0 0,0-1 0 0 0,-2-11 0 0 0,2 20 3 0 0,0-1 0 0 0,1 0 0 0 0,-1 0 0 0 0,1 1 0 0 0,0-1 0 0 0,1 0 0 0 0,-1 0-1 0 0,0 1 1 0 0,1-1 0 0 0,1-5 0 0 0,-4 24-861 0 0,1 0 0 0 0,0 0 0 0 0,1 19-1 0 0,14 127 570 0 0,-7-82 12 0 0,2 284-41 0 0,-42-44 221 0 0,11-198 53 0 0,-11 85-268 0 0,30-78-258 0 0,3-89 407 0 0,8 30-6 0 0,-8-67 170 0 0,20 51-71 0 0,-10-33-344 0 0,-4-6 4667 0 0,-67-65-3727 0 0,2-3 0 0 0,2-2 0 0 0,-87-113 0 0 0,1-35-97 0 0,83 126-331 0 0,-82-96 199 0 0,91 106-76 0 0,49 67-186 0 0,-23-30-220 0 0,87 114-3104 0 0,113 138 2819 0 0,-34-70 375 0 0,12 15-160 0 0,-129-138 114 0 0,1-1-1 0 0,1-2 1 0 0,1 0-1 0 0,51 34 1 0 0,-16-14-21 0 0,-61-44 158 0 0,2 1 125 0 0,-1 1 0 0 0,1-1 0 0 0,0 0 0 0 0,-1 0 0 0 0,1 0 0 0 0,0 0 0 0 0,1 0 0 0 0,-1-1 0 0 0,0 0 0 0 0,4 2 0 0 0,25-29 27 0 0,-1-2-1 0 0,51-61 1 0 0,45-76-94 0 0,-89 112 10 0 0,-7 10-34 0 0,11-15-22 0 0,2 1 0 0 0,85-83-1 0 0,-98 108-44 0 0,-21 20 35 0 0,0 1 0 0 0,1 0 0 0 0,22-16 0 0 0,-31 26 8 0 0,8-13 12 0 0,-9 13-11 0 0,-4 2-466 0 0,-11 9 478 0 0,-93 65-124 0 0,3 4 0 0 0,-159 159 0 0 0,212-183-380 0 0,-73 101 0 0 0,110-137 345 0 0,-24 41-490 0 0,37-59 618 0 0,-3 7 428 0 0,1-2-1828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9T18:38:52.782"/>
    </inkml:context>
    <inkml:brush xml:id="br0">
      <inkml:brushProperty name="width" value="0.1" units="cm"/>
      <inkml:brushProperty name="height" value="0.1" units="cm"/>
      <inkml:brushProperty name="color" value="#66CC00"/>
    </inkml:brush>
  </inkml:definitions>
  <inkml:trace contextRef="#ctx0" brushRef="#br0">772 110 6397 0 0,'8'-55'-379'0'0,"-1"0"3754"0"0,25 537-3695 0 0,-33-256 369 0 0,-3-94-17 0 0,-8-3 3 0 0,-1 14 5 0 0,22 77-15 0 0,-7-197-19 0 0,-1-1 1 0 0,0 1 0 0 0,-4 29 0 0 0,-2 36 2 0 0,6-74 2593 0 0,-1-47-1838 0 0,-1-58-369 0 0,-12-262 503 0 0,17 71-745 0 0,3 86-186 0 0,-6 138 13 0 0,1 31 43 0 0,-5-54 0 0 0,-2 27-8 0 0,-6-34 12 0 0,8 73-32 0 0,1 1-1 0 0,1-1 0 0 0,1-25 1 0 0,0 29 2 0 0,0-1 0 0 0,-1 1 0 0 0,0-1 0 0 0,-2-11 0 0 0,2 20 3 0 0,0-1 0 0 0,1 0 0 0 0,-1 0 0 0 0,1 1 0 0 0,0-1 0 0 0,1 0 0 0 0,-1 0-1 0 0,0 1 1 0 0,1-1 0 0 0,1-5 0 0 0,-4 24-861 0 0,1 0 0 0 0,0 0 0 0 0,1 19-1 0 0,14 127 570 0 0,-7-82 12 0 0,2 284-41 0 0,-42-44 221 0 0,11-198 53 0 0,-11 85-268 0 0,30-78-258 0 0,3-89 407 0 0,8 30-6 0 0,-8-67 170 0 0,20 51-71 0 0,-10-33-344 0 0,-4-6 4667 0 0,-67-65-3727 0 0,2-3 0 0 0,2-2 0 0 0,-87-113 0 0 0,1-35-97 0 0,83 126-331 0 0,-82-96 199 0 0,91 106-76 0 0,49 67-186 0 0,-23-30-220 0 0,87 114-3104 0 0,113 138 2819 0 0,-34-70 375 0 0,12 15-160 0 0,-129-138 114 0 0,1-1-1 0 0,1-2 1 0 0,1 0-1 0 0,51 34 1 0 0,-16-14-21 0 0,-61-44 158 0 0,2 1 125 0 0,-1 1 0 0 0,1-1 0 0 0,0 0 0 0 0,-1 0 0 0 0,1 0 0 0 0,0 0 0 0 0,1 0 0 0 0,-1-1 0 0 0,0 0 0 0 0,4 2 0 0 0,25-29 27 0 0,-1-2-1 0 0,51-61 1 0 0,45-76-94 0 0,-89 112 10 0 0,-7 10-34 0 0,11-15-22 0 0,2 1 0 0 0,85-83-1 0 0,-98 108-44 0 0,-21 20 35 0 0,0 1 0 0 0,1 0 0 0 0,22-16 0 0 0,-31 26 8 0 0,8-13 12 0 0,-9 13-11 0 0,-4 2-466 0 0,-11 9 478 0 0,-93 65-124 0 0,3 4 0 0 0,-159 159 0 0 0,212-183-380 0 0,-73 101 0 0 0,110-137 345 0 0,-24 41-490 0 0,37-59 618 0 0,-3 7 428 0 0,1-2-1828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0T08:04:37.025"/>
    </inkml:context>
    <inkml:brush xml:id="br0">
      <inkml:brushProperty name="width" value="0.1" units="cm"/>
      <inkml:brushProperty name="height" value="0.1" units="cm"/>
      <inkml:brushProperty name="color" value="#66CC00"/>
    </inkml:brush>
  </inkml:definitions>
  <inkml:trace contextRef="#ctx0" brushRef="#br0">772 110 6397 0 0,'8'-55'-379'0'0,"-1"0"3754"0"0,25 537-3695 0 0,-33-256 369 0 0,-3-94-17 0 0,-8-3 3 0 0,-1 14 5 0 0,22 77-15 0 0,-7-197-19 0 0,-1-1 1 0 0,0 1 0 0 0,-4 29 0 0 0,-2 36 2 0 0,6-74 2593 0 0,-1-47-1838 0 0,-1-58-369 0 0,-12-262 503 0 0,17 71-745 0 0,3 86-186 0 0,-6 138 13 0 0,1 31 43 0 0,-5-54 0 0 0,-2 27-8 0 0,-6-34 12 0 0,8 73-32 0 0,1 1-1 0 0,1-1 0 0 0,1-25 1 0 0,0 29 2 0 0,0-1 0 0 0,-1 1 0 0 0,0-1 0 0 0,-2-11 0 0 0,2 20 3 0 0,0-1 0 0 0,1 0 0 0 0,-1 0 0 0 0,1 1 0 0 0,0-1 0 0 0,1 0 0 0 0,-1 0-1 0 0,0 1 1 0 0,1-1 0 0 0,1-5 0 0 0,-4 24-861 0 0,1 0 0 0 0,0 0 0 0 0,1 19-1 0 0,14 127 570 0 0,-7-82 12 0 0,2 284-41 0 0,-42-44 221 0 0,11-198 53 0 0,-11 85-268 0 0,30-78-258 0 0,3-89 407 0 0,8 30-6 0 0,-8-67 170 0 0,20 51-71 0 0,-10-33-344 0 0,-4-6 4667 0 0,-67-65-3727 0 0,2-3 0 0 0,2-2 0 0 0,-87-113 0 0 0,1-35-97 0 0,83 126-331 0 0,-82-96 199 0 0,91 106-76 0 0,49 67-186 0 0,-23-30-220 0 0,87 114-3104 0 0,113 138 2819 0 0,-34-70 375 0 0,12 15-160 0 0,-129-138 114 0 0,1-1-1 0 0,1-2 1 0 0,1 0-1 0 0,51 34 1 0 0,-16-14-21 0 0,-61-44 158 0 0,2 1 125 0 0,-1 1 0 0 0,1-1 0 0 0,0 0 0 0 0,-1 0 0 0 0,1 0 0 0 0,0 0 0 0 0,1 0 0 0 0,-1-1 0 0 0,0 0 0 0 0,4 2 0 0 0,25-29 27 0 0,-1-2-1 0 0,51-61 1 0 0,45-76-94 0 0,-89 112 10 0 0,-7 10-34 0 0,11-15-22 0 0,2 1 0 0 0,85-83-1 0 0,-98 108-44 0 0,-21 20 35 0 0,0 1 0 0 0,1 0 0 0 0,22-16 0 0 0,-31 26 8 0 0,8-13 12 0 0,-9 13-11 0 0,-4 2-466 0 0,-11 9 478 0 0,-93 65-124 0 0,3 4 0 0 0,-159 159 0 0 0,212-183-380 0 0,-73 101 0 0 0,110-137 345 0 0,-24 41-490 0 0,37-59 618 0 0,-3 7 428 0 0,1-2-1828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0T08:06:29.640"/>
    </inkml:context>
    <inkml:brush xml:id="br0">
      <inkml:brushProperty name="width" value="0.1" units="cm"/>
      <inkml:brushProperty name="height" value="0.1" units="cm"/>
      <inkml:brushProperty name="color" value="#66CC00"/>
    </inkml:brush>
  </inkml:definitions>
  <inkml:trace contextRef="#ctx0" brushRef="#br0">0 1088 6373 0 0,'0'0'-374'0'0,"29"-3"-198"0"0,-22 1 646 0 0,35-22 525 0 0,117-83 1222 0 0,-34 3-646 0 0,-44 26-293 0 0,120-150-1 0 0,-147 160-623 0 0,-4-2 1 0 0,-2-1-1 0 0,-4-3 1 0 0,43-97-1 0 0,-60 108 368 0 0,-26 62-564 0 0,0-3-45 0 0,3-15-493 0 0,-247 375-34 0 0,206-294 490 0 0,3 2-1 0 0,-28 75 1 0 0,57-127 1 0 0,0 2 1 0 0,1-1-1 0 0,-3 17 0 0 0,7-26 4 0 0,-1-1 0 0 0,1 1 0 0 0,-1 0 0 0 0,1 0 0 0 0,0 0 0 0 0,0 0 0 0 0,1 0-1 0 0,-1-1 1 0 0,1 1 0 0 0,0 0 0 0 0,0 0 0 0 0,0-1 0 0 0,1 1 0 0 0,-1 0 0 0 0,1-1 0 0 0,2 4 0 0 0,0-4 13 0 0,0 0 1 0 0,0 0 0 0 0,1 0-1 0 0,-1-1 1 0 0,1 1-1 0 0,-1-1 1 0 0,1 0 0 0 0,0-1-1 0 0,0 1 1 0 0,0-1-1 0 0,0 0 1 0 0,0 0 0 0 0,0-1-1 0 0,0 1 1 0 0,0-1-1 0 0,0 0 1 0 0,0-1 0 0 0,0 1-1 0 0,6-2 1 0 0,0-3 12 0 0,0 1 0 0 0,0-2 0 0 0,-1 0 1 0 0,0 0-1 0 0,0-1 0 0 0,0 0 1 0 0,-1 0-1 0 0,0-1 0 0 0,12-15 0 0 0,72-93 47 0 0,-77 95-49 0 0,0 1 17 0 0,-1-1-1 0 0,-1 0 1 0 0,-1-1 0 0 0,-1 0-1 0 0,-1-1 1 0 0,13-38-1 0 0,-12 18 56 0 0,-11 41-86 0 0,-3 3-85 0 0,0 0 87 0 0,0 1 0 0 0,0-1 0 0 0,0 0 0 0 0,0 1 0 0 0,0-1 0 0 0,1 1 1 0 0,-1 0-1 0 0,1-1 0 0 0,-1 1 0 0 0,-1 3 0 0 0,2-4-1 0 0,-17 19-26 0 0,2 1-1 0 0,0 0 1 0 0,2 1 0 0 0,0 0 0 0 0,1 1 0 0 0,1 1 0 0 0,2 0 0 0 0,-12 36-1 0 0,19-49 13 0 0,0-1 0 0 0,0 1 0 0 0,1-1-1 0 0,1 1 1 0 0,0 0 0 0 0,0 0-1 0 0,1-1 1 0 0,1 18 0 0 0,0-23 16 0 0,0-1 0 0 0,0 0 0 0 0,0 0 0 0 0,0 0 0 0 0,0 0 1 0 0,1 0-1 0 0,0-1 0 0 0,-1 1 0 0 0,2 0 0 0 0,-1-1 0 0 0,0 1 0 0 0,1-1 0 0 0,-1 0 0 0 0,1 0 0 0 0,0 0 0 0 0,0 0 1 0 0,0 0-1 0 0,1-1 0 0 0,-1 1 0 0 0,0-1 0 0 0,1 0 0 0 0,0 0 0 0 0,0 0 0 0 0,7 2 0 0 0,9 2 12 0 0,2-2 0 0 0,-1 0 0 0 0,0-1 0 0 0,1-2 0 0 0,-1 0 0 0 0,1-1 0 0 0,21-3 0 0 0,154-29 221 0 0,-120 17 154 0 0,-74 14-356 0 0,27-1-317 0 0,-29 2 229 0 0,-1 0 1 0 0,1 0-1 0 0,-1 0 0 0 0,0 0 0 0 0,1 0 0 0 0,-1-1 0 0 0,1 1 1 0 0,-1 0-1 0 0,1 0 0 0 0,-1 0 0 0 0,1 0 0 0 0,-1-1 1 0 0,0 1-1 0 0,1 0 0 0 0,-1 0 0 0 0,1-1 0 0 0,-1 1 0 0 0,0 0 1 0 0,1-1-1 0 0,-1 1 0 0 0,0 0 0 0 0,0-1 0 0 0,1 1 0 0 0,-1-1 1 0 0,0 1-1 0 0,0 0 0 0 0,1-1 0 0 0,-1 1 0 0 0,0-1 1 0 0,0 1-1 0 0,0-1 0 0 0,0 1 0 0 0,0-1 0 0 0,0 1 0 0 0,0-1 1 0 0,0 1-1 0 0,0-1 0 0 0,0 1 0 0 0,0 0 0 0 0,0-1 1 0 0,0 1-1 0 0,0-1 0 0 0,0 1 0 0 0,0-1 0 0 0,0 1 0 0 0,-1-1 1 0 0,1 1-1 0 0,0 0 0 0 0,-1-1 0 0 0,-8-17-6855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0T08:06:30.185"/>
    </inkml:context>
    <inkml:brush xml:id="br0">
      <inkml:brushProperty name="width" value="0.1" units="cm"/>
      <inkml:brushProperty name="height" value="0.1" units="cm"/>
      <inkml:brushProperty name="color" value="#66CC00"/>
    </inkml:brush>
  </inkml:definitions>
  <inkml:trace contextRef="#ctx0" brushRef="#br0">0 92 6049 0 0,'3'-4'33'0'0,"0"-1"1"0"0,-1 0 0 0 0,0 1 0 0 0,0-1 0 0 0,0 0 0 0 0,0 0 0 0 0,-1 0 0 0 0,1-6 0 0 0,11-30 2259 0 0,-12 40-1921 0 0,18 87 174 0 0,-11-43-550 0 0,1-1 1 0 0,26 73-1 0 0,-13-40 96 0 0,-17-44 266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0T08:06:32.279"/>
    </inkml:context>
    <inkml:brush xml:id="br0">
      <inkml:brushProperty name="width" value="0.1" units="cm"/>
      <inkml:brushProperty name="height" value="0.1" units="cm"/>
      <inkml:brushProperty name="color" value="#66CC00"/>
    </inkml:brush>
  </inkml:definitions>
  <inkml:trace contextRef="#ctx0" brushRef="#br0">451 4 6417 0 0,'0'0'-327'0'0,"2"-3"-700"0"0,-2 3 1003 0 0,0 0-1 0 0,1 0 0 0 0,-1 0 1 0 0,0 0-1 0 0,0 0 0 0 0,1 0 1 0 0,-1 0-1 0 0,0-1 0 0 0,1 1 1 0 0,-1 0-1 0 0,0 0 1 0 0,0 0-1 0 0,1 0 0 0 0,-1 0 1 0 0,0 0-1 0 0,0 0 0 0 0,1 0 1 0 0,-1 1-1 0 0,0-1 0 0 0,1 0 1 0 0,-1 0-1 0 0,0 0 0 0 0,0 0 1 0 0,1 0-1 0 0,-1 0 0 0 0,0 1 1 0 0,5 12 68 0 0,0 0 1 0 0,-1 0 0 0 0,-1 0-1 0 0,0 0 1 0 0,-1 1-1 0 0,0 0 1 0 0,-1 19 0 0 0,3 14 47 0 0,-3-37-1 0 0,0 1 0 0 0,0-1 0 0 0,-1 1 0 0 0,-1-1 0 0 0,1 1-1 0 0,-2-1 1 0 0,1 1 0 0 0,-2-1 0 0 0,1 0 0 0 0,-1 0 0 0 0,-8 17 0 0 0,8-22-7 0 0,-1 1 0 0 0,1-1 0 0 0,-1 0 1 0 0,0 0-1 0 0,-1 0 0 0 0,1 0 0 0 0,-1-1 0 0 0,0 1 1 0 0,0-1-1 0 0,0 0 0 0 0,-1-1 0 0 0,1 1 0 0 0,-1-1 1 0 0,0-1-1 0 0,0 1 0 0 0,0-1 0 0 0,0 0 0 0 0,0 0 1 0 0,-1 0-1 0 0,-7 0 0 0 0,-6-1 139 0 0,0 0 0 0 0,0-2-1 0 0,0 0 1 0 0,1-1 0 0 0,-1-1-1 0 0,0-1 1 0 0,1 0 0 0 0,0-2 0 0 0,0 0-1 0 0,0-1 1 0 0,1-1 0 0 0,0-1 0 0 0,-27-18-1 0 0,41 25-198 0 0,0 0-1 0 0,0-1 0 0 0,0 0 1 0 0,0 0-1 0 0,1 0 0 0 0,0 0 1 0 0,-1 0-1 0 0,1-1 1 0 0,0 1-1 0 0,1-1 0 0 0,-1 0 1 0 0,1 0-1 0 0,-1 0 0 0 0,1 0 1 0 0,1 0-1 0 0,-1-1 0 0 0,0 1 1 0 0,1-1-1 0 0,0 1 0 0 0,0-1 1 0 0,0 1-1 0 0,1-1 0 0 0,0 0 1 0 0,-1 1-1 0 0,2-1 1 0 0,-1 1-1 0 0,0-1 0 0 0,1 0 1 0 0,0 1-1 0 0,0-1 0 0 0,0 1 1 0 0,1-1-1 0 0,3-5 0 0 0,-2 0-39 0 0,1 0 0 0 0,0 1-1 0 0,0 0 1 0 0,1 0-1 0 0,1 0 1 0 0,-1 0-1 0 0,2 1 1 0 0,-1 0 0 0 0,1 0-1 0 0,0 1 1 0 0,0 0-1 0 0,1 0 1 0 0,9-6-1 0 0,-8 8-14 0 0,1 0 0 0 0,1 1-1 0 0,-1 0 1 0 0,1 0-1 0 0,-1 1 1 0 0,1 1 0 0 0,21-3-1 0 0,88-4-58 0 0,-83 8 69 0 0,51 0-26 0 0,-1 5-1 0 0,115 18 0 0 0,-28-1 93 0 0,-94-11 677 0 0,-77-10-600 0 0,22 3 1174 0 0,-11-2-2061 0 0,-53-10-9682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0T08:06:32.937"/>
    </inkml:context>
    <inkml:brush xml:id="br0">
      <inkml:brushProperty name="width" value="0.1" units="cm"/>
      <inkml:brushProperty name="height" value="0.1" units="cm"/>
      <inkml:brushProperty name="color" value="#66CC00"/>
    </inkml:brush>
  </inkml:definitions>
  <inkml:trace contextRef="#ctx0" brushRef="#br0">3 53 6533 0 0,'0'0'-156'0'0,"-3"-35"1247"0"0,5 18 1314 0 0,2 22-1444 0 0,9 46-1317 0 0,-2-3 327 0 0,63 133-62 0 0,-68-155 200 0 0,1 0 159 0 0,-6-25-197 0 0,3 5 61 0 0,1-36-6594 0 0,3 12 3842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0T08:06:35.995"/>
    </inkml:context>
    <inkml:brush xml:id="br0">
      <inkml:brushProperty name="width" value="0.1" units="cm"/>
      <inkml:brushProperty name="height" value="0.1" units="cm"/>
      <inkml:brushProperty name="color" value="#66CC00"/>
    </inkml:brush>
  </inkml:definitions>
  <inkml:trace contextRef="#ctx0" brushRef="#br0">5 1043 5753 0 0,'-4'2'2006'0'0,"183"-179"337"0"0,-149 143-1978 0 0,-2-1 1 0 0,-2-1-1 0 0,38-70 1 0 0,-27 36 450 0 0,38-106 0 0 0,50-145 477 0 0,-98 234-1012 0 0,-27 85-298 0 0,-63 123-2675 0 0,25-37 2549 0 0,5-15 84 0 0,3 2-1 0 0,-39 139 1 0 0,67-197 50 0 0,1 1 1 0 0,0-1-1 0 0,1 0 1 0 0,0 0-1 0 0,1 0 1 0 0,5 25-1 0 0,-5-35 8 0 0,-1 0 0 0 0,1 1-1 0 0,0-1 1 0 0,0 0 0 0 0,1 1-1 0 0,-1-1 1 0 0,0 0-1 0 0,1 0 1 0 0,0 0 0 0 0,0 0-1 0 0,3 4 1 0 0,-4-6 8 0 0,1 0 1 0 0,-1 0-1 0 0,0 0 1 0 0,1 0-1 0 0,-1 0 1 0 0,1 0-1 0 0,-1 0 1 0 0,1 0-1 0 0,-1-1 1 0 0,1 1-1 0 0,0-1 0 0 0,-1 1 1 0 0,1-1-1 0 0,0 0 1 0 0,-1 1-1 0 0,1-1 1 0 0,2 0-1 0 0,0-1 12 0 0,1 0 0 0 0,-1 0 0 0 0,0 0 0 0 0,0 0 0 0 0,1-1 0 0 0,-1 1 0 0 0,0-1 0 0 0,0 0 0 0 0,0-1 0 0 0,-1 1 0 0 0,1-1 0 0 0,-1 1 0 0 0,1-1-1 0 0,3-4 1 0 0,16-20 24 0 0,-1-2 0 0 0,-1 0 0 0 0,-1-1 0 0 0,-2-1 0 0 0,17-39 0 0 0,5-6-33 0 0,5-13 22 0 0,-44 87-32 0 0,7-18-537 0 0,-32 61 462 0 0,1 1-1 0 0,-21 53 1 0 0,39-81 64 0 0,-1 1-1 0 0,2 0 1 0 0,0 0 0 0 0,1 0-1 0 0,0 0 1 0 0,1 1 0 0 0,1-1-1 0 0,0 1 1 0 0,1 0 0 0 0,1-1-1 0 0,3 18 1 0 0,-3-29 14 0 0,0 0 0 0 0,0 0 0 0 0,1-1 0 0 0,-1 1 0 0 0,1 0 0 0 0,0-1 0 0 0,0 1-1 0 0,0-1 1 0 0,0 0 0 0 0,1 1 0 0 0,-1-1 0 0 0,1 0 0 0 0,0-1 0 0 0,0 1 0 0 0,0 0 0 0 0,6 3 0 0 0,-3-3 5 0 0,1 1 0 0 0,0-1 0 0 0,0 0 0 0 0,0-1 0 0 0,0 0 0 0 0,0 0 0 0 0,0 0 0 0 0,11 0 0 0 0,11-1 31 0 0,0-1 1 0 0,0-1 0 0 0,45-9 0 0 0,-59 8-24 0 0,177-31 237 0 0,-189 32-240 0 0,1 1 39 0 0,1 0 0 0 0,-1-1 0 0 0,0 0 0 0 0,1 1-1 0 0,-1-2 1 0 0,0 1 0 0 0,1 0 0 0 0,-1-1 0 0 0,7-3 0 0 0,-9 3-102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0T08:06:36.841"/>
    </inkml:context>
    <inkml:brush xml:id="br0">
      <inkml:brushProperty name="width" value="0.1" units="cm"/>
      <inkml:brushProperty name="height" value="0.1" units="cm"/>
      <inkml:brushProperty name="color" value="#66CC00"/>
    </inkml:brush>
  </inkml:definitions>
  <inkml:trace contextRef="#ctx0" brushRef="#br0">7 96 5509 0 0,'0'0'-213'0'0,"-6"1"1779"0"0,6-1-1517 0 0,3-7-27 0 0,1 1 0 0 0,1 0 0 0 0,-1 0 1 0 0,1 0-1 0 0,0 0 0 0 0,0 1 0 0 0,1-1 1 0 0,0 2-1 0 0,0-1 0 0 0,0 0 0 0 0,0 1 1 0 0,1 0-1 0 0,-1 1 0 0 0,1 0 0 0 0,0 0 1 0 0,0 0-1 0 0,0 0 0 0 0,1 1 1 0 0,-1 1-1 0 0,13-2 0 0 0,-11 0-27 0 0,-6 2 3 0 0,0 0 0 0 0,0 1 0 0 0,0 0 0 0 0,0-1 0 0 0,0 1 0 0 0,0 0 0 0 0,0 0 0 0 0,0 1 0 0 0,0-1 0 0 0,0 1 0 0 0,0-1 0 0 0,-1 1 0 0 0,5 1 0 0 0,-2-1 2 0 0,0 0 1 0 0,0 0-1 0 0,0 0 0 0 0,0 0 1 0 0,0 1-1 0 0,0 0 1 0 0,0 0-1 0 0,0 0 1 0 0,-1 1-1 0 0,1 0 1 0 0,-1-1-1 0 0,0 2 0 0 0,0-1 1 0 0,0 0-1 0 0,0 1 1 0 0,-1 0-1 0 0,1 0 1 0 0,-1 0-1 0 0,0 0 1 0 0,0 0-1 0 0,0 1 0 0 0,-1-1 1 0 0,1 1-1 0 0,-1 0 1 0 0,-1-1-1 0 0,1 1 1 0 0,0 0-1 0 0,-1 0 1 0 0,0 1-1 0 0,0-1 0 0 0,-1 0 1 0 0,1 0-1 0 0,-1 0 1 0 0,0 1-1 0 0,-1-1 1 0 0,1 0-1 0 0,-1 0 1 0 0,0 0-1 0 0,0 0 0 0 0,-1 0 1 0 0,0 0-1 0 0,0 0 1 0 0,0 0-1 0 0,0-1 1 0 0,0 1-1 0 0,-1-1 1 0 0,0 1-1 0 0,0-1 0 0 0,0 0 1 0 0,-6 5-1 0 0,-16 16 86 0 0,-47 36 0 0 0,8-9 228 0 0,48-34-71 0 0,17-10-15 0 0,31-8 17 0 0,-21-1-261 0 0,414-14 284 0 0,-378 21-274 0 0,-45-5-111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0T08:06:38.500"/>
    </inkml:context>
    <inkml:brush xml:id="br0">
      <inkml:brushProperty name="width" value="0.1" units="cm"/>
      <inkml:brushProperty name="height" value="0.1" units="cm"/>
      <inkml:brushProperty name="color" value="#66CC00"/>
    </inkml:brush>
  </inkml:definitions>
  <inkml:trace contextRef="#ctx0" brushRef="#br0">356 105 6245 0 0,'8'-19'-381'0'0,"-8"19"441"0"0,0-1 1 0 0,0 1 0 0 0,0-1 0 0 0,0 1 0 0 0,0-1 0 0 0,0 1 0 0 0,1-1 0 0 0,-1 1 0 0 0,0-1 0 0 0,0 1 0 0 0,0 0-1 0 0,1-1 1 0 0,-1 1 0 0 0,0-1 0 0 0,0 1 0 0 0,1-1 0 0 0,-1 1 0 0 0,0 0 0 0 0,1-1 0 0 0,-1 1 0 0 0,1 0 0 0 0,-1-1-1 0 0,0 1 1 0 0,1 0 0 0 0,-1 0 0 0 0,1-1 0 0 0,-1 1 0 0 0,1 0 0 0 0,-1 0 0 0 0,1 0 0 0 0,-1 0 0 0 0,1-1 0 0 0,-1 1-1 0 0,1 0 1 0 0,8 22-67 0 0,-2 0 1 0 0,0 0-1 0 0,-2 1 0 0 0,0 0 0 0 0,1 30 0 0 0,2 1 29 0 0,-2-21 14 0 0,-1-9 70 0 0,-1 1 0 0 0,0 34-1 0 0,-4-57-9 0 0,0-1-63 0 0,0 0-1 0 0,-1 0 1 0 0,1 0-1 0 0,-1 0 1 0 0,1 0-1 0 0,-1 0 1 0 0,1 0-1 0 0,-1 0 1 0 0,0 0-1 0 0,0 0 1 0 0,1 0-1 0 0,-1-1 1 0 0,0 1-1 0 0,0 0 1 0 0,0 0-1 0 0,0-1 1 0 0,0 1-1 0 0,0-1 1 0 0,-2 2 0 0 0,-8 1 50 0 0,0-1 0 0 0,-1 0 0 0 0,1-1 0 0 0,-1 0 0 0 0,0-1 0 0 0,1 0 1 0 0,-1-1-1 0 0,0 0 0 0 0,1-1 0 0 0,-1 0 0 0 0,1-1 0 0 0,-21-7 0 0 0,4-1 150 0 0,0-1-1 0 0,1-1 0 0 0,-48-31 0 0 0,66 39-137 0 0,0-1 1 0 0,1 0-1 0 0,-1-1 0 0 0,1 0 0 0 0,1 0 0 0 0,0 0 0 0 0,0-1 0 0 0,0 0 0 0 0,-10-17 0 0 0,16 21-86 0 0,-1-1 0 0 0,0 0 0 0 0,1 0 0 0 0,0 0 0 0 0,0 0 0 0 0,1 0 0 0 0,-1 0 0 0 0,1 0 0 0 0,0 0 0 0 0,1 0 0 0 0,-1-1 0 0 0,1 1 1 0 0,0 0-1 0 0,0 0 0 0 0,1 1 0 0 0,-1-1 0 0 0,1 0 0 0 0,0 0 0 0 0,0 1 0 0 0,1-1 0 0 0,4-6 0 0 0,5-4-38 0 0,0 0 1 0 0,1 1-1 0 0,0 0 1 0 0,21-15-1 0 0,-14 11-14 0 0,-13 14 29 0 0,1 0-1 0 0,-1 1 1 0 0,1 0-1 0 0,-1 0 1 0 0,1 1-1 0 0,0 0 1 0 0,0 0 0 0 0,0 1-1 0 0,10-1 1 0 0,-4 0 3 0 0,61-11-24 0 0,1 4 0 0 0,1 3 0 0 0,-1 3 0 0 0,117 12 0 0 0,108 20 102 0 0,-299-29-32 0 0,22 3 873 0 0,-11-2-2072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0T08:06:39.356"/>
    </inkml:context>
    <inkml:brush xml:id="br0">
      <inkml:brushProperty name="width" value="0.1" units="cm"/>
      <inkml:brushProperty name="height" value="0.1" units="cm"/>
      <inkml:brushProperty name="color" value="#66CC00"/>
    </inkml:brush>
  </inkml:definitions>
  <inkml:trace contextRef="#ctx0" brushRef="#br0">27 36 5569 0 0,'0'0'-183'0'0,"-20"-3"329"0"0,13 2 1234 0 0,8-2-572 0 0,18-6-368 0 0,32-9-497 0 0,-49 17 53 0 0,21 1-7 0 0,-13 0 5 0 0,0 0-1 0 0,0 1 1 0 0,0 0-1 0 0,0 0 1 0 0,0 1 0 0 0,0 1-1 0 0,0 0 1 0 0,-1 0-1 0 0,1 0 1 0 0,-1 1-1 0 0,0 1 1 0 0,0 0 0 0 0,15 11-1 0 0,2 1-27 0 0,-24-17 37 0 0,-1 1 0 0 0,1 0 0 0 0,-1 0 0 0 0,0 1 0 0 0,1-1 0 0 0,-1 0 0 0 0,0 0 0 0 0,0 1 0 0 0,0-1 0 0 0,0 0 0 0 0,0 1 0 0 0,0 0 0 0 0,0-1 0 0 0,0 1 0 0 0,0-1 0 0 0,-1 1 0 0 0,1 0 0 0 0,-1-1 0 0 0,1 1 0 0 0,-1 0 0 0 0,0 0 0 0 0,0-1 0 0 0,0 1 0 0 0,0 0 0 0 0,0 0 0 0 0,0 0 0 0 0,0-1 0 0 0,0 1 0 0 0,-1 0 0 0 0,1-1 0 0 0,-1 1 0 0 0,1 0 0 0 0,-1-1 0 0 0,0 1 0 0 0,1 0 0 0 0,-1-1 0 0 0,0 1 0 0 0,0-1 0 0 0,0 1 0 0 0,-3 1 0 0 0,-4 8 33 0 0,-1 0-1 0 0,0-1 0 0 0,-1-1 0 0 0,-11 10 0 0 0,13-12 1 0 0,-7 5 74 0 0,0-1 0 0 0,-32 18-1 0 0,31-21 130 0 0,1 2 0 0 0,-27 21 0 0 0,41-31 16 0 0,5 1-194 0 0,18 2-8 0 0,1-2 0 0 0,0 0 1 0 0,-1-2-1 0 0,45-6 0 0 0,16 0 2 0 0,18 6-5 0 0,-42 2-101 0 0,113-13 1 0 0,-169 11-189 0 0,0 0-226 0 0,0 1 0 0 0,1-1 0 0 0,-1-1 0 0 0,0 1 0 0 0,0 0 0 0 0,0-1 0 0 0,0 0 0 0 0,0 1 0 0 0,0-1 0 0 0,0 0 0 0 0,2-3 0 0 0,8-4-1791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0T08:06:46.367"/>
    </inkml:context>
    <inkml:brush xml:id="br0">
      <inkml:brushProperty name="width" value="0.1" units="cm"/>
      <inkml:brushProperty name="height" value="0.1" units="cm"/>
      <inkml:brushProperty name="color" value="#66CC00"/>
    </inkml:brush>
  </inkml:definitions>
  <inkml:trace contextRef="#ctx0" brushRef="#br0">0 188 5357,'21'42'0,"-29"-272"0,-5 418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0T08:17:16.599"/>
    </inkml:context>
    <inkml:brush xml:id="br0">
      <inkml:brushProperty name="width" value="0.1" units="cm"/>
      <inkml:brushProperty name="height" value="0.1" units="cm"/>
      <inkml:brushProperty name="color" value="#66CC00"/>
    </inkml:brush>
  </inkml:definitions>
  <inkml:trace contextRef="#ctx0" brushRef="#br0">511 566 1376 0 0,'0'0'3700'0'0,"-12"2"-3660"0"0,12-2-9 0 0,1 0 1 0 0,-1 0 0 0 0,0 0-1 0 0,0 1 1 0 0,0-1 0 0 0,0 0 0 0 0,0 0-1 0 0,0 0 1 0 0,0 0 0 0 0,0 0-1 0 0,0 0 1 0 0,0 0 0 0 0,0 1 0 0 0,0-1-1 0 0,0 0 1 0 0,0 0 0 0 0,0 0-1 0 0,0 0 1 0 0,0 0 0 0 0,0 0 0 0 0,0 0-1 0 0,0 1 1 0 0,0-1 0 0 0,0 0 0 0 0,-1 0-1 0 0,1 0 1 0 0,0 0 0 0 0,0 0-1 0 0,0 0 1 0 0,0 0 0 0 0,0 1 0 0 0,141 1 2 0 0,103 7 8 0 0,-118 1-7 0 0,-36 0 204 0 0,-18-13 71 0 0,-69 3-271 0 0,0 0 4 0 0,19-2 111 0 0,0-1 1 0 0,-1-2 0 0 0,1 0 0 0 0,-1-1 0 0 0,28-11-1 0 0,-48 16-99 0 0,45-15 359 0 0,-9-3-43 0 0,43-29 1 0 0,-31 18 17 0 0,-47 29-317 0 0,0 1-35 0 0,0-1 1 0 0,-1 0-1 0 0,1 1 1 0 0,-1-1-1 0 0,1 0 1 0 0,-1 0-1 0 0,1 0 1 0 0,-1 0-1 0 0,0 0 1 0 0,1 0-1 0 0,-1 0 1 0 0,0-1-1 0 0,0 1 1 0 0,0 0-1 0 0,0-1 1 0 0,0 1-1 0 0,1-3 1 0 0,15-28 499 0 0,-14 23-334 0 0,0-1-1 0 0,0 0 1 0 0,-1 0-1 0 0,0 1 1 0 0,1-19-1 0 0,-3 26-153 0 0,-6-38 371 0 0,6 38-395 0 0,-21-31 113 0 0,20 32-129 0 0,1 0-9 0 0,-4-4 1 0 0,-1-2 5 0 0,-2-2-3 0 0,0 1-1 0 0,-1 0 1 0 0,0 0-1 0 0,-10-8 1 0 0,8 8-17 0 0,0 0 0 0 0,0 1 0 0 0,-1 0 0 0 0,0 0 0 0 0,0 1 0 0 0,-19-7 1 0 0,-21-12-12 0 0,50 25 15 0 0,-18-6-16 0 0,8 2 24 0 0,-25-10-13 0 0,33 13 3 0 0,1 1 7 0 0,-1-1 4 0 0,-5 0 1 0 0,-1 0-1 0 0,1-1 1 0 0,-1 0-1 0 0,1-1 1 0 0,0 0-1 0 0,-12-6 0 0 0,4 2-9 0 0,14 6 1 0 0,-2 0 0 0 0,-69-14-26 0 0,70 14 27 0 0,-49-7-8 0 0,17 4 3 0 0,-10-1-8 0 0,43 5 18 0 0,-2-1-1 0 0,-45-3 17 0 0,47 4-13 0 0,-2 0-7 0 0,-47-2-12 0 0,48 1 15 0 0,-1 1-5 0 0,-110 3-23 0 0,112-3 28 0 0,-25 2-12 0 0,15-1 18 0 0,-1 0 0 0 0,-69 4-3 0 0,10 0 10 0 0,32-3-11 0 0,-27 7-41 0 0,-2 2 12 0 0,43-5-2 0 0,1 0-1 0 0,-47 18 0 0 0,-74 31-76 0 0,104-23-57 0 0,41-31 146 0 0,-30 33-145 0 0,7 3-18 0 0,24-36 162 0 0,-12 40-153 0 0,5 13 4 0 0,7-53 150 0 0,0 44-126 0 0,0-42 140 0 0,0 1 1 0 0,0 0 0 0 0,0-1-1 0 0,1 1 1 0 0,-1-1 0 0 0,1 1-1 0 0,0-1 1 0 0,0 1 0 0 0,1-1-1 0 0,-1 1 1 0 0,1-1 0 0 0,-1 0-1 0 0,4 5 1 0 0,-4-7 1 0 0,0 1-5 0 0,15 32-29 0 0,-11-26 39 0 0,0-3-4 0 0,44 46-17 0 0,-36-39 27 0 0,14 6 34 0 0,35 12-23 0 0,-53-24-14 0 0,8 5 9 0 0,-15-10-14 0 0,35 12 41 0 0,-21-7-12 0 0,-1-1 0 0 0,32 5 0 0 0,11-3 9 0 0,-56-6-37 0 0,20 2 5 0 0,-13-2 4 0 0,0 2 1 0 0,-6-3-9 0 0,39 0 26 0 0,-31 0-20 0 0,34 0 23 0 0,11-2-8 0 0,-52 2-23 0 0,-2 0 4 0 0,31-4 11 0 0,-18 0 0 0 0,47 2-7 0 0,-12-2-11 0 0,18-7 2 0 0,-65 11 7 0 0,129-15 226 0 0,-130 15-146 0 0,-1 0-114 0 0,-1 0 0 0 0,1 1-1 0 0,-1-1 1 0 0,1 0 0 0 0,-1 0 0 0 0,1 0 0 0 0,-1 0 0 0 0,1 0 0 0 0,-1 0 0 0 0,1 0 0 0 0,-1 0 0 0 0,1 0 0 0 0,-1 0 0 0 0,1 0-1 0 0,-1-1 1 0 0,1 1 0 0 0,-1 0 0 0 0,1 0 0 0 0,-1 0 0 0 0,1-1 0 0 0,-1 1 0 0 0,0 0 0 0 0,1-1 0 0 0,-1 1 0 0 0,1 0 0 0 0,-1-1-1 0 0,0 1 1 0 0,1 0 0 0 0,-1-1 0 0 0,0 1 0 0 0,1-1 0 0 0,-1 1 0 0 0,0 0 0 0 0,0-1 0 0 0,0 1 0 0 0,1-1 0 0 0,-1 1 0 0 0,0-1 0 0 0,0 1-1 0 0,0-2 1 0 0,-2-13-5232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0T08:55:41.185"/>
    </inkml:context>
    <inkml:brush xml:id="br0">
      <inkml:brushProperty name="width" value="0.1" units="cm"/>
      <inkml:brushProperty name="height" value="0.1" units="cm"/>
      <inkml:brushProperty name="color" value="#66CC00"/>
    </inkml:brush>
  </inkml:definitions>
  <inkml:trace contextRef="#ctx0" brushRef="#br0">587 46 1804 0 0,'0'0'6144'0'0,"-4"-3"-6095"0"0,-6-2 25 0 0,0 0-1 0 0,0 1 1 0 0,-1 0 0 0 0,0 1 0 0 0,-13-2-1 0 0,22 4-34 0 0,-26 1 104 0 0,-3-1-8 0 0,0 2 0 0 0,0 1 0 0 0,1 1 0 0 0,-1 2-1 0 0,1 0 1 0 0,0 3 0 0 0,-44 15 0 0 0,20 0-67 0 0,6 6-53 0 0,42-24-20 0 0,-1-1-1 0 0,1 1 1 0 0,0 1 0 0 0,0-1-1 0 0,-6 8 1 0 0,6-4-30 0 0,0-1-1 0 0,0 2 1 0 0,1-1 0 0 0,0 1-1 0 0,1-1 1 0 0,0 1 0 0 0,-3 12-1 0 0,7-20 21 0 0,6 44-117 0 0,30 9 67 0 0,-28-46 57 0 0,0 0 1 0 0,0-1 0 0 0,1 0 0 0 0,-1 0 0 0 0,2-1 0 0 0,-1 0 0 0 0,1-1 0 0 0,0 0 0 0 0,14 6-1 0 0,17 11-4 0 0,-37-21 10 0 0,42 17-22 0 0,49 7-16 0 0,-93-25 34 0 0,48 13-24 0 0,-48-13 24 0 0,17 1-4 0 0,48 12-17 0 0,-65-13 26 0 0,20-1 10 0 0,3 4 4 0 0,9 0 21 0 0,-1-1 0 0 0,40-2 0 0 0,27-3-14 0 0,-83 1-21 0 0,181-6 69 0 0,-181 7-62 0 0,57-3 218 0 0,0-4-1 0 0,140-30 1 0 0,-86-3 504 0 0,-127 39-724 0 0,41-19 698 0 0,-41 20-593 0 0,47-36 934 0 0,-44 31-973 0 0,-1 0 1 0 0,1-1-1 0 0,-1 1 1 0 0,0-1-1 0 0,0 1 1 0 0,-1-1-1 0 0,1 0 0 0 0,-1 0 1 0 0,-1 0-1 0 0,1 0 1 0 0,-1-1-1 0 0,0 1 1 0 0,-1 0-1 0 0,1-1 1 0 0,-1 1-1 0 0,0 0 1 0 0,-1-1-1 0 0,0 1 1 0 0,0 0-1 0 0,0 0 0 0 0,-1-1 1 0 0,1 1-1 0 0,-1 0 1 0 0,-1 0-1 0 0,1 1 1 0 0,-1-1-1 0 0,-5-7 1 0 0,-3 0-68 0 0,0 1 1 0 0,-1 0 0 0 0,0 0-1 0 0,-1 1 1 0 0,0 1 0 0 0,-1 0-1 0 0,0 1 1 0 0,-1 0 0 0 0,-18-8-1 0 0,10 6-11 0 0,-1 2 0 0 0,0 0 0 0 0,0 1 0 0 0,-41-8 0 0 0,62 16 9 0 0,-117-21-16 0 0,85 15-20 0 0,0 2-1 0 0,-62 0 1 0 0,93 4 47 0 0,-52 2 45 0 0,-40 0-81 0 0,60-3 19 0 0,32 1 12 0 0,-34 2 5 0 0,33-2-16 0 0,-41-2-25 0 0,9 3 83 0 0,-177 3-878 0 0,214-4 615 0 0,-1 0 0 0 0,0 0 0 0 0,1 0 0 0 0,-1 0 0 0 0,0 0 0 0 0,1 0-1 0 0,-1 0 1 0 0,0 0 0 0 0,0 0 0 0 0,1-1 0 0 0,-1 1 0 0 0,0 0 0 0 0,1 0 0 0 0,-1-1-1 0 0,1 1 1 0 0,-1 0 0 0 0,0-1 0 0 0,1 1 0 0 0,-1 0 0 0 0,1-1 0 0 0,-1 1 0 0 0,1-1-1 0 0,-1 1 1 0 0,1-1 0 0 0,-1 1 0 0 0,1-1 0 0 0,0 0 0 0 0,-1 1 0 0 0,1-1 0 0 0,0 1-1 0 0,-1-1 1 0 0,1 0 0 0 0,0 1 0 0 0,0-2 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10T08:56:13.866"/>
    </inkml:context>
    <inkml:brush xml:id="br0">
      <inkml:brushProperty name="width" value="0.1" units="cm"/>
      <inkml:brushProperty name="height" value="0.1" units="cm"/>
      <inkml:brushProperty name="color" value="#66CC00"/>
    </inkml:brush>
  </inkml:definitions>
  <inkml:trace contextRef="#ctx0" brushRef="#br0">836 117 1360 0 0,'0'0'5014'0'0,"-10"-28"-4725"0"0,-23 9-104 0 0,23 13-168 0 0,0-1 1 0 0,-1 2 0 0 0,0 0-1 0 0,0 0 1 0 0,0 1-1 0 0,0 0 1 0 0,-14-2 0 0 0,-36-6-7 0 0,59 11-6 0 0,-5 2-4 0 0,1-1-1 0 0,-1 0 1 0 0,1 0 0 0 0,-1-1 0 0 0,1 0 0 0 0,-9-2 0 0 0,-24-2 1 0 0,8 2 5 0 0,29 3-17 0 0,-2 0-5 0 0,-30-2 5 0 0,31 2 14 0 0,-1 0 0 0 0,-8 0-4 0 0,8 0-11 0 0,1 0 3 0 0,-10 2 5 0 0,10-2-7 0 0,-32 5-27 0 0,18-1 36 0 0,0 0 0 0 0,0 0 1 0 0,-23 11-1 0 0,1-1 5 0 0,22-12-13 0 0,5-1-2 0 0,-26 18 5 0 0,17-5 1 0 0,1 1-1 0 0,0 1 0 0 0,-16 18 1 0 0,-29 45-53 0 0,58-61 30 0 0,0 1 1 0 0,-7 33 0 0 0,13-46 23 0 0,1 0 0 0 0,-1 1 0 0 0,1-1 0 0 0,1 0-1 0 0,-1 0 1 0 0,1 1 0 0 0,0-1 0 0 0,0 0 0 0 0,1 0 0 0 0,0 0 0 0 0,0 0 0 0 0,0 0 0 0 0,1-1 0 0 0,0 1 0 0 0,0 0 0 0 0,0-1 0 0 0,0 0 0 0 0,1 0 0 0 0,0 0 0 0 0,0-1 0 0 0,1 1 0 0 0,5 4 0 0 0,18 10 27 0 0,1-1-1 0 0,1-1 1 0 0,1-2-1 0 0,0-1 1 0 0,38 12-1 0 0,-32-17-6 0 0,-1 0-1 0 0,66 5 1 0 0,-33-6-31 0 0,-37-2 30 0 0,52 4 53 0 0,130 0 1 0 0,-198-11-31 0 0,0 0 1 0 0,-1-1-1 0 0,1 0 1 0 0,-1-1-1 0 0,1-1 1 0 0,-1-1-1 0 0,0 0 1 0 0,-1-1-1 0 0,26-13 1 0 0,-8 1 196 0 0,-1-1 0 0 0,0-2 0 0 0,35-31 0 0 0,-60 47-143 0 0,-1-1-1 0 0,-1 0 1 0 0,1-1-1 0 0,-1 1 1 0 0,0-1-1 0 0,-1 1 1 0 0,1-1-1 0 0,-1 0 1 0 0,-1-1-1 0 0,1 1 1 0 0,-1 0-1 0 0,-1-1 1 0 0,1 1-1 0 0,-1-1 1 0 0,-1 0-1 0 0,1 1 1 0 0,-1-1-1 0 0,0 1 1 0 0,-1-1 0 0 0,0 0-1 0 0,0 1 1 0 0,-1-1-1 0 0,0 1 1 0 0,0-1-1 0 0,-6-11 1 0 0,3 4-27 0 0,3 10-40 0 0,1-1 1 0 0,-1 0-1 0 0,0 1 1 0 0,-1 0-1 0 0,0-1 1 0 0,0 1-1 0 0,0 0 1 0 0,-5-6-1 0 0,-22-33 57 0 0,2 14-50 0 0,-18-10-19 0 0,34 30-19 0 0,1 2-1 0 0,-2-1 1 0 0,1 2 0 0 0,-2 0 0 0 0,1 0-1 0 0,0 1 1 0 0,-22-6 0 0 0,14 4 0 0 0,18 7 1 0 0,-22-1-13 0 0,3-2 15 0 0,-36 6-30 0 0,10 0 13 0 0,-46 6-10 0 0,81-7 30 0 0,-16 3 101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016C56-1FF4-4C61-8068-216C2A04DFD2}" type="datetimeFigureOut">
              <a:rPr lang="en-US" smtClean="0"/>
              <a:t>10/10/2025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1F4B03-26BA-4ADE-B8A5-AB5819FED9D9}" type="slidenum">
              <a:rPr lang="en-US" smtClean="0"/>
              <a:t>‹#›</a:t>
            </a:fld>
            <a:endParaRPr lang="en-US"/>
          </a:p>
        </p:txBody>
      </p:sp>
    </p:spTree>
    <p:extLst>
      <p:ext uri="{BB962C8B-B14F-4D97-AF65-F5344CB8AC3E}">
        <p14:creationId xmlns:p14="http://schemas.microsoft.com/office/powerpoint/2010/main" val="4066275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1F4B03-26BA-4ADE-B8A5-AB5819FED9D9}" type="slidenum">
              <a:rPr lang="en-US" smtClean="0"/>
              <a:t>4</a:t>
            </a:fld>
            <a:endParaRPr lang="en-US"/>
          </a:p>
        </p:txBody>
      </p:sp>
    </p:spTree>
    <p:extLst>
      <p:ext uri="{BB962C8B-B14F-4D97-AF65-F5344CB8AC3E}">
        <p14:creationId xmlns:p14="http://schemas.microsoft.com/office/powerpoint/2010/main" val="3967324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77A9E-A62A-FB8C-68E3-19E2D49E3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4B44B2-8D99-1C31-9031-0B11E8B4B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54E252-A107-2A82-D99F-A21F26A135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8CC11A-CE05-8262-8A88-C8E0032E4F9C}"/>
              </a:ext>
            </a:extLst>
          </p:cNvPr>
          <p:cNvSpPr>
            <a:spLocks noGrp="1"/>
          </p:cNvSpPr>
          <p:nvPr>
            <p:ph type="sldNum" sz="quarter" idx="5"/>
          </p:nvPr>
        </p:nvSpPr>
        <p:spPr/>
        <p:txBody>
          <a:bodyPr/>
          <a:lstStyle/>
          <a:p>
            <a:fld id="{3F1F4B03-26BA-4ADE-B8A5-AB5819FED9D9}" type="slidenum">
              <a:rPr lang="en-US" smtClean="0"/>
              <a:t>7</a:t>
            </a:fld>
            <a:endParaRPr lang="en-US"/>
          </a:p>
        </p:txBody>
      </p:sp>
    </p:spTree>
    <p:extLst>
      <p:ext uri="{BB962C8B-B14F-4D97-AF65-F5344CB8AC3E}">
        <p14:creationId xmlns:p14="http://schemas.microsoft.com/office/powerpoint/2010/main" val="1428133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33BBF7-E59E-4163-ACB9-0E40D427E7B8}" type="slidenum">
              <a:rPr lang="en-US" smtClean="0"/>
              <a:t>15</a:t>
            </a:fld>
            <a:endParaRPr lang="en-US"/>
          </a:p>
        </p:txBody>
      </p:sp>
    </p:spTree>
    <p:extLst>
      <p:ext uri="{BB962C8B-B14F-4D97-AF65-F5344CB8AC3E}">
        <p14:creationId xmlns:p14="http://schemas.microsoft.com/office/powerpoint/2010/main" val="1571610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8B875-05FE-F1A6-E7D1-A5BF4C307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5D5B37-C22D-ED4F-9EBD-D45A1A5A26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4B98F6-9397-381E-98A4-1968EFD464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3A26B5-BB5B-7BBC-8804-C80E67C8163C}"/>
              </a:ext>
            </a:extLst>
          </p:cNvPr>
          <p:cNvSpPr>
            <a:spLocks noGrp="1"/>
          </p:cNvSpPr>
          <p:nvPr>
            <p:ph type="sldNum" sz="quarter" idx="5"/>
          </p:nvPr>
        </p:nvSpPr>
        <p:spPr/>
        <p:txBody>
          <a:bodyPr/>
          <a:lstStyle/>
          <a:p>
            <a:fld id="{1E33BBF7-E59E-4163-ACB9-0E40D427E7B8}" type="slidenum">
              <a:rPr lang="en-US" smtClean="0"/>
              <a:t>16</a:t>
            </a:fld>
            <a:endParaRPr lang="en-US"/>
          </a:p>
        </p:txBody>
      </p:sp>
    </p:spTree>
    <p:extLst>
      <p:ext uri="{BB962C8B-B14F-4D97-AF65-F5344CB8AC3E}">
        <p14:creationId xmlns:p14="http://schemas.microsoft.com/office/powerpoint/2010/main" val="3173340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10/10/2025</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10/10/2025</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10/10/2025</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10/10/2025</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10/10/2025</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10/10/2025</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10/10/2025</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10/10/2025</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10/10/2025</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10/10/2025</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10/10/2025</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10/10/2025</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0.png"/><Relationship Id="rId3" Type="http://schemas.openxmlformats.org/officeDocument/2006/relationships/customXml" Target="../ink/ink1.xml"/><Relationship Id="rId7" Type="http://schemas.openxmlformats.org/officeDocument/2006/relationships/customXml" Target="../ink/ink2.xml"/><Relationship Id="rId12" Type="http://schemas.openxmlformats.org/officeDocument/2006/relationships/image" Target="../media/image18.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17.png"/><Relationship Id="rId5" Type="http://schemas.openxmlformats.org/officeDocument/2006/relationships/image" Target="../media/image14.png"/><Relationship Id="rId10" Type="http://schemas.openxmlformats.org/officeDocument/2006/relationships/customXml" Target="../ink/ink4.xml"/><Relationship Id="rId4" Type="http://schemas.openxmlformats.org/officeDocument/2006/relationships/image" Target="../media/image13.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customXml" Target="../ink/ink10.xml"/><Relationship Id="rId18" Type="http://schemas.openxmlformats.org/officeDocument/2006/relationships/image" Target="../media/image24.png"/><Relationship Id="rId3" Type="http://schemas.openxmlformats.org/officeDocument/2006/relationships/customXml" Target="../ink/ink5.xml"/><Relationship Id="rId21" Type="http://schemas.openxmlformats.org/officeDocument/2006/relationships/customXml" Target="../ink/ink14.xml"/><Relationship Id="rId7" Type="http://schemas.openxmlformats.org/officeDocument/2006/relationships/customXml" Target="../ink/ink7.xml"/><Relationship Id="rId12" Type="http://schemas.openxmlformats.org/officeDocument/2006/relationships/image" Target="../media/image21.png"/><Relationship Id="rId17" Type="http://schemas.openxmlformats.org/officeDocument/2006/relationships/customXml" Target="../ink/ink12.xml"/><Relationship Id="rId2" Type="http://schemas.openxmlformats.org/officeDocument/2006/relationships/image" Target="../media/image12.png"/><Relationship Id="rId16" Type="http://schemas.openxmlformats.org/officeDocument/2006/relationships/image" Target="../media/image23.png"/><Relationship Id="rId20"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customXml" Target="../ink/ink6.xml"/><Relationship Id="rId11" Type="http://schemas.openxmlformats.org/officeDocument/2006/relationships/customXml" Target="../ink/ink9.xml"/><Relationship Id="rId24" Type="http://schemas.openxmlformats.org/officeDocument/2006/relationships/image" Target="../media/image27.png"/><Relationship Id="rId5" Type="http://schemas.openxmlformats.org/officeDocument/2006/relationships/image" Target="../media/image14.png"/><Relationship Id="rId15" Type="http://schemas.openxmlformats.org/officeDocument/2006/relationships/customXml" Target="../ink/ink11.xml"/><Relationship Id="rId23" Type="http://schemas.openxmlformats.org/officeDocument/2006/relationships/customXml" Target="../ink/ink15.xml"/><Relationship Id="rId10" Type="http://schemas.openxmlformats.org/officeDocument/2006/relationships/image" Target="../media/image20.png"/><Relationship Id="rId19" Type="http://schemas.openxmlformats.org/officeDocument/2006/relationships/customXml" Target="../ink/ink13.xml"/><Relationship Id="rId4" Type="http://schemas.openxmlformats.org/officeDocument/2006/relationships/image" Target="../media/image13.png"/><Relationship Id="rId9" Type="http://schemas.openxmlformats.org/officeDocument/2006/relationships/customXml" Target="../ink/ink8.xml"/><Relationship Id="rId14" Type="http://schemas.openxmlformats.org/officeDocument/2006/relationships/image" Target="../media/image22.png"/><Relationship Id="rId22"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2.png"/><Relationship Id="rId7" Type="http://schemas.openxmlformats.org/officeDocument/2006/relationships/customXml" Target="../ink/ink17.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customXml" Target="../ink/ink16.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39.png"/><Relationship Id="rId4" Type="http://schemas.openxmlformats.org/officeDocument/2006/relationships/customXml" Target="../ink/ink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F1717-4198-BDFC-F0F8-F8672421B9B8}"/>
              </a:ext>
            </a:extLst>
          </p:cNvPr>
          <p:cNvSpPr>
            <a:spLocks noGrp="1"/>
          </p:cNvSpPr>
          <p:nvPr>
            <p:ph type="title"/>
          </p:nvPr>
        </p:nvSpPr>
        <p:spPr/>
        <p:txBody>
          <a:bodyPr/>
          <a:lstStyle/>
          <a:p>
            <a:pPr algn="ctr"/>
            <a:r>
              <a:rPr lang="en-US" dirty="0"/>
              <a:t>Problem Statement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5811B99-5BB2-2A1F-E4B5-9051EED8E8AC}"/>
                  </a:ext>
                </a:extLst>
              </p:cNvPr>
              <p:cNvSpPr>
                <a:spLocks noGrp="1"/>
              </p:cNvSpPr>
              <p:nvPr>
                <p:ph idx="1"/>
              </p:nvPr>
            </p:nvSpPr>
            <p:spPr>
              <a:xfrm>
                <a:off x="210312" y="1825625"/>
                <a:ext cx="11612880" cy="4351338"/>
              </a:xfrm>
            </p:spPr>
            <p:txBody>
              <a:bodyPr/>
              <a:lstStyle/>
              <a:p>
                <a:pPr marL="0" indent="0">
                  <a:buNone/>
                </a:pPr>
                <a:r>
                  <a:rPr lang="en-US" dirty="0"/>
                  <a:t>Let’s say that adult male heights, X, in a city are approximately </a:t>
                </a:r>
                <a:r>
                  <a:rPr lang="en-US" b="1" dirty="0"/>
                  <a:t>normally distributed</a:t>
                </a:r>
                <a:r>
                  <a:rPr lang="en-US" dirty="0"/>
                  <a:t> with mean </a:t>
                </a:r>
                <a14:m>
                  <m:oMath xmlns:m="http://schemas.openxmlformats.org/officeDocument/2006/math">
                    <m:r>
                      <a:rPr lang="en-US" i="1">
                        <a:latin typeface="Cambria Math" panose="02040503050406030204" pitchFamily="18" charset="0"/>
                      </a:rPr>
                      <m:t>𝜇</m:t>
                    </m:r>
                    <m:r>
                      <a:rPr lang="en-US">
                        <a:latin typeface="Cambria Math" panose="02040503050406030204" pitchFamily="18" charset="0"/>
                      </a:rPr>
                      <m:t>=</m:t>
                    </m:r>
                    <m:r>
                      <a:rPr lang="en-US">
                        <a:latin typeface="Cambria Math" panose="02040503050406030204" pitchFamily="18" charset="0"/>
                      </a:rPr>
                      <m:t>170</m:t>
                    </m:r>
                    <m:r>
                      <m:rPr>
                        <m:nor/>
                      </m:rPr>
                      <a:rPr lang="en-US" i="1"/>
                      <m:t> </m:t>
                    </m:r>
                    <m:r>
                      <m:rPr>
                        <m:nor/>
                      </m:rPr>
                      <a:rPr lang="en-US" i="1"/>
                      <m:t>cm</m:t>
                    </m:r>
                    <m:r>
                      <m:rPr>
                        <m:nor/>
                      </m:rPr>
                      <a:rPr lang="en-US" i="1"/>
                      <m:t> </m:t>
                    </m:r>
                  </m:oMath>
                </a14:m>
                <a:r>
                  <a:rPr lang="en-US" dirty="0"/>
                  <a:t>and standard deviation </a:t>
                </a:r>
                <a14:m>
                  <m:oMath xmlns:m="http://schemas.openxmlformats.org/officeDocument/2006/math">
                    <m:r>
                      <a:rPr lang="en-US" i="1">
                        <a:latin typeface="Cambria Math" panose="02040503050406030204" pitchFamily="18" charset="0"/>
                      </a:rPr>
                      <m:t>𝜎</m:t>
                    </m:r>
                    <m:r>
                      <a:rPr lang="en-US">
                        <a:latin typeface="Cambria Math" panose="02040503050406030204" pitchFamily="18" charset="0"/>
                      </a:rPr>
                      <m:t>=</m:t>
                    </m:r>
                    <m:r>
                      <m:rPr>
                        <m:nor/>
                      </m:rPr>
                      <a:rPr lang="en-US" i="1">
                        <a:latin typeface="Cambria Math" panose="02040503050406030204" pitchFamily="18" charset="0"/>
                      </a:rPr>
                      <m:t>8</m:t>
                    </m:r>
                    <m:r>
                      <m:rPr>
                        <m:nor/>
                      </m:rPr>
                      <a:rPr lang="en-US" i="1"/>
                      <m:t> </m:t>
                    </m:r>
                    <m:r>
                      <m:rPr>
                        <m:nor/>
                      </m:rPr>
                      <a:rPr lang="en-US" i="1"/>
                      <m:t>cm</m:t>
                    </m:r>
                  </m:oMath>
                </a14:m>
                <a:r>
                  <a:rPr lang="en-US" dirty="0"/>
                  <a:t>. </a:t>
                </a:r>
              </a:p>
              <a:p>
                <a:pPr marL="0" indent="0">
                  <a:buNone/>
                </a:pPr>
                <a:r>
                  <a:rPr lang="en-US" dirty="0"/>
                  <a:t>If you randomly pick an adult, then what is the probability that his</a:t>
                </a:r>
              </a:p>
              <a:p>
                <a:pPr marL="342900" indent="-342900">
                  <a:buFontTx/>
                  <a:buAutoNum type="alphaLcParenR"/>
                </a:pPr>
                <a:r>
                  <a:rPr lang="en-US" dirty="0"/>
                  <a:t>Height is less than 155 cm;  </a:t>
                </a:r>
              </a:p>
              <a:p>
                <a:pPr marL="342900" indent="-342900">
                  <a:buFontTx/>
                  <a:buAutoNum type="alphaLcParenR"/>
                </a:pPr>
                <a:r>
                  <a:rPr lang="en-US" dirty="0"/>
                  <a:t>Height is greater than 190 cm;</a:t>
                </a:r>
              </a:p>
              <a:p>
                <a:pPr marL="342900" indent="-342900">
                  <a:buFontTx/>
                  <a:buAutoNum type="alphaLcParenR"/>
                </a:pPr>
                <a:r>
                  <a:rPr lang="en-US" dirty="0"/>
                  <a:t>Height is between 160 cm and 180 cm;</a:t>
                </a:r>
              </a:p>
              <a:p>
                <a:pPr marL="342900" indent="-342900">
                  <a:buFontTx/>
                  <a:buAutoNum type="alphaLcParenR"/>
                </a:pPr>
                <a:r>
                  <a:rPr lang="en-US" dirty="0"/>
                  <a:t>Height is exactly 190 cm ?</a:t>
                </a:r>
              </a:p>
            </p:txBody>
          </p:sp>
        </mc:Choice>
        <mc:Fallback>
          <p:sp>
            <p:nvSpPr>
              <p:cNvPr id="3" name="Content Placeholder 2">
                <a:extLst>
                  <a:ext uri="{FF2B5EF4-FFF2-40B4-BE49-F238E27FC236}">
                    <a16:creationId xmlns:a16="http://schemas.microsoft.com/office/drawing/2014/main" id="{E5811B99-5BB2-2A1F-E4B5-9051EED8E8AC}"/>
                  </a:ext>
                </a:extLst>
              </p:cNvPr>
              <p:cNvSpPr>
                <a:spLocks noGrp="1" noRot="1" noChangeAspect="1" noMove="1" noResize="1" noEditPoints="1" noAdjustHandles="1" noChangeArrowheads="1" noChangeShapeType="1" noTextEdit="1"/>
              </p:cNvSpPr>
              <p:nvPr>
                <p:ph idx="1"/>
              </p:nvPr>
            </p:nvSpPr>
            <p:spPr>
              <a:xfrm>
                <a:off x="210312" y="1825625"/>
                <a:ext cx="11612880" cy="4351338"/>
              </a:xfrm>
              <a:blipFill>
                <a:blip r:embed="rId2"/>
                <a:stretch>
                  <a:fillRect l="-1102" t="-224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8897C28-5C57-1FAB-3B9C-D915828FC560}"/>
              </a:ext>
            </a:extLst>
          </p:cNvPr>
          <p:cNvPicPr>
            <a:picLocks noChangeAspect="1"/>
          </p:cNvPicPr>
          <p:nvPr/>
        </p:nvPicPr>
        <p:blipFill>
          <a:blip r:embed="rId3"/>
          <a:stretch>
            <a:fillRect/>
          </a:stretch>
        </p:blipFill>
        <p:spPr>
          <a:xfrm>
            <a:off x="8618677" y="3337560"/>
            <a:ext cx="1592123" cy="2041183"/>
          </a:xfrm>
          <a:prstGeom prst="rect">
            <a:avLst/>
          </a:prstGeom>
        </p:spPr>
      </p:pic>
      <p:sp>
        <p:nvSpPr>
          <p:cNvPr id="6" name="Freeform: Shape 5">
            <a:extLst>
              <a:ext uri="{FF2B5EF4-FFF2-40B4-BE49-F238E27FC236}">
                <a16:creationId xmlns:a16="http://schemas.microsoft.com/office/drawing/2014/main" id="{56F3B302-6096-E6BD-ACD7-10D4B5503894}"/>
              </a:ext>
            </a:extLst>
          </p:cNvPr>
          <p:cNvSpPr/>
          <p:nvPr/>
        </p:nvSpPr>
        <p:spPr>
          <a:xfrm>
            <a:off x="8641080" y="52414"/>
            <a:ext cx="1217142" cy="539496"/>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066201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93E2F-4875-5337-96CB-203780D76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E72E04-4E98-61A7-A41E-8D8A3F16423F}"/>
              </a:ext>
            </a:extLst>
          </p:cNvPr>
          <p:cNvSpPr>
            <a:spLocks noGrp="1"/>
          </p:cNvSpPr>
          <p:nvPr>
            <p:ph type="title"/>
          </p:nvPr>
        </p:nvSpPr>
        <p:spPr>
          <a:xfrm>
            <a:off x="838200" y="2705989"/>
            <a:ext cx="10515600" cy="1325563"/>
          </a:xfrm>
        </p:spPr>
        <p:txBody>
          <a:bodyPr>
            <a:normAutofit/>
          </a:bodyPr>
          <a:lstStyle/>
          <a:p>
            <a:pPr algn="ctr"/>
            <a:r>
              <a:rPr lang="en-US" sz="6600" dirty="0"/>
              <a:t>Theory</a:t>
            </a:r>
          </a:p>
        </p:txBody>
      </p:sp>
      <p:sp>
        <p:nvSpPr>
          <p:cNvPr id="6" name="Freeform: Shape 5">
            <a:extLst>
              <a:ext uri="{FF2B5EF4-FFF2-40B4-BE49-F238E27FC236}">
                <a16:creationId xmlns:a16="http://schemas.microsoft.com/office/drawing/2014/main" id="{9CB5F2BE-7141-48F9-33D2-FF8FC5BED3AC}"/>
              </a:ext>
            </a:extLst>
          </p:cNvPr>
          <p:cNvSpPr/>
          <p:nvPr/>
        </p:nvSpPr>
        <p:spPr>
          <a:xfrm>
            <a:off x="8641080" y="52414"/>
            <a:ext cx="1217142" cy="539496"/>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83199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C7054-0850-E8BD-514B-4FC986F13C4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64B0C7E-CA2A-5747-00C7-1B7571C351EC}"/>
              </a:ext>
            </a:extLst>
          </p:cNvPr>
          <p:cNvPicPr>
            <a:picLocks noChangeAspect="1"/>
          </p:cNvPicPr>
          <p:nvPr/>
        </p:nvPicPr>
        <p:blipFill>
          <a:blip r:embed="rId2"/>
          <a:stretch>
            <a:fillRect/>
          </a:stretch>
        </p:blipFill>
        <p:spPr>
          <a:xfrm>
            <a:off x="1133856" y="1942087"/>
            <a:ext cx="8955596" cy="4915913"/>
          </a:xfrm>
          <a:prstGeom prst="rect">
            <a:avLst/>
          </a:prstGeom>
        </p:spPr>
      </p:pic>
      <p:sp>
        <p:nvSpPr>
          <p:cNvPr id="11" name="TextBox 10">
            <a:extLst>
              <a:ext uri="{FF2B5EF4-FFF2-40B4-BE49-F238E27FC236}">
                <a16:creationId xmlns:a16="http://schemas.microsoft.com/office/drawing/2014/main" id="{F923E92F-677B-7035-4839-F18CE637473C}"/>
              </a:ext>
            </a:extLst>
          </p:cNvPr>
          <p:cNvSpPr txBox="1"/>
          <p:nvPr/>
        </p:nvSpPr>
        <p:spPr>
          <a:xfrm>
            <a:off x="722376" y="666834"/>
            <a:ext cx="10826496" cy="1200329"/>
          </a:xfrm>
          <a:prstGeom prst="rect">
            <a:avLst/>
          </a:prstGeom>
          <a:noFill/>
        </p:spPr>
        <p:txBody>
          <a:bodyPr wrap="square">
            <a:spAutoFit/>
          </a:bodyPr>
          <a:lstStyle/>
          <a:p>
            <a:r>
              <a:rPr lang="en-US" dirty="0">
                <a:solidFill>
                  <a:schemeClr val="accent6">
                    <a:lumMod val="60000"/>
                    <a:lumOff val="40000"/>
                  </a:schemeClr>
                </a:solidFill>
              </a:rPr>
              <a:t>If you selects random sample of 10 people, measures their weight, and constructs a histogram, the graph will look like as shown. Now, if you increase the sample size and increase the bins, the histograms will look like the bell shape curve. The histogram would approach what is called a normal distribution curve AKA a bell curve or a Gaussian distribution curve. This curve show ups in heights of adult, blood pressure, IQ score, etc.</a:t>
            </a:r>
          </a:p>
        </p:txBody>
      </p:sp>
      <p:sp>
        <p:nvSpPr>
          <p:cNvPr id="12" name="Freeform: Shape 11">
            <a:extLst>
              <a:ext uri="{FF2B5EF4-FFF2-40B4-BE49-F238E27FC236}">
                <a16:creationId xmlns:a16="http://schemas.microsoft.com/office/drawing/2014/main" id="{8475FBED-7726-0E3D-8D09-10D1DE356964}"/>
              </a:ext>
            </a:extLst>
          </p:cNvPr>
          <p:cNvSpPr/>
          <p:nvPr/>
        </p:nvSpPr>
        <p:spPr>
          <a:xfrm>
            <a:off x="8641080" y="52414"/>
            <a:ext cx="1217142" cy="539496"/>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493562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5E47CC9-D1F4-1C51-2C6A-00C5D59A945A}"/>
                  </a:ext>
                </a:extLst>
              </p:cNvPr>
              <p:cNvSpPr txBox="1"/>
              <p:nvPr/>
            </p:nvSpPr>
            <p:spPr>
              <a:xfrm>
                <a:off x="64008" y="4214084"/>
                <a:ext cx="11923775" cy="2646878"/>
              </a:xfrm>
              <a:prstGeom prst="rect">
                <a:avLst/>
              </a:prstGeom>
              <a:noFill/>
            </p:spPr>
            <p:txBody>
              <a:bodyPr wrap="square" rtlCol="0">
                <a:spAutoFit/>
              </a:bodyPr>
              <a:lstStyle/>
              <a:p>
                <a:pPr marL="342900" indent="-342900">
                  <a:buAutoNum type="arabicPeriod"/>
                </a:pPr>
                <a:r>
                  <a:rPr lang="en-US" dirty="0">
                    <a:solidFill>
                      <a:schemeClr val="accent6">
                        <a:lumMod val="60000"/>
                        <a:lumOff val="40000"/>
                      </a:schemeClr>
                    </a:solidFill>
                  </a:rPr>
                  <a:t>A normal distribution curve is bell-shaped. It is also called Gaussian distribution.</a:t>
                </a:r>
              </a:p>
              <a:p>
                <a:pPr marL="342900" indent="-342900">
                  <a:buAutoNum type="arabicPeriod"/>
                </a:pPr>
                <a:r>
                  <a:rPr lang="en-US" b="1" dirty="0">
                    <a:solidFill>
                      <a:schemeClr val="accent6">
                        <a:lumMod val="60000"/>
                        <a:lumOff val="40000"/>
                      </a:schemeClr>
                    </a:solidFill>
                  </a:rPr>
                  <a:t>The mean, median, and mode are equal</a:t>
                </a:r>
                <a:r>
                  <a:rPr lang="en-US" dirty="0">
                    <a:solidFill>
                      <a:schemeClr val="accent6">
                        <a:lumMod val="60000"/>
                        <a:lumOff val="40000"/>
                      </a:schemeClr>
                    </a:solidFill>
                  </a:rPr>
                  <a:t> and are </a:t>
                </a:r>
                <a:r>
                  <a:rPr lang="en-US" b="1" dirty="0">
                    <a:solidFill>
                      <a:schemeClr val="accent6">
                        <a:lumMod val="60000"/>
                        <a:lumOff val="40000"/>
                      </a:schemeClr>
                    </a:solidFill>
                  </a:rPr>
                  <a:t>located at the center</a:t>
                </a:r>
                <a:r>
                  <a:rPr lang="en-US" dirty="0">
                    <a:solidFill>
                      <a:schemeClr val="accent6">
                        <a:lumMod val="60000"/>
                        <a:lumOff val="40000"/>
                      </a:schemeClr>
                    </a:solidFill>
                  </a:rPr>
                  <a:t> of the distribution. </a:t>
                </a:r>
              </a:p>
              <a:p>
                <a:pPr marL="342900" indent="-342900">
                  <a:buAutoNum type="arabicPeriod"/>
                </a:pPr>
                <a:r>
                  <a:rPr lang="en-US" b="1" dirty="0">
                    <a:solidFill>
                      <a:schemeClr val="accent6">
                        <a:lumMod val="60000"/>
                        <a:lumOff val="40000"/>
                      </a:schemeClr>
                    </a:solidFill>
                  </a:rPr>
                  <a:t>The curve is symmetric about the mean: </a:t>
                </a:r>
                <a:r>
                  <a:rPr lang="en-US" dirty="0">
                    <a:solidFill>
                      <a:schemeClr val="accent6">
                        <a:lumMod val="60000"/>
                        <a:lumOff val="40000"/>
                      </a:schemeClr>
                    </a:solidFill>
                  </a:rPr>
                  <a:t>its shape is the same on both sides of a vertical line passing through the center.</a:t>
                </a:r>
              </a:p>
              <a:p>
                <a:pPr marL="342900" indent="-342900">
                  <a:buAutoNum type="arabicPeriod"/>
                </a:pPr>
                <a:r>
                  <a:rPr lang="en-US" dirty="0">
                    <a:solidFill>
                      <a:schemeClr val="accent6">
                        <a:lumMod val="60000"/>
                        <a:lumOff val="40000"/>
                      </a:schemeClr>
                    </a:solidFill>
                  </a:rPr>
                  <a:t>The </a:t>
                </a:r>
                <a:r>
                  <a:rPr lang="en-US" b="1" dirty="0">
                    <a:solidFill>
                      <a:schemeClr val="accent6">
                        <a:lumMod val="60000"/>
                        <a:lumOff val="40000"/>
                      </a:schemeClr>
                    </a:solidFill>
                  </a:rPr>
                  <a:t>curve is continuous</a:t>
                </a:r>
                <a:r>
                  <a:rPr lang="en-US" dirty="0">
                    <a:solidFill>
                      <a:schemeClr val="accent6">
                        <a:lumMod val="60000"/>
                        <a:lumOff val="40000"/>
                      </a:schemeClr>
                    </a:solidFill>
                  </a:rPr>
                  <a:t>; that is, there are no gaps or holes. For each value of X, there is a corresponding value of Y. </a:t>
                </a:r>
              </a:p>
              <a:p>
                <a:pPr marL="342900" indent="-342900">
                  <a:buAutoNum type="arabicPeriod"/>
                </a:pPr>
                <a:r>
                  <a:rPr lang="en-US" dirty="0">
                    <a:solidFill>
                      <a:schemeClr val="accent6">
                        <a:lumMod val="60000"/>
                        <a:lumOff val="40000"/>
                      </a:schemeClr>
                    </a:solidFill>
                  </a:rPr>
                  <a:t>The </a:t>
                </a:r>
                <a:r>
                  <a:rPr lang="en-US" b="1" dirty="0">
                    <a:solidFill>
                      <a:schemeClr val="accent6">
                        <a:lumMod val="60000"/>
                        <a:lumOff val="40000"/>
                      </a:schemeClr>
                    </a:solidFill>
                  </a:rPr>
                  <a:t>curve is asymptotic to x-axis</a:t>
                </a:r>
                <a:r>
                  <a:rPr lang="en-US" dirty="0">
                    <a:solidFill>
                      <a:schemeClr val="accent6">
                        <a:lumMod val="60000"/>
                        <a:lumOff val="40000"/>
                      </a:schemeClr>
                    </a:solidFill>
                  </a:rPr>
                  <a:t>: the curve never touches the x axis.</a:t>
                </a:r>
              </a:p>
              <a:p>
                <a:pPr marL="342900" indent="-342900">
                  <a:buFontTx/>
                  <a:buAutoNum type="arabicPeriod"/>
                </a:pPr>
                <a:r>
                  <a:rPr lang="en-US" dirty="0">
                    <a:solidFill>
                      <a:schemeClr val="accent6">
                        <a:lumMod val="60000"/>
                        <a:lumOff val="40000"/>
                      </a:schemeClr>
                    </a:solidFill>
                  </a:rPr>
                  <a:t>It is denoted by X∼ N(</a:t>
                </a:r>
                <a:r>
                  <a:rPr lang="el-GR" dirty="0">
                    <a:solidFill>
                      <a:schemeClr val="accent6">
                        <a:lumMod val="60000"/>
                        <a:lumOff val="40000"/>
                      </a:schemeClr>
                    </a:solidFill>
                  </a:rPr>
                  <a:t>μ,</a:t>
                </a:r>
                <a:r>
                  <a:rPr lang="en-US" dirty="0">
                    <a:solidFill>
                      <a:schemeClr val="accent6">
                        <a:lumMod val="60000"/>
                        <a:lumOff val="40000"/>
                      </a:schemeClr>
                    </a:solidFill>
                  </a:rPr>
                  <a:t> </a:t>
                </a:r>
                <a14:m>
                  <m:oMath xmlns:m="http://schemas.openxmlformats.org/officeDocument/2006/math">
                    <m:sSup>
                      <m:sSupPr>
                        <m:ctrlPr>
                          <a:rPr lang="en-US" i="1" smtClean="0">
                            <a:solidFill>
                              <a:schemeClr val="accent6">
                                <a:lumMod val="60000"/>
                                <a:lumOff val="40000"/>
                              </a:schemeClr>
                            </a:solidFill>
                            <a:latin typeface="Cambria Math" panose="02040503050406030204" pitchFamily="18" charset="0"/>
                          </a:rPr>
                        </m:ctrlPr>
                      </m:sSupPr>
                      <m:e>
                        <m:r>
                          <a:rPr lang="en-US" i="1" smtClean="0">
                            <a:solidFill>
                              <a:schemeClr val="accent6">
                                <a:lumMod val="60000"/>
                                <a:lumOff val="40000"/>
                              </a:schemeClr>
                            </a:solidFill>
                            <a:latin typeface="Cambria Math" panose="02040503050406030204" pitchFamily="18" charset="0"/>
                          </a:rPr>
                          <m:t>𝜎</m:t>
                        </m:r>
                      </m:e>
                      <m:sup>
                        <m:r>
                          <a:rPr lang="en-US" i="1" smtClean="0">
                            <a:solidFill>
                              <a:schemeClr val="accent6">
                                <a:lumMod val="60000"/>
                                <a:lumOff val="40000"/>
                              </a:schemeClr>
                            </a:solidFill>
                            <a:latin typeface="Cambria Math" panose="02040503050406030204" pitchFamily="18" charset="0"/>
                          </a:rPr>
                          <m:t>2</m:t>
                        </m:r>
                      </m:sup>
                    </m:sSup>
                  </m:oMath>
                </a14:m>
                <a:r>
                  <a:rPr lang="el-GR" dirty="0">
                    <a:solidFill>
                      <a:schemeClr val="accent6">
                        <a:lumMod val="60000"/>
                        <a:lumOff val="40000"/>
                      </a:schemeClr>
                    </a:solidFill>
                  </a:rPr>
                  <a:t>)</a:t>
                </a:r>
                <a:r>
                  <a:rPr lang="en-US" dirty="0">
                    <a:solidFill>
                      <a:schemeClr val="accent6">
                        <a:lumMod val="60000"/>
                        <a:lumOff val="40000"/>
                      </a:schemeClr>
                    </a:solidFill>
                  </a:rPr>
                  <a:t>, here </a:t>
                </a:r>
                <a:r>
                  <a:rPr lang="el-GR" dirty="0">
                    <a:solidFill>
                      <a:schemeClr val="accent6">
                        <a:lumMod val="60000"/>
                        <a:lumOff val="40000"/>
                      </a:schemeClr>
                    </a:solidFill>
                  </a:rPr>
                  <a:t>μ</a:t>
                </a:r>
                <a:r>
                  <a:rPr lang="en-US" dirty="0">
                    <a:solidFill>
                      <a:schemeClr val="accent6">
                        <a:lumMod val="60000"/>
                        <a:lumOff val="40000"/>
                      </a:schemeClr>
                    </a:solidFill>
                  </a:rPr>
                  <a:t> is the mean and </a:t>
                </a:r>
                <a:r>
                  <a:rPr lang="el-GR" dirty="0">
                    <a:solidFill>
                      <a:schemeClr val="accent6">
                        <a:lumMod val="60000"/>
                        <a:lumOff val="40000"/>
                      </a:schemeClr>
                    </a:solidFill>
                  </a:rPr>
                  <a:t>σ</a:t>
                </a:r>
                <a:r>
                  <a:rPr lang="en-US" dirty="0">
                    <a:solidFill>
                      <a:schemeClr val="accent6">
                        <a:lumMod val="60000"/>
                        <a:lumOff val="40000"/>
                      </a:schemeClr>
                    </a:solidFill>
                  </a:rPr>
                  <a:t> is the standard deviation. It is fully described by </a:t>
                </a:r>
                <a:r>
                  <a:rPr lang="en-US" b="1" dirty="0">
                    <a:solidFill>
                      <a:schemeClr val="accent6">
                        <a:lumMod val="60000"/>
                        <a:lumOff val="40000"/>
                      </a:schemeClr>
                    </a:solidFill>
                  </a:rPr>
                  <a:t>mean (μ)</a:t>
                </a:r>
                <a:r>
                  <a:rPr lang="en-US" dirty="0">
                    <a:solidFill>
                      <a:schemeClr val="accent6">
                        <a:lumMod val="60000"/>
                        <a:lumOff val="40000"/>
                      </a:schemeClr>
                    </a:solidFill>
                  </a:rPr>
                  <a:t> and </a:t>
                </a:r>
                <a:r>
                  <a:rPr lang="en-US" b="1" dirty="0">
                    <a:solidFill>
                      <a:schemeClr val="accent6">
                        <a:lumMod val="60000"/>
                        <a:lumOff val="40000"/>
                      </a:schemeClr>
                    </a:solidFill>
                  </a:rPr>
                  <a:t>standard deviation (σ)</a:t>
                </a:r>
                <a:r>
                  <a:rPr lang="en-US" dirty="0">
                    <a:solidFill>
                      <a:schemeClr val="accent6">
                        <a:lumMod val="60000"/>
                        <a:lumOff val="40000"/>
                      </a:schemeClr>
                    </a:solidFill>
                  </a:rPr>
                  <a:t>.</a:t>
                </a:r>
              </a:p>
              <a:p>
                <a:pPr marL="342900" indent="-342900">
                  <a:buAutoNum type="arabicPeriod"/>
                </a:pPr>
                <a:endParaRPr lang="en-US" dirty="0">
                  <a:solidFill>
                    <a:schemeClr val="accent6">
                      <a:lumMod val="60000"/>
                      <a:lumOff val="40000"/>
                    </a:schemeClr>
                  </a:solidFill>
                </a:endParaRPr>
              </a:p>
              <a:p>
                <a:endParaRPr lang="en-US" dirty="0">
                  <a:solidFill>
                    <a:schemeClr val="accent6">
                      <a:lumMod val="60000"/>
                      <a:lumOff val="40000"/>
                    </a:schemeClr>
                  </a:solidFill>
                </a:endParaRPr>
              </a:p>
            </p:txBody>
          </p:sp>
        </mc:Choice>
        <mc:Fallback>
          <p:sp>
            <p:nvSpPr>
              <p:cNvPr id="3" name="TextBox 2">
                <a:extLst>
                  <a:ext uri="{FF2B5EF4-FFF2-40B4-BE49-F238E27FC236}">
                    <a16:creationId xmlns:a16="http://schemas.microsoft.com/office/drawing/2014/main" id="{E5E47CC9-D1F4-1C51-2C6A-00C5D59A945A}"/>
                  </a:ext>
                </a:extLst>
              </p:cNvPr>
              <p:cNvSpPr txBox="1">
                <a:spLocks noRot="1" noChangeAspect="1" noMove="1" noResize="1" noEditPoints="1" noAdjustHandles="1" noChangeArrowheads="1" noChangeShapeType="1" noTextEdit="1"/>
              </p:cNvSpPr>
              <p:nvPr/>
            </p:nvSpPr>
            <p:spPr>
              <a:xfrm>
                <a:off x="64008" y="4214084"/>
                <a:ext cx="11923775" cy="2646878"/>
              </a:xfrm>
              <a:prstGeom prst="rect">
                <a:avLst/>
              </a:prstGeom>
              <a:blipFill>
                <a:blip r:embed="rId3"/>
                <a:stretch>
                  <a:fillRect l="-460" t="-1152"/>
                </a:stretch>
              </a:blipFill>
            </p:spPr>
            <p:txBody>
              <a:bodyPr/>
              <a:lstStyle/>
              <a:p>
                <a:r>
                  <a:rPr lang="en-US">
                    <a:noFill/>
                  </a:rPr>
                  <a:t> </a:t>
                </a:r>
              </a:p>
            </p:txBody>
          </p:sp>
        </mc:Fallback>
      </mc:AlternateContent>
      <p:sp>
        <p:nvSpPr>
          <p:cNvPr id="8" name="Title 1">
            <a:extLst>
              <a:ext uri="{FF2B5EF4-FFF2-40B4-BE49-F238E27FC236}">
                <a16:creationId xmlns:a16="http://schemas.microsoft.com/office/drawing/2014/main" id="{157B78A1-1F69-562B-9931-9C0FB80BFE76}"/>
              </a:ext>
            </a:extLst>
          </p:cNvPr>
          <p:cNvSpPr txBox="1">
            <a:spLocks/>
          </p:cNvSpPr>
          <p:nvPr/>
        </p:nvSpPr>
        <p:spPr>
          <a:xfrm>
            <a:off x="301752" y="98625"/>
            <a:ext cx="11052048" cy="6041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a:lstStyle>
          <a:p>
            <a:r>
              <a:rPr lang="en-US" sz="2800" b="1" dirty="0"/>
              <a:t>Normal Distribution: Definition</a:t>
            </a:r>
            <a:endParaRPr lang="en-US" sz="2800" dirty="0"/>
          </a:p>
        </p:txBody>
      </p:sp>
      <p:pic>
        <p:nvPicPr>
          <p:cNvPr id="6" name="Picture 5">
            <a:extLst>
              <a:ext uri="{FF2B5EF4-FFF2-40B4-BE49-F238E27FC236}">
                <a16:creationId xmlns:a16="http://schemas.microsoft.com/office/drawing/2014/main" id="{EB7A850B-A996-A09E-55D1-B51F6758E9E5}"/>
              </a:ext>
            </a:extLst>
          </p:cNvPr>
          <p:cNvPicPr>
            <a:picLocks noChangeAspect="1"/>
          </p:cNvPicPr>
          <p:nvPr/>
        </p:nvPicPr>
        <p:blipFill>
          <a:blip r:embed="rId4"/>
          <a:stretch>
            <a:fillRect/>
          </a:stretch>
        </p:blipFill>
        <p:spPr>
          <a:xfrm>
            <a:off x="2424562" y="702764"/>
            <a:ext cx="6806428" cy="3208125"/>
          </a:xfrm>
          <a:prstGeom prst="rect">
            <a:avLst/>
          </a:prstGeom>
        </p:spPr>
      </p:pic>
      <p:sp>
        <p:nvSpPr>
          <p:cNvPr id="10" name="Freeform: Shape 9">
            <a:extLst>
              <a:ext uri="{FF2B5EF4-FFF2-40B4-BE49-F238E27FC236}">
                <a16:creationId xmlns:a16="http://schemas.microsoft.com/office/drawing/2014/main" id="{414357B1-3BE3-6A6F-AEAD-8E308B6E5151}"/>
              </a:ext>
            </a:extLst>
          </p:cNvPr>
          <p:cNvSpPr/>
          <p:nvPr/>
        </p:nvSpPr>
        <p:spPr>
          <a:xfrm>
            <a:off x="8641080" y="52414"/>
            <a:ext cx="1217142" cy="539496"/>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23991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F3782-898A-2DA9-8C01-1F59AA86279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441B307-6255-41A5-D644-7EC5F0EAC5A5}"/>
              </a:ext>
            </a:extLst>
          </p:cNvPr>
          <p:cNvSpPr txBox="1">
            <a:spLocks/>
          </p:cNvSpPr>
          <p:nvPr/>
        </p:nvSpPr>
        <p:spPr>
          <a:xfrm>
            <a:off x="301752" y="98625"/>
            <a:ext cx="11052048" cy="6041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a:lstStyle>
          <a:p>
            <a:r>
              <a:rPr lang="en-US" sz="2800" b="1" dirty="0"/>
              <a:t>Normal Distribution: Definition</a:t>
            </a:r>
            <a:endParaRPr lang="en-US" sz="2800" dirty="0"/>
          </a:p>
        </p:txBody>
      </p:sp>
      <p:sp>
        <p:nvSpPr>
          <p:cNvPr id="2" name="TextBox 1">
            <a:extLst>
              <a:ext uri="{FF2B5EF4-FFF2-40B4-BE49-F238E27FC236}">
                <a16:creationId xmlns:a16="http://schemas.microsoft.com/office/drawing/2014/main" id="{F63E7CC3-6A68-955E-469B-A118F941CEB8}"/>
              </a:ext>
            </a:extLst>
          </p:cNvPr>
          <p:cNvSpPr txBox="1"/>
          <p:nvPr/>
        </p:nvSpPr>
        <p:spPr>
          <a:xfrm>
            <a:off x="64008" y="5091512"/>
            <a:ext cx="11923775" cy="923330"/>
          </a:xfrm>
          <a:prstGeom prst="rect">
            <a:avLst/>
          </a:prstGeom>
          <a:noFill/>
        </p:spPr>
        <p:txBody>
          <a:bodyPr wrap="square" rtlCol="0">
            <a:spAutoFit/>
          </a:bodyPr>
          <a:lstStyle/>
          <a:p>
            <a:r>
              <a:rPr lang="en-US" dirty="0">
                <a:solidFill>
                  <a:schemeClr val="accent6">
                    <a:lumMod val="60000"/>
                    <a:lumOff val="40000"/>
                  </a:schemeClr>
                </a:solidFill>
              </a:rPr>
              <a:t>1. The area above an interval represents the probability of finding X value in that interval</a:t>
            </a:r>
          </a:p>
          <a:p>
            <a:r>
              <a:rPr lang="en-US" dirty="0">
                <a:solidFill>
                  <a:schemeClr val="accent6">
                    <a:lumMod val="60000"/>
                    <a:lumOff val="40000"/>
                  </a:schemeClr>
                </a:solidFill>
              </a:rPr>
              <a:t>2. The probability of finding an exact X value is 0.</a:t>
            </a:r>
          </a:p>
          <a:p>
            <a:r>
              <a:rPr lang="en-US" dirty="0">
                <a:solidFill>
                  <a:schemeClr val="accent6">
                    <a:lumMod val="60000"/>
                    <a:lumOff val="40000"/>
                  </a:schemeClr>
                </a:solidFill>
              </a:rPr>
              <a:t>3.</a:t>
            </a:r>
            <a:r>
              <a:rPr lang="en-US" dirty="0">
                <a:solidFill>
                  <a:schemeClr val="accent4">
                    <a:lumMod val="60000"/>
                    <a:lumOff val="40000"/>
                  </a:schemeClr>
                </a:solidFill>
              </a:rPr>
              <a:t> </a:t>
            </a:r>
            <a:r>
              <a:rPr lang="en-US" dirty="0">
                <a:solidFill>
                  <a:schemeClr val="accent6">
                    <a:lumMod val="60000"/>
                    <a:lumOff val="40000"/>
                  </a:schemeClr>
                </a:solidFill>
              </a:rPr>
              <a:t>The total area under a normal distribution curve is equal to 1.00, or 100%. </a:t>
            </a:r>
            <a:endParaRPr lang="en-US" dirty="0">
              <a:solidFill>
                <a:schemeClr val="accent4">
                  <a:lumMod val="60000"/>
                  <a:lumOff val="40000"/>
                </a:schemeClr>
              </a:solidFill>
            </a:endParaRPr>
          </a:p>
        </p:txBody>
      </p:sp>
      <p:pic>
        <p:nvPicPr>
          <p:cNvPr id="11" name="Picture 10">
            <a:extLst>
              <a:ext uri="{FF2B5EF4-FFF2-40B4-BE49-F238E27FC236}">
                <a16:creationId xmlns:a16="http://schemas.microsoft.com/office/drawing/2014/main" id="{5AC23EC3-D8DF-32D9-578B-1C68331A7CCC}"/>
              </a:ext>
            </a:extLst>
          </p:cNvPr>
          <p:cNvPicPr>
            <a:picLocks noChangeAspect="1"/>
          </p:cNvPicPr>
          <p:nvPr/>
        </p:nvPicPr>
        <p:blipFill>
          <a:blip r:embed="rId2"/>
          <a:stretch>
            <a:fillRect/>
          </a:stretch>
        </p:blipFill>
        <p:spPr>
          <a:xfrm>
            <a:off x="7488936" y="1459011"/>
            <a:ext cx="4350205" cy="833932"/>
          </a:xfrm>
          <a:prstGeom prst="rect">
            <a:avLst/>
          </a:prstGeom>
        </p:spPr>
      </p:pic>
      <p:pic>
        <p:nvPicPr>
          <p:cNvPr id="13" name="Picture 12">
            <a:extLst>
              <a:ext uri="{FF2B5EF4-FFF2-40B4-BE49-F238E27FC236}">
                <a16:creationId xmlns:a16="http://schemas.microsoft.com/office/drawing/2014/main" id="{1C0ECBDE-1522-E55A-8915-5885E51DF167}"/>
              </a:ext>
            </a:extLst>
          </p:cNvPr>
          <p:cNvPicPr>
            <a:picLocks noChangeAspect="1"/>
          </p:cNvPicPr>
          <p:nvPr/>
        </p:nvPicPr>
        <p:blipFill>
          <a:blip r:embed="rId3"/>
          <a:stretch>
            <a:fillRect/>
          </a:stretch>
        </p:blipFill>
        <p:spPr>
          <a:xfrm>
            <a:off x="192832" y="1578781"/>
            <a:ext cx="7050022" cy="3303563"/>
          </a:xfrm>
          <a:prstGeom prst="rect">
            <a:avLst/>
          </a:prstGeom>
        </p:spPr>
      </p:pic>
      <p:sp>
        <p:nvSpPr>
          <p:cNvPr id="14" name="Freeform: Shape 13">
            <a:extLst>
              <a:ext uri="{FF2B5EF4-FFF2-40B4-BE49-F238E27FC236}">
                <a16:creationId xmlns:a16="http://schemas.microsoft.com/office/drawing/2014/main" id="{6B9C9C62-4E19-61DE-51A0-64DA14AC79EE}"/>
              </a:ext>
            </a:extLst>
          </p:cNvPr>
          <p:cNvSpPr/>
          <p:nvPr/>
        </p:nvSpPr>
        <p:spPr>
          <a:xfrm>
            <a:off x="8641080" y="52414"/>
            <a:ext cx="1217142" cy="539496"/>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218296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E5CE2-DAA8-0951-1BA8-F8DB8B691A6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A7EDF49-91A8-48F8-525F-FE5A97715AFF}"/>
              </a:ext>
            </a:extLst>
          </p:cNvPr>
          <p:cNvSpPr txBox="1">
            <a:spLocks/>
          </p:cNvSpPr>
          <p:nvPr/>
        </p:nvSpPr>
        <p:spPr>
          <a:xfrm>
            <a:off x="301752" y="98625"/>
            <a:ext cx="11052048" cy="6041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a:lstStyle>
          <a:p>
            <a:r>
              <a:rPr lang="en-US" sz="2800" b="1" dirty="0"/>
              <a:t>Normal Distribution:</a:t>
            </a:r>
            <a:r>
              <a:rPr lang="en-US" sz="2800" dirty="0">
                <a:solidFill>
                  <a:schemeClr val="accent4">
                    <a:lumMod val="60000"/>
                    <a:lumOff val="40000"/>
                  </a:schemeClr>
                </a:solidFill>
              </a:rPr>
              <a:t> </a:t>
            </a:r>
            <a:r>
              <a:rPr lang="en-US" sz="2800" b="1" dirty="0"/>
              <a:t>Empirical Rule 68-95-99.7 </a:t>
            </a:r>
          </a:p>
        </p:txBody>
      </p:sp>
      <p:sp>
        <p:nvSpPr>
          <p:cNvPr id="2" name="TextBox 1">
            <a:extLst>
              <a:ext uri="{FF2B5EF4-FFF2-40B4-BE49-F238E27FC236}">
                <a16:creationId xmlns:a16="http://schemas.microsoft.com/office/drawing/2014/main" id="{3F0D6AF6-2207-2DFB-E0AB-52841E3FA723}"/>
              </a:ext>
            </a:extLst>
          </p:cNvPr>
          <p:cNvSpPr txBox="1"/>
          <p:nvPr/>
        </p:nvSpPr>
        <p:spPr>
          <a:xfrm>
            <a:off x="64008" y="4515440"/>
            <a:ext cx="11923775" cy="2308324"/>
          </a:xfrm>
          <a:prstGeom prst="rect">
            <a:avLst/>
          </a:prstGeom>
          <a:noFill/>
        </p:spPr>
        <p:txBody>
          <a:bodyPr wrap="square" rtlCol="0">
            <a:spAutoFit/>
          </a:bodyPr>
          <a:lstStyle/>
          <a:p>
            <a:r>
              <a:rPr lang="en-US" b="1" dirty="0">
                <a:solidFill>
                  <a:schemeClr val="accent6">
                    <a:lumMod val="60000"/>
                    <a:lumOff val="40000"/>
                  </a:schemeClr>
                </a:solidFill>
              </a:rPr>
              <a:t>About 68%</a:t>
            </a:r>
            <a:r>
              <a:rPr lang="en-US" dirty="0">
                <a:solidFill>
                  <a:schemeClr val="accent6">
                    <a:lumMod val="60000"/>
                    <a:lumOff val="40000"/>
                  </a:schemeClr>
                </a:solidFill>
              </a:rPr>
              <a:t>    of data lies within </a:t>
            </a:r>
            <a:r>
              <a:rPr lang="en-US" b="1" dirty="0">
                <a:solidFill>
                  <a:schemeClr val="accent6">
                    <a:lumMod val="60000"/>
                    <a:lumOff val="40000"/>
                  </a:schemeClr>
                </a:solidFill>
              </a:rPr>
              <a:t>1 standard deviation   (σ)</a:t>
            </a:r>
            <a:r>
              <a:rPr lang="en-US" dirty="0">
                <a:solidFill>
                  <a:schemeClr val="accent6">
                    <a:lumMod val="60000"/>
                    <a:lumOff val="40000"/>
                  </a:schemeClr>
                </a:solidFill>
              </a:rPr>
              <a:t> of the </a:t>
            </a:r>
            <a:r>
              <a:rPr lang="en-US" b="1" dirty="0">
                <a:solidFill>
                  <a:schemeClr val="accent6">
                    <a:lumMod val="60000"/>
                    <a:lumOff val="40000"/>
                  </a:schemeClr>
                </a:solidFill>
              </a:rPr>
              <a:t>mean (μ) </a:t>
            </a:r>
            <a:r>
              <a:rPr lang="en-US" dirty="0">
                <a:solidFill>
                  <a:schemeClr val="accent6">
                    <a:lumMod val="60000"/>
                    <a:lumOff val="40000"/>
                  </a:schemeClr>
                </a:solidFill>
              </a:rPr>
              <a:t> → Between </a:t>
            </a:r>
            <a:r>
              <a:rPr lang="en-US" b="1" dirty="0">
                <a:solidFill>
                  <a:schemeClr val="accent6">
                    <a:lumMod val="60000"/>
                    <a:lumOff val="40000"/>
                  </a:schemeClr>
                </a:solidFill>
              </a:rPr>
              <a:t>μ −  σ  and μ +  σ</a:t>
            </a:r>
            <a:r>
              <a:rPr lang="en-US" dirty="0">
                <a:solidFill>
                  <a:schemeClr val="accent6">
                    <a:lumMod val="60000"/>
                    <a:lumOff val="40000"/>
                  </a:schemeClr>
                </a:solidFill>
              </a:rPr>
              <a:t>.</a:t>
            </a:r>
          </a:p>
          <a:p>
            <a:r>
              <a:rPr lang="en-US" b="1" dirty="0">
                <a:solidFill>
                  <a:schemeClr val="accent6">
                    <a:lumMod val="60000"/>
                    <a:lumOff val="40000"/>
                  </a:schemeClr>
                </a:solidFill>
              </a:rPr>
              <a:t>About 95%</a:t>
            </a:r>
            <a:r>
              <a:rPr lang="en-US" dirty="0">
                <a:solidFill>
                  <a:schemeClr val="accent6">
                    <a:lumMod val="60000"/>
                    <a:lumOff val="40000"/>
                  </a:schemeClr>
                </a:solidFill>
              </a:rPr>
              <a:t>    of data lies within </a:t>
            </a:r>
            <a:r>
              <a:rPr lang="en-US" b="1" dirty="0">
                <a:solidFill>
                  <a:schemeClr val="accent6">
                    <a:lumMod val="60000"/>
                    <a:lumOff val="40000"/>
                  </a:schemeClr>
                </a:solidFill>
              </a:rPr>
              <a:t>2 standard deviations</a:t>
            </a:r>
            <a:r>
              <a:rPr lang="en-US" dirty="0">
                <a:solidFill>
                  <a:schemeClr val="accent6">
                    <a:lumMod val="60000"/>
                    <a:lumOff val="40000"/>
                  </a:schemeClr>
                </a:solidFill>
              </a:rPr>
              <a:t> </a:t>
            </a:r>
            <a:r>
              <a:rPr lang="en-US" b="1" dirty="0">
                <a:solidFill>
                  <a:schemeClr val="accent6">
                    <a:lumMod val="60000"/>
                    <a:lumOff val="40000"/>
                  </a:schemeClr>
                </a:solidFill>
              </a:rPr>
              <a:t>(σ)</a:t>
            </a:r>
            <a:r>
              <a:rPr lang="en-US" dirty="0">
                <a:solidFill>
                  <a:schemeClr val="accent6">
                    <a:lumMod val="60000"/>
                    <a:lumOff val="40000"/>
                  </a:schemeClr>
                </a:solidFill>
              </a:rPr>
              <a:t> of the </a:t>
            </a:r>
            <a:r>
              <a:rPr lang="en-US" b="1" dirty="0">
                <a:solidFill>
                  <a:schemeClr val="accent6">
                    <a:lumMod val="60000"/>
                    <a:lumOff val="40000"/>
                  </a:schemeClr>
                </a:solidFill>
              </a:rPr>
              <a:t>mean (μ)</a:t>
            </a:r>
            <a:r>
              <a:rPr lang="en-US" dirty="0">
                <a:solidFill>
                  <a:schemeClr val="accent6">
                    <a:lumMod val="60000"/>
                    <a:lumOff val="40000"/>
                  </a:schemeClr>
                </a:solidFill>
              </a:rPr>
              <a:t>  → Between </a:t>
            </a:r>
            <a:r>
              <a:rPr lang="en-US" b="1" dirty="0">
                <a:solidFill>
                  <a:schemeClr val="accent6">
                    <a:lumMod val="60000"/>
                    <a:lumOff val="40000"/>
                  </a:schemeClr>
                </a:solidFill>
              </a:rPr>
              <a:t>μ − 2σ and μ + 2σ</a:t>
            </a:r>
            <a:r>
              <a:rPr lang="en-US" dirty="0">
                <a:solidFill>
                  <a:schemeClr val="accent6">
                    <a:lumMod val="60000"/>
                    <a:lumOff val="40000"/>
                  </a:schemeClr>
                </a:solidFill>
              </a:rPr>
              <a:t>.</a:t>
            </a:r>
          </a:p>
          <a:p>
            <a:r>
              <a:rPr lang="en-US" b="1" dirty="0">
                <a:solidFill>
                  <a:schemeClr val="accent6">
                    <a:lumMod val="60000"/>
                    <a:lumOff val="40000"/>
                  </a:schemeClr>
                </a:solidFill>
              </a:rPr>
              <a:t>About 99.7%</a:t>
            </a:r>
            <a:r>
              <a:rPr lang="en-US" dirty="0">
                <a:solidFill>
                  <a:schemeClr val="accent6">
                    <a:lumMod val="60000"/>
                    <a:lumOff val="40000"/>
                  </a:schemeClr>
                </a:solidFill>
              </a:rPr>
              <a:t> of data lies within </a:t>
            </a:r>
            <a:r>
              <a:rPr lang="en-US" b="1" dirty="0">
                <a:solidFill>
                  <a:schemeClr val="accent6">
                    <a:lumMod val="60000"/>
                    <a:lumOff val="40000"/>
                  </a:schemeClr>
                </a:solidFill>
              </a:rPr>
              <a:t>3 standard deviations</a:t>
            </a:r>
            <a:r>
              <a:rPr lang="en-US" dirty="0">
                <a:solidFill>
                  <a:schemeClr val="accent6">
                    <a:lumMod val="60000"/>
                    <a:lumOff val="40000"/>
                  </a:schemeClr>
                </a:solidFill>
              </a:rPr>
              <a:t> </a:t>
            </a:r>
            <a:r>
              <a:rPr lang="en-US" b="1" dirty="0">
                <a:solidFill>
                  <a:schemeClr val="accent6">
                    <a:lumMod val="60000"/>
                    <a:lumOff val="40000"/>
                  </a:schemeClr>
                </a:solidFill>
              </a:rPr>
              <a:t>(σ)</a:t>
            </a:r>
            <a:r>
              <a:rPr lang="en-US" dirty="0">
                <a:solidFill>
                  <a:schemeClr val="accent6">
                    <a:lumMod val="60000"/>
                    <a:lumOff val="40000"/>
                  </a:schemeClr>
                </a:solidFill>
              </a:rPr>
              <a:t> of the </a:t>
            </a:r>
            <a:r>
              <a:rPr lang="en-US" b="1" dirty="0">
                <a:solidFill>
                  <a:schemeClr val="accent6">
                    <a:lumMod val="60000"/>
                    <a:lumOff val="40000"/>
                  </a:schemeClr>
                </a:solidFill>
              </a:rPr>
              <a:t>mean (μ)</a:t>
            </a:r>
            <a:r>
              <a:rPr lang="en-US" dirty="0">
                <a:solidFill>
                  <a:schemeClr val="accent6">
                    <a:lumMod val="60000"/>
                    <a:lumOff val="40000"/>
                  </a:schemeClr>
                </a:solidFill>
              </a:rPr>
              <a:t>  → Between </a:t>
            </a:r>
            <a:r>
              <a:rPr lang="en-US" b="1" dirty="0">
                <a:solidFill>
                  <a:schemeClr val="accent6">
                    <a:lumMod val="60000"/>
                    <a:lumOff val="40000"/>
                  </a:schemeClr>
                </a:solidFill>
              </a:rPr>
              <a:t>μ − 3σ and μ + 3σ</a:t>
            </a:r>
            <a:r>
              <a:rPr lang="en-US" dirty="0">
                <a:solidFill>
                  <a:schemeClr val="accent6">
                    <a:lumMod val="60000"/>
                    <a:lumOff val="40000"/>
                  </a:schemeClr>
                </a:solidFill>
              </a:rPr>
              <a:t>.</a:t>
            </a:r>
          </a:p>
          <a:p>
            <a:endParaRPr lang="en-US" dirty="0">
              <a:solidFill>
                <a:schemeClr val="accent6">
                  <a:lumMod val="60000"/>
                  <a:lumOff val="40000"/>
                </a:schemeClr>
              </a:solidFill>
            </a:endParaRPr>
          </a:p>
          <a:p>
            <a:r>
              <a:rPr lang="en-US" dirty="0">
                <a:solidFill>
                  <a:schemeClr val="accent6">
                    <a:lumMod val="60000"/>
                    <a:lumOff val="40000"/>
                  </a:schemeClr>
                </a:solidFill>
              </a:rPr>
              <a:t>The above Empirical rule helps to </a:t>
            </a:r>
          </a:p>
          <a:p>
            <a:pPr marL="285750" indent="-285750">
              <a:buFontTx/>
              <a:buChar char="-"/>
            </a:pPr>
            <a:r>
              <a:rPr lang="en-US" dirty="0">
                <a:solidFill>
                  <a:schemeClr val="accent6">
                    <a:lumMod val="60000"/>
                    <a:lumOff val="40000"/>
                  </a:schemeClr>
                </a:solidFill>
              </a:rPr>
              <a:t>quickly estimating probabilities without doing integration,  (e.g.: P (</a:t>
            </a:r>
            <a:r>
              <a:rPr lang="en-US" b="1" dirty="0">
                <a:solidFill>
                  <a:schemeClr val="accent6">
                    <a:lumMod val="60000"/>
                    <a:lumOff val="40000"/>
                  </a:schemeClr>
                </a:solidFill>
              </a:rPr>
              <a:t>μ−σ &lt; x &lt; </a:t>
            </a:r>
            <a:r>
              <a:rPr lang="en-US" b="1" dirty="0" err="1">
                <a:solidFill>
                  <a:schemeClr val="accent6">
                    <a:lumMod val="60000"/>
                    <a:lumOff val="40000"/>
                  </a:schemeClr>
                </a:solidFill>
              </a:rPr>
              <a:t>μ+σ</a:t>
            </a:r>
            <a:r>
              <a:rPr lang="en-US" dirty="0">
                <a:solidFill>
                  <a:schemeClr val="accent6">
                    <a:lumMod val="60000"/>
                    <a:lumOff val="40000"/>
                  </a:schemeClr>
                </a:solidFill>
              </a:rPr>
              <a:t>) = 0.68)</a:t>
            </a:r>
          </a:p>
          <a:p>
            <a:pPr marL="285750" indent="-285750">
              <a:buFontTx/>
              <a:buChar char="-"/>
            </a:pPr>
            <a:r>
              <a:rPr lang="en-US" dirty="0">
                <a:solidFill>
                  <a:schemeClr val="accent6">
                    <a:lumMod val="60000"/>
                    <a:lumOff val="40000"/>
                  </a:schemeClr>
                </a:solidFill>
              </a:rPr>
              <a:t> identify outliers (anything beyond ±3σ is rare),  and </a:t>
            </a:r>
          </a:p>
          <a:p>
            <a:pPr marL="285750" indent="-285750">
              <a:buFontTx/>
              <a:buChar char="-"/>
            </a:pPr>
            <a:r>
              <a:rPr lang="en-US" dirty="0">
                <a:solidFill>
                  <a:schemeClr val="accent6">
                    <a:lumMod val="60000"/>
                    <a:lumOff val="40000"/>
                  </a:schemeClr>
                </a:solidFill>
              </a:rPr>
              <a:t>check if your dataset is roughly normal (i.e. If dataset satisfies Empirical rule, then it is normal.)</a:t>
            </a:r>
          </a:p>
        </p:txBody>
      </p:sp>
      <p:pic>
        <p:nvPicPr>
          <p:cNvPr id="7" name="Picture 6">
            <a:extLst>
              <a:ext uri="{FF2B5EF4-FFF2-40B4-BE49-F238E27FC236}">
                <a16:creationId xmlns:a16="http://schemas.microsoft.com/office/drawing/2014/main" id="{A30E2CA1-E80F-BF82-46E6-497C723E6287}"/>
              </a:ext>
            </a:extLst>
          </p:cNvPr>
          <p:cNvPicPr>
            <a:picLocks noChangeAspect="1"/>
          </p:cNvPicPr>
          <p:nvPr/>
        </p:nvPicPr>
        <p:blipFill>
          <a:blip r:embed="rId2"/>
          <a:stretch>
            <a:fillRect/>
          </a:stretch>
        </p:blipFill>
        <p:spPr>
          <a:xfrm>
            <a:off x="2276855" y="702764"/>
            <a:ext cx="5621325" cy="3688226"/>
          </a:xfrm>
          <a:prstGeom prst="rect">
            <a:avLst/>
          </a:prstGeom>
        </p:spPr>
      </p:pic>
      <p:sp>
        <p:nvSpPr>
          <p:cNvPr id="5" name="Freeform: Shape 4">
            <a:extLst>
              <a:ext uri="{FF2B5EF4-FFF2-40B4-BE49-F238E27FC236}">
                <a16:creationId xmlns:a16="http://schemas.microsoft.com/office/drawing/2014/main" id="{DA9D4E18-022E-9564-A3CF-AC86329C2154}"/>
              </a:ext>
            </a:extLst>
          </p:cNvPr>
          <p:cNvSpPr/>
          <p:nvPr/>
        </p:nvSpPr>
        <p:spPr>
          <a:xfrm>
            <a:off x="8641080" y="52414"/>
            <a:ext cx="1217142" cy="539496"/>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739030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F83AD-7A0E-7513-E180-B58CF15473B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7CC0531-0E96-CC43-ECF7-DA7B75B62906}"/>
              </a:ext>
            </a:extLst>
          </p:cNvPr>
          <p:cNvSpPr txBox="1">
            <a:spLocks/>
          </p:cNvSpPr>
          <p:nvPr/>
        </p:nvSpPr>
        <p:spPr>
          <a:xfrm>
            <a:off x="301752" y="98625"/>
            <a:ext cx="11052048" cy="6041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a:lstStyle>
          <a:p>
            <a:r>
              <a:rPr lang="en-US" sz="2800" b="1" dirty="0"/>
              <a:t>Normal Distribution: The Mathematical Function</a:t>
            </a:r>
            <a:endParaRPr lang="en-US" sz="2800" dirty="0"/>
          </a:p>
        </p:txBody>
      </p:sp>
      <p:pic>
        <p:nvPicPr>
          <p:cNvPr id="6" name="Picture 5">
            <a:extLst>
              <a:ext uri="{FF2B5EF4-FFF2-40B4-BE49-F238E27FC236}">
                <a16:creationId xmlns:a16="http://schemas.microsoft.com/office/drawing/2014/main" id="{320A33D6-3ECF-1F3C-F500-BA7BE0A57217}"/>
              </a:ext>
            </a:extLst>
          </p:cNvPr>
          <p:cNvPicPr>
            <a:picLocks noChangeAspect="1"/>
          </p:cNvPicPr>
          <p:nvPr/>
        </p:nvPicPr>
        <p:blipFill>
          <a:blip r:embed="rId3"/>
          <a:stretch>
            <a:fillRect/>
          </a:stretch>
        </p:blipFill>
        <p:spPr>
          <a:xfrm>
            <a:off x="2918338" y="702764"/>
            <a:ext cx="6806428" cy="3208125"/>
          </a:xfrm>
          <a:prstGeom prst="rect">
            <a:avLst/>
          </a:prstGeom>
        </p:spPr>
      </p:pic>
      <p:pic>
        <p:nvPicPr>
          <p:cNvPr id="4" name="Picture 3">
            <a:extLst>
              <a:ext uri="{FF2B5EF4-FFF2-40B4-BE49-F238E27FC236}">
                <a16:creationId xmlns:a16="http://schemas.microsoft.com/office/drawing/2014/main" id="{032017B0-C8C4-24DF-F571-F85F04999651}"/>
              </a:ext>
            </a:extLst>
          </p:cNvPr>
          <p:cNvPicPr>
            <a:picLocks noChangeAspect="1"/>
          </p:cNvPicPr>
          <p:nvPr/>
        </p:nvPicPr>
        <p:blipFill>
          <a:blip r:embed="rId4"/>
          <a:stretch>
            <a:fillRect/>
          </a:stretch>
        </p:blipFill>
        <p:spPr>
          <a:xfrm>
            <a:off x="429768" y="4081580"/>
            <a:ext cx="2896004" cy="866896"/>
          </a:xfrm>
          <a:prstGeom prst="rect">
            <a:avLst/>
          </a:prstGeom>
        </p:spPr>
      </p:pic>
      <p:sp>
        <p:nvSpPr>
          <p:cNvPr id="10" name="TextBox 9">
            <a:extLst>
              <a:ext uri="{FF2B5EF4-FFF2-40B4-BE49-F238E27FC236}">
                <a16:creationId xmlns:a16="http://schemas.microsoft.com/office/drawing/2014/main" id="{CB30C615-166C-CA58-A8FD-C6318F17B946}"/>
              </a:ext>
            </a:extLst>
          </p:cNvPr>
          <p:cNvSpPr txBox="1"/>
          <p:nvPr/>
        </p:nvSpPr>
        <p:spPr>
          <a:xfrm>
            <a:off x="219456" y="3364992"/>
            <a:ext cx="3643177" cy="3139321"/>
          </a:xfrm>
          <a:prstGeom prst="rect">
            <a:avLst/>
          </a:prstGeom>
          <a:noFill/>
        </p:spPr>
        <p:txBody>
          <a:bodyPr wrap="none" rtlCol="0">
            <a:spAutoFit/>
          </a:bodyPr>
          <a:lstStyle/>
          <a:p>
            <a:endParaRPr lang="en-US" dirty="0">
              <a:solidFill>
                <a:schemeClr val="accent6">
                  <a:lumMod val="60000"/>
                  <a:lumOff val="40000"/>
                </a:schemeClr>
              </a:solidFill>
            </a:endParaRPr>
          </a:p>
          <a:p>
            <a:r>
              <a:rPr lang="en-US" dirty="0">
                <a:solidFill>
                  <a:schemeClr val="accent6">
                    <a:lumMod val="60000"/>
                    <a:lumOff val="40000"/>
                  </a:schemeClr>
                </a:solidFill>
              </a:rPr>
              <a:t>The curve can be defined as </a:t>
            </a:r>
          </a:p>
          <a:p>
            <a:endParaRPr lang="en-US" dirty="0">
              <a:solidFill>
                <a:schemeClr val="accent6">
                  <a:lumMod val="60000"/>
                  <a:lumOff val="40000"/>
                </a:schemeClr>
              </a:solidFill>
            </a:endParaRPr>
          </a:p>
          <a:p>
            <a:endParaRPr lang="en-US" dirty="0">
              <a:solidFill>
                <a:schemeClr val="accent6">
                  <a:lumMod val="60000"/>
                  <a:lumOff val="40000"/>
                </a:schemeClr>
              </a:solidFill>
            </a:endParaRPr>
          </a:p>
          <a:p>
            <a:endParaRPr lang="en-US" dirty="0">
              <a:solidFill>
                <a:schemeClr val="accent6">
                  <a:lumMod val="60000"/>
                  <a:lumOff val="40000"/>
                </a:schemeClr>
              </a:solidFill>
            </a:endParaRPr>
          </a:p>
          <a:p>
            <a:endParaRPr lang="en-US" dirty="0">
              <a:solidFill>
                <a:schemeClr val="accent6">
                  <a:lumMod val="60000"/>
                  <a:lumOff val="40000"/>
                </a:schemeClr>
              </a:solidFill>
            </a:endParaRPr>
          </a:p>
          <a:p>
            <a:r>
              <a:rPr lang="en-US" dirty="0">
                <a:solidFill>
                  <a:schemeClr val="accent6">
                    <a:lumMod val="60000"/>
                    <a:lumOff val="40000"/>
                  </a:schemeClr>
                </a:solidFill>
              </a:rPr>
              <a:t>f(x) is Probability Density Function</a:t>
            </a:r>
          </a:p>
          <a:p>
            <a:r>
              <a:rPr lang="el-GR" dirty="0">
                <a:solidFill>
                  <a:schemeClr val="accent6">
                    <a:lumMod val="60000"/>
                    <a:lumOff val="40000"/>
                  </a:schemeClr>
                </a:solidFill>
              </a:rPr>
              <a:t>μ</a:t>
            </a:r>
            <a:r>
              <a:rPr lang="en-US" dirty="0">
                <a:solidFill>
                  <a:schemeClr val="accent6">
                    <a:lumMod val="60000"/>
                    <a:lumOff val="40000"/>
                  </a:schemeClr>
                </a:solidFill>
              </a:rPr>
              <a:t> is the mean (center of distribution)</a:t>
            </a:r>
          </a:p>
          <a:p>
            <a:r>
              <a:rPr lang="el-GR" dirty="0">
                <a:solidFill>
                  <a:schemeClr val="accent6">
                    <a:lumMod val="60000"/>
                    <a:lumOff val="40000"/>
                  </a:schemeClr>
                </a:solidFill>
              </a:rPr>
              <a:t>σ</a:t>
            </a:r>
            <a:r>
              <a:rPr lang="en-US" dirty="0">
                <a:solidFill>
                  <a:schemeClr val="accent6">
                    <a:lumMod val="60000"/>
                    <a:lumOff val="40000"/>
                  </a:schemeClr>
                </a:solidFill>
              </a:rPr>
              <a:t> is the standard deviation (spread)</a:t>
            </a:r>
          </a:p>
          <a:p>
            <a:r>
              <a:rPr lang="en-US" dirty="0">
                <a:solidFill>
                  <a:schemeClr val="accent6">
                    <a:lumMod val="60000"/>
                    <a:lumOff val="40000"/>
                  </a:schemeClr>
                </a:solidFill>
              </a:rPr>
              <a:t>e is the Euler’s number (~2.71828)</a:t>
            </a:r>
          </a:p>
          <a:p>
            <a:r>
              <a:rPr lang="el-GR" dirty="0">
                <a:solidFill>
                  <a:schemeClr val="accent6">
                    <a:lumMod val="60000"/>
                    <a:lumOff val="40000"/>
                  </a:schemeClr>
                </a:solidFill>
              </a:rPr>
              <a:t>Π</a:t>
            </a:r>
            <a:r>
              <a:rPr lang="en-US" dirty="0">
                <a:solidFill>
                  <a:schemeClr val="accent6">
                    <a:lumMod val="60000"/>
                    <a:lumOff val="40000"/>
                  </a:schemeClr>
                </a:solidFill>
              </a:rPr>
              <a:t> is Pi (~3.14159)</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8B4F3FA0-500F-F4A1-80EB-1D1228B76261}"/>
                  </a:ext>
                </a:extLst>
              </p:cNvPr>
              <p:cNvSpPr txBox="1"/>
              <p:nvPr/>
            </p:nvSpPr>
            <p:spPr>
              <a:xfrm>
                <a:off x="4983480" y="4181372"/>
                <a:ext cx="7159752" cy="1418658"/>
              </a:xfrm>
              <a:prstGeom prst="rect">
                <a:avLst/>
              </a:prstGeom>
              <a:noFill/>
            </p:spPr>
            <p:txBody>
              <a:bodyPr wrap="square">
                <a:spAutoFit/>
              </a:bodyPr>
              <a:lstStyle/>
              <a:p>
                <a:pPr>
                  <a:buNone/>
                </a:pPr>
                <a:r>
                  <a:rPr lang="en-US" b="1" dirty="0">
                    <a:solidFill>
                      <a:schemeClr val="accent6">
                        <a:lumMod val="60000"/>
                        <a:lumOff val="40000"/>
                      </a:schemeClr>
                    </a:solidFill>
                  </a:rPr>
                  <a:t>Key idea:</a:t>
                </a:r>
              </a:p>
              <a:p>
                <a:pPr marL="285750" indent="-285750">
                  <a:buFont typeface="Arial" panose="020B0604020202020204" pitchFamily="34" charset="0"/>
                  <a:buChar char="•"/>
                </a:pPr>
                <a:r>
                  <a:rPr lang="en-US" dirty="0">
                    <a:solidFill>
                      <a:schemeClr val="accent6">
                        <a:lumMod val="60000"/>
                        <a:lumOff val="40000"/>
                      </a:schemeClr>
                    </a:solidFill>
                  </a:rPr>
                  <a:t>The exponent term </a:t>
                </a:r>
                <a14:m>
                  <m:oMath xmlns:m="http://schemas.openxmlformats.org/officeDocument/2006/math">
                    <m:r>
                      <a:rPr lang="en-US">
                        <a:solidFill>
                          <a:schemeClr val="accent6">
                            <a:lumMod val="60000"/>
                            <a:lumOff val="40000"/>
                          </a:schemeClr>
                        </a:solidFill>
                        <a:latin typeface="Cambria Math" panose="02040503050406030204" pitchFamily="18" charset="0"/>
                      </a:rPr>
                      <m:t>−</m:t>
                    </m:r>
                    <m:f>
                      <m:fPr>
                        <m:ctrlPr>
                          <a:rPr lang="ar-AE" i="1">
                            <a:solidFill>
                              <a:schemeClr val="accent6">
                                <a:lumMod val="60000"/>
                                <a:lumOff val="40000"/>
                              </a:schemeClr>
                            </a:solidFill>
                            <a:latin typeface="Cambria Math" panose="02040503050406030204" pitchFamily="18" charset="0"/>
                          </a:rPr>
                        </m:ctrlPr>
                      </m:fPr>
                      <m:num>
                        <m:r>
                          <a:rPr lang="ar-AE" i="0">
                            <a:solidFill>
                              <a:schemeClr val="accent6">
                                <a:lumMod val="60000"/>
                                <a:lumOff val="40000"/>
                              </a:schemeClr>
                            </a:solidFill>
                            <a:latin typeface="Cambria Math" panose="02040503050406030204" pitchFamily="18" charset="0"/>
                          </a:rPr>
                          <m:t>1</m:t>
                        </m:r>
                      </m:num>
                      <m:den>
                        <m:r>
                          <a:rPr lang="ar-AE" i="0">
                            <a:solidFill>
                              <a:schemeClr val="accent6">
                                <a:lumMod val="60000"/>
                                <a:lumOff val="40000"/>
                              </a:schemeClr>
                            </a:solidFill>
                            <a:latin typeface="Cambria Math" panose="02040503050406030204" pitchFamily="18" charset="0"/>
                          </a:rPr>
                          <m:t>2</m:t>
                        </m:r>
                      </m:den>
                    </m:f>
                    <m:sSup>
                      <m:sSupPr>
                        <m:ctrlPr>
                          <a:rPr lang="ar-AE" i="1">
                            <a:solidFill>
                              <a:schemeClr val="accent6">
                                <a:lumMod val="60000"/>
                                <a:lumOff val="40000"/>
                              </a:schemeClr>
                            </a:solidFill>
                            <a:latin typeface="Cambria Math" panose="02040503050406030204" pitchFamily="18" charset="0"/>
                          </a:rPr>
                        </m:ctrlPr>
                      </m:sSupPr>
                      <m:e>
                        <m:d>
                          <m:dPr>
                            <m:ctrlPr>
                              <a:rPr lang="ar-AE" i="1">
                                <a:solidFill>
                                  <a:schemeClr val="accent6">
                                    <a:lumMod val="60000"/>
                                    <a:lumOff val="40000"/>
                                  </a:schemeClr>
                                </a:solidFill>
                                <a:latin typeface="Cambria Math" panose="02040503050406030204" pitchFamily="18" charset="0"/>
                              </a:rPr>
                            </m:ctrlPr>
                          </m:dPr>
                          <m:e>
                            <m:f>
                              <m:fPr>
                                <m:ctrlPr>
                                  <a:rPr lang="ar-AE" i="1">
                                    <a:solidFill>
                                      <a:schemeClr val="accent6">
                                        <a:lumMod val="60000"/>
                                        <a:lumOff val="40000"/>
                                      </a:schemeClr>
                                    </a:solidFill>
                                    <a:latin typeface="Cambria Math" panose="02040503050406030204" pitchFamily="18" charset="0"/>
                                  </a:rPr>
                                </m:ctrlPr>
                              </m:fPr>
                              <m:num>
                                <m:r>
                                  <a:rPr lang="ar-AE" i="1">
                                    <a:solidFill>
                                      <a:schemeClr val="accent6">
                                        <a:lumMod val="60000"/>
                                        <a:lumOff val="40000"/>
                                      </a:schemeClr>
                                    </a:solidFill>
                                    <a:latin typeface="Cambria Math" panose="02040503050406030204" pitchFamily="18" charset="0"/>
                                  </a:rPr>
                                  <m:t>𝑥</m:t>
                                </m:r>
                                <m:r>
                                  <a:rPr lang="ar-AE" i="0">
                                    <a:solidFill>
                                      <a:schemeClr val="accent6">
                                        <a:lumMod val="60000"/>
                                        <a:lumOff val="40000"/>
                                      </a:schemeClr>
                                    </a:solidFill>
                                    <a:latin typeface="Cambria Math" panose="02040503050406030204" pitchFamily="18" charset="0"/>
                                  </a:rPr>
                                  <m:t>−</m:t>
                                </m:r>
                                <m:r>
                                  <a:rPr lang="ar-AE" i="1">
                                    <a:solidFill>
                                      <a:schemeClr val="accent6">
                                        <a:lumMod val="60000"/>
                                        <a:lumOff val="40000"/>
                                      </a:schemeClr>
                                    </a:solidFill>
                                    <a:latin typeface="Cambria Math" panose="02040503050406030204" pitchFamily="18" charset="0"/>
                                  </a:rPr>
                                  <m:t>𝜇</m:t>
                                </m:r>
                              </m:num>
                              <m:den>
                                <m:r>
                                  <a:rPr lang="ar-AE" i="1">
                                    <a:solidFill>
                                      <a:schemeClr val="accent6">
                                        <a:lumMod val="60000"/>
                                        <a:lumOff val="40000"/>
                                      </a:schemeClr>
                                    </a:solidFill>
                                    <a:latin typeface="Cambria Math" panose="02040503050406030204" pitchFamily="18" charset="0"/>
                                  </a:rPr>
                                  <m:t>𝜎</m:t>
                                </m:r>
                              </m:den>
                            </m:f>
                          </m:e>
                        </m:d>
                      </m:e>
                      <m:sup>
                        <m:r>
                          <a:rPr lang="ar-AE" i="0">
                            <a:solidFill>
                              <a:schemeClr val="accent6">
                                <a:lumMod val="60000"/>
                                <a:lumOff val="40000"/>
                              </a:schemeClr>
                            </a:solidFill>
                            <a:latin typeface="Cambria Math" panose="02040503050406030204" pitchFamily="18" charset="0"/>
                          </a:rPr>
                          <m:t>2</m:t>
                        </m:r>
                      </m:sup>
                    </m:sSup>
                  </m:oMath>
                </a14:m>
                <a:r>
                  <a:rPr lang="en-US" dirty="0">
                    <a:solidFill>
                      <a:schemeClr val="accent6">
                        <a:lumMod val="60000"/>
                        <a:lumOff val="40000"/>
                      </a:schemeClr>
                    </a:solidFill>
                  </a:rPr>
                  <a:t>makes the curve symmetric around </a:t>
                </a:r>
                <a14:m>
                  <m:oMath xmlns:m="http://schemas.openxmlformats.org/officeDocument/2006/math">
                    <m:r>
                      <a:rPr lang="en-US" i="1">
                        <a:solidFill>
                          <a:schemeClr val="accent6">
                            <a:lumMod val="60000"/>
                            <a:lumOff val="40000"/>
                          </a:schemeClr>
                        </a:solidFill>
                        <a:latin typeface="Cambria Math" panose="02040503050406030204" pitchFamily="18" charset="0"/>
                      </a:rPr>
                      <m:t>𝜇</m:t>
                    </m:r>
                  </m:oMath>
                </a14:m>
                <a:r>
                  <a:rPr lang="en-US" dirty="0">
                    <a:solidFill>
                      <a:schemeClr val="accent6">
                        <a:lumMod val="60000"/>
                        <a:lumOff val="40000"/>
                      </a:schemeClr>
                    </a:solidFill>
                  </a:rPr>
                  <a:t>.</a:t>
                </a:r>
              </a:p>
              <a:p>
                <a:pPr marL="285750" indent="-285750">
                  <a:buFont typeface="Arial" panose="020B0604020202020204" pitchFamily="34" charset="0"/>
                  <a:buChar char="•"/>
                </a:pPr>
                <a:r>
                  <a:rPr lang="en-US" dirty="0">
                    <a:solidFill>
                      <a:schemeClr val="accent6">
                        <a:lumMod val="60000"/>
                        <a:lumOff val="40000"/>
                      </a:schemeClr>
                    </a:solidFill>
                  </a:rPr>
                  <a:t>The denominator </a:t>
                </a:r>
                <a14:m>
                  <m:oMath xmlns:m="http://schemas.openxmlformats.org/officeDocument/2006/math">
                    <m:r>
                      <a:rPr lang="en-US" i="1">
                        <a:solidFill>
                          <a:schemeClr val="accent6">
                            <a:lumMod val="60000"/>
                            <a:lumOff val="40000"/>
                          </a:schemeClr>
                        </a:solidFill>
                        <a:latin typeface="Cambria Math" panose="02040503050406030204" pitchFamily="18" charset="0"/>
                      </a:rPr>
                      <m:t>𝜎</m:t>
                    </m:r>
                    <m:rad>
                      <m:radPr>
                        <m:degHide m:val="on"/>
                        <m:ctrlPr>
                          <a:rPr lang="ar-AE" i="1">
                            <a:solidFill>
                              <a:schemeClr val="accent6">
                                <a:lumMod val="60000"/>
                                <a:lumOff val="40000"/>
                              </a:schemeClr>
                            </a:solidFill>
                            <a:latin typeface="Cambria Math" panose="02040503050406030204" pitchFamily="18" charset="0"/>
                          </a:rPr>
                        </m:ctrlPr>
                      </m:radPr>
                      <m:deg/>
                      <m:e>
                        <m:r>
                          <a:rPr lang="ar-AE" i="0">
                            <a:solidFill>
                              <a:schemeClr val="accent6">
                                <a:lumMod val="60000"/>
                                <a:lumOff val="40000"/>
                              </a:schemeClr>
                            </a:solidFill>
                            <a:latin typeface="Cambria Math" panose="02040503050406030204" pitchFamily="18" charset="0"/>
                          </a:rPr>
                          <m:t>2</m:t>
                        </m:r>
                        <m:r>
                          <a:rPr lang="ar-AE" i="1">
                            <a:solidFill>
                              <a:schemeClr val="accent6">
                                <a:lumMod val="60000"/>
                                <a:lumOff val="40000"/>
                              </a:schemeClr>
                            </a:solidFill>
                            <a:latin typeface="Cambria Math" panose="02040503050406030204" pitchFamily="18" charset="0"/>
                          </a:rPr>
                          <m:t>𝜋</m:t>
                        </m:r>
                      </m:e>
                    </m:rad>
                  </m:oMath>
                </a14:m>
                <a:r>
                  <a:rPr lang="en-US" dirty="0">
                    <a:solidFill>
                      <a:schemeClr val="accent6">
                        <a:lumMod val="60000"/>
                        <a:lumOff val="40000"/>
                      </a:schemeClr>
                    </a:solidFill>
                  </a:rPr>
                  <a:t>  ensures the total area under the curve = 1 (a valid probability distribution).</a:t>
                </a:r>
              </a:p>
            </p:txBody>
          </p:sp>
        </mc:Choice>
        <mc:Fallback>
          <p:sp>
            <p:nvSpPr>
              <p:cNvPr id="14" name="TextBox 13">
                <a:extLst>
                  <a:ext uri="{FF2B5EF4-FFF2-40B4-BE49-F238E27FC236}">
                    <a16:creationId xmlns:a16="http://schemas.microsoft.com/office/drawing/2014/main" id="{8B4F3FA0-500F-F4A1-80EB-1D1228B76261}"/>
                  </a:ext>
                </a:extLst>
              </p:cNvPr>
              <p:cNvSpPr txBox="1">
                <a:spLocks noRot="1" noChangeAspect="1" noMove="1" noResize="1" noEditPoints="1" noAdjustHandles="1" noChangeArrowheads="1" noChangeShapeType="1" noTextEdit="1"/>
              </p:cNvSpPr>
              <p:nvPr/>
            </p:nvSpPr>
            <p:spPr>
              <a:xfrm>
                <a:off x="4983480" y="4181372"/>
                <a:ext cx="7159752" cy="1418658"/>
              </a:xfrm>
              <a:prstGeom prst="rect">
                <a:avLst/>
              </a:prstGeom>
              <a:blipFill>
                <a:blip r:embed="rId5"/>
                <a:stretch>
                  <a:fillRect l="-767" t="-2575" b="-6009"/>
                </a:stretch>
              </a:blipFill>
            </p:spPr>
            <p:txBody>
              <a:bodyPr/>
              <a:lstStyle/>
              <a:p>
                <a:r>
                  <a:rPr lang="en-US">
                    <a:noFill/>
                  </a:rPr>
                  <a:t> </a:t>
                </a:r>
              </a:p>
            </p:txBody>
          </p:sp>
        </mc:Fallback>
      </mc:AlternateContent>
      <p:sp>
        <p:nvSpPr>
          <p:cNvPr id="15" name="Freeform: Shape 14">
            <a:extLst>
              <a:ext uri="{FF2B5EF4-FFF2-40B4-BE49-F238E27FC236}">
                <a16:creationId xmlns:a16="http://schemas.microsoft.com/office/drawing/2014/main" id="{506E14E3-FBB6-E1D3-FDC8-FA39181351CB}"/>
              </a:ext>
            </a:extLst>
          </p:cNvPr>
          <p:cNvSpPr/>
          <p:nvPr/>
        </p:nvSpPr>
        <p:spPr>
          <a:xfrm>
            <a:off x="8641080" y="52414"/>
            <a:ext cx="1217142" cy="539496"/>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616085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CDDC4-48DA-3D92-09EF-F7FFC1B0AB0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CE1C78C-93E4-2F24-E007-ACE94975A3FB}"/>
              </a:ext>
            </a:extLst>
          </p:cNvPr>
          <p:cNvSpPr txBox="1">
            <a:spLocks/>
          </p:cNvSpPr>
          <p:nvPr/>
        </p:nvSpPr>
        <p:spPr>
          <a:xfrm>
            <a:off x="301752" y="98625"/>
            <a:ext cx="11052048" cy="6041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a:lstStyle>
          <a:p>
            <a:r>
              <a:rPr lang="en-US" sz="2800" b="1" dirty="0"/>
              <a:t>Normal Distribution: </a:t>
            </a:r>
            <a:r>
              <a:rPr lang="en-US" sz="2800" b="1" dirty="0">
                <a:solidFill>
                  <a:schemeClr val="accent4"/>
                </a:solidFill>
              </a:rPr>
              <a:t>Standard</a:t>
            </a:r>
            <a:r>
              <a:rPr lang="en-US" sz="2800" b="1" dirty="0"/>
              <a:t> Normal Distribution</a:t>
            </a:r>
            <a:endParaRPr lang="en-US" sz="2800" dirty="0"/>
          </a:p>
        </p:txBody>
      </p:sp>
      <p:sp>
        <p:nvSpPr>
          <p:cNvPr id="2" name="TextBox 1">
            <a:extLst>
              <a:ext uri="{FF2B5EF4-FFF2-40B4-BE49-F238E27FC236}">
                <a16:creationId xmlns:a16="http://schemas.microsoft.com/office/drawing/2014/main" id="{FEE8C61B-EB38-910B-6471-09D20289DB41}"/>
              </a:ext>
            </a:extLst>
          </p:cNvPr>
          <p:cNvSpPr txBox="1"/>
          <p:nvPr/>
        </p:nvSpPr>
        <p:spPr>
          <a:xfrm>
            <a:off x="64008" y="629240"/>
            <a:ext cx="11923775" cy="923330"/>
          </a:xfrm>
          <a:prstGeom prst="rect">
            <a:avLst/>
          </a:prstGeom>
          <a:noFill/>
        </p:spPr>
        <p:txBody>
          <a:bodyPr wrap="square" rtlCol="0">
            <a:spAutoFit/>
          </a:bodyPr>
          <a:lstStyle/>
          <a:p>
            <a:r>
              <a:rPr lang="en-US" b="1" dirty="0">
                <a:solidFill>
                  <a:schemeClr val="accent6">
                    <a:lumMod val="60000"/>
                    <a:lumOff val="40000"/>
                  </a:schemeClr>
                </a:solidFill>
              </a:rPr>
              <a:t>Standard normal distribution</a:t>
            </a:r>
            <a:r>
              <a:rPr lang="en-US" dirty="0">
                <a:solidFill>
                  <a:schemeClr val="accent6">
                    <a:lumMod val="60000"/>
                    <a:lumOff val="40000"/>
                  </a:schemeClr>
                </a:solidFill>
              </a:rPr>
              <a:t> is a special case of normal distribution where the </a:t>
            </a:r>
            <a:r>
              <a:rPr lang="en-US" b="1" dirty="0">
                <a:solidFill>
                  <a:schemeClr val="accent6">
                    <a:lumMod val="60000"/>
                    <a:lumOff val="40000"/>
                  </a:schemeClr>
                </a:solidFill>
              </a:rPr>
              <a:t>mean = 0, standard deviation = 1.</a:t>
            </a:r>
          </a:p>
          <a:p>
            <a:r>
              <a:rPr lang="en-US" dirty="0">
                <a:solidFill>
                  <a:schemeClr val="accent6">
                    <a:lumMod val="60000"/>
                    <a:lumOff val="40000"/>
                  </a:schemeClr>
                </a:solidFill>
              </a:rPr>
              <a:t>The variable X from normal distribution is generally mapped, AKA </a:t>
            </a:r>
            <a:r>
              <a:rPr lang="en-US" b="1" dirty="0">
                <a:solidFill>
                  <a:schemeClr val="accent6">
                    <a:lumMod val="60000"/>
                    <a:lumOff val="40000"/>
                  </a:schemeClr>
                </a:solidFill>
              </a:rPr>
              <a:t>standardization</a:t>
            </a:r>
            <a:r>
              <a:rPr lang="en-US" dirty="0">
                <a:solidFill>
                  <a:schemeClr val="accent6">
                    <a:lumMod val="60000"/>
                    <a:lumOff val="40000"/>
                  </a:schemeClr>
                </a:solidFill>
              </a:rPr>
              <a:t> or normalization,  to variable Z in Standard normal distribution.</a:t>
            </a:r>
          </a:p>
        </p:txBody>
      </p:sp>
      <p:pic>
        <p:nvPicPr>
          <p:cNvPr id="3" name="Picture 2">
            <a:extLst>
              <a:ext uri="{FF2B5EF4-FFF2-40B4-BE49-F238E27FC236}">
                <a16:creationId xmlns:a16="http://schemas.microsoft.com/office/drawing/2014/main" id="{E8B6E14A-0147-2C67-D332-FEBE7DE1EA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0368" y="4370831"/>
            <a:ext cx="4060118" cy="2073458"/>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46CA3FCD-AFE0-26A3-6C98-8B89B7C8C100}"/>
                  </a:ext>
                </a:extLst>
              </p14:cNvPr>
              <p14:cNvContentPartPr/>
              <p14:nvPr/>
            </p14:nvContentPartPr>
            <p14:xfrm>
              <a:off x="3602088" y="3605990"/>
              <a:ext cx="531000" cy="628560"/>
            </p14:xfrm>
          </p:contentPart>
        </mc:Choice>
        <mc:Fallback>
          <p:pic>
            <p:nvPicPr>
              <p:cNvPr id="5" name="Ink 4">
                <a:extLst>
                  <a:ext uri="{FF2B5EF4-FFF2-40B4-BE49-F238E27FC236}">
                    <a16:creationId xmlns:a16="http://schemas.microsoft.com/office/drawing/2014/main" id="{46CA3FCD-AFE0-26A3-6C98-8B89B7C8C100}"/>
                  </a:ext>
                </a:extLst>
              </p:cNvPr>
              <p:cNvPicPr/>
              <p:nvPr/>
            </p:nvPicPr>
            <p:blipFill>
              <a:blip r:embed="rId4"/>
              <a:stretch>
                <a:fillRect/>
              </a:stretch>
            </p:blipFill>
            <p:spPr>
              <a:xfrm>
                <a:off x="3584088" y="3587990"/>
                <a:ext cx="566640" cy="664200"/>
              </a:xfrm>
              <a:prstGeom prst="rect">
                <a:avLst/>
              </a:prstGeom>
            </p:spPr>
          </p:pic>
        </mc:Fallback>
      </mc:AlternateContent>
      <p:pic>
        <p:nvPicPr>
          <p:cNvPr id="7" name="Picture 6">
            <a:extLst>
              <a:ext uri="{FF2B5EF4-FFF2-40B4-BE49-F238E27FC236}">
                <a16:creationId xmlns:a16="http://schemas.microsoft.com/office/drawing/2014/main" id="{4C92BB9F-CD3A-41AD-4530-8992A6AF9801}"/>
              </a:ext>
            </a:extLst>
          </p:cNvPr>
          <p:cNvPicPr>
            <a:picLocks noChangeAspect="1"/>
          </p:cNvPicPr>
          <p:nvPr/>
        </p:nvPicPr>
        <p:blipFill>
          <a:blip r:embed="rId5"/>
          <a:stretch>
            <a:fillRect/>
          </a:stretch>
        </p:blipFill>
        <p:spPr>
          <a:xfrm>
            <a:off x="8820" y="5351140"/>
            <a:ext cx="1461388" cy="769152"/>
          </a:xfrm>
          <a:prstGeom prst="rect">
            <a:avLst/>
          </a:prstGeom>
        </p:spPr>
      </p:pic>
      <p:pic>
        <p:nvPicPr>
          <p:cNvPr id="10" name="Picture 9">
            <a:extLst>
              <a:ext uri="{FF2B5EF4-FFF2-40B4-BE49-F238E27FC236}">
                <a16:creationId xmlns:a16="http://schemas.microsoft.com/office/drawing/2014/main" id="{39053487-457E-DB26-90E2-5790A284FBCC}"/>
              </a:ext>
            </a:extLst>
          </p:cNvPr>
          <p:cNvPicPr>
            <a:picLocks noChangeAspect="1"/>
          </p:cNvPicPr>
          <p:nvPr/>
        </p:nvPicPr>
        <p:blipFill>
          <a:blip r:embed="rId6"/>
          <a:stretch>
            <a:fillRect/>
          </a:stretch>
        </p:blipFill>
        <p:spPr>
          <a:xfrm>
            <a:off x="5268714" y="5152910"/>
            <a:ext cx="1714766" cy="601551"/>
          </a:xfrm>
          <a:prstGeom prst="rect">
            <a:avLst/>
          </a:prstGeom>
        </p:spPr>
      </p:pic>
      <p:sp>
        <p:nvSpPr>
          <p:cNvPr id="13" name="TextBox 12">
            <a:extLst>
              <a:ext uri="{FF2B5EF4-FFF2-40B4-BE49-F238E27FC236}">
                <a16:creationId xmlns:a16="http://schemas.microsoft.com/office/drawing/2014/main" id="{3E2D3931-F6F4-1830-2141-F5CAB7881243}"/>
              </a:ext>
            </a:extLst>
          </p:cNvPr>
          <p:cNvSpPr txBox="1"/>
          <p:nvPr/>
        </p:nvSpPr>
        <p:spPr>
          <a:xfrm>
            <a:off x="2505456" y="6434251"/>
            <a:ext cx="7242048" cy="369332"/>
          </a:xfrm>
          <a:prstGeom prst="rect">
            <a:avLst/>
          </a:prstGeom>
          <a:noFill/>
        </p:spPr>
        <p:txBody>
          <a:bodyPr wrap="square">
            <a:spAutoFit/>
          </a:bodyPr>
          <a:lstStyle/>
          <a:p>
            <a:r>
              <a:rPr lang="en-US" dirty="0">
                <a:solidFill>
                  <a:schemeClr val="accent6">
                    <a:lumMod val="60000"/>
                    <a:lumOff val="40000"/>
                  </a:schemeClr>
                </a:solidFill>
              </a:rPr>
              <a:t>The area under Standard normal distribution can be read from the z-table.</a:t>
            </a:r>
          </a:p>
        </p:txBody>
      </p:sp>
      <p:sp>
        <p:nvSpPr>
          <p:cNvPr id="14" name="TextBox 13">
            <a:extLst>
              <a:ext uri="{FF2B5EF4-FFF2-40B4-BE49-F238E27FC236}">
                <a16:creationId xmlns:a16="http://schemas.microsoft.com/office/drawing/2014/main" id="{16421B19-1032-3A1A-BFBF-F5FD8BE79BF4}"/>
              </a:ext>
            </a:extLst>
          </p:cNvPr>
          <p:cNvSpPr txBox="1"/>
          <p:nvPr/>
        </p:nvSpPr>
        <p:spPr>
          <a:xfrm>
            <a:off x="658368" y="2633472"/>
            <a:ext cx="310896" cy="430887"/>
          </a:xfrm>
          <a:prstGeom prst="rect">
            <a:avLst/>
          </a:prstGeom>
          <a:noFill/>
        </p:spPr>
        <p:txBody>
          <a:bodyPr wrap="square" lIns="0" tIns="0" rIns="0" bIns="0" rtlCol="0">
            <a:spAutoFit/>
          </a:bodyPr>
          <a:lstStyle/>
          <a:p>
            <a:r>
              <a:rPr lang="en-US" sz="2800" dirty="0">
                <a:solidFill>
                  <a:schemeClr val="accent6">
                    <a:lumMod val="60000"/>
                    <a:lumOff val="40000"/>
                  </a:schemeClr>
                </a:solidFill>
              </a:rPr>
              <a:t>X</a:t>
            </a:r>
          </a:p>
        </p:txBody>
      </p:sp>
      <mc:AlternateContent xmlns:mc="http://schemas.openxmlformats.org/markup-compatibility/2006">
        <mc:Choice xmlns:p14="http://schemas.microsoft.com/office/powerpoint/2010/main" Requires="p14">
          <p:contentPart p14:bwMode="auto" r:id="rId7">
            <p14:nvContentPartPr>
              <p14:cNvPr id="15" name="Ink 14">
                <a:extLst>
                  <a:ext uri="{FF2B5EF4-FFF2-40B4-BE49-F238E27FC236}">
                    <a16:creationId xmlns:a16="http://schemas.microsoft.com/office/drawing/2014/main" id="{0D016FE7-F10B-9335-E9B6-8B5302FCA9ED}"/>
                  </a:ext>
                </a:extLst>
              </p14:cNvPr>
              <p14:cNvContentPartPr/>
              <p14:nvPr/>
            </p14:nvContentPartPr>
            <p14:xfrm>
              <a:off x="548316" y="3551127"/>
              <a:ext cx="531000" cy="628560"/>
            </p14:xfrm>
          </p:contentPart>
        </mc:Choice>
        <mc:Fallback>
          <p:pic>
            <p:nvPicPr>
              <p:cNvPr id="15" name="Ink 14">
                <a:extLst>
                  <a:ext uri="{FF2B5EF4-FFF2-40B4-BE49-F238E27FC236}">
                    <a16:creationId xmlns:a16="http://schemas.microsoft.com/office/drawing/2014/main" id="{0D016FE7-F10B-9335-E9B6-8B5302FCA9ED}"/>
                  </a:ext>
                </a:extLst>
              </p:cNvPr>
              <p:cNvPicPr/>
              <p:nvPr/>
            </p:nvPicPr>
            <p:blipFill>
              <a:blip r:embed="rId4"/>
              <a:stretch>
                <a:fillRect/>
              </a:stretch>
            </p:blipFill>
            <p:spPr>
              <a:xfrm>
                <a:off x="530316" y="3533127"/>
                <a:ext cx="566640" cy="6642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6" name="Ink 15">
                <a:extLst>
                  <a:ext uri="{FF2B5EF4-FFF2-40B4-BE49-F238E27FC236}">
                    <a16:creationId xmlns:a16="http://schemas.microsoft.com/office/drawing/2014/main" id="{6103E6B4-B00C-26E3-A64F-B7137537846D}"/>
                  </a:ext>
                </a:extLst>
              </p14:cNvPr>
              <p14:cNvContentPartPr/>
              <p14:nvPr/>
            </p14:nvContentPartPr>
            <p14:xfrm>
              <a:off x="6056184" y="3716893"/>
              <a:ext cx="531000" cy="628560"/>
            </p14:xfrm>
          </p:contentPart>
        </mc:Choice>
        <mc:Fallback>
          <p:pic>
            <p:nvPicPr>
              <p:cNvPr id="16" name="Ink 15">
                <a:extLst>
                  <a:ext uri="{FF2B5EF4-FFF2-40B4-BE49-F238E27FC236}">
                    <a16:creationId xmlns:a16="http://schemas.microsoft.com/office/drawing/2014/main" id="{6103E6B4-B00C-26E3-A64F-B7137537846D}"/>
                  </a:ext>
                </a:extLst>
              </p:cNvPr>
              <p:cNvPicPr/>
              <p:nvPr/>
            </p:nvPicPr>
            <p:blipFill>
              <a:blip r:embed="rId4"/>
              <a:stretch>
                <a:fillRect/>
              </a:stretch>
            </p:blipFill>
            <p:spPr>
              <a:xfrm>
                <a:off x="6038184" y="3698893"/>
                <a:ext cx="566640" cy="664200"/>
              </a:xfrm>
              <a:prstGeom prst="rect">
                <a:avLst/>
              </a:prstGeom>
            </p:spPr>
          </p:pic>
        </mc:Fallback>
      </mc:AlternateContent>
      <p:pic>
        <p:nvPicPr>
          <p:cNvPr id="21" name="Picture 20">
            <a:extLst>
              <a:ext uri="{FF2B5EF4-FFF2-40B4-BE49-F238E27FC236}">
                <a16:creationId xmlns:a16="http://schemas.microsoft.com/office/drawing/2014/main" id="{1612FD59-CFB6-FA33-0ED8-5AE9FAD4BFB5}"/>
              </a:ext>
            </a:extLst>
          </p:cNvPr>
          <p:cNvPicPr>
            <a:picLocks noChangeAspect="1"/>
          </p:cNvPicPr>
          <p:nvPr/>
        </p:nvPicPr>
        <p:blipFill>
          <a:blip r:embed="rId9"/>
          <a:stretch>
            <a:fillRect/>
          </a:stretch>
        </p:blipFill>
        <p:spPr>
          <a:xfrm>
            <a:off x="7639234" y="2788560"/>
            <a:ext cx="4555769" cy="832142"/>
          </a:xfrm>
          <a:prstGeom prst="rect">
            <a:avLst/>
          </a:prstGeom>
        </p:spPr>
      </p:pic>
      <mc:AlternateContent xmlns:mc="http://schemas.openxmlformats.org/markup-compatibility/2006">
        <mc:Choice xmlns:p14="http://schemas.microsoft.com/office/powerpoint/2010/main" Requires="p14">
          <p:contentPart p14:bwMode="auto" r:id="rId10">
            <p14:nvContentPartPr>
              <p14:cNvPr id="22" name="Ink 21">
                <a:extLst>
                  <a:ext uri="{FF2B5EF4-FFF2-40B4-BE49-F238E27FC236}">
                    <a16:creationId xmlns:a16="http://schemas.microsoft.com/office/drawing/2014/main" id="{64F5B66E-5D66-D090-AF40-08C7EB9271AD}"/>
                  </a:ext>
                </a:extLst>
              </p14:cNvPr>
              <p14:cNvContentPartPr/>
              <p14:nvPr/>
            </p14:nvContentPartPr>
            <p14:xfrm>
              <a:off x="9573576" y="3615135"/>
              <a:ext cx="531000" cy="628560"/>
            </p14:xfrm>
          </p:contentPart>
        </mc:Choice>
        <mc:Fallback>
          <p:pic>
            <p:nvPicPr>
              <p:cNvPr id="22" name="Ink 21">
                <a:extLst>
                  <a:ext uri="{FF2B5EF4-FFF2-40B4-BE49-F238E27FC236}">
                    <a16:creationId xmlns:a16="http://schemas.microsoft.com/office/drawing/2014/main" id="{64F5B66E-5D66-D090-AF40-08C7EB9271AD}"/>
                  </a:ext>
                </a:extLst>
              </p:cNvPr>
              <p:cNvPicPr/>
              <p:nvPr/>
            </p:nvPicPr>
            <p:blipFill>
              <a:blip r:embed="rId4"/>
              <a:stretch>
                <a:fillRect/>
              </a:stretch>
            </p:blipFill>
            <p:spPr>
              <a:xfrm>
                <a:off x="9555576" y="3597135"/>
                <a:ext cx="566640" cy="664200"/>
              </a:xfrm>
              <a:prstGeom prst="rect">
                <a:avLst/>
              </a:prstGeom>
            </p:spPr>
          </p:pic>
        </mc:Fallback>
      </mc:AlternateContent>
      <p:pic>
        <p:nvPicPr>
          <p:cNvPr id="24" name="Picture 23">
            <a:extLst>
              <a:ext uri="{FF2B5EF4-FFF2-40B4-BE49-F238E27FC236}">
                <a16:creationId xmlns:a16="http://schemas.microsoft.com/office/drawing/2014/main" id="{A7E32D01-A9F3-0B37-CA05-6B28ED67D1CA}"/>
              </a:ext>
            </a:extLst>
          </p:cNvPr>
          <p:cNvPicPr>
            <a:picLocks noChangeAspect="1"/>
          </p:cNvPicPr>
          <p:nvPr/>
        </p:nvPicPr>
        <p:blipFill>
          <a:blip r:embed="rId11"/>
          <a:stretch>
            <a:fillRect/>
          </a:stretch>
        </p:blipFill>
        <p:spPr>
          <a:xfrm>
            <a:off x="7733678" y="4554766"/>
            <a:ext cx="4458322" cy="790685"/>
          </a:xfrm>
          <a:prstGeom prst="rect">
            <a:avLst/>
          </a:prstGeom>
        </p:spPr>
      </p:pic>
      <p:pic>
        <p:nvPicPr>
          <p:cNvPr id="26" name="Picture 25">
            <a:extLst>
              <a:ext uri="{FF2B5EF4-FFF2-40B4-BE49-F238E27FC236}">
                <a16:creationId xmlns:a16="http://schemas.microsoft.com/office/drawing/2014/main" id="{E48E7089-336F-410A-A226-26F21877BB8B}"/>
              </a:ext>
            </a:extLst>
          </p:cNvPr>
          <p:cNvPicPr>
            <a:picLocks noChangeAspect="1"/>
          </p:cNvPicPr>
          <p:nvPr/>
        </p:nvPicPr>
        <p:blipFill>
          <a:blip r:embed="rId12"/>
          <a:stretch>
            <a:fillRect/>
          </a:stretch>
        </p:blipFill>
        <p:spPr>
          <a:xfrm>
            <a:off x="1545813" y="1514691"/>
            <a:ext cx="4515480" cy="1933845"/>
          </a:xfrm>
          <a:prstGeom prst="rect">
            <a:avLst/>
          </a:prstGeom>
        </p:spPr>
      </p:pic>
      <p:pic>
        <p:nvPicPr>
          <p:cNvPr id="11" name="Picture 10">
            <a:extLst>
              <a:ext uri="{FF2B5EF4-FFF2-40B4-BE49-F238E27FC236}">
                <a16:creationId xmlns:a16="http://schemas.microsoft.com/office/drawing/2014/main" id="{F3C15B35-5396-0976-497E-E60A7C822E88}"/>
              </a:ext>
            </a:extLst>
          </p:cNvPr>
          <p:cNvPicPr>
            <a:picLocks noChangeAspect="1"/>
          </p:cNvPicPr>
          <p:nvPr/>
        </p:nvPicPr>
        <p:blipFill>
          <a:blip r:embed="rId13"/>
          <a:stretch>
            <a:fillRect/>
          </a:stretch>
        </p:blipFill>
        <p:spPr>
          <a:xfrm>
            <a:off x="5721552" y="2176211"/>
            <a:ext cx="2509754" cy="751275"/>
          </a:xfrm>
          <a:prstGeom prst="rect">
            <a:avLst/>
          </a:prstGeom>
        </p:spPr>
      </p:pic>
      <p:sp>
        <p:nvSpPr>
          <p:cNvPr id="27" name="Freeform: Shape 26">
            <a:extLst>
              <a:ext uri="{FF2B5EF4-FFF2-40B4-BE49-F238E27FC236}">
                <a16:creationId xmlns:a16="http://schemas.microsoft.com/office/drawing/2014/main" id="{E6C6C00D-7DE9-B83A-691E-6FF91432AA17}"/>
              </a:ext>
            </a:extLst>
          </p:cNvPr>
          <p:cNvSpPr/>
          <p:nvPr/>
        </p:nvSpPr>
        <p:spPr>
          <a:xfrm>
            <a:off x="8641080" y="52414"/>
            <a:ext cx="1217142" cy="539496"/>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334704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E838-BE73-3597-F57E-25E78985F39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C901A0B-5391-F6B8-833F-CCED2F12AFAA}"/>
              </a:ext>
            </a:extLst>
          </p:cNvPr>
          <p:cNvSpPr txBox="1">
            <a:spLocks/>
          </p:cNvSpPr>
          <p:nvPr/>
        </p:nvSpPr>
        <p:spPr>
          <a:xfrm>
            <a:off x="301752" y="98625"/>
            <a:ext cx="11052048" cy="6041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a:lstStyle>
          <a:p>
            <a:r>
              <a:rPr lang="en-US" sz="2800" b="1" dirty="0"/>
              <a:t>Normal Distribution: Standard Normal Distribution</a:t>
            </a:r>
            <a:endParaRPr lang="en-US" sz="2800" dirty="0"/>
          </a:p>
        </p:txBody>
      </p:sp>
      <p:sp>
        <p:nvSpPr>
          <p:cNvPr id="2" name="TextBox 1">
            <a:extLst>
              <a:ext uri="{FF2B5EF4-FFF2-40B4-BE49-F238E27FC236}">
                <a16:creationId xmlns:a16="http://schemas.microsoft.com/office/drawing/2014/main" id="{0AB4E321-5399-B63C-2278-D7A091DB3FE8}"/>
              </a:ext>
            </a:extLst>
          </p:cNvPr>
          <p:cNvSpPr txBox="1"/>
          <p:nvPr/>
        </p:nvSpPr>
        <p:spPr>
          <a:xfrm>
            <a:off x="64008" y="629240"/>
            <a:ext cx="11923775" cy="1477328"/>
          </a:xfrm>
          <a:prstGeom prst="rect">
            <a:avLst/>
          </a:prstGeom>
          <a:noFill/>
        </p:spPr>
        <p:txBody>
          <a:bodyPr wrap="square" rtlCol="0">
            <a:spAutoFit/>
          </a:bodyPr>
          <a:lstStyle/>
          <a:p>
            <a:r>
              <a:rPr lang="en-US" dirty="0">
                <a:solidFill>
                  <a:schemeClr val="accent6">
                    <a:lumMod val="60000"/>
                    <a:lumOff val="40000"/>
                  </a:schemeClr>
                </a:solidFill>
              </a:rPr>
              <a:t>Why the conversion from Normal to Standard?</a:t>
            </a:r>
          </a:p>
          <a:p>
            <a:r>
              <a:rPr lang="en-US" dirty="0">
                <a:solidFill>
                  <a:schemeClr val="accent6">
                    <a:lumMod val="60000"/>
                    <a:lumOff val="40000"/>
                  </a:schemeClr>
                </a:solidFill>
              </a:rPr>
              <a:t>Because it </a:t>
            </a:r>
          </a:p>
          <a:p>
            <a:pPr marL="285750" indent="-285750">
              <a:buFontTx/>
              <a:buChar char="-"/>
            </a:pPr>
            <a:r>
              <a:rPr lang="en-US" dirty="0">
                <a:solidFill>
                  <a:schemeClr val="accent6">
                    <a:lumMod val="60000"/>
                    <a:lumOff val="40000"/>
                  </a:schemeClr>
                </a:solidFill>
              </a:rPr>
              <a:t>simplifies calculation: we read values of areas from z-table</a:t>
            </a:r>
          </a:p>
          <a:p>
            <a:pPr marL="285750" indent="-285750">
              <a:buFontTx/>
              <a:buChar char="-"/>
            </a:pPr>
            <a:r>
              <a:rPr lang="en-US" dirty="0">
                <a:solidFill>
                  <a:schemeClr val="accent6">
                    <a:lumMod val="60000"/>
                    <a:lumOff val="40000"/>
                  </a:schemeClr>
                </a:solidFill>
              </a:rPr>
              <a:t> allows us to compare scores from different  normal distributions </a:t>
            </a:r>
            <a:r>
              <a:rPr lang="en-US" b="1" dirty="0">
                <a:solidFill>
                  <a:schemeClr val="accent6">
                    <a:lumMod val="60000"/>
                    <a:lumOff val="40000"/>
                  </a:schemeClr>
                </a:solidFill>
              </a:rPr>
              <a:t>on the same scale</a:t>
            </a:r>
            <a:r>
              <a:rPr lang="en-US" dirty="0">
                <a:solidFill>
                  <a:schemeClr val="accent6">
                    <a:lumMod val="60000"/>
                    <a:lumOff val="40000"/>
                  </a:schemeClr>
                </a:solidFill>
              </a:rPr>
              <a:t>. Example: Comparing exam scores with</a:t>
            </a:r>
          </a:p>
          <a:p>
            <a:r>
              <a:rPr lang="en-US" dirty="0">
                <a:solidFill>
                  <a:schemeClr val="accent6">
                    <a:lumMod val="60000"/>
                    <a:lumOff val="40000"/>
                  </a:schemeClr>
                </a:solidFill>
              </a:rPr>
              <a:t> different means and SDs.</a:t>
            </a:r>
          </a:p>
        </p:txBody>
      </p:sp>
      <p:pic>
        <p:nvPicPr>
          <p:cNvPr id="3" name="Picture 2">
            <a:extLst>
              <a:ext uri="{FF2B5EF4-FFF2-40B4-BE49-F238E27FC236}">
                <a16:creationId xmlns:a16="http://schemas.microsoft.com/office/drawing/2014/main" id="{1DE59460-7021-DFAF-7ACB-D10F96AE9C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7776" y="4685917"/>
            <a:ext cx="4060118" cy="2073458"/>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86C47D1D-39AB-47A2-9642-9D317CD4D507}"/>
                  </a:ext>
                </a:extLst>
              </p14:cNvPr>
              <p14:cNvContentPartPr/>
              <p14:nvPr/>
            </p14:nvContentPartPr>
            <p14:xfrm>
              <a:off x="2383148" y="4012442"/>
              <a:ext cx="531000" cy="628560"/>
            </p14:xfrm>
          </p:contentPart>
        </mc:Choice>
        <mc:Fallback>
          <p:pic>
            <p:nvPicPr>
              <p:cNvPr id="5" name="Ink 4">
                <a:extLst>
                  <a:ext uri="{FF2B5EF4-FFF2-40B4-BE49-F238E27FC236}">
                    <a16:creationId xmlns:a16="http://schemas.microsoft.com/office/drawing/2014/main" id="{86C47D1D-39AB-47A2-9642-9D317CD4D507}"/>
                  </a:ext>
                </a:extLst>
              </p:cNvPr>
              <p:cNvPicPr/>
              <p:nvPr/>
            </p:nvPicPr>
            <p:blipFill>
              <a:blip r:embed="rId4"/>
              <a:stretch>
                <a:fillRect/>
              </a:stretch>
            </p:blipFill>
            <p:spPr>
              <a:xfrm>
                <a:off x="2365148" y="3994442"/>
                <a:ext cx="566640" cy="664200"/>
              </a:xfrm>
              <a:prstGeom prst="rect">
                <a:avLst/>
              </a:prstGeom>
            </p:spPr>
          </p:pic>
        </mc:Fallback>
      </mc:AlternateContent>
      <p:pic>
        <p:nvPicPr>
          <p:cNvPr id="7" name="Picture 6">
            <a:extLst>
              <a:ext uri="{FF2B5EF4-FFF2-40B4-BE49-F238E27FC236}">
                <a16:creationId xmlns:a16="http://schemas.microsoft.com/office/drawing/2014/main" id="{AF02EC72-9724-3566-6983-10F6EBCD4199}"/>
              </a:ext>
            </a:extLst>
          </p:cNvPr>
          <p:cNvPicPr>
            <a:picLocks noChangeAspect="1"/>
          </p:cNvPicPr>
          <p:nvPr/>
        </p:nvPicPr>
        <p:blipFill>
          <a:blip r:embed="rId5"/>
          <a:stretch>
            <a:fillRect/>
          </a:stretch>
        </p:blipFill>
        <p:spPr>
          <a:xfrm>
            <a:off x="4489368" y="4137441"/>
            <a:ext cx="1461388" cy="769152"/>
          </a:xfrm>
          <a:prstGeom prst="rect">
            <a:avLst/>
          </a:prstGeom>
        </p:spPr>
      </p:pic>
      <p:sp>
        <p:nvSpPr>
          <p:cNvPr id="6" name="Freeform: Shape 5">
            <a:extLst>
              <a:ext uri="{FF2B5EF4-FFF2-40B4-BE49-F238E27FC236}">
                <a16:creationId xmlns:a16="http://schemas.microsoft.com/office/drawing/2014/main" id="{90E2D82A-54EB-6388-47F2-D558964BFB12}"/>
              </a:ext>
            </a:extLst>
          </p:cNvPr>
          <p:cNvSpPr/>
          <p:nvPr/>
        </p:nvSpPr>
        <p:spPr>
          <a:xfrm>
            <a:off x="574420" y="2391051"/>
            <a:ext cx="4148455" cy="1196731"/>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2" name="Freeform: Shape 11">
            <a:extLst>
              <a:ext uri="{FF2B5EF4-FFF2-40B4-BE49-F238E27FC236}">
                <a16:creationId xmlns:a16="http://schemas.microsoft.com/office/drawing/2014/main" id="{2AECB8AC-54E6-99EC-BE1D-9536579DF3BB}"/>
              </a:ext>
            </a:extLst>
          </p:cNvPr>
          <p:cNvSpPr/>
          <p:nvPr/>
        </p:nvSpPr>
        <p:spPr>
          <a:xfrm>
            <a:off x="6763331" y="1917794"/>
            <a:ext cx="2056289" cy="1765698"/>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6">
            <p14:nvContentPartPr>
              <p14:cNvPr id="17" name="Ink 16">
                <a:extLst>
                  <a:ext uri="{FF2B5EF4-FFF2-40B4-BE49-F238E27FC236}">
                    <a16:creationId xmlns:a16="http://schemas.microsoft.com/office/drawing/2014/main" id="{CA005F4C-FBC9-CE9F-EFE5-A49B3F5592F5}"/>
                  </a:ext>
                </a:extLst>
              </p14:cNvPr>
              <p14:cNvContentPartPr/>
              <p14:nvPr/>
            </p14:nvContentPartPr>
            <p14:xfrm>
              <a:off x="7525976" y="4057357"/>
              <a:ext cx="531000" cy="628560"/>
            </p14:xfrm>
          </p:contentPart>
        </mc:Choice>
        <mc:Fallback>
          <p:pic>
            <p:nvPicPr>
              <p:cNvPr id="17" name="Ink 16">
                <a:extLst>
                  <a:ext uri="{FF2B5EF4-FFF2-40B4-BE49-F238E27FC236}">
                    <a16:creationId xmlns:a16="http://schemas.microsoft.com/office/drawing/2014/main" id="{CA005F4C-FBC9-CE9F-EFE5-A49B3F5592F5}"/>
                  </a:ext>
                </a:extLst>
              </p:cNvPr>
              <p:cNvPicPr/>
              <p:nvPr/>
            </p:nvPicPr>
            <p:blipFill>
              <a:blip r:embed="rId4"/>
              <a:stretch>
                <a:fillRect/>
              </a:stretch>
            </p:blipFill>
            <p:spPr>
              <a:xfrm>
                <a:off x="7507976" y="4039357"/>
                <a:ext cx="566640" cy="664200"/>
              </a:xfrm>
              <a:prstGeom prst="rect">
                <a:avLst/>
              </a:prstGeom>
            </p:spPr>
          </p:pic>
        </mc:Fallback>
      </mc:AlternateContent>
      <p:pic>
        <p:nvPicPr>
          <p:cNvPr id="18" name="Picture 17">
            <a:extLst>
              <a:ext uri="{FF2B5EF4-FFF2-40B4-BE49-F238E27FC236}">
                <a16:creationId xmlns:a16="http://schemas.microsoft.com/office/drawing/2014/main" id="{E9D58E0C-641E-D084-0B1E-A944F792D0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388" y="4751433"/>
            <a:ext cx="4060118" cy="2073458"/>
          </a:xfrm>
          <a:prstGeom prst="rect">
            <a:avLst/>
          </a:prstGeom>
        </p:spPr>
      </p:pic>
      <p:grpSp>
        <p:nvGrpSpPr>
          <p:cNvPr id="21" name="Group 20">
            <a:extLst>
              <a:ext uri="{FF2B5EF4-FFF2-40B4-BE49-F238E27FC236}">
                <a16:creationId xmlns:a16="http://schemas.microsoft.com/office/drawing/2014/main" id="{0433D0CB-5C6A-73DE-A922-ED910D31EC28}"/>
              </a:ext>
            </a:extLst>
          </p:cNvPr>
          <p:cNvGrpSpPr/>
          <p:nvPr/>
        </p:nvGrpSpPr>
        <p:grpSpPr>
          <a:xfrm>
            <a:off x="3554784" y="2398896"/>
            <a:ext cx="599400" cy="391680"/>
            <a:chOff x="3554784" y="2398896"/>
            <a:chExt cx="599400" cy="391680"/>
          </a:xfrm>
        </p:grpSpPr>
        <mc:AlternateContent xmlns:mc="http://schemas.openxmlformats.org/markup-compatibility/2006">
          <mc:Choice xmlns:p14="http://schemas.microsoft.com/office/powerpoint/2010/main" Requires="p14">
            <p:contentPart p14:bwMode="auto" r:id="rId7">
              <p14:nvContentPartPr>
                <p14:cNvPr id="19" name="Ink 18">
                  <a:extLst>
                    <a:ext uri="{FF2B5EF4-FFF2-40B4-BE49-F238E27FC236}">
                      <a16:creationId xmlns:a16="http://schemas.microsoft.com/office/drawing/2014/main" id="{D2DA71A6-6996-704F-D33D-0353B9416940}"/>
                    </a:ext>
                  </a:extLst>
                </p14:cNvPr>
                <p14:cNvContentPartPr/>
                <p14:nvPr/>
              </p14:nvContentPartPr>
              <p14:xfrm>
                <a:off x="3554784" y="2398896"/>
                <a:ext cx="511920" cy="391680"/>
              </p14:xfrm>
            </p:contentPart>
          </mc:Choice>
          <mc:Fallback>
            <p:pic>
              <p:nvPicPr>
                <p:cNvPr id="19" name="Ink 18">
                  <a:extLst>
                    <a:ext uri="{FF2B5EF4-FFF2-40B4-BE49-F238E27FC236}">
                      <a16:creationId xmlns:a16="http://schemas.microsoft.com/office/drawing/2014/main" id="{D2DA71A6-6996-704F-D33D-0353B9416940}"/>
                    </a:ext>
                  </a:extLst>
                </p:cNvPr>
                <p:cNvPicPr/>
                <p:nvPr/>
              </p:nvPicPr>
              <p:blipFill>
                <a:blip r:embed="rId8"/>
                <a:stretch>
                  <a:fillRect/>
                </a:stretch>
              </p:blipFill>
              <p:spPr>
                <a:xfrm>
                  <a:off x="3536784" y="2381256"/>
                  <a:ext cx="547560" cy="4273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0" name="Ink 19">
                  <a:extLst>
                    <a:ext uri="{FF2B5EF4-FFF2-40B4-BE49-F238E27FC236}">
                      <a16:creationId xmlns:a16="http://schemas.microsoft.com/office/drawing/2014/main" id="{9326C6AE-3AE0-1858-8DDA-CA322FC89896}"/>
                    </a:ext>
                  </a:extLst>
                </p14:cNvPr>
                <p14:cNvContentPartPr/>
                <p14:nvPr/>
              </p14:nvContentPartPr>
              <p14:xfrm>
                <a:off x="4106664" y="2606256"/>
                <a:ext cx="47520" cy="141480"/>
              </p14:xfrm>
            </p:contentPart>
          </mc:Choice>
          <mc:Fallback>
            <p:pic>
              <p:nvPicPr>
                <p:cNvPr id="20" name="Ink 19">
                  <a:extLst>
                    <a:ext uri="{FF2B5EF4-FFF2-40B4-BE49-F238E27FC236}">
                      <a16:creationId xmlns:a16="http://schemas.microsoft.com/office/drawing/2014/main" id="{9326C6AE-3AE0-1858-8DDA-CA322FC89896}"/>
                    </a:ext>
                  </a:extLst>
                </p:cNvPr>
                <p:cNvPicPr/>
                <p:nvPr/>
              </p:nvPicPr>
              <p:blipFill>
                <a:blip r:embed="rId10"/>
                <a:stretch>
                  <a:fillRect/>
                </a:stretch>
              </p:blipFill>
              <p:spPr>
                <a:xfrm>
                  <a:off x="4088664" y="2588616"/>
                  <a:ext cx="83160" cy="177120"/>
                </a:xfrm>
                <a:prstGeom prst="rect">
                  <a:avLst/>
                </a:prstGeom>
              </p:spPr>
            </p:pic>
          </mc:Fallback>
        </mc:AlternateContent>
      </p:grpSp>
      <p:grpSp>
        <p:nvGrpSpPr>
          <p:cNvPr id="24" name="Group 23">
            <a:extLst>
              <a:ext uri="{FF2B5EF4-FFF2-40B4-BE49-F238E27FC236}">
                <a16:creationId xmlns:a16="http://schemas.microsoft.com/office/drawing/2014/main" id="{2347CF65-D82A-58FA-81A3-3FA6FD2EBAE0}"/>
              </a:ext>
            </a:extLst>
          </p:cNvPr>
          <p:cNvGrpSpPr/>
          <p:nvPr/>
        </p:nvGrpSpPr>
        <p:grpSpPr>
          <a:xfrm>
            <a:off x="3800304" y="3003336"/>
            <a:ext cx="372960" cy="244800"/>
            <a:chOff x="3800304" y="3003336"/>
            <a:chExt cx="372960" cy="244800"/>
          </a:xfrm>
        </p:grpSpPr>
        <mc:AlternateContent xmlns:mc="http://schemas.openxmlformats.org/markup-compatibility/2006">
          <mc:Choice xmlns:p14="http://schemas.microsoft.com/office/powerpoint/2010/main" Requires="p14">
            <p:contentPart p14:bwMode="auto" r:id="rId11">
              <p14:nvContentPartPr>
                <p14:cNvPr id="22" name="Ink 21">
                  <a:extLst>
                    <a:ext uri="{FF2B5EF4-FFF2-40B4-BE49-F238E27FC236}">
                      <a16:creationId xmlns:a16="http://schemas.microsoft.com/office/drawing/2014/main" id="{23C2E8D3-02C3-D06E-E621-07A67C218ACB}"/>
                    </a:ext>
                  </a:extLst>
                </p14:cNvPr>
                <p14:cNvContentPartPr/>
                <p14:nvPr/>
              </p14:nvContentPartPr>
              <p14:xfrm>
                <a:off x="3800304" y="3003336"/>
                <a:ext cx="372960" cy="142560"/>
              </p14:xfrm>
            </p:contentPart>
          </mc:Choice>
          <mc:Fallback>
            <p:pic>
              <p:nvPicPr>
                <p:cNvPr id="22" name="Ink 21">
                  <a:extLst>
                    <a:ext uri="{FF2B5EF4-FFF2-40B4-BE49-F238E27FC236}">
                      <a16:creationId xmlns:a16="http://schemas.microsoft.com/office/drawing/2014/main" id="{23C2E8D3-02C3-D06E-E621-07A67C218ACB}"/>
                    </a:ext>
                  </a:extLst>
                </p:cNvPr>
                <p:cNvPicPr/>
                <p:nvPr/>
              </p:nvPicPr>
              <p:blipFill>
                <a:blip r:embed="rId12"/>
                <a:stretch>
                  <a:fillRect/>
                </a:stretch>
              </p:blipFill>
              <p:spPr>
                <a:xfrm>
                  <a:off x="3782304" y="2985336"/>
                  <a:ext cx="40860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3" name="Ink 22">
                  <a:extLst>
                    <a:ext uri="{FF2B5EF4-FFF2-40B4-BE49-F238E27FC236}">
                      <a16:creationId xmlns:a16="http://schemas.microsoft.com/office/drawing/2014/main" id="{DB1BAF65-5032-7624-E81B-3C2298C58A26}"/>
                    </a:ext>
                  </a:extLst>
                </p14:cNvPr>
                <p14:cNvContentPartPr/>
                <p14:nvPr/>
              </p14:nvContentPartPr>
              <p14:xfrm>
                <a:off x="4114584" y="3123576"/>
                <a:ext cx="48600" cy="124560"/>
              </p14:xfrm>
            </p:contentPart>
          </mc:Choice>
          <mc:Fallback>
            <p:pic>
              <p:nvPicPr>
                <p:cNvPr id="23" name="Ink 22">
                  <a:extLst>
                    <a:ext uri="{FF2B5EF4-FFF2-40B4-BE49-F238E27FC236}">
                      <a16:creationId xmlns:a16="http://schemas.microsoft.com/office/drawing/2014/main" id="{DB1BAF65-5032-7624-E81B-3C2298C58A26}"/>
                    </a:ext>
                  </a:extLst>
                </p:cNvPr>
                <p:cNvPicPr/>
                <p:nvPr/>
              </p:nvPicPr>
              <p:blipFill>
                <a:blip r:embed="rId14"/>
                <a:stretch>
                  <a:fillRect/>
                </a:stretch>
              </p:blipFill>
              <p:spPr>
                <a:xfrm>
                  <a:off x="4096584" y="3105936"/>
                  <a:ext cx="84240" cy="160200"/>
                </a:xfrm>
                <a:prstGeom prst="rect">
                  <a:avLst/>
                </a:prstGeom>
              </p:spPr>
            </p:pic>
          </mc:Fallback>
        </mc:AlternateContent>
      </p:grpSp>
      <p:grpSp>
        <p:nvGrpSpPr>
          <p:cNvPr id="27" name="Group 26">
            <a:extLst>
              <a:ext uri="{FF2B5EF4-FFF2-40B4-BE49-F238E27FC236}">
                <a16:creationId xmlns:a16="http://schemas.microsoft.com/office/drawing/2014/main" id="{F1EFED0F-BFDD-6389-F07A-33F0FEA677DF}"/>
              </a:ext>
            </a:extLst>
          </p:cNvPr>
          <p:cNvGrpSpPr/>
          <p:nvPr/>
        </p:nvGrpSpPr>
        <p:grpSpPr>
          <a:xfrm>
            <a:off x="8494704" y="2151936"/>
            <a:ext cx="676440" cy="376200"/>
            <a:chOff x="8494704" y="2151936"/>
            <a:chExt cx="676440" cy="376200"/>
          </a:xfrm>
        </p:grpSpPr>
        <mc:AlternateContent xmlns:mc="http://schemas.openxmlformats.org/markup-compatibility/2006">
          <mc:Choice xmlns:p14="http://schemas.microsoft.com/office/powerpoint/2010/main" Requires="p14">
            <p:contentPart p14:bwMode="auto" r:id="rId15">
              <p14:nvContentPartPr>
                <p14:cNvPr id="25" name="Ink 24">
                  <a:extLst>
                    <a:ext uri="{FF2B5EF4-FFF2-40B4-BE49-F238E27FC236}">
                      <a16:creationId xmlns:a16="http://schemas.microsoft.com/office/drawing/2014/main" id="{52A2D8D3-B68E-A632-72C0-8FE8BEAE1BF1}"/>
                    </a:ext>
                  </a:extLst>
                </p14:cNvPr>
                <p14:cNvContentPartPr/>
                <p14:nvPr/>
              </p14:nvContentPartPr>
              <p14:xfrm>
                <a:off x="8494704" y="2151936"/>
                <a:ext cx="406800" cy="376200"/>
              </p14:xfrm>
            </p:contentPart>
          </mc:Choice>
          <mc:Fallback>
            <p:pic>
              <p:nvPicPr>
                <p:cNvPr id="25" name="Ink 24">
                  <a:extLst>
                    <a:ext uri="{FF2B5EF4-FFF2-40B4-BE49-F238E27FC236}">
                      <a16:creationId xmlns:a16="http://schemas.microsoft.com/office/drawing/2014/main" id="{52A2D8D3-B68E-A632-72C0-8FE8BEAE1BF1}"/>
                    </a:ext>
                  </a:extLst>
                </p:cNvPr>
                <p:cNvPicPr/>
                <p:nvPr/>
              </p:nvPicPr>
              <p:blipFill>
                <a:blip r:embed="rId16"/>
                <a:stretch>
                  <a:fillRect/>
                </a:stretch>
              </p:blipFill>
              <p:spPr>
                <a:xfrm>
                  <a:off x="8477064" y="2134296"/>
                  <a:ext cx="442440" cy="4118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6" name="Ink 25">
                  <a:extLst>
                    <a:ext uri="{FF2B5EF4-FFF2-40B4-BE49-F238E27FC236}">
                      <a16:creationId xmlns:a16="http://schemas.microsoft.com/office/drawing/2014/main" id="{B7DA9476-13F9-9E53-ED27-2FC52DC46413}"/>
                    </a:ext>
                  </a:extLst>
                </p14:cNvPr>
                <p14:cNvContentPartPr/>
                <p14:nvPr/>
              </p14:nvContentPartPr>
              <p14:xfrm>
                <a:off x="8953344" y="2370096"/>
                <a:ext cx="217800" cy="135000"/>
              </p14:xfrm>
            </p:contentPart>
          </mc:Choice>
          <mc:Fallback>
            <p:pic>
              <p:nvPicPr>
                <p:cNvPr id="26" name="Ink 25">
                  <a:extLst>
                    <a:ext uri="{FF2B5EF4-FFF2-40B4-BE49-F238E27FC236}">
                      <a16:creationId xmlns:a16="http://schemas.microsoft.com/office/drawing/2014/main" id="{B7DA9476-13F9-9E53-ED27-2FC52DC46413}"/>
                    </a:ext>
                  </a:extLst>
                </p:cNvPr>
                <p:cNvPicPr/>
                <p:nvPr/>
              </p:nvPicPr>
              <p:blipFill>
                <a:blip r:embed="rId18"/>
                <a:stretch>
                  <a:fillRect/>
                </a:stretch>
              </p:blipFill>
              <p:spPr>
                <a:xfrm>
                  <a:off x="8935704" y="2352096"/>
                  <a:ext cx="253440" cy="170640"/>
                </a:xfrm>
                <a:prstGeom prst="rect">
                  <a:avLst/>
                </a:prstGeom>
              </p:spPr>
            </p:pic>
          </mc:Fallback>
        </mc:AlternateContent>
      </p:grpSp>
      <p:grpSp>
        <p:nvGrpSpPr>
          <p:cNvPr id="30" name="Group 29">
            <a:extLst>
              <a:ext uri="{FF2B5EF4-FFF2-40B4-BE49-F238E27FC236}">
                <a16:creationId xmlns:a16="http://schemas.microsoft.com/office/drawing/2014/main" id="{188948F6-F20F-DB68-B969-AA40A8040F56}"/>
              </a:ext>
            </a:extLst>
          </p:cNvPr>
          <p:cNvGrpSpPr/>
          <p:nvPr/>
        </p:nvGrpSpPr>
        <p:grpSpPr>
          <a:xfrm>
            <a:off x="8625024" y="2855016"/>
            <a:ext cx="510840" cy="249480"/>
            <a:chOff x="8625024" y="2855016"/>
            <a:chExt cx="510840" cy="249480"/>
          </a:xfrm>
        </p:grpSpPr>
        <mc:AlternateContent xmlns:mc="http://schemas.openxmlformats.org/markup-compatibility/2006">
          <mc:Choice xmlns:p14="http://schemas.microsoft.com/office/powerpoint/2010/main" Requires="p14">
            <p:contentPart p14:bwMode="auto" r:id="rId19">
              <p14:nvContentPartPr>
                <p14:cNvPr id="28" name="Ink 27">
                  <a:extLst>
                    <a:ext uri="{FF2B5EF4-FFF2-40B4-BE49-F238E27FC236}">
                      <a16:creationId xmlns:a16="http://schemas.microsoft.com/office/drawing/2014/main" id="{BFDC9D1D-681D-B68C-3811-B9A3F51201FB}"/>
                    </a:ext>
                  </a:extLst>
                </p14:cNvPr>
                <p14:cNvContentPartPr/>
                <p14:nvPr/>
              </p14:nvContentPartPr>
              <p14:xfrm>
                <a:off x="8625024" y="2855016"/>
                <a:ext cx="383400" cy="167040"/>
              </p14:xfrm>
            </p:contentPart>
          </mc:Choice>
          <mc:Fallback>
            <p:pic>
              <p:nvPicPr>
                <p:cNvPr id="28" name="Ink 27">
                  <a:extLst>
                    <a:ext uri="{FF2B5EF4-FFF2-40B4-BE49-F238E27FC236}">
                      <a16:creationId xmlns:a16="http://schemas.microsoft.com/office/drawing/2014/main" id="{BFDC9D1D-681D-B68C-3811-B9A3F51201FB}"/>
                    </a:ext>
                  </a:extLst>
                </p:cNvPr>
                <p:cNvPicPr/>
                <p:nvPr/>
              </p:nvPicPr>
              <p:blipFill>
                <a:blip r:embed="rId20"/>
                <a:stretch>
                  <a:fillRect/>
                </a:stretch>
              </p:blipFill>
              <p:spPr>
                <a:xfrm>
                  <a:off x="8607024" y="2837016"/>
                  <a:ext cx="41904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9" name="Ink 28">
                  <a:extLst>
                    <a:ext uri="{FF2B5EF4-FFF2-40B4-BE49-F238E27FC236}">
                      <a16:creationId xmlns:a16="http://schemas.microsoft.com/office/drawing/2014/main" id="{3224F413-E6AB-4492-09F3-20A2F6937B1A}"/>
                    </a:ext>
                  </a:extLst>
                </p14:cNvPr>
                <p14:cNvContentPartPr/>
                <p14:nvPr/>
              </p14:nvContentPartPr>
              <p14:xfrm>
                <a:off x="8884944" y="2995416"/>
                <a:ext cx="250920" cy="109080"/>
              </p14:xfrm>
            </p:contentPart>
          </mc:Choice>
          <mc:Fallback>
            <p:pic>
              <p:nvPicPr>
                <p:cNvPr id="29" name="Ink 28">
                  <a:extLst>
                    <a:ext uri="{FF2B5EF4-FFF2-40B4-BE49-F238E27FC236}">
                      <a16:creationId xmlns:a16="http://schemas.microsoft.com/office/drawing/2014/main" id="{3224F413-E6AB-4492-09F3-20A2F6937B1A}"/>
                    </a:ext>
                  </a:extLst>
                </p:cNvPr>
                <p:cNvPicPr/>
                <p:nvPr/>
              </p:nvPicPr>
              <p:blipFill>
                <a:blip r:embed="rId22"/>
                <a:stretch>
                  <a:fillRect/>
                </a:stretch>
              </p:blipFill>
              <p:spPr>
                <a:xfrm>
                  <a:off x="8866944" y="2977776"/>
                  <a:ext cx="286560" cy="144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3">
            <p14:nvContentPartPr>
              <p14:cNvPr id="32" name="Ink 31">
                <a:extLst>
                  <a:ext uri="{FF2B5EF4-FFF2-40B4-BE49-F238E27FC236}">
                    <a16:creationId xmlns:a16="http://schemas.microsoft.com/office/drawing/2014/main" id="{E041AE6A-550F-CCB7-3675-170938B13731}"/>
                  </a:ext>
                </a:extLst>
              </p14:cNvPr>
              <p14:cNvContentPartPr/>
              <p14:nvPr/>
            </p14:nvContentPartPr>
            <p14:xfrm rot="1665270">
              <a:off x="2679340" y="6374109"/>
              <a:ext cx="9208" cy="84414"/>
            </p14:xfrm>
          </p:contentPart>
        </mc:Choice>
        <mc:Fallback>
          <p:pic>
            <p:nvPicPr>
              <p:cNvPr id="32" name="Ink 31">
                <a:extLst>
                  <a:ext uri="{FF2B5EF4-FFF2-40B4-BE49-F238E27FC236}">
                    <a16:creationId xmlns:a16="http://schemas.microsoft.com/office/drawing/2014/main" id="{E041AE6A-550F-CCB7-3675-170938B13731}"/>
                  </a:ext>
                </a:extLst>
              </p:cNvPr>
              <p:cNvPicPr/>
              <p:nvPr/>
            </p:nvPicPr>
            <p:blipFill>
              <a:blip r:embed="rId24"/>
              <a:stretch>
                <a:fillRect/>
              </a:stretch>
            </p:blipFill>
            <p:spPr>
              <a:xfrm rot="1665270">
                <a:off x="2658413" y="6355838"/>
                <a:ext cx="50644" cy="120591"/>
              </a:xfrm>
              <a:prstGeom prst="rect">
                <a:avLst/>
              </a:prstGeom>
            </p:spPr>
          </p:pic>
        </mc:Fallback>
      </mc:AlternateContent>
      <p:sp>
        <p:nvSpPr>
          <p:cNvPr id="33" name="Freeform: Shape 32">
            <a:extLst>
              <a:ext uri="{FF2B5EF4-FFF2-40B4-BE49-F238E27FC236}">
                <a16:creationId xmlns:a16="http://schemas.microsoft.com/office/drawing/2014/main" id="{8206B408-240D-50B2-F22C-875E40EB2BFF}"/>
              </a:ext>
            </a:extLst>
          </p:cNvPr>
          <p:cNvSpPr/>
          <p:nvPr/>
        </p:nvSpPr>
        <p:spPr>
          <a:xfrm>
            <a:off x="8641080" y="52414"/>
            <a:ext cx="1217142" cy="539496"/>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923492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6A788-163A-441B-854F-89D3A0DE8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0C37C6-A834-3464-843E-3F5AB966AE3F}"/>
              </a:ext>
            </a:extLst>
          </p:cNvPr>
          <p:cNvSpPr>
            <a:spLocks noGrp="1"/>
          </p:cNvSpPr>
          <p:nvPr>
            <p:ph type="title"/>
          </p:nvPr>
        </p:nvSpPr>
        <p:spPr>
          <a:xfrm>
            <a:off x="838200" y="2705989"/>
            <a:ext cx="10515600" cy="1325563"/>
          </a:xfrm>
        </p:spPr>
        <p:txBody>
          <a:bodyPr>
            <a:normAutofit/>
          </a:bodyPr>
          <a:lstStyle/>
          <a:p>
            <a:pPr algn="ctr"/>
            <a:r>
              <a:rPr lang="en-US" sz="6600" dirty="0"/>
              <a:t>Applications</a:t>
            </a:r>
          </a:p>
        </p:txBody>
      </p:sp>
      <p:sp>
        <p:nvSpPr>
          <p:cNvPr id="3" name="Title 1">
            <a:extLst>
              <a:ext uri="{FF2B5EF4-FFF2-40B4-BE49-F238E27FC236}">
                <a16:creationId xmlns:a16="http://schemas.microsoft.com/office/drawing/2014/main" id="{260AA92F-17B0-EA7C-1EAE-12F957912375}"/>
              </a:ext>
            </a:extLst>
          </p:cNvPr>
          <p:cNvSpPr txBox="1">
            <a:spLocks/>
          </p:cNvSpPr>
          <p:nvPr/>
        </p:nvSpPr>
        <p:spPr>
          <a:xfrm>
            <a:off x="301752" y="98625"/>
            <a:ext cx="11052048" cy="6041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a:lstStyle>
          <a:p>
            <a:r>
              <a:rPr lang="en-US" sz="2800" b="1" dirty="0"/>
              <a:t>Normal Distribution</a:t>
            </a:r>
            <a:endParaRPr lang="en-US" sz="2800" dirty="0"/>
          </a:p>
        </p:txBody>
      </p:sp>
      <p:sp>
        <p:nvSpPr>
          <p:cNvPr id="6" name="Freeform: Shape 5">
            <a:extLst>
              <a:ext uri="{FF2B5EF4-FFF2-40B4-BE49-F238E27FC236}">
                <a16:creationId xmlns:a16="http://schemas.microsoft.com/office/drawing/2014/main" id="{6D7F8D61-790B-C0EE-71DD-B8EE1A6F440D}"/>
              </a:ext>
            </a:extLst>
          </p:cNvPr>
          <p:cNvSpPr/>
          <p:nvPr/>
        </p:nvSpPr>
        <p:spPr>
          <a:xfrm>
            <a:off x="8641080" y="52414"/>
            <a:ext cx="1217142" cy="539496"/>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952842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E6F21-3C6F-42E8-A413-F13DE7992430}"/>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6B9EDEE-A16F-DD41-1473-99C5C5F94886}"/>
                  </a:ext>
                </a:extLst>
              </p:cNvPr>
              <p:cNvSpPr txBox="1"/>
              <p:nvPr/>
            </p:nvSpPr>
            <p:spPr>
              <a:xfrm>
                <a:off x="96012" y="955423"/>
                <a:ext cx="11138916" cy="5940088"/>
              </a:xfrm>
              <a:prstGeom prst="rect">
                <a:avLst/>
              </a:prstGeom>
              <a:noFill/>
            </p:spPr>
            <p:txBody>
              <a:bodyPr wrap="square">
                <a:spAutoFit/>
              </a:bodyPr>
              <a:lstStyle/>
              <a:p>
                <a:r>
                  <a:rPr lang="en-US" sz="2000" b="1" dirty="0">
                    <a:solidFill>
                      <a:schemeClr val="accent6">
                        <a:lumMod val="60000"/>
                        <a:lumOff val="40000"/>
                      </a:schemeClr>
                    </a:solidFill>
                  </a:rPr>
                  <a:t>Problem:</a:t>
                </a:r>
                <a:r>
                  <a:rPr lang="en-US" sz="2000" dirty="0">
                    <a:solidFill>
                      <a:schemeClr val="accent6">
                        <a:lumMod val="60000"/>
                        <a:lumOff val="40000"/>
                      </a:schemeClr>
                    </a:solidFill>
                  </a:rPr>
                  <a:t> Adult male heights, X, in a city are approximately </a:t>
                </a:r>
                <a:r>
                  <a:rPr lang="en-US" sz="2000" b="1" dirty="0">
                    <a:solidFill>
                      <a:schemeClr val="accent6">
                        <a:lumMod val="60000"/>
                        <a:lumOff val="40000"/>
                      </a:schemeClr>
                    </a:solidFill>
                  </a:rPr>
                  <a:t>normally distributed</a:t>
                </a:r>
                <a:r>
                  <a:rPr lang="en-US" sz="2000" dirty="0">
                    <a:solidFill>
                      <a:schemeClr val="accent6">
                        <a:lumMod val="60000"/>
                        <a:lumOff val="40000"/>
                      </a:schemeClr>
                    </a:solidFill>
                  </a:rPr>
                  <a:t> with mean </a:t>
                </a:r>
                <a14:m>
                  <m:oMath xmlns:m="http://schemas.openxmlformats.org/officeDocument/2006/math">
                    <m:r>
                      <a:rPr lang="en-US" sz="2000" i="1">
                        <a:solidFill>
                          <a:schemeClr val="accent6">
                            <a:lumMod val="60000"/>
                            <a:lumOff val="40000"/>
                          </a:schemeClr>
                        </a:solidFill>
                        <a:latin typeface="Cambria Math" panose="02040503050406030204" pitchFamily="18" charset="0"/>
                      </a:rPr>
                      <m:t>𝜇</m:t>
                    </m:r>
                    <m:r>
                      <a:rPr lang="en-US" sz="2000">
                        <a:solidFill>
                          <a:schemeClr val="accent6">
                            <a:lumMod val="60000"/>
                            <a:lumOff val="40000"/>
                          </a:schemeClr>
                        </a:solidFill>
                        <a:latin typeface="Cambria Math" panose="02040503050406030204" pitchFamily="18" charset="0"/>
                      </a:rPr>
                      <m:t>=</m:t>
                    </m:r>
                    <m:r>
                      <a:rPr lang="en-US" sz="2000">
                        <a:solidFill>
                          <a:schemeClr val="accent6">
                            <a:lumMod val="60000"/>
                            <a:lumOff val="40000"/>
                          </a:schemeClr>
                        </a:solidFill>
                        <a:latin typeface="Cambria Math" panose="02040503050406030204" pitchFamily="18" charset="0"/>
                      </a:rPr>
                      <m:t>170</m:t>
                    </m:r>
                    <m:r>
                      <m:rPr>
                        <m:nor/>
                      </m:rPr>
                      <a:rPr lang="en-US" sz="2000" i="1">
                        <a:solidFill>
                          <a:schemeClr val="accent6">
                            <a:lumMod val="60000"/>
                            <a:lumOff val="40000"/>
                          </a:schemeClr>
                        </a:solidFill>
                      </a:rPr>
                      <m:t> </m:t>
                    </m:r>
                    <m:r>
                      <m:rPr>
                        <m:nor/>
                      </m:rPr>
                      <a:rPr lang="en-US" sz="2000" i="1">
                        <a:solidFill>
                          <a:schemeClr val="accent6">
                            <a:lumMod val="60000"/>
                            <a:lumOff val="40000"/>
                          </a:schemeClr>
                        </a:solidFill>
                      </a:rPr>
                      <m:t>cm</m:t>
                    </m:r>
                    <m:r>
                      <m:rPr>
                        <m:nor/>
                      </m:rPr>
                      <a:rPr lang="en-US" sz="2000" b="0" i="1" smtClean="0">
                        <a:solidFill>
                          <a:schemeClr val="accent6">
                            <a:lumMod val="60000"/>
                            <a:lumOff val="40000"/>
                          </a:schemeClr>
                        </a:solidFill>
                      </a:rPr>
                      <m:t> </m:t>
                    </m:r>
                  </m:oMath>
                </a14:m>
                <a:r>
                  <a:rPr lang="en-US" sz="2000" dirty="0">
                    <a:solidFill>
                      <a:schemeClr val="accent6">
                        <a:lumMod val="60000"/>
                        <a:lumOff val="40000"/>
                      </a:schemeClr>
                    </a:solidFill>
                  </a:rPr>
                  <a:t>and standard deviation </a:t>
                </a:r>
                <a14:m>
                  <m:oMath xmlns:m="http://schemas.openxmlformats.org/officeDocument/2006/math">
                    <m:r>
                      <a:rPr lang="en-US" sz="2000" i="1">
                        <a:solidFill>
                          <a:schemeClr val="accent6">
                            <a:lumMod val="60000"/>
                            <a:lumOff val="40000"/>
                          </a:schemeClr>
                        </a:solidFill>
                        <a:latin typeface="Cambria Math" panose="02040503050406030204" pitchFamily="18" charset="0"/>
                      </a:rPr>
                      <m:t>𝜎</m:t>
                    </m:r>
                    <m:r>
                      <a:rPr lang="en-US" sz="2000">
                        <a:solidFill>
                          <a:schemeClr val="accent6">
                            <a:lumMod val="60000"/>
                            <a:lumOff val="40000"/>
                          </a:schemeClr>
                        </a:solidFill>
                        <a:latin typeface="Cambria Math" panose="02040503050406030204" pitchFamily="18" charset="0"/>
                      </a:rPr>
                      <m:t>=</m:t>
                    </m:r>
                    <m:r>
                      <m:rPr>
                        <m:nor/>
                      </m:rPr>
                      <a:rPr lang="en-US" sz="2000" b="0" i="1" smtClean="0">
                        <a:solidFill>
                          <a:schemeClr val="accent6">
                            <a:lumMod val="60000"/>
                            <a:lumOff val="40000"/>
                          </a:schemeClr>
                        </a:solidFill>
                        <a:latin typeface="Cambria Math" panose="02040503050406030204" pitchFamily="18" charset="0"/>
                      </a:rPr>
                      <m:t>8</m:t>
                    </m:r>
                    <m:r>
                      <m:rPr>
                        <m:nor/>
                      </m:rPr>
                      <a:rPr lang="en-US" sz="2000" i="1">
                        <a:solidFill>
                          <a:schemeClr val="accent6">
                            <a:lumMod val="60000"/>
                            <a:lumOff val="40000"/>
                          </a:schemeClr>
                        </a:solidFill>
                      </a:rPr>
                      <m:t> </m:t>
                    </m:r>
                    <m:r>
                      <m:rPr>
                        <m:nor/>
                      </m:rPr>
                      <a:rPr lang="en-US" sz="2000" i="1">
                        <a:solidFill>
                          <a:schemeClr val="accent6">
                            <a:lumMod val="60000"/>
                            <a:lumOff val="40000"/>
                          </a:schemeClr>
                        </a:solidFill>
                      </a:rPr>
                      <m:t>cm</m:t>
                    </m:r>
                  </m:oMath>
                </a14:m>
                <a:r>
                  <a:rPr lang="en-US" sz="2000" dirty="0">
                    <a:solidFill>
                      <a:schemeClr val="accent6">
                        <a:lumMod val="60000"/>
                        <a:lumOff val="40000"/>
                      </a:schemeClr>
                    </a:solidFill>
                  </a:rPr>
                  <a:t>. If you randomly pick an adult, then what is the probability that his</a:t>
                </a:r>
              </a:p>
              <a:p>
                <a:pPr marL="342900" indent="-342900">
                  <a:buFontTx/>
                  <a:buAutoNum type="alphaLcParenR"/>
                </a:pPr>
                <a:r>
                  <a:rPr lang="en-US" sz="2000" dirty="0">
                    <a:solidFill>
                      <a:schemeClr val="accent6">
                        <a:lumMod val="60000"/>
                        <a:lumOff val="40000"/>
                      </a:schemeClr>
                    </a:solidFill>
                  </a:rPr>
                  <a:t>Height is less than 155 cm;  </a:t>
                </a:r>
              </a:p>
              <a:p>
                <a:pPr marL="342900" indent="-342900">
                  <a:buFontTx/>
                  <a:buAutoNum type="alphaLcParenR"/>
                </a:pPr>
                <a:r>
                  <a:rPr lang="en-US" sz="2000" dirty="0">
                    <a:solidFill>
                      <a:schemeClr val="accent6">
                        <a:lumMod val="60000"/>
                        <a:lumOff val="40000"/>
                      </a:schemeClr>
                    </a:solidFill>
                  </a:rPr>
                  <a:t>Height is greater than 190 cm;</a:t>
                </a:r>
              </a:p>
              <a:p>
                <a:pPr marL="342900" indent="-342900">
                  <a:buFontTx/>
                  <a:buAutoNum type="alphaLcParenR"/>
                </a:pPr>
                <a:r>
                  <a:rPr lang="en-US" sz="2000" dirty="0">
                    <a:solidFill>
                      <a:schemeClr val="accent6">
                        <a:lumMod val="60000"/>
                        <a:lumOff val="40000"/>
                      </a:schemeClr>
                    </a:solidFill>
                  </a:rPr>
                  <a:t>Height is between 160 cm and 180 cm;</a:t>
                </a:r>
              </a:p>
              <a:p>
                <a:pPr marL="342900" indent="-342900">
                  <a:buFontTx/>
                  <a:buAutoNum type="alphaLcParenR"/>
                </a:pPr>
                <a:r>
                  <a:rPr lang="en-US" sz="2000" dirty="0">
                    <a:solidFill>
                      <a:schemeClr val="accent6">
                        <a:lumMod val="60000"/>
                        <a:lumOff val="40000"/>
                      </a:schemeClr>
                    </a:solidFill>
                  </a:rPr>
                  <a:t>Height is exactly 190 cm ?</a:t>
                </a:r>
              </a:p>
              <a:p>
                <a:pPr marL="342900" indent="-342900">
                  <a:buFontTx/>
                  <a:buAutoNum type="alphaLcParenR"/>
                </a:pPr>
                <a:endParaRPr lang="en-US" sz="2000" dirty="0">
                  <a:solidFill>
                    <a:schemeClr val="accent6">
                      <a:lumMod val="60000"/>
                      <a:lumOff val="40000"/>
                    </a:schemeClr>
                  </a:solidFill>
                </a:endParaRPr>
              </a:p>
              <a:p>
                <a:r>
                  <a:rPr lang="en-US" sz="2000" dirty="0">
                    <a:solidFill>
                      <a:schemeClr val="accent6">
                        <a:lumMod val="60000"/>
                        <a:lumOff val="40000"/>
                      </a:schemeClr>
                    </a:solidFill>
                  </a:rPr>
                  <a:t>Ans:  It’s given that height is normally distributed. So, to answer</a:t>
                </a:r>
              </a:p>
              <a:p>
                <a:r>
                  <a:rPr lang="en-US" sz="2000" dirty="0">
                    <a:solidFill>
                      <a:schemeClr val="accent6">
                        <a:lumMod val="60000"/>
                        <a:lumOff val="40000"/>
                      </a:schemeClr>
                    </a:solidFill>
                  </a:rPr>
                  <a:t> above we convert above X values into z-score and then we </a:t>
                </a:r>
              </a:p>
              <a:p>
                <a:r>
                  <a:rPr lang="en-US" sz="2000" dirty="0">
                    <a:solidFill>
                      <a:schemeClr val="accent6">
                        <a:lumMod val="60000"/>
                        <a:lumOff val="40000"/>
                      </a:schemeClr>
                    </a:solidFill>
                  </a:rPr>
                  <a:t>calculate their probability using z-table.</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a) P(Height is less than 155 cm) = ? </a:t>
                </a:r>
              </a:p>
              <a:p>
                <a:r>
                  <a:rPr lang="en-US" sz="2000" dirty="0">
                    <a:solidFill>
                      <a:schemeClr val="accent6">
                        <a:lumMod val="60000"/>
                        <a:lumOff val="40000"/>
                      </a:schemeClr>
                    </a:solidFill>
                  </a:rPr>
                  <a:t>X = 155 cm  -&gt; z-score =  (X - </a:t>
                </a:r>
                <a14:m>
                  <m:oMath xmlns:m="http://schemas.openxmlformats.org/officeDocument/2006/math">
                    <m:r>
                      <a:rPr lang="en-US" sz="2000" i="1">
                        <a:solidFill>
                          <a:schemeClr val="accent6">
                            <a:lumMod val="60000"/>
                            <a:lumOff val="40000"/>
                          </a:schemeClr>
                        </a:solidFill>
                        <a:latin typeface="Cambria Math" panose="02040503050406030204" pitchFamily="18" charset="0"/>
                      </a:rPr>
                      <m:t>𝜇</m:t>
                    </m:r>
                    <m:r>
                      <a:rPr lang="en-US" sz="2000" i="1">
                        <a:solidFill>
                          <a:schemeClr val="accent6">
                            <a:lumMod val="60000"/>
                            <a:lumOff val="40000"/>
                          </a:schemeClr>
                        </a:solidFill>
                        <a:latin typeface="Cambria Math" panose="02040503050406030204" pitchFamily="18" charset="0"/>
                      </a:rPr>
                      <m:t>)</m:t>
                    </m:r>
                  </m:oMath>
                </a14:m>
                <a:r>
                  <a:rPr lang="en-US" sz="2000" dirty="0">
                    <a:solidFill>
                      <a:schemeClr val="accent6">
                        <a:lumMod val="60000"/>
                        <a:lumOff val="40000"/>
                      </a:schemeClr>
                    </a:solidFill>
                  </a:rPr>
                  <a:t> / </a:t>
                </a:r>
                <a14:m>
                  <m:oMath xmlns:m="http://schemas.openxmlformats.org/officeDocument/2006/math">
                    <m:r>
                      <a:rPr lang="en-US" sz="2000" i="1">
                        <a:solidFill>
                          <a:schemeClr val="accent6">
                            <a:lumMod val="60000"/>
                            <a:lumOff val="40000"/>
                          </a:schemeClr>
                        </a:solidFill>
                        <a:latin typeface="Cambria Math" panose="02040503050406030204" pitchFamily="18" charset="0"/>
                      </a:rPr>
                      <m:t>𝜎</m:t>
                    </m:r>
                  </m:oMath>
                </a14:m>
                <a:r>
                  <a:rPr lang="en-US" sz="2000" dirty="0">
                    <a:solidFill>
                      <a:schemeClr val="accent6">
                        <a:lumMod val="60000"/>
                        <a:lumOff val="40000"/>
                      </a:schemeClr>
                    </a:solidFill>
                  </a:rPr>
                  <a:t> = (155 - 170) / 8 = - 1.88</a:t>
                </a:r>
              </a:p>
              <a:p>
                <a:pPr marL="342900" indent="-342900">
                  <a:buAutoNum type="alphaLcParenR"/>
                </a:pPr>
                <a:endParaRPr lang="en-US" sz="2000" dirty="0">
                  <a:solidFill>
                    <a:schemeClr val="accent6">
                      <a:lumMod val="60000"/>
                      <a:lumOff val="40000"/>
                    </a:schemeClr>
                  </a:solidFill>
                </a:endParaRPr>
              </a:p>
              <a:p>
                <a:r>
                  <a:rPr lang="en-US" sz="2000" dirty="0">
                    <a:solidFill>
                      <a:schemeClr val="accent6">
                        <a:lumMod val="60000"/>
                        <a:lumOff val="40000"/>
                      </a:schemeClr>
                    </a:solidFill>
                  </a:rPr>
                  <a:t>P( X &lt; 155 ) </a:t>
                </a:r>
              </a:p>
              <a:p>
                <a:r>
                  <a:rPr lang="en-US" sz="2000" dirty="0">
                    <a:solidFill>
                      <a:schemeClr val="accent6">
                        <a:lumMod val="60000"/>
                        <a:lumOff val="40000"/>
                      </a:schemeClr>
                    </a:solidFill>
                  </a:rPr>
                  <a:t>= P ( z &lt; -1.88)     ( this is area under the curve and now use z-table )</a:t>
                </a:r>
              </a:p>
              <a:p>
                <a:r>
                  <a:rPr lang="en-US" sz="2000" dirty="0">
                    <a:solidFill>
                      <a:schemeClr val="accent6">
                        <a:lumMod val="60000"/>
                        <a:lumOff val="40000"/>
                      </a:schemeClr>
                    </a:solidFill>
                  </a:rPr>
                  <a:t>= 0.0301 </a:t>
                </a:r>
              </a:p>
              <a:p>
                <a:r>
                  <a:rPr lang="en-US" sz="2000" dirty="0">
                    <a:solidFill>
                      <a:schemeClr val="accent6">
                        <a:lumMod val="60000"/>
                        <a:lumOff val="40000"/>
                      </a:schemeClr>
                    </a:solidFill>
                  </a:rPr>
                  <a:t>= 3.01 %</a:t>
                </a:r>
              </a:p>
            </p:txBody>
          </p:sp>
        </mc:Choice>
        <mc:Fallback>
          <p:sp>
            <p:nvSpPr>
              <p:cNvPr id="13" name="TextBox 12">
                <a:extLst>
                  <a:ext uri="{FF2B5EF4-FFF2-40B4-BE49-F238E27FC236}">
                    <a16:creationId xmlns:a16="http://schemas.microsoft.com/office/drawing/2014/main" id="{46B9EDEE-A16F-DD41-1473-99C5C5F94886}"/>
                  </a:ext>
                </a:extLst>
              </p:cNvPr>
              <p:cNvSpPr txBox="1">
                <a:spLocks noRot="1" noChangeAspect="1" noMove="1" noResize="1" noEditPoints="1" noAdjustHandles="1" noChangeArrowheads="1" noChangeShapeType="1" noTextEdit="1"/>
              </p:cNvSpPr>
              <p:nvPr/>
            </p:nvSpPr>
            <p:spPr>
              <a:xfrm>
                <a:off x="96012" y="955423"/>
                <a:ext cx="11138916" cy="5940088"/>
              </a:xfrm>
              <a:prstGeom prst="rect">
                <a:avLst/>
              </a:prstGeom>
              <a:blipFill>
                <a:blip r:embed="rId2"/>
                <a:stretch>
                  <a:fillRect l="-602" t="-616" b="-924"/>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6BD816A0-6841-66C8-76A0-41A479CA1CAE}"/>
              </a:ext>
            </a:extLst>
          </p:cNvPr>
          <p:cNvPicPr>
            <a:picLocks noChangeAspect="1"/>
          </p:cNvPicPr>
          <p:nvPr/>
        </p:nvPicPr>
        <p:blipFill>
          <a:blip r:embed="rId3"/>
          <a:stretch>
            <a:fillRect/>
          </a:stretch>
        </p:blipFill>
        <p:spPr>
          <a:xfrm>
            <a:off x="10914354" y="1655213"/>
            <a:ext cx="878891" cy="1126783"/>
          </a:xfrm>
          <a:prstGeom prst="rect">
            <a:avLst/>
          </a:prstGeom>
        </p:spPr>
      </p:pic>
      <p:pic>
        <p:nvPicPr>
          <p:cNvPr id="2" name="Picture 1">
            <a:extLst>
              <a:ext uri="{FF2B5EF4-FFF2-40B4-BE49-F238E27FC236}">
                <a16:creationId xmlns:a16="http://schemas.microsoft.com/office/drawing/2014/main" id="{C14286B4-2532-F23C-72F7-D2161A1058F2}"/>
              </a:ext>
            </a:extLst>
          </p:cNvPr>
          <p:cNvPicPr>
            <a:picLocks noChangeAspect="1"/>
          </p:cNvPicPr>
          <p:nvPr/>
        </p:nvPicPr>
        <p:blipFill>
          <a:blip r:embed="rId4"/>
          <a:stretch>
            <a:fillRect/>
          </a:stretch>
        </p:blipFill>
        <p:spPr>
          <a:xfrm>
            <a:off x="8273796" y="2652209"/>
            <a:ext cx="3729228" cy="3246306"/>
          </a:xfrm>
          <a:prstGeom prst="rect">
            <a:avLst/>
          </a:prstGeom>
        </p:spPr>
      </p:pic>
      <p:sp>
        <p:nvSpPr>
          <p:cNvPr id="3" name="Title 1">
            <a:extLst>
              <a:ext uri="{FF2B5EF4-FFF2-40B4-BE49-F238E27FC236}">
                <a16:creationId xmlns:a16="http://schemas.microsoft.com/office/drawing/2014/main" id="{12824695-68A3-D2E8-7B51-066546778BEB}"/>
              </a:ext>
            </a:extLst>
          </p:cNvPr>
          <p:cNvSpPr txBox="1">
            <a:spLocks/>
          </p:cNvSpPr>
          <p:nvPr/>
        </p:nvSpPr>
        <p:spPr>
          <a:xfrm>
            <a:off x="301752" y="98625"/>
            <a:ext cx="11052048" cy="6041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a:lstStyle>
          <a:p>
            <a:r>
              <a:rPr lang="en-US" sz="2800" b="1" dirty="0"/>
              <a:t>Normal Distribution: Problem</a:t>
            </a:r>
            <a:endParaRPr lang="en-US" sz="2800" dirty="0"/>
          </a:p>
        </p:txBody>
      </p:sp>
      <p:pic>
        <p:nvPicPr>
          <p:cNvPr id="5" name="Picture 4">
            <a:extLst>
              <a:ext uri="{FF2B5EF4-FFF2-40B4-BE49-F238E27FC236}">
                <a16:creationId xmlns:a16="http://schemas.microsoft.com/office/drawing/2014/main" id="{8F68F20C-42B6-D2A2-0A83-591E60A1CFBB}"/>
              </a:ext>
            </a:extLst>
          </p:cNvPr>
          <p:cNvPicPr>
            <a:picLocks noChangeAspect="1"/>
          </p:cNvPicPr>
          <p:nvPr/>
        </p:nvPicPr>
        <p:blipFill>
          <a:blip r:embed="rId5"/>
          <a:stretch>
            <a:fillRect/>
          </a:stretch>
        </p:blipFill>
        <p:spPr>
          <a:xfrm>
            <a:off x="7077456" y="4249507"/>
            <a:ext cx="1196340" cy="629654"/>
          </a:xfrm>
          <a:prstGeom prst="rect">
            <a:avLst/>
          </a:prstGeom>
        </p:spPr>
      </p:pic>
      <p:sp>
        <p:nvSpPr>
          <p:cNvPr id="8" name="Freeform: Shape 7">
            <a:extLst>
              <a:ext uri="{FF2B5EF4-FFF2-40B4-BE49-F238E27FC236}">
                <a16:creationId xmlns:a16="http://schemas.microsoft.com/office/drawing/2014/main" id="{2C323B9D-9BE6-3485-BDC6-04372EDFF2D9}"/>
              </a:ext>
            </a:extLst>
          </p:cNvPr>
          <p:cNvSpPr/>
          <p:nvPr/>
        </p:nvSpPr>
        <p:spPr>
          <a:xfrm>
            <a:off x="8641080" y="52414"/>
            <a:ext cx="1217142" cy="539496"/>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471780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3AD9C-0AC3-E896-EA65-2336B5CDD81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978E98CE-7AC2-4F7F-DA40-9500644E18D3}"/>
                  </a:ext>
                </a:extLst>
              </p:cNvPr>
              <p:cNvSpPr txBox="1"/>
              <p:nvPr/>
            </p:nvSpPr>
            <p:spPr>
              <a:xfrm>
                <a:off x="96012" y="1284607"/>
                <a:ext cx="10108692" cy="3170099"/>
              </a:xfrm>
              <a:prstGeom prst="rect">
                <a:avLst/>
              </a:prstGeom>
              <a:noFill/>
            </p:spPr>
            <p:txBody>
              <a:bodyPr wrap="square">
                <a:spAutoFit/>
              </a:bodyPr>
              <a:lstStyle/>
              <a:p>
                <a:r>
                  <a:rPr lang="en-US" sz="2000" dirty="0">
                    <a:solidFill>
                      <a:schemeClr val="accent6">
                        <a:lumMod val="60000"/>
                        <a:lumOff val="40000"/>
                      </a:schemeClr>
                    </a:solidFill>
                  </a:rPr>
                  <a:t>b) P(Height is greater than 190 cm) = ?</a:t>
                </a:r>
              </a:p>
              <a:p>
                <a:r>
                  <a:rPr lang="en-US" sz="2000" dirty="0">
                    <a:solidFill>
                      <a:schemeClr val="accent6">
                        <a:lumMod val="60000"/>
                        <a:lumOff val="40000"/>
                      </a:schemeClr>
                    </a:solidFill>
                  </a:rPr>
                  <a:t> </a:t>
                </a:r>
              </a:p>
              <a:p>
                <a:r>
                  <a:rPr lang="en-US" sz="2000" dirty="0">
                    <a:solidFill>
                      <a:schemeClr val="accent6">
                        <a:lumMod val="60000"/>
                        <a:lumOff val="40000"/>
                      </a:schemeClr>
                    </a:solidFill>
                  </a:rPr>
                  <a:t>X = 190 cm  -&gt; z-score = (X - </a:t>
                </a:r>
                <a14:m>
                  <m:oMath xmlns:m="http://schemas.openxmlformats.org/officeDocument/2006/math">
                    <m:r>
                      <a:rPr lang="en-US" sz="2000" i="1">
                        <a:solidFill>
                          <a:schemeClr val="accent6">
                            <a:lumMod val="60000"/>
                            <a:lumOff val="40000"/>
                          </a:schemeClr>
                        </a:solidFill>
                        <a:latin typeface="Cambria Math" panose="02040503050406030204" pitchFamily="18" charset="0"/>
                      </a:rPr>
                      <m:t>𝜇</m:t>
                    </m:r>
                    <m:r>
                      <a:rPr lang="en-US" sz="2000" i="1">
                        <a:solidFill>
                          <a:schemeClr val="accent6">
                            <a:lumMod val="60000"/>
                            <a:lumOff val="40000"/>
                          </a:schemeClr>
                        </a:solidFill>
                        <a:latin typeface="Cambria Math" panose="02040503050406030204" pitchFamily="18" charset="0"/>
                      </a:rPr>
                      <m:t>)</m:t>
                    </m:r>
                  </m:oMath>
                </a14:m>
                <a:r>
                  <a:rPr lang="en-US" sz="2000" dirty="0">
                    <a:solidFill>
                      <a:schemeClr val="accent6">
                        <a:lumMod val="60000"/>
                        <a:lumOff val="40000"/>
                      </a:schemeClr>
                    </a:solidFill>
                  </a:rPr>
                  <a:t> / </a:t>
                </a:r>
                <a14:m>
                  <m:oMath xmlns:m="http://schemas.openxmlformats.org/officeDocument/2006/math">
                    <m:r>
                      <a:rPr lang="en-US" sz="2000" i="1">
                        <a:solidFill>
                          <a:schemeClr val="accent6">
                            <a:lumMod val="60000"/>
                            <a:lumOff val="40000"/>
                          </a:schemeClr>
                        </a:solidFill>
                        <a:latin typeface="Cambria Math" panose="02040503050406030204" pitchFamily="18" charset="0"/>
                      </a:rPr>
                      <m:t>𝜎</m:t>
                    </m:r>
                  </m:oMath>
                </a14:m>
                <a:r>
                  <a:rPr lang="en-US" sz="2000" dirty="0">
                    <a:solidFill>
                      <a:schemeClr val="accent6">
                        <a:lumMod val="60000"/>
                        <a:lumOff val="40000"/>
                      </a:schemeClr>
                    </a:solidFill>
                  </a:rPr>
                  <a:t> = (190 - 170) / 8 = 2.50</a:t>
                </a:r>
              </a:p>
              <a:p>
                <a:pPr marL="342900" indent="-342900">
                  <a:buAutoNum type="alphaLcParenR"/>
                </a:pPr>
                <a:endParaRPr lang="en-US" sz="2000" dirty="0">
                  <a:solidFill>
                    <a:schemeClr val="accent6">
                      <a:lumMod val="60000"/>
                      <a:lumOff val="40000"/>
                    </a:schemeClr>
                  </a:solidFill>
                </a:endParaRPr>
              </a:p>
              <a:p>
                <a:r>
                  <a:rPr lang="en-US" sz="2000" dirty="0">
                    <a:solidFill>
                      <a:schemeClr val="accent6">
                        <a:lumMod val="60000"/>
                        <a:lumOff val="40000"/>
                      </a:schemeClr>
                    </a:solidFill>
                  </a:rPr>
                  <a:t>P( X &gt; 190 ) </a:t>
                </a:r>
              </a:p>
              <a:p>
                <a:r>
                  <a:rPr lang="en-US" sz="2000" dirty="0">
                    <a:solidFill>
                      <a:schemeClr val="accent6">
                        <a:lumMod val="60000"/>
                        <a:lumOff val="40000"/>
                      </a:schemeClr>
                    </a:solidFill>
                  </a:rPr>
                  <a:t>= P ( z &gt; 2.50)      ( this is area under the curve and now use z-table )</a:t>
                </a:r>
              </a:p>
              <a:p>
                <a:r>
                  <a:rPr lang="en-US" sz="2000" dirty="0">
                    <a:solidFill>
                      <a:schemeClr val="accent6">
                        <a:lumMod val="60000"/>
                        <a:lumOff val="40000"/>
                      </a:schemeClr>
                    </a:solidFill>
                  </a:rPr>
                  <a:t>= 1 - P ( z &lt; 2.50)   (we can read this from z-table)</a:t>
                </a:r>
              </a:p>
              <a:p>
                <a:r>
                  <a:rPr lang="en-US" sz="2000" dirty="0">
                    <a:solidFill>
                      <a:schemeClr val="accent6">
                        <a:lumMod val="60000"/>
                        <a:lumOff val="40000"/>
                      </a:schemeClr>
                    </a:solidFill>
                  </a:rPr>
                  <a:t>= 1 – 0.9938 </a:t>
                </a:r>
              </a:p>
              <a:p>
                <a:r>
                  <a:rPr lang="en-US" sz="2000" dirty="0">
                    <a:solidFill>
                      <a:schemeClr val="accent6">
                        <a:lumMod val="60000"/>
                        <a:lumOff val="40000"/>
                      </a:schemeClr>
                    </a:solidFill>
                  </a:rPr>
                  <a:t>= 0.0062 </a:t>
                </a:r>
              </a:p>
              <a:p>
                <a:r>
                  <a:rPr lang="en-US" sz="2000" dirty="0">
                    <a:solidFill>
                      <a:schemeClr val="accent6">
                        <a:lumMod val="60000"/>
                        <a:lumOff val="40000"/>
                      </a:schemeClr>
                    </a:solidFill>
                  </a:rPr>
                  <a:t>= 0.62%</a:t>
                </a:r>
              </a:p>
            </p:txBody>
          </p:sp>
        </mc:Choice>
        <mc:Fallback>
          <p:sp>
            <p:nvSpPr>
              <p:cNvPr id="13" name="TextBox 12">
                <a:extLst>
                  <a:ext uri="{FF2B5EF4-FFF2-40B4-BE49-F238E27FC236}">
                    <a16:creationId xmlns:a16="http://schemas.microsoft.com/office/drawing/2014/main" id="{978E98CE-7AC2-4F7F-DA40-9500644E18D3}"/>
                  </a:ext>
                </a:extLst>
              </p:cNvPr>
              <p:cNvSpPr txBox="1">
                <a:spLocks noRot="1" noChangeAspect="1" noMove="1" noResize="1" noEditPoints="1" noAdjustHandles="1" noChangeArrowheads="1" noChangeShapeType="1" noTextEdit="1"/>
              </p:cNvSpPr>
              <p:nvPr/>
            </p:nvSpPr>
            <p:spPr>
              <a:xfrm>
                <a:off x="96012" y="1284607"/>
                <a:ext cx="10108692" cy="3170099"/>
              </a:xfrm>
              <a:prstGeom prst="rect">
                <a:avLst/>
              </a:prstGeom>
              <a:blipFill>
                <a:blip r:embed="rId2"/>
                <a:stretch>
                  <a:fillRect l="-663" t="-1154" b="-2500"/>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4B068F63-17DA-340C-5C68-019FB12B295B}"/>
              </a:ext>
            </a:extLst>
          </p:cNvPr>
          <p:cNvPicPr>
            <a:picLocks noChangeAspect="1"/>
          </p:cNvPicPr>
          <p:nvPr/>
        </p:nvPicPr>
        <p:blipFill>
          <a:blip r:embed="rId3"/>
          <a:stretch>
            <a:fillRect/>
          </a:stretch>
        </p:blipFill>
        <p:spPr>
          <a:xfrm>
            <a:off x="11124133" y="1216151"/>
            <a:ext cx="878891" cy="1126783"/>
          </a:xfrm>
          <a:prstGeom prst="rect">
            <a:avLst/>
          </a:prstGeom>
        </p:spPr>
      </p:pic>
      <p:pic>
        <p:nvPicPr>
          <p:cNvPr id="5" name="Picture 4">
            <a:extLst>
              <a:ext uri="{FF2B5EF4-FFF2-40B4-BE49-F238E27FC236}">
                <a16:creationId xmlns:a16="http://schemas.microsoft.com/office/drawing/2014/main" id="{783EF178-23B0-A68E-B8C9-578D32C5853C}"/>
              </a:ext>
            </a:extLst>
          </p:cNvPr>
          <p:cNvPicPr>
            <a:picLocks noChangeAspect="1"/>
          </p:cNvPicPr>
          <p:nvPr/>
        </p:nvPicPr>
        <p:blipFill>
          <a:blip r:embed="rId4"/>
          <a:stretch>
            <a:fillRect/>
          </a:stretch>
        </p:blipFill>
        <p:spPr>
          <a:xfrm>
            <a:off x="7873345" y="2530209"/>
            <a:ext cx="3480455" cy="3689747"/>
          </a:xfrm>
          <a:prstGeom prst="rect">
            <a:avLst/>
          </a:prstGeom>
        </p:spPr>
      </p:pic>
      <p:sp>
        <p:nvSpPr>
          <p:cNvPr id="11" name="Title 1">
            <a:extLst>
              <a:ext uri="{FF2B5EF4-FFF2-40B4-BE49-F238E27FC236}">
                <a16:creationId xmlns:a16="http://schemas.microsoft.com/office/drawing/2014/main" id="{A9C95B84-F2EE-32EA-836D-3750BD58EA7E}"/>
              </a:ext>
            </a:extLst>
          </p:cNvPr>
          <p:cNvSpPr txBox="1">
            <a:spLocks/>
          </p:cNvSpPr>
          <p:nvPr/>
        </p:nvSpPr>
        <p:spPr>
          <a:xfrm>
            <a:off x="301752" y="98625"/>
            <a:ext cx="11052048" cy="6041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a:lstStyle>
          <a:p>
            <a:r>
              <a:rPr lang="en-US" sz="2800" b="1" dirty="0"/>
              <a:t>Normal Distribution: Problem</a:t>
            </a:r>
            <a:endParaRPr lang="en-US" sz="2800" dirty="0"/>
          </a:p>
        </p:txBody>
      </p:sp>
      <p:sp>
        <p:nvSpPr>
          <p:cNvPr id="15" name="Freeform: Shape 14">
            <a:extLst>
              <a:ext uri="{FF2B5EF4-FFF2-40B4-BE49-F238E27FC236}">
                <a16:creationId xmlns:a16="http://schemas.microsoft.com/office/drawing/2014/main" id="{82327ED1-704C-E00C-8059-A30962B11F9C}"/>
              </a:ext>
            </a:extLst>
          </p:cNvPr>
          <p:cNvSpPr/>
          <p:nvPr/>
        </p:nvSpPr>
        <p:spPr>
          <a:xfrm>
            <a:off x="8641080" y="52414"/>
            <a:ext cx="1217142" cy="539496"/>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576214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70C39-D42B-D565-43BB-2B43D8D597F0}"/>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6C07C3C6-4B23-4ECF-0410-469AF49C4C0B}"/>
                  </a:ext>
                </a:extLst>
              </p:cNvPr>
              <p:cNvSpPr txBox="1"/>
              <p:nvPr/>
            </p:nvSpPr>
            <p:spPr>
              <a:xfrm>
                <a:off x="96012" y="1284607"/>
                <a:ext cx="10108692" cy="5632311"/>
              </a:xfrm>
              <a:prstGeom prst="rect">
                <a:avLst/>
              </a:prstGeom>
              <a:noFill/>
            </p:spPr>
            <p:txBody>
              <a:bodyPr wrap="square">
                <a:spAutoFit/>
              </a:bodyPr>
              <a:lstStyle/>
              <a:p>
                <a:r>
                  <a:rPr lang="en-US" sz="2000" dirty="0">
                    <a:solidFill>
                      <a:schemeClr val="accent6">
                        <a:lumMod val="60000"/>
                        <a:lumOff val="40000"/>
                      </a:schemeClr>
                    </a:solidFill>
                  </a:rPr>
                  <a:t>c) P(Height is between 160 cm and 180 cm) = ? </a:t>
                </a:r>
              </a:p>
              <a:p>
                <a:r>
                  <a:rPr lang="en-US" sz="2000" dirty="0">
                    <a:solidFill>
                      <a:schemeClr val="accent6">
                        <a:lumMod val="60000"/>
                        <a:lumOff val="40000"/>
                      </a:schemeClr>
                    </a:solidFill>
                  </a:rPr>
                  <a:t>X = 160 cm  -&gt; z-score = (X - </a:t>
                </a:r>
                <a14:m>
                  <m:oMath xmlns:m="http://schemas.openxmlformats.org/officeDocument/2006/math">
                    <m:r>
                      <a:rPr lang="en-US" sz="2000" i="1">
                        <a:solidFill>
                          <a:schemeClr val="accent6">
                            <a:lumMod val="60000"/>
                            <a:lumOff val="40000"/>
                          </a:schemeClr>
                        </a:solidFill>
                        <a:latin typeface="Cambria Math" panose="02040503050406030204" pitchFamily="18" charset="0"/>
                      </a:rPr>
                      <m:t>𝜇</m:t>
                    </m:r>
                    <m:r>
                      <a:rPr lang="en-US" sz="2000" i="1">
                        <a:solidFill>
                          <a:schemeClr val="accent6">
                            <a:lumMod val="60000"/>
                            <a:lumOff val="40000"/>
                          </a:schemeClr>
                        </a:solidFill>
                        <a:latin typeface="Cambria Math" panose="02040503050406030204" pitchFamily="18" charset="0"/>
                      </a:rPr>
                      <m:t>)</m:t>
                    </m:r>
                  </m:oMath>
                </a14:m>
                <a:r>
                  <a:rPr lang="en-US" sz="2000" dirty="0">
                    <a:solidFill>
                      <a:schemeClr val="accent6">
                        <a:lumMod val="60000"/>
                        <a:lumOff val="40000"/>
                      </a:schemeClr>
                    </a:solidFill>
                  </a:rPr>
                  <a:t> / </a:t>
                </a:r>
                <a14:m>
                  <m:oMath xmlns:m="http://schemas.openxmlformats.org/officeDocument/2006/math">
                    <m:r>
                      <a:rPr lang="en-US" sz="2000" i="1">
                        <a:solidFill>
                          <a:schemeClr val="accent6">
                            <a:lumMod val="60000"/>
                            <a:lumOff val="40000"/>
                          </a:schemeClr>
                        </a:solidFill>
                        <a:latin typeface="Cambria Math" panose="02040503050406030204" pitchFamily="18" charset="0"/>
                      </a:rPr>
                      <m:t>𝜎</m:t>
                    </m:r>
                  </m:oMath>
                </a14:m>
                <a:r>
                  <a:rPr lang="en-US" sz="2000" dirty="0">
                    <a:solidFill>
                      <a:schemeClr val="accent6">
                        <a:lumMod val="60000"/>
                        <a:lumOff val="40000"/>
                      </a:schemeClr>
                    </a:solidFill>
                  </a:rPr>
                  <a:t> = (160 - 170) / 8 = - 1.25</a:t>
                </a:r>
              </a:p>
              <a:p>
                <a:r>
                  <a:rPr lang="en-US" sz="2000" dirty="0">
                    <a:solidFill>
                      <a:schemeClr val="accent6">
                        <a:lumMod val="60000"/>
                        <a:lumOff val="40000"/>
                      </a:schemeClr>
                    </a:solidFill>
                  </a:rPr>
                  <a:t>    X = 180 cm  -&gt; z-score = (X - </a:t>
                </a:r>
                <a14:m>
                  <m:oMath xmlns:m="http://schemas.openxmlformats.org/officeDocument/2006/math">
                    <m:r>
                      <a:rPr lang="en-US" sz="2000" i="1">
                        <a:solidFill>
                          <a:schemeClr val="accent6">
                            <a:lumMod val="60000"/>
                            <a:lumOff val="40000"/>
                          </a:schemeClr>
                        </a:solidFill>
                        <a:latin typeface="Cambria Math" panose="02040503050406030204" pitchFamily="18" charset="0"/>
                      </a:rPr>
                      <m:t>𝜇</m:t>
                    </m:r>
                    <m:r>
                      <a:rPr lang="en-US" sz="2000" i="1">
                        <a:solidFill>
                          <a:schemeClr val="accent6">
                            <a:lumMod val="60000"/>
                            <a:lumOff val="40000"/>
                          </a:schemeClr>
                        </a:solidFill>
                        <a:latin typeface="Cambria Math" panose="02040503050406030204" pitchFamily="18" charset="0"/>
                      </a:rPr>
                      <m:t>)</m:t>
                    </m:r>
                  </m:oMath>
                </a14:m>
                <a:r>
                  <a:rPr lang="en-US" sz="2000" dirty="0">
                    <a:solidFill>
                      <a:schemeClr val="accent6">
                        <a:lumMod val="60000"/>
                        <a:lumOff val="40000"/>
                      </a:schemeClr>
                    </a:solidFill>
                  </a:rPr>
                  <a:t> / </a:t>
                </a:r>
                <a14:m>
                  <m:oMath xmlns:m="http://schemas.openxmlformats.org/officeDocument/2006/math">
                    <m:r>
                      <a:rPr lang="en-US" sz="2000" i="1">
                        <a:solidFill>
                          <a:schemeClr val="accent6">
                            <a:lumMod val="60000"/>
                            <a:lumOff val="40000"/>
                          </a:schemeClr>
                        </a:solidFill>
                        <a:latin typeface="Cambria Math" panose="02040503050406030204" pitchFamily="18" charset="0"/>
                      </a:rPr>
                      <m:t>𝜎</m:t>
                    </m:r>
                  </m:oMath>
                </a14:m>
                <a:r>
                  <a:rPr lang="en-US" sz="2000" dirty="0">
                    <a:solidFill>
                      <a:schemeClr val="accent6">
                        <a:lumMod val="60000"/>
                        <a:lumOff val="40000"/>
                      </a:schemeClr>
                    </a:solidFill>
                  </a:rPr>
                  <a:t> = (180 - 170) / 8 = +1.25</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P (160 &lt; X &lt; 180)</a:t>
                </a:r>
              </a:p>
              <a:p>
                <a:r>
                  <a:rPr lang="en-US" sz="2000" dirty="0">
                    <a:solidFill>
                      <a:schemeClr val="accent6">
                        <a:lumMod val="60000"/>
                        <a:lumOff val="40000"/>
                      </a:schemeClr>
                    </a:solidFill>
                  </a:rPr>
                  <a:t>= P (-1.25 &lt; z &lt; +1.25) ( this is area under the curve and now use z-table )</a:t>
                </a:r>
              </a:p>
              <a:p>
                <a:endParaRPr lang="en-US" sz="2000" dirty="0">
                  <a:solidFill>
                    <a:schemeClr val="accent6">
                      <a:lumMod val="60000"/>
                      <a:lumOff val="40000"/>
                    </a:schemeClr>
                  </a:solidFill>
                </a:endParaRPr>
              </a:p>
              <a:p>
                <a:r>
                  <a:rPr lang="en-US" sz="2000" dirty="0">
                    <a:solidFill>
                      <a:schemeClr val="accent6">
                        <a:lumMod val="60000"/>
                        <a:lumOff val="40000"/>
                      </a:schemeClr>
                    </a:solidFill>
                  </a:rPr>
                  <a:t>= P( z &lt; +1.25) – P ( z &lt; -1.25)</a:t>
                </a:r>
              </a:p>
              <a:p>
                <a:endParaRPr lang="en-US" sz="2000" dirty="0">
                  <a:solidFill>
                    <a:schemeClr val="accent6">
                      <a:lumMod val="60000"/>
                      <a:lumOff val="40000"/>
                    </a:schemeClr>
                  </a:solidFill>
                </a:endParaRPr>
              </a:p>
              <a:p>
                <a:endParaRPr lang="en-US" sz="2000" dirty="0">
                  <a:solidFill>
                    <a:schemeClr val="accent6">
                      <a:lumMod val="60000"/>
                      <a:lumOff val="40000"/>
                    </a:schemeClr>
                  </a:solidFill>
                </a:endParaRPr>
              </a:p>
              <a:p>
                <a:endParaRPr lang="en-US" sz="2000" dirty="0">
                  <a:solidFill>
                    <a:schemeClr val="accent6">
                      <a:lumMod val="60000"/>
                      <a:lumOff val="40000"/>
                    </a:schemeClr>
                  </a:solidFill>
                </a:endParaRPr>
              </a:p>
              <a:p>
                <a:r>
                  <a:rPr lang="en-US" sz="2000" dirty="0">
                    <a:solidFill>
                      <a:schemeClr val="accent6">
                        <a:lumMod val="60000"/>
                        <a:lumOff val="40000"/>
                      </a:schemeClr>
                    </a:solidFill>
                  </a:rPr>
                  <a:t>= 0.8944  - 0.1057</a:t>
                </a:r>
              </a:p>
              <a:p>
                <a:endParaRPr lang="en-US" sz="2000" dirty="0">
                  <a:solidFill>
                    <a:schemeClr val="accent6">
                      <a:lumMod val="60000"/>
                      <a:lumOff val="40000"/>
                    </a:schemeClr>
                  </a:solidFill>
                </a:endParaRPr>
              </a:p>
              <a:p>
                <a:endParaRPr lang="en-US" sz="2000" dirty="0">
                  <a:solidFill>
                    <a:schemeClr val="accent6">
                      <a:lumMod val="60000"/>
                      <a:lumOff val="40000"/>
                    </a:schemeClr>
                  </a:solidFill>
                </a:endParaRPr>
              </a:p>
              <a:p>
                <a:endParaRPr lang="en-US" sz="2000" dirty="0">
                  <a:solidFill>
                    <a:schemeClr val="accent6">
                      <a:lumMod val="60000"/>
                      <a:lumOff val="40000"/>
                    </a:schemeClr>
                  </a:solidFill>
                </a:endParaRPr>
              </a:p>
              <a:p>
                <a:endParaRPr lang="en-US" sz="2000" dirty="0">
                  <a:solidFill>
                    <a:schemeClr val="accent6">
                      <a:lumMod val="60000"/>
                      <a:lumOff val="40000"/>
                    </a:schemeClr>
                  </a:solidFill>
                </a:endParaRPr>
              </a:p>
              <a:p>
                <a:r>
                  <a:rPr lang="en-US" sz="2000" dirty="0">
                    <a:solidFill>
                      <a:schemeClr val="accent6">
                        <a:lumMod val="60000"/>
                        <a:lumOff val="40000"/>
                      </a:schemeClr>
                    </a:solidFill>
                  </a:rPr>
                  <a:t>= 0.7887</a:t>
                </a:r>
              </a:p>
              <a:p>
                <a:r>
                  <a:rPr lang="en-US" sz="2000" dirty="0">
                    <a:solidFill>
                      <a:schemeClr val="accent6">
                        <a:lumMod val="60000"/>
                        <a:lumOff val="40000"/>
                      </a:schemeClr>
                    </a:solidFill>
                  </a:rPr>
                  <a:t>= 78.87 %</a:t>
                </a:r>
              </a:p>
            </p:txBody>
          </p:sp>
        </mc:Choice>
        <mc:Fallback>
          <p:sp>
            <p:nvSpPr>
              <p:cNvPr id="13" name="TextBox 12">
                <a:extLst>
                  <a:ext uri="{FF2B5EF4-FFF2-40B4-BE49-F238E27FC236}">
                    <a16:creationId xmlns:a16="http://schemas.microsoft.com/office/drawing/2014/main" id="{6C07C3C6-4B23-4ECF-0410-469AF49C4C0B}"/>
                  </a:ext>
                </a:extLst>
              </p:cNvPr>
              <p:cNvSpPr txBox="1">
                <a:spLocks noRot="1" noChangeAspect="1" noMove="1" noResize="1" noEditPoints="1" noAdjustHandles="1" noChangeArrowheads="1" noChangeShapeType="1" noTextEdit="1"/>
              </p:cNvSpPr>
              <p:nvPr/>
            </p:nvSpPr>
            <p:spPr>
              <a:xfrm>
                <a:off x="96012" y="1284607"/>
                <a:ext cx="10108692" cy="5632311"/>
              </a:xfrm>
              <a:prstGeom prst="rect">
                <a:avLst/>
              </a:prstGeom>
              <a:blipFill>
                <a:blip r:embed="rId2"/>
                <a:stretch>
                  <a:fillRect l="-663" t="-649" b="-974"/>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A7BD1E05-B8EF-7730-0DA4-336168F34FB8}"/>
              </a:ext>
            </a:extLst>
          </p:cNvPr>
          <p:cNvPicPr>
            <a:picLocks noChangeAspect="1"/>
          </p:cNvPicPr>
          <p:nvPr/>
        </p:nvPicPr>
        <p:blipFill>
          <a:blip r:embed="rId3"/>
          <a:stretch>
            <a:fillRect/>
          </a:stretch>
        </p:blipFill>
        <p:spPr>
          <a:xfrm>
            <a:off x="11124133" y="1216151"/>
            <a:ext cx="878891" cy="1126783"/>
          </a:xfrm>
          <a:prstGeom prst="rect">
            <a:avLst/>
          </a:prstGeom>
        </p:spPr>
      </p:pic>
      <p:pic>
        <p:nvPicPr>
          <p:cNvPr id="3" name="Picture 2">
            <a:extLst>
              <a:ext uri="{FF2B5EF4-FFF2-40B4-BE49-F238E27FC236}">
                <a16:creationId xmlns:a16="http://schemas.microsoft.com/office/drawing/2014/main" id="{9CB68953-8EB0-253F-E8AB-241AB9EA4574}"/>
              </a:ext>
            </a:extLst>
          </p:cNvPr>
          <p:cNvPicPr>
            <a:picLocks noChangeAspect="1"/>
          </p:cNvPicPr>
          <p:nvPr/>
        </p:nvPicPr>
        <p:blipFill>
          <a:blip r:embed="rId4"/>
          <a:stretch>
            <a:fillRect/>
          </a:stretch>
        </p:blipFill>
        <p:spPr>
          <a:xfrm>
            <a:off x="8176787" y="1538520"/>
            <a:ext cx="2947346" cy="3917264"/>
          </a:xfrm>
          <a:prstGeom prst="rect">
            <a:avLst/>
          </a:prstGeom>
        </p:spPr>
      </p:pic>
      <p:sp>
        <p:nvSpPr>
          <p:cNvPr id="11" name="Title 1">
            <a:extLst>
              <a:ext uri="{FF2B5EF4-FFF2-40B4-BE49-F238E27FC236}">
                <a16:creationId xmlns:a16="http://schemas.microsoft.com/office/drawing/2014/main" id="{021728CE-BDC8-492F-2369-EDA6728860E8}"/>
              </a:ext>
            </a:extLst>
          </p:cNvPr>
          <p:cNvSpPr txBox="1">
            <a:spLocks/>
          </p:cNvSpPr>
          <p:nvPr/>
        </p:nvSpPr>
        <p:spPr>
          <a:xfrm>
            <a:off x="301752" y="98625"/>
            <a:ext cx="11052048" cy="6041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a:lstStyle>
          <a:p>
            <a:r>
              <a:rPr lang="en-US" sz="2800" b="1" dirty="0"/>
              <a:t>Normal Distribution: Problem</a:t>
            </a:r>
            <a:endParaRPr lang="en-US" sz="2800" dirty="0"/>
          </a:p>
        </p:txBody>
      </p:sp>
      <p:pic>
        <p:nvPicPr>
          <p:cNvPr id="16" name="Picture 15">
            <a:extLst>
              <a:ext uri="{FF2B5EF4-FFF2-40B4-BE49-F238E27FC236}">
                <a16:creationId xmlns:a16="http://schemas.microsoft.com/office/drawing/2014/main" id="{EE3626FF-8060-2FAD-4E9B-42AF80A07BF7}"/>
              </a:ext>
            </a:extLst>
          </p:cNvPr>
          <p:cNvPicPr>
            <a:picLocks noChangeAspect="1"/>
          </p:cNvPicPr>
          <p:nvPr/>
        </p:nvPicPr>
        <p:blipFill>
          <a:blip r:embed="rId5"/>
          <a:stretch>
            <a:fillRect/>
          </a:stretch>
        </p:blipFill>
        <p:spPr>
          <a:xfrm>
            <a:off x="2672825" y="3925303"/>
            <a:ext cx="5358191" cy="2553135"/>
          </a:xfrm>
          <a:prstGeom prst="rect">
            <a:avLst/>
          </a:prstGeom>
        </p:spPr>
      </p:pic>
      <p:sp>
        <p:nvSpPr>
          <p:cNvPr id="17" name="Freeform: Shape 16">
            <a:extLst>
              <a:ext uri="{FF2B5EF4-FFF2-40B4-BE49-F238E27FC236}">
                <a16:creationId xmlns:a16="http://schemas.microsoft.com/office/drawing/2014/main" id="{86D305E0-6265-EB03-6B14-6CE770DB8D7B}"/>
              </a:ext>
            </a:extLst>
          </p:cNvPr>
          <p:cNvSpPr/>
          <p:nvPr/>
        </p:nvSpPr>
        <p:spPr>
          <a:xfrm>
            <a:off x="8641080" y="52414"/>
            <a:ext cx="1217142" cy="539496"/>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146822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874F6-A730-DE1D-2C81-12203B858C9B}"/>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E8C11199-E9BA-BBE3-D43A-2BE598F389AE}"/>
              </a:ext>
            </a:extLst>
          </p:cNvPr>
          <p:cNvSpPr txBox="1"/>
          <p:nvPr/>
        </p:nvSpPr>
        <p:spPr>
          <a:xfrm>
            <a:off x="96012" y="1284607"/>
            <a:ext cx="10108692" cy="1015663"/>
          </a:xfrm>
          <a:prstGeom prst="rect">
            <a:avLst/>
          </a:prstGeom>
          <a:noFill/>
        </p:spPr>
        <p:txBody>
          <a:bodyPr wrap="square">
            <a:spAutoFit/>
          </a:bodyPr>
          <a:lstStyle/>
          <a:p>
            <a:endParaRPr lang="en-US" sz="2000" dirty="0">
              <a:solidFill>
                <a:schemeClr val="accent6">
                  <a:lumMod val="60000"/>
                  <a:lumOff val="40000"/>
                </a:schemeClr>
              </a:solidFill>
            </a:endParaRPr>
          </a:p>
          <a:p>
            <a:r>
              <a:rPr lang="en-US" sz="2000" dirty="0">
                <a:solidFill>
                  <a:schemeClr val="accent6">
                    <a:lumMod val="60000"/>
                    <a:lumOff val="40000"/>
                  </a:schemeClr>
                </a:solidFill>
              </a:rPr>
              <a:t>d) P( X = 190 cm) = ?</a:t>
            </a:r>
          </a:p>
          <a:p>
            <a:r>
              <a:rPr lang="en-US" sz="2000" dirty="0">
                <a:solidFill>
                  <a:schemeClr val="accent6">
                    <a:lumMod val="60000"/>
                    <a:lumOff val="40000"/>
                  </a:schemeClr>
                </a:solidFill>
              </a:rPr>
              <a:t>We do not need to convert this into z-score because P(X = 190 cm) = 0</a:t>
            </a:r>
          </a:p>
        </p:txBody>
      </p:sp>
      <p:pic>
        <p:nvPicPr>
          <p:cNvPr id="8" name="Picture 7">
            <a:extLst>
              <a:ext uri="{FF2B5EF4-FFF2-40B4-BE49-F238E27FC236}">
                <a16:creationId xmlns:a16="http://schemas.microsoft.com/office/drawing/2014/main" id="{807DFAAD-37E4-CAD6-D3A3-561631EF9350}"/>
              </a:ext>
            </a:extLst>
          </p:cNvPr>
          <p:cNvPicPr>
            <a:picLocks noChangeAspect="1"/>
          </p:cNvPicPr>
          <p:nvPr/>
        </p:nvPicPr>
        <p:blipFill>
          <a:blip r:embed="rId2"/>
          <a:stretch>
            <a:fillRect/>
          </a:stretch>
        </p:blipFill>
        <p:spPr>
          <a:xfrm>
            <a:off x="11124133" y="1216151"/>
            <a:ext cx="878891" cy="1126783"/>
          </a:xfrm>
          <a:prstGeom prst="rect">
            <a:avLst/>
          </a:prstGeom>
        </p:spPr>
      </p:pic>
      <p:sp>
        <p:nvSpPr>
          <p:cNvPr id="6" name="Title 1">
            <a:extLst>
              <a:ext uri="{FF2B5EF4-FFF2-40B4-BE49-F238E27FC236}">
                <a16:creationId xmlns:a16="http://schemas.microsoft.com/office/drawing/2014/main" id="{8F002AD8-4B6B-30F4-7BAA-D2F2D5008537}"/>
              </a:ext>
            </a:extLst>
          </p:cNvPr>
          <p:cNvSpPr txBox="1">
            <a:spLocks/>
          </p:cNvSpPr>
          <p:nvPr/>
        </p:nvSpPr>
        <p:spPr>
          <a:xfrm>
            <a:off x="301752" y="98625"/>
            <a:ext cx="11052048" cy="6041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a:lstStyle>
          <a:p>
            <a:r>
              <a:rPr lang="en-US" sz="2800" b="1" dirty="0"/>
              <a:t>Normal Distribution: Problem</a:t>
            </a:r>
            <a:endParaRPr lang="en-US" sz="2800" dirty="0"/>
          </a:p>
        </p:txBody>
      </p:sp>
      <p:sp>
        <p:nvSpPr>
          <p:cNvPr id="10" name="Freeform: Shape 9">
            <a:extLst>
              <a:ext uri="{FF2B5EF4-FFF2-40B4-BE49-F238E27FC236}">
                <a16:creationId xmlns:a16="http://schemas.microsoft.com/office/drawing/2014/main" id="{7A820F6C-7082-0DBE-1383-9C4C2EBAF9EA}"/>
              </a:ext>
            </a:extLst>
          </p:cNvPr>
          <p:cNvSpPr/>
          <p:nvPr/>
        </p:nvSpPr>
        <p:spPr>
          <a:xfrm>
            <a:off x="8641080" y="52414"/>
            <a:ext cx="1217142" cy="539496"/>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180871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63946-2E66-8DBA-07FD-F1DFB36536F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78CDE75-F718-81F7-E76F-EA27DA04CD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 y="2136916"/>
            <a:ext cx="3872974" cy="1977884"/>
          </a:xfrm>
          <a:prstGeom prst="rect">
            <a:avLst/>
          </a:prstGeom>
        </p:spPr>
      </p:pic>
      <p:pic>
        <p:nvPicPr>
          <p:cNvPr id="15" name="Picture 14">
            <a:extLst>
              <a:ext uri="{FF2B5EF4-FFF2-40B4-BE49-F238E27FC236}">
                <a16:creationId xmlns:a16="http://schemas.microsoft.com/office/drawing/2014/main" id="{08ECD0D4-1983-8A3D-ECB1-3FD476AEDD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60520" y="400820"/>
            <a:ext cx="6623304" cy="6398259"/>
          </a:xfrm>
          <a:prstGeom prst="rect">
            <a:avLst/>
          </a:prstGeom>
        </p:spPr>
      </p:pic>
      <p:sp>
        <p:nvSpPr>
          <p:cNvPr id="5" name="Content Placeholder 2">
            <a:extLst>
              <a:ext uri="{FF2B5EF4-FFF2-40B4-BE49-F238E27FC236}">
                <a16:creationId xmlns:a16="http://schemas.microsoft.com/office/drawing/2014/main" id="{72B7F5BA-DB52-B819-DE2E-05E35C7A1D73}"/>
              </a:ext>
            </a:extLst>
          </p:cNvPr>
          <p:cNvSpPr txBox="1">
            <a:spLocks/>
          </p:cNvSpPr>
          <p:nvPr/>
        </p:nvSpPr>
        <p:spPr>
          <a:xfrm>
            <a:off x="344424" y="106553"/>
            <a:ext cx="8717280" cy="28062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a:t>Standard Normal Distribution: Table values represent AREA to the LEFT of the z-score</a:t>
            </a:r>
            <a:endParaRPr lang="en-US" sz="1800" b="1" dirty="0"/>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8AF53B78-AE0E-539B-61CB-5E6CA196D724}"/>
                  </a:ext>
                </a:extLst>
              </p14:cNvPr>
              <p14:cNvContentPartPr/>
              <p14:nvPr/>
            </p14:nvContentPartPr>
            <p14:xfrm>
              <a:off x="9474552" y="3206376"/>
              <a:ext cx="578880" cy="236880"/>
            </p14:xfrm>
          </p:contentPart>
        </mc:Choice>
        <mc:Fallback>
          <p:pic>
            <p:nvPicPr>
              <p:cNvPr id="2" name="Ink 1">
                <a:extLst>
                  <a:ext uri="{FF2B5EF4-FFF2-40B4-BE49-F238E27FC236}">
                    <a16:creationId xmlns:a16="http://schemas.microsoft.com/office/drawing/2014/main" id="{8AF53B78-AE0E-539B-61CB-5E6CA196D724}"/>
                  </a:ext>
                </a:extLst>
              </p:cNvPr>
              <p:cNvPicPr/>
              <p:nvPr/>
            </p:nvPicPr>
            <p:blipFill>
              <a:blip r:embed="rId6"/>
              <a:stretch>
                <a:fillRect/>
              </a:stretch>
            </p:blipFill>
            <p:spPr>
              <a:xfrm>
                <a:off x="9456912" y="3188376"/>
                <a:ext cx="614520" cy="2725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8958E89E-2B7A-CA00-E1C9-3C8814B23253}"/>
                  </a:ext>
                </a:extLst>
              </p14:cNvPr>
              <p14:cNvContentPartPr/>
              <p14:nvPr/>
            </p14:nvContentPartPr>
            <p14:xfrm>
              <a:off x="7667712" y="4413096"/>
              <a:ext cx="579240" cy="193320"/>
            </p14:xfrm>
          </p:contentPart>
        </mc:Choice>
        <mc:Fallback>
          <p:pic>
            <p:nvPicPr>
              <p:cNvPr id="6" name="Ink 5">
                <a:extLst>
                  <a:ext uri="{FF2B5EF4-FFF2-40B4-BE49-F238E27FC236}">
                    <a16:creationId xmlns:a16="http://schemas.microsoft.com/office/drawing/2014/main" id="{8958E89E-2B7A-CA00-E1C9-3C8814B23253}"/>
                  </a:ext>
                </a:extLst>
              </p:cNvPr>
              <p:cNvPicPr/>
              <p:nvPr/>
            </p:nvPicPr>
            <p:blipFill>
              <a:blip r:embed="rId8"/>
              <a:stretch>
                <a:fillRect/>
              </a:stretch>
            </p:blipFill>
            <p:spPr>
              <a:xfrm>
                <a:off x="7650072" y="4395456"/>
                <a:ext cx="614880" cy="228960"/>
              </a:xfrm>
              <a:prstGeom prst="rect">
                <a:avLst/>
              </a:prstGeom>
            </p:spPr>
          </p:pic>
        </mc:Fallback>
      </mc:AlternateContent>
      <p:sp>
        <p:nvSpPr>
          <p:cNvPr id="8" name="TextBox 7">
            <a:extLst>
              <a:ext uri="{FF2B5EF4-FFF2-40B4-BE49-F238E27FC236}">
                <a16:creationId xmlns:a16="http://schemas.microsoft.com/office/drawing/2014/main" id="{89618522-55CC-53B0-0820-7034263FC7CD}"/>
              </a:ext>
            </a:extLst>
          </p:cNvPr>
          <p:cNvSpPr txBox="1"/>
          <p:nvPr/>
        </p:nvSpPr>
        <p:spPr>
          <a:xfrm>
            <a:off x="84582" y="1395907"/>
            <a:ext cx="4361360" cy="646331"/>
          </a:xfrm>
          <a:prstGeom prst="rect">
            <a:avLst/>
          </a:prstGeom>
          <a:noFill/>
        </p:spPr>
        <p:txBody>
          <a:bodyPr wrap="square">
            <a:spAutoFit/>
          </a:bodyPr>
          <a:lstStyle/>
          <a:p>
            <a:endParaRPr lang="en-US" dirty="0">
              <a:solidFill>
                <a:schemeClr val="accent6">
                  <a:lumMod val="60000"/>
                  <a:lumOff val="40000"/>
                </a:schemeClr>
              </a:solidFill>
            </a:endParaRPr>
          </a:p>
          <a:p>
            <a:r>
              <a:rPr lang="en-US" dirty="0">
                <a:solidFill>
                  <a:schemeClr val="accent6">
                    <a:lumMod val="60000"/>
                    <a:lumOff val="40000"/>
                  </a:schemeClr>
                </a:solidFill>
              </a:rPr>
              <a:t>This table shows z-values from </a:t>
            </a:r>
            <a:r>
              <a:rPr lang="en-US" b="1" dirty="0">
                <a:solidFill>
                  <a:schemeClr val="accent6">
                    <a:lumMod val="60000"/>
                    <a:lumOff val="40000"/>
                  </a:schemeClr>
                </a:solidFill>
              </a:rPr>
              <a:t>-3.1</a:t>
            </a:r>
            <a:r>
              <a:rPr lang="en-US" dirty="0">
                <a:solidFill>
                  <a:schemeClr val="accent6">
                    <a:lumMod val="60000"/>
                    <a:lumOff val="40000"/>
                  </a:schemeClr>
                </a:solidFill>
              </a:rPr>
              <a:t> </a:t>
            </a:r>
            <a:r>
              <a:rPr lang="en-US" b="1" dirty="0">
                <a:solidFill>
                  <a:schemeClr val="accent6">
                    <a:lumMod val="60000"/>
                    <a:lumOff val="40000"/>
                  </a:schemeClr>
                </a:solidFill>
              </a:rPr>
              <a:t>to -0.1</a:t>
            </a:r>
            <a:endParaRPr lang="en-US" b="1" dirty="0"/>
          </a:p>
        </p:txBody>
      </p:sp>
    </p:spTree>
    <p:extLst>
      <p:ext uri="{BB962C8B-B14F-4D97-AF65-F5344CB8AC3E}">
        <p14:creationId xmlns:p14="http://schemas.microsoft.com/office/powerpoint/2010/main" val="837700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410A3-1CB6-DD7C-3851-EE3C0166592B}"/>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BC3C0A10-5D0A-0B48-458C-B6FE9E2AC4EA}"/>
              </a:ext>
            </a:extLst>
          </p:cNvPr>
          <p:cNvSpPr>
            <a:spLocks noGrp="1"/>
          </p:cNvSpPr>
          <p:nvPr>
            <p:ph idx="1"/>
          </p:nvPr>
        </p:nvSpPr>
        <p:spPr>
          <a:xfrm>
            <a:off x="344424" y="106553"/>
            <a:ext cx="8717280" cy="280628"/>
          </a:xfrm>
        </p:spPr>
        <p:txBody>
          <a:bodyPr>
            <a:normAutofit fontScale="85000" lnSpcReduction="10000"/>
          </a:bodyPr>
          <a:lstStyle/>
          <a:p>
            <a:pPr marL="0" indent="0">
              <a:buNone/>
            </a:pPr>
            <a:r>
              <a:rPr lang="en-US" sz="1800" b="1" dirty="0"/>
              <a:t>Standard Normal Distribution: Table values represent AREA to the LEFT of the z-score</a:t>
            </a:r>
          </a:p>
        </p:txBody>
      </p:sp>
      <p:pic>
        <p:nvPicPr>
          <p:cNvPr id="13" name="Picture 12">
            <a:extLst>
              <a:ext uri="{FF2B5EF4-FFF2-40B4-BE49-F238E27FC236}">
                <a16:creationId xmlns:a16="http://schemas.microsoft.com/office/drawing/2014/main" id="{E639C7D4-8F4B-79FC-6ED0-56A23DE71A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3088" y="382300"/>
            <a:ext cx="6559296" cy="6423616"/>
          </a:xfrm>
          <a:prstGeom prst="rect">
            <a:avLst/>
          </a:prstGeom>
        </p:spPr>
      </p:pic>
      <p:sp>
        <p:nvSpPr>
          <p:cNvPr id="3" name="TextBox 2">
            <a:extLst>
              <a:ext uri="{FF2B5EF4-FFF2-40B4-BE49-F238E27FC236}">
                <a16:creationId xmlns:a16="http://schemas.microsoft.com/office/drawing/2014/main" id="{7BD19C91-D55D-C782-3432-B7A71E85CD9D}"/>
              </a:ext>
            </a:extLst>
          </p:cNvPr>
          <p:cNvSpPr txBox="1"/>
          <p:nvPr/>
        </p:nvSpPr>
        <p:spPr>
          <a:xfrm>
            <a:off x="84582" y="1395907"/>
            <a:ext cx="4361360" cy="646331"/>
          </a:xfrm>
          <a:prstGeom prst="rect">
            <a:avLst/>
          </a:prstGeom>
          <a:noFill/>
        </p:spPr>
        <p:txBody>
          <a:bodyPr wrap="square">
            <a:spAutoFit/>
          </a:bodyPr>
          <a:lstStyle/>
          <a:p>
            <a:endParaRPr lang="en-US" dirty="0">
              <a:solidFill>
                <a:schemeClr val="accent6">
                  <a:lumMod val="60000"/>
                  <a:lumOff val="40000"/>
                </a:schemeClr>
              </a:solidFill>
            </a:endParaRPr>
          </a:p>
          <a:p>
            <a:r>
              <a:rPr lang="en-US" dirty="0">
                <a:solidFill>
                  <a:schemeClr val="accent6">
                    <a:lumMod val="60000"/>
                    <a:lumOff val="40000"/>
                  </a:schemeClr>
                </a:solidFill>
              </a:rPr>
              <a:t>This table shows z-values from </a:t>
            </a:r>
            <a:r>
              <a:rPr lang="en-US" b="1" dirty="0">
                <a:solidFill>
                  <a:schemeClr val="accent6">
                    <a:lumMod val="60000"/>
                    <a:lumOff val="40000"/>
                  </a:schemeClr>
                </a:solidFill>
              </a:rPr>
              <a:t>0.0 to +3.0</a:t>
            </a:r>
            <a:endParaRPr lang="en-US" b="1" dirty="0"/>
          </a:p>
        </p:txBody>
      </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2BD992AA-412C-7CD4-C928-6985363ACCA4}"/>
                  </a:ext>
                </a:extLst>
              </p14:cNvPr>
              <p14:cNvContentPartPr/>
              <p14:nvPr/>
            </p14:nvContentPartPr>
            <p14:xfrm>
              <a:off x="7708248" y="3009816"/>
              <a:ext cx="444240" cy="226080"/>
            </p14:xfrm>
          </p:contentPart>
        </mc:Choice>
        <mc:Fallback>
          <p:pic>
            <p:nvPicPr>
              <p:cNvPr id="4" name="Ink 3">
                <a:extLst>
                  <a:ext uri="{FF2B5EF4-FFF2-40B4-BE49-F238E27FC236}">
                    <a16:creationId xmlns:a16="http://schemas.microsoft.com/office/drawing/2014/main" id="{2BD992AA-412C-7CD4-C928-6985363ACCA4}"/>
                  </a:ext>
                </a:extLst>
              </p:cNvPr>
              <p:cNvPicPr/>
              <p:nvPr/>
            </p:nvPicPr>
            <p:blipFill>
              <a:blip r:embed="rId5"/>
              <a:stretch>
                <a:fillRect/>
              </a:stretch>
            </p:blipFill>
            <p:spPr>
              <a:xfrm>
                <a:off x="7690248" y="2992176"/>
                <a:ext cx="479880" cy="261720"/>
              </a:xfrm>
              <a:prstGeom prst="rect">
                <a:avLst/>
              </a:prstGeom>
            </p:spPr>
          </p:pic>
        </mc:Fallback>
      </mc:AlternateContent>
      <p:pic>
        <p:nvPicPr>
          <p:cNvPr id="6" name="Picture 5">
            <a:extLst>
              <a:ext uri="{FF2B5EF4-FFF2-40B4-BE49-F238E27FC236}">
                <a16:creationId xmlns:a16="http://schemas.microsoft.com/office/drawing/2014/main" id="{8752637D-5ED3-4EB2-A4EE-52AA076D4D3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2880" y="2136916"/>
            <a:ext cx="3872974" cy="1977884"/>
          </a:xfrm>
          <a:prstGeom prst="rect">
            <a:avLst/>
          </a:prstGeom>
        </p:spPr>
      </p:pic>
    </p:spTree>
    <p:extLst>
      <p:ext uri="{BB962C8B-B14F-4D97-AF65-F5344CB8AC3E}">
        <p14:creationId xmlns:p14="http://schemas.microsoft.com/office/powerpoint/2010/main" val="12834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A26FE-D9E9-00A8-8C02-E4455E474149}"/>
              </a:ext>
            </a:extLst>
          </p:cNvPr>
          <p:cNvSpPr>
            <a:spLocks noGrp="1"/>
          </p:cNvSpPr>
          <p:nvPr>
            <p:ph type="title"/>
          </p:nvPr>
        </p:nvSpPr>
        <p:spPr/>
        <p:txBody>
          <a:bodyPr/>
          <a:lstStyle/>
          <a:p>
            <a:r>
              <a:rPr lang="en-US" dirty="0"/>
              <a:t>STOP</a:t>
            </a:r>
          </a:p>
        </p:txBody>
      </p:sp>
      <p:sp>
        <p:nvSpPr>
          <p:cNvPr id="3" name="Content Placeholder 2">
            <a:extLst>
              <a:ext uri="{FF2B5EF4-FFF2-40B4-BE49-F238E27FC236}">
                <a16:creationId xmlns:a16="http://schemas.microsoft.com/office/drawing/2014/main" id="{DAACF25F-EFC1-C5F2-4F2F-3A818B6F180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70687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E6F21-3C6F-42E8-A413-F13DE799243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6B9EDEE-A16F-DD41-1473-99C5C5F94886}"/>
                  </a:ext>
                </a:extLst>
              </p:cNvPr>
              <p:cNvSpPr txBox="1"/>
              <p:nvPr/>
            </p:nvSpPr>
            <p:spPr>
              <a:xfrm>
                <a:off x="96012" y="1284607"/>
                <a:ext cx="11138916" cy="2547429"/>
              </a:xfrm>
              <a:prstGeom prst="rect">
                <a:avLst/>
              </a:prstGeom>
              <a:noFill/>
            </p:spPr>
            <p:txBody>
              <a:bodyPr wrap="square">
                <a:spAutoFit/>
              </a:bodyPr>
              <a:lstStyle/>
              <a:p>
                <a:r>
                  <a:rPr lang="it-IT" sz="2000" dirty="0">
                    <a:solidFill>
                      <a:schemeClr val="accent6">
                        <a:lumMod val="60000"/>
                        <a:lumOff val="40000"/>
                      </a:schemeClr>
                    </a:solidFill>
                  </a:rPr>
                  <a:t>Model Error Distribution in AI:</a:t>
                </a:r>
              </a:p>
              <a:p>
                <a:r>
                  <a:rPr lang="en-US" sz="2000" dirty="0">
                    <a:solidFill>
                      <a:schemeClr val="accent6">
                        <a:lumMod val="60000"/>
                        <a:lumOff val="40000"/>
                      </a:schemeClr>
                    </a:solidFill>
                  </a:rPr>
                  <a:t>Suppose you trained a </a:t>
                </a:r>
                <a:r>
                  <a:rPr lang="en-US" sz="2000" b="1" dirty="0">
                    <a:solidFill>
                      <a:schemeClr val="accent6">
                        <a:lumMod val="60000"/>
                        <a:lumOff val="40000"/>
                      </a:schemeClr>
                    </a:solidFill>
                  </a:rPr>
                  <a:t>regression model</a:t>
                </a:r>
                <a:r>
                  <a:rPr lang="en-US" sz="2000" dirty="0">
                    <a:solidFill>
                      <a:schemeClr val="accent6">
                        <a:lumMod val="60000"/>
                        <a:lumOff val="40000"/>
                      </a:schemeClr>
                    </a:solidFill>
                  </a:rPr>
                  <a:t> to predict </a:t>
                </a:r>
                <a:r>
                  <a:rPr lang="en-US" sz="2000" b="1" dirty="0">
                    <a:solidFill>
                      <a:schemeClr val="accent6">
                        <a:lumMod val="60000"/>
                        <a:lumOff val="40000"/>
                      </a:schemeClr>
                    </a:solidFill>
                  </a:rPr>
                  <a:t>house prices</a:t>
                </a:r>
                <a:r>
                  <a:rPr lang="en-US" sz="2000" dirty="0">
                    <a:solidFill>
                      <a:schemeClr val="accent6">
                        <a:lumMod val="60000"/>
                        <a:lumOff val="40000"/>
                      </a:schemeClr>
                    </a:solidFill>
                  </a:rPr>
                  <a:t>.</a:t>
                </a:r>
                <a:br>
                  <a:rPr lang="en-US" sz="2000" dirty="0">
                    <a:solidFill>
                      <a:schemeClr val="accent6">
                        <a:lumMod val="60000"/>
                        <a:lumOff val="40000"/>
                      </a:schemeClr>
                    </a:solidFill>
                  </a:rPr>
                </a:br>
                <a:r>
                  <a:rPr lang="en-US" sz="2000" dirty="0">
                    <a:solidFill>
                      <a:schemeClr val="accent6">
                        <a:lumMod val="60000"/>
                        <a:lumOff val="40000"/>
                      </a:schemeClr>
                    </a:solidFill>
                  </a:rPr>
                  <a:t>After evaluating it on test data, you found the </a:t>
                </a:r>
                <a:r>
                  <a:rPr lang="en-US" sz="2000" b="1" dirty="0">
                    <a:solidFill>
                      <a:schemeClr val="accent6">
                        <a:lumMod val="60000"/>
                        <a:lumOff val="40000"/>
                      </a:schemeClr>
                    </a:solidFill>
                  </a:rPr>
                  <a:t>prediction errors (residuals)</a:t>
                </a:r>
                <a:r>
                  <a:rPr lang="en-US" sz="2000" dirty="0">
                    <a:solidFill>
                      <a:schemeClr val="accent6">
                        <a:lumMod val="60000"/>
                        <a:lumOff val="40000"/>
                      </a:schemeClr>
                    </a:solidFill>
                  </a:rPr>
                  <a:t> — i.e.</a:t>
                </a:r>
              </a:p>
              <a:p>
                <a:pPr/>
                <a14:m>
                  <m:oMathPara xmlns:m="http://schemas.openxmlformats.org/officeDocument/2006/math">
                    <m:oMathParaPr>
                      <m:jc m:val="centerGroup"/>
                    </m:oMathParaPr>
                    <m:oMath xmlns:m="http://schemas.openxmlformats.org/officeDocument/2006/math">
                      <m:r>
                        <m:rPr>
                          <m:nor/>
                        </m:rPr>
                        <a:rPr lang="en-US" sz="2000" b="0">
                          <a:solidFill>
                            <a:schemeClr val="accent6">
                              <a:lumMod val="60000"/>
                              <a:lumOff val="40000"/>
                            </a:schemeClr>
                          </a:solidFill>
                        </a:rPr>
                        <m:t>error</m:t>
                      </m:r>
                      <m:r>
                        <a:rPr lang="en-US">
                          <a:solidFill>
                            <a:schemeClr val="accent6">
                              <a:lumMod val="60000"/>
                              <a:lumOff val="40000"/>
                            </a:schemeClr>
                          </a:solidFill>
                          <a:latin typeface="Cambria Math" panose="02040503050406030204" pitchFamily="18" charset="0"/>
                        </a:rPr>
                        <m:t>=</m:t>
                      </m:r>
                      <m:r>
                        <m:rPr>
                          <m:nor/>
                        </m:rPr>
                        <a:rPr lang="en-US" i="1">
                          <a:solidFill>
                            <a:schemeClr val="accent6">
                              <a:lumMod val="60000"/>
                              <a:lumOff val="40000"/>
                            </a:schemeClr>
                          </a:solidFill>
                        </a:rPr>
                        <m:t>predicted</m:t>
                      </m:r>
                      <m:r>
                        <a:rPr lang="en-US">
                          <a:solidFill>
                            <a:schemeClr val="accent6">
                              <a:lumMod val="60000"/>
                              <a:lumOff val="40000"/>
                            </a:schemeClr>
                          </a:solidFill>
                          <a:latin typeface="Cambria Math" panose="02040503050406030204" pitchFamily="18" charset="0"/>
                        </a:rPr>
                        <m:t>−</m:t>
                      </m:r>
                      <m:r>
                        <m:rPr>
                          <m:nor/>
                        </m:rPr>
                        <a:rPr lang="en-US" i="1">
                          <a:solidFill>
                            <a:schemeClr val="accent6">
                              <a:lumMod val="60000"/>
                              <a:lumOff val="40000"/>
                            </a:schemeClr>
                          </a:solidFill>
                        </a:rPr>
                        <m:t>actual</m:t>
                      </m:r>
                    </m:oMath>
                  </m:oMathPara>
                </a14:m>
                <a:endParaRPr lang="en-US" sz="2000" b="0" dirty="0">
                  <a:solidFill>
                    <a:schemeClr val="accent6">
                      <a:lumMod val="60000"/>
                      <a:lumOff val="40000"/>
                    </a:schemeClr>
                  </a:solidFill>
                </a:endParaRPr>
              </a:p>
              <a:p>
                <a:r>
                  <a:rPr lang="en-US" sz="2000" dirty="0">
                    <a:solidFill>
                      <a:schemeClr val="accent6">
                        <a:lumMod val="60000"/>
                        <a:lumOff val="40000"/>
                      </a:schemeClr>
                    </a:solidFill>
                  </a:rPr>
                  <a:t>follow approximately a normal distribution with mean = 0 and </a:t>
                </a:r>
              </a:p>
              <a:p>
                <a:r>
                  <a:rPr lang="en-US" sz="2000" dirty="0">
                    <a:solidFill>
                      <a:schemeClr val="accent6">
                        <a:lumMod val="60000"/>
                        <a:lumOff val="40000"/>
                      </a:schemeClr>
                    </a:solidFill>
                  </a:rPr>
                  <a:t>standard distribution = 5</a:t>
                </a:r>
              </a:p>
              <a:p>
                <a:r>
                  <a:rPr lang="en-US" sz="2000" dirty="0">
                    <a:solidFill>
                      <a:schemeClr val="accent6">
                        <a:lumMod val="60000"/>
                        <a:lumOff val="40000"/>
                      </a:schemeClr>
                    </a:solidFill>
                  </a:rPr>
                  <a:t>What is the probability that the model’s prediction error is </a:t>
                </a:r>
              </a:p>
              <a:p>
                <a:r>
                  <a:rPr lang="en-US" sz="2000" b="1" dirty="0">
                    <a:solidFill>
                      <a:schemeClr val="accent6">
                        <a:lumMod val="60000"/>
                        <a:lumOff val="40000"/>
                      </a:schemeClr>
                    </a:solidFill>
                  </a:rPr>
                  <a:t>greater than +8 lakhs</a:t>
                </a:r>
                <a:r>
                  <a:rPr lang="en-US" sz="2000" dirty="0">
                    <a:solidFill>
                      <a:schemeClr val="accent6">
                        <a:lumMod val="60000"/>
                        <a:lumOff val="40000"/>
                      </a:schemeClr>
                    </a:solidFill>
                  </a:rPr>
                  <a:t> (i.e. it overestimates by more than $ 800,000)?</a:t>
                </a:r>
              </a:p>
            </p:txBody>
          </p:sp>
        </mc:Choice>
        <mc:Fallback xmlns="">
          <p:sp>
            <p:nvSpPr>
              <p:cNvPr id="13" name="TextBox 12">
                <a:extLst>
                  <a:ext uri="{FF2B5EF4-FFF2-40B4-BE49-F238E27FC236}">
                    <a16:creationId xmlns:a16="http://schemas.microsoft.com/office/drawing/2014/main" id="{46B9EDEE-A16F-DD41-1473-99C5C5F94886}"/>
                  </a:ext>
                </a:extLst>
              </p:cNvPr>
              <p:cNvSpPr txBox="1">
                <a:spLocks noRot="1" noChangeAspect="1" noMove="1" noResize="1" noEditPoints="1" noAdjustHandles="1" noChangeArrowheads="1" noChangeShapeType="1" noTextEdit="1"/>
              </p:cNvSpPr>
              <p:nvPr/>
            </p:nvSpPr>
            <p:spPr>
              <a:xfrm>
                <a:off x="96012" y="1284607"/>
                <a:ext cx="11138916" cy="2547429"/>
              </a:xfrm>
              <a:prstGeom prst="rect">
                <a:avLst/>
              </a:prstGeom>
              <a:blipFill>
                <a:blip r:embed="rId2"/>
                <a:stretch>
                  <a:fillRect l="-602" t="-1435" b="-3349"/>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EB06DEA5-02E3-1227-9ECA-ABD5EF3C7580}"/>
              </a:ext>
            </a:extLst>
          </p:cNvPr>
          <p:cNvPicPr>
            <a:picLocks noChangeAspect="1"/>
          </p:cNvPicPr>
          <p:nvPr/>
        </p:nvPicPr>
        <p:blipFill>
          <a:blip r:embed="rId3"/>
          <a:stretch>
            <a:fillRect/>
          </a:stretch>
        </p:blipFill>
        <p:spPr>
          <a:xfrm>
            <a:off x="7461504" y="2294397"/>
            <a:ext cx="4634485" cy="4034335"/>
          </a:xfrm>
          <a:prstGeom prst="rect">
            <a:avLst/>
          </a:prstGeom>
        </p:spPr>
      </p:pic>
      <p:sp>
        <p:nvSpPr>
          <p:cNvPr id="2" name="Freeform: Shape 1">
            <a:extLst>
              <a:ext uri="{FF2B5EF4-FFF2-40B4-BE49-F238E27FC236}">
                <a16:creationId xmlns:a16="http://schemas.microsoft.com/office/drawing/2014/main" id="{28AA9EB4-0D54-B095-DDC2-DD2883FD455E}"/>
              </a:ext>
            </a:extLst>
          </p:cNvPr>
          <p:cNvSpPr/>
          <p:nvPr/>
        </p:nvSpPr>
        <p:spPr>
          <a:xfrm>
            <a:off x="8174735" y="207227"/>
            <a:ext cx="1143823" cy="384683"/>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3" name="Title 1">
            <a:extLst>
              <a:ext uri="{FF2B5EF4-FFF2-40B4-BE49-F238E27FC236}">
                <a16:creationId xmlns:a16="http://schemas.microsoft.com/office/drawing/2014/main" id="{7FAAC6A1-A393-E3BF-F6A9-4C670FF21F8B}"/>
              </a:ext>
            </a:extLst>
          </p:cNvPr>
          <p:cNvSpPr txBox="1">
            <a:spLocks/>
          </p:cNvSpPr>
          <p:nvPr/>
        </p:nvSpPr>
        <p:spPr>
          <a:xfrm>
            <a:off x="301752" y="98625"/>
            <a:ext cx="11052048" cy="6041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a:lstStyle>
          <a:p>
            <a:r>
              <a:rPr lang="en-US" sz="2800" b="1" dirty="0"/>
              <a:t>Normal Distribution: Problem</a:t>
            </a:r>
            <a:endParaRPr lang="en-US" sz="2800" dirty="0"/>
          </a:p>
        </p:txBody>
      </p:sp>
    </p:spTree>
    <p:extLst>
      <p:ext uri="{BB962C8B-B14F-4D97-AF65-F5344CB8AC3E}">
        <p14:creationId xmlns:p14="http://schemas.microsoft.com/office/powerpoint/2010/main" val="96512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B263CF4-E623-EAB3-8F05-7D277923497D}"/>
              </a:ext>
            </a:extLst>
          </p:cNvPr>
          <p:cNvGraphicFramePr>
            <a:graphicFrameLocks noGrp="1"/>
          </p:cNvGraphicFramePr>
          <p:nvPr>
            <p:extLst>
              <p:ext uri="{D42A27DB-BD31-4B8C-83A1-F6EECF244321}">
                <p14:modId xmlns:p14="http://schemas.microsoft.com/office/powerpoint/2010/main" val="1610116703"/>
              </p:ext>
            </p:extLst>
          </p:nvPr>
        </p:nvGraphicFramePr>
        <p:xfrm>
          <a:off x="722376" y="1825625"/>
          <a:ext cx="10415016" cy="4351339"/>
        </p:xfrm>
        <a:graphic>
          <a:graphicData uri="http://schemas.openxmlformats.org/drawingml/2006/table">
            <a:tbl>
              <a:tblPr/>
              <a:tblGrid>
                <a:gridCol w="3063240">
                  <a:extLst>
                    <a:ext uri="{9D8B030D-6E8A-4147-A177-3AD203B41FA5}">
                      <a16:colId xmlns:a16="http://schemas.microsoft.com/office/drawing/2014/main" val="259433652"/>
                    </a:ext>
                  </a:extLst>
                </a:gridCol>
                <a:gridCol w="3880104">
                  <a:extLst>
                    <a:ext uri="{9D8B030D-6E8A-4147-A177-3AD203B41FA5}">
                      <a16:colId xmlns:a16="http://schemas.microsoft.com/office/drawing/2014/main" val="1337176991"/>
                    </a:ext>
                  </a:extLst>
                </a:gridCol>
                <a:gridCol w="3471672">
                  <a:extLst>
                    <a:ext uri="{9D8B030D-6E8A-4147-A177-3AD203B41FA5}">
                      <a16:colId xmlns:a16="http://schemas.microsoft.com/office/drawing/2014/main" val="1819391723"/>
                    </a:ext>
                  </a:extLst>
                </a:gridCol>
              </a:tblGrid>
              <a:tr h="305357">
                <a:tc>
                  <a:txBody>
                    <a:bodyPr/>
                    <a:lstStyle/>
                    <a:p>
                      <a:pPr>
                        <a:buNone/>
                      </a:pPr>
                      <a:r>
                        <a:rPr lang="en-US" sz="1500">
                          <a:solidFill>
                            <a:schemeClr val="accent6">
                              <a:lumMod val="60000"/>
                              <a:lumOff val="40000"/>
                            </a:schemeClr>
                          </a:solidFill>
                        </a:rPr>
                        <a:t>Category</a:t>
                      </a:r>
                    </a:p>
                  </a:txBody>
                  <a:tcPr marL="76339" marR="76339" marT="38170" marB="38170" anchor="ctr">
                    <a:lnL>
                      <a:noFill/>
                    </a:lnL>
                    <a:lnR>
                      <a:noFill/>
                    </a:lnR>
                    <a:lnT>
                      <a:noFill/>
                    </a:lnT>
                    <a:lnB>
                      <a:noFill/>
                    </a:lnB>
                    <a:noFill/>
                  </a:tcPr>
                </a:tc>
                <a:tc>
                  <a:txBody>
                    <a:bodyPr/>
                    <a:lstStyle/>
                    <a:p>
                      <a:pPr>
                        <a:buNone/>
                      </a:pPr>
                      <a:r>
                        <a:rPr lang="en-US" sz="1500">
                          <a:solidFill>
                            <a:schemeClr val="accent6">
                              <a:lumMod val="60000"/>
                              <a:lumOff val="40000"/>
                            </a:schemeClr>
                          </a:solidFill>
                        </a:rPr>
                        <a:t>Examples</a:t>
                      </a:r>
                    </a:p>
                  </a:txBody>
                  <a:tcPr marL="76339" marR="76339" marT="38170" marB="38170" anchor="ctr">
                    <a:lnL>
                      <a:noFill/>
                    </a:lnL>
                    <a:lnR>
                      <a:noFill/>
                    </a:lnR>
                    <a:lnT>
                      <a:noFill/>
                    </a:lnT>
                    <a:lnB>
                      <a:noFill/>
                    </a:lnB>
                    <a:noFill/>
                  </a:tcPr>
                </a:tc>
                <a:tc>
                  <a:txBody>
                    <a:bodyPr/>
                    <a:lstStyle/>
                    <a:p>
                      <a:pPr>
                        <a:buNone/>
                      </a:pPr>
                      <a:r>
                        <a:rPr lang="en-US" sz="1500">
                          <a:solidFill>
                            <a:schemeClr val="accent6">
                              <a:lumMod val="60000"/>
                              <a:lumOff val="40000"/>
                            </a:schemeClr>
                          </a:solidFill>
                        </a:rPr>
                        <a:t>Why It’s Normal</a:t>
                      </a:r>
                    </a:p>
                  </a:txBody>
                  <a:tcPr marL="76339" marR="76339" marT="38170" marB="38170" anchor="ctr">
                    <a:lnL>
                      <a:noFill/>
                    </a:lnL>
                    <a:lnR>
                      <a:noFill/>
                    </a:lnR>
                    <a:lnT>
                      <a:noFill/>
                    </a:lnT>
                    <a:lnB>
                      <a:noFill/>
                    </a:lnB>
                    <a:noFill/>
                  </a:tcPr>
                </a:tc>
                <a:extLst>
                  <a:ext uri="{0D108BD9-81ED-4DB2-BD59-A6C34878D82A}">
                    <a16:rowId xmlns:a16="http://schemas.microsoft.com/office/drawing/2014/main" val="344460883"/>
                  </a:ext>
                </a:extLst>
              </a:tr>
              <a:tr h="763393">
                <a:tc>
                  <a:txBody>
                    <a:bodyPr/>
                    <a:lstStyle/>
                    <a:p>
                      <a:pPr>
                        <a:buNone/>
                      </a:pPr>
                      <a:r>
                        <a:rPr lang="en-US" sz="1500" b="1" dirty="0">
                          <a:solidFill>
                            <a:schemeClr val="accent6">
                              <a:lumMod val="60000"/>
                              <a:lumOff val="40000"/>
                            </a:schemeClr>
                          </a:solidFill>
                        </a:rPr>
                        <a:t>Human Characteristics</a:t>
                      </a:r>
                      <a:endParaRPr lang="en-US" sz="1500" dirty="0">
                        <a:solidFill>
                          <a:schemeClr val="accent6">
                            <a:lumMod val="60000"/>
                            <a:lumOff val="40000"/>
                          </a:schemeClr>
                        </a:solidFill>
                      </a:endParaRPr>
                    </a:p>
                  </a:txBody>
                  <a:tcPr marL="76339" marR="76339" marT="38170" marB="38170" anchor="ctr">
                    <a:lnL>
                      <a:noFill/>
                    </a:lnL>
                    <a:lnR>
                      <a:noFill/>
                    </a:lnR>
                    <a:lnT>
                      <a:noFill/>
                    </a:lnT>
                    <a:lnB>
                      <a:noFill/>
                    </a:lnB>
                    <a:noFill/>
                  </a:tcPr>
                </a:tc>
                <a:tc>
                  <a:txBody>
                    <a:bodyPr/>
                    <a:lstStyle/>
                    <a:p>
                      <a:pPr>
                        <a:buNone/>
                      </a:pPr>
                      <a:r>
                        <a:rPr lang="en-US" sz="1500" dirty="0">
                          <a:solidFill>
                            <a:schemeClr val="accent6">
                              <a:lumMod val="60000"/>
                              <a:lumOff val="40000"/>
                            </a:schemeClr>
                          </a:solidFill>
                        </a:rPr>
                        <a:t>- Height - Weight - Blood pressure - IQ scores</a:t>
                      </a:r>
                    </a:p>
                  </a:txBody>
                  <a:tcPr marL="76339" marR="76339" marT="38170" marB="38170" anchor="ctr">
                    <a:lnL>
                      <a:noFill/>
                    </a:lnL>
                    <a:lnR>
                      <a:noFill/>
                    </a:lnR>
                    <a:lnT>
                      <a:noFill/>
                    </a:lnT>
                    <a:lnB>
                      <a:noFill/>
                    </a:lnB>
                    <a:noFill/>
                  </a:tcPr>
                </a:tc>
                <a:tc>
                  <a:txBody>
                    <a:bodyPr/>
                    <a:lstStyle/>
                    <a:p>
                      <a:pPr>
                        <a:buNone/>
                      </a:pPr>
                      <a:r>
                        <a:rPr lang="en-US" sz="1500">
                          <a:solidFill>
                            <a:schemeClr val="accent6">
                              <a:lumMod val="60000"/>
                              <a:lumOff val="40000"/>
                            </a:schemeClr>
                          </a:solidFill>
                        </a:rPr>
                        <a:t>These traits result from many small genetic and environmental influences.</a:t>
                      </a:r>
                    </a:p>
                  </a:txBody>
                  <a:tcPr marL="76339" marR="76339" marT="38170" marB="38170" anchor="ctr">
                    <a:lnL>
                      <a:noFill/>
                    </a:lnL>
                    <a:lnR>
                      <a:noFill/>
                    </a:lnR>
                    <a:lnT>
                      <a:noFill/>
                    </a:lnT>
                    <a:lnB>
                      <a:noFill/>
                    </a:lnB>
                    <a:noFill/>
                  </a:tcPr>
                </a:tc>
                <a:extLst>
                  <a:ext uri="{0D108BD9-81ED-4DB2-BD59-A6C34878D82A}">
                    <a16:rowId xmlns:a16="http://schemas.microsoft.com/office/drawing/2014/main" val="3614013343"/>
                  </a:ext>
                </a:extLst>
              </a:tr>
              <a:tr h="534375">
                <a:tc>
                  <a:txBody>
                    <a:bodyPr/>
                    <a:lstStyle/>
                    <a:p>
                      <a:pPr>
                        <a:buNone/>
                      </a:pPr>
                      <a:r>
                        <a:rPr lang="en-US" sz="1500" b="1" dirty="0">
                          <a:solidFill>
                            <a:schemeClr val="accent6">
                              <a:lumMod val="60000"/>
                              <a:lumOff val="40000"/>
                            </a:schemeClr>
                          </a:solidFill>
                        </a:rPr>
                        <a:t>Measurement &amp; Experimental Data</a:t>
                      </a:r>
                      <a:endParaRPr lang="en-US" sz="1500" dirty="0">
                        <a:solidFill>
                          <a:schemeClr val="accent6">
                            <a:lumMod val="60000"/>
                            <a:lumOff val="40000"/>
                          </a:schemeClr>
                        </a:solidFill>
                      </a:endParaRPr>
                    </a:p>
                  </a:txBody>
                  <a:tcPr marL="76339" marR="76339" marT="38170" marB="38170" anchor="ctr">
                    <a:lnL>
                      <a:noFill/>
                    </a:lnL>
                    <a:lnR>
                      <a:noFill/>
                    </a:lnR>
                    <a:lnT>
                      <a:noFill/>
                    </a:lnT>
                    <a:lnB>
                      <a:noFill/>
                    </a:lnB>
                    <a:noFill/>
                  </a:tcPr>
                </a:tc>
                <a:tc>
                  <a:txBody>
                    <a:bodyPr/>
                    <a:lstStyle/>
                    <a:p>
                      <a:pPr>
                        <a:buNone/>
                      </a:pPr>
                      <a:r>
                        <a:rPr lang="fr-FR" sz="1500">
                          <a:solidFill>
                            <a:schemeClr val="accent6">
                              <a:lumMod val="60000"/>
                              <a:lumOff val="40000"/>
                            </a:schemeClr>
                          </a:solidFill>
                        </a:rPr>
                        <a:t>- Instrument errors - Sensor noise - Temperature variations</a:t>
                      </a:r>
                    </a:p>
                  </a:txBody>
                  <a:tcPr marL="76339" marR="76339" marT="38170" marB="38170" anchor="ctr">
                    <a:lnL>
                      <a:noFill/>
                    </a:lnL>
                    <a:lnR>
                      <a:noFill/>
                    </a:lnR>
                    <a:lnT>
                      <a:noFill/>
                    </a:lnT>
                    <a:lnB>
                      <a:noFill/>
                    </a:lnB>
                    <a:noFill/>
                  </a:tcPr>
                </a:tc>
                <a:tc>
                  <a:txBody>
                    <a:bodyPr/>
                    <a:lstStyle/>
                    <a:p>
                      <a:pPr>
                        <a:buNone/>
                      </a:pPr>
                      <a:r>
                        <a:rPr lang="en-US" sz="1500">
                          <a:solidFill>
                            <a:schemeClr val="accent6">
                              <a:lumMod val="60000"/>
                              <a:lumOff val="40000"/>
                            </a:schemeClr>
                          </a:solidFill>
                        </a:rPr>
                        <a:t>Measurement noise arises from many tiny, random fluctuations.</a:t>
                      </a:r>
                    </a:p>
                  </a:txBody>
                  <a:tcPr marL="76339" marR="76339" marT="38170" marB="38170" anchor="ctr">
                    <a:lnL>
                      <a:noFill/>
                    </a:lnL>
                    <a:lnR>
                      <a:noFill/>
                    </a:lnR>
                    <a:lnT>
                      <a:noFill/>
                    </a:lnT>
                    <a:lnB>
                      <a:noFill/>
                    </a:lnB>
                    <a:noFill/>
                  </a:tcPr>
                </a:tc>
                <a:extLst>
                  <a:ext uri="{0D108BD9-81ED-4DB2-BD59-A6C34878D82A}">
                    <a16:rowId xmlns:a16="http://schemas.microsoft.com/office/drawing/2014/main" val="2627743839"/>
                  </a:ext>
                </a:extLst>
              </a:tr>
              <a:tr h="763393">
                <a:tc>
                  <a:txBody>
                    <a:bodyPr/>
                    <a:lstStyle/>
                    <a:p>
                      <a:pPr>
                        <a:buNone/>
                      </a:pPr>
                      <a:r>
                        <a:rPr lang="en-US" sz="1500" b="1" dirty="0">
                          <a:solidFill>
                            <a:schemeClr val="accent6">
                              <a:lumMod val="60000"/>
                              <a:lumOff val="40000"/>
                            </a:schemeClr>
                          </a:solidFill>
                        </a:rPr>
                        <a:t>Finance &amp; Economics</a:t>
                      </a:r>
                      <a:endParaRPr lang="en-US" sz="1500" dirty="0">
                        <a:solidFill>
                          <a:schemeClr val="accent6">
                            <a:lumMod val="60000"/>
                            <a:lumOff val="40000"/>
                          </a:schemeClr>
                        </a:solidFill>
                      </a:endParaRPr>
                    </a:p>
                  </a:txBody>
                  <a:tcPr marL="76339" marR="76339" marT="38170" marB="38170" anchor="ctr">
                    <a:lnL>
                      <a:noFill/>
                    </a:lnL>
                    <a:lnR>
                      <a:noFill/>
                    </a:lnR>
                    <a:lnT>
                      <a:noFill/>
                    </a:lnT>
                    <a:lnB>
                      <a:noFill/>
                    </a:lnB>
                    <a:noFill/>
                  </a:tcPr>
                </a:tc>
                <a:tc>
                  <a:txBody>
                    <a:bodyPr/>
                    <a:lstStyle/>
                    <a:p>
                      <a:pPr>
                        <a:buNone/>
                      </a:pPr>
                      <a:r>
                        <a:rPr lang="en-US" sz="1500">
                          <a:solidFill>
                            <a:schemeClr val="accent6">
                              <a:lumMod val="60000"/>
                              <a:lumOff val="40000"/>
                            </a:schemeClr>
                          </a:solidFill>
                        </a:rPr>
                        <a:t>- Daily stock returns (approximately) - Market demand fluctuations</a:t>
                      </a:r>
                    </a:p>
                  </a:txBody>
                  <a:tcPr marL="76339" marR="76339" marT="38170" marB="38170" anchor="ctr">
                    <a:lnL>
                      <a:noFill/>
                    </a:lnL>
                    <a:lnR>
                      <a:noFill/>
                    </a:lnR>
                    <a:lnT>
                      <a:noFill/>
                    </a:lnT>
                    <a:lnB>
                      <a:noFill/>
                    </a:lnB>
                    <a:noFill/>
                  </a:tcPr>
                </a:tc>
                <a:tc>
                  <a:txBody>
                    <a:bodyPr/>
                    <a:lstStyle/>
                    <a:p>
                      <a:pPr>
                        <a:buNone/>
                      </a:pPr>
                      <a:r>
                        <a:rPr lang="en-US" sz="1500">
                          <a:solidFill>
                            <a:schemeClr val="accent6">
                              <a:lumMod val="60000"/>
                              <a:lumOff val="40000"/>
                            </a:schemeClr>
                          </a:solidFill>
                        </a:rPr>
                        <a:t>Many independent market factors influence outcomes.</a:t>
                      </a:r>
                    </a:p>
                  </a:txBody>
                  <a:tcPr marL="76339" marR="76339" marT="38170" marB="38170" anchor="ctr">
                    <a:lnL>
                      <a:noFill/>
                    </a:lnL>
                    <a:lnR>
                      <a:noFill/>
                    </a:lnR>
                    <a:lnT>
                      <a:noFill/>
                    </a:lnT>
                    <a:lnB>
                      <a:noFill/>
                    </a:lnB>
                    <a:noFill/>
                  </a:tcPr>
                </a:tc>
                <a:extLst>
                  <a:ext uri="{0D108BD9-81ED-4DB2-BD59-A6C34878D82A}">
                    <a16:rowId xmlns:a16="http://schemas.microsoft.com/office/drawing/2014/main" val="2960857533"/>
                  </a:ext>
                </a:extLst>
              </a:tr>
              <a:tr h="763393">
                <a:tc>
                  <a:txBody>
                    <a:bodyPr/>
                    <a:lstStyle/>
                    <a:p>
                      <a:pPr>
                        <a:buNone/>
                      </a:pPr>
                      <a:r>
                        <a:rPr lang="en-US" sz="1500" b="1" dirty="0">
                          <a:solidFill>
                            <a:schemeClr val="accent6">
                              <a:lumMod val="60000"/>
                              <a:lumOff val="40000"/>
                            </a:schemeClr>
                          </a:solidFill>
                        </a:rPr>
                        <a:t>Manufacturing / Quality Control</a:t>
                      </a:r>
                      <a:endParaRPr lang="en-US" sz="1500" dirty="0">
                        <a:solidFill>
                          <a:schemeClr val="accent6">
                            <a:lumMod val="60000"/>
                            <a:lumOff val="40000"/>
                          </a:schemeClr>
                        </a:solidFill>
                      </a:endParaRPr>
                    </a:p>
                  </a:txBody>
                  <a:tcPr marL="76339" marR="76339" marT="38170" marB="38170" anchor="ctr">
                    <a:lnL>
                      <a:noFill/>
                    </a:lnL>
                    <a:lnR>
                      <a:noFill/>
                    </a:lnR>
                    <a:lnT>
                      <a:noFill/>
                    </a:lnT>
                    <a:lnB>
                      <a:noFill/>
                    </a:lnB>
                    <a:noFill/>
                  </a:tcPr>
                </a:tc>
                <a:tc>
                  <a:txBody>
                    <a:bodyPr/>
                    <a:lstStyle/>
                    <a:p>
                      <a:pPr>
                        <a:buNone/>
                      </a:pPr>
                      <a:r>
                        <a:rPr lang="en-US" sz="1500">
                          <a:solidFill>
                            <a:schemeClr val="accent6">
                              <a:lumMod val="60000"/>
                              <a:lumOff val="40000"/>
                            </a:schemeClr>
                          </a:solidFill>
                        </a:rPr>
                        <a:t>- Length of produced parts - Material thickness</a:t>
                      </a:r>
                    </a:p>
                  </a:txBody>
                  <a:tcPr marL="76339" marR="76339" marT="38170" marB="38170" anchor="ctr">
                    <a:lnL>
                      <a:noFill/>
                    </a:lnL>
                    <a:lnR>
                      <a:noFill/>
                    </a:lnR>
                    <a:lnT>
                      <a:noFill/>
                    </a:lnT>
                    <a:lnB>
                      <a:noFill/>
                    </a:lnB>
                    <a:noFill/>
                  </a:tcPr>
                </a:tc>
                <a:tc>
                  <a:txBody>
                    <a:bodyPr/>
                    <a:lstStyle/>
                    <a:p>
                      <a:pPr>
                        <a:buNone/>
                      </a:pPr>
                      <a:r>
                        <a:rPr lang="en-US" sz="1500">
                          <a:solidFill>
                            <a:schemeClr val="accent6">
                              <a:lumMod val="60000"/>
                              <a:lumOff val="40000"/>
                            </a:schemeClr>
                          </a:solidFill>
                        </a:rPr>
                        <a:t>Random variation in machines and materials combine to form a bell curve.</a:t>
                      </a:r>
                    </a:p>
                  </a:txBody>
                  <a:tcPr marL="76339" marR="76339" marT="38170" marB="38170" anchor="ctr">
                    <a:lnL>
                      <a:noFill/>
                    </a:lnL>
                    <a:lnR>
                      <a:noFill/>
                    </a:lnR>
                    <a:lnT>
                      <a:noFill/>
                    </a:lnT>
                    <a:lnB>
                      <a:noFill/>
                    </a:lnB>
                    <a:noFill/>
                  </a:tcPr>
                </a:tc>
                <a:extLst>
                  <a:ext uri="{0D108BD9-81ED-4DB2-BD59-A6C34878D82A}">
                    <a16:rowId xmlns:a16="http://schemas.microsoft.com/office/drawing/2014/main" val="3845916047"/>
                  </a:ext>
                </a:extLst>
              </a:tr>
              <a:tr h="1221428">
                <a:tc>
                  <a:txBody>
                    <a:bodyPr/>
                    <a:lstStyle/>
                    <a:p>
                      <a:pPr>
                        <a:buNone/>
                      </a:pPr>
                      <a:r>
                        <a:rPr lang="en-US" sz="1500" b="1" dirty="0">
                          <a:solidFill>
                            <a:schemeClr val="accent6">
                              <a:lumMod val="60000"/>
                              <a:lumOff val="40000"/>
                            </a:schemeClr>
                          </a:solidFill>
                        </a:rPr>
                        <a:t>AI / Machine Learning Context</a:t>
                      </a:r>
                      <a:endParaRPr lang="en-US" sz="1500" dirty="0">
                        <a:solidFill>
                          <a:schemeClr val="accent6">
                            <a:lumMod val="60000"/>
                            <a:lumOff val="40000"/>
                          </a:schemeClr>
                        </a:solidFill>
                      </a:endParaRPr>
                    </a:p>
                  </a:txBody>
                  <a:tcPr marL="76339" marR="76339" marT="38170" marB="38170" anchor="ctr">
                    <a:lnL>
                      <a:noFill/>
                    </a:lnL>
                    <a:lnR>
                      <a:noFill/>
                    </a:lnR>
                    <a:lnT>
                      <a:noFill/>
                    </a:lnT>
                    <a:lnB>
                      <a:noFill/>
                    </a:lnB>
                    <a:noFill/>
                  </a:tcPr>
                </a:tc>
                <a:tc>
                  <a:txBody>
                    <a:bodyPr/>
                    <a:lstStyle/>
                    <a:p>
                      <a:pPr>
                        <a:buNone/>
                      </a:pPr>
                      <a:r>
                        <a:rPr lang="en-US" sz="1500">
                          <a:solidFill>
                            <a:schemeClr val="accent6">
                              <a:lumMod val="60000"/>
                              <a:lumOff val="40000"/>
                            </a:schemeClr>
                          </a:solidFill>
                        </a:rPr>
                        <a:t>- Model residuals (errors) in linear regression - Feature distributions after normalization - Weights initialization in neural networks (e.g. Gaussian init)</a:t>
                      </a:r>
                    </a:p>
                  </a:txBody>
                  <a:tcPr marL="76339" marR="76339" marT="38170" marB="38170" anchor="ctr">
                    <a:lnL>
                      <a:noFill/>
                    </a:lnL>
                    <a:lnR>
                      <a:noFill/>
                    </a:lnR>
                    <a:lnT>
                      <a:noFill/>
                    </a:lnT>
                    <a:lnB>
                      <a:noFill/>
                    </a:lnB>
                    <a:noFill/>
                  </a:tcPr>
                </a:tc>
                <a:tc>
                  <a:txBody>
                    <a:bodyPr/>
                    <a:lstStyle/>
                    <a:p>
                      <a:pPr>
                        <a:buNone/>
                      </a:pPr>
                      <a:r>
                        <a:rPr lang="en-US" sz="1500" dirty="0">
                          <a:solidFill>
                            <a:schemeClr val="accent6">
                              <a:lumMod val="60000"/>
                              <a:lumOff val="40000"/>
                            </a:schemeClr>
                          </a:solidFill>
                        </a:rPr>
                        <a:t>Model errors often spread symmetrically around zero; Gaussian noise is often assumed for stability and analysis.</a:t>
                      </a:r>
                    </a:p>
                  </a:txBody>
                  <a:tcPr marL="76339" marR="76339" marT="38170" marB="38170" anchor="ctr">
                    <a:lnL>
                      <a:noFill/>
                    </a:lnL>
                    <a:lnR>
                      <a:noFill/>
                    </a:lnR>
                    <a:lnT>
                      <a:noFill/>
                    </a:lnT>
                    <a:lnB>
                      <a:noFill/>
                    </a:lnB>
                    <a:noFill/>
                  </a:tcPr>
                </a:tc>
                <a:extLst>
                  <a:ext uri="{0D108BD9-81ED-4DB2-BD59-A6C34878D82A}">
                    <a16:rowId xmlns:a16="http://schemas.microsoft.com/office/drawing/2014/main" val="2237921422"/>
                  </a:ext>
                </a:extLst>
              </a:tr>
            </a:tbl>
          </a:graphicData>
        </a:graphic>
      </p:graphicFrame>
      <p:sp>
        <p:nvSpPr>
          <p:cNvPr id="2" name="Title 1">
            <a:extLst>
              <a:ext uri="{FF2B5EF4-FFF2-40B4-BE49-F238E27FC236}">
                <a16:creationId xmlns:a16="http://schemas.microsoft.com/office/drawing/2014/main" id="{DB0C52A2-5FED-5A26-2F74-EEEED2DF1786}"/>
              </a:ext>
            </a:extLst>
          </p:cNvPr>
          <p:cNvSpPr txBox="1">
            <a:spLocks/>
          </p:cNvSpPr>
          <p:nvPr/>
        </p:nvSpPr>
        <p:spPr>
          <a:xfrm>
            <a:off x="301752" y="98625"/>
            <a:ext cx="11052048" cy="6041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a:lstStyle>
          <a:p>
            <a:r>
              <a:rPr lang="en-US" sz="2800" b="1" dirty="0"/>
              <a:t>Normal Distribution Function: Uses</a:t>
            </a:r>
            <a:endParaRPr lang="en-US" sz="2800" dirty="0"/>
          </a:p>
        </p:txBody>
      </p:sp>
      <p:sp>
        <p:nvSpPr>
          <p:cNvPr id="3" name="Freeform: Shape 2">
            <a:extLst>
              <a:ext uri="{FF2B5EF4-FFF2-40B4-BE49-F238E27FC236}">
                <a16:creationId xmlns:a16="http://schemas.microsoft.com/office/drawing/2014/main" id="{B51B52FD-9D0A-45C3-5172-A73A21E2CCB1}"/>
              </a:ext>
            </a:extLst>
          </p:cNvPr>
          <p:cNvSpPr/>
          <p:nvPr/>
        </p:nvSpPr>
        <p:spPr>
          <a:xfrm>
            <a:off x="8174735" y="207227"/>
            <a:ext cx="1143823" cy="384683"/>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622742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21E17-A141-22B3-B6F8-0E1A54AEA0D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CD90F3F-DA7C-4B35-8FD6-DA2D14FEC7EA}"/>
              </a:ext>
            </a:extLst>
          </p:cNvPr>
          <p:cNvSpPr txBox="1">
            <a:spLocks/>
          </p:cNvSpPr>
          <p:nvPr/>
        </p:nvSpPr>
        <p:spPr>
          <a:xfrm>
            <a:off x="1764792" y="98625"/>
            <a:ext cx="11052048" cy="6041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a:lstStyle>
          <a:p>
            <a:pPr algn="ctr"/>
            <a:r>
              <a:rPr lang="en-US" sz="2800" b="1" dirty="0"/>
              <a:t>Normal Distribution Functions</a:t>
            </a:r>
            <a:endParaRPr lang="en-US" sz="2800" dirty="0"/>
          </a:p>
        </p:txBody>
      </p:sp>
      <p:sp>
        <p:nvSpPr>
          <p:cNvPr id="7" name="Freeform: Shape 6">
            <a:extLst>
              <a:ext uri="{FF2B5EF4-FFF2-40B4-BE49-F238E27FC236}">
                <a16:creationId xmlns:a16="http://schemas.microsoft.com/office/drawing/2014/main" id="{69FD69E8-150C-7FAE-65A1-6EA20887BC84}"/>
              </a:ext>
            </a:extLst>
          </p:cNvPr>
          <p:cNvSpPr/>
          <p:nvPr/>
        </p:nvSpPr>
        <p:spPr>
          <a:xfrm>
            <a:off x="484632" y="859536"/>
            <a:ext cx="7013448" cy="2423160"/>
          </a:xfrm>
          <a:custGeom>
            <a:avLst/>
            <a:gdLst>
              <a:gd name="connsiteX0" fmla="*/ 0 w 11320272"/>
              <a:gd name="connsiteY0" fmla="*/ 4892040 h 4892040"/>
              <a:gd name="connsiteX1" fmla="*/ 3593592 w 11320272"/>
              <a:gd name="connsiteY1" fmla="*/ 3584448 h 4892040"/>
              <a:gd name="connsiteX2" fmla="*/ 5687568 w 11320272"/>
              <a:gd name="connsiteY2" fmla="*/ 0 h 4892040"/>
              <a:gd name="connsiteX3" fmla="*/ 7799832 w 11320272"/>
              <a:gd name="connsiteY3" fmla="*/ 3593592 h 4892040"/>
              <a:gd name="connsiteX4" fmla="*/ 11320272 w 11320272"/>
              <a:gd name="connsiteY4" fmla="*/ 4855464 h 4892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272" h="4892040">
                <a:moveTo>
                  <a:pt x="0" y="4892040"/>
                </a:moveTo>
                <a:cubicBezTo>
                  <a:pt x="1322832" y="4645914"/>
                  <a:pt x="2645664" y="4399788"/>
                  <a:pt x="3593592" y="3584448"/>
                </a:cubicBezTo>
                <a:cubicBezTo>
                  <a:pt x="4541520" y="2769108"/>
                  <a:pt x="4986528" y="-1524"/>
                  <a:pt x="5687568" y="0"/>
                </a:cubicBezTo>
                <a:cubicBezTo>
                  <a:pt x="6388608" y="1524"/>
                  <a:pt x="6861048" y="2784348"/>
                  <a:pt x="7799832" y="3593592"/>
                </a:cubicBezTo>
                <a:cubicBezTo>
                  <a:pt x="8738616" y="4402836"/>
                  <a:pt x="10029444" y="4629150"/>
                  <a:pt x="11320272" y="4855464"/>
                </a:cubicBezTo>
              </a:path>
            </a:pathLst>
          </a:custGeom>
          <a:solidFill>
            <a:schemeClr val="accent4">
              <a:lumMod val="75000"/>
            </a:schemeClr>
          </a:solidFill>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pic>
        <p:nvPicPr>
          <p:cNvPr id="4" name="Picture 3">
            <a:extLst>
              <a:ext uri="{FF2B5EF4-FFF2-40B4-BE49-F238E27FC236}">
                <a16:creationId xmlns:a16="http://schemas.microsoft.com/office/drawing/2014/main" id="{8A5869F8-DBF4-AE02-8C3A-F872A5D8089A}"/>
              </a:ext>
            </a:extLst>
          </p:cNvPr>
          <p:cNvPicPr>
            <a:picLocks noChangeAspect="1"/>
          </p:cNvPicPr>
          <p:nvPr/>
        </p:nvPicPr>
        <p:blipFill>
          <a:blip r:embed="rId2"/>
          <a:stretch>
            <a:fillRect/>
          </a:stretch>
        </p:blipFill>
        <p:spPr>
          <a:xfrm>
            <a:off x="6096000" y="2993798"/>
            <a:ext cx="5078162" cy="3221553"/>
          </a:xfrm>
          <a:prstGeom prst="rect">
            <a:avLst/>
          </a:prstGeom>
        </p:spPr>
      </p:pic>
    </p:spTree>
    <p:extLst>
      <p:ext uri="{BB962C8B-B14F-4D97-AF65-F5344CB8AC3E}">
        <p14:creationId xmlns:p14="http://schemas.microsoft.com/office/powerpoint/2010/main" val="1627052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18DFF-EA39-3BBA-EADE-8658D2C1603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DBD6BB1-ECA4-14F0-628E-567966A2AABB}"/>
              </a:ext>
            </a:extLst>
          </p:cNvPr>
          <p:cNvSpPr txBox="1">
            <a:spLocks/>
          </p:cNvSpPr>
          <p:nvPr/>
        </p:nvSpPr>
        <p:spPr>
          <a:xfrm>
            <a:off x="301752" y="98625"/>
            <a:ext cx="11052048" cy="6041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a:lstStyle>
          <a:p>
            <a:pPr algn="ctr"/>
            <a:r>
              <a:rPr lang="en-US" sz="2800" b="1" dirty="0"/>
              <a:t>Normal Distribution Functions</a:t>
            </a:r>
            <a:endParaRPr lang="en-US" sz="2800" dirty="0"/>
          </a:p>
        </p:txBody>
      </p:sp>
    </p:spTree>
    <p:extLst>
      <p:ext uri="{BB962C8B-B14F-4D97-AF65-F5344CB8AC3E}">
        <p14:creationId xmlns:p14="http://schemas.microsoft.com/office/powerpoint/2010/main" val="2754977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1198</TotalTime>
  <Words>1457</Words>
  <Application>Microsoft Office PowerPoint</Application>
  <PresentationFormat>Widescreen</PresentationFormat>
  <Paragraphs>149</Paragraphs>
  <Slides>21</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Cambria Math</vt:lpstr>
      <vt:lpstr>Office Theme</vt:lpstr>
      <vt:lpstr>Problem Statement</vt:lpstr>
      <vt:lpstr>Theory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Applications</vt:lpstr>
      <vt:lpstr>PowerPoint Presentation</vt:lpstr>
      <vt:lpstr>PowerPoint Presentation</vt:lpstr>
      <vt:lpstr>PowerPoint Presentation</vt:lpstr>
      <vt:lpstr>PowerPoint Presentation</vt:lpstr>
      <vt:lpstr>PowerPoint Presentation</vt:lpstr>
      <vt:lpstr>PowerPoint Presentation</vt:lpstr>
      <vt:lpstr>STOP</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182</cp:revision>
  <dcterms:created xsi:type="dcterms:W3CDTF">2025-09-22T02:44:38Z</dcterms:created>
  <dcterms:modified xsi:type="dcterms:W3CDTF">2025-10-10T12:22:58Z</dcterms:modified>
</cp:coreProperties>
</file>