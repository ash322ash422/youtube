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3" r:id="rId2"/>
    <p:sldId id="282" r:id="rId3"/>
    <p:sldId id="293" r:id="rId4"/>
    <p:sldId id="281" r:id="rId5"/>
    <p:sldId id="287" r:id="rId6"/>
    <p:sldId id="289" r:id="rId7"/>
    <p:sldId id="286" r:id="rId8"/>
    <p:sldId id="292" r:id="rId9"/>
    <p:sldId id="290" r:id="rId10"/>
    <p:sldId id="291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6FB1B-3C5D-47CA-A24A-29700CC7540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A14F7-8D1F-4281-97DA-194F5085C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A14F7-8D1F-4281-97DA-194F5085C7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56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E742-8F74-80C9-A935-4F7A7AF5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26F8F-4267-306E-4E71-39E656DDC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00F36-4005-FCCB-B715-89924034F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DC7C-FA06-4B3A-490A-10FA1EF9F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A14F7-8D1F-4281-97DA-194F5085C7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7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2069-3AFD-C819-4DE3-9B3B0E9F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60F73-2C8D-84A1-E303-F9D466527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3A3CA-F0A4-1DB7-7D40-60ACCA129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2A021-E36B-CFCE-C546-987EA410A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A14F7-8D1F-4281-97DA-194F5085C7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56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8BC-0677-9A79-C829-4E3C31C3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C78D9-7CEA-B380-528A-F7C192933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39836-F554-C594-8800-BCF891F45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69F96-206D-94E0-60E3-64DCCE256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A14F7-8D1F-4281-97DA-194F5085C7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37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FDA8-E3D2-F5BC-8A13-0DFE55EB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15A12-03F1-F467-A88A-E09383845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C98A2-C2D3-6F38-3E2F-DF8AEC8C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3F8A5-A316-57C7-8D51-662CC108A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A14F7-8D1F-4281-97DA-194F5085C7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9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5DD5-5415-8978-9EE3-922CA250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581C-642C-D6D9-5A3B-BCE98FD17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88" y="1490472"/>
            <a:ext cx="11567160" cy="4631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Problem1:</a:t>
            </a:r>
          </a:p>
          <a:p>
            <a:pPr marL="0" indent="0">
              <a:buNone/>
            </a:pPr>
            <a:r>
              <a:rPr lang="en-US" dirty="0"/>
              <a:t>A bank receives an average of </a:t>
            </a:r>
            <a:r>
              <a:rPr lang="en-US" b="1" dirty="0"/>
              <a:t>5 customers per hour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What is the probability that exactly </a:t>
            </a:r>
            <a:r>
              <a:rPr lang="en-US" b="1" dirty="0"/>
              <a:t>3 customers</a:t>
            </a:r>
            <a:r>
              <a:rPr lang="en-US" dirty="0"/>
              <a:t> will arrive in the next hour?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Problem2: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Scientists have observed that, on average, </a:t>
            </a:r>
            <a:r>
              <a:rPr lang="en-US" b="1" dirty="0"/>
              <a:t>2 meteorites</a:t>
            </a:r>
            <a:r>
              <a:rPr lang="en-US" dirty="0"/>
              <a:t> strike Earth </a:t>
            </a:r>
            <a:r>
              <a:rPr lang="en-US" b="1" dirty="0"/>
              <a:t>per year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Find the probability that </a:t>
            </a:r>
            <a:r>
              <a:rPr lang="en-US" b="1" dirty="0"/>
              <a:t>3 or more meteorites</a:t>
            </a:r>
            <a:r>
              <a:rPr lang="en-US" dirty="0"/>
              <a:t> strike the Earth in a year.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EDC18-FD2B-E0E7-5AD6-82B0CCE7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377" y="3623686"/>
            <a:ext cx="2668991" cy="1203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2C4F7-8901-69C3-020B-65935AB1C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992" y="1490472"/>
            <a:ext cx="3936204" cy="9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1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A233CA-4B3D-BBCC-2EAC-47D65AFE455E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30E04-3C27-239D-D233-3448BBC2BE4F}"/>
              </a:ext>
            </a:extLst>
          </p:cNvPr>
          <p:cNvSpPr txBox="1"/>
          <p:nvPr/>
        </p:nvSpPr>
        <p:spPr>
          <a:xfrm>
            <a:off x="187452" y="1310932"/>
            <a:ext cx="100309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deals with types of situations where you have to determine (k)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customers arriving at a bank in the next 45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phone calls received at call center in 2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patients arriving at a hospital in next 2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typing errors per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car accidents in a city per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data packet arrivals at a server per second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46F022-66F5-7FA5-70FE-059719C1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92736-D1E7-F65F-FEE9-A04760F2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C003B-68B0-26B1-87B8-1E4D38D72502}"/>
                  </a:ext>
                </a:extLst>
              </p:cNvPr>
              <p:cNvSpPr txBox="1"/>
              <p:nvPr/>
            </p:nvSpPr>
            <p:spPr>
              <a:xfrm>
                <a:off x="233172" y="1015645"/>
                <a:ext cx="11023092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Poisson distribution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discrete probability distribution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that gives the probability of a certain number of events happening in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fixed interval of time, distance, area, or volume.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assume that these events occur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Independently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each other, 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constant average rate (λ or “lambda”)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probability of getting exactly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events in a fixed interval is: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= average number of events (mean rate)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number of occurrences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2.71828 (Euler’s number)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C003B-68B0-26B1-87B8-1E4D38D7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" y="1015645"/>
                <a:ext cx="11023092" cy="4524315"/>
              </a:xfrm>
              <a:prstGeom prst="rect">
                <a:avLst/>
              </a:prstGeom>
              <a:blipFill>
                <a:blip r:embed="rId2"/>
                <a:stretch>
                  <a:fillRect l="-829" t="-1078" r="-553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1BCBAB-2C02-BF53-27AA-B5ECD1E85F5D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476D97-24EF-B2B8-A84E-2D6E356A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272" y="2203704"/>
            <a:ext cx="2402166" cy="876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815782-597C-F2D1-92CA-38312472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1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D4AA-CD13-99D4-49E9-DE626749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09CB-7EC3-3CE1-2645-193B1F797CF5}"/>
                  </a:ext>
                </a:extLst>
              </p:cNvPr>
              <p:cNvSpPr txBox="1"/>
              <p:nvPr/>
            </p:nvSpPr>
            <p:spPr>
              <a:xfrm>
                <a:off x="127254" y="849250"/>
                <a:ext cx="11937492" cy="5909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bank receives an average of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 customers per hour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Assume that customers arrive at bank independent of each other and average is constant.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What is the probability that exactly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customers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will arrive in the next hour?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What is the probability that exactly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 customers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will arrive in the next hour?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What is the probability that exactly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 customers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will arrive in the next hour?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What is the probability that exactly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 customers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will arrive in the next hour?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= average number of customers per hour = 5 customers per hour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number of occurrences = number of customers arriving in next hour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                                                  = 0.0337  = 3.37 %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probability that exactly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 customers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will arrive in the next hour is = 3.37 %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For 2 customers,                                               = 0.0842 = 8.42 %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For 3 customers,                                               = 0.1403 = 14.03 %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For 4 customers, answer is 0.1754 = 17.54 %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09CB-7EC3-3CE1-2645-193B1F797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" y="849250"/>
                <a:ext cx="11937492" cy="5909310"/>
              </a:xfrm>
              <a:prstGeom prst="rect">
                <a:avLst/>
              </a:prstGeom>
              <a:blipFill>
                <a:blip r:embed="rId3"/>
                <a:stretch>
                  <a:fillRect l="-460" t="-515" b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33116B8-22B4-C74C-B9F6-5E495FD4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EFC9BB-9F12-4E75-AB84-99EF1969274A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0AD11C-834D-253B-5F75-151B78743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682" y="5758804"/>
            <a:ext cx="2192132" cy="5444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F89B31-D4C2-F04D-8E4B-811B5CD0B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177" y="3253136"/>
            <a:ext cx="3497999" cy="32222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1C4F2D-0DD5-BAF2-4B00-90FDD237AC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108436"/>
            <a:ext cx="2075125" cy="5118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94801F-9772-5899-3E73-AC07D17A49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6247" y="5213558"/>
            <a:ext cx="2099002" cy="54445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A07C3B8-9F06-0FEC-9C9E-5C2CD6481F5E}"/>
              </a:ext>
            </a:extLst>
          </p:cNvPr>
          <p:cNvSpPr txBox="1"/>
          <p:nvPr/>
        </p:nvSpPr>
        <p:spPr>
          <a:xfrm>
            <a:off x="10140696" y="6419088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561AD-54B6-C0CE-0650-C7F483D5CE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542" y="1599192"/>
            <a:ext cx="3936204" cy="98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2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FD0D-A74D-A791-8773-22F4F043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4126066-2DE3-93B1-BF4D-16D1871B3FC4}"/>
              </a:ext>
            </a:extLst>
          </p:cNvPr>
          <p:cNvSpPr txBox="1"/>
          <p:nvPr/>
        </p:nvSpPr>
        <p:spPr>
          <a:xfrm>
            <a:off x="127254" y="922402"/>
            <a:ext cx="11937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we increase the value of k , the Poisson distribution curve will look as shown below.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C426FE-BEAC-39D6-889D-664A6492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7A3673-4DAA-BD37-7D8D-2CABD8ED9F14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F7C9D-8CE5-E0D5-2E3F-2B93022C5C04}"/>
              </a:ext>
            </a:extLst>
          </p:cNvPr>
          <p:cNvSpPr txBox="1"/>
          <p:nvPr/>
        </p:nvSpPr>
        <p:spPr>
          <a:xfrm>
            <a:off x="210312" y="26455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4419D-B4B5-BAE2-49B3-B39479FB4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354" y="1837944"/>
            <a:ext cx="8023550" cy="44637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561F8D-E000-8C1D-22F9-BDF8E41EE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41" y="3079400"/>
            <a:ext cx="3497999" cy="32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1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B6DF-C766-B8D0-6A78-D1A423FB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BF7A8CC-527D-720A-62CA-01DB474C2788}"/>
              </a:ext>
            </a:extLst>
          </p:cNvPr>
          <p:cNvSpPr txBox="1"/>
          <p:nvPr/>
        </p:nvSpPr>
        <p:spPr>
          <a:xfrm>
            <a:off x="127254" y="922402"/>
            <a:ext cx="119374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a matter of fact, as we increase lambda the shape of the Poisson distribution curve becomes bell-shaped.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7690E3-D9A9-BE3C-406C-943EE2880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6E3FEC-0FAB-481B-31E2-DD659A002799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10A85-878A-D1CB-5308-EE546810A43F}"/>
              </a:ext>
            </a:extLst>
          </p:cNvPr>
          <p:cNvSpPr txBox="1"/>
          <p:nvPr/>
        </p:nvSpPr>
        <p:spPr>
          <a:xfrm>
            <a:off x="210312" y="264550"/>
            <a:ext cx="79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2AC91-A5BF-B6F0-D2F1-AD375E8E0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86" y="1463966"/>
            <a:ext cx="9030705" cy="51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5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88DE-DA4C-1F7E-8999-70AF92A0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77A3E1-303F-BC28-A237-33AB00CC32BF}"/>
              </a:ext>
            </a:extLst>
          </p:cNvPr>
          <p:cNvSpPr txBox="1"/>
          <p:nvPr/>
        </p:nvSpPr>
        <p:spPr>
          <a:xfrm>
            <a:off x="127254" y="922402"/>
            <a:ext cx="119374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Scientists have observed that, on average,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meteorites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large enough to be detected by ground-based sensors strike Earth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 year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Assume meteorite strikes: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Occur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and independently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Happen at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constant average rate (λ = 2 per year)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Find the probability that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or less meteorites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strike the Earth in a year.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Find the probability that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or more meteorites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strike the Earth in a year.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32A53C-8F99-FF46-EEEA-FC6AC590B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B614B2-82BA-BD33-999B-12DCE4B685AB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7BF2A-D63C-66C3-D16B-E50A0BF81F2B}"/>
              </a:ext>
            </a:extLst>
          </p:cNvPr>
          <p:cNvSpPr txBox="1"/>
          <p:nvPr/>
        </p:nvSpPr>
        <p:spPr>
          <a:xfrm>
            <a:off x="86868" y="3500366"/>
            <a:ext cx="83896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Probability that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or less meteorites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strike the Earth in a year is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P(X≤2)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P(X=0) + P(X=1) + P(X=2)         (Apply the formula)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+ 0.1353 + 0.2707 + 0.2707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0.6767 = 67.67 %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8DF7C3-61A2-A563-19EF-9F95FCB24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508" y="5095921"/>
            <a:ext cx="2279615" cy="832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B0CF3D-D558-7C3D-3E33-50B121F49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375" y="1657269"/>
            <a:ext cx="2668991" cy="1203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3D7CBD-7C2B-8592-C458-0D7CA2CBDE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883" y="3698864"/>
            <a:ext cx="2638793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7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CB8CF-9298-68AB-0B39-F192F043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FE5867-BE88-F588-66D5-7F0D16D27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55" y="2212849"/>
            <a:ext cx="6606706" cy="4070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DAB529-6A03-57B7-FF93-A72F8673C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F4D950-A2A2-2B3E-0745-15F882A60406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EDEA1-2023-8337-D3A6-915BC551523A}"/>
              </a:ext>
            </a:extLst>
          </p:cNvPr>
          <p:cNvSpPr txBox="1"/>
          <p:nvPr/>
        </p:nvSpPr>
        <p:spPr>
          <a:xfrm>
            <a:off x="86868" y="885182"/>
            <a:ext cx="83896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Probability that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or more meteorites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strike the Earth in a year is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P(X≥3)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1 − P(X≤2)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 – 0.6767    ( from previous result)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0.3233 = 32.33%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Poisson is often used in astronomy and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space science for modeling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meteorite impacts, </a:t>
            </a:r>
          </a:p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Supernova occurrences, Gamma-ray bursts, </a:t>
            </a:r>
          </a:p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Cosmic ray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detections because these are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rare, random,</a:t>
            </a:r>
          </a:p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independent events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over space or time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3810E-7EE2-FCBA-DF09-5A2188485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701" y="803517"/>
            <a:ext cx="1957959" cy="88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4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1D97-98B6-E6D4-5021-AADCCDF7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7C335-44B8-97D8-E040-E84487E01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416A-2A86-425A-C4C1-55D6D479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8747AF-4CDB-80FE-F3F0-6DBDFAB859CF}"/>
              </a:ext>
            </a:extLst>
          </p:cNvPr>
          <p:cNvSpPr txBox="1"/>
          <p:nvPr/>
        </p:nvSpPr>
        <p:spPr>
          <a:xfrm>
            <a:off x="2002536" y="171950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Poisson Distribution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DCF185-2D42-DF60-E22E-7625CE71F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385" y="2585304"/>
            <a:ext cx="1957959" cy="714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AAC2F2-0FE1-1F05-53F3-2E60B6606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396" y="0"/>
            <a:ext cx="1957959" cy="714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E39F0D-F5AE-611F-AC9A-7CE08728B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62" y="1097279"/>
            <a:ext cx="7354683" cy="487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0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40DE-FDD9-B6B4-57D4-5099DA1A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944E90-BA2A-DC47-E896-2DA46606E69D}"/>
                  </a:ext>
                </a:extLst>
              </p:cNvPr>
              <p:cNvSpPr txBox="1"/>
              <p:nvPr/>
            </p:nvSpPr>
            <p:spPr>
              <a:xfrm>
                <a:off x="315468" y="774115"/>
                <a:ext cx="6190488" cy="5511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(Expected Value)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Interpretation: On average, there are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events in the interval.</a:t>
                </a: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Variance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ar-AE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Var</m:t>
                      </m:r>
                      <m:d>
                        <m:dPr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ar-AE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Interesting fact: For Poisson, </a:t>
                </a:r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= variance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Var</m:t>
                          </m:r>
                          <m:d>
                            <m:dPr>
                              <m:ctrlPr>
                                <a:rPr lang="ar-AE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ar-AE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rad>
                    </m:oMath>
                  </m:oMathPara>
                </a14:m>
                <a:endParaRPr lang="ar-AE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Standard deviation measures how spread out the counts are around the mean.</a:t>
                </a: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Skewness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Skewness</m:t>
                      </m:r>
                      <m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4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ar-AE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Shows how asymmetric the distribution is.</a:t>
                </a:r>
                <a:b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Small </a:t>
                </a:r>
                <a:r>
                  <a:rPr lang="el-G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→ 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highly skewed; large </a:t>
                </a:r>
                <a:r>
                  <a:rPr lang="el-G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→ 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becomes more symmetric.</a:t>
                </a: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Kurtosis (Excess)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Excess</m:t>
                      </m:r>
                      <m:r>
                        <m:rPr>
                          <m:nor/>
                        </m:rPr>
                        <a:rPr lang="en-US" sz="1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Kurtosis</m:t>
                      </m:r>
                      <m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ar-AE" sz="1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Measures “</a:t>
                </a:r>
                <a:r>
                  <a:rPr lang="en-US" sz="1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peakedness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” of the distribution.</a:t>
                </a:r>
                <a:b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Smaller </a:t>
                </a:r>
                <a:r>
                  <a:rPr lang="el-G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→ 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sharper peak, heavier tails; as </a:t>
                </a:r>
                <a:r>
                  <a:rPr lang="el-GR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 → ∞, </a:t>
                </a:r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distribution approaches Normal.</a:t>
                </a:r>
              </a:p>
              <a:p>
                <a:pPr>
                  <a:buNone/>
                </a:pPr>
                <a:endParaRPr lang="en-US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944E90-BA2A-DC47-E896-2DA46606E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68" y="774115"/>
                <a:ext cx="6190488" cy="5511830"/>
              </a:xfrm>
              <a:prstGeom prst="rect">
                <a:avLst/>
              </a:prstGeom>
              <a:blipFill>
                <a:blip r:embed="rId2"/>
                <a:stretch>
                  <a:fillRect l="-296" t="-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10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871</TotalTime>
  <Words>825</Words>
  <Application>Microsoft Office PowerPoint</Application>
  <PresentationFormat>Widescreen</PresentationFormat>
  <Paragraphs>118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Poisson Distribution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188</cp:revision>
  <dcterms:created xsi:type="dcterms:W3CDTF">2025-09-22T02:44:38Z</dcterms:created>
  <dcterms:modified xsi:type="dcterms:W3CDTF">2026-04-06T16:57:56Z</dcterms:modified>
</cp:coreProperties>
</file>