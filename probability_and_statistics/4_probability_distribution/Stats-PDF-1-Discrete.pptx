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9"/>
  </p:handoutMasterIdLst>
  <p:sldIdLst>
    <p:sldId id="257" r:id="rId2"/>
    <p:sldId id="260" r:id="rId3"/>
    <p:sldId id="263" r:id="rId4"/>
    <p:sldId id="279" r:id="rId5"/>
    <p:sldId id="271" r:id="rId6"/>
    <p:sldId id="272" r:id="rId7"/>
    <p:sldId id="28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10/8/2025</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10/8/2025</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7051-67F5-C2A6-490D-03FD43804A12}"/>
              </a:ext>
            </a:extLst>
          </p:cNvPr>
          <p:cNvSpPr>
            <a:spLocks noGrp="1"/>
          </p:cNvSpPr>
          <p:nvPr>
            <p:ph type="title"/>
          </p:nvPr>
        </p:nvSpPr>
        <p:spPr>
          <a:xfrm>
            <a:off x="838200" y="237109"/>
            <a:ext cx="10515600" cy="599376"/>
          </a:xfrm>
        </p:spPr>
        <p:txBody>
          <a:bodyPr>
            <a:normAutofit fontScale="90000"/>
          </a:bodyPr>
          <a:lstStyle/>
          <a:p>
            <a:r>
              <a:rPr lang="en-US" dirty="0"/>
              <a:t>Probability Distribution Functions (PDF)</a:t>
            </a:r>
          </a:p>
        </p:txBody>
      </p:sp>
      <p:sp>
        <p:nvSpPr>
          <p:cNvPr id="3" name="Content Placeholder 2">
            <a:extLst>
              <a:ext uri="{FF2B5EF4-FFF2-40B4-BE49-F238E27FC236}">
                <a16:creationId xmlns:a16="http://schemas.microsoft.com/office/drawing/2014/main" id="{B8AFDD21-5A70-DBA7-8B6B-209DE2B35703}"/>
              </a:ext>
            </a:extLst>
          </p:cNvPr>
          <p:cNvSpPr>
            <a:spLocks noGrp="1"/>
          </p:cNvSpPr>
          <p:nvPr>
            <p:ph idx="1"/>
          </p:nvPr>
        </p:nvSpPr>
        <p:spPr>
          <a:xfrm>
            <a:off x="228600" y="996696"/>
            <a:ext cx="11722608" cy="5541264"/>
          </a:xfrm>
        </p:spPr>
        <p:txBody>
          <a:bodyPr>
            <a:normAutofit fontScale="85000" lnSpcReduction="20000"/>
          </a:bodyPr>
          <a:lstStyle/>
          <a:p>
            <a:pPr marL="0" indent="0">
              <a:buNone/>
            </a:pPr>
            <a:r>
              <a:rPr lang="en-US" dirty="0"/>
              <a:t> PDF are used for</a:t>
            </a:r>
          </a:p>
          <a:p>
            <a:pPr marL="0" indent="0">
              <a:buNone/>
            </a:pPr>
            <a:r>
              <a:rPr lang="en-US" dirty="0"/>
              <a:t>- Predicting number when rolling a dice</a:t>
            </a:r>
          </a:p>
          <a:p>
            <a:pPr marL="0" indent="0">
              <a:buNone/>
            </a:pPr>
            <a:endParaRPr lang="en-US" dirty="0"/>
          </a:p>
          <a:p>
            <a:pPr marL="0" indent="0">
              <a:buNone/>
            </a:pPr>
            <a:r>
              <a:rPr lang="en-US" dirty="0"/>
              <a:t>- Predicting tomorrow’s weather</a:t>
            </a:r>
          </a:p>
          <a:p>
            <a:pPr marL="0" indent="0">
              <a:buNone/>
            </a:pPr>
            <a:endParaRPr lang="en-US" dirty="0"/>
          </a:p>
          <a:p>
            <a:pPr marL="0" indent="0">
              <a:buNone/>
            </a:pPr>
            <a:r>
              <a:rPr lang="en-US" dirty="0"/>
              <a:t>- Predicting stock market fluctuations</a:t>
            </a:r>
          </a:p>
          <a:p>
            <a:pPr marL="0" indent="0">
              <a:buNone/>
            </a:pPr>
            <a:endParaRPr lang="en-US" dirty="0"/>
          </a:p>
          <a:p>
            <a:pPr marL="0" indent="0">
              <a:buNone/>
            </a:pPr>
            <a:r>
              <a:rPr lang="en-US" dirty="0"/>
              <a:t>In AI and ML, PDFs appear whenever we predict discrete categories </a:t>
            </a:r>
          </a:p>
          <a:p>
            <a:pPr marL="0" indent="0">
              <a:buNone/>
            </a:pPr>
            <a:r>
              <a:rPr lang="en-US" dirty="0"/>
              <a:t>- like email is spam vs not spam, or picture of cat vs dog. </a:t>
            </a:r>
          </a:p>
          <a:p>
            <a:pPr marL="0" indent="0">
              <a:buNone/>
            </a:pPr>
            <a:r>
              <a:rPr lang="en-US" dirty="0"/>
              <a:t>- SoftMax output of a neural network is actually a PDF that shows the probability of each class. </a:t>
            </a:r>
          </a:p>
          <a:p>
            <a:pPr marL="0" indent="0">
              <a:buNone/>
            </a:pPr>
            <a:endParaRPr lang="en-US" dirty="0"/>
          </a:p>
          <a:p>
            <a:pPr marL="0" indent="0">
              <a:buNone/>
            </a:pPr>
            <a:r>
              <a:rPr lang="en-US" dirty="0"/>
              <a:t>Here we will understand what a probability distribution function is, why it’s important, its types, and some real-life applications.</a:t>
            </a:r>
          </a:p>
        </p:txBody>
      </p:sp>
      <p:pic>
        <p:nvPicPr>
          <p:cNvPr id="4" name="Picture 3">
            <a:extLst>
              <a:ext uri="{FF2B5EF4-FFF2-40B4-BE49-F238E27FC236}">
                <a16:creationId xmlns:a16="http://schemas.microsoft.com/office/drawing/2014/main" id="{5716A89E-AF62-ECAE-434B-E696564E772D}"/>
              </a:ext>
            </a:extLst>
          </p:cNvPr>
          <p:cNvPicPr>
            <a:picLocks noChangeAspect="1"/>
          </p:cNvPicPr>
          <p:nvPr/>
        </p:nvPicPr>
        <p:blipFill>
          <a:blip r:embed="rId2"/>
          <a:stretch>
            <a:fillRect/>
          </a:stretch>
        </p:blipFill>
        <p:spPr>
          <a:xfrm>
            <a:off x="5209910" y="1051554"/>
            <a:ext cx="879994" cy="831105"/>
          </a:xfrm>
          <a:prstGeom prst="rect">
            <a:avLst/>
          </a:prstGeom>
        </p:spPr>
      </p:pic>
      <p:pic>
        <p:nvPicPr>
          <p:cNvPr id="6" name="Picture 5">
            <a:extLst>
              <a:ext uri="{FF2B5EF4-FFF2-40B4-BE49-F238E27FC236}">
                <a16:creationId xmlns:a16="http://schemas.microsoft.com/office/drawing/2014/main" id="{7DAF0C8D-5754-B3C2-DB29-F91F440FD385}"/>
              </a:ext>
            </a:extLst>
          </p:cNvPr>
          <p:cNvPicPr>
            <a:picLocks noChangeAspect="1"/>
          </p:cNvPicPr>
          <p:nvPr/>
        </p:nvPicPr>
        <p:blipFill>
          <a:blip r:embed="rId3"/>
          <a:stretch>
            <a:fillRect/>
          </a:stretch>
        </p:blipFill>
        <p:spPr>
          <a:xfrm>
            <a:off x="5026153" y="1882659"/>
            <a:ext cx="2317728" cy="838496"/>
          </a:xfrm>
          <a:prstGeom prst="rect">
            <a:avLst/>
          </a:prstGeom>
        </p:spPr>
      </p:pic>
      <p:pic>
        <p:nvPicPr>
          <p:cNvPr id="10" name="Picture 9">
            <a:extLst>
              <a:ext uri="{FF2B5EF4-FFF2-40B4-BE49-F238E27FC236}">
                <a16:creationId xmlns:a16="http://schemas.microsoft.com/office/drawing/2014/main" id="{347C727A-76A5-A514-A57A-89392E9A7EBD}"/>
              </a:ext>
            </a:extLst>
          </p:cNvPr>
          <p:cNvPicPr>
            <a:picLocks noChangeAspect="1"/>
          </p:cNvPicPr>
          <p:nvPr/>
        </p:nvPicPr>
        <p:blipFill>
          <a:blip r:embed="rId4"/>
          <a:stretch>
            <a:fillRect/>
          </a:stretch>
        </p:blipFill>
        <p:spPr>
          <a:xfrm>
            <a:off x="5443727" y="2815359"/>
            <a:ext cx="1292354" cy="736901"/>
          </a:xfrm>
          <a:prstGeom prst="rect">
            <a:avLst/>
          </a:prstGeom>
        </p:spPr>
      </p:pic>
      <p:pic>
        <p:nvPicPr>
          <p:cNvPr id="12" name="Picture 11">
            <a:extLst>
              <a:ext uri="{FF2B5EF4-FFF2-40B4-BE49-F238E27FC236}">
                <a16:creationId xmlns:a16="http://schemas.microsoft.com/office/drawing/2014/main" id="{61C3ABCB-88F3-D109-3F99-B1849F3064EA}"/>
              </a:ext>
            </a:extLst>
          </p:cNvPr>
          <p:cNvPicPr>
            <a:picLocks noChangeAspect="1"/>
          </p:cNvPicPr>
          <p:nvPr/>
        </p:nvPicPr>
        <p:blipFill>
          <a:blip r:embed="rId5"/>
          <a:stretch>
            <a:fillRect/>
          </a:stretch>
        </p:blipFill>
        <p:spPr>
          <a:xfrm>
            <a:off x="9740675" y="1211396"/>
            <a:ext cx="1695293" cy="1681979"/>
          </a:xfrm>
          <a:prstGeom prst="rect">
            <a:avLst/>
          </a:prstGeom>
        </p:spPr>
      </p:pic>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3483-A796-679F-84FC-55B152475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26CBF-BB6A-1768-CE93-30DEFF91B31A}"/>
              </a:ext>
            </a:extLst>
          </p:cNvPr>
          <p:cNvSpPr>
            <a:spLocks noGrp="1"/>
          </p:cNvSpPr>
          <p:nvPr>
            <p:ph type="title"/>
          </p:nvPr>
        </p:nvSpPr>
        <p:spPr>
          <a:xfrm>
            <a:off x="838200" y="237109"/>
            <a:ext cx="10515600" cy="599376"/>
          </a:xfrm>
        </p:spPr>
        <p:txBody>
          <a:bodyPr>
            <a:normAutofit fontScale="90000"/>
          </a:bodyPr>
          <a:lstStyle/>
          <a:p>
            <a:r>
              <a:rPr lang="en-US" dirty="0"/>
              <a:t>Probability Distribution Functions (PDF)</a:t>
            </a:r>
          </a:p>
        </p:txBody>
      </p:sp>
      <p:sp>
        <p:nvSpPr>
          <p:cNvPr id="3" name="Content Placeholder 2">
            <a:extLst>
              <a:ext uri="{FF2B5EF4-FFF2-40B4-BE49-F238E27FC236}">
                <a16:creationId xmlns:a16="http://schemas.microsoft.com/office/drawing/2014/main" id="{0738E07C-74C9-80FC-3427-D164E82DD1F9}"/>
              </a:ext>
            </a:extLst>
          </p:cNvPr>
          <p:cNvSpPr>
            <a:spLocks noGrp="1"/>
          </p:cNvSpPr>
          <p:nvPr>
            <p:ph idx="1"/>
          </p:nvPr>
        </p:nvSpPr>
        <p:spPr>
          <a:xfrm>
            <a:off x="228600" y="783209"/>
            <a:ext cx="11722608" cy="5626735"/>
          </a:xfrm>
        </p:spPr>
        <p:txBody>
          <a:bodyPr>
            <a:noAutofit/>
          </a:bodyPr>
          <a:lstStyle/>
          <a:p>
            <a:pPr marL="0" indent="0">
              <a:buNone/>
            </a:pPr>
            <a:r>
              <a:rPr lang="en-US" sz="2000" dirty="0"/>
              <a:t>A Probability Distribution Function is a </a:t>
            </a:r>
            <a:r>
              <a:rPr lang="en-US" sz="2000" b="1" dirty="0"/>
              <a:t>function that describes how the probabilities of a random variable are distributed</a:t>
            </a:r>
            <a:r>
              <a:rPr lang="en-US" sz="2000" dirty="0"/>
              <a:t>. It tells us how likely each outcome is.</a:t>
            </a:r>
          </a:p>
          <a:p>
            <a:pPr marL="0" indent="0">
              <a:buNone/>
            </a:pPr>
            <a:endParaRPr lang="en-US" sz="2000" dirty="0"/>
          </a:p>
          <a:p>
            <a:pPr marL="0" indent="0">
              <a:buNone/>
            </a:pPr>
            <a:r>
              <a:rPr lang="en-US" sz="2000" dirty="0"/>
              <a:t>Few terms that are used in this domain.</a:t>
            </a:r>
          </a:p>
          <a:p>
            <a:pPr marL="0" indent="0">
              <a:buNone/>
            </a:pPr>
            <a:r>
              <a:rPr lang="en-US" sz="2000" dirty="0"/>
              <a:t>Random variable could something whose outcome is uncertain (like the roll of a dice, test scores, or temperature). It is generally denoted by capital letter X.</a:t>
            </a:r>
          </a:p>
          <a:p>
            <a:pPr marL="0" indent="0">
              <a:buNone/>
            </a:pPr>
            <a:r>
              <a:rPr lang="en-US" sz="2000" dirty="0"/>
              <a:t>Probability is the chance of a particular outcome happening</a:t>
            </a:r>
          </a:p>
          <a:p>
            <a:pPr marL="0" indent="0">
              <a:buNone/>
            </a:pPr>
            <a:endParaRPr lang="en-US" sz="2000" dirty="0"/>
          </a:p>
          <a:p>
            <a:pPr marL="0" indent="0">
              <a:buNone/>
            </a:pPr>
            <a:r>
              <a:rPr lang="en-US" sz="2000" dirty="0"/>
              <a:t>A simple example:</a:t>
            </a:r>
          </a:p>
          <a:p>
            <a:pPr marL="0" indent="0">
              <a:buNone/>
            </a:pPr>
            <a:r>
              <a:rPr lang="en-US" sz="2000" dirty="0"/>
              <a:t>Suppose you roll a fair 6-sided dice.  </a:t>
            </a:r>
          </a:p>
          <a:p>
            <a:pPr marL="0" indent="0">
              <a:buNone/>
            </a:pPr>
            <a:r>
              <a:rPr lang="en-US" sz="2000" dirty="0"/>
              <a:t>Here the random variable is 1, 2, 3, 4, 5, or 6</a:t>
            </a:r>
          </a:p>
          <a:p>
            <a:pPr marL="0" indent="0">
              <a:buNone/>
            </a:pPr>
            <a:r>
              <a:rPr lang="en-US" sz="2000" dirty="0"/>
              <a:t>The probability of each face (1 to 6) is 1/6.</a:t>
            </a:r>
          </a:p>
          <a:p>
            <a:pPr marL="0" indent="0">
              <a:buNone/>
            </a:pPr>
            <a:r>
              <a:rPr lang="en-US" sz="2000" dirty="0"/>
              <a:t>So, the PDF is</a:t>
            </a:r>
          </a:p>
          <a:p>
            <a:pPr marL="0" indent="0">
              <a:buNone/>
            </a:pPr>
            <a:r>
              <a:rPr lang="en-US" sz="2000" b="1" dirty="0"/>
              <a:t>P( X = x ) = 1/6 , where x can be 1, 2, 3, 4, 5, or 6</a:t>
            </a:r>
          </a:p>
        </p:txBody>
      </p:sp>
      <p:graphicFrame>
        <p:nvGraphicFramePr>
          <p:cNvPr id="5" name="Table 4">
            <a:extLst>
              <a:ext uri="{FF2B5EF4-FFF2-40B4-BE49-F238E27FC236}">
                <a16:creationId xmlns:a16="http://schemas.microsoft.com/office/drawing/2014/main" id="{7025B325-4C3C-3493-DDF4-A22C985A2858}"/>
              </a:ext>
            </a:extLst>
          </p:cNvPr>
          <p:cNvGraphicFramePr>
            <a:graphicFrameLocks noGrp="1"/>
          </p:cNvGraphicFramePr>
          <p:nvPr>
            <p:extLst>
              <p:ext uri="{D42A27DB-BD31-4B8C-83A1-F6EECF244321}">
                <p14:modId xmlns:p14="http://schemas.microsoft.com/office/powerpoint/2010/main" val="745052314"/>
              </p:ext>
            </p:extLst>
          </p:nvPr>
        </p:nvGraphicFramePr>
        <p:xfrm>
          <a:off x="7568184" y="3306350"/>
          <a:ext cx="4419600" cy="2926080"/>
        </p:xfrm>
        <a:graphic>
          <a:graphicData uri="http://schemas.openxmlformats.org/drawingml/2006/table">
            <a:tbl>
              <a:tblPr/>
              <a:tblGrid>
                <a:gridCol w="2209800">
                  <a:extLst>
                    <a:ext uri="{9D8B030D-6E8A-4147-A177-3AD203B41FA5}">
                      <a16:colId xmlns:a16="http://schemas.microsoft.com/office/drawing/2014/main" val="1650353141"/>
                    </a:ext>
                  </a:extLst>
                </a:gridCol>
                <a:gridCol w="2209800">
                  <a:extLst>
                    <a:ext uri="{9D8B030D-6E8A-4147-A177-3AD203B41FA5}">
                      <a16:colId xmlns:a16="http://schemas.microsoft.com/office/drawing/2014/main" val="1939155552"/>
                    </a:ext>
                  </a:extLst>
                </a:gridCol>
              </a:tblGrid>
              <a:tr h="0">
                <a:tc>
                  <a:txBody>
                    <a:bodyPr/>
                    <a:lstStyle/>
                    <a:p>
                      <a:pPr algn="ctr">
                        <a:buNone/>
                      </a:pPr>
                      <a:r>
                        <a:rPr lang="en-US" dirty="0">
                          <a:solidFill>
                            <a:schemeClr val="accent6">
                              <a:lumMod val="60000"/>
                              <a:lumOff val="40000"/>
                            </a:schemeClr>
                          </a:solidFill>
                        </a:rPr>
                        <a:t>Outcome (X)</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Probability</a:t>
                      </a:r>
                    </a:p>
                  </a:txBody>
                  <a:tcPr anchor="ctr">
                    <a:lnL>
                      <a:noFill/>
                    </a:lnL>
                    <a:lnR>
                      <a:noFill/>
                    </a:lnR>
                    <a:lnT>
                      <a:noFill/>
                    </a:lnT>
                    <a:lnB>
                      <a:noFill/>
                    </a:lnB>
                    <a:noFill/>
                  </a:tcPr>
                </a:tc>
                <a:extLst>
                  <a:ext uri="{0D108BD9-81ED-4DB2-BD59-A6C34878D82A}">
                    <a16:rowId xmlns:a16="http://schemas.microsoft.com/office/drawing/2014/main" val="3586345993"/>
                  </a:ext>
                </a:extLst>
              </a:tr>
              <a:tr h="0">
                <a:tc>
                  <a:txBody>
                    <a:bodyPr/>
                    <a:lstStyle/>
                    <a:p>
                      <a:pPr algn="ctr">
                        <a:buNone/>
                      </a:pPr>
                      <a:r>
                        <a:rPr lang="en-US" dirty="0">
                          <a:solidFill>
                            <a:schemeClr val="accent6">
                              <a:lumMod val="60000"/>
                              <a:lumOff val="40000"/>
                            </a:schemeClr>
                          </a:solidFill>
                        </a:rPr>
                        <a:t>1</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150989888"/>
                  </a:ext>
                </a:extLst>
              </a:tr>
              <a:tr h="0">
                <a:tc>
                  <a:txBody>
                    <a:bodyPr/>
                    <a:lstStyle/>
                    <a:p>
                      <a:pPr algn="ctr">
                        <a:buNone/>
                      </a:pPr>
                      <a:r>
                        <a:rPr lang="en-US" dirty="0">
                          <a:solidFill>
                            <a:schemeClr val="accent6">
                              <a:lumMod val="60000"/>
                              <a:lumOff val="40000"/>
                            </a:schemeClr>
                          </a:solidFill>
                        </a:rPr>
                        <a:t>2</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3054407346"/>
                  </a:ext>
                </a:extLst>
              </a:tr>
              <a:tr h="0">
                <a:tc>
                  <a:txBody>
                    <a:bodyPr/>
                    <a:lstStyle/>
                    <a:p>
                      <a:pPr algn="ctr">
                        <a:buNone/>
                      </a:pPr>
                      <a:r>
                        <a:rPr lang="en-US" dirty="0">
                          <a:solidFill>
                            <a:schemeClr val="accent6">
                              <a:lumMod val="60000"/>
                              <a:lumOff val="40000"/>
                            </a:schemeClr>
                          </a:solidFill>
                        </a:rPr>
                        <a:t>3</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3092045332"/>
                  </a:ext>
                </a:extLst>
              </a:tr>
              <a:tr h="0">
                <a:tc>
                  <a:txBody>
                    <a:bodyPr/>
                    <a:lstStyle/>
                    <a:p>
                      <a:pPr algn="ctr">
                        <a:buNone/>
                      </a:pPr>
                      <a:r>
                        <a:rPr lang="en-US" dirty="0">
                          <a:solidFill>
                            <a:schemeClr val="accent6">
                              <a:lumMod val="60000"/>
                              <a:lumOff val="40000"/>
                            </a:schemeClr>
                          </a:solidFill>
                        </a:rPr>
                        <a:t>4</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2030197437"/>
                  </a:ext>
                </a:extLst>
              </a:tr>
              <a:tr h="0">
                <a:tc>
                  <a:txBody>
                    <a:bodyPr/>
                    <a:lstStyle/>
                    <a:p>
                      <a:pPr algn="ctr">
                        <a:buNone/>
                      </a:pPr>
                      <a:r>
                        <a:rPr lang="en-US" dirty="0">
                          <a:solidFill>
                            <a:schemeClr val="accent6">
                              <a:lumMod val="60000"/>
                              <a:lumOff val="40000"/>
                            </a:schemeClr>
                          </a:solidFill>
                        </a:rPr>
                        <a:t>5</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3251005750"/>
                  </a:ext>
                </a:extLst>
              </a:tr>
              <a:tr h="0">
                <a:tc>
                  <a:txBody>
                    <a:bodyPr/>
                    <a:lstStyle/>
                    <a:p>
                      <a:pPr algn="ctr">
                        <a:buNone/>
                      </a:pPr>
                      <a:r>
                        <a:rPr lang="en-US" dirty="0">
                          <a:solidFill>
                            <a:schemeClr val="accent6">
                              <a:lumMod val="60000"/>
                              <a:lumOff val="40000"/>
                            </a:schemeClr>
                          </a:solidFill>
                        </a:rPr>
                        <a:t>6</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1/6</a:t>
                      </a:r>
                    </a:p>
                  </a:txBody>
                  <a:tcPr anchor="ctr">
                    <a:lnL>
                      <a:noFill/>
                    </a:lnL>
                    <a:lnR>
                      <a:noFill/>
                    </a:lnR>
                    <a:lnT>
                      <a:noFill/>
                    </a:lnT>
                    <a:lnB>
                      <a:noFill/>
                    </a:lnB>
                    <a:noFill/>
                  </a:tcPr>
                </a:tc>
                <a:extLst>
                  <a:ext uri="{0D108BD9-81ED-4DB2-BD59-A6C34878D82A}">
                    <a16:rowId xmlns:a16="http://schemas.microsoft.com/office/drawing/2014/main" val="3029644764"/>
                  </a:ext>
                </a:extLst>
              </a:tr>
              <a:tr h="0">
                <a:tc>
                  <a:txBody>
                    <a:bodyPr/>
                    <a:lstStyle/>
                    <a:p>
                      <a:pPr algn="ctr">
                        <a:buNone/>
                      </a:pPr>
                      <a:r>
                        <a:rPr lang="en-US" dirty="0">
                          <a:solidFill>
                            <a:schemeClr val="accent6">
                              <a:lumMod val="60000"/>
                              <a:lumOff val="40000"/>
                            </a:schemeClr>
                          </a:solidFill>
                        </a:rPr>
                        <a:t>Total</a:t>
                      </a:r>
                    </a:p>
                  </a:txBody>
                  <a:tcPr anchor="ctr">
                    <a:lnL>
                      <a:noFill/>
                    </a:lnL>
                    <a:lnR>
                      <a:noFill/>
                    </a:lnR>
                    <a:lnT>
                      <a:noFill/>
                    </a:lnT>
                    <a:lnB>
                      <a:noFill/>
                    </a:lnB>
                    <a:noFill/>
                  </a:tcPr>
                </a:tc>
                <a:tc>
                  <a:txBody>
                    <a:bodyPr/>
                    <a:lstStyle/>
                    <a:p>
                      <a:pPr algn="ctr">
                        <a:buNone/>
                      </a:pPr>
                      <a:r>
                        <a:rPr lang="en-US" dirty="0">
                          <a:solidFill>
                            <a:schemeClr val="accent6">
                              <a:lumMod val="60000"/>
                              <a:lumOff val="40000"/>
                            </a:schemeClr>
                          </a:solidFill>
                        </a:rPr>
                        <a:t>1</a:t>
                      </a:r>
                    </a:p>
                  </a:txBody>
                  <a:tcPr anchor="ctr">
                    <a:lnL>
                      <a:noFill/>
                    </a:lnL>
                    <a:lnR>
                      <a:noFill/>
                    </a:lnR>
                    <a:lnT>
                      <a:noFill/>
                    </a:lnT>
                    <a:lnB>
                      <a:noFill/>
                    </a:lnB>
                    <a:noFill/>
                  </a:tcPr>
                </a:tc>
                <a:extLst>
                  <a:ext uri="{0D108BD9-81ED-4DB2-BD59-A6C34878D82A}">
                    <a16:rowId xmlns:a16="http://schemas.microsoft.com/office/drawing/2014/main" val="910704441"/>
                  </a:ext>
                </a:extLst>
              </a:tr>
            </a:tbl>
          </a:graphicData>
        </a:graphic>
      </p:graphicFrame>
      <p:pic>
        <p:nvPicPr>
          <p:cNvPr id="4" name="Picture 3">
            <a:extLst>
              <a:ext uri="{FF2B5EF4-FFF2-40B4-BE49-F238E27FC236}">
                <a16:creationId xmlns:a16="http://schemas.microsoft.com/office/drawing/2014/main" id="{F065BC42-7AE1-8E8B-22CA-93EC289474AE}"/>
              </a:ext>
            </a:extLst>
          </p:cNvPr>
          <p:cNvPicPr>
            <a:picLocks noChangeAspect="1"/>
          </p:cNvPicPr>
          <p:nvPr/>
        </p:nvPicPr>
        <p:blipFill>
          <a:blip r:embed="rId2"/>
          <a:stretch>
            <a:fillRect/>
          </a:stretch>
        </p:blipFill>
        <p:spPr>
          <a:xfrm>
            <a:off x="6272784" y="4674968"/>
            <a:ext cx="1147787" cy="1084022"/>
          </a:xfrm>
          <a:prstGeom prst="rect">
            <a:avLst/>
          </a:prstGeom>
        </p:spPr>
      </p:pic>
    </p:spTree>
    <p:extLst>
      <p:ext uri="{BB962C8B-B14F-4D97-AF65-F5344CB8AC3E}">
        <p14:creationId xmlns:p14="http://schemas.microsoft.com/office/powerpoint/2010/main" val="772835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9FCE-9509-6F66-5AC5-2E7F9364C88F}"/>
              </a:ext>
            </a:extLst>
          </p:cNvPr>
          <p:cNvSpPr>
            <a:spLocks noGrp="1"/>
          </p:cNvSpPr>
          <p:nvPr>
            <p:ph type="title"/>
          </p:nvPr>
        </p:nvSpPr>
        <p:spPr>
          <a:xfrm>
            <a:off x="301752" y="191389"/>
            <a:ext cx="11052048" cy="604139"/>
          </a:xfrm>
        </p:spPr>
        <p:txBody>
          <a:bodyPr>
            <a:noAutofit/>
          </a:bodyPr>
          <a:lstStyle/>
          <a:p>
            <a:pPr algn="ctr"/>
            <a:r>
              <a:rPr lang="en-US" sz="2800" b="1" dirty="0"/>
              <a:t>2 Types of Probability Distribution Functions: Discrete and Continuous</a:t>
            </a:r>
            <a:endParaRPr lang="en-US" sz="2800" dirty="0"/>
          </a:p>
        </p:txBody>
      </p:sp>
      <p:sp>
        <p:nvSpPr>
          <p:cNvPr id="7" name="TextBox 6">
            <a:extLst>
              <a:ext uri="{FF2B5EF4-FFF2-40B4-BE49-F238E27FC236}">
                <a16:creationId xmlns:a16="http://schemas.microsoft.com/office/drawing/2014/main" id="{EEA10EB4-83AA-1BE1-3FFB-8B8BC75536B3}"/>
              </a:ext>
            </a:extLst>
          </p:cNvPr>
          <p:cNvSpPr txBox="1"/>
          <p:nvPr/>
        </p:nvSpPr>
        <p:spPr>
          <a:xfrm>
            <a:off x="301752" y="802886"/>
            <a:ext cx="8215884" cy="400110"/>
          </a:xfrm>
          <a:prstGeom prst="rect">
            <a:avLst/>
          </a:prstGeom>
          <a:noFill/>
        </p:spPr>
        <p:txBody>
          <a:bodyPr wrap="square">
            <a:spAutoFit/>
          </a:bodyPr>
          <a:lstStyle/>
          <a:p>
            <a:r>
              <a:rPr lang="en-US" sz="2000" b="1" dirty="0">
                <a:solidFill>
                  <a:schemeClr val="accent6">
                    <a:lumMod val="40000"/>
                    <a:lumOff val="60000"/>
                  </a:schemeClr>
                </a:solidFill>
              </a:rPr>
              <a:t>1. Discrete Probability Distribution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CDFC057-803C-D629-F1CB-F7A533C15985}"/>
                  </a:ext>
                </a:extLst>
              </p:cNvPr>
              <p:cNvSpPr txBox="1"/>
              <p:nvPr/>
            </p:nvSpPr>
            <p:spPr>
              <a:xfrm>
                <a:off x="96012" y="1284607"/>
                <a:ext cx="11937492" cy="5117298"/>
              </a:xfrm>
              <a:prstGeom prst="rect">
                <a:avLst/>
              </a:prstGeom>
              <a:noFill/>
            </p:spPr>
            <p:txBody>
              <a:bodyPr wrap="square">
                <a:spAutoFit/>
              </a:bodyPr>
              <a:lstStyle/>
              <a:p>
                <a:pPr marL="0" indent="0">
                  <a:buNone/>
                </a:pPr>
                <a:r>
                  <a:rPr lang="en-US" sz="2000" dirty="0">
                    <a:solidFill>
                      <a:schemeClr val="accent6">
                        <a:lumMod val="60000"/>
                        <a:lumOff val="40000"/>
                      </a:schemeClr>
                    </a:solidFill>
                  </a:rPr>
                  <a:t>Another name for Discrete PD is Probability Mass Function (PMF). A </a:t>
                </a:r>
                <a:r>
                  <a:rPr lang="en-US" sz="2000" b="1" dirty="0">
                    <a:solidFill>
                      <a:schemeClr val="accent6">
                        <a:lumMod val="60000"/>
                        <a:lumOff val="40000"/>
                      </a:schemeClr>
                    </a:solidFill>
                  </a:rPr>
                  <a:t>PMF</a:t>
                </a:r>
                <a:r>
                  <a:rPr lang="en-US" sz="2000" dirty="0">
                    <a:solidFill>
                      <a:schemeClr val="accent6">
                        <a:lumMod val="60000"/>
                        <a:lumOff val="40000"/>
                      </a:schemeClr>
                    </a:solidFill>
                  </a:rPr>
                  <a:t> is a function that gives the </a:t>
                </a:r>
                <a:r>
                  <a:rPr lang="en-US" sz="2000" b="1" dirty="0">
                    <a:solidFill>
                      <a:schemeClr val="accent6">
                        <a:lumMod val="60000"/>
                        <a:lumOff val="40000"/>
                      </a:schemeClr>
                    </a:solidFill>
                  </a:rPr>
                  <a:t>probability of each possible discrete outcome</a:t>
                </a:r>
                <a:r>
                  <a:rPr lang="en-US" sz="2000" dirty="0">
                    <a:solidFill>
                      <a:schemeClr val="accent6">
                        <a:lumMod val="60000"/>
                        <a:lumOff val="40000"/>
                      </a:schemeClr>
                    </a:solidFill>
                  </a:rPr>
                  <a:t> of a random variable. It is used for </a:t>
                </a:r>
                <a:r>
                  <a:rPr lang="en-US" sz="2000" b="1" dirty="0">
                    <a:solidFill>
                      <a:schemeClr val="accent6">
                        <a:lumMod val="60000"/>
                        <a:lumOff val="40000"/>
                      </a:schemeClr>
                    </a:solidFill>
                  </a:rPr>
                  <a:t>discrete random variables</a:t>
                </a:r>
                <a:r>
                  <a:rPr lang="en-US" sz="2000" dirty="0">
                    <a:solidFill>
                      <a:schemeClr val="accent6">
                        <a:lumMod val="60000"/>
                        <a:lumOff val="40000"/>
                      </a:schemeClr>
                    </a:solidFill>
                  </a:rPr>
                  <a:t> where outcomes are </a:t>
                </a:r>
                <a:r>
                  <a:rPr lang="en-US" sz="2000" b="1" dirty="0">
                    <a:solidFill>
                      <a:schemeClr val="accent6">
                        <a:lumMod val="60000"/>
                        <a:lumOff val="40000"/>
                      </a:schemeClr>
                    </a:solidFill>
                  </a:rPr>
                  <a:t>countable</a:t>
                </a:r>
                <a:r>
                  <a:rPr lang="en-US" sz="2000" dirty="0">
                    <a:solidFill>
                      <a:schemeClr val="accent6">
                        <a:lumMod val="60000"/>
                        <a:lumOff val="40000"/>
                      </a:schemeClr>
                    </a:solidFill>
                  </a:rPr>
                  <a:t>: like dice, coins, or number of students in a class.</a:t>
                </a:r>
              </a:p>
              <a:p>
                <a:pPr marL="0" indent="0">
                  <a:buNone/>
                </a:pPr>
                <a:endParaRPr lang="en-US" sz="2000" b="1" dirty="0">
                  <a:solidFill>
                    <a:schemeClr val="accent6">
                      <a:lumMod val="60000"/>
                      <a:lumOff val="40000"/>
                    </a:schemeClr>
                  </a:solidFill>
                </a:endParaRPr>
              </a:p>
              <a:p>
                <a:pPr marL="0" indent="0">
                  <a:buNone/>
                </a:pPr>
                <a:r>
                  <a:rPr lang="en-US" sz="2000" dirty="0">
                    <a:solidFill>
                      <a:schemeClr val="accent6">
                        <a:lumMod val="60000"/>
                        <a:lumOff val="40000"/>
                      </a:schemeClr>
                    </a:solidFill>
                  </a:rPr>
                  <a:t>PMF is often written as </a:t>
                </a:r>
                <a14:m>
                  <m:oMath xmlns:m="http://schemas.openxmlformats.org/officeDocument/2006/math">
                    <m:r>
                      <a:rPr lang="en-US" sz="2000" i="1">
                        <a:solidFill>
                          <a:schemeClr val="accent6">
                            <a:lumMod val="60000"/>
                            <a:lumOff val="40000"/>
                          </a:schemeClr>
                        </a:solidFill>
                        <a:latin typeface="Cambria Math" panose="02040503050406030204" pitchFamily="18" charset="0"/>
                      </a:rPr>
                      <m:t>𝑃</m:t>
                    </m:r>
                    <m:d>
                      <m:dPr>
                        <m:ctrlPr>
                          <a:rPr lang="ar-AE" sz="2000" i="1">
                            <a:solidFill>
                              <a:schemeClr val="accent6">
                                <a:lumMod val="60000"/>
                                <a:lumOff val="40000"/>
                              </a:schemeClr>
                            </a:solidFill>
                            <a:latin typeface="Cambria Math" panose="02040503050406030204" pitchFamily="18" charset="0"/>
                          </a:rPr>
                        </m:ctrlPr>
                      </m:dPr>
                      <m:e>
                        <m:r>
                          <a:rPr lang="ar-AE" sz="2000" i="1">
                            <a:solidFill>
                              <a:schemeClr val="accent6">
                                <a:lumMod val="60000"/>
                                <a:lumOff val="40000"/>
                              </a:schemeClr>
                            </a:solidFill>
                            <a:latin typeface="Cambria Math" panose="02040503050406030204" pitchFamily="18" charset="0"/>
                          </a:rPr>
                          <m:t>𝑋</m:t>
                        </m:r>
                        <m:r>
                          <a:rPr lang="ar-AE" sz="2000">
                            <a:solidFill>
                              <a:schemeClr val="accent6">
                                <a:lumMod val="60000"/>
                                <a:lumOff val="40000"/>
                              </a:schemeClr>
                            </a:solidFill>
                            <a:latin typeface="Cambria Math" panose="02040503050406030204" pitchFamily="18" charset="0"/>
                          </a:rPr>
                          <m:t>=</m:t>
                        </m:r>
                        <m:r>
                          <a:rPr lang="ar-AE" sz="2000" i="1">
                            <a:solidFill>
                              <a:schemeClr val="accent6">
                                <a:lumMod val="60000"/>
                                <a:lumOff val="40000"/>
                              </a:schemeClr>
                            </a:solidFill>
                            <a:latin typeface="Cambria Math" panose="02040503050406030204" pitchFamily="18" charset="0"/>
                          </a:rPr>
                          <m:t>𝑥</m:t>
                        </m:r>
                      </m:e>
                    </m:d>
                  </m:oMath>
                </a14:m>
                <a:r>
                  <a:rPr lang="ar-AE" sz="2000" dirty="0">
                    <a:solidFill>
                      <a:schemeClr val="accent6">
                        <a:lumMod val="60000"/>
                        <a:lumOff val="40000"/>
                      </a:schemeClr>
                    </a:solidFill>
                  </a:rPr>
                  <a:t>, </a:t>
                </a:r>
                <a:r>
                  <a:rPr lang="en-US" sz="2000" dirty="0">
                    <a:solidFill>
                      <a:schemeClr val="accent6">
                        <a:lumMod val="60000"/>
                        <a:lumOff val="40000"/>
                      </a:schemeClr>
                    </a:solidFill>
                  </a:rPr>
                  <a:t>which means “the probability that random variable </a:t>
                </a:r>
                <a14:m>
                  <m:oMath xmlns:m="http://schemas.openxmlformats.org/officeDocument/2006/math">
                    <m:r>
                      <a:rPr lang="en-US" sz="2000" i="1">
                        <a:solidFill>
                          <a:schemeClr val="accent6">
                            <a:lumMod val="60000"/>
                            <a:lumOff val="40000"/>
                          </a:schemeClr>
                        </a:solidFill>
                        <a:latin typeface="Cambria Math" panose="02040503050406030204" pitchFamily="18" charset="0"/>
                      </a:rPr>
                      <m:t>𝑋</m:t>
                    </m:r>
                  </m:oMath>
                </a14:m>
                <a:r>
                  <a:rPr lang="en-US" sz="2000" dirty="0">
                    <a:solidFill>
                      <a:schemeClr val="accent6">
                        <a:lumMod val="60000"/>
                        <a:lumOff val="40000"/>
                      </a:schemeClr>
                    </a:solidFill>
                  </a:rPr>
                  <a:t> takes the value </a:t>
                </a:r>
                <a14:m>
                  <m:oMath xmlns:m="http://schemas.openxmlformats.org/officeDocument/2006/math">
                    <m:r>
                      <a:rPr lang="en-US" sz="2000" i="1">
                        <a:solidFill>
                          <a:schemeClr val="accent6">
                            <a:lumMod val="60000"/>
                            <a:lumOff val="40000"/>
                          </a:schemeClr>
                        </a:solidFill>
                        <a:latin typeface="Cambria Math" panose="02040503050406030204" pitchFamily="18" charset="0"/>
                      </a:rPr>
                      <m:t>𝑥</m:t>
                    </m:r>
                  </m:oMath>
                </a14:m>
                <a:r>
                  <a:rPr lang="en-US" sz="2000" dirty="0">
                    <a:solidFill>
                      <a:schemeClr val="accent6">
                        <a:lumMod val="60000"/>
                        <a:lumOff val="40000"/>
                      </a:schemeClr>
                    </a:solidFill>
                  </a:rPr>
                  <a:t>.” </a:t>
                </a:r>
              </a:p>
              <a:p>
                <a:pPr marL="0" indent="0">
                  <a:buNone/>
                </a:pPr>
                <a:endParaRPr lang="en-US" sz="2000" dirty="0">
                  <a:solidFill>
                    <a:schemeClr val="accent6">
                      <a:lumMod val="60000"/>
                      <a:lumOff val="40000"/>
                    </a:schemeClr>
                  </a:solidFill>
                </a:endParaRPr>
              </a:p>
              <a:p>
                <a:pPr marL="0" indent="0">
                  <a:buNone/>
                </a:pPr>
                <a:r>
                  <a:rPr lang="en-US" sz="2000" dirty="0">
                    <a:solidFill>
                      <a:schemeClr val="accent6">
                        <a:lumMod val="60000"/>
                        <a:lumOff val="40000"/>
                      </a:schemeClr>
                    </a:solidFill>
                  </a:rPr>
                  <a:t>The 2 key points of PMF are</a:t>
                </a:r>
              </a:p>
              <a:p>
                <a:pPr marL="342900" indent="-342900">
                  <a:buAutoNum type="arabicParenR"/>
                </a:pPr>
                <a:endParaRPr lang="en-US" sz="2000" b="1" dirty="0">
                  <a:solidFill>
                    <a:schemeClr val="accent4">
                      <a:lumMod val="40000"/>
                      <a:lumOff val="60000"/>
                    </a:schemeClr>
                  </a:solidFill>
                </a:endParaRPr>
              </a:p>
              <a:p>
                <a:pPr marL="342900" indent="-342900">
                  <a:buAutoNum type="arabicParenR"/>
                </a:pPr>
                <a:r>
                  <a:rPr lang="en-US" sz="2000" b="1" dirty="0">
                    <a:solidFill>
                      <a:schemeClr val="accent4">
                        <a:lumMod val="40000"/>
                        <a:lumOff val="60000"/>
                      </a:schemeClr>
                    </a:solidFill>
                  </a:rPr>
                  <a:t>Non-negative:</a:t>
                </a:r>
                <a:r>
                  <a:rPr lang="en-US" sz="2000" dirty="0">
                    <a:solidFill>
                      <a:schemeClr val="accent4">
                        <a:lumMod val="40000"/>
                        <a:lumOff val="60000"/>
                      </a:schemeClr>
                    </a:solidFill>
                  </a:rPr>
                  <a:t>                                                          </a:t>
                </a:r>
                <a14:m>
                  <m:oMath xmlns:m="http://schemas.openxmlformats.org/officeDocument/2006/math">
                    <m:r>
                      <a:rPr lang="en-US" sz="2000" i="1">
                        <a:solidFill>
                          <a:schemeClr val="accent4">
                            <a:lumMod val="40000"/>
                            <a:lumOff val="60000"/>
                          </a:schemeClr>
                        </a:solidFill>
                        <a:latin typeface="Cambria Math" panose="02040503050406030204" pitchFamily="18" charset="0"/>
                      </a:rPr>
                      <m:t>𝑃</m:t>
                    </m:r>
                    <m:d>
                      <m:dPr>
                        <m:ctrlPr>
                          <a:rPr lang="ar-AE" sz="2000" i="1">
                            <a:solidFill>
                              <a:schemeClr val="accent4">
                                <a:lumMod val="40000"/>
                                <a:lumOff val="60000"/>
                              </a:schemeClr>
                            </a:solidFill>
                            <a:latin typeface="Cambria Math" panose="02040503050406030204" pitchFamily="18" charset="0"/>
                          </a:rPr>
                        </m:ctrlPr>
                      </m:dPr>
                      <m:e>
                        <m:r>
                          <a:rPr lang="ar-AE" sz="2000" i="1">
                            <a:solidFill>
                              <a:schemeClr val="accent4">
                                <a:lumMod val="40000"/>
                                <a:lumOff val="60000"/>
                              </a:schemeClr>
                            </a:solidFill>
                            <a:latin typeface="Cambria Math" panose="02040503050406030204" pitchFamily="18" charset="0"/>
                          </a:rPr>
                          <m:t>𝑋</m:t>
                        </m:r>
                        <m:r>
                          <a:rPr lang="ar-AE" sz="2000">
                            <a:solidFill>
                              <a:schemeClr val="accent4">
                                <a:lumMod val="40000"/>
                                <a:lumOff val="60000"/>
                              </a:schemeClr>
                            </a:solidFill>
                            <a:latin typeface="Cambria Math" panose="02040503050406030204" pitchFamily="18" charset="0"/>
                          </a:rPr>
                          <m:t>=</m:t>
                        </m:r>
                        <m:r>
                          <a:rPr lang="ar-AE" sz="2000" i="1">
                            <a:solidFill>
                              <a:schemeClr val="accent4">
                                <a:lumMod val="40000"/>
                                <a:lumOff val="60000"/>
                              </a:schemeClr>
                            </a:solidFill>
                            <a:latin typeface="Cambria Math" panose="02040503050406030204" pitchFamily="18" charset="0"/>
                          </a:rPr>
                          <m:t>𝑥</m:t>
                        </m:r>
                      </m:e>
                    </m:d>
                    <m:r>
                      <a:rPr lang="ar-AE" sz="2000">
                        <a:solidFill>
                          <a:schemeClr val="accent4">
                            <a:lumMod val="40000"/>
                            <a:lumOff val="60000"/>
                          </a:schemeClr>
                        </a:solidFill>
                        <a:latin typeface="Cambria Math" panose="02040503050406030204" pitchFamily="18" charset="0"/>
                      </a:rPr>
                      <m:t>≥</m:t>
                    </m:r>
                    <m:r>
                      <a:rPr lang="ar-AE" sz="2000">
                        <a:solidFill>
                          <a:schemeClr val="accent4">
                            <a:lumMod val="40000"/>
                            <a:lumOff val="60000"/>
                          </a:schemeClr>
                        </a:solidFill>
                        <a:latin typeface="Cambria Math" panose="02040503050406030204" pitchFamily="18" charset="0"/>
                      </a:rPr>
                      <m:t>0</m:t>
                    </m:r>
                  </m:oMath>
                </a14:m>
                <a:r>
                  <a:rPr lang="en-US" sz="2000" dirty="0">
                    <a:solidFill>
                      <a:schemeClr val="accent4">
                        <a:lumMod val="40000"/>
                        <a:lumOff val="60000"/>
                      </a:schemeClr>
                    </a:solidFill>
                  </a:rPr>
                  <a:t>   for all x</a:t>
                </a:r>
              </a:p>
              <a:p>
                <a:endParaRPr lang="en-US" sz="2000" dirty="0">
                  <a:solidFill>
                    <a:schemeClr val="accent4">
                      <a:lumMod val="40000"/>
                      <a:lumOff val="60000"/>
                    </a:schemeClr>
                  </a:solidFill>
                </a:endParaRPr>
              </a:p>
              <a:p>
                <a:endParaRPr lang="en-US" sz="2000" dirty="0">
                  <a:solidFill>
                    <a:schemeClr val="accent4">
                      <a:lumMod val="40000"/>
                      <a:lumOff val="60000"/>
                    </a:schemeClr>
                  </a:solidFill>
                </a:endParaRPr>
              </a:p>
              <a:p>
                <a:endParaRPr lang="en-US" sz="2000" dirty="0">
                  <a:solidFill>
                    <a:schemeClr val="accent4">
                      <a:lumMod val="40000"/>
                      <a:lumOff val="60000"/>
                    </a:schemeClr>
                  </a:solidFill>
                </a:endParaRPr>
              </a:p>
              <a:p>
                <a:r>
                  <a:rPr lang="en-US" sz="2000" b="1" dirty="0">
                    <a:solidFill>
                      <a:schemeClr val="accent4">
                        <a:lumMod val="40000"/>
                        <a:lumOff val="60000"/>
                      </a:schemeClr>
                    </a:solidFill>
                  </a:rPr>
                  <a:t>2)   Sum of probabilities = 1:</a:t>
                </a:r>
                <a:endParaRPr lang="en-US" sz="2000" dirty="0">
                  <a:solidFill>
                    <a:schemeClr val="accent4">
                      <a:lumMod val="40000"/>
                      <a:lumOff val="60000"/>
                    </a:schemeClr>
                  </a:solidFill>
                </a:endParaRPr>
              </a:p>
              <a:p>
                <a:pPr/>
                <a14:m>
                  <m:oMathPara xmlns:m="http://schemas.openxmlformats.org/officeDocument/2006/math">
                    <m:oMathParaPr>
                      <m:jc m:val="centerGroup"/>
                    </m:oMathParaPr>
                    <m:oMath xmlns:m="http://schemas.openxmlformats.org/officeDocument/2006/math">
                      <m:nary>
                        <m:naryPr>
                          <m:chr m:val="∑"/>
                          <m:grow m:val="on"/>
                          <m:supHide m:val="on"/>
                          <m:ctrlPr>
                            <a:rPr lang="ar-AE" sz="2000" i="1">
                              <a:solidFill>
                                <a:schemeClr val="accent4">
                                  <a:lumMod val="40000"/>
                                  <a:lumOff val="60000"/>
                                </a:schemeClr>
                              </a:solidFill>
                              <a:latin typeface="Cambria Math" panose="02040503050406030204" pitchFamily="18" charset="0"/>
                            </a:rPr>
                          </m:ctrlPr>
                        </m:naryPr>
                        <m:sub>
                          <m:r>
                            <a:rPr lang="ar-AE" sz="2000" i="1">
                              <a:solidFill>
                                <a:schemeClr val="accent4">
                                  <a:lumMod val="40000"/>
                                  <a:lumOff val="60000"/>
                                </a:schemeClr>
                              </a:solidFill>
                              <a:latin typeface="Cambria Math" panose="02040503050406030204" pitchFamily="18" charset="0"/>
                            </a:rPr>
                            <m:t>𝑥</m:t>
                          </m:r>
                        </m:sub>
                        <m:sup/>
                        <m:e>
                          <m:r>
                            <a:rPr lang="ar-AE" sz="2000" i="1">
                              <a:solidFill>
                                <a:schemeClr val="accent4">
                                  <a:lumMod val="40000"/>
                                  <a:lumOff val="60000"/>
                                </a:schemeClr>
                              </a:solidFill>
                              <a:latin typeface="Cambria Math" panose="02040503050406030204" pitchFamily="18" charset="0"/>
                            </a:rPr>
                            <m:t>𝑃</m:t>
                          </m:r>
                        </m:e>
                      </m:nary>
                      <m:d>
                        <m:dPr>
                          <m:ctrlPr>
                            <a:rPr lang="ar-AE" sz="2000" i="1">
                              <a:solidFill>
                                <a:schemeClr val="accent4">
                                  <a:lumMod val="40000"/>
                                  <a:lumOff val="60000"/>
                                </a:schemeClr>
                              </a:solidFill>
                              <a:latin typeface="Cambria Math" panose="02040503050406030204" pitchFamily="18" charset="0"/>
                            </a:rPr>
                          </m:ctrlPr>
                        </m:dPr>
                        <m:e>
                          <m:r>
                            <a:rPr lang="ar-AE" sz="2000" i="1">
                              <a:solidFill>
                                <a:schemeClr val="accent4">
                                  <a:lumMod val="40000"/>
                                  <a:lumOff val="60000"/>
                                </a:schemeClr>
                              </a:solidFill>
                              <a:latin typeface="Cambria Math" panose="02040503050406030204" pitchFamily="18" charset="0"/>
                            </a:rPr>
                            <m:t>𝑋</m:t>
                          </m:r>
                          <m:r>
                            <a:rPr lang="ar-AE" sz="2000">
                              <a:solidFill>
                                <a:schemeClr val="accent4">
                                  <a:lumMod val="40000"/>
                                  <a:lumOff val="60000"/>
                                </a:schemeClr>
                              </a:solidFill>
                              <a:latin typeface="Cambria Math" panose="02040503050406030204" pitchFamily="18" charset="0"/>
                            </a:rPr>
                            <m:t>=</m:t>
                          </m:r>
                          <m:r>
                            <a:rPr lang="ar-AE" sz="2000" i="1">
                              <a:solidFill>
                                <a:schemeClr val="accent4">
                                  <a:lumMod val="40000"/>
                                  <a:lumOff val="60000"/>
                                </a:schemeClr>
                              </a:solidFill>
                              <a:latin typeface="Cambria Math" panose="02040503050406030204" pitchFamily="18" charset="0"/>
                            </a:rPr>
                            <m:t>𝑥</m:t>
                          </m:r>
                        </m:e>
                      </m:d>
                      <m:r>
                        <a:rPr lang="ar-AE" sz="2000">
                          <a:solidFill>
                            <a:schemeClr val="accent4">
                              <a:lumMod val="40000"/>
                              <a:lumOff val="60000"/>
                            </a:schemeClr>
                          </a:solidFill>
                          <a:latin typeface="Cambria Math" panose="02040503050406030204" pitchFamily="18" charset="0"/>
                        </a:rPr>
                        <m:t>=</m:t>
                      </m:r>
                      <m:r>
                        <a:rPr lang="ar-AE" sz="2000">
                          <a:solidFill>
                            <a:schemeClr val="accent4">
                              <a:lumMod val="40000"/>
                              <a:lumOff val="60000"/>
                            </a:schemeClr>
                          </a:solidFill>
                          <a:latin typeface="Cambria Math" panose="02040503050406030204" pitchFamily="18" charset="0"/>
                        </a:rPr>
                        <m:t>1</m:t>
                      </m:r>
                    </m:oMath>
                  </m:oMathPara>
                </a14:m>
                <a:endParaRPr lang="ar-AE" sz="2000" dirty="0">
                  <a:solidFill>
                    <a:schemeClr val="accent4">
                      <a:lumMod val="40000"/>
                      <a:lumOff val="60000"/>
                    </a:schemeClr>
                  </a:solidFill>
                </a:endParaRPr>
              </a:p>
              <a:p>
                <a:pPr marL="0" indent="0">
                  <a:buNone/>
                </a:pPr>
                <a:endParaRPr lang="en-US" sz="2000" dirty="0">
                  <a:solidFill>
                    <a:schemeClr val="accent6">
                      <a:lumMod val="40000"/>
                      <a:lumOff val="60000"/>
                    </a:schemeClr>
                  </a:solidFill>
                </a:endParaRPr>
              </a:p>
            </p:txBody>
          </p:sp>
        </mc:Choice>
        <mc:Fallback xmlns="">
          <p:sp>
            <p:nvSpPr>
              <p:cNvPr id="13" name="TextBox 12">
                <a:extLst>
                  <a:ext uri="{FF2B5EF4-FFF2-40B4-BE49-F238E27FC236}">
                    <a16:creationId xmlns:a16="http://schemas.microsoft.com/office/drawing/2014/main" id="{8CDFC057-803C-D629-F1CB-F7A533C15985}"/>
                  </a:ext>
                </a:extLst>
              </p:cNvPr>
              <p:cNvSpPr txBox="1">
                <a:spLocks noRot="1" noChangeAspect="1" noMove="1" noResize="1" noEditPoints="1" noAdjustHandles="1" noChangeArrowheads="1" noChangeShapeType="1" noTextEdit="1"/>
              </p:cNvSpPr>
              <p:nvPr/>
            </p:nvSpPr>
            <p:spPr>
              <a:xfrm>
                <a:off x="96012" y="1284607"/>
                <a:ext cx="11937492" cy="5117298"/>
              </a:xfrm>
              <a:prstGeom prst="rect">
                <a:avLst/>
              </a:prstGeom>
              <a:blipFill>
                <a:blip r:embed="rId2"/>
                <a:stretch>
                  <a:fillRect l="-562" t="-715" r="-76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FFAD521-7026-4260-510E-94C9941037CB}"/>
              </a:ext>
            </a:extLst>
          </p:cNvPr>
          <p:cNvPicPr>
            <a:picLocks noChangeAspect="1"/>
          </p:cNvPicPr>
          <p:nvPr/>
        </p:nvPicPr>
        <p:blipFill>
          <a:blip r:embed="rId3"/>
          <a:stretch>
            <a:fillRect/>
          </a:stretch>
        </p:blipFill>
        <p:spPr>
          <a:xfrm>
            <a:off x="8355115" y="4915025"/>
            <a:ext cx="2327062" cy="1316736"/>
          </a:xfrm>
          <a:prstGeom prst="rect">
            <a:avLst/>
          </a:prstGeom>
        </p:spPr>
      </p:pic>
    </p:spTree>
    <p:extLst>
      <p:ext uri="{BB962C8B-B14F-4D97-AF65-F5344CB8AC3E}">
        <p14:creationId xmlns:p14="http://schemas.microsoft.com/office/powerpoint/2010/main" val="123991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A13E6-44FC-4A0F-5779-31F371BC59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27031F-4D24-99FD-B3FC-EE9B92E245BD}"/>
              </a:ext>
            </a:extLst>
          </p:cNvPr>
          <p:cNvSpPr txBox="1"/>
          <p:nvPr/>
        </p:nvSpPr>
        <p:spPr>
          <a:xfrm>
            <a:off x="301752" y="802886"/>
            <a:ext cx="8215884" cy="400110"/>
          </a:xfrm>
          <a:prstGeom prst="rect">
            <a:avLst/>
          </a:prstGeom>
          <a:noFill/>
        </p:spPr>
        <p:txBody>
          <a:bodyPr wrap="square">
            <a:spAutoFit/>
          </a:bodyPr>
          <a:lstStyle/>
          <a:p>
            <a:r>
              <a:rPr lang="en-US" sz="2000" b="1" dirty="0">
                <a:solidFill>
                  <a:schemeClr val="accent6">
                    <a:lumMod val="40000"/>
                    <a:lumOff val="60000"/>
                  </a:schemeClr>
                </a:solidFill>
              </a:rPr>
              <a:t>1. Discrete Probability Distribution</a:t>
            </a:r>
          </a:p>
        </p:txBody>
      </p:sp>
      <p:sp>
        <p:nvSpPr>
          <p:cNvPr id="13" name="TextBox 12">
            <a:extLst>
              <a:ext uri="{FF2B5EF4-FFF2-40B4-BE49-F238E27FC236}">
                <a16:creationId xmlns:a16="http://schemas.microsoft.com/office/drawing/2014/main" id="{B03D8858-9E24-A362-B3DC-33CC415117D0}"/>
              </a:ext>
            </a:extLst>
          </p:cNvPr>
          <p:cNvSpPr txBox="1"/>
          <p:nvPr/>
        </p:nvSpPr>
        <p:spPr>
          <a:xfrm>
            <a:off x="96012" y="1284607"/>
            <a:ext cx="11937492" cy="3477875"/>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Let’s take an experiment of rolling a </a:t>
            </a:r>
            <a:r>
              <a:rPr lang="en-US" sz="2000" b="1" dirty="0">
                <a:solidFill>
                  <a:schemeClr val="accent6">
                    <a:lumMod val="60000"/>
                    <a:lumOff val="40000"/>
                  </a:schemeClr>
                </a:solidFill>
              </a:rPr>
              <a:t>fair</a:t>
            </a:r>
            <a:r>
              <a:rPr lang="en-US" sz="2000" dirty="0">
                <a:solidFill>
                  <a:schemeClr val="accent6">
                    <a:lumMod val="60000"/>
                    <a:lumOff val="40000"/>
                  </a:schemeClr>
                </a:solidFill>
              </a:rPr>
              <a:t> dice with the random variable X being the face with odd number that showing up.  What is PDF of X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Ans: </a:t>
            </a:r>
          </a:p>
          <a:p>
            <a:r>
              <a:rPr lang="en-US" sz="2000" dirty="0">
                <a:solidFill>
                  <a:schemeClr val="accent6">
                    <a:lumMod val="60000"/>
                    <a:lumOff val="40000"/>
                  </a:schemeClr>
                </a:solidFill>
              </a:rPr>
              <a:t>Here X =  {1, 3, 5}. So,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P(X=1) = 1/6</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P(X=3) = 1/6</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P(X=5) = 1/6</a:t>
            </a:r>
          </a:p>
        </p:txBody>
      </p:sp>
      <p:pic>
        <p:nvPicPr>
          <p:cNvPr id="3" name="Picture 2">
            <a:extLst>
              <a:ext uri="{FF2B5EF4-FFF2-40B4-BE49-F238E27FC236}">
                <a16:creationId xmlns:a16="http://schemas.microsoft.com/office/drawing/2014/main" id="{5CCF456F-E63D-6E02-BCC1-559180B08FF8}"/>
              </a:ext>
            </a:extLst>
          </p:cNvPr>
          <p:cNvPicPr>
            <a:picLocks noChangeAspect="1"/>
          </p:cNvPicPr>
          <p:nvPr/>
        </p:nvPicPr>
        <p:blipFill>
          <a:blip r:embed="rId2"/>
          <a:stretch>
            <a:fillRect/>
          </a:stretch>
        </p:blipFill>
        <p:spPr>
          <a:xfrm>
            <a:off x="4815104" y="1692074"/>
            <a:ext cx="1082776" cy="1022621"/>
          </a:xfrm>
          <a:prstGeom prst="rect">
            <a:avLst/>
          </a:prstGeom>
        </p:spPr>
      </p:pic>
      <p:sp>
        <p:nvSpPr>
          <p:cNvPr id="6" name="Title 1">
            <a:extLst>
              <a:ext uri="{FF2B5EF4-FFF2-40B4-BE49-F238E27FC236}">
                <a16:creationId xmlns:a16="http://schemas.microsoft.com/office/drawing/2014/main" id="{8AC0D646-73A4-ECE2-75B0-398C284DBE6C}"/>
              </a:ext>
            </a:extLst>
          </p:cNvPr>
          <p:cNvSpPr>
            <a:spLocks noGrp="1"/>
          </p:cNvSpPr>
          <p:nvPr>
            <p:ph type="title"/>
          </p:nvPr>
        </p:nvSpPr>
        <p:spPr>
          <a:xfrm>
            <a:off x="301752" y="191389"/>
            <a:ext cx="11052048" cy="604139"/>
          </a:xfrm>
        </p:spPr>
        <p:txBody>
          <a:bodyPr>
            <a:noAutofit/>
          </a:bodyPr>
          <a:lstStyle/>
          <a:p>
            <a:pPr algn="ctr"/>
            <a:r>
              <a:rPr lang="en-US" sz="2800" b="1" dirty="0"/>
              <a:t>2 Types of Probability Distribution Functions: Discrete and Continuous</a:t>
            </a:r>
            <a:endParaRPr lang="en-US" sz="2800" dirty="0"/>
          </a:p>
        </p:txBody>
      </p:sp>
      <p:pic>
        <p:nvPicPr>
          <p:cNvPr id="4" name="Picture 3">
            <a:extLst>
              <a:ext uri="{FF2B5EF4-FFF2-40B4-BE49-F238E27FC236}">
                <a16:creationId xmlns:a16="http://schemas.microsoft.com/office/drawing/2014/main" id="{632DA282-45F4-66B0-02D9-531A7CA8D5C8}"/>
              </a:ext>
            </a:extLst>
          </p:cNvPr>
          <p:cNvPicPr>
            <a:picLocks noChangeAspect="1"/>
          </p:cNvPicPr>
          <p:nvPr/>
        </p:nvPicPr>
        <p:blipFill>
          <a:blip r:embed="rId3"/>
          <a:stretch>
            <a:fillRect/>
          </a:stretch>
        </p:blipFill>
        <p:spPr>
          <a:xfrm>
            <a:off x="3782950" y="3885176"/>
            <a:ext cx="2984322" cy="2223260"/>
          </a:xfrm>
          <a:prstGeom prst="rect">
            <a:avLst/>
          </a:prstGeom>
        </p:spPr>
      </p:pic>
    </p:spTree>
    <p:extLst>
      <p:ext uri="{BB962C8B-B14F-4D97-AF65-F5344CB8AC3E}">
        <p14:creationId xmlns:p14="http://schemas.microsoft.com/office/powerpoint/2010/main" val="3042149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DE7A7-E651-4DD5-5FBC-27BB1329E81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62CF0C7-8ED4-A849-9B66-0EC3DF0A3D1B}"/>
              </a:ext>
            </a:extLst>
          </p:cNvPr>
          <p:cNvSpPr txBox="1"/>
          <p:nvPr/>
        </p:nvSpPr>
        <p:spPr>
          <a:xfrm>
            <a:off x="301752" y="802886"/>
            <a:ext cx="8215884" cy="400110"/>
          </a:xfrm>
          <a:prstGeom prst="rect">
            <a:avLst/>
          </a:prstGeom>
          <a:noFill/>
        </p:spPr>
        <p:txBody>
          <a:bodyPr wrap="square">
            <a:spAutoFit/>
          </a:bodyPr>
          <a:lstStyle/>
          <a:p>
            <a:r>
              <a:rPr lang="en-US" sz="2000" b="1" dirty="0">
                <a:solidFill>
                  <a:schemeClr val="accent6">
                    <a:lumMod val="40000"/>
                    <a:lumOff val="60000"/>
                  </a:schemeClr>
                </a:solidFill>
              </a:rPr>
              <a:t>1. Discrete Probability Distribution</a:t>
            </a:r>
          </a:p>
        </p:txBody>
      </p:sp>
      <p:sp>
        <p:nvSpPr>
          <p:cNvPr id="13" name="TextBox 12">
            <a:extLst>
              <a:ext uri="{FF2B5EF4-FFF2-40B4-BE49-F238E27FC236}">
                <a16:creationId xmlns:a16="http://schemas.microsoft.com/office/drawing/2014/main" id="{7A0842EC-899B-84ED-C8B9-CA36C88D4A84}"/>
              </a:ext>
            </a:extLst>
          </p:cNvPr>
          <p:cNvSpPr txBox="1"/>
          <p:nvPr/>
        </p:nvSpPr>
        <p:spPr>
          <a:xfrm>
            <a:off x="96012" y="1284607"/>
            <a:ext cx="8545068" cy="4708981"/>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A dataset containing the number of emails received each day for a week is provided. Let X be a random variable representing spam email received on any given day. Assuming the data allows for the calculation of the probability of determining whether an email is spam, what is the probability mass function (PMF) of X ?</a:t>
            </a:r>
          </a:p>
          <a:p>
            <a:r>
              <a:rPr lang="en-US" sz="2000" dirty="0">
                <a:solidFill>
                  <a:schemeClr val="accent6">
                    <a:lumMod val="60000"/>
                    <a:lumOff val="40000"/>
                  </a:schemeClr>
                </a:solidFill>
              </a:rPr>
              <a:t> </a:t>
            </a:r>
          </a:p>
          <a:p>
            <a:r>
              <a:rPr lang="en-US" sz="2000" dirty="0">
                <a:solidFill>
                  <a:schemeClr val="accent6">
                    <a:lumMod val="60000"/>
                    <a:lumOff val="40000"/>
                  </a:schemeClr>
                </a:solidFill>
              </a:rPr>
              <a:t>Ans: </a:t>
            </a:r>
          </a:p>
          <a:p>
            <a:r>
              <a:rPr lang="en-US" sz="2000" dirty="0">
                <a:solidFill>
                  <a:schemeClr val="accent6">
                    <a:lumMod val="60000"/>
                    <a:lumOff val="40000"/>
                  </a:schemeClr>
                </a:solidFill>
              </a:rPr>
              <a:t>Here X is a random variable indicating whether new email is spam or not.</a:t>
            </a:r>
          </a:p>
          <a:p>
            <a:r>
              <a:rPr lang="en-US" sz="2000" dirty="0">
                <a:solidFill>
                  <a:schemeClr val="accent6">
                    <a:lumMod val="60000"/>
                    <a:lumOff val="40000"/>
                  </a:schemeClr>
                </a:solidFill>
              </a:rPr>
              <a:t>X = {spam, no-spam} .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By looking at data, we see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P(X=spam)         = 4/7</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 = no-spam) = 3/7</a:t>
            </a:r>
          </a:p>
        </p:txBody>
      </p:sp>
      <p:graphicFrame>
        <p:nvGraphicFramePr>
          <p:cNvPr id="8" name="Table 7">
            <a:extLst>
              <a:ext uri="{FF2B5EF4-FFF2-40B4-BE49-F238E27FC236}">
                <a16:creationId xmlns:a16="http://schemas.microsoft.com/office/drawing/2014/main" id="{5C5BCC8C-4695-81D5-5E58-3DC4E97ADE02}"/>
              </a:ext>
            </a:extLst>
          </p:cNvPr>
          <p:cNvGraphicFramePr>
            <a:graphicFrameLocks noGrp="1"/>
          </p:cNvGraphicFramePr>
          <p:nvPr>
            <p:extLst>
              <p:ext uri="{D42A27DB-BD31-4B8C-83A1-F6EECF244321}">
                <p14:modId xmlns:p14="http://schemas.microsoft.com/office/powerpoint/2010/main" val="4091612973"/>
              </p:ext>
            </p:extLst>
          </p:nvPr>
        </p:nvGraphicFramePr>
        <p:xfrm>
          <a:off x="9331382" y="1405862"/>
          <a:ext cx="2022418" cy="2682240"/>
        </p:xfrm>
        <a:graphic>
          <a:graphicData uri="http://schemas.openxmlformats.org/drawingml/2006/table">
            <a:tbl>
              <a:tblPr firstRow="1" bandRow="1">
                <a:tableStyleId>{2D5ABB26-0587-4C30-8999-92F81FD0307C}</a:tableStyleId>
              </a:tblPr>
              <a:tblGrid>
                <a:gridCol w="1011209">
                  <a:extLst>
                    <a:ext uri="{9D8B030D-6E8A-4147-A177-3AD203B41FA5}">
                      <a16:colId xmlns:a16="http://schemas.microsoft.com/office/drawing/2014/main" val="2946656974"/>
                    </a:ext>
                  </a:extLst>
                </a:gridCol>
                <a:gridCol w="1011209">
                  <a:extLst>
                    <a:ext uri="{9D8B030D-6E8A-4147-A177-3AD203B41FA5}">
                      <a16:colId xmlns:a16="http://schemas.microsoft.com/office/drawing/2014/main" val="2412447998"/>
                    </a:ext>
                  </a:extLst>
                </a:gridCol>
              </a:tblGrid>
              <a:tr h="308587">
                <a:tc>
                  <a:txBody>
                    <a:bodyPr/>
                    <a:lstStyle/>
                    <a:p>
                      <a:pPr algn="ctr"/>
                      <a:r>
                        <a:rPr lang="en-US" sz="1600" b="1" dirty="0">
                          <a:solidFill>
                            <a:schemeClr val="accent6">
                              <a:lumMod val="40000"/>
                              <a:lumOff val="60000"/>
                            </a:schemeClr>
                          </a:solidFill>
                        </a:rPr>
                        <a:t>email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err="1">
                          <a:solidFill>
                            <a:schemeClr val="accent6">
                              <a:lumMod val="40000"/>
                              <a:lumOff val="60000"/>
                            </a:schemeClr>
                          </a:solidFill>
                        </a:rPr>
                        <a:t>Is_spam</a:t>
                      </a:r>
                      <a:endParaRPr lang="en-US" sz="1600" b="1" dirty="0">
                        <a:solidFill>
                          <a:schemeClr val="accent6">
                            <a:lumMod val="40000"/>
                            <a:lumOff val="6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962580"/>
                  </a:ext>
                </a:extLst>
              </a:tr>
              <a:tr h="308587">
                <a:tc>
                  <a:txBody>
                    <a:bodyPr/>
                    <a:lstStyle/>
                    <a:p>
                      <a:pPr algn="ctr"/>
                      <a:r>
                        <a:rPr lang="en-US" sz="1600" dirty="0">
                          <a:solidFill>
                            <a:schemeClr val="accent6">
                              <a:lumMod val="40000"/>
                              <a:lumOff val="60000"/>
                            </a:schemeClr>
                          </a:solidFill>
                        </a:rPr>
                        <a:t>E1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071187"/>
                  </a:ext>
                </a:extLst>
              </a:tr>
              <a:tr h="308587">
                <a:tc>
                  <a:txBody>
                    <a:bodyPr/>
                    <a:lstStyle/>
                    <a:p>
                      <a:pPr algn="ctr"/>
                      <a:r>
                        <a:rPr lang="en-US" sz="1600" dirty="0">
                          <a:solidFill>
                            <a:schemeClr val="accent6">
                              <a:lumMod val="40000"/>
                              <a:lumOff val="60000"/>
                            </a:schemeClr>
                          </a:solidFill>
                        </a:rPr>
                        <a:t>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069428"/>
                  </a:ext>
                </a:extLst>
              </a:tr>
              <a:tr h="308587">
                <a:tc>
                  <a:txBody>
                    <a:bodyPr/>
                    <a:lstStyle/>
                    <a:p>
                      <a:pPr algn="ctr"/>
                      <a:r>
                        <a:rPr lang="en-US" sz="1600" dirty="0">
                          <a:solidFill>
                            <a:schemeClr val="accent6">
                              <a:lumMod val="40000"/>
                              <a:lumOff val="60000"/>
                            </a:schemeClr>
                          </a:solidFill>
                        </a:rPr>
                        <a:t>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979472"/>
                  </a:ext>
                </a:extLst>
              </a:tr>
              <a:tr h="308587">
                <a:tc>
                  <a:txBody>
                    <a:bodyPr/>
                    <a:lstStyle/>
                    <a:p>
                      <a:pPr algn="ctr"/>
                      <a:r>
                        <a:rPr lang="en-US" sz="1600" dirty="0">
                          <a:solidFill>
                            <a:schemeClr val="accent6">
                              <a:lumMod val="40000"/>
                              <a:lumOff val="60000"/>
                            </a:schemeClr>
                          </a:solidFill>
                        </a:rPr>
                        <a:t>E4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937977"/>
                  </a:ext>
                </a:extLst>
              </a:tr>
              <a:tr h="308587">
                <a:tc>
                  <a:txBody>
                    <a:bodyPr/>
                    <a:lstStyle/>
                    <a:p>
                      <a:pPr algn="ctr"/>
                      <a:r>
                        <a:rPr lang="en-US" sz="1600" dirty="0">
                          <a:solidFill>
                            <a:schemeClr val="accent6">
                              <a:lumMod val="40000"/>
                              <a:lumOff val="60000"/>
                            </a:schemeClr>
                          </a:solidFill>
                        </a:rPr>
                        <a:t>E5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624301"/>
                  </a:ext>
                </a:extLst>
              </a:tr>
              <a:tr h="308587">
                <a:tc>
                  <a:txBody>
                    <a:bodyPr/>
                    <a:lstStyle/>
                    <a:p>
                      <a:pPr algn="ctr"/>
                      <a:r>
                        <a:rPr lang="en-US" sz="1600" dirty="0">
                          <a:solidFill>
                            <a:schemeClr val="accent6">
                              <a:lumMod val="40000"/>
                              <a:lumOff val="60000"/>
                            </a:schemeClr>
                          </a:solidFill>
                        </a:rPr>
                        <a:t>E6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780709"/>
                  </a:ext>
                </a:extLst>
              </a:tr>
              <a:tr h="308587">
                <a:tc>
                  <a:txBody>
                    <a:bodyPr/>
                    <a:lstStyle/>
                    <a:p>
                      <a:pPr algn="ctr"/>
                      <a:r>
                        <a:rPr lang="en-US" sz="1600" dirty="0">
                          <a:solidFill>
                            <a:schemeClr val="accent6">
                              <a:lumMod val="40000"/>
                              <a:lumOff val="60000"/>
                            </a:schemeClr>
                          </a:solidFill>
                        </a:rPr>
                        <a:t>E7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accent6">
                              <a:lumMod val="40000"/>
                              <a:lumOff val="60000"/>
                            </a:schemeClr>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840265"/>
                  </a:ext>
                </a:extLst>
              </a:tr>
            </a:tbl>
          </a:graphicData>
        </a:graphic>
      </p:graphicFrame>
      <p:pic>
        <p:nvPicPr>
          <p:cNvPr id="10" name="Picture 9">
            <a:extLst>
              <a:ext uri="{FF2B5EF4-FFF2-40B4-BE49-F238E27FC236}">
                <a16:creationId xmlns:a16="http://schemas.microsoft.com/office/drawing/2014/main" id="{61B847F0-3C69-6AFE-63B9-30DF827FDEDA}"/>
              </a:ext>
            </a:extLst>
          </p:cNvPr>
          <p:cNvPicPr>
            <a:picLocks noChangeAspect="1"/>
          </p:cNvPicPr>
          <p:nvPr/>
        </p:nvPicPr>
        <p:blipFill>
          <a:blip r:embed="rId2"/>
          <a:stretch>
            <a:fillRect/>
          </a:stretch>
        </p:blipFill>
        <p:spPr>
          <a:xfrm>
            <a:off x="4191497" y="4005071"/>
            <a:ext cx="3471175" cy="2560956"/>
          </a:xfrm>
          <a:prstGeom prst="rect">
            <a:avLst/>
          </a:prstGeom>
        </p:spPr>
      </p:pic>
      <p:sp>
        <p:nvSpPr>
          <p:cNvPr id="9" name="Title 1">
            <a:extLst>
              <a:ext uri="{FF2B5EF4-FFF2-40B4-BE49-F238E27FC236}">
                <a16:creationId xmlns:a16="http://schemas.microsoft.com/office/drawing/2014/main" id="{4F2DED69-1F1C-03AA-0706-A6FA6F67B5C8}"/>
              </a:ext>
            </a:extLst>
          </p:cNvPr>
          <p:cNvSpPr>
            <a:spLocks noGrp="1"/>
          </p:cNvSpPr>
          <p:nvPr>
            <p:ph type="title"/>
          </p:nvPr>
        </p:nvSpPr>
        <p:spPr>
          <a:xfrm>
            <a:off x="301752" y="191389"/>
            <a:ext cx="11052048" cy="604139"/>
          </a:xfrm>
        </p:spPr>
        <p:txBody>
          <a:bodyPr>
            <a:noAutofit/>
          </a:bodyPr>
          <a:lstStyle/>
          <a:p>
            <a:pPr algn="ctr"/>
            <a:r>
              <a:rPr lang="en-US" sz="2800" b="1" dirty="0"/>
              <a:t>2 Types of Probability Distribution Functions: Discrete and Continuous</a:t>
            </a:r>
            <a:endParaRPr lang="en-US" sz="2800" dirty="0"/>
          </a:p>
        </p:txBody>
      </p:sp>
    </p:spTree>
    <p:extLst>
      <p:ext uri="{BB962C8B-B14F-4D97-AF65-F5344CB8AC3E}">
        <p14:creationId xmlns:p14="http://schemas.microsoft.com/office/powerpoint/2010/main" val="2934645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47F4-356C-30C6-F2CE-5F83136A1E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71022A3-6ABB-8393-20B2-3DABBDA67F61}"/>
              </a:ext>
            </a:extLst>
          </p:cNvPr>
          <p:cNvSpPr txBox="1"/>
          <p:nvPr/>
        </p:nvSpPr>
        <p:spPr>
          <a:xfrm>
            <a:off x="301752" y="802886"/>
            <a:ext cx="8215884" cy="400110"/>
          </a:xfrm>
          <a:prstGeom prst="rect">
            <a:avLst/>
          </a:prstGeom>
          <a:noFill/>
        </p:spPr>
        <p:txBody>
          <a:bodyPr wrap="square">
            <a:spAutoFit/>
          </a:bodyPr>
          <a:lstStyle/>
          <a:p>
            <a:r>
              <a:rPr lang="en-US" sz="2000" b="1" dirty="0">
                <a:solidFill>
                  <a:schemeClr val="accent6">
                    <a:lumMod val="40000"/>
                    <a:lumOff val="60000"/>
                  </a:schemeClr>
                </a:solidFill>
              </a:rPr>
              <a:t>1. Discrete Probability Distribution</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247ABB4-F3D5-23B0-2276-5CA63AB424B9}"/>
                  </a:ext>
                </a:extLst>
              </p:cNvPr>
              <p:cNvSpPr txBox="1"/>
              <p:nvPr/>
            </p:nvSpPr>
            <p:spPr>
              <a:xfrm>
                <a:off x="96012" y="1284607"/>
                <a:ext cx="8545068" cy="5324535"/>
              </a:xfrm>
              <a:prstGeom prst="rect">
                <a:avLst/>
              </a:prstGeom>
              <a:noFill/>
            </p:spPr>
            <p:txBody>
              <a:bodyPr wrap="square">
                <a:spAutoFit/>
              </a:bodyPr>
              <a:lstStyle/>
              <a:p>
                <a:r>
                  <a:rPr lang="en-US" sz="2000" b="1" dirty="0">
                    <a:solidFill>
                      <a:schemeClr val="accent6">
                        <a:lumMod val="60000"/>
                        <a:lumOff val="40000"/>
                      </a:schemeClr>
                    </a:solidFill>
                  </a:rPr>
                  <a:t>Example:</a:t>
                </a:r>
                <a:r>
                  <a:rPr lang="en-US" sz="2000" dirty="0">
                    <a:solidFill>
                      <a:schemeClr val="accent6">
                        <a:lumMod val="60000"/>
                        <a:lumOff val="40000"/>
                      </a:schemeClr>
                    </a:solidFill>
                  </a:rPr>
                  <a:t>  Suppose a product has been rated by customers using discrete rating values, and let </a:t>
                </a:r>
                <a14:m>
                  <m:oMath xmlns:m="http://schemas.openxmlformats.org/officeDocument/2006/math">
                    <m:r>
                      <a:rPr lang="en-US" i="1">
                        <a:solidFill>
                          <a:schemeClr val="accent6">
                            <a:lumMod val="60000"/>
                            <a:lumOff val="40000"/>
                          </a:schemeClr>
                        </a:solidFill>
                        <a:latin typeface="Cambria Math" panose="02040503050406030204" pitchFamily="18" charset="0"/>
                      </a:rPr>
                      <m:t>𝑋</m:t>
                    </m:r>
                  </m:oMath>
                </a14:m>
                <a:r>
                  <a:rPr lang="en-US" sz="2000" dirty="0">
                    <a:solidFill>
                      <a:schemeClr val="accent6">
                        <a:lumMod val="60000"/>
                        <a:lumOff val="40000"/>
                      </a:schemeClr>
                    </a:solidFill>
                  </a:rPr>
                  <a:t> be the random variable that denotes the rating given to the product. What is the PMF of </a:t>
                </a:r>
                <a14:m>
                  <m:oMath xmlns:m="http://schemas.openxmlformats.org/officeDocument/2006/math">
                    <m:r>
                      <a:rPr lang="en-US" i="1">
                        <a:solidFill>
                          <a:schemeClr val="accent6">
                            <a:lumMod val="60000"/>
                            <a:lumOff val="40000"/>
                          </a:schemeClr>
                        </a:solidFill>
                        <a:latin typeface="Cambria Math" panose="02040503050406030204" pitchFamily="18" charset="0"/>
                      </a:rPr>
                      <m:t>𝑋</m:t>
                    </m:r>
                  </m:oMath>
                </a14:m>
                <a:r>
                  <a:rPr lang="en-US" sz="2000" dirty="0">
                    <a:solidFill>
                      <a:schemeClr val="accent6">
                        <a:lumMod val="60000"/>
                        <a:lumOff val="40000"/>
                      </a:schemeClr>
                    </a:solidFill>
                  </a:rPr>
                  <a:t>?</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Ans:</a:t>
                </a:r>
              </a:p>
              <a:p>
                <a:r>
                  <a:rPr lang="en-US" sz="2000" dirty="0">
                    <a:solidFill>
                      <a:schemeClr val="accent6">
                        <a:lumMod val="60000"/>
                        <a:lumOff val="40000"/>
                      </a:schemeClr>
                    </a:solidFill>
                  </a:rPr>
                  <a:t>Here X is a random variable indicating the ratings. X = { 1, 2, 3, 4, 5} .</a:t>
                </a:r>
              </a:p>
              <a:p>
                <a:r>
                  <a:rPr lang="en-US" sz="2000" dirty="0">
                    <a:solidFill>
                      <a:schemeClr val="accent6">
                        <a:lumMod val="60000"/>
                        <a:lumOff val="40000"/>
                      </a:schemeClr>
                    </a:solidFill>
                  </a:rPr>
                  <a:t>By looking at data, we see that probability that you randomly pick a 1-star rating is </a:t>
                </a:r>
              </a:p>
              <a:p>
                <a:r>
                  <a:rPr lang="en-US" sz="2000" dirty="0">
                    <a:solidFill>
                      <a:schemeClr val="accent6">
                        <a:lumMod val="60000"/>
                        <a:lumOff val="40000"/>
                      </a:schemeClr>
                    </a:solidFill>
                  </a:rPr>
                  <a:t>P(X=1)  = 40/100 = 0.40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 =2) = 0.25</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 =3) = 0.10</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 =4) = 0.10</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P(X =5) = 0.15</a:t>
                </a:r>
              </a:p>
            </p:txBody>
          </p:sp>
        </mc:Choice>
        <mc:Fallback>
          <p:sp>
            <p:nvSpPr>
              <p:cNvPr id="13" name="TextBox 12">
                <a:extLst>
                  <a:ext uri="{FF2B5EF4-FFF2-40B4-BE49-F238E27FC236}">
                    <a16:creationId xmlns:a16="http://schemas.microsoft.com/office/drawing/2014/main" id="{E247ABB4-F3D5-23B0-2276-5CA63AB424B9}"/>
                  </a:ext>
                </a:extLst>
              </p:cNvPr>
              <p:cNvSpPr txBox="1">
                <a:spLocks noRot="1" noChangeAspect="1" noMove="1" noResize="1" noEditPoints="1" noAdjustHandles="1" noChangeArrowheads="1" noChangeShapeType="1" noTextEdit="1"/>
              </p:cNvSpPr>
              <p:nvPr/>
            </p:nvSpPr>
            <p:spPr>
              <a:xfrm>
                <a:off x="96012" y="1284607"/>
                <a:ext cx="8545068" cy="5324535"/>
              </a:xfrm>
              <a:prstGeom prst="rect">
                <a:avLst/>
              </a:prstGeom>
              <a:blipFill>
                <a:blip r:embed="rId2"/>
                <a:stretch>
                  <a:fillRect l="-785" t="-687" r="-71" b="-1145"/>
                </a:stretch>
              </a:blipFill>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61CCD472-B94C-4EC9-8B50-C2F5A3E75338}"/>
              </a:ext>
            </a:extLst>
          </p:cNvPr>
          <p:cNvGraphicFramePr>
            <a:graphicFrameLocks noGrp="1"/>
          </p:cNvGraphicFramePr>
          <p:nvPr>
            <p:extLst>
              <p:ext uri="{D42A27DB-BD31-4B8C-83A1-F6EECF244321}">
                <p14:modId xmlns:p14="http://schemas.microsoft.com/office/powerpoint/2010/main" val="873149978"/>
              </p:ext>
            </p:extLst>
          </p:nvPr>
        </p:nvGraphicFramePr>
        <p:xfrm>
          <a:off x="8855894" y="1085822"/>
          <a:ext cx="2022418" cy="2194560"/>
        </p:xfrm>
        <a:graphic>
          <a:graphicData uri="http://schemas.openxmlformats.org/drawingml/2006/table">
            <a:tbl>
              <a:tblPr firstRow="1" bandRow="1">
                <a:tableStyleId>{2D5ABB26-0587-4C30-8999-92F81FD0307C}</a:tableStyleId>
              </a:tblPr>
              <a:tblGrid>
                <a:gridCol w="1011209">
                  <a:extLst>
                    <a:ext uri="{9D8B030D-6E8A-4147-A177-3AD203B41FA5}">
                      <a16:colId xmlns:a16="http://schemas.microsoft.com/office/drawing/2014/main" val="2946656974"/>
                    </a:ext>
                  </a:extLst>
                </a:gridCol>
                <a:gridCol w="1011209">
                  <a:extLst>
                    <a:ext uri="{9D8B030D-6E8A-4147-A177-3AD203B41FA5}">
                      <a16:colId xmlns:a16="http://schemas.microsoft.com/office/drawing/2014/main" val="2412447998"/>
                    </a:ext>
                  </a:extLst>
                </a:gridCol>
              </a:tblGrid>
              <a:tr h="308587">
                <a:tc>
                  <a:txBody>
                    <a:bodyPr/>
                    <a:lstStyle/>
                    <a:p>
                      <a:pPr algn="ctr"/>
                      <a:r>
                        <a:rPr lang="en-US" sz="1800" b="1" dirty="0">
                          <a:solidFill>
                            <a:schemeClr val="accent6">
                              <a:lumMod val="40000"/>
                              <a:lumOff val="60000"/>
                            </a:schemeClr>
                          </a:solidFill>
                        </a:rPr>
                        <a:t>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solidFill>
                            <a:schemeClr val="accent6">
                              <a:lumMod val="40000"/>
                              <a:lumOff val="60000"/>
                            </a:schemeClr>
                          </a:solidFill>
                        </a:rPr>
                        <a:t>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962580"/>
                  </a:ext>
                </a:extLst>
              </a:tr>
              <a:tr h="308587">
                <a:tc>
                  <a:txBody>
                    <a:bodyPr/>
                    <a:lstStyle/>
                    <a:p>
                      <a:pPr algn="ctr"/>
                      <a:r>
                        <a:rPr lang="en-US" sz="1800" dirty="0">
                          <a:solidFill>
                            <a:schemeClr val="accent6">
                              <a:lumMod val="40000"/>
                              <a:lumOff val="60000"/>
                            </a:schemeClr>
                          </a:solidFill>
                        </a:rPr>
                        <a:t>5-star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accent6">
                              <a:lumMod val="40000"/>
                              <a:lumOff val="60000"/>
                            </a:schemeClr>
                          </a:solidFill>
                        </a:rPr>
                        <a:t>15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071187"/>
                  </a:ext>
                </a:extLst>
              </a:tr>
              <a:tr h="308587">
                <a:tc>
                  <a:txBody>
                    <a:bodyPr/>
                    <a:lstStyle/>
                    <a:p>
                      <a:pPr algn="ctr"/>
                      <a:r>
                        <a:rPr lang="en-US" sz="1800" dirty="0">
                          <a:solidFill>
                            <a:schemeClr val="accent6">
                              <a:lumMod val="40000"/>
                              <a:lumOff val="60000"/>
                            </a:schemeClr>
                          </a:solidFill>
                        </a:rPr>
                        <a:t>4-star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accent6">
                              <a:lumMod val="40000"/>
                              <a:lumOff val="60000"/>
                            </a:schemeClr>
                          </a:solidFill>
                        </a:rPr>
                        <a:t>10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069428"/>
                  </a:ext>
                </a:extLst>
              </a:tr>
              <a:tr h="308587">
                <a:tc>
                  <a:txBody>
                    <a:bodyPr/>
                    <a:lstStyle/>
                    <a:p>
                      <a:pPr algn="ctr"/>
                      <a:r>
                        <a:rPr lang="en-US" sz="1800" dirty="0">
                          <a:solidFill>
                            <a:schemeClr val="accent6">
                              <a:lumMod val="40000"/>
                              <a:lumOff val="60000"/>
                            </a:schemeClr>
                          </a:solidFill>
                        </a:rPr>
                        <a:t>3-star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accent6">
                              <a:lumMod val="40000"/>
                              <a:lumOff val="60000"/>
                            </a:schemeClr>
                          </a:solidFill>
                        </a:rPr>
                        <a:t>10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979472"/>
                  </a:ext>
                </a:extLst>
              </a:tr>
              <a:tr h="308587">
                <a:tc>
                  <a:txBody>
                    <a:bodyPr/>
                    <a:lstStyle/>
                    <a:p>
                      <a:pPr algn="ctr"/>
                      <a:r>
                        <a:rPr lang="en-US" sz="1800" dirty="0">
                          <a:solidFill>
                            <a:schemeClr val="accent6">
                              <a:lumMod val="40000"/>
                              <a:lumOff val="60000"/>
                            </a:schemeClr>
                          </a:solidFill>
                        </a:rPr>
                        <a:t>2-star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accent6">
                              <a:lumMod val="40000"/>
                              <a:lumOff val="60000"/>
                            </a:schemeClr>
                          </a:solidFill>
                        </a:rPr>
                        <a:t>25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937977"/>
                  </a:ext>
                </a:extLst>
              </a:tr>
              <a:tr h="308587">
                <a:tc>
                  <a:txBody>
                    <a:bodyPr/>
                    <a:lstStyle/>
                    <a:p>
                      <a:pPr algn="ctr"/>
                      <a:r>
                        <a:rPr lang="en-US" sz="1800" dirty="0">
                          <a:solidFill>
                            <a:schemeClr val="accent6">
                              <a:lumMod val="40000"/>
                              <a:lumOff val="60000"/>
                            </a:schemeClr>
                          </a:solidFill>
                        </a:rPr>
                        <a:t>1-star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accent6">
                              <a:lumMod val="40000"/>
                              <a:lumOff val="60000"/>
                            </a:schemeClr>
                          </a:solidFill>
                        </a:rPr>
                        <a:t>40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624301"/>
                  </a:ext>
                </a:extLst>
              </a:tr>
            </a:tbl>
          </a:graphicData>
        </a:graphic>
      </p:graphicFrame>
      <p:pic>
        <p:nvPicPr>
          <p:cNvPr id="4" name="Picture 3">
            <a:extLst>
              <a:ext uri="{FF2B5EF4-FFF2-40B4-BE49-F238E27FC236}">
                <a16:creationId xmlns:a16="http://schemas.microsoft.com/office/drawing/2014/main" id="{85CC86A8-753D-BD8A-913C-7F0E77C52F49}"/>
              </a:ext>
            </a:extLst>
          </p:cNvPr>
          <p:cNvPicPr>
            <a:picLocks noChangeAspect="1"/>
          </p:cNvPicPr>
          <p:nvPr/>
        </p:nvPicPr>
        <p:blipFill>
          <a:blip r:embed="rId3"/>
          <a:stretch>
            <a:fillRect/>
          </a:stretch>
        </p:blipFill>
        <p:spPr>
          <a:xfrm>
            <a:off x="5438359" y="3776086"/>
            <a:ext cx="3547872" cy="2890525"/>
          </a:xfrm>
          <a:prstGeom prst="rect">
            <a:avLst/>
          </a:prstGeom>
        </p:spPr>
      </p:pic>
      <p:sp>
        <p:nvSpPr>
          <p:cNvPr id="9" name="Title 1">
            <a:extLst>
              <a:ext uri="{FF2B5EF4-FFF2-40B4-BE49-F238E27FC236}">
                <a16:creationId xmlns:a16="http://schemas.microsoft.com/office/drawing/2014/main" id="{5D4F58EB-C16F-FFF6-3A42-AFA9A62D5687}"/>
              </a:ext>
            </a:extLst>
          </p:cNvPr>
          <p:cNvSpPr>
            <a:spLocks noGrp="1"/>
          </p:cNvSpPr>
          <p:nvPr>
            <p:ph type="title"/>
          </p:nvPr>
        </p:nvSpPr>
        <p:spPr>
          <a:xfrm>
            <a:off x="301752" y="191389"/>
            <a:ext cx="11052048" cy="604139"/>
          </a:xfrm>
        </p:spPr>
        <p:txBody>
          <a:bodyPr>
            <a:noAutofit/>
          </a:bodyPr>
          <a:lstStyle/>
          <a:p>
            <a:pPr algn="ctr"/>
            <a:r>
              <a:rPr lang="en-US" sz="2800" b="1" dirty="0"/>
              <a:t>2 Types of Probability Distribution Functions: Discrete and Continuous</a:t>
            </a:r>
            <a:endParaRPr lang="en-US" sz="2800" dirty="0"/>
          </a:p>
        </p:txBody>
      </p:sp>
    </p:spTree>
    <p:extLst>
      <p:ext uri="{BB962C8B-B14F-4D97-AF65-F5344CB8AC3E}">
        <p14:creationId xmlns:p14="http://schemas.microsoft.com/office/powerpoint/2010/main" val="1437821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306C5-F6FE-B83B-DD07-ADE32B2C06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B73E73-5BD5-F02F-4FD8-DF430CE7270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58608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770</TotalTime>
  <Words>777</Words>
  <Application>Microsoft Office PowerPoint</Application>
  <PresentationFormat>Widescreen</PresentationFormat>
  <Paragraphs>125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 Math</vt:lpstr>
      <vt:lpstr>Office Theme</vt:lpstr>
      <vt:lpstr>Probability Distribution Functions (PDF)</vt:lpstr>
      <vt:lpstr>Probability Distribution Functions (PDF)</vt:lpstr>
      <vt:lpstr>2 Types of Probability Distribution Functions: Discrete and Continuous</vt:lpstr>
      <vt:lpstr>2 Types of Probability Distribution Functions: Discrete and Continuous</vt:lpstr>
      <vt:lpstr>2 Types of Probability Distribution Functions: Discrete and Continuous</vt:lpstr>
      <vt:lpstr>2 Types of Probability Distribution Functions: Discrete and Continuous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151</cp:revision>
  <dcterms:created xsi:type="dcterms:W3CDTF">2025-09-22T02:44:38Z</dcterms:created>
  <dcterms:modified xsi:type="dcterms:W3CDTF">2025-10-08T14:27:28Z</dcterms:modified>
</cp:coreProperties>
</file>