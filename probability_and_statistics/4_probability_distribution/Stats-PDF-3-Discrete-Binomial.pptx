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9"/>
  </p:handoutMasterIdLst>
  <p:sldIdLst>
    <p:sldId id="281" r:id="rId2"/>
    <p:sldId id="283" r:id="rId3"/>
    <p:sldId id="284" r:id="rId4"/>
    <p:sldId id="282" r:id="rId5"/>
    <p:sldId id="285" r:id="rId6"/>
    <p:sldId id="286" r:id="rId7"/>
    <p:sldId id="291" r:id="rId8"/>
    <p:sldId id="292" r:id="rId9"/>
    <p:sldId id="289" r:id="rId10"/>
    <p:sldId id="294" r:id="rId11"/>
    <p:sldId id="295" r:id="rId12"/>
    <p:sldId id="296" r:id="rId13"/>
    <p:sldId id="297" r:id="rId14"/>
    <p:sldId id="293" r:id="rId15"/>
    <p:sldId id="287" r:id="rId16"/>
    <p:sldId id="288" r:id="rId17"/>
    <p:sldId id="29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3D4AA-CD13-99D4-49E9-DE6267495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94D09CB-7EC3-3CE1-2645-193B1F797CF5}"/>
              </a:ext>
            </a:extLst>
          </p:cNvPr>
          <p:cNvSpPr txBox="1"/>
          <p:nvPr/>
        </p:nvSpPr>
        <p:spPr>
          <a:xfrm>
            <a:off x="96012" y="671959"/>
            <a:ext cx="1193749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discrete probability distribution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describes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number of successes in a fixed number of independent experiments (trials)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where each trial has only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two possible outcomes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outcomes are usually called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Success and Failure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toss a coin 4 times and success is getting head.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each toss is independent experiment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get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success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 success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success   --&gt;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success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 success.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F560C-C07B-FFE5-DD98-592FFDD53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5029200"/>
            <a:ext cx="1229419" cy="5902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74FD6D-99DF-BDED-71B5-2E74BACC522A}"/>
              </a:ext>
            </a:extLst>
          </p:cNvPr>
          <p:cNvSpPr txBox="1"/>
          <p:nvPr/>
        </p:nvSpPr>
        <p:spPr>
          <a:xfrm>
            <a:off x="3739896" y="-9144"/>
            <a:ext cx="2826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852145-B76C-4512-2C0D-DBB04D1D1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5029200"/>
            <a:ext cx="1229419" cy="590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626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48AF6-0AE5-DE1A-2FC5-772E8A3A0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1DE020F-1DEE-1099-EB75-96D454C38525}"/>
              </a:ext>
            </a:extLst>
          </p:cNvPr>
          <p:cNvSpPr txBox="1"/>
          <p:nvPr/>
        </p:nvSpPr>
        <p:spPr>
          <a:xfrm>
            <a:off x="96012" y="671959"/>
            <a:ext cx="119374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pick 4 random emails from inbox and success is getting spam.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picking each email is independent experiment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get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success    -&gt; no spam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 success    -&gt; 1 spam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success    -&gt; 2 spam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success    - &gt;3 spam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 success.   - &gt;4 spam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0361D9B-36BD-1194-AA86-BF7735EFC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120" y="57754"/>
            <a:ext cx="2296529" cy="7377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CF798D-2F84-7754-A7D2-9630AAA8E6D5}"/>
              </a:ext>
            </a:extLst>
          </p:cNvPr>
          <p:cNvSpPr txBox="1"/>
          <p:nvPr/>
        </p:nvSpPr>
        <p:spPr>
          <a:xfrm>
            <a:off x="3739896" y="-9144"/>
            <a:ext cx="2826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4A4957-C57D-2214-46B0-5045B8456F78}"/>
              </a:ext>
            </a:extLst>
          </p:cNvPr>
          <p:cNvSpPr/>
          <p:nvPr/>
        </p:nvSpPr>
        <p:spPr>
          <a:xfrm>
            <a:off x="7241458" y="3275625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Spam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6EE303-E060-2AF2-8A8F-F162563D54CA}"/>
              </a:ext>
            </a:extLst>
          </p:cNvPr>
          <p:cNvSpPr/>
          <p:nvPr/>
        </p:nvSpPr>
        <p:spPr>
          <a:xfrm>
            <a:off x="5848522" y="3236001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Spam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104CB0-D587-B5E1-096A-D716D3A3F6AB}"/>
              </a:ext>
            </a:extLst>
          </p:cNvPr>
          <p:cNvSpPr/>
          <p:nvPr/>
        </p:nvSpPr>
        <p:spPr>
          <a:xfrm>
            <a:off x="4565314" y="3214665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Spam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7AFA2D-E4ED-6F2A-60C0-94DEF0F15662}"/>
              </a:ext>
            </a:extLst>
          </p:cNvPr>
          <p:cNvSpPr/>
          <p:nvPr/>
        </p:nvSpPr>
        <p:spPr>
          <a:xfrm>
            <a:off x="8911762" y="3290865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Non-Spam</a:t>
            </a:r>
          </a:p>
        </p:txBody>
      </p:sp>
    </p:spTree>
    <p:extLst>
      <p:ext uri="{BB962C8B-B14F-4D97-AF65-F5344CB8AC3E}">
        <p14:creationId xmlns:p14="http://schemas.microsoft.com/office/powerpoint/2010/main" val="3424559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9649A-FC67-1FFC-DC23-345AAFB86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8B5F4E1-6242-120A-FDB1-44CD42E3B2E8}"/>
              </a:ext>
            </a:extLst>
          </p:cNvPr>
          <p:cNvSpPr txBox="1"/>
          <p:nvPr/>
        </p:nvSpPr>
        <p:spPr>
          <a:xfrm>
            <a:off x="96012" y="671959"/>
            <a:ext cx="1193749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pick 4 random items from an assembly line for inspection. Success is getting defective piece.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picking item is an independent experiment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get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success    -&gt; no defect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 success    -&gt; 1 defect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 success    -&gt; 2 defect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success    - &gt;3 defect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 success.   - &gt;4 defect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FC58FAB-88BF-A90F-473E-FDC29BB1E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120" y="57754"/>
            <a:ext cx="2296529" cy="7377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5DF23D-63D9-9F60-A920-B951C3F2DB56}"/>
              </a:ext>
            </a:extLst>
          </p:cNvPr>
          <p:cNvSpPr txBox="1"/>
          <p:nvPr/>
        </p:nvSpPr>
        <p:spPr>
          <a:xfrm>
            <a:off x="3739896" y="-9144"/>
            <a:ext cx="2826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01C4BC-8F87-B413-CB01-3CCF649B5161}"/>
              </a:ext>
            </a:extLst>
          </p:cNvPr>
          <p:cNvSpPr/>
          <p:nvPr/>
        </p:nvSpPr>
        <p:spPr>
          <a:xfrm>
            <a:off x="7241458" y="3641385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0C46A6-16D8-5D45-BDCF-B118C53CB9ED}"/>
              </a:ext>
            </a:extLst>
          </p:cNvPr>
          <p:cNvSpPr/>
          <p:nvPr/>
        </p:nvSpPr>
        <p:spPr>
          <a:xfrm>
            <a:off x="5912530" y="3629193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BF989C-0573-0C14-C6BE-50FC188FC045}"/>
              </a:ext>
            </a:extLst>
          </p:cNvPr>
          <p:cNvSpPr/>
          <p:nvPr/>
        </p:nvSpPr>
        <p:spPr>
          <a:xfrm>
            <a:off x="4565314" y="3607857"/>
            <a:ext cx="1093401" cy="64008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Defect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00DE63-6D7A-46FC-CBE1-E1148740B980}"/>
              </a:ext>
            </a:extLst>
          </p:cNvPr>
          <p:cNvSpPr/>
          <p:nvPr/>
        </p:nvSpPr>
        <p:spPr>
          <a:xfrm>
            <a:off x="8564290" y="3647481"/>
            <a:ext cx="1093401" cy="64008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Non-Defect</a:t>
            </a:r>
          </a:p>
        </p:txBody>
      </p:sp>
    </p:spTree>
    <p:extLst>
      <p:ext uri="{BB962C8B-B14F-4D97-AF65-F5344CB8AC3E}">
        <p14:creationId xmlns:p14="http://schemas.microsoft.com/office/powerpoint/2010/main" val="229550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54904D-40DC-1DC5-4B57-13FC2DDDAEDA}"/>
                  </a:ext>
                </a:extLst>
              </p:cNvPr>
              <p:cNvSpPr txBox="1"/>
              <p:nvPr/>
            </p:nvSpPr>
            <p:spPr>
              <a:xfrm>
                <a:off x="297180" y="333863"/>
                <a:ext cx="10081260" cy="63709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4 Key point of Binomial distribution</a:t>
                </a:r>
              </a:p>
              <a:p>
                <a:pPr>
                  <a:buNone/>
                </a:pP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457200" indent="-457200">
                  <a:buAutoNum type="arabicPeriod"/>
                </a:pPr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Fixed number of trials (n): </a:t>
                </a: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Number of experiments is predetermined.</a:t>
                </a:r>
              </a:p>
              <a:p>
                <a:endParaRPr lang="en-US" sz="2400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2.   Only two outcomes: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Each trial must result in Success (S) or Failure (F)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3.   Constant Probability:</a:t>
                </a: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>
                  <a:buNone/>
                </a:pPr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Probability of success remains same for every trial: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𝑠𝑢𝑐𝑐𝑒𝑠𝑠</m:t>
                          </m:r>
                        </m:e>
                      </m:d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𝑓𝑎𝑖𝑙𝑢𝑟𝑒</m:t>
                          </m:r>
                        </m:e>
                      </m:d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>
                  <a:buNone/>
                </a:pPr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4.   Independent trials: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Outcome of one trial does not affect another.</a:t>
                </a: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Example: Coin tosses are independent.</a:t>
                </a:r>
              </a:p>
              <a:p>
                <a:pPr>
                  <a:buNone/>
                </a:pPr>
                <a:endParaRPr lang="ar-AE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54904D-40DC-1DC5-4B57-13FC2DDDA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" y="333863"/>
                <a:ext cx="10081260" cy="6370975"/>
              </a:xfrm>
              <a:prstGeom prst="rect">
                <a:avLst/>
              </a:prstGeom>
              <a:blipFill>
                <a:blip r:embed="rId2"/>
                <a:stretch>
                  <a:fillRect l="-967" t="-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782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0ED68-DAC3-95E4-B686-969703D79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61A40A4-16A3-7A76-270A-9B8C5DBCB57D}"/>
                  </a:ext>
                </a:extLst>
              </p:cNvPr>
              <p:cNvSpPr txBox="1"/>
              <p:nvPr/>
            </p:nvSpPr>
            <p:spPr>
              <a:xfrm>
                <a:off x="297180" y="333863"/>
                <a:ext cx="10081260" cy="3785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Random Variable</a:t>
                </a: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Number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of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successes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in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trials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𝐵𝑖𝑛𝑜𝑚𝑖𝑎𝑙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Where,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number of trials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= probability of success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61A40A4-16A3-7A76-270A-9B8C5DBCB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180" y="333863"/>
                <a:ext cx="10081260" cy="3785652"/>
              </a:xfrm>
              <a:prstGeom prst="rect">
                <a:avLst/>
              </a:prstGeom>
              <a:blipFill>
                <a:blip r:embed="rId2"/>
                <a:stretch>
                  <a:fillRect l="-967" t="-1288" b="-2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4609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78246-0EC1-75F8-44F8-1AD256634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7D8733-4473-CECD-FDD1-CEA7AE726397}"/>
              </a:ext>
            </a:extLst>
          </p:cNvPr>
          <p:cNvSpPr txBox="1"/>
          <p:nvPr/>
        </p:nvSpPr>
        <p:spPr>
          <a:xfrm>
            <a:off x="297180" y="333863"/>
            <a:ext cx="1174546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 of ways to choose k successes from n trials:</a:t>
            </a: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There are </a:t>
            </a:r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 ways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getting 2 H in 4 coin tosses: </a:t>
            </a: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HHTT, HTTH, HTHT, TTHH, THTH, THHT </a:t>
            </a: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</a:t>
            </a:r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Probability Mass Function (PMF) </a:t>
            </a: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given by</a:t>
            </a:r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is the probability of k successes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DD3757-6625-7B1F-F692-BCDCD209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6" y="1041082"/>
            <a:ext cx="2623792" cy="9541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6246330-F8F9-4A78-8B0F-CFD8D985C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306" y="4370521"/>
            <a:ext cx="4220080" cy="83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769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199-A761-9157-4D34-9B1BB55B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6BF9CF3-D67A-760C-1996-4601915FF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920" y="1123326"/>
            <a:ext cx="4220080" cy="8397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5A588E-D3AB-D82F-DDF9-90A433A83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04" y="770979"/>
            <a:ext cx="7028937" cy="518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07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D9738-3C20-6374-C212-5AD3CCA28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D5578A-5E1B-398B-1167-D45970924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920" y="1123326"/>
            <a:ext cx="4220080" cy="8397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EB6ABB-D483-50D6-2B74-F1E8B69C4B8C}"/>
              </a:ext>
            </a:extLst>
          </p:cNvPr>
          <p:cNvSpPr txBox="1"/>
          <p:nvPr/>
        </p:nvSpPr>
        <p:spPr>
          <a:xfrm>
            <a:off x="278892" y="524548"/>
            <a:ext cx="753008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Example:</a:t>
            </a:r>
          </a:p>
          <a:p>
            <a:pPr>
              <a:buNone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An assembly line produces machine parts. The probability that a part is </a:t>
            </a:r>
            <a:r>
              <a:rPr lang="en-US" sz="2400" b="1" dirty="0">
                <a:solidFill>
                  <a:schemeClr val="bg1">
                    <a:lumMod val="95000"/>
                  </a:schemeClr>
                </a:solidFill>
              </a:rPr>
              <a:t>defective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 is </a:t>
            </a:r>
            <a:r>
              <a:rPr lang="en-US" sz="2400" b="1" dirty="0">
                <a:solidFill>
                  <a:schemeClr val="bg1">
                    <a:lumMod val="95000"/>
                  </a:schemeClr>
                </a:solidFill>
              </a:rPr>
              <a:t>0.2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. </a:t>
            </a:r>
          </a:p>
          <a:p>
            <a:pPr>
              <a:buNone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Three parts are selected randomly and independently.</a:t>
            </a:r>
          </a:p>
          <a:p>
            <a:pPr>
              <a:buNone/>
            </a:pPr>
            <a:endParaRPr lang="en-US" sz="2400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bg1">
                    <a:lumMod val="95000"/>
                  </a:schemeClr>
                </a:solidFill>
              </a:rPr>
              <a:t>What is the probability that exactly 2 parts are defective?</a:t>
            </a:r>
          </a:p>
          <a:p>
            <a:pPr>
              <a:buNone/>
            </a:pPr>
            <a:endParaRPr lang="en-US" sz="2400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Solution: </a:t>
            </a:r>
          </a:p>
          <a:p>
            <a:pPr>
              <a:buNone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Here we have 3 experiments: n=3</a:t>
            </a:r>
          </a:p>
          <a:p>
            <a:pPr>
              <a:buNone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</a:rPr>
              <a:t>Success is getting a defective part. So k=2</a:t>
            </a:r>
          </a:p>
          <a:p>
            <a:pPr>
              <a:buNone/>
            </a:pPr>
            <a:endParaRPr 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2CAEBC-8895-C2D7-E472-38BBEF387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56" y="4616248"/>
            <a:ext cx="7530084" cy="15394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DB9CB8-CBF9-0C61-2149-BEDAB52BC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401" y="5458968"/>
            <a:ext cx="1406282" cy="41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011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CC292-CF18-753F-0206-98BB284C4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598511B-36DE-7F82-90C9-5B2A1C9C7F89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FD101D-268B-15E2-8D5D-6AC530FBB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845" y="1315700"/>
            <a:ext cx="7097115" cy="119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51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1484A-97E3-B5CC-88F2-9B82F532A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2ED8E95-44FA-2F9F-8C7C-9DF8F7CB7398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AF3D0B-19C9-1097-785C-165593E3B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78" y="857083"/>
            <a:ext cx="8570330" cy="566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268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86529-AF4E-F46F-1B5D-36B76C6F1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FCF5D6A-AC45-C8C0-DE63-36E2AB13261C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7C90C8-5398-8EDE-6F40-0E25ABA64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37" y="942628"/>
            <a:ext cx="8135485" cy="497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67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3386A-2CE6-B448-72B1-D681CA82D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F35A3BF-BBDE-E316-0805-E18E2E7C6D1E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B1207D-0A8E-F596-FA4C-E845E440C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94" y="1051560"/>
            <a:ext cx="5882517" cy="3918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9B58A2-38A3-410E-625A-EF9B5C8115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052" y="1170432"/>
            <a:ext cx="5925948" cy="352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107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1038-BE88-D561-800F-EFBC5FC7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53CC80-0F38-F3A0-2A18-A9ACE3DC6516}"/>
              </a:ext>
            </a:extLst>
          </p:cNvPr>
          <p:cNvSpPr txBox="1"/>
          <p:nvPr/>
        </p:nvSpPr>
        <p:spPr>
          <a:xfrm>
            <a:off x="297180" y="333863"/>
            <a:ext cx="85267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87F3F5-529F-364D-77A9-0A8AA856E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8" y="923544"/>
            <a:ext cx="4830431" cy="32930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BBA968F-8AF7-1ADE-5BA8-E4B7D4AFF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350" y="1353312"/>
            <a:ext cx="6856438" cy="384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932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65729-F1CE-57BF-3935-339B5A7E2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8A49B42-77A7-E887-557D-2629B6F88BDE}"/>
              </a:ext>
            </a:extLst>
          </p:cNvPr>
          <p:cNvSpPr txBox="1"/>
          <p:nvPr/>
        </p:nvSpPr>
        <p:spPr>
          <a:xfrm>
            <a:off x="297180" y="333863"/>
            <a:ext cx="852678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Real-Life Applications</a:t>
            </a:r>
          </a:p>
          <a:p>
            <a:endParaRPr lang="en-US" sz="28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Binomial distribution is widely used in: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Learning classification accuracy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Quality control 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A/B 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trials</a:t>
            </a:r>
          </a:p>
        </p:txBody>
      </p:sp>
    </p:spTree>
    <p:extLst>
      <p:ext uri="{BB962C8B-B14F-4D97-AF65-F5344CB8AC3E}">
        <p14:creationId xmlns:p14="http://schemas.microsoft.com/office/powerpoint/2010/main" val="2567636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7FC7-6A44-2335-4ECF-4B3781695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7315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CB5F2-8240-10AB-73BE-54847FF17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37D04E-855C-C5A8-52D2-3D6A4A6A8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90" y="1237227"/>
            <a:ext cx="5315692" cy="10002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5ED0161-D516-9285-C09C-77011974D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017" y="3201086"/>
            <a:ext cx="5896798" cy="283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724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EF998-B23A-DF38-B571-7912CA9E7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517757-0E40-BA90-C878-A342EB6E7C0B}"/>
                  </a:ext>
                </a:extLst>
              </p:cNvPr>
              <p:cNvSpPr txBox="1"/>
              <p:nvPr/>
            </p:nvSpPr>
            <p:spPr>
              <a:xfrm>
                <a:off x="2372868" y="2823899"/>
                <a:ext cx="6190488" cy="15827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P(k success)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P(k failure)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517757-0E40-BA90-C878-A342EB6E7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2868" y="2823899"/>
                <a:ext cx="6190488" cy="1582741"/>
              </a:xfrm>
              <a:prstGeom prst="rect">
                <a:avLst/>
              </a:prstGeom>
              <a:blipFill>
                <a:blip r:embed="rId2"/>
                <a:stretch>
                  <a:fillRect l="-1476" t="-2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78908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1108</TotalTime>
  <Words>477</Words>
  <Application>Microsoft Office PowerPoint</Application>
  <PresentationFormat>Widescreen</PresentationFormat>
  <Paragraphs>105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190</cp:revision>
  <dcterms:created xsi:type="dcterms:W3CDTF">2025-09-22T02:44:38Z</dcterms:created>
  <dcterms:modified xsi:type="dcterms:W3CDTF">2026-03-01T06:13:15Z</dcterms:modified>
</cp:coreProperties>
</file>