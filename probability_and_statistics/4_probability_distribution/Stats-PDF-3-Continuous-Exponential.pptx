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63" r:id="rId2"/>
    <p:sldId id="289" r:id="rId3"/>
    <p:sldId id="285" r:id="rId4"/>
    <p:sldId id="286" r:id="rId5"/>
    <p:sldId id="287" r:id="rId6"/>
    <p:sldId id="284" r:id="rId7"/>
    <p:sldId id="288" r:id="rId8"/>
    <p:sldId id="290" r:id="rId9"/>
    <p:sldId id="291" r:id="rId10"/>
    <p:sldId id="292" r:id="rId11"/>
    <p:sldId id="280" r:id="rId12"/>
    <p:sldId id="282" r:id="rId13"/>
    <p:sldId id="283" r:id="rId14"/>
    <p:sldId id="28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BB2794-8451-4012-BF62-2AC91FCB69AE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14D221-C9E6-47F9-A0D2-872E91932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563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14D221-C9E6-47F9-A0D2-872E91932B9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3149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19FCE-9509-6F66-5AC5-2E7F9364C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91389"/>
            <a:ext cx="11052048" cy="604139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/>
              <a:t>Exponential Distribution</a:t>
            </a:r>
            <a:endParaRPr lang="en-US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DFC057-803C-D629-F1CB-F7A533C15985}"/>
              </a:ext>
            </a:extLst>
          </p:cNvPr>
          <p:cNvSpPr txBox="1"/>
          <p:nvPr/>
        </p:nvSpPr>
        <p:spPr>
          <a:xfrm>
            <a:off x="96012" y="1284607"/>
            <a:ext cx="1193749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Problem:</a:t>
            </a:r>
            <a:b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Let’s say the average lifetime of a bulb from a manufacturer is 5 years. If you buy the bulb from this manufacturer what is the probability that the</a:t>
            </a:r>
          </a:p>
          <a:p>
            <a:pPr marL="457200" indent="-457200">
              <a:buAutoNum type="alphaLcParenR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bulb lasts </a:t>
            </a: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between 6 to 9 years </a:t>
            </a:r>
          </a:p>
          <a:p>
            <a:pPr marL="457200" indent="-457200">
              <a:buAutoNum type="alphaLcParenR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bulb lasts </a:t>
            </a: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exactly 5 years.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54B1A5-FC2B-0356-B186-01B46DA622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2048" y="0"/>
            <a:ext cx="2196192" cy="71323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E5744564-A00A-1506-55C8-3B4269EF68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4059" y="3161928"/>
            <a:ext cx="2619741" cy="260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918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94948-18D3-2A74-8C93-80E03D1E4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224B5-6E86-88CE-F9A0-A83F2CCB4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91389"/>
            <a:ext cx="11052048" cy="604139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/>
              <a:t>Exponential Distribution: Theory</a:t>
            </a:r>
            <a:endParaRPr lang="en-US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4B4B5F3-6383-582A-BCCC-15F3E9AC9099}"/>
                  </a:ext>
                </a:extLst>
              </p:cNvPr>
              <p:cNvSpPr txBox="1"/>
              <p:nvPr/>
            </p:nvSpPr>
            <p:spPr>
              <a:xfrm>
                <a:off x="96012" y="1284607"/>
                <a:ext cx="11937492" cy="53245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The </a:t>
                </a:r>
                <a:r>
                  <a:rPr lang="en-US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exponential distribution</a:t>
                </a: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is a </a:t>
                </a:r>
                <a:r>
                  <a:rPr lang="en-US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continuous probability distribution.</a:t>
                </a: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It models the </a:t>
                </a:r>
                <a:r>
                  <a:rPr lang="en-US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time between events</a:t>
                </a: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in a process where events occur </a:t>
                </a:r>
              </a:p>
              <a:p>
                <a:pPr marL="342900" indent="-342900">
                  <a:buAutoNum type="alphaLcParenR"/>
                </a:pPr>
                <a:r>
                  <a:rPr lang="en-US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continuously and independently,</a:t>
                </a:r>
              </a:p>
              <a:p>
                <a:pPr marL="342900" indent="-342900">
                  <a:buAutoNum type="alphaLcParenR"/>
                </a:pPr>
                <a:r>
                  <a:rPr lang="en-US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at a constant average rate</a:t>
                </a: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.</a:t>
                </a: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Events could be </a:t>
                </a:r>
                <a:r>
                  <a:rPr lang="en-US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waiting times</a:t>
                </a: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for next customer at store or</a:t>
                </a:r>
              </a:p>
              <a:p>
                <a:r>
                  <a:rPr lang="en-US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lifetimes </a:t>
                </a: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of bulb, etc.</a:t>
                </a: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The PDF is given by:</a:t>
                </a: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Here, </a:t>
                </a:r>
              </a:p>
              <a:p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is random variable that follows an exponential distribution,</a:t>
                </a:r>
              </a:p>
              <a:p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0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0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is the </a:t>
                </a:r>
                <a:r>
                  <a:rPr lang="en-US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rate parameter</a:t>
                </a: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(events per unit time).</a:t>
                </a: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These distributions are used to determine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lifetime of an electronic component (until it fails),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time between customer arrivals at a store , etc.</a:t>
                </a: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4B4B5F3-6383-582A-BCCC-15F3E9AC90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12" y="1284607"/>
                <a:ext cx="11937492" cy="5324535"/>
              </a:xfrm>
              <a:prstGeom prst="rect">
                <a:avLst/>
              </a:prstGeom>
              <a:blipFill>
                <a:blip r:embed="rId2"/>
                <a:stretch>
                  <a:fillRect l="-562" t="-687" b="-11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2B6BDD1A-4B44-04E5-C141-B181C31213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5088" y="3429000"/>
            <a:ext cx="2962688" cy="9621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58BE740-7311-820E-28B3-46A0129741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2048" y="0"/>
            <a:ext cx="2196192" cy="7132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0C9FF4E-B1CB-2394-8DB7-1B781ABBE2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5432" y="2252385"/>
            <a:ext cx="5061148" cy="27020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681C06-7D27-9859-18B5-8632EF9CF9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2883" y="5779008"/>
            <a:ext cx="466234" cy="4628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D260002-14A7-1AA8-4736-EF16FCEC4D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7260" y="6145528"/>
            <a:ext cx="1963918" cy="463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515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9CC09-420E-5A3D-C2FE-6443CF919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77213-E093-B260-6460-085FCDBA7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91389"/>
            <a:ext cx="11052048" cy="604139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/>
              <a:t>Exponential Distribution: Plots</a:t>
            </a:r>
            <a:endParaRPr lang="en-US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11C05B1-D6D7-D669-CBA0-E184D1B5F1B4}"/>
                  </a:ext>
                </a:extLst>
              </p:cNvPr>
              <p:cNvSpPr txBox="1"/>
              <p:nvPr/>
            </p:nvSpPr>
            <p:spPr>
              <a:xfrm>
                <a:off x="96012" y="1284607"/>
                <a:ext cx="1193749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The </a:t>
                </a:r>
                <a:r>
                  <a:rPr lang="en-US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exponential distribution</a:t>
                </a: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curve for different values of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0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0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:endParaRPr lang="en-US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11C05B1-D6D7-D669-CBA0-E184D1B5F1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12" y="1284607"/>
                <a:ext cx="11937492" cy="400110"/>
              </a:xfrm>
              <a:prstGeom prst="rect">
                <a:avLst/>
              </a:prstGeom>
              <a:blipFill>
                <a:blip r:embed="rId2"/>
                <a:stretch>
                  <a:fillRect l="-562" t="-9231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12E513A8-6086-09C4-46B7-3599284C5D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2048" y="0"/>
            <a:ext cx="2196192" cy="71323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5348027-0049-2155-B64F-2917AB2C43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827" y="1892808"/>
            <a:ext cx="8504826" cy="4687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009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1377A-BCC1-D14F-B94B-D052C9B2C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F6D09-C33A-43D2-0ED7-225908EAC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91389"/>
            <a:ext cx="11052048" cy="604139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/>
              <a:t>Exponential Distribution: Probability</a:t>
            </a:r>
            <a:endParaRPr lang="en-US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65394B-2FF0-5C9B-A6E7-EBBFC8EB44A9}"/>
              </a:ext>
            </a:extLst>
          </p:cNvPr>
          <p:cNvSpPr txBox="1"/>
          <p:nvPr/>
        </p:nvSpPr>
        <p:spPr>
          <a:xfrm>
            <a:off x="96012" y="1284607"/>
            <a:ext cx="1193749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probability that random variable X &gt; a, is given by area under the curve: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Substituting,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After integrating we get,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P(X=a)   = 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P(X &gt; 0) = 1, i.e. the total area under the curve is 1.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 This means,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BBE249-F078-3FFE-AB9C-46D5BC408F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2048" y="0"/>
            <a:ext cx="2196192" cy="71323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B39F883-BE69-C5BA-06D0-C8DC68D25F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7792" y="1637711"/>
            <a:ext cx="2753109" cy="6668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AAC7C00-E8DE-C436-F962-C3D4FB9F03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3561" y="2788091"/>
            <a:ext cx="2429214" cy="47631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B05DF2E-226A-70BC-6222-ACAB06543F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3790" y="3324501"/>
            <a:ext cx="2695951" cy="6382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166F37E-EAFA-74E4-BA9C-AB3AE98599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47798" y="4447693"/>
            <a:ext cx="2113028" cy="58758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8652C90E-6571-8B75-F2AF-DCEB09BE4E2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69900" y="6218644"/>
            <a:ext cx="2113028" cy="33527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854A65F-DCA5-ECB0-B1C2-77A7C4DDEE4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61304" y="1946592"/>
            <a:ext cx="6141846" cy="3292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80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5DEBA-3A80-B67B-F0E8-6A4B76AFB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28BD9-DFD1-33F3-505D-778AA5079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91389"/>
            <a:ext cx="11052048" cy="604139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/>
              <a:t>Exponential Distribution: Applications</a:t>
            </a:r>
            <a:endParaRPr lang="en-US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4ECAB6-1648-A7CD-4579-39F0647CC0BC}"/>
              </a:ext>
            </a:extLst>
          </p:cNvPr>
          <p:cNvSpPr txBox="1"/>
          <p:nvPr/>
        </p:nvSpPr>
        <p:spPr>
          <a:xfrm>
            <a:off x="96012" y="1284607"/>
            <a:ext cx="11937492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Problem:</a:t>
            </a:r>
            <a:b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Suppose customers arrive at </a:t>
            </a:r>
            <a:r>
              <a:rPr lang="en-US">
                <a:solidFill>
                  <a:schemeClr val="accent6">
                    <a:lumMod val="60000"/>
                    <a:lumOff val="40000"/>
                  </a:schemeClr>
                </a:solidFill>
              </a:rPr>
              <a:t>a store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on average every 5 minutes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Find the probability that 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a) the next customer arrives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after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3 minutes.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b) the next customer arrives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within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3 minutes.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Ans: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That means the rate  </a:t>
            </a:r>
            <a:r>
              <a:rPr lang="el-GR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λ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l-GR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1/</a:t>
            </a:r>
            <a:r>
              <a:rPr lang="el-GR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5​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l-GR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l-GR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0.2 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customers per minute.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a) P (next customer arrives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after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3 minutes)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b) P (next customer arrives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within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3 minutes)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 1 -  P (next customer arrives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after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3 minutes)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 1 – 0.5488  =    0.4512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199F-4480-1224-564A-23819E2E9F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1391" y="46738"/>
            <a:ext cx="2039113" cy="6622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7CBAD05-C6EE-FAA1-8ED8-EC258276B0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921" y="4045705"/>
            <a:ext cx="4113344" cy="37152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8896FC8-DB49-061B-3CD9-BF276704AD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1391" y="1867779"/>
            <a:ext cx="2798065" cy="66052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69C9721-065E-8E23-18D0-9D528C4B80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8466" y="3017786"/>
            <a:ext cx="5435227" cy="2913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8739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6F733-46E8-5F27-B752-1FEA42837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F7905-97DF-8C35-32E4-C2DB77DB4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91389"/>
            <a:ext cx="11052048" cy="604139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/>
              <a:t>Exponential Distribution: Applications</a:t>
            </a:r>
            <a:endParaRPr lang="en-US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D53B9D1-1F6E-932F-91F8-365E168D1DBB}"/>
                  </a:ext>
                </a:extLst>
              </p:cNvPr>
              <p:cNvSpPr txBox="1"/>
              <p:nvPr/>
            </p:nvSpPr>
            <p:spPr>
              <a:xfrm>
                <a:off x="96012" y="973711"/>
                <a:ext cx="11937492" cy="63021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Problem: 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Let’s say the average lifetime of a bulb is 5 years. Find the probability 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a) the bulb lasts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more than 8 years,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b) the bulb lasts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less than 8 years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c) the bulb lasts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between 6 to 9 years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d) the bulb lasts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exactly 5 years</a:t>
                </a:r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Ans: 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Here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ar-AE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342900" indent="-342900">
                  <a:buAutoNum type="alphaLcParenR"/>
                </a:pP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P(bulb lasts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more than 8 years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)  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=  Area to under the curve to the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right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of X = 8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=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b) P(bulb lasts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less than 8 years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) 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= Area to the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left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of X = 8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= P( X &lt; 8 )  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= 1 – P( X &gt; 8 )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= 1 – 0.2019 = 0.7981 = 79.81%  </a:t>
                </a:r>
              </a:p>
              <a:p>
                <a:pPr marL="342900" indent="-342900">
                  <a:buAutoNum type="alphaLcParenR"/>
                </a:pPr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342900" indent="-342900">
                  <a:buAutoNum type="alphaLcParenR"/>
                </a:pPr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D53B9D1-1F6E-932F-91F8-365E168D1D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12" y="973711"/>
                <a:ext cx="11937492" cy="6302174"/>
              </a:xfrm>
              <a:prstGeom prst="rect">
                <a:avLst/>
              </a:prstGeom>
              <a:blipFill>
                <a:blip r:embed="rId2"/>
                <a:stretch>
                  <a:fillRect l="-460" t="-5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B62C57C3-CBD8-9E0B-5302-CCBA9D60EB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1391" y="46738"/>
            <a:ext cx="2039113" cy="6622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24A7A24-B84D-1F5D-50A7-3883361007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892" y="4106510"/>
            <a:ext cx="3829584" cy="35247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1422CDF-78B8-140B-0BAC-A0F9E633F6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9927" y="1289609"/>
            <a:ext cx="986215" cy="97904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9B0C85C-F976-8B8B-D82F-49480FD2B3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61304" y="1946592"/>
            <a:ext cx="6141846" cy="3292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9771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30D0E-49A1-D2A3-2260-A9C375A47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E26EA-DEB2-BD89-12E3-9D4629347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91389"/>
            <a:ext cx="11052048" cy="604139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/>
              <a:t>Exponential Distribution: Applications</a:t>
            </a:r>
            <a:endParaRPr lang="en-US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3749C0-21AA-E2C0-4D95-8384CE255AAE}"/>
              </a:ext>
            </a:extLst>
          </p:cNvPr>
          <p:cNvSpPr txBox="1"/>
          <p:nvPr/>
        </p:nvSpPr>
        <p:spPr>
          <a:xfrm>
            <a:off x="96012" y="1110871"/>
            <a:ext cx="11937492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lphaLcParenR" startAt="3"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P(bulb lasts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between 6 to 9 years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  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 Area between X = 6 and X = 9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 P(X &gt;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6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 - P(X &gt;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9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 0.3010   −  0.1653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 0.1357 = 13.57 %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d) P(bulb lasts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exactly 5 years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 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= Area under X = 5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= 0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466F1B-096B-C87D-9895-FE6A61E9B3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9367" y="133308"/>
            <a:ext cx="2039113" cy="6622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867A88D-5F27-2605-DA3F-3FA47636DB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3081" y="2670047"/>
            <a:ext cx="5914377" cy="32131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D078DBD-329C-7F6B-8BB6-36DDE0AE17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0671" y="974824"/>
            <a:ext cx="986215" cy="979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6546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57642-6294-924F-40B7-EA5EB2BE0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52195"/>
          </a:xfrm>
        </p:spPr>
        <p:txBody>
          <a:bodyPr/>
          <a:lstStyle/>
          <a:p>
            <a:pPr algn="ctr"/>
            <a:r>
              <a:rPr lang="en-US" b="1" dirty="0"/>
              <a:t>EXTRA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39C9C-406A-D4B9-5B29-F128F5E1C0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48369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36FAF0A-1D33-AFF2-65C9-5645F3716E8C}"/>
                  </a:ext>
                </a:extLst>
              </p:cNvPr>
              <p:cNvSpPr txBox="1"/>
              <p:nvPr/>
            </p:nvSpPr>
            <p:spPr>
              <a:xfrm>
                <a:off x="246888" y="884718"/>
                <a:ext cx="11466576" cy="59352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Calibri (Body)"/>
                  </a:rPr>
                  <a:t>Problem: An online recommendation model triggers an automatic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Calibri (Body)"/>
                  </a:rPr>
                  <a:t>retrain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Calibri (Body)"/>
                  </a:rPr>
                  <a:t> whenever a sudden drop in validation performance occurs. The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Calibri (Body)"/>
                  </a:rPr>
                  <a:t>time between retrain triggers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Calibri (Body)"/>
                  </a:rPr>
                  <a:t> is modeled as an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Calibri (Body)"/>
                  </a:rPr>
                  <a:t>Exponential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Calibri (Body)"/>
                  </a:rPr>
                  <a:t> random variable with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Calibri (Body)"/>
                  </a:rPr>
                  <a:t>mean 30 days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Calibri (Body)"/>
                  </a:rPr>
                  <a:t> (so the rate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libri (Body)"/>
                      </a:rPr>
                      <m:t>𝜆</m:t>
                    </m:r>
                    <m:r>
                      <a:rPr lang="en-US" i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libri (Body)"/>
                      </a:rPr>
                      <m:t>=</m:t>
                    </m:r>
                    <m:r>
                      <a:rPr lang="en-US" i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libri (Body)"/>
                      </a:rPr>
                      <m:t>1</m:t>
                    </m:r>
                    <m:r>
                      <a:rPr lang="en-US" i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libri (Body)"/>
                      </a:rPr>
                      <m:t>/</m:t>
                    </m:r>
                    <m:r>
                      <a:rPr lang="en-US" i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libri (Body)"/>
                      </a:rPr>
                      <m:t>30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Calibri (Body)"/>
                  </a:rPr>
                  <a:t>per day).</a:t>
                </a:r>
              </a:p>
              <a:p>
                <a:pPr>
                  <a:buNone/>
                </a:pP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Calibri (Body)"/>
                  </a:rPr>
                  <a:t>Answer: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Calibri (Body)"/>
                  </a:rPr>
                  <a:t>What is the probability the next retrain happens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Calibri (Body)"/>
                  </a:rPr>
                  <a:t>within 10 days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Calibri (Body)"/>
                  </a:rPr>
                  <a:t>?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Calibri (Body)"/>
                  </a:rPr>
                  <a:t>What is the probability the model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Calibri (Body)"/>
                  </a:rPr>
                  <a:t>survives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Calibri (Body)"/>
                  </a:rPr>
                  <a:t> (i.e., no retrain) for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Calibri (Body)"/>
                  </a:rPr>
                  <a:t>60 days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Calibri (Body)"/>
                  </a:rPr>
                  <a:t>?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Calibri (Body)"/>
                  </a:rPr>
                  <a:t>Given the model has already survived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Calibri (Body)"/>
                  </a:rPr>
                  <a:t>20 days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Calibri (Body)"/>
                  </a:rPr>
                  <a:t> without a retrain, what is the probability it survives an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Calibri (Body)"/>
                  </a:rPr>
                  <a:t>additional 30 days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Calibri (Body)"/>
                  </a:rPr>
                  <a:t>? (Illustrate the memoryless property.)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Calibri (Body)"/>
                  </a:rPr>
                  <a:t>What is the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Calibri (Body)"/>
                  </a:rPr>
                  <a:t>expected number of retrains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Calibri (Body)"/>
                  </a:rPr>
                  <a:t> in one year (365 days)?</a:t>
                </a:r>
              </a:p>
              <a:p>
                <a:pPr>
                  <a:buFont typeface="+mj-lt"/>
                  <a:buAutoNum type="arabicPeriod"/>
                </a:pPr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alibri (Body)"/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Calibri (Body)"/>
                  </a:rPr>
                  <a:t>Ans: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Calibri (Body)"/>
                  </a:rPr>
                  <a:t>λ=1/30≈0.0333333 per day.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alibri (Body)"/>
                </a:endParaRPr>
              </a:p>
              <a:p>
                <a:r>
                  <a:rPr lang="ar-AE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Calibri (Body)"/>
                  </a:rPr>
                  <a:t>1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Calibri (Body)"/>
                  </a:rPr>
                  <a:t>)</a:t>
                </a:r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libri (Body)"/>
                      </a:rPr>
                      <m:t> </m:t>
                    </m:r>
                    <m:r>
                      <a:rPr lang="ar-AE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libri (Body)"/>
                      </a:rPr>
                      <m:t>𝑃</m:t>
                    </m:r>
                    <m:d>
                      <m:d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libri (Body)"/>
                          </a:rPr>
                        </m:ctrlPr>
                      </m:dPr>
                      <m:e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libri (Body)"/>
                          </a:rPr>
                          <m:t>𝑋</m:t>
                        </m:r>
                        <m:r>
                          <a:rPr lang="ar-AE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libri (Body)"/>
                          </a:rPr>
                          <m:t>≤</m:t>
                        </m:r>
                        <m:r>
                          <a:rPr lang="ar-AE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libri (Body)"/>
                          </a:rPr>
                          <m:t>10</m:t>
                        </m:r>
                      </m:e>
                    </m:d>
                  </m:oMath>
                </a14:m>
                <a:endParaRPr lang="ar-AE" b="1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alibri (Body)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libri (Body)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libri (Body)"/>
                            </a:rPr>
                          </m:ctrlPr>
                        </m:dPr>
                        <m:e>
                          <m:r>
                            <a:rPr lang="ar-AE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libri (Body)"/>
                            </a:rPr>
                            <m:t>𝑋</m:t>
                          </m:r>
                          <m:r>
                            <a:rPr lang="ar-AE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libri (Body)"/>
                            </a:rPr>
                            <m:t>≤</m:t>
                          </m:r>
                          <m:r>
                            <a:rPr lang="ar-AE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libri (Body)"/>
                            </a:rPr>
                            <m:t>10</m:t>
                          </m:r>
                        </m:e>
                      </m:d>
                      <m:r>
                        <a:rPr lang="ar-AE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libri (Body)"/>
                        </a:rPr>
                        <m:t>=</m:t>
                      </m:r>
                      <m:r>
                        <a:rPr lang="ar-AE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libri (Body)"/>
                        </a:rPr>
                        <m:t>1</m:t>
                      </m:r>
                      <m:r>
                        <a:rPr lang="ar-AE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libri (Body)"/>
                        </a:rPr>
                        <m:t>−</m:t>
                      </m:r>
                      <m:sSup>
                        <m:sSupPr>
                          <m:ctrlPr>
                            <a:rPr lang="ar-AE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libri (Body)"/>
                            </a:rPr>
                          </m:ctrlPr>
                        </m:sSupPr>
                        <m:e>
                          <m:r>
                            <a:rPr lang="ar-AE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libri (Body)"/>
                            </a:rPr>
                            <m:t>𝑒</m:t>
                          </m:r>
                        </m:e>
                        <m:sup>
                          <m:r>
                            <a:rPr lang="ar-AE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libri (Body)"/>
                            </a:rPr>
                            <m:t>−</m:t>
                          </m:r>
                          <m:r>
                            <a:rPr lang="ar-AE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libri (Body)"/>
                            </a:rPr>
                            <m:t>𝜆</m:t>
                          </m:r>
                          <m:r>
                            <a:rPr lang="ar-AE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libri (Body)"/>
                            </a:rPr>
                            <m:t>⋅</m:t>
                          </m:r>
                          <m:r>
                            <a:rPr lang="ar-AE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libri (Body)"/>
                            </a:rPr>
                            <m:t>10</m:t>
                          </m:r>
                        </m:sup>
                      </m:sSup>
                      <m:r>
                        <a:rPr lang="ar-AE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libri (Body)"/>
                        </a:rPr>
                        <m:t>=</m:t>
                      </m:r>
                      <m:r>
                        <a:rPr lang="ar-AE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libri (Body)"/>
                        </a:rPr>
                        <m:t>1</m:t>
                      </m:r>
                      <m:r>
                        <a:rPr lang="ar-AE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libri (Body)"/>
                        </a:rPr>
                        <m:t>−</m:t>
                      </m:r>
                      <m:sSup>
                        <m:sSupPr>
                          <m:ctrlPr>
                            <a:rPr lang="ar-AE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libri (Body)"/>
                            </a:rPr>
                          </m:ctrlPr>
                        </m:sSupPr>
                        <m:e>
                          <m:r>
                            <a:rPr lang="ar-AE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libri (Body)"/>
                            </a:rPr>
                            <m:t>𝑒</m:t>
                          </m:r>
                        </m:e>
                        <m:sup>
                          <m:r>
                            <a:rPr lang="ar-AE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libri (Body)"/>
                            </a:rPr>
                            <m:t>−</m:t>
                          </m:r>
                          <m:r>
                            <a:rPr lang="ar-AE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libri (Body)"/>
                            </a:rPr>
                            <m:t>10</m:t>
                          </m:r>
                          <m:r>
                            <a:rPr lang="ar-AE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libri (Body)"/>
                            </a:rPr>
                            <m:t>/</m:t>
                          </m:r>
                          <m:r>
                            <a:rPr lang="ar-AE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libri (Body)"/>
                            </a:rPr>
                            <m:t>30</m:t>
                          </m:r>
                        </m:sup>
                      </m:sSup>
                      <m:r>
                        <a:rPr lang="ar-AE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libri (Body)"/>
                        </a:rPr>
                        <m:t>=</m:t>
                      </m:r>
                      <m:r>
                        <a:rPr lang="ar-AE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libri (Body)"/>
                        </a:rPr>
                        <m:t>1</m:t>
                      </m:r>
                      <m:r>
                        <a:rPr lang="ar-AE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libri (Body)"/>
                        </a:rPr>
                        <m:t>−</m:t>
                      </m:r>
                      <m:sSup>
                        <m:sSupPr>
                          <m:ctrlPr>
                            <a:rPr lang="ar-AE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libri (Body)"/>
                            </a:rPr>
                          </m:ctrlPr>
                        </m:sSupPr>
                        <m:e>
                          <m:r>
                            <a:rPr lang="ar-AE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libri (Body)"/>
                            </a:rPr>
                            <m:t>𝑒</m:t>
                          </m:r>
                        </m:e>
                        <m:sup>
                          <m:r>
                            <a:rPr lang="ar-AE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libri (Body)"/>
                            </a:rPr>
                            <m:t>−</m:t>
                          </m:r>
                          <m:r>
                            <a:rPr lang="ar-AE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libri (Body)"/>
                            </a:rPr>
                            <m:t>1</m:t>
                          </m:r>
                          <m:r>
                            <a:rPr lang="ar-AE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libri (Body)"/>
                            </a:rPr>
                            <m:t>/</m:t>
                          </m:r>
                          <m:r>
                            <a:rPr lang="ar-AE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libri (Body)"/>
                            </a:rPr>
                            <m:t>3</m:t>
                          </m:r>
                        </m:sup>
                      </m:sSup>
                      <m:r>
                        <a:rPr lang="ar-AE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libri (Body)"/>
                        </a:rPr>
                        <m:t>≈</m:t>
                      </m:r>
                      <m:r>
                        <a:rPr lang="ar-AE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libri (Body)"/>
                        </a:rPr>
                        <m:t>0</m:t>
                      </m:r>
                      <m:r>
                        <a:rPr lang="ar-AE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libri (Body)"/>
                        </a:rPr>
                        <m:t>.</m:t>
                      </m:r>
                      <m:r>
                        <a:rPr lang="ar-AE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libri (Body)"/>
                        </a:rPr>
                        <m:t>283469</m:t>
                      </m:r>
                    </m:oMath>
                  </m:oMathPara>
                </a14:m>
                <a:endParaRPr lang="ar-AE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alibri (Body)"/>
                </a:endParaRPr>
              </a:p>
              <a:p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Calibri (Body)"/>
                  </a:rPr>
                  <a:t> = </a:t>
                </a:r>
                <a:r>
                  <a:rPr lang="ar-AE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Calibri (Body)"/>
                  </a:rPr>
                  <a:t>28.35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Calibri (Body)"/>
                  </a:rPr>
                  <a:t> %</a:t>
                </a:r>
              </a:p>
              <a:p>
                <a:endParaRPr lang="en-US" b="1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alibri (Body)"/>
                </a:endParaRPr>
              </a:p>
              <a:p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Calibri (Body)"/>
                  </a:rPr>
                  <a:t>2)  </a:t>
                </a:r>
                <a14:m>
                  <m:oMath xmlns:m="http://schemas.openxmlformats.org/officeDocument/2006/math">
                    <m:r>
                      <a:rPr lang="ar-AE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libri (Body)"/>
                      </a:rPr>
                      <m:t>𝑃</m:t>
                    </m:r>
                    <m:d>
                      <m:d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libri (Body)"/>
                          </a:rPr>
                        </m:ctrlPr>
                      </m:dPr>
                      <m:e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libri (Body)"/>
                          </a:rPr>
                          <m:t>𝑋</m:t>
                        </m:r>
                        <m:r>
                          <a:rPr lang="ar-AE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libri (Body)"/>
                          </a:rPr>
                          <m:t>&gt;</m:t>
                        </m:r>
                        <m:r>
                          <a:rPr lang="ar-AE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libri (Body)"/>
                          </a:rPr>
                          <m:t>60</m:t>
                        </m:r>
                      </m:e>
                    </m:d>
                  </m:oMath>
                </a14:m>
                <a:endParaRPr lang="ar-AE" b="1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alibri (Body)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libri (Body)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libri (Body)"/>
                            </a:rPr>
                          </m:ctrlPr>
                        </m:dPr>
                        <m:e>
                          <m:r>
                            <a:rPr lang="ar-AE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libri (Body)"/>
                            </a:rPr>
                            <m:t>𝑋</m:t>
                          </m:r>
                          <m:r>
                            <a:rPr lang="ar-AE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libri (Body)"/>
                            </a:rPr>
                            <m:t>&gt;</m:t>
                          </m:r>
                          <m:r>
                            <a:rPr lang="ar-AE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libri (Body)"/>
                            </a:rPr>
                            <m:t>60</m:t>
                          </m:r>
                        </m:e>
                      </m:d>
                      <m:r>
                        <a:rPr lang="ar-AE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libri (Body)"/>
                        </a:rPr>
                        <m:t>=</m:t>
                      </m:r>
                      <m:sSup>
                        <m:sSupPr>
                          <m:ctrlPr>
                            <a:rPr lang="ar-AE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libri (Body)"/>
                            </a:rPr>
                          </m:ctrlPr>
                        </m:sSupPr>
                        <m:e>
                          <m:r>
                            <a:rPr lang="ar-AE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libri (Body)"/>
                            </a:rPr>
                            <m:t>𝑒</m:t>
                          </m:r>
                        </m:e>
                        <m:sup>
                          <m:r>
                            <a:rPr lang="ar-AE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libri (Body)"/>
                            </a:rPr>
                            <m:t>−</m:t>
                          </m:r>
                          <m:r>
                            <a:rPr lang="ar-AE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libri (Body)"/>
                            </a:rPr>
                            <m:t>𝜆</m:t>
                          </m:r>
                          <m:r>
                            <a:rPr lang="ar-AE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libri (Body)"/>
                            </a:rPr>
                            <m:t>⋅</m:t>
                          </m:r>
                          <m:r>
                            <a:rPr lang="ar-AE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libri (Body)"/>
                            </a:rPr>
                            <m:t>60</m:t>
                          </m:r>
                        </m:sup>
                      </m:sSup>
                      <m:r>
                        <a:rPr lang="ar-AE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libri (Body)"/>
                        </a:rPr>
                        <m:t>=</m:t>
                      </m:r>
                      <m:sSup>
                        <m:sSupPr>
                          <m:ctrlPr>
                            <a:rPr lang="ar-AE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libri (Body)"/>
                            </a:rPr>
                          </m:ctrlPr>
                        </m:sSupPr>
                        <m:e>
                          <m:r>
                            <a:rPr lang="ar-AE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libri (Body)"/>
                            </a:rPr>
                            <m:t>𝑒</m:t>
                          </m:r>
                        </m:e>
                        <m:sup>
                          <m:r>
                            <a:rPr lang="ar-AE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libri (Body)"/>
                            </a:rPr>
                            <m:t>−</m:t>
                          </m:r>
                          <m:r>
                            <a:rPr lang="ar-AE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libri (Body)"/>
                            </a:rPr>
                            <m:t>60</m:t>
                          </m:r>
                          <m:r>
                            <a:rPr lang="ar-AE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libri (Body)"/>
                            </a:rPr>
                            <m:t>/</m:t>
                          </m:r>
                          <m:r>
                            <a:rPr lang="ar-AE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libri (Body)"/>
                            </a:rPr>
                            <m:t>30</m:t>
                          </m:r>
                        </m:sup>
                      </m:sSup>
                      <m:r>
                        <a:rPr lang="ar-AE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libri (Body)"/>
                        </a:rPr>
                        <m:t>=</m:t>
                      </m:r>
                      <m:sSup>
                        <m:sSupPr>
                          <m:ctrlPr>
                            <a:rPr lang="ar-AE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libri (Body)"/>
                            </a:rPr>
                          </m:ctrlPr>
                        </m:sSupPr>
                        <m:e>
                          <m:r>
                            <a:rPr lang="ar-AE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libri (Body)"/>
                            </a:rPr>
                            <m:t>𝑒</m:t>
                          </m:r>
                        </m:e>
                        <m:sup>
                          <m:r>
                            <a:rPr lang="ar-AE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libri (Body)"/>
                            </a:rPr>
                            <m:t>−</m:t>
                          </m:r>
                          <m:r>
                            <a:rPr lang="ar-AE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libri (Body)"/>
                            </a:rPr>
                            <m:t>2</m:t>
                          </m:r>
                        </m:sup>
                      </m:sSup>
                      <m:r>
                        <a:rPr lang="ar-AE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libri (Body)"/>
                        </a:rPr>
                        <m:t>≈</m:t>
                      </m:r>
                      <m:r>
                        <a:rPr lang="ar-AE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libri (Body)"/>
                        </a:rPr>
                        <m:t>0</m:t>
                      </m:r>
                      <m:r>
                        <a:rPr lang="ar-AE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libri (Body)"/>
                        </a:rPr>
                        <m:t>.</m:t>
                      </m:r>
                      <m:r>
                        <a:rPr lang="ar-AE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libri (Body)"/>
                        </a:rPr>
                        <m:t>135335</m:t>
                      </m:r>
                    </m:oMath>
                  </m:oMathPara>
                </a14:m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alibri (Body)"/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Calibri (Body)"/>
                  </a:rPr>
                  <a:t>= 13.53%</a:t>
                </a:r>
                <a:endParaRPr lang="ar-AE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alibri (Body)"/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alibri (Body)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36FAF0A-1D33-AFF2-65C9-5645F3716E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888" y="884718"/>
                <a:ext cx="11466576" cy="5935215"/>
              </a:xfrm>
              <a:prstGeom prst="rect">
                <a:avLst/>
              </a:prstGeom>
              <a:blipFill>
                <a:blip r:embed="rId2"/>
                <a:stretch>
                  <a:fillRect l="-478" t="-5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8958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34DB8-2598-F2B4-91A3-91D2FF5F5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D0B455F-1CB7-3992-F3F8-65377D30A77C}"/>
                  </a:ext>
                </a:extLst>
              </p:cNvPr>
              <p:cNvSpPr txBox="1"/>
              <p:nvPr/>
            </p:nvSpPr>
            <p:spPr>
              <a:xfrm>
                <a:off x="246888" y="884718"/>
                <a:ext cx="11466576" cy="28472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3) Memoryless: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m:t>𝑃</m:t>
                    </m:r>
                    <m:d>
                      <m:d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rPr>
                        </m:ctrlPr>
                      </m:dPr>
                      <m:e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rPr>
                          <m:t>𝑋</m:t>
                        </m:r>
                        <m:r>
                          <a:rPr lang="ar-AE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rPr>
                          <m:t>&gt;</m:t>
                        </m:r>
                        <m:r>
                          <a:rPr lang="ar-AE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rPr>
                          <m:t>20</m:t>
                        </m:r>
                        <m:r>
                          <a:rPr lang="ar-AE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rPr>
                          <m:t>+</m:t>
                        </m:r>
                        <m:r>
                          <a:rPr lang="ar-AE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rPr>
                          <m:t>30</m:t>
                        </m:r>
                        <m:r>
                          <a:rPr lang="ar-AE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rPr>
                          <m:t>∣</m:t>
                        </m:r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rPr>
                          <m:t>𝑋</m:t>
                        </m:r>
                        <m:r>
                          <a:rPr lang="ar-AE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rPr>
                          <m:t>&gt;</m:t>
                        </m:r>
                        <m:r>
                          <a:rPr lang="ar-AE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rPr>
                          <m:t>20</m:t>
                        </m:r>
                      </m:e>
                    </m:d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m:t>=</m:t>
                    </m:r>
                    <m:r>
                      <a:rPr lang="ar-AE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m:t>𝑃</m:t>
                    </m:r>
                    <m:d>
                      <m:d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rPr>
                        </m:ctrlPr>
                      </m:dPr>
                      <m:e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rPr>
                          <m:t>𝑋</m:t>
                        </m:r>
                        <m:r>
                          <a:rPr lang="ar-AE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rPr>
                          <m:t>&gt;</m:t>
                        </m:r>
                        <m:r>
                          <a:rPr lang="ar-AE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rPr>
                          <m:t>30</m:t>
                        </m:r>
                      </m:e>
                    </m:d>
                  </m:oMath>
                </a14:m>
                <a:endParaRPr lang="ar-AE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survive</m:t>
                          </m:r>
                          <m:r>
                            <m:rPr>
                              <m:nor/>
                            </m:r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additional</m:t>
                          </m:r>
                          <m:r>
                            <m:rPr>
                              <m:nor/>
                            </m:r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30 </m:t>
                          </m:r>
                          <m:r>
                            <m:rPr>
                              <m:nor/>
                            </m:r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days</m:t>
                          </m:r>
                          <m:r>
                            <a:rPr lang="en-US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∣</m:t>
                          </m:r>
                          <m:r>
                            <m:rPr>
                              <m:nor/>
                            </m:r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survived</m:t>
                          </m:r>
                          <m:r>
                            <m:rPr>
                              <m:nor/>
                            </m:r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20</m:t>
                          </m:r>
                        </m:e>
                      </m:d>
                      <m:r>
                        <a:rPr lang="ar-AE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=</m:t>
                      </m:r>
                      <m:sSup>
                        <m:sSupPr>
                          <m:ctrlPr>
                            <a:rPr lang="ar-AE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</m:ctrlPr>
                        </m:sSupPr>
                        <m:e>
                          <m:r>
                            <a:rPr lang="ar-AE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𝑒</m:t>
                          </m:r>
                        </m:e>
                        <m:sup>
                          <m:r>
                            <a:rPr lang="ar-AE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−</m:t>
                          </m:r>
                          <m:r>
                            <a:rPr lang="ar-AE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𝜆</m:t>
                          </m:r>
                          <m:r>
                            <a:rPr lang="ar-AE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⋅</m:t>
                          </m:r>
                          <m:r>
                            <a:rPr lang="ar-AE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30</m:t>
                          </m:r>
                        </m:sup>
                      </m:sSup>
                      <m:r>
                        <a:rPr lang="ar-AE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=</m:t>
                      </m:r>
                      <m:sSup>
                        <m:sSupPr>
                          <m:ctrlPr>
                            <a:rPr lang="ar-AE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</m:ctrlPr>
                        </m:sSupPr>
                        <m:e>
                          <m:r>
                            <a:rPr lang="ar-AE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𝑒</m:t>
                          </m:r>
                        </m:e>
                        <m:sup>
                          <m:r>
                            <a:rPr lang="ar-AE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−</m:t>
                          </m:r>
                          <m:r>
                            <a:rPr lang="ar-AE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1</m:t>
                          </m:r>
                        </m:sup>
                      </m:sSup>
                      <m:r>
                        <a:rPr lang="ar-AE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≈</m:t>
                      </m:r>
                      <m:r>
                        <a:rPr lang="ar-AE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0</m:t>
                      </m:r>
                      <m:r>
                        <a:rPr lang="ar-AE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.</m:t>
                      </m:r>
                      <m:r>
                        <a:rPr lang="ar-AE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367879</m:t>
                      </m:r>
                    </m:oMath>
                  </m:oMathPara>
                </a14:m>
                <a:endParaRPr lang="ar-AE" b="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= 36. 79 %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(So, the conditional probability depends only on the additional waiting time, not on the fact that it already lasted 20 days.)</a:t>
                </a:r>
              </a:p>
              <a:p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4) Expected retrains in 365 days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retrain</m:t>
                          </m:r>
                          <m:r>
                            <m:rPr>
                              <m:nor/>
                            </m:r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count</m:t>
                          </m:r>
                          <m:r>
                            <m:rPr>
                              <m:nor/>
                            </m:r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in</m:t>
                          </m:r>
                          <m:r>
                            <m:rPr>
                              <m:nor/>
                            </m:r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365 </m:t>
                          </m:r>
                          <m:r>
                            <m:rPr>
                              <m:nor/>
                            </m:r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days</m:t>
                          </m:r>
                        </m:e>
                      </m:d>
                      <m:r>
                        <a:rPr lang="ar-AE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=</m:t>
                      </m:r>
                      <m:r>
                        <a:rPr lang="ar-AE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𝜆</m:t>
                      </m:r>
                      <m:r>
                        <a:rPr lang="ar-AE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⋅</m:t>
                      </m:r>
                      <m:r>
                        <a:rPr lang="ar-AE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365</m:t>
                      </m:r>
                      <m:r>
                        <a:rPr lang="ar-AE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</m:ctrlPr>
                        </m:fPr>
                        <m:num>
                          <m:r>
                            <a:rPr lang="ar-AE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365</m:t>
                          </m:r>
                        </m:num>
                        <m:den>
                          <m:r>
                            <a:rPr lang="ar-AE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m:t>30</m:t>
                          </m:r>
                        </m:den>
                      </m:f>
                      <m:r>
                        <a:rPr lang="ar-AE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≈</m:t>
                      </m:r>
                      <m:r>
                        <a:rPr lang="ar-AE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12</m:t>
                      </m:r>
                      <m:r>
                        <a:rPr lang="ar-AE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.</m:t>
                      </m:r>
                      <m:r>
                        <a:rPr lang="ar-AE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1667</m:t>
                      </m:r>
                    </m:oMath>
                  </m:oMathPara>
                </a14:m>
                <a:endParaRPr lang="ar-AE" b="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About 12.17 retrains per year (on average).</a:t>
                </a:r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D0B455F-1CB7-3992-F3F8-65377D30A7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888" y="884718"/>
                <a:ext cx="11466576" cy="2847254"/>
              </a:xfrm>
              <a:prstGeom prst="rect">
                <a:avLst/>
              </a:prstGeom>
              <a:blipFill>
                <a:blip r:embed="rId2"/>
                <a:stretch>
                  <a:fillRect l="-478" t="-1071" b="-25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69282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D0021-7FA5-5FE2-B4CF-B43025887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643C4E3C-474B-08B7-8F54-359B419D963B}"/>
              </a:ext>
            </a:extLst>
          </p:cNvPr>
          <p:cNvSpPr txBox="1"/>
          <p:nvPr/>
        </p:nvSpPr>
        <p:spPr>
          <a:xfrm>
            <a:off x="96012" y="1284607"/>
            <a:ext cx="1193749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exponential distribution is commonly used for: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Modeling waiting times: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lvl="1"/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Time between customer arrivals at a store.</a:t>
            </a:r>
          </a:p>
          <a:p>
            <a:pPr lvl="1"/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Time between phone calls at a call center.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Reliability and lifetime modeling: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lvl="1"/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Lifetime of an electronic component (until it fails).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Queueing systems: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lvl="1"/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Time between arrivals in a queue (Poisson process).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Essentially, when events occur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randomly but at a constant rate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the exponential distribution fits perfectly.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85F761-378D-A98C-63D1-AC4C85507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91389"/>
            <a:ext cx="11052048" cy="604139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/>
              <a:t>Exponential Distribution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2802639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7DC99-F447-6550-B8DF-FBFD85E19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3B0C6-B462-F567-64FF-F215B7431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91389"/>
            <a:ext cx="11052048" cy="604139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/>
              <a:t>Exponential Distribution vs Poisson Distribution</a:t>
            </a:r>
            <a:endParaRPr lang="en-US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8E6394A3-7C20-9F73-5485-ABDF0F40D3E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26274981"/>
                  </p:ext>
                </p:extLst>
              </p:nvPr>
            </p:nvGraphicFramePr>
            <p:xfrm>
              <a:off x="298243" y="1078760"/>
              <a:ext cx="10425081" cy="2643098"/>
            </p:xfrm>
            <a:graphic>
              <a:graphicData uri="http://schemas.openxmlformats.org/drawingml/2006/table">
                <a:tbl>
                  <a:tblPr/>
                  <a:tblGrid>
                    <a:gridCol w="2664413">
                      <a:extLst>
                        <a:ext uri="{9D8B030D-6E8A-4147-A177-3AD203B41FA5}">
                          <a16:colId xmlns:a16="http://schemas.microsoft.com/office/drawing/2014/main" val="313787214"/>
                        </a:ext>
                      </a:extLst>
                    </a:gridCol>
                    <a:gridCol w="4285641">
                      <a:extLst>
                        <a:ext uri="{9D8B030D-6E8A-4147-A177-3AD203B41FA5}">
                          <a16:colId xmlns:a16="http://schemas.microsoft.com/office/drawing/2014/main" val="1665655155"/>
                        </a:ext>
                      </a:extLst>
                    </a:gridCol>
                    <a:gridCol w="3475027">
                      <a:extLst>
                        <a:ext uri="{9D8B030D-6E8A-4147-A177-3AD203B41FA5}">
                          <a16:colId xmlns:a16="http://schemas.microsoft.com/office/drawing/2014/main" val="3276386468"/>
                        </a:ext>
                      </a:extLst>
                    </a:gridCol>
                  </a:tblGrid>
                  <a:tr h="362611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Concept</a:t>
                          </a:r>
                        </a:p>
                      </a:txBody>
                      <a:tcPr marL="90653" marR="90653" marT="45326" marB="45326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b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Poisson Distribution</a:t>
                          </a:r>
                          <a:endParaRPr lang="en-US" sz="180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endParaRPr>
                        </a:p>
                      </a:txBody>
                      <a:tcPr marL="90653" marR="90653" marT="45326" marB="45326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b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Exponential Distribution</a:t>
                          </a:r>
                          <a:endParaRPr lang="en-US" sz="180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endParaRPr>
                        </a:p>
                      </a:txBody>
                      <a:tcPr marL="90653" marR="90653" marT="45326" marB="45326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29214492"/>
                      </a:ext>
                    </a:extLst>
                  </a:tr>
                  <a:tr h="362611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b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Type</a:t>
                          </a:r>
                          <a:endParaRPr lang="en-US" sz="180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endParaRPr>
                        </a:p>
                      </a:txBody>
                      <a:tcPr marL="90653" marR="90653" marT="45326" marB="45326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Discrete</a:t>
                          </a:r>
                        </a:p>
                      </a:txBody>
                      <a:tcPr marL="90653" marR="90653" marT="45326" marB="45326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Continuous</a:t>
                          </a:r>
                        </a:p>
                      </a:txBody>
                      <a:tcPr marL="90653" marR="90653" marT="45326" marB="45326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54432523"/>
                      </a:ext>
                    </a:extLst>
                  </a:tr>
                  <a:tr h="63457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b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Describes</a:t>
                          </a:r>
                          <a:endParaRPr lang="en-US" sz="180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endParaRPr>
                        </a:p>
                      </a:txBody>
                      <a:tcPr marL="90653" marR="90653" marT="45326" marB="45326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Number of events in a fixed interval</a:t>
                          </a:r>
                        </a:p>
                      </a:txBody>
                      <a:tcPr marL="90653" marR="90653" marT="45326" marB="45326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Time (or distance) between two consecutive events</a:t>
                          </a:r>
                        </a:p>
                      </a:txBody>
                      <a:tcPr marL="90653" marR="90653" marT="45326" marB="45326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20247743"/>
                      </a:ext>
                    </a:extLst>
                  </a:tr>
                  <a:tr h="63457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b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Example Question</a:t>
                          </a:r>
                          <a:endParaRPr lang="en-US" sz="180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endParaRPr>
                        </a:p>
                      </a:txBody>
                      <a:tcPr marL="90653" marR="90653" marT="45326" marB="45326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“How many customers arrive in 10 minutes?”</a:t>
                          </a:r>
                        </a:p>
                      </a:txBody>
                      <a:tcPr marL="90653" marR="90653" marT="45326" marB="45326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“How long until the next customer arrives?”</a:t>
                          </a:r>
                        </a:p>
                      </a:txBody>
                      <a:tcPr marL="90653" marR="90653" marT="45326" marB="45326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9106393"/>
                      </a:ext>
                    </a:extLst>
                  </a:tr>
                  <a:tr h="63457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b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Parameter</a:t>
                          </a:r>
                          <a:endParaRPr lang="en-US" sz="180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endParaRPr>
                        </a:p>
                      </a:txBody>
                      <a:tcPr marL="90653" marR="90653" marT="45326" marB="45326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oMath>
                          </a14:m>
                          <a:r>
                            <a:rPr lang="en-US" sz="18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: average number of events per interval</a:t>
                          </a:r>
                        </a:p>
                      </a:txBody>
                      <a:tcPr marL="90653" marR="90653" marT="45326" marB="45326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oMath>
                          </a14:m>
                          <a:r>
                            <a:rPr lang="en-US" sz="18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: rate of events per unit time</a:t>
                          </a:r>
                        </a:p>
                      </a:txBody>
                      <a:tcPr marL="90653" marR="90653" marT="45326" marB="45326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9729324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8E6394A3-7C20-9F73-5485-ABDF0F40D3E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26274981"/>
                  </p:ext>
                </p:extLst>
              </p:nvPr>
            </p:nvGraphicFramePr>
            <p:xfrm>
              <a:off x="298243" y="1078760"/>
              <a:ext cx="10425081" cy="2643098"/>
            </p:xfrm>
            <a:graphic>
              <a:graphicData uri="http://schemas.openxmlformats.org/drawingml/2006/table">
                <a:tbl>
                  <a:tblPr/>
                  <a:tblGrid>
                    <a:gridCol w="2664413">
                      <a:extLst>
                        <a:ext uri="{9D8B030D-6E8A-4147-A177-3AD203B41FA5}">
                          <a16:colId xmlns:a16="http://schemas.microsoft.com/office/drawing/2014/main" val="313787214"/>
                        </a:ext>
                      </a:extLst>
                    </a:gridCol>
                    <a:gridCol w="4285641">
                      <a:extLst>
                        <a:ext uri="{9D8B030D-6E8A-4147-A177-3AD203B41FA5}">
                          <a16:colId xmlns:a16="http://schemas.microsoft.com/office/drawing/2014/main" val="1665655155"/>
                        </a:ext>
                      </a:extLst>
                    </a:gridCol>
                    <a:gridCol w="3475027">
                      <a:extLst>
                        <a:ext uri="{9D8B030D-6E8A-4147-A177-3AD203B41FA5}">
                          <a16:colId xmlns:a16="http://schemas.microsoft.com/office/drawing/2014/main" val="3276386468"/>
                        </a:ext>
                      </a:extLst>
                    </a:gridCol>
                  </a:tblGrid>
                  <a:tr h="36497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Concept</a:t>
                          </a:r>
                        </a:p>
                      </a:txBody>
                      <a:tcPr marL="90653" marR="90653" marT="45326" marB="45326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b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Poisson Distribution</a:t>
                          </a:r>
                          <a:endParaRPr lang="en-US" sz="180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endParaRPr>
                        </a:p>
                      </a:txBody>
                      <a:tcPr marL="90653" marR="90653" marT="45326" marB="45326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b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Exponential Distribution</a:t>
                          </a:r>
                          <a:endParaRPr lang="en-US" sz="180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endParaRPr>
                        </a:p>
                      </a:txBody>
                      <a:tcPr marL="90653" marR="90653" marT="45326" marB="45326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29214492"/>
                      </a:ext>
                    </a:extLst>
                  </a:tr>
                  <a:tr h="36497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b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Type</a:t>
                          </a:r>
                          <a:endParaRPr lang="en-US" sz="180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endParaRPr>
                        </a:p>
                      </a:txBody>
                      <a:tcPr marL="90653" marR="90653" marT="45326" marB="45326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Discrete</a:t>
                          </a:r>
                        </a:p>
                      </a:txBody>
                      <a:tcPr marL="90653" marR="90653" marT="45326" marB="45326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Continuous</a:t>
                          </a:r>
                        </a:p>
                      </a:txBody>
                      <a:tcPr marL="90653" marR="90653" marT="45326" marB="45326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54432523"/>
                      </a:ext>
                    </a:extLst>
                  </a:tr>
                  <a:tr h="63929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b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Describes</a:t>
                          </a:r>
                          <a:endParaRPr lang="en-US" sz="180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endParaRPr>
                        </a:p>
                      </a:txBody>
                      <a:tcPr marL="90653" marR="90653" marT="45326" marB="45326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Number of events in a fixed interval</a:t>
                          </a:r>
                        </a:p>
                      </a:txBody>
                      <a:tcPr marL="90653" marR="90653" marT="45326" marB="45326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Time (or distance) between two consecutive events</a:t>
                          </a:r>
                        </a:p>
                      </a:txBody>
                      <a:tcPr marL="90653" marR="90653" marT="45326" marB="45326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20247743"/>
                      </a:ext>
                    </a:extLst>
                  </a:tr>
                  <a:tr h="63929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b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Example Question</a:t>
                          </a:r>
                          <a:endParaRPr lang="en-US" sz="180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endParaRPr>
                        </a:p>
                      </a:txBody>
                      <a:tcPr marL="90653" marR="90653" marT="45326" marB="45326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“How many customers arrive in 10 minutes?”</a:t>
                          </a:r>
                        </a:p>
                      </a:txBody>
                      <a:tcPr marL="90653" marR="90653" marT="45326" marB="45326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“How long until the next customer arrives?”</a:t>
                          </a:r>
                        </a:p>
                      </a:txBody>
                      <a:tcPr marL="90653" marR="90653" marT="45326" marB="45326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9106393"/>
                      </a:ext>
                    </a:extLst>
                  </a:tr>
                  <a:tr h="63457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b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Parameter</a:t>
                          </a:r>
                          <a:endParaRPr lang="en-US" sz="180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endParaRPr>
                        </a:p>
                      </a:txBody>
                      <a:tcPr marL="90653" marR="90653" marT="45326" marB="45326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0653" marR="90653" marT="45326" marB="45326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l="-62304" t="-323077" r="-812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0653" marR="90653" marT="45326" marB="45326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l="-199825" t="-3230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9729324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3FA5F23-5B98-9C2F-DF65-72705AFE03A7}"/>
                  </a:ext>
                </a:extLst>
              </p:cNvPr>
              <p:cNvSpPr txBox="1"/>
              <p:nvPr/>
            </p:nvSpPr>
            <p:spPr>
              <a:xfrm>
                <a:off x="301752" y="3901363"/>
                <a:ext cx="9162288" cy="2308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Example</a:t>
                </a:r>
              </a:p>
              <a:p>
                <a:pPr>
                  <a:buNone/>
                </a:pP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Suppose customers arrive at a rate of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2 per minute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(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i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).</a:t>
                </a:r>
              </a:p>
              <a:p>
                <a:pPr>
                  <a:buNone/>
                </a:pPr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a) Poisson: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Probability that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3 customers arrive in 1 minute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:</a:t>
                </a:r>
              </a:p>
              <a:p>
                <a:pPr>
                  <a:buNone/>
                </a:pPr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>
                  <a:buNone/>
                </a:pP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b) Exponential:</a:t>
                </a:r>
              </a:p>
              <a:p>
                <a:pPr>
                  <a:buNone/>
                </a:pP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Probability that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next customer arrives within 30 seconds (0.5 minutes)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: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3FA5F23-5B98-9C2F-DF65-72705AFE03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752" y="3901363"/>
                <a:ext cx="9162288" cy="2308324"/>
              </a:xfrm>
              <a:prstGeom prst="rect">
                <a:avLst/>
              </a:prstGeom>
              <a:blipFill>
                <a:blip r:embed="rId3"/>
                <a:stretch>
                  <a:fillRect l="-599" t="-1583" b="-31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57CDA8B8-C136-604C-DF5D-058827E231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6056" y="4961792"/>
            <a:ext cx="2450634" cy="6068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1EA77A5-5115-BB2D-1AA1-7582A12257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4826" y="5768794"/>
            <a:ext cx="4032440" cy="489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4574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0EE2E-3FF0-6DF2-8FF3-A257B758E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E56F3-B018-E419-07B7-1771721DE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91389"/>
            <a:ext cx="11052048" cy="604139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/>
              <a:t>Exponential Distribution vs Poisson Distribution</a:t>
            </a:r>
            <a:endParaRPr lang="en-US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3DEFCAC-9377-02C8-3429-D4140609959A}"/>
                  </a:ext>
                </a:extLst>
              </p:cNvPr>
              <p:cNvSpPr txBox="1"/>
              <p:nvPr/>
            </p:nvSpPr>
            <p:spPr>
              <a:xfrm>
                <a:off x="301752" y="1313611"/>
                <a:ext cx="9162288" cy="36933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Example</a:t>
                </a:r>
              </a:p>
              <a:p>
                <a:pPr>
                  <a:buNone/>
                </a:pP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Suppose customers arrive at a rate of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2 per minute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i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).</a:t>
                </a:r>
              </a:p>
              <a:p>
                <a:pPr>
                  <a:buNone/>
                </a:pPr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a) Poisson: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Probability that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3 customers arrive in 1 minute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:</a:t>
                </a:r>
              </a:p>
              <a:p>
                <a:pPr>
                  <a:buNone/>
                </a:pPr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>
                  <a:buNone/>
                </a:pPr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>
                  <a:buNone/>
                </a:pPr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>
                  <a:buNone/>
                </a:pPr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>
                  <a:buNone/>
                </a:pPr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>
                  <a:buNone/>
                </a:pP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b) Exponential:</a:t>
                </a:r>
              </a:p>
              <a:p>
                <a:pPr>
                  <a:buNone/>
                </a:pP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Probability that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next customer arrives within 30 seconds (0.5 minutes)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:</a:t>
                </a:r>
              </a:p>
              <a:p>
                <a:pPr>
                  <a:buNone/>
                </a:pPr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3DEFCAC-9377-02C8-3429-D414060995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752" y="1313611"/>
                <a:ext cx="9162288" cy="3693319"/>
              </a:xfrm>
              <a:prstGeom prst="rect">
                <a:avLst/>
              </a:prstGeom>
              <a:blipFill>
                <a:blip r:embed="rId2"/>
                <a:stretch>
                  <a:fillRect l="-599" t="-8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5F91CE34-627B-46B8-9F0D-35826D7731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5976" y="2407690"/>
            <a:ext cx="3038899" cy="7525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0C844B8-5B06-7E59-865D-3C4135F00A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5976" y="4835036"/>
            <a:ext cx="4553585" cy="552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3415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3D4AA-CD13-99D4-49E9-DE6267495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94D09CB-7EC3-3CE1-2645-193B1F797CF5}"/>
                  </a:ext>
                </a:extLst>
              </p:cNvPr>
              <p:cNvSpPr txBox="1"/>
              <p:nvPr/>
            </p:nvSpPr>
            <p:spPr>
              <a:xfrm>
                <a:off x="0" y="1233493"/>
                <a:ext cx="11937492" cy="22778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The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mean (expected value)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rPr>
                        </m:ctrlPr>
                      </m:fPr>
                      <m:num>
                        <m:r>
                          <a:rPr lang="ar-AE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rPr>
                          <m:t>1</m:t>
                        </m:r>
                      </m:num>
                      <m:den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rPr>
                          <m:t>𝜆</m:t>
                        </m:r>
                      </m:den>
                    </m:f>
                  </m:oMath>
                </a14:m>
                <a:r>
                  <a:rPr lang="ar-AE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.</a:t>
                </a:r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The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variance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rPr>
                        </m:ctrlPr>
                      </m:fPr>
                      <m:num>
                        <m:r>
                          <a:rPr lang="ar-AE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ar-AE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</a:rPr>
                            </m:ctrlPr>
                          </m:sSupPr>
                          <m:e>
                            <m:r>
                              <a:rPr lang="ar-AE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</a:rPr>
                              <m:t>𝜆</m:t>
                            </m:r>
                          </m:e>
                          <m:sup>
                            <m:r>
                              <a:rPr lang="ar-AE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ar-AE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.</a:t>
                </a:r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The PDF: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The CDF</a:t>
                </a: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94D09CB-7EC3-3CE1-2645-193B1F797C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233493"/>
                <a:ext cx="11937492" cy="2277803"/>
              </a:xfrm>
              <a:prstGeom prst="rect">
                <a:avLst/>
              </a:prstGeom>
              <a:blipFill>
                <a:blip r:embed="rId2"/>
                <a:stretch>
                  <a:fillRect l="-409" b="-32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itle 1">
            <a:extLst>
              <a:ext uri="{FF2B5EF4-FFF2-40B4-BE49-F238E27FC236}">
                <a16:creationId xmlns:a16="http://schemas.microsoft.com/office/drawing/2014/main" id="{212B38C5-E43E-70CC-AD30-7F7274B08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91389"/>
            <a:ext cx="11052048" cy="604139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/>
              <a:t>Extra</a:t>
            </a:r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2996E9-1018-48CB-896B-5164881771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5354" y="2104114"/>
            <a:ext cx="6682608" cy="3690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6261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1394</TotalTime>
  <Words>1053</Words>
  <Application>Microsoft Office PowerPoint</Application>
  <PresentationFormat>Widescreen</PresentationFormat>
  <Paragraphs>182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(Body)</vt:lpstr>
      <vt:lpstr>Calibri Light</vt:lpstr>
      <vt:lpstr>Cambria Math</vt:lpstr>
      <vt:lpstr>Office Theme</vt:lpstr>
      <vt:lpstr>Exponential Distribution</vt:lpstr>
      <vt:lpstr>Exponential Distribution: Theory</vt:lpstr>
      <vt:lpstr>Exponential Distribution: Plots</vt:lpstr>
      <vt:lpstr>Exponential Distribution: Probability</vt:lpstr>
      <vt:lpstr>Exponential Distribution: Applications</vt:lpstr>
      <vt:lpstr>Exponential Distribution: Applications</vt:lpstr>
      <vt:lpstr>Exponential Distribution: Applications</vt:lpstr>
      <vt:lpstr>EXTRA</vt:lpstr>
      <vt:lpstr>PowerPoint Presentation</vt:lpstr>
      <vt:lpstr>PowerPoint Presentation</vt:lpstr>
      <vt:lpstr>Exponential Distribution</vt:lpstr>
      <vt:lpstr>Exponential Distribution vs Poisson Distribution</vt:lpstr>
      <vt:lpstr>Exponential Distribution vs Poisson Distribution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195</cp:revision>
  <dcterms:created xsi:type="dcterms:W3CDTF">2025-09-22T02:44:38Z</dcterms:created>
  <dcterms:modified xsi:type="dcterms:W3CDTF">2025-10-13T06:59:47Z</dcterms:modified>
</cp:coreProperties>
</file>