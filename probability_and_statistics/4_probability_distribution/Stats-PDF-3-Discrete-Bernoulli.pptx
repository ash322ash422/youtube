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9"/>
  </p:handoutMasterIdLst>
  <p:sldIdLst>
    <p:sldId id="281" r:id="rId2"/>
    <p:sldId id="271" r:id="rId3"/>
    <p:sldId id="286" r:id="rId4"/>
    <p:sldId id="285" r:id="rId5"/>
    <p:sldId id="283" r:id="rId6"/>
    <p:sldId id="284" r:id="rId7"/>
    <p:sldId id="28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78"/>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10/11/2025</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10/11/2025</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10/11/2025</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10/11/2025</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10/11/2025</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10/11/2025</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10/11/2025</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10/11/2025</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10/11/2025</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10/11/2025</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10/11/2025</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10/11/2025</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10/11/2025</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3D4AA-CD13-99D4-49E9-DE6267495B6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94D09CB-7EC3-3CE1-2645-193B1F797CF5}"/>
                  </a:ext>
                </a:extLst>
              </p:cNvPr>
              <p:cNvSpPr txBox="1"/>
              <p:nvPr/>
            </p:nvSpPr>
            <p:spPr>
              <a:xfrm>
                <a:off x="96012" y="955423"/>
                <a:ext cx="11937492" cy="5632311"/>
              </a:xfrm>
              <a:prstGeom prst="rect">
                <a:avLst/>
              </a:prstGeom>
              <a:noFill/>
            </p:spPr>
            <p:txBody>
              <a:bodyPr wrap="square">
                <a:spAutoFit/>
              </a:bodyPr>
              <a:lstStyle/>
              <a:p>
                <a:r>
                  <a:rPr lang="en-US" sz="2000" dirty="0">
                    <a:solidFill>
                      <a:schemeClr val="accent6">
                        <a:lumMod val="60000"/>
                        <a:lumOff val="40000"/>
                      </a:schemeClr>
                    </a:solidFill>
                  </a:rPr>
                  <a:t>The Bernoulli distribution is the </a:t>
                </a:r>
                <a:r>
                  <a:rPr lang="en-US" sz="2000" b="1" dirty="0">
                    <a:solidFill>
                      <a:schemeClr val="accent6">
                        <a:lumMod val="60000"/>
                        <a:lumOff val="40000"/>
                      </a:schemeClr>
                    </a:solidFill>
                  </a:rPr>
                  <a:t>simplest discrete probability distribution</a:t>
                </a:r>
                <a:r>
                  <a:rPr lang="en-US" sz="2000" dirty="0">
                    <a:solidFill>
                      <a:schemeClr val="accent6">
                        <a:lumMod val="60000"/>
                        <a:lumOff val="40000"/>
                      </a:schemeClr>
                    </a:solidFill>
                  </a:rPr>
                  <a:t>, representing a </a:t>
                </a:r>
                <a:r>
                  <a:rPr lang="en-US" sz="2000" b="1" dirty="0">
                    <a:solidFill>
                      <a:schemeClr val="accent6">
                        <a:lumMod val="60000"/>
                        <a:lumOff val="40000"/>
                      </a:schemeClr>
                    </a:solidFill>
                  </a:rPr>
                  <a:t>single experiment</a:t>
                </a:r>
                <a:r>
                  <a:rPr lang="en-US" sz="2000" dirty="0">
                    <a:solidFill>
                      <a:schemeClr val="accent6">
                        <a:lumMod val="60000"/>
                        <a:lumOff val="40000"/>
                      </a:schemeClr>
                    </a:solidFill>
                  </a:rPr>
                  <a:t> (or trial) that has only </a:t>
                </a:r>
                <a:r>
                  <a:rPr lang="en-US" sz="2000" b="1" dirty="0">
                    <a:solidFill>
                      <a:schemeClr val="accent6">
                        <a:lumMod val="60000"/>
                        <a:lumOff val="40000"/>
                      </a:schemeClr>
                    </a:solidFill>
                  </a:rPr>
                  <a:t>two possible outcomes</a:t>
                </a:r>
                <a:r>
                  <a:rPr lang="en-US" sz="2000" dirty="0">
                    <a:solidFill>
                      <a:schemeClr val="accent6">
                        <a:lumMod val="60000"/>
                        <a:lumOff val="40000"/>
                      </a:schemeClr>
                    </a:solidFill>
                  </a:rPr>
                  <a:t>:</a:t>
                </a:r>
              </a:p>
              <a:p>
                <a:r>
                  <a:rPr lang="en-US" sz="2000" b="1" dirty="0">
                    <a:solidFill>
                      <a:schemeClr val="accent6">
                        <a:lumMod val="60000"/>
                        <a:lumOff val="40000"/>
                      </a:schemeClr>
                    </a:solidFill>
                  </a:rPr>
                  <a:t>Success</a:t>
                </a:r>
                <a:r>
                  <a:rPr lang="en-US" sz="2000" dirty="0">
                    <a:solidFill>
                      <a:schemeClr val="accent6">
                        <a:lumMod val="60000"/>
                        <a:lumOff val="40000"/>
                      </a:schemeClr>
                    </a:solidFill>
                  </a:rPr>
                  <a:t> (usually coded as 1)</a:t>
                </a:r>
              </a:p>
              <a:p>
                <a:r>
                  <a:rPr lang="en-US" sz="2000" b="1" dirty="0">
                    <a:solidFill>
                      <a:schemeClr val="accent6">
                        <a:lumMod val="60000"/>
                        <a:lumOff val="40000"/>
                      </a:schemeClr>
                    </a:solidFill>
                  </a:rPr>
                  <a:t>Failure</a:t>
                </a:r>
                <a:r>
                  <a:rPr lang="en-US" sz="2000" dirty="0">
                    <a:solidFill>
                      <a:schemeClr val="accent6">
                        <a:lumMod val="60000"/>
                        <a:lumOff val="40000"/>
                      </a:schemeClr>
                    </a:solidFill>
                  </a:rPr>
                  <a:t>   (usually coded as 0)</a:t>
                </a:r>
              </a:p>
              <a:p>
                <a:r>
                  <a:rPr lang="en-US" sz="2000" dirty="0">
                    <a:solidFill>
                      <a:schemeClr val="accent6">
                        <a:lumMod val="60000"/>
                        <a:lumOff val="40000"/>
                      </a:schemeClr>
                    </a:solidFill>
                  </a:rPr>
                  <a:t>The probability of success is denoted by </a:t>
                </a:r>
                <a14:m>
                  <m:oMath xmlns:m="http://schemas.openxmlformats.org/officeDocument/2006/math">
                    <m:r>
                      <a:rPr lang="en-US" sz="2000" i="1">
                        <a:solidFill>
                          <a:schemeClr val="accent6">
                            <a:lumMod val="60000"/>
                            <a:lumOff val="40000"/>
                          </a:schemeClr>
                        </a:solidFill>
                        <a:latin typeface="Cambria Math" panose="02040503050406030204" pitchFamily="18" charset="0"/>
                      </a:rPr>
                      <m:t>𝑝</m:t>
                    </m:r>
                  </m:oMath>
                </a14:m>
                <a:r>
                  <a:rPr lang="en-US" sz="2000" dirty="0">
                    <a:solidFill>
                      <a:schemeClr val="accent6">
                        <a:lumMod val="60000"/>
                        <a:lumOff val="40000"/>
                      </a:schemeClr>
                    </a:solidFill>
                  </a:rPr>
                  <a:t>, and the probability of failure is </a:t>
                </a:r>
                <a14:m>
                  <m:oMath xmlns:m="http://schemas.openxmlformats.org/officeDocument/2006/math">
                    <m:r>
                      <a:rPr lang="en-US" sz="2000">
                        <a:solidFill>
                          <a:schemeClr val="accent6">
                            <a:lumMod val="60000"/>
                            <a:lumOff val="40000"/>
                          </a:schemeClr>
                        </a:solidFill>
                        <a:latin typeface="Cambria Math" panose="02040503050406030204" pitchFamily="18" charset="0"/>
                      </a:rPr>
                      <m:t>1</m:t>
                    </m:r>
                    <m:r>
                      <a:rPr lang="en-US" sz="2000">
                        <a:solidFill>
                          <a:schemeClr val="accent6">
                            <a:lumMod val="60000"/>
                            <a:lumOff val="40000"/>
                          </a:schemeClr>
                        </a:solidFill>
                        <a:latin typeface="Cambria Math" panose="02040503050406030204" pitchFamily="18" charset="0"/>
                      </a:rPr>
                      <m:t>−</m:t>
                    </m:r>
                    <m:r>
                      <a:rPr lang="en-US" sz="2000" i="1">
                        <a:solidFill>
                          <a:schemeClr val="accent6">
                            <a:lumMod val="60000"/>
                            <a:lumOff val="40000"/>
                          </a:schemeClr>
                        </a:solidFill>
                        <a:latin typeface="Cambria Math" panose="02040503050406030204" pitchFamily="18" charset="0"/>
                      </a:rPr>
                      <m:t>𝑝</m:t>
                    </m:r>
                  </m:oMath>
                </a14:m>
                <a:r>
                  <a:rPr lang="en-US" sz="2000" dirty="0">
                    <a:solidFill>
                      <a:schemeClr val="accent6">
                        <a:lumMod val="60000"/>
                        <a:lumOff val="40000"/>
                      </a:schemeClr>
                    </a:solidFill>
                  </a:rPr>
                  <a:t>.</a:t>
                </a: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r>
                  <a:rPr lang="en-US" sz="2000" dirty="0">
                    <a:solidFill>
                      <a:schemeClr val="accent6">
                        <a:lumMod val="60000"/>
                        <a:lumOff val="40000"/>
                      </a:schemeClr>
                    </a:solidFill>
                  </a:rPr>
                  <a:t>The </a:t>
                </a:r>
                <a:r>
                  <a:rPr lang="en-US" sz="2000" b="1" dirty="0">
                    <a:solidFill>
                      <a:schemeClr val="accent6">
                        <a:lumMod val="60000"/>
                        <a:lumOff val="40000"/>
                      </a:schemeClr>
                    </a:solidFill>
                  </a:rPr>
                  <a:t>Probability mass function (PMF):                                                                                                      </a:t>
                </a:r>
                <a:r>
                  <a:rPr lang="en-US" sz="2000" dirty="0">
                    <a:solidFill>
                      <a:schemeClr val="accent6">
                        <a:lumMod val="60000"/>
                        <a:lumOff val="40000"/>
                      </a:schemeClr>
                    </a:solidFill>
                  </a:rPr>
                  <a:t>Here X = {0, 1}.</a:t>
                </a:r>
              </a:p>
              <a:p>
                <a:r>
                  <a:rPr lang="en-US" sz="2000" b="1" dirty="0">
                    <a:solidFill>
                      <a:schemeClr val="accent6">
                        <a:lumMod val="60000"/>
                        <a:lumOff val="40000"/>
                      </a:schemeClr>
                    </a:solidFill>
                  </a:rPr>
                  <a:t> </a:t>
                </a:r>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r>
                  <a:rPr lang="en-US" sz="2000" dirty="0">
                    <a:solidFill>
                      <a:schemeClr val="accent6">
                        <a:lumMod val="60000"/>
                        <a:lumOff val="40000"/>
                      </a:schemeClr>
                    </a:solidFill>
                  </a:rPr>
                  <a:t>It is used in </a:t>
                </a:r>
              </a:p>
              <a:p>
                <a:pPr marL="342900" indent="-342900">
                  <a:buFont typeface="Arial" panose="020B0604020202020204" pitchFamily="34" charset="0"/>
                  <a:buChar char="•"/>
                </a:pPr>
                <a:r>
                  <a:rPr lang="en-US" sz="2000" dirty="0">
                    <a:solidFill>
                      <a:schemeClr val="accent6">
                        <a:lumMod val="60000"/>
                        <a:lumOff val="40000"/>
                      </a:schemeClr>
                    </a:solidFill>
                  </a:rPr>
                  <a:t>Coin toss: Head (1) / Tail (0)</a:t>
                </a:r>
              </a:p>
              <a:p>
                <a:pPr marL="342900" indent="-342900">
                  <a:buFont typeface="Arial" panose="020B0604020202020204" pitchFamily="34" charset="0"/>
                  <a:buChar char="•"/>
                </a:pPr>
                <a:r>
                  <a:rPr lang="en-US" sz="2000" dirty="0">
                    <a:solidFill>
                      <a:schemeClr val="accent6">
                        <a:lumMod val="60000"/>
                        <a:lumOff val="40000"/>
                      </a:schemeClr>
                    </a:solidFill>
                  </a:rPr>
                  <a:t>Passing a test: Pass (1) / Fail (0)</a:t>
                </a:r>
              </a:p>
              <a:p>
                <a:pPr marL="342900" indent="-342900">
                  <a:buFont typeface="Arial" panose="020B0604020202020204" pitchFamily="34" charset="0"/>
                  <a:buChar char="•"/>
                </a:pPr>
                <a:r>
                  <a:rPr lang="en-US" sz="2000" dirty="0">
                    <a:solidFill>
                      <a:schemeClr val="accent6">
                        <a:lumMod val="60000"/>
                        <a:lumOff val="40000"/>
                      </a:schemeClr>
                    </a:solidFill>
                  </a:rPr>
                  <a:t>Email: Spam (1) / Not Spam (0)</a:t>
                </a:r>
              </a:p>
              <a:p>
                <a:pPr marL="342900" indent="-342900">
                  <a:buFont typeface="Arial" panose="020B0604020202020204" pitchFamily="34" charset="0"/>
                  <a:buChar char="•"/>
                </a:pPr>
                <a:r>
                  <a:rPr lang="en-US" sz="2000" dirty="0">
                    <a:solidFill>
                      <a:schemeClr val="accent6">
                        <a:lumMod val="60000"/>
                        <a:lumOff val="40000"/>
                      </a:schemeClr>
                    </a:solidFill>
                  </a:rPr>
                  <a:t>Manufacturing: Defective (1) / Not Defective (0)</a:t>
                </a:r>
              </a:p>
              <a:p>
                <a:endParaRPr lang="en-US" sz="2000" dirty="0">
                  <a:solidFill>
                    <a:schemeClr val="accent6">
                      <a:lumMod val="60000"/>
                      <a:lumOff val="40000"/>
                    </a:schemeClr>
                  </a:solidFill>
                </a:endParaRPr>
              </a:p>
            </p:txBody>
          </p:sp>
        </mc:Choice>
        <mc:Fallback>
          <p:sp>
            <p:nvSpPr>
              <p:cNvPr id="13" name="TextBox 12">
                <a:extLst>
                  <a:ext uri="{FF2B5EF4-FFF2-40B4-BE49-F238E27FC236}">
                    <a16:creationId xmlns:a16="http://schemas.microsoft.com/office/drawing/2014/main" id="{494D09CB-7EC3-3CE1-2645-193B1F797CF5}"/>
                  </a:ext>
                </a:extLst>
              </p:cNvPr>
              <p:cNvSpPr txBox="1">
                <a:spLocks noRot="1" noChangeAspect="1" noMove="1" noResize="1" noEditPoints="1" noAdjustHandles="1" noChangeArrowheads="1" noChangeShapeType="1" noTextEdit="1"/>
              </p:cNvSpPr>
              <p:nvPr/>
            </p:nvSpPr>
            <p:spPr>
              <a:xfrm>
                <a:off x="96012" y="955423"/>
                <a:ext cx="11937492" cy="5632311"/>
              </a:xfrm>
              <a:prstGeom prst="rect">
                <a:avLst/>
              </a:prstGeom>
              <a:blipFill>
                <a:blip r:embed="rId2"/>
                <a:stretch>
                  <a:fillRect l="-562" t="-649"/>
                </a:stretch>
              </a:blipFill>
            </p:spPr>
            <p:txBody>
              <a:bodyPr/>
              <a:lstStyle/>
              <a:p>
                <a:r>
                  <a:rPr lang="en-US">
                    <a:noFill/>
                  </a:rPr>
                  <a:t> </a:t>
                </a:r>
              </a:p>
            </p:txBody>
          </p:sp>
        </mc:Fallback>
      </mc:AlternateContent>
      <p:sp>
        <p:nvSpPr>
          <p:cNvPr id="16" name="Title 1">
            <a:extLst>
              <a:ext uri="{FF2B5EF4-FFF2-40B4-BE49-F238E27FC236}">
                <a16:creationId xmlns:a16="http://schemas.microsoft.com/office/drawing/2014/main" id="{212B38C5-E43E-70CC-AD30-7F7274B08DE2}"/>
              </a:ext>
            </a:extLst>
          </p:cNvPr>
          <p:cNvSpPr>
            <a:spLocks noGrp="1"/>
          </p:cNvSpPr>
          <p:nvPr>
            <p:ph type="title"/>
          </p:nvPr>
        </p:nvSpPr>
        <p:spPr>
          <a:xfrm>
            <a:off x="301752" y="191389"/>
            <a:ext cx="11052048" cy="604139"/>
          </a:xfrm>
        </p:spPr>
        <p:txBody>
          <a:bodyPr>
            <a:noAutofit/>
          </a:bodyPr>
          <a:lstStyle/>
          <a:p>
            <a:pPr algn="ctr"/>
            <a:r>
              <a:rPr lang="en-US" sz="2800" b="1" dirty="0"/>
              <a:t>Bernoulli Distribution</a:t>
            </a:r>
            <a:endParaRPr lang="en-US" sz="2800" dirty="0"/>
          </a:p>
        </p:txBody>
      </p:sp>
      <p:pic>
        <p:nvPicPr>
          <p:cNvPr id="3" name="Picture 2">
            <a:extLst>
              <a:ext uri="{FF2B5EF4-FFF2-40B4-BE49-F238E27FC236}">
                <a16:creationId xmlns:a16="http://schemas.microsoft.com/office/drawing/2014/main" id="{70B493C7-617E-1FAA-F817-2BDA41AC6130}"/>
              </a:ext>
            </a:extLst>
          </p:cNvPr>
          <p:cNvPicPr>
            <a:picLocks noChangeAspect="1"/>
          </p:cNvPicPr>
          <p:nvPr/>
        </p:nvPicPr>
        <p:blipFill>
          <a:blip r:embed="rId3"/>
          <a:stretch>
            <a:fillRect/>
          </a:stretch>
        </p:blipFill>
        <p:spPr>
          <a:xfrm>
            <a:off x="4556760" y="2643674"/>
            <a:ext cx="3943900" cy="1267002"/>
          </a:xfrm>
          <a:prstGeom prst="rect">
            <a:avLst/>
          </a:prstGeom>
        </p:spPr>
      </p:pic>
      <p:pic>
        <p:nvPicPr>
          <p:cNvPr id="2" name="Picture 1">
            <a:extLst>
              <a:ext uri="{FF2B5EF4-FFF2-40B4-BE49-F238E27FC236}">
                <a16:creationId xmlns:a16="http://schemas.microsoft.com/office/drawing/2014/main" id="{60B7C19E-50AB-9BE7-D3A1-34DD1C65A8B9}"/>
              </a:ext>
            </a:extLst>
          </p:cNvPr>
          <p:cNvPicPr>
            <a:picLocks noChangeAspect="1"/>
          </p:cNvPicPr>
          <p:nvPr/>
        </p:nvPicPr>
        <p:blipFill>
          <a:blip r:embed="rId3"/>
          <a:stretch>
            <a:fillRect/>
          </a:stretch>
        </p:blipFill>
        <p:spPr>
          <a:xfrm>
            <a:off x="7639120" y="57754"/>
            <a:ext cx="2296529" cy="737774"/>
          </a:xfrm>
          <a:prstGeom prst="rect">
            <a:avLst/>
          </a:prstGeom>
        </p:spPr>
      </p:pic>
      <p:pic>
        <p:nvPicPr>
          <p:cNvPr id="4" name="Picture 3">
            <a:extLst>
              <a:ext uri="{FF2B5EF4-FFF2-40B4-BE49-F238E27FC236}">
                <a16:creationId xmlns:a16="http://schemas.microsoft.com/office/drawing/2014/main" id="{F84F560C-C07B-FFE5-DD98-592FFDD53A91}"/>
              </a:ext>
            </a:extLst>
          </p:cNvPr>
          <p:cNvPicPr>
            <a:picLocks noChangeAspect="1"/>
          </p:cNvPicPr>
          <p:nvPr/>
        </p:nvPicPr>
        <p:blipFill>
          <a:blip r:embed="rId4"/>
          <a:stretch>
            <a:fillRect/>
          </a:stretch>
        </p:blipFill>
        <p:spPr>
          <a:xfrm>
            <a:off x="3942050" y="4782312"/>
            <a:ext cx="1229419" cy="590252"/>
          </a:xfrm>
          <a:prstGeom prst="rect">
            <a:avLst/>
          </a:prstGeom>
        </p:spPr>
      </p:pic>
      <p:pic>
        <p:nvPicPr>
          <p:cNvPr id="6" name="Picture 5">
            <a:extLst>
              <a:ext uri="{FF2B5EF4-FFF2-40B4-BE49-F238E27FC236}">
                <a16:creationId xmlns:a16="http://schemas.microsoft.com/office/drawing/2014/main" id="{CEBC0EAB-C4DF-4B38-E719-291C05947ECC}"/>
              </a:ext>
            </a:extLst>
          </p:cNvPr>
          <p:cNvPicPr>
            <a:picLocks noChangeAspect="1"/>
          </p:cNvPicPr>
          <p:nvPr/>
        </p:nvPicPr>
        <p:blipFill>
          <a:blip r:embed="rId5"/>
          <a:stretch>
            <a:fillRect/>
          </a:stretch>
        </p:blipFill>
        <p:spPr>
          <a:xfrm>
            <a:off x="8911666" y="3983618"/>
            <a:ext cx="2047965" cy="1918959"/>
          </a:xfrm>
          <a:prstGeom prst="rect">
            <a:avLst/>
          </a:prstGeom>
        </p:spPr>
      </p:pic>
    </p:spTree>
    <p:extLst>
      <p:ext uri="{BB962C8B-B14F-4D97-AF65-F5344CB8AC3E}">
        <p14:creationId xmlns:p14="http://schemas.microsoft.com/office/powerpoint/2010/main" val="3428626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DE7A7-E651-4DD5-5FBC-27BB1329E819}"/>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A0842EC-899B-84ED-C8B9-CA36C88D4A84}"/>
              </a:ext>
            </a:extLst>
          </p:cNvPr>
          <p:cNvSpPr txBox="1"/>
          <p:nvPr/>
        </p:nvSpPr>
        <p:spPr>
          <a:xfrm>
            <a:off x="105156" y="1202311"/>
            <a:ext cx="9432036" cy="3477875"/>
          </a:xfrm>
          <a:prstGeom prst="rect">
            <a:avLst/>
          </a:prstGeom>
          <a:noFill/>
        </p:spPr>
        <p:txBody>
          <a:bodyPr wrap="square">
            <a:spAutoFit/>
          </a:bodyPr>
          <a:lstStyle/>
          <a:p>
            <a:r>
              <a:rPr lang="en-US" sz="2000" b="1" dirty="0">
                <a:solidFill>
                  <a:schemeClr val="accent6">
                    <a:lumMod val="60000"/>
                    <a:lumOff val="40000"/>
                  </a:schemeClr>
                </a:solidFill>
              </a:rPr>
              <a:t>Example:</a:t>
            </a:r>
            <a:r>
              <a:rPr lang="en-US" sz="2000" dirty="0">
                <a:solidFill>
                  <a:schemeClr val="accent6">
                    <a:lumMod val="60000"/>
                    <a:lumOff val="40000"/>
                  </a:schemeClr>
                </a:solidFill>
              </a:rPr>
              <a:t> Suppose you flip a fair coin once. </a:t>
            </a:r>
          </a:p>
          <a:p>
            <a:r>
              <a:rPr lang="en-US" sz="2000" dirty="0">
                <a:solidFill>
                  <a:schemeClr val="accent6">
                    <a:lumMod val="60000"/>
                    <a:lumOff val="40000"/>
                  </a:schemeClr>
                </a:solidFill>
              </a:rPr>
              <a:t>What is the probability mass function ?</a:t>
            </a:r>
          </a:p>
          <a:p>
            <a:endParaRPr lang="en-US" sz="2000" dirty="0">
              <a:solidFill>
                <a:schemeClr val="accent6">
                  <a:lumMod val="60000"/>
                  <a:lumOff val="40000"/>
                </a:schemeClr>
              </a:solidFill>
            </a:endParaRPr>
          </a:p>
          <a:p>
            <a:r>
              <a:rPr lang="en-US" sz="2000" b="1" dirty="0">
                <a:solidFill>
                  <a:schemeClr val="accent6">
                    <a:lumMod val="60000"/>
                    <a:lumOff val="40000"/>
                  </a:schemeClr>
                </a:solidFill>
              </a:rPr>
              <a:t>Ans:</a:t>
            </a:r>
          </a:p>
          <a:p>
            <a:r>
              <a:rPr lang="en-US" sz="2000" dirty="0">
                <a:solidFill>
                  <a:schemeClr val="accent6">
                    <a:lumMod val="60000"/>
                    <a:lumOff val="40000"/>
                  </a:schemeClr>
                </a:solidFill>
              </a:rPr>
              <a:t>There are only 2 outcomes: Head and Tail.</a:t>
            </a:r>
          </a:p>
          <a:p>
            <a:r>
              <a:rPr lang="en-US" sz="2000" dirty="0">
                <a:solidFill>
                  <a:schemeClr val="accent6">
                    <a:lumMod val="60000"/>
                    <a:lumOff val="40000"/>
                  </a:schemeClr>
                </a:solidFill>
              </a:rPr>
              <a:t>Let us denote success as</a:t>
            </a:r>
            <a:r>
              <a:rPr lang="en-US" sz="2000" b="1" dirty="0">
                <a:solidFill>
                  <a:schemeClr val="accent6">
                    <a:lumMod val="60000"/>
                    <a:lumOff val="40000"/>
                  </a:schemeClr>
                </a:solidFill>
              </a:rPr>
              <a:t> h</a:t>
            </a:r>
            <a:r>
              <a:rPr lang="en-US" sz="2000" dirty="0">
                <a:solidFill>
                  <a:schemeClr val="accent6">
                    <a:lumMod val="60000"/>
                    <a:lumOff val="40000"/>
                  </a:schemeClr>
                </a:solidFill>
              </a:rPr>
              <a:t>ead (1) and failure as tail (0).  Here X = {0, 1}.</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Then for fair coin the PMF is </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 (X=1)= 0.5 , probability of head  </a:t>
            </a:r>
          </a:p>
          <a:p>
            <a:r>
              <a:rPr lang="en-US" sz="2000" dirty="0">
                <a:solidFill>
                  <a:schemeClr val="accent6">
                    <a:lumMod val="60000"/>
                    <a:lumOff val="40000"/>
                  </a:schemeClr>
                </a:solidFill>
              </a:rPr>
              <a:t>P (X=0)= 0.5 , probability of tail</a:t>
            </a:r>
          </a:p>
        </p:txBody>
      </p:sp>
      <p:sp>
        <p:nvSpPr>
          <p:cNvPr id="4" name="Title 1">
            <a:extLst>
              <a:ext uri="{FF2B5EF4-FFF2-40B4-BE49-F238E27FC236}">
                <a16:creationId xmlns:a16="http://schemas.microsoft.com/office/drawing/2014/main" id="{3655DD9B-EE36-45D3-D536-2F1B1704305D}"/>
              </a:ext>
            </a:extLst>
          </p:cNvPr>
          <p:cNvSpPr>
            <a:spLocks noGrp="1"/>
          </p:cNvSpPr>
          <p:nvPr>
            <p:ph type="title"/>
          </p:nvPr>
        </p:nvSpPr>
        <p:spPr>
          <a:xfrm>
            <a:off x="301752" y="191389"/>
            <a:ext cx="11052048" cy="604139"/>
          </a:xfrm>
        </p:spPr>
        <p:txBody>
          <a:bodyPr>
            <a:noAutofit/>
          </a:bodyPr>
          <a:lstStyle/>
          <a:p>
            <a:pPr algn="ctr"/>
            <a:r>
              <a:rPr lang="en-US" sz="2800" b="1" dirty="0"/>
              <a:t>Bernoulli Distribution</a:t>
            </a:r>
            <a:endParaRPr lang="en-US" sz="2800" dirty="0"/>
          </a:p>
        </p:txBody>
      </p:sp>
      <p:pic>
        <p:nvPicPr>
          <p:cNvPr id="2" name="Picture 1">
            <a:extLst>
              <a:ext uri="{FF2B5EF4-FFF2-40B4-BE49-F238E27FC236}">
                <a16:creationId xmlns:a16="http://schemas.microsoft.com/office/drawing/2014/main" id="{80A75D5B-DE60-78BB-DEED-0A90934BE9CA}"/>
              </a:ext>
            </a:extLst>
          </p:cNvPr>
          <p:cNvPicPr>
            <a:picLocks noChangeAspect="1"/>
          </p:cNvPicPr>
          <p:nvPr/>
        </p:nvPicPr>
        <p:blipFill>
          <a:blip r:embed="rId2"/>
          <a:stretch>
            <a:fillRect/>
          </a:stretch>
        </p:blipFill>
        <p:spPr>
          <a:xfrm>
            <a:off x="7639120" y="57754"/>
            <a:ext cx="2296529" cy="737774"/>
          </a:xfrm>
          <a:prstGeom prst="rect">
            <a:avLst/>
          </a:prstGeom>
        </p:spPr>
      </p:pic>
      <p:pic>
        <p:nvPicPr>
          <p:cNvPr id="12" name="Picture 11">
            <a:extLst>
              <a:ext uri="{FF2B5EF4-FFF2-40B4-BE49-F238E27FC236}">
                <a16:creationId xmlns:a16="http://schemas.microsoft.com/office/drawing/2014/main" id="{3E046766-02D0-1FE3-E483-58DEADC6409B}"/>
              </a:ext>
            </a:extLst>
          </p:cNvPr>
          <p:cNvPicPr>
            <a:picLocks noChangeAspect="1"/>
          </p:cNvPicPr>
          <p:nvPr/>
        </p:nvPicPr>
        <p:blipFill>
          <a:blip r:embed="rId3"/>
          <a:stretch>
            <a:fillRect/>
          </a:stretch>
        </p:blipFill>
        <p:spPr>
          <a:xfrm>
            <a:off x="8177302" y="1398484"/>
            <a:ext cx="2182849" cy="1048000"/>
          </a:xfrm>
          <a:prstGeom prst="rect">
            <a:avLst/>
          </a:prstGeom>
        </p:spPr>
      </p:pic>
      <p:pic>
        <p:nvPicPr>
          <p:cNvPr id="5" name="Picture 4">
            <a:extLst>
              <a:ext uri="{FF2B5EF4-FFF2-40B4-BE49-F238E27FC236}">
                <a16:creationId xmlns:a16="http://schemas.microsoft.com/office/drawing/2014/main" id="{E1501A07-75B6-D39F-882C-1DB0EA4BBC71}"/>
              </a:ext>
            </a:extLst>
          </p:cNvPr>
          <p:cNvPicPr>
            <a:picLocks noChangeAspect="1"/>
          </p:cNvPicPr>
          <p:nvPr/>
        </p:nvPicPr>
        <p:blipFill>
          <a:blip r:embed="rId4"/>
          <a:stretch>
            <a:fillRect/>
          </a:stretch>
        </p:blipFill>
        <p:spPr>
          <a:xfrm>
            <a:off x="4562856" y="3669020"/>
            <a:ext cx="2410726" cy="1640525"/>
          </a:xfrm>
          <a:prstGeom prst="rect">
            <a:avLst/>
          </a:prstGeom>
        </p:spPr>
      </p:pic>
    </p:spTree>
    <p:extLst>
      <p:ext uri="{BB962C8B-B14F-4D97-AF65-F5344CB8AC3E}">
        <p14:creationId xmlns:p14="http://schemas.microsoft.com/office/powerpoint/2010/main" val="2934645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4BDDF-7F47-AF25-6E7A-620E0DEC2FAE}"/>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612D73CE-82BA-8D53-EC4D-22B8BC6A2AD4}"/>
              </a:ext>
            </a:extLst>
          </p:cNvPr>
          <p:cNvSpPr txBox="1"/>
          <p:nvPr/>
        </p:nvSpPr>
        <p:spPr>
          <a:xfrm>
            <a:off x="96012" y="1284607"/>
            <a:ext cx="9432036" cy="4401205"/>
          </a:xfrm>
          <a:prstGeom prst="rect">
            <a:avLst/>
          </a:prstGeom>
          <a:noFill/>
        </p:spPr>
        <p:txBody>
          <a:bodyPr wrap="square">
            <a:spAutoFit/>
          </a:bodyPr>
          <a:lstStyle/>
          <a:p>
            <a:r>
              <a:rPr lang="en-US" sz="2000" b="1" dirty="0">
                <a:solidFill>
                  <a:schemeClr val="accent6">
                    <a:lumMod val="60000"/>
                    <a:lumOff val="40000"/>
                  </a:schemeClr>
                </a:solidFill>
              </a:rPr>
              <a:t>Example</a:t>
            </a:r>
            <a:r>
              <a:rPr lang="en-US" sz="2000" dirty="0">
                <a:solidFill>
                  <a:schemeClr val="accent6">
                    <a:lumMod val="60000"/>
                    <a:lumOff val="40000"/>
                  </a:schemeClr>
                </a:solidFill>
              </a:rPr>
              <a:t>: A dataset containing emails received and whether it is spam is provided. Let X be a random variable representing spam email received on any given day. Assuming we can calculate the probability that an email is spam or not from this dataset, what is the probability mass function (PMF) of X ?</a:t>
            </a:r>
          </a:p>
          <a:p>
            <a:r>
              <a:rPr lang="en-US" sz="2000" dirty="0">
                <a:solidFill>
                  <a:schemeClr val="accent6">
                    <a:lumMod val="60000"/>
                    <a:lumOff val="40000"/>
                  </a:schemeClr>
                </a:solidFill>
              </a:rPr>
              <a:t> </a:t>
            </a:r>
          </a:p>
          <a:p>
            <a:r>
              <a:rPr lang="en-US" sz="2000" b="1" dirty="0">
                <a:solidFill>
                  <a:schemeClr val="accent6">
                    <a:lumMod val="60000"/>
                    <a:lumOff val="40000"/>
                  </a:schemeClr>
                </a:solidFill>
              </a:rPr>
              <a:t>Ans: </a:t>
            </a:r>
          </a:p>
          <a:p>
            <a:r>
              <a:rPr lang="en-US" sz="2000" dirty="0">
                <a:solidFill>
                  <a:schemeClr val="accent6">
                    <a:lumMod val="60000"/>
                    <a:lumOff val="40000"/>
                  </a:schemeClr>
                </a:solidFill>
              </a:rPr>
              <a:t>Here X is a random variable indicating whether new email is spam(1) or not spam(0)</a:t>
            </a:r>
          </a:p>
          <a:p>
            <a:r>
              <a:rPr lang="en-US" sz="2000" dirty="0">
                <a:solidFill>
                  <a:schemeClr val="accent6">
                    <a:lumMod val="60000"/>
                    <a:lumOff val="40000"/>
                  </a:schemeClr>
                </a:solidFill>
              </a:rPr>
              <a:t>X = {0, 1} . </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By looking at data, we see that PMF is</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 X=1 )     = 4/7  , (spam)</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 X = 0 )   = 3/7   , (not spam)</a:t>
            </a:r>
          </a:p>
        </p:txBody>
      </p:sp>
      <p:graphicFrame>
        <p:nvGraphicFramePr>
          <p:cNvPr id="8" name="Table 7">
            <a:extLst>
              <a:ext uri="{FF2B5EF4-FFF2-40B4-BE49-F238E27FC236}">
                <a16:creationId xmlns:a16="http://schemas.microsoft.com/office/drawing/2014/main" id="{ED166C12-77CC-35E7-D86C-34BDC0D3DCCF}"/>
              </a:ext>
            </a:extLst>
          </p:cNvPr>
          <p:cNvGraphicFramePr>
            <a:graphicFrameLocks noGrp="1"/>
          </p:cNvGraphicFramePr>
          <p:nvPr/>
        </p:nvGraphicFramePr>
        <p:xfrm>
          <a:off x="9331382" y="1405862"/>
          <a:ext cx="2022418" cy="2682240"/>
        </p:xfrm>
        <a:graphic>
          <a:graphicData uri="http://schemas.openxmlformats.org/drawingml/2006/table">
            <a:tbl>
              <a:tblPr firstRow="1" bandRow="1">
                <a:tableStyleId>{2D5ABB26-0587-4C30-8999-92F81FD0307C}</a:tableStyleId>
              </a:tblPr>
              <a:tblGrid>
                <a:gridCol w="1011209">
                  <a:extLst>
                    <a:ext uri="{9D8B030D-6E8A-4147-A177-3AD203B41FA5}">
                      <a16:colId xmlns:a16="http://schemas.microsoft.com/office/drawing/2014/main" val="2946656974"/>
                    </a:ext>
                  </a:extLst>
                </a:gridCol>
                <a:gridCol w="1011209">
                  <a:extLst>
                    <a:ext uri="{9D8B030D-6E8A-4147-A177-3AD203B41FA5}">
                      <a16:colId xmlns:a16="http://schemas.microsoft.com/office/drawing/2014/main" val="2412447998"/>
                    </a:ext>
                  </a:extLst>
                </a:gridCol>
              </a:tblGrid>
              <a:tr h="308587">
                <a:tc>
                  <a:txBody>
                    <a:bodyPr/>
                    <a:lstStyle/>
                    <a:p>
                      <a:pPr algn="ctr"/>
                      <a:r>
                        <a:rPr lang="en-US" sz="1600" b="1" dirty="0">
                          <a:solidFill>
                            <a:schemeClr val="accent6">
                              <a:lumMod val="40000"/>
                              <a:lumOff val="60000"/>
                            </a:schemeClr>
                          </a:solidFill>
                        </a:rPr>
                        <a:t>email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err="1">
                          <a:solidFill>
                            <a:schemeClr val="accent6">
                              <a:lumMod val="40000"/>
                              <a:lumOff val="60000"/>
                            </a:schemeClr>
                          </a:solidFill>
                        </a:rPr>
                        <a:t>Is_spam</a:t>
                      </a:r>
                      <a:endParaRPr lang="en-US" sz="1600" b="1" dirty="0">
                        <a:solidFill>
                          <a:schemeClr val="accent6">
                            <a:lumMod val="40000"/>
                            <a:lumOff val="6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2962580"/>
                  </a:ext>
                </a:extLst>
              </a:tr>
              <a:tr h="308587">
                <a:tc>
                  <a:txBody>
                    <a:bodyPr/>
                    <a:lstStyle/>
                    <a:p>
                      <a:pPr algn="ctr"/>
                      <a:r>
                        <a:rPr lang="en-US" sz="1600" dirty="0">
                          <a:solidFill>
                            <a:schemeClr val="accent6">
                              <a:lumMod val="40000"/>
                              <a:lumOff val="60000"/>
                            </a:schemeClr>
                          </a:solidFill>
                        </a:rPr>
                        <a:t>E1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6071187"/>
                  </a:ext>
                </a:extLst>
              </a:tr>
              <a:tr h="308587">
                <a:tc>
                  <a:txBody>
                    <a:bodyPr/>
                    <a:lstStyle/>
                    <a:p>
                      <a:pPr algn="ctr"/>
                      <a:r>
                        <a:rPr lang="en-US" sz="1600" dirty="0">
                          <a:solidFill>
                            <a:schemeClr val="accent6">
                              <a:lumMod val="40000"/>
                              <a:lumOff val="60000"/>
                            </a:schemeClr>
                          </a:solidFill>
                        </a:rPr>
                        <a:t>E2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069428"/>
                  </a:ext>
                </a:extLst>
              </a:tr>
              <a:tr h="308587">
                <a:tc>
                  <a:txBody>
                    <a:bodyPr/>
                    <a:lstStyle/>
                    <a:p>
                      <a:pPr algn="ctr"/>
                      <a:r>
                        <a:rPr lang="en-US" sz="1600" dirty="0">
                          <a:solidFill>
                            <a:schemeClr val="accent6">
                              <a:lumMod val="40000"/>
                              <a:lumOff val="60000"/>
                            </a:schemeClr>
                          </a:solidFill>
                        </a:rPr>
                        <a:t>E3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0979472"/>
                  </a:ext>
                </a:extLst>
              </a:tr>
              <a:tr h="308587">
                <a:tc>
                  <a:txBody>
                    <a:bodyPr/>
                    <a:lstStyle/>
                    <a:p>
                      <a:pPr algn="ctr"/>
                      <a:r>
                        <a:rPr lang="en-US" sz="1600" dirty="0">
                          <a:solidFill>
                            <a:schemeClr val="accent6">
                              <a:lumMod val="40000"/>
                              <a:lumOff val="60000"/>
                            </a:schemeClr>
                          </a:solidFill>
                        </a:rPr>
                        <a:t>E4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2937977"/>
                  </a:ext>
                </a:extLst>
              </a:tr>
              <a:tr h="308587">
                <a:tc>
                  <a:txBody>
                    <a:bodyPr/>
                    <a:lstStyle/>
                    <a:p>
                      <a:pPr algn="ctr"/>
                      <a:r>
                        <a:rPr lang="en-US" sz="1600" dirty="0">
                          <a:solidFill>
                            <a:schemeClr val="accent6">
                              <a:lumMod val="40000"/>
                              <a:lumOff val="60000"/>
                            </a:schemeClr>
                          </a:solidFill>
                        </a:rPr>
                        <a:t>E5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5624301"/>
                  </a:ext>
                </a:extLst>
              </a:tr>
              <a:tr h="308587">
                <a:tc>
                  <a:txBody>
                    <a:bodyPr/>
                    <a:lstStyle/>
                    <a:p>
                      <a:pPr algn="ctr"/>
                      <a:r>
                        <a:rPr lang="en-US" sz="1600" dirty="0">
                          <a:solidFill>
                            <a:schemeClr val="accent6">
                              <a:lumMod val="40000"/>
                              <a:lumOff val="60000"/>
                            </a:schemeClr>
                          </a:solidFill>
                        </a:rPr>
                        <a:t>E6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7780709"/>
                  </a:ext>
                </a:extLst>
              </a:tr>
              <a:tr h="308587">
                <a:tc>
                  <a:txBody>
                    <a:bodyPr/>
                    <a:lstStyle/>
                    <a:p>
                      <a:pPr algn="ctr"/>
                      <a:r>
                        <a:rPr lang="en-US" sz="1600" dirty="0">
                          <a:solidFill>
                            <a:schemeClr val="accent6">
                              <a:lumMod val="40000"/>
                              <a:lumOff val="60000"/>
                            </a:schemeClr>
                          </a:solidFill>
                        </a:rPr>
                        <a:t>E7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6840265"/>
                  </a:ext>
                </a:extLst>
              </a:tr>
            </a:tbl>
          </a:graphicData>
        </a:graphic>
      </p:graphicFrame>
      <p:sp>
        <p:nvSpPr>
          <p:cNvPr id="4" name="Title 1">
            <a:extLst>
              <a:ext uri="{FF2B5EF4-FFF2-40B4-BE49-F238E27FC236}">
                <a16:creationId xmlns:a16="http://schemas.microsoft.com/office/drawing/2014/main" id="{ADD783EF-3D0C-183A-78CE-D7F8344C4B8C}"/>
              </a:ext>
            </a:extLst>
          </p:cNvPr>
          <p:cNvSpPr>
            <a:spLocks noGrp="1"/>
          </p:cNvSpPr>
          <p:nvPr>
            <p:ph type="title"/>
          </p:nvPr>
        </p:nvSpPr>
        <p:spPr>
          <a:xfrm>
            <a:off x="301752" y="191389"/>
            <a:ext cx="11052048" cy="604139"/>
          </a:xfrm>
        </p:spPr>
        <p:txBody>
          <a:bodyPr>
            <a:noAutofit/>
          </a:bodyPr>
          <a:lstStyle/>
          <a:p>
            <a:pPr algn="ctr"/>
            <a:r>
              <a:rPr lang="en-US" sz="2800" b="1" dirty="0"/>
              <a:t>Bernoulli Distribution</a:t>
            </a:r>
            <a:endParaRPr lang="en-US" sz="2800" dirty="0"/>
          </a:p>
        </p:txBody>
      </p:sp>
      <p:pic>
        <p:nvPicPr>
          <p:cNvPr id="2" name="Picture 1">
            <a:extLst>
              <a:ext uri="{FF2B5EF4-FFF2-40B4-BE49-F238E27FC236}">
                <a16:creationId xmlns:a16="http://schemas.microsoft.com/office/drawing/2014/main" id="{C009EB18-0CB1-F7E1-9D41-7501C007D294}"/>
              </a:ext>
            </a:extLst>
          </p:cNvPr>
          <p:cNvPicPr>
            <a:picLocks noChangeAspect="1"/>
          </p:cNvPicPr>
          <p:nvPr/>
        </p:nvPicPr>
        <p:blipFill>
          <a:blip r:embed="rId2"/>
          <a:stretch>
            <a:fillRect/>
          </a:stretch>
        </p:blipFill>
        <p:spPr>
          <a:xfrm>
            <a:off x="7639120" y="57754"/>
            <a:ext cx="2296529" cy="737774"/>
          </a:xfrm>
          <a:prstGeom prst="rect">
            <a:avLst/>
          </a:prstGeom>
        </p:spPr>
      </p:pic>
      <p:pic>
        <p:nvPicPr>
          <p:cNvPr id="5" name="Picture 4">
            <a:extLst>
              <a:ext uri="{FF2B5EF4-FFF2-40B4-BE49-F238E27FC236}">
                <a16:creationId xmlns:a16="http://schemas.microsoft.com/office/drawing/2014/main" id="{BD997E4F-94E3-ACD5-A540-8B0870DC07C0}"/>
              </a:ext>
            </a:extLst>
          </p:cNvPr>
          <p:cNvPicPr>
            <a:picLocks noChangeAspect="1"/>
          </p:cNvPicPr>
          <p:nvPr/>
        </p:nvPicPr>
        <p:blipFill>
          <a:blip r:embed="rId3"/>
          <a:stretch>
            <a:fillRect/>
          </a:stretch>
        </p:blipFill>
        <p:spPr>
          <a:xfrm>
            <a:off x="4892039" y="4088102"/>
            <a:ext cx="3338001" cy="2302070"/>
          </a:xfrm>
          <a:prstGeom prst="rect">
            <a:avLst/>
          </a:prstGeom>
        </p:spPr>
      </p:pic>
    </p:spTree>
    <p:extLst>
      <p:ext uri="{BB962C8B-B14F-4D97-AF65-F5344CB8AC3E}">
        <p14:creationId xmlns:p14="http://schemas.microsoft.com/office/powerpoint/2010/main" val="714657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E1799-2B8D-39C2-623F-14E20C4099E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934A135B-41A1-41C3-EBC8-A951C3CF4774}"/>
                  </a:ext>
                </a:extLst>
              </p:cNvPr>
              <p:cNvSpPr txBox="1"/>
              <p:nvPr/>
            </p:nvSpPr>
            <p:spPr>
              <a:xfrm>
                <a:off x="96012" y="745111"/>
                <a:ext cx="9432036" cy="6247864"/>
              </a:xfrm>
              <a:prstGeom prst="rect">
                <a:avLst/>
              </a:prstGeom>
              <a:noFill/>
            </p:spPr>
            <p:txBody>
              <a:bodyPr wrap="square">
                <a:spAutoFit/>
              </a:bodyPr>
              <a:lstStyle/>
              <a:p>
                <a:r>
                  <a:rPr lang="en-US" sz="2000" b="1" dirty="0">
                    <a:solidFill>
                      <a:schemeClr val="accent6">
                        <a:lumMod val="60000"/>
                        <a:lumOff val="40000"/>
                      </a:schemeClr>
                    </a:solidFill>
                  </a:rPr>
                  <a:t>Example</a:t>
                </a:r>
                <a:r>
                  <a:rPr lang="en-US" sz="2000" dirty="0">
                    <a:solidFill>
                      <a:schemeClr val="accent6">
                        <a:lumMod val="60000"/>
                        <a:lumOff val="40000"/>
                      </a:schemeClr>
                    </a:solidFill>
                  </a:rPr>
                  <a:t>: An AI system is asked to classify a single image as either </a:t>
                </a:r>
                <a:r>
                  <a:rPr lang="en-US" sz="2000" b="1" dirty="0">
                    <a:solidFill>
                      <a:schemeClr val="accent6">
                        <a:lumMod val="60000"/>
                        <a:lumOff val="40000"/>
                      </a:schemeClr>
                    </a:solidFill>
                  </a:rPr>
                  <a:t>cat</a:t>
                </a:r>
                <a:r>
                  <a:rPr lang="en-US" sz="2000" dirty="0">
                    <a:solidFill>
                      <a:schemeClr val="accent6">
                        <a:lumMod val="60000"/>
                        <a:lumOff val="40000"/>
                      </a:schemeClr>
                    </a:solidFill>
                  </a:rPr>
                  <a:t> or </a:t>
                </a:r>
                <a:r>
                  <a:rPr lang="en-US" sz="2000" b="1" dirty="0">
                    <a:solidFill>
                      <a:schemeClr val="accent6">
                        <a:lumMod val="60000"/>
                        <a:lumOff val="40000"/>
                      </a:schemeClr>
                    </a:solidFill>
                  </a:rPr>
                  <a:t>not cat</a:t>
                </a:r>
                <a:r>
                  <a:rPr lang="en-US" sz="2000" dirty="0">
                    <a:solidFill>
                      <a:schemeClr val="accent6">
                        <a:lumMod val="60000"/>
                        <a:lumOff val="40000"/>
                      </a:schemeClr>
                    </a:solidFill>
                  </a:rPr>
                  <a:t>.</a:t>
                </a:r>
              </a:p>
              <a:p>
                <a:r>
                  <a:rPr lang="en-US" sz="2000" dirty="0">
                    <a:solidFill>
                      <a:schemeClr val="accent6">
                        <a:lumMod val="60000"/>
                        <a:lumOff val="40000"/>
                      </a:schemeClr>
                    </a:solidFill>
                  </a:rPr>
                  <a:t>Let </a:t>
                </a:r>
                <a14:m>
                  <m:oMath xmlns:m="http://schemas.openxmlformats.org/officeDocument/2006/math">
                    <m:r>
                      <a:rPr lang="en-US" i="1">
                        <a:solidFill>
                          <a:schemeClr val="accent6">
                            <a:lumMod val="60000"/>
                            <a:lumOff val="40000"/>
                          </a:schemeClr>
                        </a:solidFill>
                        <a:latin typeface="Cambria Math" panose="02040503050406030204" pitchFamily="18" charset="0"/>
                      </a:rPr>
                      <m:t>𝑋</m:t>
                    </m:r>
                    <m:r>
                      <a:rPr lang="en-US">
                        <a:solidFill>
                          <a:schemeClr val="accent6">
                            <a:lumMod val="60000"/>
                            <a:lumOff val="40000"/>
                          </a:schemeClr>
                        </a:solidFill>
                        <a:latin typeface="Cambria Math" panose="02040503050406030204" pitchFamily="18" charset="0"/>
                      </a:rPr>
                      <m:t>=</m:t>
                    </m:r>
                    <m:r>
                      <a:rPr lang="en-US">
                        <a:solidFill>
                          <a:schemeClr val="accent6">
                            <a:lumMod val="60000"/>
                            <a:lumOff val="40000"/>
                          </a:schemeClr>
                        </a:solidFill>
                        <a:latin typeface="Cambria Math" panose="02040503050406030204" pitchFamily="18" charset="0"/>
                      </a:rPr>
                      <m:t>1</m:t>
                    </m:r>
                  </m:oMath>
                </a14:m>
                <a:r>
                  <a:rPr lang="en-US" sz="2000" dirty="0">
                    <a:solidFill>
                      <a:schemeClr val="accent6">
                        <a:lumMod val="60000"/>
                        <a:lumOff val="40000"/>
                      </a:schemeClr>
                    </a:solidFill>
                  </a:rPr>
                  <a:t>    if the AI correctly classifies the image.</a:t>
                </a:r>
              </a:p>
              <a:p>
                <a:r>
                  <a:rPr lang="en-US" sz="2000" dirty="0">
                    <a:solidFill>
                      <a:schemeClr val="accent6">
                        <a:lumMod val="60000"/>
                        <a:lumOff val="40000"/>
                      </a:schemeClr>
                    </a:solidFill>
                  </a:rPr>
                  <a:t>Let </a:t>
                </a:r>
                <a14:m>
                  <m:oMath xmlns:m="http://schemas.openxmlformats.org/officeDocument/2006/math">
                    <m:r>
                      <a:rPr lang="en-US" i="1">
                        <a:solidFill>
                          <a:schemeClr val="accent6">
                            <a:lumMod val="60000"/>
                            <a:lumOff val="40000"/>
                          </a:schemeClr>
                        </a:solidFill>
                        <a:latin typeface="Cambria Math" panose="02040503050406030204" pitchFamily="18" charset="0"/>
                      </a:rPr>
                      <m:t>𝑋</m:t>
                    </m:r>
                    <m:r>
                      <a:rPr lang="en-US">
                        <a:solidFill>
                          <a:schemeClr val="accent6">
                            <a:lumMod val="60000"/>
                            <a:lumOff val="40000"/>
                          </a:schemeClr>
                        </a:solidFill>
                        <a:latin typeface="Cambria Math" panose="02040503050406030204" pitchFamily="18" charset="0"/>
                      </a:rPr>
                      <m:t>=</m:t>
                    </m:r>
                    <m:r>
                      <a:rPr lang="en-US">
                        <a:solidFill>
                          <a:schemeClr val="accent6">
                            <a:lumMod val="60000"/>
                            <a:lumOff val="40000"/>
                          </a:schemeClr>
                        </a:solidFill>
                        <a:latin typeface="Cambria Math" panose="02040503050406030204" pitchFamily="18" charset="0"/>
                      </a:rPr>
                      <m:t>0</m:t>
                    </m:r>
                  </m:oMath>
                </a14:m>
                <a:r>
                  <a:rPr lang="en-US" sz="2000" dirty="0">
                    <a:solidFill>
                      <a:schemeClr val="accent6">
                        <a:lumMod val="60000"/>
                        <a:lumOff val="40000"/>
                      </a:schemeClr>
                    </a:solidFill>
                  </a:rPr>
                  <a:t>     if it misclassifies.</a:t>
                </a:r>
              </a:p>
              <a:p>
                <a:r>
                  <a:rPr lang="en-US" sz="2000" dirty="0">
                    <a:solidFill>
                      <a:schemeClr val="accent6">
                        <a:lumMod val="60000"/>
                        <a:lumOff val="40000"/>
                      </a:schemeClr>
                    </a:solidFill>
                  </a:rPr>
                  <a:t>Suppose the probability that the AI correctly classifies the image is </a:t>
                </a:r>
                <a14:m>
                  <m:oMath xmlns:m="http://schemas.openxmlformats.org/officeDocument/2006/math">
                    <m:r>
                      <a:rPr lang="en-US" i="1">
                        <a:solidFill>
                          <a:schemeClr val="accent6">
                            <a:lumMod val="60000"/>
                            <a:lumOff val="40000"/>
                          </a:schemeClr>
                        </a:solidFill>
                        <a:latin typeface="Cambria Math" panose="02040503050406030204" pitchFamily="18" charset="0"/>
                      </a:rPr>
                      <m:t>𝑝</m:t>
                    </m:r>
                    <m:r>
                      <a:rPr lang="en-US">
                        <a:solidFill>
                          <a:schemeClr val="accent6">
                            <a:lumMod val="60000"/>
                            <a:lumOff val="40000"/>
                          </a:schemeClr>
                        </a:solidFill>
                        <a:latin typeface="Cambria Math" panose="02040503050406030204" pitchFamily="18" charset="0"/>
                      </a:rPr>
                      <m:t>=</m:t>
                    </m:r>
                    <m:r>
                      <a:rPr lang="en-US">
                        <a:solidFill>
                          <a:schemeClr val="accent6">
                            <a:lumMod val="60000"/>
                            <a:lumOff val="40000"/>
                          </a:schemeClr>
                        </a:solidFill>
                        <a:latin typeface="Cambria Math" panose="02040503050406030204" pitchFamily="18" charset="0"/>
                      </a:rPr>
                      <m:t>0</m:t>
                    </m:r>
                    <m:r>
                      <a:rPr lang="en-US">
                        <a:solidFill>
                          <a:schemeClr val="accent6">
                            <a:lumMod val="60000"/>
                            <a:lumOff val="40000"/>
                          </a:schemeClr>
                        </a:solidFill>
                        <a:latin typeface="Cambria Math" panose="02040503050406030204" pitchFamily="18" charset="0"/>
                      </a:rPr>
                      <m:t>.</m:t>
                    </m:r>
                    <m:r>
                      <a:rPr lang="en-US">
                        <a:solidFill>
                          <a:schemeClr val="accent6">
                            <a:lumMod val="60000"/>
                            <a:lumOff val="40000"/>
                          </a:schemeClr>
                        </a:solidFill>
                        <a:latin typeface="Cambria Math" panose="02040503050406030204" pitchFamily="18" charset="0"/>
                      </a:rPr>
                      <m:t>9</m:t>
                    </m:r>
                  </m:oMath>
                </a14:m>
                <a:r>
                  <a:rPr lang="en-US" sz="2000" dirty="0">
                    <a:solidFill>
                      <a:schemeClr val="accent6">
                        <a:lumMod val="60000"/>
                        <a:lumOff val="40000"/>
                      </a:schemeClr>
                    </a:solidFill>
                  </a:rPr>
                  <a:t>.</a:t>
                </a:r>
              </a:p>
              <a:p>
                <a:r>
                  <a:rPr lang="en-US" sz="2000" dirty="0">
                    <a:solidFill>
                      <a:schemeClr val="accent6">
                        <a:lumMod val="60000"/>
                        <a:lumOff val="40000"/>
                      </a:schemeClr>
                    </a:solidFill>
                  </a:rPr>
                  <a:t>1) What is the PMF ?</a:t>
                </a:r>
              </a:p>
              <a:p>
                <a:r>
                  <a:rPr lang="en-US" sz="2000" dirty="0">
                    <a:solidFill>
                      <a:schemeClr val="accent6">
                        <a:lumMod val="60000"/>
                        <a:lumOff val="40000"/>
                      </a:schemeClr>
                    </a:solidFill>
                  </a:rPr>
                  <a:t>2) If we repeat the classification process once more (independently), what is the probability that </a:t>
                </a:r>
                <a:r>
                  <a:rPr lang="en-US" sz="2000" b="1" dirty="0">
                    <a:solidFill>
                      <a:schemeClr val="accent6">
                        <a:lumMod val="60000"/>
                        <a:lumOff val="40000"/>
                      </a:schemeClr>
                    </a:solidFill>
                  </a:rPr>
                  <a:t>both classifications are correct</a:t>
                </a:r>
                <a:r>
                  <a:rPr lang="en-US" sz="2000" dirty="0">
                    <a:solidFill>
                      <a:schemeClr val="accent6">
                        <a:lumMod val="60000"/>
                        <a:lumOff val="40000"/>
                      </a:schemeClr>
                    </a:solidFill>
                  </a:rPr>
                  <a:t>?</a:t>
                </a:r>
              </a:p>
              <a:p>
                <a:endParaRPr lang="en-US" sz="2000" dirty="0">
                  <a:solidFill>
                    <a:schemeClr val="accent6">
                      <a:lumMod val="60000"/>
                      <a:lumOff val="40000"/>
                    </a:schemeClr>
                  </a:solidFill>
                </a:endParaRPr>
              </a:p>
              <a:p>
                <a:r>
                  <a:rPr lang="en-US" sz="2000" b="1" dirty="0">
                    <a:solidFill>
                      <a:schemeClr val="accent6">
                        <a:lumMod val="60000"/>
                        <a:lumOff val="40000"/>
                      </a:schemeClr>
                    </a:solidFill>
                  </a:rPr>
                  <a:t>Ans:</a:t>
                </a:r>
                <a:r>
                  <a:rPr lang="en-US" sz="2000" dirty="0">
                    <a:solidFill>
                      <a:schemeClr val="accent6">
                        <a:lumMod val="60000"/>
                        <a:lumOff val="40000"/>
                      </a:schemeClr>
                    </a:solidFill>
                  </a:rPr>
                  <a:t> </a:t>
                </a:r>
              </a:p>
              <a:p>
                <a:r>
                  <a:rPr lang="en-US" sz="2000" dirty="0">
                    <a:solidFill>
                      <a:schemeClr val="accent6">
                        <a:lumMod val="60000"/>
                        <a:lumOff val="40000"/>
                      </a:schemeClr>
                    </a:solidFill>
                  </a:rPr>
                  <a:t>1) Here P(X=1</a:t>
                </a:r>
                <a:r>
                  <a:rPr lang="en-US" sz="2000">
                    <a:solidFill>
                      <a:schemeClr val="accent6">
                        <a:lumMod val="60000"/>
                        <a:lumOff val="40000"/>
                      </a:schemeClr>
                    </a:solidFill>
                  </a:rPr>
                  <a:t>)   = </a:t>
                </a:r>
                <a:r>
                  <a:rPr lang="en-US" sz="2000" dirty="0">
                    <a:solidFill>
                      <a:schemeClr val="accent6">
                        <a:lumMod val="60000"/>
                        <a:lumOff val="40000"/>
                      </a:schemeClr>
                    </a:solidFill>
                  </a:rPr>
                  <a:t>0.90 is the probability of correct classification.</a:t>
                </a:r>
              </a:p>
              <a:p>
                <a:r>
                  <a:rPr lang="en-US" sz="2000" dirty="0">
                    <a:solidFill>
                      <a:schemeClr val="accent6">
                        <a:lumMod val="60000"/>
                        <a:lumOff val="40000"/>
                      </a:schemeClr>
                    </a:solidFill>
                  </a:rPr>
                  <a:t>              P(X = 0) = 1 – 0.90 = 0.10 = 10 % , probability of misclassifying</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So, PMF is </a:t>
                </a:r>
              </a:p>
              <a:p>
                <a:r>
                  <a:rPr lang="en-US" sz="2000" dirty="0">
                    <a:solidFill>
                      <a:schemeClr val="accent6">
                        <a:lumMod val="60000"/>
                        <a:lumOff val="40000"/>
                      </a:schemeClr>
                    </a:solidFill>
                  </a:rPr>
                  <a:t>       P(X = 1)   = 0.90    (correct classification)</a:t>
                </a:r>
              </a:p>
              <a:p>
                <a:r>
                  <a:rPr lang="en-US" sz="2000" dirty="0">
                    <a:solidFill>
                      <a:schemeClr val="accent6">
                        <a:lumMod val="60000"/>
                        <a:lumOff val="40000"/>
                      </a:schemeClr>
                    </a:solidFill>
                  </a:rPr>
                  <a:t>       P(X = 0)   = 0.10    (incorrect classification)</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2)   P(both classification correct) = P (X=1 and X=1)</a:t>
                </a:r>
              </a:p>
              <a:p>
                <a:r>
                  <a:rPr lang="en-US" sz="2000" dirty="0">
                    <a:solidFill>
                      <a:schemeClr val="accent6">
                        <a:lumMod val="60000"/>
                        <a:lumOff val="40000"/>
                      </a:schemeClr>
                    </a:solidFill>
                  </a:rPr>
                  <a:t>   = P(X=1)  x  P(X=2)      (because classification processes are independent)</a:t>
                </a:r>
              </a:p>
              <a:p>
                <a:r>
                  <a:rPr lang="en-US" sz="2000" dirty="0">
                    <a:solidFill>
                      <a:schemeClr val="accent6">
                        <a:lumMod val="60000"/>
                        <a:lumOff val="40000"/>
                      </a:schemeClr>
                    </a:solidFill>
                  </a:rPr>
                  <a:t>   = 0.9 x 0.9 </a:t>
                </a:r>
              </a:p>
              <a:p>
                <a:r>
                  <a:rPr lang="en-US" sz="2000" dirty="0">
                    <a:solidFill>
                      <a:schemeClr val="accent6">
                        <a:lumMod val="60000"/>
                        <a:lumOff val="40000"/>
                      </a:schemeClr>
                    </a:solidFill>
                  </a:rPr>
                  <a:t>   = 0.81 = 81%</a:t>
                </a:r>
              </a:p>
            </p:txBody>
          </p:sp>
        </mc:Choice>
        <mc:Fallback>
          <p:sp>
            <p:nvSpPr>
              <p:cNvPr id="13" name="TextBox 12">
                <a:extLst>
                  <a:ext uri="{FF2B5EF4-FFF2-40B4-BE49-F238E27FC236}">
                    <a16:creationId xmlns:a16="http://schemas.microsoft.com/office/drawing/2014/main" id="{934A135B-41A1-41C3-EBC8-A951C3CF4774}"/>
                  </a:ext>
                </a:extLst>
              </p:cNvPr>
              <p:cNvSpPr txBox="1">
                <a:spLocks noRot="1" noChangeAspect="1" noMove="1" noResize="1" noEditPoints="1" noAdjustHandles="1" noChangeArrowheads="1" noChangeShapeType="1" noTextEdit="1"/>
              </p:cNvSpPr>
              <p:nvPr/>
            </p:nvSpPr>
            <p:spPr>
              <a:xfrm>
                <a:off x="96012" y="745111"/>
                <a:ext cx="9432036" cy="6247864"/>
              </a:xfrm>
              <a:prstGeom prst="rect">
                <a:avLst/>
              </a:prstGeom>
              <a:blipFill>
                <a:blip r:embed="rId2"/>
                <a:stretch>
                  <a:fillRect l="-711" t="-488" b="-780"/>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94D48598-477B-3847-5549-E943870C80AB}"/>
              </a:ext>
            </a:extLst>
          </p:cNvPr>
          <p:cNvSpPr>
            <a:spLocks noGrp="1"/>
          </p:cNvSpPr>
          <p:nvPr>
            <p:ph type="title"/>
          </p:nvPr>
        </p:nvSpPr>
        <p:spPr>
          <a:xfrm>
            <a:off x="301752" y="191389"/>
            <a:ext cx="11052048" cy="604139"/>
          </a:xfrm>
        </p:spPr>
        <p:txBody>
          <a:bodyPr>
            <a:noAutofit/>
          </a:bodyPr>
          <a:lstStyle/>
          <a:p>
            <a:pPr algn="ctr"/>
            <a:r>
              <a:rPr lang="en-US" sz="2800" b="1" dirty="0"/>
              <a:t>Bernoulli Distribution</a:t>
            </a:r>
            <a:endParaRPr lang="en-US" sz="2800" dirty="0"/>
          </a:p>
        </p:txBody>
      </p:sp>
      <p:pic>
        <p:nvPicPr>
          <p:cNvPr id="3" name="Picture 2">
            <a:extLst>
              <a:ext uri="{FF2B5EF4-FFF2-40B4-BE49-F238E27FC236}">
                <a16:creationId xmlns:a16="http://schemas.microsoft.com/office/drawing/2014/main" id="{55F4CE04-8106-C5B9-0D00-7A5F01A46B38}"/>
              </a:ext>
            </a:extLst>
          </p:cNvPr>
          <p:cNvPicPr>
            <a:picLocks noChangeAspect="1"/>
          </p:cNvPicPr>
          <p:nvPr/>
        </p:nvPicPr>
        <p:blipFill>
          <a:blip r:embed="rId3"/>
          <a:stretch>
            <a:fillRect/>
          </a:stretch>
        </p:blipFill>
        <p:spPr>
          <a:xfrm>
            <a:off x="8036837" y="4206240"/>
            <a:ext cx="2045947" cy="1729666"/>
          </a:xfrm>
          <a:prstGeom prst="rect">
            <a:avLst/>
          </a:prstGeom>
        </p:spPr>
      </p:pic>
      <p:pic>
        <p:nvPicPr>
          <p:cNvPr id="2" name="Picture 1">
            <a:extLst>
              <a:ext uri="{FF2B5EF4-FFF2-40B4-BE49-F238E27FC236}">
                <a16:creationId xmlns:a16="http://schemas.microsoft.com/office/drawing/2014/main" id="{73DF36EB-6F4C-3BD6-F1ED-05F485293DE9}"/>
              </a:ext>
            </a:extLst>
          </p:cNvPr>
          <p:cNvPicPr>
            <a:picLocks noChangeAspect="1"/>
          </p:cNvPicPr>
          <p:nvPr/>
        </p:nvPicPr>
        <p:blipFill>
          <a:blip r:embed="rId4"/>
          <a:stretch>
            <a:fillRect/>
          </a:stretch>
        </p:blipFill>
        <p:spPr>
          <a:xfrm>
            <a:off x="7639120" y="57754"/>
            <a:ext cx="2296529" cy="737774"/>
          </a:xfrm>
          <a:prstGeom prst="rect">
            <a:avLst/>
          </a:prstGeom>
        </p:spPr>
      </p:pic>
    </p:spTree>
    <p:extLst>
      <p:ext uri="{BB962C8B-B14F-4D97-AF65-F5344CB8AC3E}">
        <p14:creationId xmlns:p14="http://schemas.microsoft.com/office/powerpoint/2010/main" val="355313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7E71E-0C6C-C0F7-58FC-4401ABA2C41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B09BF9C-E305-C732-320C-267B5460EB15}"/>
              </a:ext>
            </a:extLst>
          </p:cNvPr>
          <p:cNvSpPr>
            <a:spLocks noGrp="1"/>
          </p:cNvSpPr>
          <p:nvPr>
            <p:ph type="title"/>
          </p:nvPr>
        </p:nvSpPr>
        <p:spPr>
          <a:xfrm>
            <a:off x="301752" y="191389"/>
            <a:ext cx="11052048" cy="604139"/>
          </a:xfrm>
        </p:spPr>
        <p:txBody>
          <a:bodyPr>
            <a:noAutofit/>
          </a:bodyPr>
          <a:lstStyle/>
          <a:p>
            <a:pPr algn="ctr"/>
            <a:r>
              <a:rPr lang="en-US" sz="2800" b="1" dirty="0"/>
              <a:t>STOP</a:t>
            </a:r>
            <a:endParaRPr lang="en-US" sz="2800" dirty="0"/>
          </a:p>
        </p:txBody>
      </p:sp>
    </p:spTree>
    <p:extLst>
      <p:ext uri="{BB962C8B-B14F-4D97-AF65-F5344CB8AC3E}">
        <p14:creationId xmlns:p14="http://schemas.microsoft.com/office/powerpoint/2010/main" val="2920397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28045-52EC-439D-2F42-6ACA75D4134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EFDA2AF-2F71-B722-3A1A-32B44A4C40B8}"/>
                  </a:ext>
                </a:extLst>
              </p:cNvPr>
              <p:cNvSpPr txBox="1"/>
              <p:nvPr/>
            </p:nvSpPr>
            <p:spPr>
              <a:xfrm>
                <a:off x="96012" y="1284607"/>
                <a:ext cx="9432036" cy="3751733"/>
              </a:xfrm>
              <a:prstGeom prst="rect">
                <a:avLst/>
              </a:prstGeom>
              <a:noFill/>
            </p:spPr>
            <p:txBody>
              <a:bodyPr wrap="square">
                <a:spAutoFit/>
              </a:bodyPr>
              <a:lstStyle/>
              <a:p>
                <a:r>
                  <a:rPr lang="en-US" sz="2000" b="1" dirty="0">
                    <a:solidFill>
                      <a:schemeClr val="accent6">
                        <a:lumMod val="60000"/>
                        <a:lumOff val="40000"/>
                      </a:schemeClr>
                    </a:solidFill>
                  </a:rPr>
                  <a:t>Key statistics:</a:t>
                </a:r>
              </a:p>
              <a:p>
                <a:endParaRPr lang="en-US" sz="2000" b="1" dirty="0">
                  <a:solidFill>
                    <a:schemeClr val="accent6">
                      <a:lumMod val="60000"/>
                      <a:lumOff val="40000"/>
                    </a:schemeClr>
                  </a:solidFill>
                </a:endParaRPr>
              </a:p>
              <a:p>
                <a:endParaRPr lang="en-US" sz="2000" b="1" dirty="0">
                  <a:solidFill>
                    <a:schemeClr val="accent6">
                      <a:lumMod val="60000"/>
                      <a:lumOff val="40000"/>
                    </a:schemeClr>
                  </a:solidFill>
                </a:endParaRPr>
              </a:p>
              <a:p>
                <a:r>
                  <a:rPr lang="en-US" sz="2000" b="1" dirty="0">
                    <a:solidFill>
                      <a:schemeClr val="accent6">
                        <a:lumMod val="60000"/>
                        <a:lumOff val="40000"/>
                      </a:schemeClr>
                    </a:solidFill>
                  </a:rPr>
                  <a:t>Mean (Expected value)</a:t>
                </a:r>
                <a:r>
                  <a:rPr lang="en-US" sz="2000" dirty="0">
                    <a:solidFill>
                      <a:schemeClr val="accent6">
                        <a:lumMod val="60000"/>
                        <a:lumOff val="40000"/>
                      </a:schemeClr>
                    </a:solidFill>
                  </a:rPr>
                  <a:t>:</a:t>
                </a:r>
              </a:p>
              <a:p>
                <a:pPr/>
                <a14:m>
                  <m:oMathPara xmlns:m="http://schemas.openxmlformats.org/officeDocument/2006/math">
                    <m:oMathParaPr>
                      <m:jc m:val="centerGroup"/>
                    </m:oMathParaPr>
                    <m:oMath xmlns:m="http://schemas.openxmlformats.org/officeDocument/2006/math">
                      <m:r>
                        <a:rPr lang="en-US" i="1">
                          <a:solidFill>
                            <a:schemeClr val="accent6">
                              <a:lumMod val="60000"/>
                              <a:lumOff val="40000"/>
                            </a:schemeClr>
                          </a:solidFill>
                          <a:latin typeface="Cambria Math" panose="02040503050406030204" pitchFamily="18" charset="0"/>
                        </a:rPr>
                        <m:t>𝜇</m:t>
                      </m:r>
                      <m:r>
                        <a:rPr lang="en-US">
                          <a:solidFill>
                            <a:schemeClr val="accent6">
                              <a:lumMod val="60000"/>
                              <a:lumOff val="40000"/>
                            </a:schemeClr>
                          </a:solidFill>
                          <a:latin typeface="Cambria Math" panose="02040503050406030204" pitchFamily="18" charset="0"/>
                        </a:rPr>
                        <m:t>=</m:t>
                      </m:r>
                      <m:r>
                        <a:rPr lang="en-US" i="1">
                          <a:solidFill>
                            <a:schemeClr val="accent6">
                              <a:lumMod val="60000"/>
                              <a:lumOff val="40000"/>
                            </a:schemeClr>
                          </a:solidFill>
                          <a:latin typeface="Cambria Math" panose="02040503050406030204" pitchFamily="18" charset="0"/>
                        </a:rPr>
                        <m:t>𝐸</m:t>
                      </m:r>
                      <m:d>
                        <m:dPr>
                          <m:begChr m:val="["/>
                          <m:endChr m:val="]"/>
                          <m:ctrlPr>
                            <a:rPr lang="ar-AE" i="1">
                              <a:solidFill>
                                <a:schemeClr val="accent6">
                                  <a:lumMod val="60000"/>
                                  <a:lumOff val="40000"/>
                                </a:schemeClr>
                              </a:solidFill>
                              <a:latin typeface="Cambria Math" panose="02040503050406030204" pitchFamily="18" charset="0"/>
                            </a:rPr>
                          </m:ctrlPr>
                        </m:dPr>
                        <m:e>
                          <m:r>
                            <a:rPr lang="ar-AE" i="1">
                              <a:solidFill>
                                <a:schemeClr val="accent6">
                                  <a:lumMod val="60000"/>
                                  <a:lumOff val="40000"/>
                                </a:schemeClr>
                              </a:solidFill>
                              <a:latin typeface="Cambria Math" panose="02040503050406030204" pitchFamily="18" charset="0"/>
                            </a:rPr>
                            <m:t>𝑋</m:t>
                          </m:r>
                        </m:e>
                      </m:d>
                      <m:r>
                        <a:rPr lang="ar-AE">
                          <a:solidFill>
                            <a:schemeClr val="accent6">
                              <a:lumMod val="60000"/>
                              <a:lumOff val="40000"/>
                            </a:schemeClr>
                          </a:solidFill>
                          <a:latin typeface="Cambria Math" panose="02040503050406030204" pitchFamily="18" charset="0"/>
                        </a:rPr>
                        <m:t>=</m:t>
                      </m:r>
                      <m:r>
                        <a:rPr lang="ar-AE" i="1">
                          <a:solidFill>
                            <a:schemeClr val="accent6">
                              <a:lumMod val="60000"/>
                              <a:lumOff val="40000"/>
                            </a:schemeClr>
                          </a:solidFill>
                          <a:latin typeface="Cambria Math" panose="02040503050406030204" pitchFamily="18" charset="0"/>
                        </a:rPr>
                        <m:t>𝑝</m:t>
                      </m:r>
                    </m:oMath>
                  </m:oMathPara>
                </a14:m>
                <a:endParaRPr lang="ar-AE" sz="2000" dirty="0">
                  <a:solidFill>
                    <a:schemeClr val="accent6">
                      <a:lumMod val="60000"/>
                      <a:lumOff val="40000"/>
                    </a:schemeClr>
                  </a:solidFill>
                </a:endParaRPr>
              </a:p>
              <a:p>
                <a:endParaRPr lang="en-US" sz="2000" b="1" dirty="0">
                  <a:solidFill>
                    <a:schemeClr val="accent6">
                      <a:lumMod val="60000"/>
                      <a:lumOff val="40000"/>
                    </a:schemeClr>
                  </a:solidFill>
                </a:endParaRPr>
              </a:p>
              <a:p>
                <a:r>
                  <a:rPr lang="en-US" sz="2000" b="1" dirty="0">
                    <a:solidFill>
                      <a:schemeClr val="accent6">
                        <a:lumMod val="60000"/>
                        <a:lumOff val="40000"/>
                      </a:schemeClr>
                    </a:solidFill>
                  </a:rPr>
                  <a:t>Variance</a:t>
                </a:r>
                <a:r>
                  <a:rPr lang="en-US" sz="2000" dirty="0">
                    <a:solidFill>
                      <a:schemeClr val="accent6">
                        <a:lumMod val="60000"/>
                        <a:lumOff val="40000"/>
                      </a:schemeClr>
                    </a:solidFill>
                  </a:rPr>
                  <a:t>:</a:t>
                </a:r>
              </a:p>
              <a:p>
                <a:pPr/>
                <a14:m>
                  <m:oMathPara xmlns:m="http://schemas.openxmlformats.org/officeDocument/2006/math">
                    <m:oMathParaPr>
                      <m:jc m:val="centerGroup"/>
                    </m:oMathParaPr>
                    <m:oMath xmlns:m="http://schemas.openxmlformats.org/officeDocument/2006/math">
                      <m:sSup>
                        <m:sSupPr>
                          <m:ctrlPr>
                            <a:rPr lang="ar-AE" i="1">
                              <a:solidFill>
                                <a:schemeClr val="accent6">
                                  <a:lumMod val="60000"/>
                                  <a:lumOff val="40000"/>
                                </a:schemeClr>
                              </a:solidFill>
                              <a:latin typeface="Cambria Math" panose="02040503050406030204" pitchFamily="18" charset="0"/>
                            </a:rPr>
                          </m:ctrlPr>
                        </m:sSupPr>
                        <m:e>
                          <m:r>
                            <a:rPr lang="ar-AE" i="1">
                              <a:solidFill>
                                <a:schemeClr val="accent6">
                                  <a:lumMod val="60000"/>
                                  <a:lumOff val="40000"/>
                                </a:schemeClr>
                              </a:solidFill>
                              <a:latin typeface="Cambria Math" panose="02040503050406030204" pitchFamily="18" charset="0"/>
                            </a:rPr>
                            <m:t>𝜎</m:t>
                          </m:r>
                        </m:e>
                        <m:sup>
                          <m:r>
                            <a:rPr lang="ar-AE">
                              <a:solidFill>
                                <a:schemeClr val="accent6">
                                  <a:lumMod val="60000"/>
                                  <a:lumOff val="40000"/>
                                </a:schemeClr>
                              </a:solidFill>
                              <a:latin typeface="Cambria Math" panose="02040503050406030204" pitchFamily="18" charset="0"/>
                            </a:rPr>
                            <m:t>2</m:t>
                          </m:r>
                        </m:sup>
                      </m:sSup>
                      <m:r>
                        <a:rPr lang="ar-AE">
                          <a:solidFill>
                            <a:schemeClr val="accent6">
                              <a:lumMod val="60000"/>
                              <a:lumOff val="40000"/>
                            </a:schemeClr>
                          </a:solidFill>
                          <a:latin typeface="Cambria Math" panose="02040503050406030204" pitchFamily="18" charset="0"/>
                        </a:rPr>
                        <m:t>=</m:t>
                      </m:r>
                      <m:r>
                        <a:rPr lang="ar-AE" i="1">
                          <a:solidFill>
                            <a:schemeClr val="accent6">
                              <a:lumMod val="60000"/>
                              <a:lumOff val="40000"/>
                            </a:schemeClr>
                          </a:solidFill>
                          <a:latin typeface="Cambria Math" panose="02040503050406030204" pitchFamily="18" charset="0"/>
                        </a:rPr>
                        <m:t>𝑉𝑎𝑟</m:t>
                      </m:r>
                      <m:d>
                        <m:dPr>
                          <m:ctrlPr>
                            <a:rPr lang="ar-AE" i="1">
                              <a:solidFill>
                                <a:schemeClr val="accent6">
                                  <a:lumMod val="60000"/>
                                  <a:lumOff val="40000"/>
                                </a:schemeClr>
                              </a:solidFill>
                              <a:latin typeface="Cambria Math" panose="02040503050406030204" pitchFamily="18" charset="0"/>
                            </a:rPr>
                          </m:ctrlPr>
                        </m:dPr>
                        <m:e>
                          <m:r>
                            <a:rPr lang="ar-AE" i="1">
                              <a:solidFill>
                                <a:schemeClr val="accent6">
                                  <a:lumMod val="60000"/>
                                  <a:lumOff val="40000"/>
                                </a:schemeClr>
                              </a:solidFill>
                              <a:latin typeface="Cambria Math" panose="02040503050406030204" pitchFamily="18" charset="0"/>
                            </a:rPr>
                            <m:t>𝑋</m:t>
                          </m:r>
                        </m:e>
                      </m:d>
                      <m:r>
                        <a:rPr lang="ar-AE">
                          <a:solidFill>
                            <a:schemeClr val="accent6">
                              <a:lumMod val="60000"/>
                              <a:lumOff val="40000"/>
                            </a:schemeClr>
                          </a:solidFill>
                          <a:latin typeface="Cambria Math" panose="02040503050406030204" pitchFamily="18" charset="0"/>
                        </a:rPr>
                        <m:t>=</m:t>
                      </m:r>
                      <m:r>
                        <a:rPr lang="ar-AE" i="1">
                          <a:solidFill>
                            <a:schemeClr val="accent6">
                              <a:lumMod val="60000"/>
                              <a:lumOff val="40000"/>
                            </a:schemeClr>
                          </a:solidFill>
                          <a:latin typeface="Cambria Math" panose="02040503050406030204" pitchFamily="18" charset="0"/>
                        </a:rPr>
                        <m:t>𝑝</m:t>
                      </m:r>
                      <m:d>
                        <m:dPr>
                          <m:ctrlPr>
                            <a:rPr lang="ar-AE" i="1">
                              <a:solidFill>
                                <a:schemeClr val="accent6">
                                  <a:lumMod val="60000"/>
                                  <a:lumOff val="40000"/>
                                </a:schemeClr>
                              </a:solidFill>
                              <a:latin typeface="Cambria Math" panose="02040503050406030204" pitchFamily="18" charset="0"/>
                            </a:rPr>
                          </m:ctrlPr>
                        </m:dPr>
                        <m:e>
                          <m:r>
                            <a:rPr lang="ar-AE">
                              <a:solidFill>
                                <a:schemeClr val="accent6">
                                  <a:lumMod val="60000"/>
                                  <a:lumOff val="40000"/>
                                </a:schemeClr>
                              </a:solidFill>
                              <a:latin typeface="Cambria Math" panose="02040503050406030204" pitchFamily="18" charset="0"/>
                            </a:rPr>
                            <m:t>1</m:t>
                          </m:r>
                          <m:r>
                            <a:rPr lang="ar-AE">
                              <a:solidFill>
                                <a:schemeClr val="accent6">
                                  <a:lumMod val="60000"/>
                                  <a:lumOff val="40000"/>
                                </a:schemeClr>
                              </a:solidFill>
                              <a:latin typeface="Cambria Math" panose="02040503050406030204" pitchFamily="18" charset="0"/>
                            </a:rPr>
                            <m:t>−</m:t>
                          </m:r>
                          <m:r>
                            <a:rPr lang="ar-AE" i="1">
                              <a:solidFill>
                                <a:schemeClr val="accent6">
                                  <a:lumMod val="60000"/>
                                  <a:lumOff val="40000"/>
                                </a:schemeClr>
                              </a:solidFill>
                              <a:latin typeface="Cambria Math" panose="02040503050406030204" pitchFamily="18" charset="0"/>
                            </a:rPr>
                            <m:t>𝑝</m:t>
                          </m:r>
                        </m:e>
                      </m:d>
                    </m:oMath>
                  </m:oMathPara>
                </a14:m>
                <a:endParaRPr lang="ar-AE" sz="2000" dirty="0">
                  <a:solidFill>
                    <a:schemeClr val="accent6">
                      <a:lumMod val="60000"/>
                      <a:lumOff val="40000"/>
                    </a:schemeClr>
                  </a:solidFill>
                </a:endParaRPr>
              </a:p>
              <a:p>
                <a:endParaRPr lang="en-US" sz="2000" b="1" dirty="0">
                  <a:solidFill>
                    <a:schemeClr val="accent6">
                      <a:lumMod val="60000"/>
                      <a:lumOff val="40000"/>
                    </a:schemeClr>
                  </a:solidFill>
                </a:endParaRPr>
              </a:p>
              <a:p>
                <a:endParaRPr lang="en-US" sz="2000" b="1" dirty="0">
                  <a:solidFill>
                    <a:schemeClr val="accent6">
                      <a:lumMod val="60000"/>
                      <a:lumOff val="40000"/>
                    </a:schemeClr>
                  </a:solidFill>
                </a:endParaRPr>
              </a:p>
              <a:p>
                <a:r>
                  <a:rPr lang="en-US" sz="2000" b="1" dirty="0">
                    <a:solidFill>
                      <a:schemeClr val="accent6">
                        <a:lumMod val="60000"/>
                        <a:lumOff val="40000"/>
                      </a:schemeClr>
                    </a:solidFill>
                  </a:rPr>
                  <a:t>Standard deviation</a:t>
                </a:r>
                <a:r>
                  <a:rPr lang="en-US" sz="2000" dirty="0">
                    <a:solidFill>
                      <a:schemeClr val="accent6">
                        <a:lumMod val="60000"/>
                        <a:lumOff val="40000"/>
                      </a:schemeClr>
                    </a:solidFill>
                  </a:rPr>
                  <a:t>:</a:t>
                </a:r>
              </a:p>
              <a:p>
                <a:pPr/>
                <a14:m>
                  <m:oMathPara xmlns:m="http://schemas.openxmlformats.org/officeDocument/2006/math">
                    <m:oMathParaPr>
                      <m:jc m:val="centerGroup"/>
                    </m:oMathParaPr>
                    <m:oMath xmlns:m="http://schemas.openxmlformats.org/officeDocument/2006/math">
                      <m:r>
                        <a:rPr lang="en-US" i="1">
                          <a:solidFill>
                            <a:schemeClr val="accent6">
                              <a:lumMod val="60000"/>
                              <a:lumOff val="40000"/>
                            </a:schemeClr>
                          </a:solidFill>
                          <a:latin typeface="Cambria Math" panose="02040503050406030204" pitchFamily="18" charset="0"/>
                        </a:rPr>
                        <m:t>𝜎</m:t>
                      </m:r>
                      <m:r>
                        <a:rPr lang="en-US">
                          <a:solidFill>
                            <a:schemeClr val="accent6">
                              <a:lumMod val="60000"/>
                              <a:lumOff val="40000"/>
                            </a:schemeClr>
                          </a:solidFill>
                          <a:latin typeface="Cambria Math" panose="02040503050406030204" pitchFamily="18" charset="0"/>
                        </a:rPr>
                        <m:t>=</m:t>
                      </m:r>
                      <m:rad>
                        <m:radPr>
                          <m:degHide m:val="on"/>
                          <m:ctrlPr>
                            <a:rPr lang="ar-AE" i="1">
                              <a:solidFill>
                                <a:schemeClr val="accent6">
                                  <a:lumMod val="60000"/>
                                  <a:lumOff val="40000"/>
                                </a:schemeClr>
                              </a:solidFill>
                              <a:latin typeface="Cambria Math" panose="02040503050406030204" pitchFamily="18" charset="0"/>
                            </a:rPr>
                          </m:ctrlPr>
                        </m:radPr>
                        <m:deg/>
                        <m:e>
                          <m:r>
                            <a:rPr lang="ar-AE" i="1">
                              <a:solidFill>
                                <a:schemeClr val="accent6">
                                  <a:lumMod val="60000"/>
                                  <a:lumOff val="40000"/>
                                </a:schemeClr>
                              </a:solidFill>
                              <a:latin typeface="Cambria Math" panose="02040503050406030204" pitchFamily="18" charset="0"/>
                            </a:rPr>
                            <m:t>𝑝</m:t>
                          </m:r>
                          <m:d>
                            <m:dPr>
                              <m:ctrlPr>
                                <a:rPr lang="ar-AE" i="1">
                                  <a:solidFill>
                                    <a:schemeClr val="accent6">
                                      <a:lumMod val="60000"/>
                                      <a:lumOff val="40000"/>
                                    </a:schemeClr>
                                  </a:solidFill>
                                  <a:latin typeface="Cambria Math" panose="02040503050406030204" pitchFamily="18" charset="0"/>
                                </a:rPr>
                              </m:ctrlPr>
                            </m:dPr>
                            <m:e>
                              <m:r>
                                <a:rPr lang="ar-AE">
                                  <a:solidFill>
                                    <a:schemeClr val="accent6">
                                      <a:lumMod val="60000"/>
                                      <a:lumOff val="40000"/>
                                    </a:schemeClr>
                                  </a:solidFill>
                                  <a:latin typeface="Cambria Math" panose="02040503050406030204" pitchFamily="18" charset="0"/>
                                </a:rPr>
                                <m:t>1</m:t>
                              </m:r>
                              <m:r>
                                <a:rPr lang="ar-AE">
                                  <a:solidFill>
                                    <a:schemeClr val="accent6">
                                      <a:lumMod val="60000"/>
                                      <a:lumOff val="40000"/>
                                    </a:schemeClr>
                                  </a:solidFill>
                                  <a:latin typeface="Cambria Math" panose="02040503050406030204" pitchFamily="18" charset="0"/>
                                </a:rPr>
                                <m:t>−</m:t>
                              </m:r>
                              <m:r>
                                <a:rPr lang="ar-AE" i="1">
                                  <a:solidFill>
                                    <a:schemeClr val="accent6">
                                      <a:lumMod val="60000"/>
                                      <a:lumOff val="40000"/>
                                    </a:schemeClr>
                                  </a:solidFill>
                                  <a:latin typeface="Cambria Math" panose="02040503050406030204" pitchFamily="18" charset="0"/>
                                </a:rPr>
                                <m:t>𝑝</m:t>
                              </m:r>
                            </m:e>
                          </m:d>
                        </m:e>
                      </m:rad>
                    </m:oMath>
                  </m:oMathPara>
                </a14:m>
                <a:endParaRPr lang="ar-AE" sz="2000" dirty="0">
                  <a:solidFill>
                    <a:schemeClr val="accent6">
                      <a:lumMod val="60000"/>
                      <a:lumOff val="40000"/>
                    </a:schemeClr>
                  </a:solidFill>
                </a:endParaRPr>
              </a:p>
            </p:txBody>
          </p:sp>
        </mc:Choice>
        <mc:Fallback xmlns="">
          <p:sp>
            <p:nvSpPr>
              <p:cNvPr id="13" name="TextBox 12">
                <a:extLst>
                  <a:ext uri="{FF2B5EF4-FFF2-40B4-BE49-F238E27FC236}">
                    <a16:creationId xmlns:a16="http://schemas.microsoft.com/office/drawing/2014/main" id="{4EFDA2AF-2F71-B722-3A1A-32B44A4C40B8}"/>
                  </a:ext>
                </a:extLst>
              </p:cNvPr>
              <p:cNvSpPr txBox="1">
                <a:spLocks noRot="1" noChangeAspect="1" noMove="1" noResize="1" noEditPoints="1" noAdjustHandles="1" noChangeArrowheads="1" noChangeShapeType="1" noTextEdit="1"/>
              </p:cNvSpPr>
              <p:nvPr/>
            </p:nvSpPr>
            <p:spPr>
              <a:xfrm>
                <a:off x="96012" y="1284607"/>
                <a:ext cx="9432036" cy="3751733"/>
              </a:xfrm>
              <a:prstGeom prst="rect">
                <a:avLst/>
              </a:prstGeom>
              <a:blipFill>
                <a:blip r:embed="rId2"/>
                <a:stretch>
                  <a:fillRect l="-711" t="-976"/>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F7B0E6C4-A53B-6C69-78BF-A687E2320745}"/>
              </a:ext>
            </a:extLst>
          </p:cNvPr>
          <p:cNvSpPr>
            <a:spLocks noGrp="1"/>
          </p:cNvSpPr>
          <p:nvPr>
            <p:ph type="title"/>
          </p:nvPr>
        </p:nvSpPr>
        <p:spPr>
          <a:xfrm>
            <a:off x="301752" y="191389"/>
            <a:ext cx="11052048" cy="604139"/>
          </a:xfrm>
        </p:spPr>
        <p:txBody>
          <a:bodyPr>
            <a:noAutofit/>
          </a:bodyPr>
          <a:lstStyle/>
          <a:p>
            <a:pPr algn="ctr"/>
            <a:r>
              <a:rPr lang="en-US" sz="2800" b="1" dirty="0"/>
              <a:t>Bernoulli Distribution</a:t>
            </a:r>
            <a:endParaRPr lang="en-US" sz="2800" dirty="0"/>
          </a:p>
        </p:txBody>
      </p:sp>
    </p:spTree>
    <p:extLst>
      <p:ext uri="{BB962C8B-B14F-4D97-AF65-F5344CB8AC3E}">
        <p14:creationId xmlns:p14="http://schemas.microsoft.com/office/powerpoint/2010/main" val="3063831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6A06C-8D75-A2DB-CAD6-D52EFD5C3F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1A98CF-142F-ADA6-C52B-BDDEC9A4726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6782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917</TotalTime>
  <Words>599</Words>
  <Application>Microsoft Office PowerPoint</Application>
  <PresentationFormat>Widescreen</PresentationFormat>
  <Paragraphs>91</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Cambria Math</vt:lpstr>
      <vt:lpstr>Office Theme</vt:lpstr>
      <vt:lpstr>Bernoulli Distribution</vt:lpstr>
      <vt:lpstr>Bernoulli Distribution</vt:lpstr>
      <vt:lpstr>Bernoulli Distribution</vt:lpstr>
      <vt:lpstr>Bernoulli Distribution</vt:lpstr>
      <vt:lpstr>STOP</vt:lpstr>
      <vt:lpstr>Bernoulli Distribution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169</cp:revision>
  <dcterms:created xsi:type="dcterms:W3CDTF">2025-09-22T02:44:38Z</dcterms:created>
  <dcterms:modified xsi:type="dcterms:W3CDTF">2025-10-11T07:07:35Z</dcterms:modified>
</cp:coreProperties>
</file>