
<file path=[Content_Types].xml><?xml version="1.0" encoding="utf-8"?>
<Types xmlns="http://schemas.openxmlformats.org/package/2006/content-types"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3"/>
  </p:notesMasterIdLst>
  <p:handoutMasterIdLst>
    <p:handoutMasterId r:id="rId14"/>
  </p:handoutMasterIdLst>
  <p:sldIdLst>
    <p:sldId id="257" r:id="rId2"/>
    <p:sldId id="287" r:id="rId3"/>
    <p:sldId id="289" r:id="rId4"/>
    <p:sldId id="291" r:id="rId5"/>
    <p:sldId id="292" r:id="rId6"/>
    <p:sldId id="293" r:id="rId7"/>
    <p:sldId id="290" r:id="rId8"/>
    <p:sldId id="294" r:id="rId9"/>
    <p:sldId id="295" r:id="rId10"/>
    <p:sldId id="275" r:id="rId11"/>
    <p:sldId id="288" r:id="rId12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105" d="100"/>
          <a:sy n="105" d="100"/>
        </p:scale>
        <p:origin x="83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4" d="100"/>
          <a:sy n="84" d="100"/>
        </p:scale>
        <p:origin x="3054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notesMaster" Target="notesMasters/notesMaster1.xml"/><Relationship Id="rId1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presProps" Target="presProps.xml"/><Relationship Id="rId10" Type="http://schemas.openxmlformats.org/officeDocument/2006/relationships/slide" Target="slides/slide9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handoutMaster" Target="handoutMasters/handout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>
            <a:extLst>
              <a:ext uri="{FF2B5EF4-FFF2-40B4-BE49-F238E27FC236}">
                <a16:creationId xmlns:a16="http://schemas.microsoft.com/office/drawing/2014/main" id="{1ACA3A45-07AA-881E-EBAC-FAE1FFF9B3BB}"/>
              </a:ext>
            </a:extLst>
          </p:cNvPr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72C2385-62BD-1B9C-A617-554DDB21E0F4}"/>
              </a:ext>
            </a:extLst>
          </p:cNvPr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BAEECA8-D063-486F-AE31-5020270C1449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C5328A6F-7933-1F9C-E9F6-B4A61026FBA4}"/>
              </a:ext>
            </a:extLst>
          </p:cNvPr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66F9A57F-3A38-6EDA-B76D-A3DB4F6978A7}"/>
              </a:ext>
            </a:extLst>
          </p:cNvPr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793F6CE-D1D9-4B7B-9040-C7CAC074A6CE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7613359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B233BD1-3BA8-448D-9D08-7846095EA517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C63499C-1FAC-4F66-96F8-6DA2CC28B748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1753977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EB0F26-247A-F2E0-8FBA-6EA7974D69E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394F308-CEE8-92BC-D91A-4212DEA015D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B32794D3-11DF-A675-8D28-EC65EF27521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C53FDAF-B83A-AE0A-B811-B7195D37F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49530BD-9515-D107-426C-B72742CBF0B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9282697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4CE7E77-8771-0BA4-B1D5-7F1DE0138C3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9543F30B-85C4-D934-2F30-179E3FCE9424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C8EF7AF-5CE7-4387-31F9-79D35620609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0FCCC03-E434-4684-B55E-3F2D399169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A1F3B05-B983-07A3-4B58-9D2E184388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6036442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F223C21-D6A5-2D17-9BFA-70B3353D6A0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E92D89B8-191B-6AAD-5D5E-32B35726574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CC528A-1563-9376-E089-4DA80AD11D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519A01D-6FDA-C269-FF95-3FDB205C8E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A980A21-61AC-4B39-D886-3A327DB7346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4111402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2903C29-6DED-2A1F-5B4D-128B63652F7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16494ECB-0FCA-1AD0-F19A-27A4C16DC0F2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A07402C2-E657-5A54-9627-8C9CBCBBE0A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501FADA-AE3E-B30F-6353-BF0478CF0E3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F16B517-96D7-6416-0C24-B14942ADD41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546F179-BF2F-393A-1AA6-C893B7B9FA3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2585238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6950483-A0C8-BF5B-61DE-39BC6FF9C123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646DB55B-C040-F211-BC81-97628EA48448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593EEAE-1CB3-AAC8-5818-D61E389EF1E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5ACE50F0-1141-D645-3892-2DA29633A37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32E976C-52C7-C22D-28F7-B21E295185E1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E797D00B-0B76-5C50-686B-A01396FCD6F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7B842B8D-3B74-4B67-9462-6D2C7ED9ADC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F992D4BE-CE8C-0250-FE7D-1F370E25FE2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57502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CDBE28-2732-66A2-163C-433854615E7C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E270F3D6-B4BC-015F-96FA-1720B040CC9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21168A87-13A5-0A5A-4D74-C75E2777557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ADD6D7CB-BD93-54BE-CB47-7FBA06B1844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34650834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49B4114B-4550-9F52-0EF5-D1E9CF2FD38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0BF3136E-0C79-F4F5-F24E-D5FF71CDB5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9F2E2157-F670-A339-0CB7-7399568D5A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96501475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5802A98-8738-1E16-A16E-D8858EEA76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4FC67E5-1169-257D-D9E7-C7B952C21372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90B2CF6C-0F85-566A-86BC-CBFEB17E755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1A64F0FC-ECB8-638F-A224-98FFA827073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A8095B89-4DC8-435E-3545-6187AD3E00A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171B68CF-9592-FB7C-B517-0CC962C8B6D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44300723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53E2BC2-F728-2BA5-C848-31FA3458ADF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B957B909-12C3-703B-57E9-008076312F6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FDAE4D7A-BC41-33D0-D36D-08BB5C2C594A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FB17FB83-437D-9293-0B99-2DC89A047DD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1EDF5674-4DC1-3171-8FEB-C280686D413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FDD431F6-5490-78BA-7028-0BD08BF1A0F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8086031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B3002A-A21A-4F99-1BCE-F61C85D7B65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50E85D03-9A7F-4A9E-379E-2DEA86D21FC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DFDEEFB4-95FB-FEDD-75E7-143E7ED29C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1BCE0D7-1712-FF0C-D965-BFD5AE1610F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32632A1-4243-F65B-A2B0-3F2142C3415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7507975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72293F13-2480-AB35-1A68-57A54CE6CD63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3BDA286C-2521-2961-CABA-5684DF43FB2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74D5FF44-F63B-872A-DC8D-A873790A64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E653A11-7793-38C6-0506-A6FBE9A02A1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10962C0-F018-7629-445C-DDCA8AE1401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299880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image" Target="../media/image1.jpg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tx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73CEE1C2-DF65-6CAD-D1EF-22450840439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dirty="0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46AFB6A6-8766-C849-1846-0F387502412C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dirty="0"/>
              <a:t>Click to edit Master text styles</a:t>
            </a:r>
          </a:p>
          <a:p>
            <a:pPr lvl="1"/>
            <a:r>
              <a:rPr lang="en-US" dirty="0"/>
              <a:t>Second level</a:t>
            </a:r>
          </a:p>
          <a:p>
            <a:pPr lvl="2"/>
            <a:r>
              <a:rPr lang="en-US" dirty="0"/>
              <a:t>Third level</a:t>
            </a:r>
          </a:p>
          <a:p>
            <a:pPr lvl="3"/>
            <a:r>
              <a:rPr lang="en-US" dirty="0"/>
              <a:t>Fourth level</a:t>
            </a:r>
          </a:p>
          <a:p>
            <a:pPr lvl="4"/>
            <a:r>
              <a:rPr lang="en-US" dirty="0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55176B-E136-1615-D0B5-186783ACB8FF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6383FAE1-13DE-4511-8C1B-C8AFB720664C}" type="datetimeFigureOut">
              <a:rPr lang="en-US" smtClean="0"/>
              <a:t>7/21/2026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E5AAAF6-4731-DB91-AB26-A07CEF1B9D24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814165E-BEE7-F086-BE90-50642610F091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1BC7A09-79EE-44A0-8F92-750D7C83D871}" type="slidenum">
              <a:rPr lang="en-US" smtClean="0"/>
              <a:t>‹#›</a:t>
            </a:fld>
            <a:endParaRPr lang="en-US"/>
          </a:p>
        </p:txBody>
      </p:sp>
      <p:pic>
        <p:nvPicPr>
          <p:cNvPr id="8" name="Picture 7">
            <a:extLst>
              <a:ext uri="{FF2B5EF4-FFF2-40B4-BE49-F238E27FC236}">
                <a16:creationId xmlns:a16="http://schemas.microsoft.com/office/drawing/2014/main" id="{9F3932AB-6107-98C9-CEDA-32A7DF597298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 amt="50000"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212435" y="136524"/>
            <a:ext cx="1330037" cy="1025209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  <p:pic>
        <p:nvPicPr>
          <p:cNvPr id="7" name="Picture 6">
            <a:extLst>
              <a:ext uri="{FF2B5EF4-FFF2-40B4-BE49-F238E27FC236}">
                <a16:creationId xmlns:a16="http://schemas.microsoft.com/office/drawing/2014/main" id="{2CA22C5A-FA6D-B699-950E-8D249A969331}"/>
              </a:ext>
            </a:extLst>
          </p:cNvPr>
          <p:cNvPicPr>
            <a:picLocks noChangeAspect="1"/>
          </p:cNvPicPr>
          <p:nvPr userDrawn="1"/>
        </p:nvPicPr>
        <p:blipFill>
          <a:blip r:embed="rId13">
            <a:alphaModFix/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008" t="39529" r="41606" b="46715"/>
          <a:stretch>
            <a:fillRect/>
          </a:stretch>
        </p:blipFill>
        <p:spPr>
          <a:xfrm>
            <a:off x="10855909" y="185738"/>
            <a:ext cx="1123656" cy="866128"/>
          </a:xfrm>
          <a:prstGeom prst="ellipse">
            <a:avLst/>
          </a:prstGeom>
          <a:ln w="63500" cap="rnd">
            <a:solidFill>
              <a:srgbClr val="333333"/>
            </a:solidFill>
          </a:ln>
          <a:effectLst>
            <a:outerShdw blurRad="381000" dist="292100" dir="5400000" sx="-80000" sy="-18000" rotWithShape="0">
              <a:srgbClr val="000000">
                <a:alpha val="22000"/>
              </a:srgbClr>
            </a:outerShdw>
          </a:effectLst>
          <a:scene3d>
            <a:camera prst="orthographicFront"/>
            <a:lightRig rig="contrasting" dir="t">
              <a:rot lat="0" lon="0" rev="3000000"/>
            </a:lightRig>
          </a:scene3d>
          <a:sp3d contourW="7620">
            <a:bevelT w="95250" h="31750"/>
            <a:contourClr>
              <a:srgbClr val="333333"/>
            </a:contourClr>
          </a:sp3d>
        </p:spPr>
      </p:pic>
    </p:spTree>
    <p:extLst>
      <p:ext uri="{BB962C8B-B14F-4D97-AF65-F5344CB8AC3E}">
        <p14:creationId xmlns:p14="http://schemas.microsoft.com/office/powerpoint/2010/main" val="14999731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accent6">
              <a:lumMod val="60000"/>
              <a:lumOff val="40000"/>
            </a:schemeClr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accent6">
              <a:lumMod val="60000"/>
              <a:lumOff val="40000"/>
            </a:schemeClr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TextBox 8">
            <a:extLst>
              <a:ext uri="{FF2B5EF4-FFF2-40B4-BE49-F238E27FC236}">
                <a16:creationId xmlns:a16="http://schemas.microsoft.com/office/drawing/2014/main" id="{68EEAE26-EEC1-43C8-1E10-2F8BA9771177}"/>
              </a:ext>
            </a:extLst>
          </p:cNvPr>
          <p:cNvSpPr txBox="1"/>
          <p:nvPr/>
        </p:nvSpPr>
        <p:spPr>
          <a:xfrm>
            <a:off x="870712" y="2494248"/>
            <a:ext cx="10292080" cy="120032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Automated Student Assignment &amp; Extension Portal</a:t>
            </a:r>
          </a:p>
          <a:p>
            <a:pPr algn="ctr"/>
            <a:r>
              <a:rPr lang="en-US" sz="36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(Non-Agentic)</a:t>
            </a:r>
            <a:endParaRPr lang="en-US" sz="36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340642146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80BA8B9-4D25-F088-8FD2-ED1109EFC5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>
            <a:extLst>
              <a:ext uri="{FF2B5EF4-FFF2-40B4-BE49-F238E27FC236}">
                <a16:creationId xmlns:a16="http://schemas.microsoft.com/office/drawing/2014/main" id="{BE4AF815-7B29-6AF8-0EF8-8489A6CED163}"/>
              </a:ext>
            </a:extLst>
          </p:cNvPr>
          <p:cNvSpPr txBox="1"/>
          <p:nvPr/>
        </p:nvSpPr>
        <p:spPr>
          <a:xfrm>
            <a:off x="246888" y="1005840"/>
            <a:ext cx="8449056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Workflow built with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LangGraph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:</a:t>
            </a:r>
          </a:p>
          <a:p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reads a professor's Gmail inbox,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classifies student emails -  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Late submission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Grade clarification</a:t>
            </a:r>
          </a:p>
          <a:p>
            <a:pPr marL="914400" lvl="1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Other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extracts structured info,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applies a written university policy, and</a:t>
            </a:r>
          </a:p>
          <a:p>
            <a:pPr marL="514350" indent="-514350">
              <a:buFont typeface="+mj-lt"/>
              <a:buAutoNum type="arabicPeriod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leaves a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**draft reply**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(never sends) for the professor to review and creates a log</a:t>
            </a:r>
          </a:p>
        </p:txBody>
      </p:sp>
      <p:pic>
        <p:nvPicPr>
          <p:cNvPr id="5" name="Picture 4">
            <a:extLst>
              <a:ext uri="{FF2B5EF4-FFF2-40B4-BE49-F238E27FC236}">
                <a16:creationId xmlns:a16="http://schemas.microsoft.com/office/drawing/2014/main" id="{9392991A-26A7-0B39-1D92-2F552731381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5019254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51FAB52-3158-60D4-FA6C-44B965F3B45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4EE1948-49D7-4B44-65D3-E2AA4EF12CBD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A48F798-4365-D94C-38F2-CA04488A3570}"/>
              </a:ext>
            </a:extLst>
          </p:cNvPr>
          <p:cNvSpPr txBox="1"/>
          <p:nvPr/>
        </p:nvSpPr>
        <p:spPr>
          <a:xfrm>
            <a:off x="329386" y="258687"/>
            <a:ext cx="8512861" cy="63709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AutoNum type="arabicPeriod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Classify (nodes/classify.py):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Reads the subject + a snippet of the body and decides which bucket the email falls into: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extension_request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late_submission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grade_clarification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, or other. 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2. Extract (nodes/extract.py)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Reads the full email body and pulls out structured facts: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student name,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roll number,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course code,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reason given,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a normalized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(medical /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personal_emergency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/ technical / workload). </a:t>
            </a:r>
          </a:p>
        </p:txBody>
      </p:sp>
    </p:spTree>
    <p:extLst>
      <p:ext uri="{BB962C8B-B14F-4D97-AF65-F5344CB8AC3E}">
        <p14:creationId xmlns:p14="http://schemas.microsoft.com/office/powerpoint/2010/main" val="757590760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A7B6C76-2357-5DB0-3131-54F5FB2B97F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90A9D48E-362E-0EB3-A3A2-D58023093741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FDA3CFE7-F3EA-557F-8569-28A3E7E05616}"/>
              </a:ext>
            </a:extLst>
          </p:cNvPr>
          <p:cNvSpPr txBox="1"/>
          <p:nvPr/>
        </p:nvSpPr>
        <p:spPr>
          <a:xfrm>
            <a:off x="329386" y="258687"/>
            <a:ext cx="8512861" cy="600164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3. Apply policy (nodes/policy_decision.py)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the most "reasoning-heavy" step. It's given the full text of policy.md plus the extracted facts, and has to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match the situation to the right rule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e.g.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reason_category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is medical → grant 3 days, no proof required up front."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 also has to know when to punt: if the situation isn't clearly covered by the policy, it should return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rather than making something up.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really a small grounded-reasoning task, not just lookup — the LLM has to read the student's stated reason, map it onto the closest policy clause, and produce a decision + rationale.</a:t>
            </a:r>
          </a:p>
        </p:txBody>
      </p:sp>
    </p:spTree>
    <p:extLst>
      <p:ext uri="{BB962C8B-B14F-4D97-AF65-F5344CB8AC3E}">
        <p14:creationId xmlns:p14="http://schemas.microsoft.com/office/powerpoint/2010/main" val="1899140644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0028E7-4F14-82F8-DEAC-336F4859AE9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03B2337C-3729-8750-3F27-1DF39F48D7CA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6B63F36-2573-E8A5-AB0A-D5CFAA0F655C}"/>
              </a:ext>
            </a:extLst>
          </p:cNvPr>
          <p:cNvSpPr txBox="1"/>
          <p:nvPr/>
        </p:nvSpPr>
        <p:spPr>
          <a:xfrm>
            <a:off x="329386" y="258687"/>
            <a:ext cx="8512861" cy="415498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4. Draft the reply (nodes/draft.py)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Takes the policy decision and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generates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actual reply text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 and body,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polite tone,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right length,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impersonating a specific professor, and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(importantly)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stating an approval/denial if the decision was 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escalate_to_professor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generation, not extraction.</a:t>
            </a:r>
          </a:p>
        </p:txBody>
      </p:sp>
    </p:spTree>
    <p:extLst>
      <p:ext uri="{BB962C8B-B14F-4D97-AF65-F5344CB8AC3E}">
        <p14:creationId xmlns:p14="http://schemas.microsoft.com/office/powerpoint/2010/main" val="3221244074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D95592-E46F-69DF-AE7B-12968A412A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D3EB0E88-7860-E631-ECED-761DB8315D2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5A0191AD-4EBF-1AD1-D95D-BB35DF8FE96C}"/>
              </a:ext>
            </a:extLst>
          </p:cNvPr>
          <p:cNvSpPr txBox="1"/>
          <p:nvPr/>
        </p:nvSpPr>
        <p:spPr>
          <a:xfrm>
            <a:off x="329386" y="258687"/>
            <a:ext cx="8512861" cy="526297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Role of LLM</a:t>
            </a:r>
          </a:p>
          <a:p>
            <a:endParaRPr lang="en-US" sz="24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So, across the four nodes the LLM does four different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kinds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of work (i.e. LLM handles judgment ): </a:t>
            </a:r>
          </a:p>
          <a:p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classification → extraction → policy-grounded reasoning → generation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</a:p>
          <a:p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Everything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else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in the project —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the draft to Gmail,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routing between graph nodes,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reading policy.md off disk 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writing logs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— is plain deterministic code with no LLM involved. </a:t>
            </a:r>
          </a:p>
        </p:txBody>
      </p:sp>
    </p:spTree>
    <p:extLst>
      <p:ext uri="{BB962C8B-B14F-4D97-AF65-F5344CB8AC3E}">
        <p14:creationId xmlns:p14="http://schemas.microsoft.com/office/powerpoint/2010/main" val="161822448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A3EA9D79-DEC0-9551-BC32-A59B04D3D00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1D69BC47-4E8F-AB89-E1C1-9870E864BA2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9DD3C281-7C26-812D-0B3B-E556DF01667E}"/>
              </a:ext>
            </a:extLst>
          </p:cNvPr>
          <p:cNvSpPr txBox="1"/>
          <p:nvPr/>
        </p:nvSpPr>
        <p:spPr>
          <a:xfrm>
            <a:off x="137362" y="302359"/>
            <a:ext cx="8768893" cy="61247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policy is defined in a separate file: 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policy.md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log of draft replies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logger.db</a:t>
            </a:r>
            <a:r>
              <a:rPr lang="en-US" sz="28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. 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processed emails are stored in </a:t>
            </a:r>
            <a:r>
              <a:rPr lang="en-US" sz="2800" b="1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processed_email.db</a:t>
            </a: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b="1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main_demo.py would </a:t>
            </a:r>
            <a:r>
              <a:rPr lang="en-US" sz="28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create draft in 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fake incoming mails are not regular genuine emails and so do not have Thread ID.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main.py would create draft in the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GMail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because the incoming mails are genuine emails and so do have Thread ID.</a:t>
            </a:r>
          </a:p>
        </p:txBody>
      </p:sp>
    </p:spTree>
    <p:extLst>
      <p:ext uri="{BB962C8B-B14F-4D97-AF65-F5344CB8AC3E}">
        <p14:creationId xmlns:p14="http://schemas.microsoft.com/office/powerpoint/2010/main" val="197857307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2DB91BB-79DF-E784-BED3-6B19AA06D87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B2018CD6-85FE-0601-F70D-D6F5975F8347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2946A1E7-94D3-3B9C-AC9D-B847043CCF5E}"/>
              </a:ext>
            </a:extLst>
          </p:cNvPr>
          <p:cNvSpPr txBox="1"/>
          <p:nvPr/>
        </p:nvSpPr>
        <p:spPr>
          <a:xfrm>
            <a:off x="329387" y="302359"/>
            <a:ext cx="8037576" cy="58785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run  this, send an  email :</a:t>
            </a:r>
          </a:p>
          <a:p>
            <a:b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</a:br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Sender: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&lt;</a:t>
            </a:r>
            <a:r>
              <a:rPr lang="en-US" sz="24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sender_email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&gt; </a:t>
            </a: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Subject: 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Extension request for Assignment 3</a:t>
            </a:r>
          </a:p>
          <a:p>
            <a:endParaRPr lang="en-US" sz="2400" b="1" u="sng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b="1" u="sng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Body: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Dear Professor,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 am Priya Sharma, roll number CS21B045, from course CS301. I was hospitalized for the last two days with a fever and could not finish Assignment 3. Could I please get a short extension?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            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Thank you,</a:t>
            </a: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Priya</a:t>
            </a:r>
          </a:p>
        </p:txBody>
      </p:sp>
    </p:spTree>
    <p:extLst>
      <p:ext uri="{BB962C8B-B14F-4D97-AF65-F5344CB8AC3E}">
        <p14:creationId xmlns:p14="http://schemas.microsoft.com/office/powerpoint/2010/main" val="1524321783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4A0F9B8-F1E4-0D6B-B53C-99CE1C6D32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Picture 2">
            <a:extLst>
              <a:ext uri="{FF2B5EF4-FFF2-40B4-BE49-F238E27FC236}">
                <a16:creationId xmlns:a16="http://schemas.microsoft.com/office/drawing/2014/main" id="{72B46759-B6CB-EF1E-6BCC-E3D77CB852D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9004252" y="1182231"/>
            <a:ext cx="2858361" cy="5547339"/>
          </a:xfrm>
          <a:prstGeom prst="rect">
            <a:avLst/>
          </a:prstGeom>
        </p:spPr>
      </p:pic>
      <p:sp>
        <p:nvSpPr>
          <p:cNvPr id="4" name="TextBox 3">
            <a:extLst>
              <a:ext uri="{FF2B5EF4-FFF2-40B4-BE49-F238E27FC236}">
                <a16:creationId xmlns:a16="http://schemas.microsoft.com/office/drawing/2014/main" id="{B12B132F-3D17-6422-60BE-C40DD1FFF57A}"/>
              </a:ext>
            </a:extLst>
          </p:cNvPr>
          <p:cNvSpPr txBox="1"/>
          <p:nvPr/>
        </p:nvSpPr>
        <p:spPr>
          <a:xfrm>
            <a:off x="329387" y="302359"/>
            <a:ext cx="8037576" cy="267765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NOTE: </a:t>
            </a:r>
          </a:p>
          <a:p>
            <a:endParaRPr lang="en-US" sz="28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To automate this,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use </a:t>
            </a:r>
            <a:r>
              <a:rPr lang="en-US" sz="2800" dirty="0" err="1">
                <a:solidFill>
                  <a:schemeClr val="accent6">
                    <a:lumMod val="60000"/>
                    <a:lumOff val="40000"/>
                  </a:schemeClr>
                </a:solidFill>
              </a:rPr>
              <a:t>cron</a:t>
            </a: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job, or </a:t>
            </a:r>
          </a:p>
          <a:p>
            <a:pPr marL="457200" indent="-457200">
              <a:buFont typeface="Arial" panose="020B0604020202020204" pitchFamily="34" charset="0"/>
              <a:buChar char="•"/>
            </a:pPr>
            <a:r>
              <a:rPr lang="en-US" sz="28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run  main_schedule.py . This checks email every 5 minutes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2665511422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D931D7F-4279-DA2E-FA64-6CF3C441D41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591F37BC-5034-A96F-433F-8968D9570466}"/>
              </a:ext>
            </a:extLst>
          </p:cNvPr>
          <p:cNvSpPr txBox="1"/>
          <p:nvPr/>
        </p:nvSpPr>
        <p:spPr>
          <a:xfrm>
            <a:off x="388620" y="1257175"/>
            <a:ext cx="10456164" cy="452431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None/>
            </a:pP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It's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agentic in the fuller sense, because:</a:t>
            </a:r>
          </a:p>
          <a:p>
            <a:pPr>
              <a:buNone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The control flow is fixed.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The LLM doesn't decide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what to do next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or </a:t>
            </a:r>
            <a:r>
              <a:rPr lang="en-US" sz="2400" i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which tool to call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— the graph (classify → extract → decide → draft → save) is hardcoded by you. The only "decision" affecting flow is a binary branch (relevant vs. not) baked into a conditional edge.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No looping, no re-planning.</a:t>
            </a:r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 A more agentic system might re-read the policy if its first decision looked uncertain, or ask a clarifying sub-question. This one runs each node exactly once, straight through.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  <a:p>
            <a:r>
              <a:rPr lang="en-US" sz="2400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This is often called a </a:t>
            </a:r>
            <a:r>
              <a:rPr lang="en-US" sz="2400" b="1" dirty="0">
                <a:solidFill>
                  <a:schemeClr val="accent6">
                    <a:lumMod val="60000"/>
                    <a:lumOff val="40000"/>
                  </a:schemeClr>
                </a:solidFill>
              </a:rPr>
              <a:t>"workflow" or "compound LLM pipeline"</a:t>
            </a:r>
            <a:endParaRPr lang="en-US" sz="2400" dirty="0">
              <a:solidFill>
                <a:schemeClr val="accent6">
                  <a:lumMod val="60000"/>
                  <a:lumOff val="40000"/>
                </a:schemeClr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66625378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F138959-7719-A1AB-210E-088D4EACFB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014778744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What is Statistics</Template>
  <TotalTime>3452</TotalTime>
  <Words>757</Words>
  <Application>Microsoft Office PowerPoint</Application>
  <PresentationFormat>Widescreen</PresentationFormat>
  <Paragraphs>91</Paragraphs>
  <Slides>11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11</vt:i4>
      </vt:variant>
    </vt:vector>
  </HeadingPairs>
  <TitlesOfParts>
    <vt:vector size="15" baseType="lpstr">
      <vt:lpstr>Arial</vt:lpstr>
      <vt:lpstr>Calibri</vt:lpstr>
      <vt:lpstr>Calibri Light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Ashwani Kumar</dc:creator>
  <cp:lastModifiedBy>Ashwani Kumar</cp:lastModifiedBy>
  <cp:revision>254</cp:revision>
  <dcterms:created xsi:type="dcterms:W3CDTF">2025-09-22T02:44:38Z</dcterms:created>
  <dcterms:modified xsi:type="dcterms:W3CDTF">2026-07-21T08:49:12Z</dcterms:modified>
</cp:coreProperties>
</file>