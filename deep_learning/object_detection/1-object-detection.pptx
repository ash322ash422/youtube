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76" r:id="rId2"/>
    <p:sldId id="257" r:id="rId3"/>
    <p:sldId id="277" r:id="rId4"/>
    <p:sldId id="281" r:id="rId5"/>
    <p:sldId id="282" r:id="rId6"/>
    <p:sldId id="283" r:id="rId7"/>
    <p:sldId id="278" r:id="rId8"/>
    <p:sldId id="280" r:id="rId9"/>
    <p:sldId id="27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6500EF0-C39A-3394-E2DA-9C20DA34E655}"/>
              </a:ext>
            </a:extLst>
          </p:cNvPr>
          <p:cNvSpPr txBox="1"/>
          <p:nvPr/>
        </p:nvSpPr>
        <p:spPr>
          <a:xfrm>
            <a:off x="260604" y="73813"/>
            <a:ext cx="6190488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Object detection model evolution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R-CNN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Fast R-CNN (optimization idea)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Faster R-CNN (modern region proposal)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SSD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YOLO (industry - today )</a:t>
            </a:r>
          </a:p>
        </p:txBody>
      </p:sp>
    </p:spTree>
    <p:extLst>
      <p:ext uri="{BB962C8B-B14F-4D97-AF65-F5344CB8AC3E}">
        <p14:creationId xmlns:p14="http://schemas.microsoft.com/office/powerpoint/2010/main" val="4221193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B748C-E8C3-5751-AA07-D39AB1E8D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A852C26-EA7F-1AB3-08FC-DEA360215B74}"/>
              </a:ext>
            </a:extLst>
          </p:cNvPr>
          <p:cNvSpPr txBox="1"/>
          <p:nvPr/>
        </p:nvSpPr>
        <p:spPr>
          <a:xfrm>
            <a:off x="260604" y="73813"/>
            <a:ext cx="845362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R-CNN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General Idea:</a:t>
            </a:r>
          </a:p>
          <a:p>
            <a:pPr lvl="1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1: Generate region proposals (possible object areas) </a:t>
            </a:r>
          </a:p>
          <a:p>
            <a:pPr lvl="1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2: Run CNN on each region </a:t>
            </a:r>
          </a:p>
          <a:p>
            <a:pPr lvl="1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3: Classify + bounding box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Easy analogy: “crop image → classify each crop” </a:t>
            </a:r>
          </a:p>
        </p:txBody>
      </p:sp>
    </p:spTree>
    <p:extLst>
      <p:ext uri="{BB962C8B-B14F-4D97-AF65-F5344CB8AC3E}">
        <p14:creationId xmlns:p14="http://schemas.microsoft.com/office/powerpoint/2010/main" val="1505511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134C4-1AEC-806C-2574-8BD95B75A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8FF5086-151F-F18D-35C2-8570A269475D}"/>
              </a:ext>
            </a:extLst>
          </p:cNvPr>
          <p:cNvSpPr txBox="1"/>
          <p:nvPr/>
        </p:nvSpPr>
        <p:spPr>
          <a:xfrm>
            <a:off x="260604" y="73813"/>
            <a:ext cx="84536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R-CNN (In detail)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A06BA5-5280-E0AE-7937-C0ADEA67D2F6}"/>
              </a:ext>
            </a:extLst>
          </p:cNvPr>
          <p:cNvSpPr txBox="1"/>
          <p:nvPr/>
        </p:nvSpPr>
        <p:spPr>
          <a:xfrm>
            <a:off x="260604" y="711446"/>
            <a:ext cx="539953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Region Proposal: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generates ~2000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class-independent region proposals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using Selective Search (i.e., it doesn’t know what the object is yet).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Feature Extraction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Each region is warped (resized) to a fixed size and passed through a pre-trained CNN (like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AlexNet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/ VGG) to extract features.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Classification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separate SVM classifier is trained per class, using CNN features.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51EC89-128D-1850-55A6-447F386FD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2243" y="1261871"/>
            <a:ext cx="6164869" cy="47161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46C39E6-ACFC-5049-16A8-449F28180981}"/>
              </a:ext>
            </a:extLst>
          </p:cNvPr>
          <p:cNvSpPr txBox="1"/>
          <p:nvPr/>
        </p:nvSpPr>
        <p:spPr>
          <a:xfrm>
            <a:off x="8330184" y="880004"/>
            <a:ext cx="173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Source: Medium</a:t>
            </a:r>
          </a:p>
        </p:txBody>
      </p:sp>
    </p:spTree>
    <p:extLst>
      <p:ext uri="{BB962C8B-B14F-4D97-AF65-F5344CB8AC3E}">
        <p14:creationId xmlns:p14="http://schemas.microsoft.com/office/powerpoint/2010/main" val="408669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25460-3835-0D98-3A67-D155F6B08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5BF4D56-4612-F0D4-5244-C31E3E9FDB85}"/>
              </a:ext>
            </a:extLst>
          </p:cNvPr>
          <p:cNvSpPr txBox="1"/>
          <p:nvPr/>
        </p:nvSpPr>
        <p:spPr>
          <a:xfrm>
            <a:off x="260604" y="73813"/>
            <a:ext cx="84536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R-CNN (In detail)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EECCC7-4B70-53D3-739F-0DAA2FF7E661}"/>
              </a:ext>
            </a:extLst>
          </p:cNvPr>
          <p:cNvSpPr txBox="1"/>
          <p:nvPr/>
        </p:nvSpPr>
        <p:spPr>
          <a:xfrm>
            <a:off x="104888" y="535478"/>
            <a:ext cx="618591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Bounding Box Regression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class-specific bounding box regressor refines the coordinates.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5. Non-Maximum Suppression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Keeps the box with highest confidence and removes overlapping ones.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F37E3D-FD9A-A725-13FD-758625C0CA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2243" y="1261871"/>
            <a:ext cx="6164869" cy="47161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79BE874-8623-DDCB-1914-E5EF159BB8F6}"/>
              </a:ext>
            </a:extLst>
          </p:cNvPr>
          <p:cNvSpPr txBox="1"/>
          <p:nvPr/>
        </p:nvSpPr>
        <p:spPr>
          <a:xfrm>
            <a:off x="8330184" y="880004"/>
            <a:ext cx="173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Source: Medium</a:t>
            </a:r>
          </a:p>
        </p:txBody>
      </p:sp>
    </p:spTree>
    <p:extLst>
      <p:ext uri="{BB962C8B-B14F-4D97-AF65-F5344CB8AC3E}">
        <p14:creationId xmlns:p14="http://schemas.microsoft.com/office/powerpoint/2010/main" val="25027687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E779B-A5BD-86EA-527E-80F44EC3C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57A28FD-43DA-AABF-D553-91ED407D24A8}"/>
              </a:ext>
            </a:extLst>
          </p:cNvPr>
          <p:cNvSpPr txBox="1"/>
          <p:nvPr/>
        </p:nvSpPr>
        <p:spPr>
          <a:xfrm>
            <a:off x="260604" y="73813"/>
            <a:ext cx="84536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R-CNN (In detail)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281FAC-587C-579D-B3F0-403C4B45CAEF}"/>
              </a:ext>
            </a:extLst>
          </p:cNvPr>
          <p:cNvSpPr txBox="1"/>
          <p:nvPr/>
        </p:nvSpPr>
        <p:spPr>
          <a:xfrm>
            <a:off x="397764" y="1366903"/>
            <a:ext cx="578358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Big drawback of R-CNN: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CNN is run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2000 times per image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Very slow (not practical for real-time) 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motivates 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Fast R-CNN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Faster R-CNN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49585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43C8F-CE14-8FC5-AFCE-AFA6EE9C6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B2D91BC-43B4-25D5-77DD-436A13A0918C}"/>
              </a:ext>
            </a:extLst>
          </p:cNvPr>
          <p:cNvSpPr txBox="1"/>
          <p:nvPr/>
        </p:nvSpPr>
        <p:spPr>
          <a:xfrm>
            <a:off x="260604" y="73813"/>
            <a:ext cx="782269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Fast R-CNN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Improves R-CNN (no repeated CNN per region)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F5E6EA-9BFE-5BFA-6ED4-7211A14BA083}"/>
              </a:ext>
            </a:extLst>
          </p:cNvPr>
          <p:cNvSpPr txBox="1"/>
          <p:nvPr/>
        </p:nvSpPr>
        <p:spPr>
          <a:xfrm>
            <a:off x="260604" y="2688997"/>
            <a:ext cx="782269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Faster R-CNN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Adds Region Proposal Network (RPN)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Slightly more complex but logical extension </a:t>
            </a:r>
          </a:p>
        </p:txBody>
      </p:sp>
    </p:spTree>
    <p:extLst>
      <p:ext uri="{BB962C8B-B14F-4D97-AF65-F5344CB8AC3E}">
        <p14:creationId xmlns:p14="http://schemas.microsoft.com/office/powerpoint/2010/main" val="1549264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A4539-2D0C-7E1F-C1D9-884492AA9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839E7FD-E00B-B9B7-8310-34A3B768E83E}"/>
              </a:ext>
            </a:extLst>
          </p:cNvPr>
          <p:cNvSpPr txBox="1"/>
          <p:nvPr/>
        </p:nvSpPr>
        <p:spPr>
          <a:xfrm>
            <a:off x="260604" y="73813"/>
            <a:ext cx="782269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YOLO (You Only Look Once)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Entire image → single pass → predicts everything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Think: “one shot detection”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Harder conceptually (grid system, anchor boxes)</a:t>
            </a:r>
          </a:p>
        </p:txBody>
      </p:sp>
    </p:spTree>
    <p:extLst>
      <p:ext uri="{BB962C8B-B14F-4D97-AF65-F5344CB8AC3E}">
        <p14:creationId xmlns:p14="http://schemas.microsoft.com/office/powerpoint/2010/main" val="5352293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1110</TotalTime>
  <Words>289</Words>
  <Application>Microsoft Office PowerPoint</Application>
  <PresentationFormat>Widescreen</PresentationFormat>
  <Paragraphs>58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183</cp:revision>
  <dcterms:created xsi:type="dcterms:W3CDTF">2025-09-22T02:44:38Z</dcterms:created>
  <dcterms:modified xsi:type="dcterms:W3CDTF">2026-04-23T08:21:11Z</dcterms:modified>
</cp:coreProperties>
</file>