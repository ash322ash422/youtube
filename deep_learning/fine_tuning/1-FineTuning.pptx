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276" r:id="rId3"/>
    <p:sldId id="277" r:id="rId4"/>
    <p:sldId id="286" r:id="rId5"/>
    <p:sldId id="295" r:id="rId6"/>
    <p:sldId id="287" r:id="rId7"/>
    <p:sldId id="289" r:id="rId8"/>
    <p:sldId id="278" r:id="rId9"/>
    <p:sldId id="288" r:id="rId10"/>
    <p:sldId id="279" r:id="rId11"/>
    <p:sldId id="294" r:id="rId12"/>
    <p:sldId id="292" r:id="rId13"/>
    <p:sldId id="293" r:id="rId14"/>
    <p:sldId id="291" r:id="rId15"/>
    <p:sldId id="290"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6/10/2026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18:00.792"/>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18:01.888"/>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0:57.109"/>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0:57.110"/>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7"/>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8"/>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7"/>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8"/>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23.815"/>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23.816"/>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47.559"/>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47.560"/>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5"/>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6"/>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7"/>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8"/>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9"/>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0"/>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1"/>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2"/>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3"/>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4"/>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5"/>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6"/>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7"/>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8"/>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9"/>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0"/>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1"/>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2"/>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3"/>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4"/>
    </inkml:context>
    <inkml:brush xml:id="br0">
      <inkml:brushProperty name="width" value="0.1" units="cm"/>
      <inkml:brushProperty name="height" value="0.1" units="cm"/>
      <inkml:brushProperty name="color" value="#FFC114"/>
    </inkml:brush>
  </inkml:definitions>
  <inkml:trace contextRef="#ctx0" brushRef="#br0">122 34 24575,'0'-1'0,"0"0"0,0-1 0,0 1 0,-1-1 0,1 1 0,0 0 0,-1-1 0,1 1 0,-1 0 0,1-1 0,-1 1 0,1 0 0,-1 0 0,0-1 0,0 1 0,0 0 0,0 0 0,0 0 0,0 0 0,0 0 0,0 0 0,0 1 0,0-1 0,0 0 0,-1 0 0,1 1 0,0-1 0,-1 1 0,1-1 0,0 1 0,-1 0 0,1-1 0,0 1 0,-1 0 0,1 0 0,-1 0 0,-1 0 0,-1 0 0,0 0 0,1 1 0,-1-1 0,1 1 0,-1-1 0,0 1 0,1 0 0,-1 1 0,1-1 0,0 1 0,0-1 0,-1 1 0,-3 3 0,4-2 0,0 0 0,0 1 0,0-1 0,1 1 0,-1 0 0,1 0 0,0 0 0,0 0 0,0 0 0,0 0 0,1 1 0,0-1 0,0 0 0,0 1 0,0-1 0,1 6 0,0-8 0,0 0 0,0 0 0,0-1 0,0 1 0,0 0 0,1-1 0,-1 1 0,1 0 0,0-1 0,-1 1 0,1-1 0,0 1 0,0-1 0,0 1 0,0-1 0,0 0 0,0 1 0,0-1 0,0 0 0,1 0 0,-1 0 0,0 0 0,1 0 0,-1 0 0,1 0 0,-1 0 0,1-1 0,-1 1 0,1-1 0,0 1 0,-1-1 0,1 1 0,0-1 0,-1 0 0,1 0 0,0 0 0,0 0 0,-1 0 0,1 0 0,0 0 0,-1-1 0,1 1 0,0-1 0,2 0 0,8-2 0,1 0 0,0-1 0,16-8 0,-27 12 0,1-1 0,0 0 0,-1 0 0,1-1 0,-1 1 0,0-1 0,1 1 0,-1-1 0,0 0 0,0 0 0,0 1 0,0-2 0,0 1 0,0 0 0,-1 0 0,1 0 0,-1-1 0,1 1 0,-1-1 0,0 1 0,1-6 0,-2 7 0,0 1 0,0-1 0,0 0 0,0 1 0,0-1 0,0 0 0,0 1 0,0-1 0,0 0 0,-1 1 0,1-1 0,0 1 0,-1-1 0,1 0 0,0 1 0,-1-1 0,1 1 0,0-1 0,-1 1 0,1-1 0,-1 1 0,1-1 0,-1 1 0,0 0 0,1-1 0,-1 1 0,1 0 0,-1-1 0,0 1 0,0-1 0,-27 2 0,24 0 0,-1 1 0,1-1 0,-1 1 0,1-1 0,-1 1 0,1 1 0,0-1 0,0 1 0,-5 3 0,-16 19-1365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5"/>
    </inkml:context>
    <inkml:brush xml:id="br0">
      <inkml:brushProperty name="width" value="0.1" units="cm"/>
      <inkml:brushProperty name="height" value="0.1" units="cm"/>
      <inkml:brushProperty name="color" value="#FFC114"/>
    </inkml:brush>
  </inkml:definitions>
  <inkml:trace contextRef="#ctx0" brushRef="#br0">182 20 24575,'0'-1'0,"0"0"0,-1 0 0,1 0 0,-1 0 0,1 0 0,-1 0 0,1 0 0,-1 0 0,0 0 0,1 0 0,-1 1 0,0-1 0,0 0 0,0 0 0,0 1 0,0-1 0,1 0 0,-1 1 0,0-1 0,0 1 0,0-1 0,-1 1 0,1 0 0,0-1 0,0 1 0,0 0 0,0 0 0,0 0 0,0 0 0,0 0 0,0 0 0,-1 0 0,1 0 0,-1 0 0,-40 5 0,35-3 0,0 1 0,1-1 0,-1 1 0,1 1 0,-8 4 0,12-7 0,1 0 0,-1 0 0,0 0 0,1 0 0,-1 1 0,1-1 0,-1 1 0,1-1 0,0 1 0,0-1 0,-1 1 0,1 0 0,0 0 0,0 0 0,1-1 0,-1 1 0,0 0 0,1 0 0,-1 0 0,1 0 0,0 0 0,-1 3 0,1-4 0,0 0 0,1-1 0,-1 1 0,0 0 0,0-1 0,0 1 0,1 0 0,-1-1 0,0 1 0,1-1 0,-1 1 0,0 0 0,1-1 0,-1 1 0,1-1 0,-1 1 0,1-1 0,-1 1 0,1-1 0,-1 0 0,1 1 0,-1-1 0,1 1 0,0-1 0,-1 0 0,1 0 0,0 1 0,-1-1 0,1 0 0,1 0 0,27-3 0,-26 2 0,1 0 0,-1 0 0,0 0 0,0 0 0,0-1 0,0 1 0,0-1 0,0 0 0,-1 0 0,1 0 0,-1 0 0,1 0 0,-1 0 0,4-5 0,-6 7 0,0 0 0,0 0 0,0 0 0,0-1 0,0 1 0,0 0 0,0 0 0,0 0 0,0 0 0,0 0 0,0-1 0,0 1 0,0 0 0,0 0 0,0 0 0,0 0 0,0 0 0,0-1 0,0 1 0,0 0 0,0 0 0,-1 0 0,1 0 0,0 0 0,0 0 0,0 0 0,0-1 0,0 1 0,0 0 0,0 0 0,0 0 0,-1 0 0,1 0 0,0 0 0,0 0 0,0 0 0,0 0 0,0 0 0,-1 0 0,1 0 0,0 0 0,0 0 0,0-1 0,0 1 0,0 0 0,-1 0 0,1 1 0,0-1 0,0 0 0,0 0 0,0 0 0,-1 0 0,-12 3 0,-10 9 0,13 1 0,13-5 0,-1-7 0,0-1 0,0 1 0,0-1 0,0 1 0,0-1 0,0 0 0,0 0 0,0 0 0,0 0 0,0 0 0,0-1 0,2 0 0,-3 1 0,1 0 0,-1 0 0,0-1 0,1 1 0,-1 0 0,0-1 0,0 1 0,1-1 0,-1 0 0,0 1 0,0-1 0,0 0 0,0 0 0,0 1 0,0-1 0,0 0 0,1-2 0,-6-6 0,-16-1 0,14 8-114,0 1 1,0 0-1,-1 0 0,1 0 0,0 1 1,0 0-1,0 0 0,-1 0 0,1 1 1,0 0-1,-12 4 0,0 0-6712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6"/>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7"/>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8"/>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9"/>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40"/>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41"/>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49.57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49.57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3"/>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4"/>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5"/>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6"/>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7"/>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8"/>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9"/>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0"/>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1"/>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2"/>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3"/>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4"/>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5"/>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6"/>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7"/>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8"/>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9"/>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0"/>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1"/>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2"/>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3"/>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4"/>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5"/>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39.347"/>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39.348"/>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6/10/2026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6/10/2026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2.xml"/></Relationships>
</file>

<file path=ppt/slides/_rels/slide10.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customXml" Target="../ink/ink21.xml"/><Relationship Id="rId26" Type="http://schemas.openxmlformats.org/officeDocument/2006/relationships/customXml" Target="../ink/ink25.xml"/><Relationship Id="rId39" Type="http://schemas.openxmlformats.org/officeDocument/2006/relationships/image" Target="../media/image22.png"/><Relationship Id="rId21" Type="http://schemas.openxmlformats.org/officeDocument/2006/relationships/image" Target="../media/image13.png"/><Relationship Id="rId34" Type="http://schemas.openxmlformats.org/officeDocument/2006/relationships/customXml" Target="../ink/ink29.xml"/><Relationship Id="rId42" Type="http://schemas.openxmlformats.org/officeDocument/2006/relationships/customXml" Target="../ink/ink33.xml"/><Relationship Id="rId47" Type="http://schemas.openxmlformats.org/officeDocument/2006/relationships/image" Target="../media/image26.png"/><Relationship Id="rId50" Type="http://schemas.openxmlformats.org/officeDocument/2006/relationships/customXml" Target="../ink/ink37.xml"/><Relationship Id="rId55" Type="http://schemas.openxmlformats.org/officeDocument/2006/relationships/image" Target="../media/image30.png"/><Relationship Id="rId7" Type="http://schemas.openxmlformats.org/officeDocument/2006/relationships/image" Target="../media/image60.png"/><Relationship Id="rId12" Type="http://schemas.openxmlformats.org/officeDocument/2006/relationships/customXml" Target="../ink/ink18.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31.xml"/><Relationship Id="rId46" Type="http://schemas.openxmlformats.org/officeDocument/2006/relationships/customXml" Target="../ink/ink35.xml"/><Relationship Id="rId59" Type="http://schemas.openxmlformats.org/officeDocument/2006/relationships/image" Target="../media/image32.png"/><Relationship Id="rId2" Type="http://schemas.openxmlformats.org/officeDocument/2006/relationships/customXml" Target="../ink/ink13.xml"/><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17.png"/><Relationship Id="rId41" Type="http://schemas.openxmlformats.org/officeDocument/2006/relationships/image" Target="../media/image23.png"/><Relationship Id="rId54" Type="http://schemas.openxmlformats.org/officeDocument/2006/relationships/customXml" Target="../ink/ink39.xml"/><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80.png"/><Relationship Id="rId24" Type="http://schemas.openxmlformats.org/officeDocument/2006/relationships/customXml" Target="../ink/ink24.xml"/><Relationship Id="rId32" Type="http://schemas.openxmlformats.org/officeDocument/2006/relationships/customXml" Target="../ink/ink28.xml"/><Relationship Id="rId37" Type="http://schemas.openxmlformats.org/officeDocument/2006/relationships/image" Target="../media/image21.png"/><Relationship Id="rId40" Type="http://schemas.openxmlformats.org/officeDocument/2006/relationships/customXml" Target="../ink/ink32.xml"/><Relationship Id="rId45" Type="http://schemas.openxmlformats.org/officeDocument/2006/relationships/image" Target="../media/image25.png"/><Relationship Id="rId53" Type="http://schemas.openxmlformats.org/officeDocument/2006/relationships/image" Target="../media/image29.png"/><Relationship Id="rId58" Type="http://schemas.openxmlformats.org/officeDocument/2006/relationships/customXml" Target="../ink/ink41.xml"/><Relationship Id="rId5" Type="http://schemas.openxmlformats.org/officeDocument/2006/relationships/image" Target="../media/image9.png"/><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26.xml"/><Relationship Id="rId36" Type="http://schemas.openxmlformats.org/officeDocument/2006/relationships/customXml" Target="../ink/ink30.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17.xml"/><Relationship Id="rId19" Type="http://schemas.openxmlformats.org/officeDocument/2006/relationships/image" Target="../media/image12.png"/><Relationship Id="rId31" Type="http://schemas.openxmlformats.org/officeDocument/2006/relationships/image" Target="../media/image18.png"/><Relationship Id="rId44" Type="http://schemas.openxmlformats.org/officeDocument/2006/relationships/customXml" Target="../ink/ink34.xml"/><Relationship Id="rId52" Type="http://schemas.openxmlformats.org/officeDocument/2006/relationships/customXml" Target="../ink/ink38.xml"/><Relationship Id="rId4" Type="http://schemas.openxmlformats.org/officeDocument/2006/relationships/customXml" Target="../ink/ink14.xml"/><Relationship Id="rId9" Type="http://schemas.openxmlformats.org/officeDocument/2006/relationships/image" Target="../media/image70.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16.png"/><Relationship Id="rId30" Type="http://schemas.openxmlformats.org/officeDocument/2006/relationships/customXml" Target="../ink/ink27.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36.xml"/><Relationship Id="rId56" Type="http://schemas.openxmlformats.org/officeDocument/2006/relationships/customXml" Target="../ink/ink40.xml"/><Relationship Id="rId8" Type="http://schemas.openxmlformats.org/officeDocument/2006/relationships/customXml" Target="../ink/ink16.xml"/><Relationship Id="rId51" Type="http://schemas.openxmlformats.org/officeDocument/2006/relationships/image" Target="../media/image28.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customXml" Target="../ink/ink50.xml"/><Relationship Id="rId26" Type="http://schemas.openxmlformats.org/officeDocument/2006/relationships/customXml" Target="../ink/ink54.xml"/><Relationship Id="rId39" Type="http://schemas.openxmlformats.org/officeDocument/2006/relationships/image" Target="../media/image24.png"/><Relationship Id="rId21" Type="http://schemas.openxmlformats.org/officeDocument/2006/relationships/image" Target="../media/image13.png"/><Relationship Id="rId34" Type="http://schemas.openxmlformats.org/officeDocument/2006/relationships/customXml" Target="../ink/ink58.xml"/><Relationship Id="rId47" Type="http://schemas.openxmlformats.org/officeDocument/2006/relationships/image" Target="../media/image28.png"/><Relationship Id="rId50" Type="http://schemas.openxmlformats.org/officeDocument/2006/relationships/customXml" Target="../ink/ink64.xml"/><Relationship Id="rId55" Type="http://schemas.openxmlformats.org/officeDocument/2006/relationships/image" Target="../media/image32.png"/><Relationship Id="rId7" Type="http://schemas.openxmlformats.org/officeDocument/2006/relationships/image" Target="../media/image60.png"/><Relationship Id="rId12" Type="http://schemas.openxmlformats.org/officeDocument/2006/relationships/customXml" Target="../ink/ink47.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21.png"/><Relationship Id="rId38" Type="http://schemas.openxmlformats.org/officeDocument/2006/relationships/customXml" Target="../ink/ink60.xml"/><Relationship Id="rId46" Type="http://schemas.openxmlformats.org/officeDocument/2006/relationships/customXml" Target="../ink/ink62.xml"/><Relationship Id="rId59" Type="http://schemas.openxmlformats.org/officeDocument/2006/relationships/image" Target="../media/image17.png"/><Relationship Id="rId2" Type="http://schemas.openxmlformats.org/officeDocument/2006/relationships/customXml" Target="../ink/ink42.xml"/><Relationship Id="rId16" Type="http://schemas.openxmlformats.org/officeDocument/2006/relationships/customXml" Target="../ink/ink49.xml"/><Relationship Id="rId20" Type="http://schemas.openxmlformats.org/officeDocument/2006/relationships/customXml" Target="../ink/ink51.xml"/><Relationship Id="rId29" Type="http://schemas.openxmlformats.org/officeDocument/2006/relationships/image" Target="../media/image19.png"/><Relationship Id="rId54" Type="http://schemas.openxmlformats.org/officeDocument/2006/relationships/customXml" Target="../ink/ink66.xml"/><Relationship Id="rId1" Type="http://schemas.openxmlformats.org/officeDocument/2006/relationships/slideLayout" Target="../slideLayouts/slideLayout2.xml"/><Relationship Id="rId6" Type="http://schemas.openxmlformats.org/officeDocument/2006/relationships/customXml" Target="../ink/ink44.xml"/><Relationship Id="rId11" Type="http://schemas.openxmlformats.org/officeDocument/2006/relationships/image" Target="../media/image80.png"/><Relationship Id="rId24" Type="http://schemas.openxmlformats.org/officeDocument/2006/relationships/customXml" Target="../ink/ink53.xml"/><Relationship Id="rId32" Type="http://schemas.openxmlformats.org/officeDocument/2006/relationships/customXml" Target="../ink/ink57.xml"/><Relationship Id="rId37" Type="http://schemas.openxmlformats.org/officeDocument/2006/relationships/image" Target="../media/image23.png"/><Relationship Id="rId40" Type="http://schemas.openxmlformats.org/officeDocument/2006/relationships/customXml" Target="../ink/ink61.xml"/><Relationship Id="rId45" Type="http://schemas.openxmlformats.org/officeDocument/2006/relationships/image" Target="../media/image27.png"/><Relationship Id="rId53" Type="http://schemas.openxmlformats.org/officeDocument/2006/relationships/image" Target="../media/image31.png"/><Relationship Id="rId58" Type="http://schemas.openxmlformats.org/officeDocument/2006/relationships/customXml" Target="../ink/ink68.xml"/><Relationship Id="rId5" Type="http://schemas.openxmlformats.org/officeDocument/2006/relationships/image" Target="../media/image9.png"/><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55.xml"/><Relationship Id="rId36" Type="http://schemas.openxmlformats.org/officeDocument/2006/relationships/customXml" Target="../ink/ink59.xml"/><Relationship Id="rId49" Type="http://schemas.openxmlformats.org/officeDocument/2006/relationships/image" Target="../media/image29.png"/><Relationship Id="rId57" Type="http://schemas.openxmlformats.org/officeDocument/2006/relationships/image" Target="../media/image16.png"/><Relationship Id="rId10" Type="http://schemas.openxmlformats.org/officeDocument/2006/relationships/customXml" Target="../ink/ink46.xml"/><Relationship Id="rId19" Type="http://schemas.openxmlformats.org/officeDocument/2006/relationships/image" Target="../media/image12.png"/><Relationship Id="rId31" Type="http://schemas.openxmlformats.org/officeDocument/2006/relationships/image" Target="../media/image20.png"/><Relationship Id="rId52" Type="http://schemas.openxmlformats.org/officeDocument/2006/relationships/customXml" Target="../ink/ink65.xml"/><Relationship Id="rId4" Type="http://schemas.openxmlformats.org/officeDocument/2006/relationships/customXml" Target="../ink/ink43.xml"/><Relationship Id="rId9" Type="http://schemas.openxmlformats.org/officeDocument/2006/relationships/image" Target="../media/image70.png"/><Relationship Id="rId14" Type="http://schemas.openxmlformats.org/officeDocument/2006/relationships/customXml" Target="../ink/ink48.xml"/><Relationship Id="rId22" Type="http://schemas.openxmlformats.org/officeDocument/2006/relationships/customXml" Target="../ink/ink52.xml"/><Relationship Id="rId27" Type="http://schemas.openxmlformats.org/officeDocument/2006/relationships/image" Target="../media/image18.png"/><Relationship Id="rId30" Type="http://schemas.openxmlformats.org/officeDocument/2006/relationships/customXml" Target="../ink/ink56.xml"/><Relationship Id="rId35" Type="http://schemas.openxmlformats.org/officeDocument/2006/relationships/image" Target="../media/image22.png"/><Relationship Id="rId48" Type="http://schemas.openxmlformats.org/officeDocument/2006/relationships/customXml" Target="../ink/ink63.xml"/><Relationship Id="rId56" Type="http://schemas.openxmlformats.org/officeDocument/2006/relationships/customXml" Target="../ink/ink67.xml"/><Relationship Id="rId8" Type="http://schemas.openxmlformats.org/officeDocument/2006/relationships/customXml" Target="../ink/ink45.xml"/><Relationship Id="rId51" Type="http://schemas.openxmlformats.org/officeDocument/2006/relationships/image" Target="../media/image30.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6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70.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7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7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7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584775"/>
          </a:xfrm>
          <a:prstGeom prst="rect">
            <a:avLst/>
          </a:prstGeom>
          <a:noFill/>
        </p:spPr>
        <p:txBody>
          <a:bodyPr wrap="square">
            <a:spAutoFit/>
          </a:bodyPr>
          <a:lstStyle/>
          <a:p>
            <a:pPr algn="ctr">
              <a:buNone/>
            </a:pPr>
            <a:r>
              <a:rPr lang="en-US" sz="3200" b="1" dirty="0">
                <a:solidFill>
                  <a:schemeClr val="accent6">
                    <a:lumMod val="60000"/>
                    <a:lumOff val="40000"/>
                  </a:schemeClr>
                </a:solidFill>
              </a:rPr>
              <a:t>What is Fine Tuning ? </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0F1FA-0297-7E70-E79A-87F9DB06E89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1C69A7-3C93-939F-7016-9BDF9AB2DF43}"/>
              </a:ext>
            </a:extLst>
          </p:cNvPr>
          <p:cNvSpPr txBox="1"/>
          <p:nvPr/>
        </p:nvSpPr>
        <p:spPr>
          <a:xfrm>
            <a:off x="148336" y="199104"/>
            <a:ext cx="10979912" cy="3416320"/>
          </a:xfrm>
          <a:prstGeom prst="rect">
            <a:avLst/>
          </a:prstGeom>
          <a:noFill/>
        </p:spPr>
        <p:txBody>
          <a:bodyPr wrap="square">
            <a:spAutoFit/>
          </a:bodyPr>
          <a:lstStyle/>
          <a:p>
            <a:r>
              <a:rPr lang="en-US" sz="2400" b="1" dirty="0">
                <a:solidFill>
                  <a:schemeClr val="accent6">
                    <a:lumMod val="60000"/>
                    <a:lumOff val="40000"/>
                  </a:schemeClr>
                </a:solidFill>
              </a:rPr>
              <a:t>1. Fine-Tuning (FT)</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Definition:</a:t>
            </a:r>
            <a:br>
              <a:rPr lang="en-US" sz="2400" dirty="0">
                <a:solidFill>
                  <a:schemeClr val="accent6">
                    <a:lumMod val="60000"/>
                    <a:lumOff val="40000"/>
                  </a:schemeClr>
                </a:solidFill>
              </a:rPr>
            </a:br>
            <a:r>
              <a:rPr lang="en-US" sz="2400" dirty="0">
                <a:solidFill>
                  <a:schemeClr val="accent6">
                    <a:lumMod val="60000"/>
                    <a:lumOff val="40000"/>
                  </a:schemeClr>
                </a:solidFill>
              </a:rPr>
              <a:t>Fine-tuning means </a:t>
            </a:r>
            <a:r>
              <a:rPr lang="en-US" sz="2400" b="1" dirty="0">
                <a:solidFill>
                  <a:schemeClr val="accent6">
                    <a:lumMod val="60000"/>
                    <a:lumOff val="40000"/>
                  </a:schemeClr>
                </a:solidFill>
              </a:rPr>
              <a:t>training a model further on your own data</a:t>
            </a:r>
            <a:r>
              <a:rPr lang="en-US" sz="2400" dirty="0">
                <a:solidFill>
                  <a:schemeClr val="accent6">
                    <a:lumMod val="60000"/>
                    <a:lumOff val="40000"/>
                  </a:schemeClr>
                </a:solidFill>
              </a:rPr>
              <a:t> so it </a:t>
            </a:r>
            <a:r>
              <a:rPr lang="en-US" sz="2400" b="1" dirty="0">
                <a:solidFill>
                  <a:schemeClr val="accent4">
                    <a:lumMod val="60000"/>
                    <a:lumOff val="40000"/>
                  </a:schemeClr>
                </a:solidFill>
              </a:rPr>
              <a:t>learns new behavior or knowledge.</a:t>
            </a:r>
          </a:p>
          <a:p>
            <a:r>
              <a:rPr lang="en-US" sz="2400" dirty="0">
                <a:solidFill>
                  <a:schemeClr val="accent6">
                    <a:lumMod val="60000"/>
                    <a:lumOff val="40000"/>
                  </a:schemeClr>
                </a:solidFill>
              </a:rPr>
              <a:t>You are molding/changing the base model to your needs.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actually happens?</a:t>
            </a:r>
          </a:p>
          <a:p>
            <a:r>
              <a:rPr lang="en-US" sz="2400" dirty="0">
                <a:solidFill>
                  <a:schemeClr val="accent6">
                    <a:lumMod val="60000"/>
                    <a:lumOff val="40000"/>
                  </a:schemeClr>
                </a:solidFill>
              </a:rPr>
              <a:t>You take a base model (like OpenAI models) and </a:t>
            </a:r>
            <a:r>
              <a:rPr lang="en-US" sz="2400" b="1" dirty="0">
                <a:solidFill>
                  <a:schemeClr val="accent4">
                    <a:lumMod val="60000"/>
                    <a:lumOff val="40000"/>
                  </a:schemeClr>
                </a:solidFill>
              </a:rPr>
              <a:t>update its weights</a:t>
            </a:r>
            <a:r>
              <a:rPr lang="en-US" sz="2400" dirty="0">
                <a:solidFill>
                  <a:schemeClr val="accent4">
                    <a:lumMod val="60000"/>
                    <a:lumOff val="40000"/>
                  </a:schemeClr>
                </a:solidFill>
              </a:rPr>
              <a:t> </a:t>
            </a:r>
            <a:r>
              <a:rPr lang="en-US" sz="2400" dirty="0">
                <a:solidFill>
                  <a:schemeClr val="accent6">
                    <a:lumMod val="60000"/>
                    <a:lumOff val="40000"/>
                  </a:schemeClr>
                </a:solidFill>
              </a:rPr>
              <a:t>using your dataset.</a:t>
            </a:r>
          </a:p>
        </p:txBody>
      </p:sp>
      <p:sp>
        <p:nvSpPr>
          <p:cNvPr id="3" name="Oval 2">
            <a:extLst>
              <a:ext uri="{FF2B5EF4-FFF2-40B4-BE49-F238E27FC236}">
                <a16:creationId xmlns:a16="http://schemas.microsoft.com/office/drawing/2014/main" id="{F2CD6C6F-108A-B83E-1CEA-057AB3B39368}"/>
              </a:ext>
            </a:extLst>
          </p:cNvPr>
          <p:cNvSpPr/>
          <p:nvPr/>
        </p:nvSpPr>
        <p:spPr>
          <a:xfrm>
            <a:off x="4784048" y="4497507"/>
            <a:ext cx="2942632" cy="1137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18C9B7C7-671B-46C4-A5BA-578E6A31D478}"/>
              </a:ext>
            </a:extLst>
          </p:cNvPr>
          <p:cNvSpPr/>
          <p:nvPr/>
        </p:nvSpPr>
        <p:spPr>
          <a:xfrm>
            <a:off x="548640" y="4069080"/>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11" name="Group 10">
            <a:extLst>
              <a:ext uri="{FF2B5EF4-FFF2-40B4-BE49-F238E27FC236}">
                <a16:creationId xmlns:a16="http://schemas.microsoft.com/office/drawing/2014/main" id="{49B2155C-F6CC-6FC7-6755-E29A94FB2A8B}"/>
              </a:ext>
            </a:extLst>
          </p:cNvPr>
          <p:cNvGrpSpPr/>
          <p:nvPr/>
        </p:nvGrpSpPr>
        <p:grpSpPr>
          <a:xfrm>
            <a:off x="2910024" y="4874904"/>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4AE8ED4E-85C1-A057-6DAC-F9DBDC1F3F6C}"/>
                    </a:ext>
                  </a:extLst>
                </p14:cNvPr>
                <p14:cNvContentPartPr/>
                <p14:nvPr/>
              </p14:nvContentPartPr>
              <p14:xfrm>
                <a:off x="2910024" y="4525776"/>
                <a:ext cx="739440" cy="64800"/>
              </p14:xfrm>
            </p:contentPart>
          </mc:Choice>
          <mc:Fallback xmlns="">
            <p:pic>
              <p:nvPicPr>
                <p:cNvPr id="8" name="Ink 7">
                  <a:extLst>
                    <a:ext uri="{FF2B5EF4-FFF2-40B4-BE49-F238E27FC236}">
                      <a16:creationId xmlns:a16="http://schemas.microsoft.com/office/drawing/2014/main" id="{4AE8ED4E-85C1-A057-6DAC-F9DBDC1F3F6C}"/>
                    </a:ext>
                  </a:extLst>
                </p:cNvPr>
                <p:cNvPicPr/>
                <p:nvPr/>
              </p:nvPicPr>
              <p:blipFill>
                <a:blip r:embed="rId3"/>
                <a:stretch>
                  <a:fillRect/>
                </a:stretch>
              </p:blipFill>
              <p:spPr>
                <a:xfrm>
                  <a:off x="2892024" y="4508136"/>
                  <a:ext cx="7750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71828EEF-FC81-FE9B-591A-88E165309464}"/>
                    </a:ext>
                  </a:extLst>
                </p14:cNvPr>
                <p14:cNvContentPartPr/>
                <p14:nvPr/>
              </p14:nvContentPartPr>
              <p14:xfrm>
                <a:off x="3521304" y="4399416"/>
                <a:ext cx="181440" cy="266760"/>
              </p14:xfrm>
            </p:contentPart>
          </mc:Choice>
          <mc:Fallback xmlns="">
            <p:pic>
              <p:nvPicPr>
                <p:cNvPr id="10" name="Ink 9">
                  <a:extLst>
                    <a:ext uri="{FF2B5EF4-FFF2-40B4-BE49-F238E27FC236}">
                      <a16:creationId xmlns:a16="http://schemas.microsoft.com/office/drawing/2014/main" id="{71828EEF-FC81-FE9B-591A-88E165309464}"/>
                    </a:ext>
                  </a:extLst>
                </p:cNvPr>
                <p:cNvPicPr/>
                <p:nvPr/>
              </p:nvPicPr>
              <p:blipFill>
                <a:blip r:embed="rId5"/>
                <a:stretch>
                  <a:fillRect/>
                </a:stretch>
              </p:blipFill>
              <p:spPr>
                <a:xfrm>
                  <a:off x="3503304" y="4381776"/>
                  <a:ext cx="217080" cy="302400"/>
                </a:xfrm>
                <a:prstGeom prst="rect">
                  <a:avLst/>
                </a:prstGeom>
              </p:spPr>
            </p:pic>
          </mc:Fallback>
        </mc:AlternateContent>
      </p:grpSp>
    </p:spTree>
    <p:extLst>
      <p:ext uri="{BB962C8B-B14F-4D97-AF65-F5344CB8AC3E}">
        <p14:creationId xmlns:p14="http://schemas.microsoft.com/office/powerpoint/2010/main" val="699048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2C47-34CC-11FB-CF47-01AC996B47B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9AA42E-A86A-DF15-1547-4716DB0B5639}"/>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a:t>
            </a:r>
            <a:r>
              <a:rPr lang="en-US" sz="2400" b="1" dirty="0">
                <a:solidFill>
                  <a:schemeClr val="accent6">
                    <a:lumMod val="60000"/>
                    <a:lumOff val="40000"/>
                  </a:schemeClr>
                </a:solidFill>
              </a:rPr>
              <a:t>Legal documents </a:t>
            </a:r>
            <a:r>
              <a:rPr lang="en-US" sz="2400" dirty="0">
                <a:solidFill>
                  <a:schemeClr val="accent6">
                    <a:lumMod val="60000"/>
                    <a:lumOff val="40000"/>
                  </a:schemeClr>
                </a:solidFill>
              </a:rPr>
              <a:t>→ Model becomes better lawyer assistant </a:t>
            </a:r>
          </a:p>
        </p:txBody>
      </p:sp>
      <p:sp>
        <p:nvSpPr>
          <p:cNvPr id="3" name="TextBox 2">
            <a:extLst>
              <a:ext uri="{FF2B5EF4-FFF2-40B4-BE49-F238E27FC236}">
                <a16:creationId xmlns:a16="http://schemas.microsoft.com/office/drawing/2014/main" id="{F1C63AA3-08A9-8F6D-21AA-AF42C7B56547}"/>
              </a:ext>
            </a:extLst>
          </p:cNvPr>
          <p:cNvSpPr txBox="1"/>
          <p:nvPr/>
        </p:nvSpPr>
        <p:spPr>
          <a:xfrm>
            <a:off x="114300" y="1732895"/>
            <a:ext cx="5125212" cy="3447098"/>
          </a:xfrm>
          <a:prstGeom prst="rect">
            <a:avLst/>
          </a:prstGeom>
          <a:noFill/>
        </p:spPr>
        <p:txBody>
          <a:bodyPr wrap="square">
            <a:spAutoFit/>
          </a:bodyPr>
          <a:lstStyle/>
          <a:p>
            <a:pPr>
              <a:buNone/>
            </a:pPr>
            <a:r>
              <a:rPr lang="en-US" sz="2000" b="1" dirty="0">
                <a:solidFill>
                  <a:schemeClr val="accent6">
                    <a:lumMod val="60000"/>
                    <a:lumOff val="40000"/>
                  </a:schemeClr>
                </a:solidFill>
              </a:rPr>
              <a:t>Without Fine-Tuning (Generic Base Model)</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 have not paid your bill. Please pay it as soon as possible to avoid issues.</a:t>
            </a:r>
          </a:p>
          <a:p>
            <a:pPr>
              <a:buNone/>
            </a:pPr>
            <a:endParaRPr lang="en-US" sz="2000" dirty="0">
              <a:solidFill>
                <a:schemeClr val="accent4">
                  <a:lumMod val="60000"/>
                  <a:lumOff val="40000"/>
                </a:schemeClr>
              </a:solidFill>
            </a:endParaRPr>
          </a:p>
          <a:p>
            <a:pPr>
              <a:buNone/>
            </a:pPr>
            <a:endParaRPr lang="en-US" sz="2000" dirty="0">
              <a:solidFill>
                <a:schemeClr val="accent6">
                  <a:lumMod val="60000"/>
                  <a:lumOff val="40000"/>
                </a:schemeClr>
              </a:solidFill>
            </a:endParaRPr>
          </a:p>
          <a:p>
            <a:r>
              <a:rPr lang="en-US" sz="2000" dirty="0">
                <a:solidFill>
                  <a:schemeClr val="accent6">
                    <a:lumMod val="60000"/>
                    <a:lumOff val="40000"/>
                  </a:schemeClr>
                </a:solidFill>
              </a:rPr>
              <a:t>Problems:</a:t>
            </a:r>
          </a:p>
          <a:p>
            <a:pPr marL="285750" indent="-285750">
              <a:buFont typeface="Arial" panose="020B0604020202020204" pitchFamily="34" charset="0"/>
              <a:buChar char="•"/>
            </a:pPr>
            <a:r>
              <a:rPr lang="en-US" sz="2000" dirty="0">
                <a:solidFill>
                  <a:schemeClr val="accent6">
                    <a:lumMod val="60000"/>
                    <a:lumOff val="40000"/>
                  </a:schemeClr>
                </a:solidFill>
              </a:rPr>
              <a:t>Too casual </a:t>
            </a:r>
          </a:p>
          <a:p>
            <a:pPr marL="285750" indent="-285750">
              <a:buFont typeface="Arial" panose="020B0604020202020204" pitchFamily="34" charset="0"/>
              <a:buChar char="•"/>
            </a:pPr>
            <a:r>
              <a:rPr lang="en-US" sz="2000" dirty="0">
                <a:solidFill>
                  <a:schemeClr val="accent6">
                    <a:lumMod val="60000"/>
                    <a:lumOff val="40000"/>
                  </a:schemeClr>
                </a:solidFill>
              </a:rPr>
              <a:t>Not precise </a:t>
            </a:r>
          </a:p>
          <a:p>
            <a:pPr marL="285750" indent="-285750">
              <a:buFont typeface="Arial" panose="020B0604020202020204" pitchFamily="34" charset="0"/>
              <a:buChar char="•"/>
            </a:pPr>
            <a:r>
              <a:rPr lang="en-US" sz="2000" dirty="0">
                <a:solidFill>
                  <a:schemeClr val="accent6">
                    <a:lumMod val="60000"/>
                    <a:lumOff val="40000"/>
                  </a:schemeClr>
                </a:solidFill>
              </a:rPr>
              <a:t>Not legally safe </a:t>
            </a:r>
          </a:p>
          <a:p>
            <a:pPr marL="285750" indent="-285750">
              <a:buFont typeface="Arial" panose="020B0604020202020204" pitchFamily="34" charset="0"/>
              <a:buChar char="•"/>
            </a:pPr>
            <a:r>
              <a:rPr lang="en-US" sz="2000" dirty="0">
                <a:solidFill>
                  <a:schemeClr val="accent6">
                    <a:lumMod val="60000"/>
                    <a:lumOff val="40000"/>
                  </a:schemeClr>
                </a:solidFill>
              </a:rPr>
              <a:t>Lacks structure</a:t>
            </a:r>
          </a:p>
        </p:txBody>
      </p:sp>
      <p:sp>
        <p:nvSpPr>
          <p:cNvPr id="5" name="TextBox 4">
            <a:extLst>
              <a:ext uri="{FF2B5EF4-FFF2-40B4-BE49-F238E27FC236}">
                <a16:creationId xmlns:a16="http://schemas.microsoft.com/office/drawing/2014/main" id="{B24B084D-E664-6D74-7D95-4980B3E3A159}"/>
              </a:ext>
            </a:extLst>
          </p:cNvPr>
          <p:cNvSpPr txBox="1"/>
          <p:nvPr/>
        </p:nvSpPr>
        <p:spPr>
          <a:xfrm>
            <a:off x="5500116" y="1714375"/>
            <a:ext cx="6190488" cy="4708981"/>
          </a:xfrm>
          <a:prstGeom prst="rect">
            <a:avLst/>
          </a:prstGeom>
          <a:noFill/>
        </p:spPr>
        <p:txBody>
          <a:bodyPr wrap="square">
            <a:spAutoFit/>
          </a:bodyPr>
          <a:lstStyle/>
          <a:p>
            <a:pPr>
              <a:buNone/>
            </a:pPr>
            <a:r>
              <a:rPr lang="en-US" sz="2000" b="1" dirty="0">
                <a:solidFill>
                  <a:schemeClr val="accent6">
                    <a:lumMod val="60000"/>
                    <a:lumOff val="40000"/>
                  </a:schemeClr>
                </a:solidFill>
              </a:rPr>
              <a:t>With Fine-Tuning (Legal Document Tone)</a:t>
            </a:r>
          </a:p>
          <a:p>
            <a:pPr>
              <a:buNone/>
            </a:pPr>
            <a:endParaRPr lang="en-US" sz="2000" b="1" dirty="0">
              <a:solidFill>
                <a:schemeClr val="accent6">
                  <a:lumMod val="60000"/>
                  <a:lumOff val="40000"/>
                </a:schemeClr>
              </a:solidFill>
            </a:endParaRPr>
          </a:p>
          <a:p>
            <a:pPr>
              <a:buNone/>
            </a:pPr>
            <a:r>
              <a:rPr lang="en-US" sz="2000" b="1" dirty="0">
                <a:solidFill>
                  <a:schemeClr val="accent4">
                    <a:lumMod val="60000"/>
                    <a:lumOff val="40000"/>
                  </a:schemeClr>
                </a:solidFill>
              </a:rPr>
              <a:t>Notice of Outstanding Payment</a:t>
            </a: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This is to formally notify you that payment in the amount of ₹10,000 remains outstanding as of the date of this notice.</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According to </a:t>
            </a:r>
            <a:r>
              <a:rPr lang="en-US" sz="2000" b="1" u="sng" dirty="0">
                <a:solidFill>
                  <a:schemeClr val="accent4">
                    <a:lumMod val="60000"/>
                    <a:lumOff val="40000"/>
                  </a:schemeClr>
                </a:solidFill>
              </a:rPr>
              <a:t>Loxford Academy </a:t>
            </a:r>
            <a:r>
              <a:rPr lang="en-US" sz="2000" dirty="0">
                <a:solidFill>
                  <a:schemeClr val="accent4">
                    <a:lumMod val="60000"/>
                    <a:lumOff val="40000"/>
                  </a:schemeClr>
                </a:solidFill>
              </a:rPr>
              <a:t>policies, it is required to remit the outstanding balance </a:t>
            </a:r>
            <a:r>
              <a:rPr lang="en-US" sz="2000" b="1" u="sng" dirty="0">
                <a:solidFill>
                  <a:schemeClr val="accent4">
                    <a:lumMod val="60000"/>
                    <a:lumOff val="40000"/>
                  </a:schemeClr>
                </a:solidFill>
              </a:rPr>
              <a:t>within seven (7) days </a:t>
            </a:r>
            <a:r>
              <a:rPr lang="en-US" sz="2000" dirty="0">
                <a:solidFill>
                  <a:schemeClr val="accent4">
                    <a:lumMod val="60000"/>
                    <a:lumOff val="40000"/>
                  </a:schemeClr>
                </a:solidFill>
              </a:rPr>
              <a:t>from receipt of this notice, failing which further action may be initiated in accordance with contractual obligations defined by </a:t>
            </a:r>
            <a:r>
              <a:rPr lang="en-US" sz="2000" b="1" u="sng" dirty="0">
                <a:solidFill>
                  <a:schemeClr val="accent4">
                    <a:lumMod val="60000"/>
                    <a:lumOff val="40000"/>
                  </a:schemeClr>
                </a:solidFill>
              </a:rPr>
              <a:t>Loxford Agreement 3.6.67</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This notice is issued without prejudice to any other rights or remedies available.</a:t>
            </a:r>
          </a:p>
        </p:txBody>
      </p:sp>
      <p:sp>
        <p:nvSpPr>
          <p:cNvPr id="6" name="Oval 5">
            <a:extLst>
              <a:ext uri="{FF2B5EF4-FFF2-40B4-BE49-F238E27FC236}">
                <a16:creationId xmlns:a16="http://schemas.microsoft.com/office/drawing/2014/main" id="{2429F763-6A7E-F1B8-0BAB-4BAF5DD5D160}"/>
              </a:ext>
            </a:extLst>
          </p:cNvPr>
          <p:cNvSpPr/>
          <p:nvPr/>
        </p:nvSpPr>
        <p:spPr>
          <a:xfrm>
            <a:off x="6318504" y="1081100"/>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8" name="Group 7">
            <a:extLst>
              <a:ext uri="{FF2B5EF4-FFF2-40B4-BE49-F238E27FC236}">
                <a16:creationId xmlns:a16="http://schemas.microsoft.com/office/drawing/2014/main" id="{C947BF97-3FE2-6CCE-1759-948CE48EE9CC}"/>
              </a:ext>
            </a:extLst>
          </p:cNvPr>
          <p:cNvGrpSpPr/>
          <p:nvPr/>
        </p:nvGrpSpPr>
        <p:grpSpPr>
          <a:xfrm>
            <a:off x="3809880" y="1114738"/>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51C7A33B-5B62-0BFD-3CF4-1878D25B08AE}"/>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51C7A33B-5B62-0BFD-3CF4-1878D25B08AE}"/>
                    </a:ext>
                  </a:extLst>
                </p:cNvPr>
                <p:cNvPicPr/>
                <p:nvPr/>
              </p:nvPicPr>
              <p:blipFill>
                <a:blip r:embed="rId3"/>
                <a:stretch>
                  <a:fillRect/>
                </a:stretch>
              </p:blipFill>
              <p:spPr>
                <a:xfrm>
                  <a:off x="2903336" y="450813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22145DF-B926-EC1A-FEA4-4B6AE92D2FDD}"/>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B22145DF-B926-EC1A-FEA4-4B6AE92D2FDD}"/>
                    </a:ext>
                  </a:extLst>
                </p:cNvPr>
                <p:cNvPicPr/>
                <p:nvPr/>
              </p:nvPicPr>
              <p:blipFill>
                <a:blip r:embed="rId5"/>
                <a:stretch>
                  <a:fillRect/>
                </a:stretch>
              </p:blipFill>
              <p:spPr>
                <a:xfrm>
                  <a:off x="3514604" y="4381776"/>
                  <a:ext cx="194706" cy="302400"/>
                </a:xfrm>
                <a:prstGeom prst="rect">
                  <a:avLst/>
                </a:prstGeom>
              </p:spPr>
            </p:pic>
          </mc:Fallback>
        </mc:AlternateContent>
      </p:grpSp>
      <p:sp>
        <p:nvSpPr>
          <p:cNvPr id="12" name="Freeform: Shape 11">
            <a:extLst>
              <a:ext uri="{FF2B5EF4-FFF2-40B4-BE49-F238E27FC236}">
                <a16:creationId xmlns:a16="http://schemas.microsoft.com/office/drawing/2014/main" id="{4F94ED1D-6927-41C1-C1D6-461D20B18993}"/>
              </a:ext>
            </a:extLst>
          </p:cNvPr>
          <p:cNvSpPr/>
          <p:nvPr/>
        </p:nvSpPr>
        <p:spPr>
          <a:xfrm>
            <a:off x="2183242" y="940707"/>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1913592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D597-447B-36D1-BA6A-9C5586DA0BB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73D0798-9958-3DF2-E941-0DA3F61D5FEB}"/>
              </a:ext>
            </a:extLst>
          </p:cNvPr>
          <p:cNvSpPr txBox="1"/>
          <p:nvPr/>
        </p:nvSpPr>
        <p:spPr>
          <a:xfrm>
            <a:off x="301244" y="10766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a:t>
            </a:r>
            <a:r>
              <a:rPr lang="en-US" sz="2400" b="1" dirty="0">
                <a:solidFill>
                  <a:schemeClr val="accent6">
                    <a:lumMod val="60000"/>
                    <a:lumOff val="40000"/>
                  </a:schemeClr>
                </a:solidFill>
              </a:rPr>
              <a:t>Medical records </a:t>
            </a:r>
            <a:r>
              <a:rPr lang="en-US" sz="2400" dirty="0">
                <a:solidFill>
                  <a:schemeClr val="accent6">
                    <a:lumMod val="60000"/>
                    <a:lumOff val="40000"/>
                  </a:schemeClr>
                </a:solidFill>
              </a:rPr>
              <a:t>→ Model becomes healthcare assistant </a:t>
            </a:r>
          </a:p>
        </p:txBody>
      </p:sp>
      <p:sp>
        <p:nvSpPr>
          <p:cNvPr id="3" name="TextBox 2">
            <a:extLst>
              <a:ext uri="{FF2B5EF4-FFF2-40B4-BE49-F238E27FC236}">
                <a16:creationId xmlns:a16="http://schemas.microsoft.com/office/drawing/2014/main" id="{880454C4-B1BE-6BB0-D8D0-3321F319DC73}"/>
              </a:ext>
            </a:extLst>
          </p:cNvPr>
          <p:cNvSpPr txBox="1"/>
          <p:nvPr/>
        </p:nvSpPr>
        <p:spPr>
          <a:xfrm>
            <a:off x="148336" y="1167040"/>
            <a:ext cx="5298948" cy="4093428"/>
          </a:xfrm>
          <a:prstGeom prst="rect">
            <a:avLst/>
          </a:prstGeom>
          <a:noFill/>
        </p:spPr>
        <p:txBody>
          <a:bodyPr wrap="square">
            <a:spAutoFit/>
          </a:bodyPr>
          <a:lstStyle/>
          <a:p>
            <a:r>
              <a:rPr lang="en-US" sz="2000" b="1" dirty="0">
                <a:solidFill>
                  <a:schemeClr val="accent6">
                    <a:lumMod val="60000"/>
                    <a:lumOff val="40000"/>
                  </a:schemeClr>
                </a:solidFill>
              </a:rPr>
              <a:t>Without Fine-Tuning (Generic Base Model)</a:t>
            </a:r>
          </a:p>
          <a:p>
            <a:pPr>
              <a:buNone/>
            </a:pPr>
            <a:r>
              <a:rPr lang="en-US" sz="2000" b="1" dirty="0">
                <a:solidFill>
                  <a:schemeClr val="accent6">
                    <a:lumMod val="60000"/>
                    <a:lumOff val="40000"/>
                  </a:schemeClr>
                </a:solidFill>
              </a:rPr>
              <a:t>Response:</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The patient was admitted for stomach pain. They got better and are going home with medicines.</a:t>
            </a: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Problems:</a:t>
            </a:r>
          </a:p>
          <a:p>
            <a:pPr marL="285750" indent="-285750">
              <a:buFont typeface="Arial" panose="020B0604020202020204" pitchFamily="34" charset="0"/>
              <a:buChar char="•"/>
            </a:pPr>
            <a:r>
              <a:rPr lang="en-US" sz="2000" dirty="0">
                <a:solidFill>
                  <a:schemeClr val="accent6">
                    <a:lumMod val="60000"/>
                    <a:lumOff val="40000"/>
                  </a:schemeClr>
                </a:solidFill>
              </a:rPr>
              <a:t>No diagnosis clarity </a:t>
            </a:r>
          </a:p>
          <a:p>
            <a:pPr marL="285750" indent="-285750">
              <a:buFont typeface="Arial" panose="020B0604020202020204" pitchFamily="34" charset="0"/>
              <a:buChar char="•"/>
            </a:pPr>
            <a:r>
              <a:rPr lang="en-US" sz="2000" dirty="0">
                <a:solidFill>
                  <a:schemeClr val="accent6">
                    <a:lumMod val="60000"/>
                    <a:lumOff val="40000"/>
                  </a:schemeClr>
                </a:solidFill>
              </a:rPr>
              <a:t>No timeline </a:t>
            </a:r>
          </a:p>
          <a:p>
            <a:pPr marL="285750" indent="-285750">
              <a:buFont typeface="Arial" panose="020B0604020202020204" pitchFamily="34" charset="0"/>
              <a:buChar char="•"/>
            </a:pPr>
            <a:r>
              <a:rPr lang="en-US" sz="2000" dirty="0">
                <a:solidFill>
                  <a:schemeClr val="accent6">
                    <a:lumMod val="60000"/>
                    <a:lumOff val="40000"/>
                  </a:schemeClr>
                </a:solidFill>
              </a:rPr>
              <a:t>No instructions </a:t>
            </a:r>
          </a:p>
          <a:p>
            <a:pPr marL="285750" indent="-285750">
              <a:buFont typeface="Arial" panose="020B0604020202020204" pitchFamily="34" charset="0"/>
              <a:buChar char="•"/>
            </a:pPr>
            <a:r>
              <a:rPr lang="en-US" sz="2000" dirty="0">
                <a:solidFill>
                  <a:schemeClr val="accent6">
                    <a:lumMod val="60000"/>
                    <a:lumOff val="40000"/>
                  </a:schemeClr>
                </a:solidFill>
              </a:rPr>
              <a:t>Unsafe in real healthcare context</a:t>
            </a:r>
          </a:p>
        </p:txBody>
      </p:sp>
      <p:sp>
        <p:nvSpPr>
          <p:cNvPr id="5" name="TextBox 4">
            <a:extLst>
              <a:ext uri="{FF2B5EF4-FFF2-40B4-BE49-F238E27FC236}">
                <a16:creationId xmlns:a16="http://schemas.microsoft.com/office/drawing/2014/main" id="{1AF23F6A-2E55-0E51-8FA1-E76D2F091E8A}"/>
              </a:ext>
            </a:extLst>
          </p:cNvPr>
          <p:cNvSpPr txBox="1"/>
          <p:nvPr/>
        </p:nvSpPr>
        <p:spPr>
          <a:xfrm>
            <a:off x="5939028" y="1191596"/>
            <a:ext cx="6190488" cy="5632311"/>
          </a:xfrm>
          <a:prstGeom prst="rect">
            <a:avLst/>
          </a:prstGeom>
          <a:noFill/>
        </p:spPr>
        <p:txBody>
          <a:bodyPr wrap="square">
            <a:spAutoFit/>
          </a:bodyPr>
          <a:lstStyle/>
          <a:p>
            <a:pPr>
              <a:buNone/>
            </a:pPr>
            <a:r>
              <a:rPr lang="en-US" sz="2000" b="1" dirty="0">
                <a:solidFill>
                  <a:schemeClr val="accent6">
                    <a:lumMod val="60000"/>
                    <a:lumOff val="40000"/>
                  </a:schemeClr>
                </a:solidFill>
              </a:rPr>
              <a:t>With Fine-Tuning (Medical Documentation Tone)</a:t>
            </a:r>
          </a:p>
          <a:p>
            <a:pPr>
              <a:buNone/>
            </a:pPr>
            <a:r>
              <a:rPr lang="en-US" b="1" dirty="0">
                <a:solidFill>
                  <a:schemeClr val="accent6">
                    <a:lumMod val="60000"/>
                    <a:lumOff val="40000"/>
                  </a:schemeClr>
                </a:solidFill>
              </a:rPr>
              <a:t>Response: </a:t>
            </a:r>
          </a:p>
          <a:p>
            <a:pPr>
              <a:buNone/>
            </a:pPr>
            <a:r>
              <a:rPr lang="en-US" b="1" dirty="0">
                <a:solidFill>
                  <a:schemeClr val="accent4">
                    <a:lumMod val="60000"/>
                    <a:lumOff val="40000"/>
                  </a:schemeClr>
                </a:solidFill>
              </a:rPr>
              <a:t>Discharge Summary</a:t>
            </a:r>
            <a:endParaRPr lang="en-US" dirty="0">
              <a:solidFill>
                <a:schemeClr val="accent4">
                  <a:lumMod val="60000"/>
                  <a:lumOff val="40000"/>
                </a:schemeClr>
              </a:solidFill>
            </a:endParaRPr>
          </a:p>
          <a:p>
            <a:pPr>
              <a:buNone/>
            </a:pPr>
            <a:r>
              <a:rPr lang="en-US" b="1" dirty="0">
                <a:solidFill>
                  <a:schemeClr val="accent4">
                    <a:lumMod val="60000"/>
                    <a:lumOff val="40000"/>
                  </a:schemeClr>
                </a:solidFill>
              </a:rPr>
              <a:t>Admission Date:</a:t>
            </a:r>
            <a:r>
              <a:rPr lang="en-US" dirty="0">
                <a:solidFill>
                  <a:schemeClr val="accent4">
                    <a:lumMod val="60000"/>
                    <a:lumOff val="40000"/>
                  </a:schemeClr>
                </a:solidFill>
              </a:rPr>
              <a:t> 12 March 2018</a:t>
            </a:r>
            <a:br>
              <a:rPr lang="en-US" dirty="0">
                <a:solidFill>
                  <a:schemeClr val="accent4">
                    <a:lumMod val="60000"/>
                    <a:lumOff val="40000"/>
                  </a:schemeClr>
                </a:solidFill>
              </a:rPr>
            </a:br>
            <a:r>
              <a:rPr lang="en-US" b="1" dirty="0">
                <a:solidFill>
                  <a:schemeClr val="accent4">
                    <a:lumMod val="60000"/>
                    <a:lumOff val="40000"/>
                  </a:schemeClr>
                </a:solidFill>
              </a:rPr>
              <a:t>Discharge Date:</a:t>
            </a:r>
            <a:r>
              <a:rPr lang="en-US" dirty="0">
                <a:solidFill>
                  <a:schemeClr val="accent4">
                    <a:lumMod val="60000"/>
                    <a:lumOff val="40000"/>
                  </a:schemeClr>
                </a:solidFill>
              </a:rPr>
              <a:t> 15 March 2018</a:t>
            </a:r>
          </a:p>
          <a:p>
            <a:pPr>
              <a:buNone/>
            </a:pPr>
            <a:endParaRPr lang="en-US" b="1" dirty="0">
              <a:solidFill>
                <a:schemeClr val="accent4">
                  <a:lumMod val="60000"/>
                  <a:lumOff val="40000"/>
                </a:schemeClr>
              </a:solidFill>
            </a:endParaRPr>
          </a:p>
          <a:p>
            <a:pPr>
              <a:buNone/>
            </a:pPr>
            <a:r>
              <a:rPr lang="en-US" b="1" dirty="0">
                <a:solidFill>
                  <a:schemeClr val="accent4">
                    <a:lumMod val="60000"/>
                    <a:lumOff val="40000"/>
                  </a:schemeClr>
                </a:solidFill>
              </a:rPr>
              <a:t>Diagnosis:</a:t>
            </a:r>
            <a:r>
              <a:rPr lang="en-US" dirty="0">
                <a:solidFill>
                  <a:schemeClr val="accent4">
                    <a:lumMod val="60000"/>
                    <a:lumOff val="40000"/>
                  </a:schemeClr>
                </a:solidFill>
              </a:rPr>
              <a:t> Acute gastritis</a:t>
            </a:r>
          </a:p>
          <a:p>
            <a:pPr>
              <a:buNone/>
            </a:pPr>
            <a:r>
              <a:rPr lang="en-US" b="1" dirty="0">
                <a:solidFill>
                  <a:schemeClr val="accent4">
                    <a:lumMod val="60000"/>
                    <a:lumOff val="40000"/>
                  </a:schemeClr>
                </a:solidFill>
              </a:rPr>
              <a:t>Hospital Course:</a:t>
            </a:r>
            <a:br>
              <a:rPr lang="en-US" dirty="0">
                <a:solidFill>
                  <a:schemeClr val="accent4">
                    <a:lumMod val="60000"/>
                    <a:lumOff val="40000"/>
                  </a:schemeClr>
                </a:solidFill>
              </a:rPr>
            </a:br>
            <a:r>
              <a:rPr lang="en-US" dirty="0">
                <a:solidFill>
                  <a:schemeClr val="accent4">
                    <a:lumMod val="60000"/>
                    <a:lumOff val="40000"/>
                  </a:schemeClr>
                </a:solidFill>
              </a:rPr>
              <a:t>The patient was admitted with complaints of epigastric pain and nausea. Laboratory investigations were within normal limits. The patient was managed conservatively with proton pump inhibitors and supportive care, resulting in symptomatic improvement.</a:t>
            </a:r>
          </a:p>
          <a:p>
            <a:pPr>
              <a:buNone/>
            </a:pPr>
            <a:endParaRPr lang="en-US" dirty="0">
              <a:solidFill>
                <a:schemeClr val="accent4">
                  <a:lumMod val="60000"/>
                  <a:lumOff val="40000"/>
                </a:schemeClr>
              </a:solidFill>
            </a:endParaRPr>
          </a:p>
          <a:p>
            <a:pPr>
              <a:buNone/>
            </a:pPr>
            <a:r>
              <a:rPr lang="en-US" b="1" dirty="0">
                <a:solidFill>
                  <a:schemeClr val="accent4">
                    <a:lumMod val="60000"/>
                    <a:lumOff val="40000"/>
                  </a:schemeClr>
                </a:solidFill>
              </a:rPr>
              <a:t>Condition at Discharge:</a:t>
            </a:r>
            <a:r>
              <a:rPr lang="en-US" dirty="0">
                <a:solidFill>
                  <a:schemeClr val="accent4">
                    <a:lumMod val="60000"/>
                    <a:lumOff val="40000"/>
                  </a:schemeClr>
                </a:solidFill>
              </a:rPr>
              <a:t> Stable</a:t>
            </a:r>
          </a:p>
          <a:p>
            <a:pPr>
              <a:buNone/>
            </a:pPr>
            <a:r>
              <a:rPr lang="en-US" b="1" dirty="0">
                <a:solidFill>
                  <a:schemeClr val="accent4">
                    <a:lumMod val="60000"/>
                    <a:lumOff val="40000"/>
                  </a:schemeClr>
                </a:solidFill>
              </a:rPr>
              <a:t>Discharge Medications:</a:t>
            </a:r>
            <a:endParaRPr lang="en-US" dirty="0">
              <a:solidFill>
                <a:schemeClr val="accent4">
                  <a:lumMod val="60000"/>
                  <a:lumOff val="40000"/>
                </a:schemeClr>
              </a:solidFill>
            </a:endParaRPr>
          </a:p>
          <a:p>
            <a:pPr marL="285750" indent="-285750">
              <a:buFont typeface="Arial" panose="020B0604020202020204" pitchFamily="34" charset="0"/>
              <a:buChar char="•"/>
            </a:pPr>
            <a:r>
              <a:rPr lang="en-US" dirty="0">
                <a:solidFill>
                  <a:schemeClr val="accent4">
                    <a:lumMod val="60000"/>
                    <a:lumOff val="40000"/>
                  </a:schemeClr>
                </a:solidFill>
              </a:rPr>
              <a:t>Pantoprazole 40 mg once daily before meals </a:t>
            </a:r>
          </a:p>
          <a:p>
            <a:pPr>
              <a:buNone/>
            </a:pPr>
            <a:r>
              <a:rPr lang="en-US" b="1" dirty="0">
                <a:solidFill>
                  <a:schemeClr val="accent4">
                    <a:lumMod val="60000"/>
                    <a:lumOff val="40000"/>
                  </a:schemeClr>
                </a:solidFill>
              </a:rPr>
              <a:t>Discharge Instructions:</a:t>
            </a:r>
            <a:endParaRPr lang="en-US" dirty="0">
              <a:solidFill>
                <a:schemeClr val="accent4">
                  <a:lumMod val="60000"/>
                  <a:lumOff val="40000"/>
                </a:schemeClr>
              </a:solidFill>
            </a:endParaRPr>
          </a:p>
          <a:p>
            <a:pPr marL="285750" indent="-285750">
              <a:buFont typeface="Arial" panose="020B0604020202020204" pitchFamily="34" charset="0"/>
              <a:buChar char="•"/>
            </a:pPr>
            <a:r>
              <a:rPr lang="en-US" dirty="0">
                <a:solidFill>
                  <a:schemeClr val="accent4">
                    <a:lumMod val="60000"/>
                    <a:lumOff val="40000"/>
                  </a:schemeClr>
                </a:solidFill>
              </a:rPr>
              <a:t>Avoid spicy and oily foods </a:t>
            </a:r>
          </a:p>
          <a:p>
            <a:pPr marL="285750" indent="-285750">
              <a:buFont typeface="Arial" panose="020B0604020202020204" pitchFamily="34" charset="0"/>
              <a:buChar char="•"/>
            </a:pPr>
            <a:r>
              <a:rPr lang="en-US" dirty="0">
                <a:solidFill>
                  <a:schemeClr val="accent4">
                    <a:lumMod val="60000"/>
                    <a:lumOff val="40000"/>
                  </a:schemeClr>
                </a:solidFill>
              </a:rPr>
              <a:t>Follow up in outpatient department after 1 week</a:t>
            </a:r>
          </a:p>
        </p:txBody>
      </p:sp>
    </p:spTree>
    <p:extLst>
      <p:ext uri="{BB962C8B-B14F-4D97-AF65-F5344CB8AC3E}">
        <p14:creationId xmlns:p14="http://schemas.microsoft.com/office/powerpoint/2010/main" val="4070405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99663-C34A-BDC8-8C93-FEE1F2F4CF6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AB49F01-89A3-D7D6-71EB-591BBDEF6474}"/>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fine tune a model on </a:t>
            </a:r>
            <a:r>
              <a:rPr lang="en-US" sz="2400" b="1" dirty="0">
                <a:solidFill>
                  <a:schemeClr val="accent6">
                    <a:lumMod val="60000"/>
                    <a:lumOff val="40000"/>
                  </a:schemeClr>
                </a:solidFill>
              </a:rPr>
              <a:t>Math problems </a:t>
            </a:r>
            <a:r>
              <a:rPr lang="en-US" sz="2400" dirty="0">
                <a:solidFill>
                  <a:schemeClr val="accent6">
                    <a:lumMod val="60000"/>
                    <a:lumOff val="40000"/>
                  </a:schemeClr>
                </a:solidFill>
              </a:rPr>
              <a:t>to produce JSON output</a:t>
            </a:r>
          </a:p>
        </p:txBody>
      </p:sp>
      <p:sp>
        <p:nvSpPr>
          <p:cNvPr id="3" name="TextBox 2">
            <a:extLst>
              <a:ext uri="{FF2B5EF4-FFF2-40B4-BE49-F238E27FC236}">
                <a16:creationId xmlns:a16="http://schemas.microsoft.com/office/drawing/2014/main" id="{1F743DBE-9694-7583-7E25-12AAC82CC810}"/>
              </a:ext>
            </a:extLst>
          </p:cNvPr>
          <p:cNvSpPr txBox="1"/>
          <p:nvPr/>
        </p:nvSpPr>
        <p:spPr>
          <a:xfrm>
            <a:off x="148336" y="2283680"/>
            <a:ext cx="4082796" cy="1323439"/>
          </a:xfrm>
          <a:prstGeom prst="rect">
            <a:avLst/>
          </a:prstGeom>
          <a:noFill/>
        </p:spPr>
        <p:txBody>
          <a:bodyPr wrap="square">
            <a:spAutoFit/>
          </a:bodyPr>
          <a:lstStyle/>
          <a:p>
            <a:pPr>
              <a:buNone/>
            </a:pPr>
            <a:r>
              <a:rPr lang="en-US" sz="2000" b="1" u="sng" dirty="0">
                <a:solidFill>
                  <a:schemeClr val="accent6">
                    <a:lumMod val="60000"/>
                    <a:lumOff val="40000"/>
                  </a:schemeClr>
                </a:solidFill>
              </a:rPr>
              <a:t>Input:</a:t>
            </a:r>
          </a:p>
          <a:p>
            <a:pPr>
              <a:buNone/>
            </a:pPr>
            <a:endParaRPr lang="en-US" sz="2000" b="1" u="sng" dirty="0">
              <a:solidFill>
                <a:schemeClr val="accent4">
                  <a:lumMod val="60000"/>
                  <a:lumOff val="40000"/>
                </a:schemeClr>
              </a:solidFill>
            </a:endParaRPr>
          </a:p>
          <a:p>
            <a:pPr>
              <a:buNone/>
            </a:pPr>
            <a:r>
              <a:rPr lang="en-US" sz="2000" dirty="0">
                <a:solidFill>
                  <a:schemeClr val="accent4">
                    <a:lumMod val="60000"/>
                    <a:lumOff val="40000"/>
                  </a:schemeClr>
                </a:solidFill>
              </a:rPr>
              <a:t>Michael bought 6 bananas for $12. He loves eating banana.</a:t>
            </a:r>
          </a:p>
        </p:txBody>
      </p:sp>
      <p:sp>
        <p:nvSpPr>
          <p:cNvPr id="5" name="TextBox 4">
            <a:extLst>
              <a:ext uri="{FF2B5EF4-FFF2-40B4-BE49-F238E27FC236}">
                <a16:creationId xmlns:a16="http://schemas.microsoft.com/office/drawing/2014/main" id="{2F53F2B6-4443-D462-4ED2-B70A7BFC9BD3}"/>
              </a:ext>
            </a:extLst>
          </p:cNvPr>
          <p:cNvSpPr txBox="1"/>
          <p:nvPr/>
        </p:nvSpPr>
        <p:spPr>
          <a:xfrm>
            <a:off x="7822692" y="2178827"/>
            <a:ext cx="2926080" cy="2031325"/>
          </a:xfrm>
          <a:prstGeom prst="rect">
            <a:avLst/>
          </a:prstGeom>
          <a:noFill/>
        </p:spPr>
        <p:txBody>
          <a:bodyPr wrap="square">
            <a:spAutoFit/>
          </a:bodyPr>
          <a:lstStyle/>
          <a:p>
            <a:pPr>
              <a:buNone/>
            </a:pPr>
            <a:r>
              <a:rPr lang="en-US" b="1" u="sng" dirty="0">
                <a:solidFill>
                  <a:schemeClr val="accent4">
                    <a:lumMod val="60000"/>
                    <a:lumOff val="40000"/>
                  </a:schemeClr>
                </a:solidFill>
              </a:rPr>
              <a:t>Output:</a:t>
            </a:r>
          </a:p>
          <a:p>
            <a:pPr>
              <a:buNone/>
            </a:pPr>
            <a:endParaRPr lang="en-US" b="1" dirty="0">
              <a:solidFill>
                <a:schemeClr val="accent4">
                  <a:lumMod val="60000"/>
                  <a:lumOff val="40000"/>
                </a:schemeClr>
              </a:solidFill>
            </a:endParaRPr>
          </a:p>
          <a:p>
            <a:pPr>
              <a:buNone/>
            </a:pPr>
            <a:r>
              <a:rPr lang="en-US" dirty="0">
                <a:solidFill>
                  <a:schemeClr val="accent4">
                    <a:lumMod val="60000"/>
                    <a:lumOff val="40000"/>
                  </a:schemeClr>
                </a:solidFill>
              </a:rPr>
              <a:t>{"name": "Michael", </a:t>
            </a:r>
          </a:p>
          <a:p>
            <a:pPr>
              <a:buNone/>
            </a:pPr>
            <a:r>
              <a:rPr lang="en-US" dirty="0">
                <a:solidFill>
                  <a:schemeClr val="accent4">
                    <a:lumMod val="60000"/>
                    <a:lumOff val="40000"/>
                  </a:schemeClr>
                </a:solidFill>
              </a:rPr>
              <a:t>"item": "bananas", </a:t>
            </a:r>
          </a:p>
          <a:p>
            <a:pPr>
              <a:buNone/>
            </a:pPr>
            <a:r>
              <a:rPr lang="en-US" dirty="0">
                <a:solidFill>
                  <a:schemeClr val="accent4">
                    <a:lumMod val="60000"/>
                    <a:lumOff val="40000"/>
                  </a:schemeClr>
                </a:solidFill>
              </a:rPr>
              <a:t>"quantity": 6, </a:t>
            </a:r>
          </a:p>
          <a:p>
            <a:pPr>
              <a:buNone/>
            </a:pPr>
            <a:r>
              <a:rPr lang="en-US" dirty="0">
                <a:solidFill>
                  <a:schemeClr val="accent4">
                    <a:lumMod val="60000"/>
                    <a:lumOff val="40000"/>
                  </a:schemeClr>
                </a:solidFill>
              </a:rPr>
              <a:t>"price": 12</a:t>
            </a:r>
          </a:p>
          <a:p>
            <a:pPr>
              <a:buNone/>
            </a:pPr>
            <a:r>
              <a:rPr lang="en-US" dirty="0">
                <a:solidFill>
                  <a:schemeClr val="accent4">
                    <a:lumMod val="60000"/>
                    <a:lumOff val="40000"/>
                  </a:schemeClr>
                </a:solidFill>
              </a:rPr>
              <a:t>}</a:t>
            </a:r>
          </a:p>
        </p:txBody>
      </p:sp>
      <p:sp>
        <p:nvSpPr>
          <p:cNvPr id="2" name="TextBox 1">
            <a:extLst>
              <a:ext uri="{FF2B5EF4-FFF2-40B4-BE49-F238E27FC236}">
                <a16:creationId xmlns:a16="http://schemas.microsoft.com/office/drawing/2014/main" id="{586F9BC4-851F-5582-DC78-9BA95B75CD58}"/>
              </a:ext>
            </a:extLst>
          </p:cNvPr>
          <p:cNvSpPr txBox="1"/>
          <p:nvPr/>
        </p:nvSpPr>
        <p:spPr>
          <a:xfrm>
            <a:off x="75184" y="4609464"/>
            <a:ext cx="4844288" cy="1323439"/>
          </a:xfrm>
          <a:prstGeom prst="rect">
            <a:avLst/>
          </a:prstGeom>
          <a:noFill/>
        </p:spPr>
        <p:txBody>
          <a:bodyPr wrap="square">
            <a:spAutoFit/>
          </a:bodyPr>
          <a:lstStyle/>
          <a:p>
            <a:r>
              <a:rPr lang="en-US" sz="2000" b="1" u="sng" dirty="0">
                <a:solidFill>
                  <a:schemeClr val="accent6">
                    <a:lumMod val="60000"/>
                    <a:lumOff val="40000"/>
                  </a:schemeClr>
                </a:solidFill>
              </a:rPr>
              <a:t>Input:</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James bought 2 pen and  it cost him for $4. He bought the pen  on this Sunday</a:t>
            </a:r>
          </a:p>
        </p:txBody>
      </p:sp>
      <p:sp>
        <p:nvSpPr>
          <p:cNvPr id="4" name="TextBox 3">
            <a:extLst>
              <a:ext uri="{FF2B5EF4-FFF2-40B4-BE49-F238E27FC236}">
                <a16:creationId xmlns:a16="http://schemas.microsoft.com/office/drawing/2014/main" id="{A070E300-E50E-F985-F5DF-455D84B1A26B}"/>
              </a:ext>
            </a:extLst>
          </p:cNvPr>
          <p:cNvSpPr txBox="1"/>
          <p:nvPr/>
        </p:nvSpPr>
        <p:spPr>
          <a:xfrm>
            <a:off x="7822692" y="4444646"/>
            <a:ext cx="2926080" cy="2031325"/>
          </a:xfrm>
          <a:prstGeom prst="rect">
            <a:avLst/>
          </a:prstGeom>
          <a:noFill/>
        </p:spPr>
        <p:txBody>
          <a:bodyPr wrap="square">
            <a:spAutoFit/>
          </a:bodyPr>
          <a:lstStyle/>
          <a:p>
            <a:pPr>
              <a:buNone/>
            </a:pPr>
            <a:r>
              <a:rPr lang="en-US" b="1" u="sng" dirty="0">
                <a:solidFill>
                  <a:schemeClr val="accent4">
                    <a:lumMod val="60000"/>
                    <a:lumOff val="40000"/>
                  </a:schemeClr>
                </a:solidFill>
              </a:rPr>
              <a:t>Output:</a:t>
            </a:r>
          </a:p>
          <a:p>
            <a:pPr>
              <a:buNone/>
            </a:pPr>
            <a:endParaRPr lang="en-US" b="1" dirty="0">
              <a:solidFill>
                <a:schemeClr val="accent4">
                  <a:lumMod val="60000"/>
                  <a:lumOff val="40000"/>
                </a:schemeClr>
              </a:solidFill>
            </a:endParaRPr>
          </a:p>
          <a:p>
            <a:pPr>
              <a:buNone/>
            </a:pPr>
            <a:r>
              <a:rPr lang="en-US" dirty="0">
                <a:solidFill>
                  <a:schemeClr val="accent4">
                    <a:lumMod val="60000"/>
                    <a:lumOff val="40000"/>
                  </a:schemeClr>
                </a:solidFill>
              </a:rPr>
              <a:t>{"name": “James", </a:t>
            </a:r>
          </a:p>
          <a:p>
            <a:pPr>
              <a:buNone/>
            </a:pPr>
            <a:r>
              <a:rPr lang="en-US" dirty="0">
                <a:solidFill>
                  <a:schemeClr val="accent4">
                    <a:lumMod val="60000"/>
                    <a:lumOff val="40000"/>
                  </a:schemeClr>
                </a:solidFill>
              </a:rPr>
              <a:t>"item": “pen", </a:t>
            </a:r>
          </a:p>
          <a:p>
            <a:pPr>
              <a:buNone/>
            </a:pPr>
            <a:r>
              <a:rPr lang="en-US" dirty="0">
                <a:solidFill>
                  <a:schemeClr val="accent4">
                    <a:lumMod val="60000"/>
                    <a:lumOff val="40000"/>
                  </a:schemeClr>
                </a:solidFill>
              </a:rPr>
              <a:t>"quantity": 2, </a:t>
            </a:r>
          </a:p>
          <a:p>
            <a:pPr>
              <a:buNone/>
            </a:pPr>
            <a:r>
              <a:rPr lang="en-US" dirty="0">
                <a:solidFill>
                  <a:schemeClr val="accent4">
                    <a:lumMod val="60000"/>
                    <a:lumOff val="40000"/>
                  </a:schemeClr>
                </a:solidFill>
              </a:rPr>
              <a:t>"price": 4</a:t>
            </a:r>
          </a:p>
          <a:p>
            <a:pPr>
              <a:buNone/>
            </a:pPr>
            <a:r>
              <a:rPr lang="en-US" dirty="0">
                <a:solidFill>
                  <a:schemeClr val="accent4">
                    <a:lumMod val="60000"/>
                    <a:lumOff val="40000"/>
                  </a:schemeClr>
                </a:solidFill>
              </a:rPr>
              <a:t>}</a:t>
            </a:r>
          </a:p>
        </p:txBody>
      </p:sp>
      <p:sp>
        <p:nvSpPr>
          <p:cNvPr id="6" name="Oval 5">
            <a:extLst>
              <a:ext uri="{FF2B5EF4-FFF2-40B4-BE49-F238E27FC236}">
                <a16:creationId xmlns:a16="http://schemas.microsoft.com/office/drawing/2014/main" id="{D74FACE1-1E45-DCF7-9863-37BA74CB21FF}"/>
              </a:ext>
            </a:extLst>
          </p:cNvPr>
          <p:cNvSpPr/>
          <p:nvPr/>
        </p:nvSpPr>
        <p:spPr>
          <a:xfrm>
            <a:off x="4869179" y="2938273"/>
            <a:ext cx="2453641" cy="1523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Tree>
    <p:extLst>
      <p:ext uri="{BB962C8B-B14F-4D97-AF65-F5344CB8AC3E}">
        <p14:creationId xmlns:p14="http://schemas.microsoft.com/office/powerpoint/2010/main" val="267205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A1FA-6B02-3C74-9ACC-FD1D4F323B9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AA22694-26F9-9577-AB5C-2BD74DE9F149}"/>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your </a:t>
            </a:r>
            <a:r>
              <a:rPr lang="en-US" sz="2400" b="1" dirty="0">
                <a:solidFill>
                  <a:schemeClr val="accent6">
                    <a:lumMod val="60000"/>
                    <a:lumOff val="40000"/>
                  </a:schemeClr>
                </a:solidFill>
              </a:rPr>
              <a:t>company tone </a:t>
            </a:r>
            <a:r>
              <a:rPr lang="en-US" sz="2400" dirty="0">
                <a:solidFill>
                  <a:schemeClr val="accent6">
                    <a:lumMod val="60000"/>
                    <a:lumOff val="40000"/>
                  </a:schemeClr>
                </a:solidFill>
              </a:rPr>
              <a:t>→ Model replies in your brand voice</a:t>
            </a:r>
          </a:p>
        </p:txBody>
      </p:sp>
      <p:sp>
        <p:nvSpPr>
          <p:cNvPr id="3" name="TextBox 2">
            <a:extLst>
              <a:ext uri="{FF2B5EF4-FFF2-40B4-BE49-F238E27FC236}">
                <a16:creationId xmlns:a16="http://schemas.microsoft.com/office/drawing/2014/main" id="{CFC400AE-8D33-A854-B472-44DA85B94120}"/>
              </a:ext>
            </a:extLst>
          </p:cNvPr>
          <p:cNvSpPr txBox="1"/>
          <p:nvPr/>
        </p:nvSpPr>
        <p:spPr>
          <a:xfrm>
            <a:off x="123444" y="1862251"/>
            <a:ext cx="3753612" cy="1323439"/>
          </a:xfrm>
          <a:prstGeom prst="rect">
            <a:avLst/>
          </a:prstGeom>
          <a:noFill/>
        </p:spPr>
        <p:txBody>
          <a:bodyPr wrap="square">
            <a:spAutoFit/>
          </a:bodyPr>
          <a:lstStyle/>
          <a:p>
            <a:pPr>
              <a:buNone/>
            </a:pPr>
            <a:r>
              <a:rPr lang="en-US" sz="2000" b="1" dirty="0">
                <a:solidFill>
                  <a:schemeClr val="accent6">
                    <a:lumMod val="60000"/>
                    <a:lumOff val="40000"/>
                  </a:schemeClr>
                </a:solidFill>
              </a:rPr>
              <a:t>Generic Base Model</a:t>
            </a:r>
          </a:p>
          <a:p>
            <a:pPr>
              <a:buNone/>
            </a:pPr>
            <a:r>
              <a:rPr lang="en-US" sz="2000" b="1" dirty="0">
                <a:solidFill>
                  <a:schemeClr val="accent6">
                    <a:lumMod val="60000"/>
                    <a:lumOff val="40000"/>
                  </a:schemeClr>
                </a:solidFill>
              </a:rPr>
              <a:t>Response to customer query -&gt;</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Your order has been shipped.</a:t>
            </a:r>
          </a:p>
        </p:txBody>
      </p:sp>
      <p:sp>
        <p:nvSpPr>
          <p:cNvPr id="5" name="TextBox 4">
            <a:extLst>
              <a:ext uri="{FF2B5EF4-FFF2-40B4-BE49-F238E27FC236}">
                <a16:creationId xmlns:a16="http://schemas.microsoft.com/office/drawing/2014/main" id="{69DE0A89-0A07-032A-B120-EFE464763AFF}"/>
              </a:ext>
            </a:extLst>
          </p:cNvPr>
          <p:cNvSpPr txBox="1"/>
          <p:nvPr/>
        </p:nvSpPr>
        <p:spPr>
          <a:xfrm>
            <a:off x="4585716" y="1791546"/>
            <a:ext cx="6190488" cy="4370427"/>
          </a:xfrm>
          <a:prstGeom prst="rect">
            <a:avLst/>
          </a:prstGeom>
          <a:noFill/>
        </p:spPr>
        <p:txBody>
          <a:bodyPr wrap="square">
            <a:spAutoFit/>
          </a:bodyPr>
          <a:lstStyle/>
          <a:p>
            <a:pPr>
              <a:buNone/>
            </a:pPr>
            <a:r>
              <a:rPr lang="en-US" sz="2000" b="1" dirty="0">
                <a:solidFill>
                  <a:schemeClr val="accent6">
                    <a:lumMod val="60000"/>
                    <a:lumOff val="40000"/>
                  </a:schemeClr>
                </a:solidFill>
              </a:rPr>
              <a:t>Fine-Tuned (Luxury Tone)</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Your order has been carefully prepared and is now on its way to you. We hope it brings you an exceptional experience.</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Please leave a review on www.LoxfordAcademy.com</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Thank you</a:t>
            </a:r>
          </a:p>
          <a:p>
            <a:pPr>
              <a:buNone/>
            </a:pPr>
            <a:endParaRPr lang="en-US" sz="2000" dirty="0">
              <a:solidFill>
                <a:schemeClr val="accent6">
                  <a:lumMod val="60000"/>
                  <a:lumOff val="40000"/>
                </a:schemeClr>
              </a:solidFill>
            </a:endParaRPr>
          </a:p>
          <a:p>
            <a:pPr>
              <a:buNone/>
            </a:pPr>
            <a:r>
              <a:rPr lang="en-US" sz="2000" b="1" u="sng" dirty="0">
                <a:solidFill>
                  <a:schemeClr val="accent6">
                    <a:lumMod val="60000"/>
                    <a:lumOff val="40000"/>
                  </a:schemeClr>
                </a:solidFill>
              </a:rPr>
              <a:t>What changed?</a:t>
            </a:r>
            <a:endParaRPr lang="en-US" sz="2000" u="sng" dirty="0">
              <a:solidFill>
                <a:schemeClr val="accent6">
                  <a:lumMod val="60000"/>
                  <a:lumOff val="40000"/>
                </a:schemeClr>
              </a:solidFill>
            </a:endParaRPr>
          </a:p>
          <a:p>
            <a:pPr marL="285750" indent="-285750">
              <a:buFont typeface="Arial" panose="020B0604020202020204" pitchFamily="34" charset="0"/>
              <a:buChar char="•"/>
            </a:pPr>
            <a:r>
              <a:rPr lang="en-US" sz="2000" dirty="0">
                <a:solidFill>
                  <a:schemeClr val="accent6">
                    <a:lumMod val="60000"/>
                    <a:lumOff val="40000"/>
                  </a:schemeClr>
                </a:solidFill>
              </a:rPr>
              <a:t>Elegant wording </a:t>
            </a:r>
          </a:p>
          <a:p>
            <a:pPr marL="285750" indent="-285750">
              <a:buFont typeface="Arial" panose="020B0604020202020204" pitchFamily="34" charset="0"/>
              <a:buChar char="•"/>
            </a:pPr>
            <a:r>
              <a:rPr lang="en-US" sz="2000" dirty="0">
                <a:solidFill>
                  <a:schemeClr val="accent6">
                    <a:lumMod val="60000"/>
                    <a:lumOff val="40000"/>
                  </a:schemeClr>
                </a:solidFill>
              </a:rPr>
              <a:t>Premium feel </a:t>
            </a:r>
          </a:p>
          <a:p>
            <a:pPr marL="285750" indent="-285750">
              <a:buFont typeface="Arial" panose="020B0604020202020204" pitchFamily="34" charset="0"/>
              <a:buChar char="•"/>
            </a:pPr>
            <a:r>
              <a:rPr lang="en-US" sz="2000" dirty="0">
                <a:solidFill>
                  <a:schemeClr val="accent6">
                    <a:lumMod val="60000"/>
                    <a:lumOff val="40000"/>
                  </a:schemeClr>
                </a:solidFill>
              </a:rPr>
              <a:t>Experience-focused language</a:t>
            </a:r>
          </a:p>
        </p:txBody>
      </p:sp>
      <p:sp>
        <p:nvSpPr>
          <p:cNvPr id="6" name="Oval 5">
            <a:extLst>
              <a:ext uri="{FF2B5EF4-FFF2-40B4-BE49-F238E27FC236}">
                <a16:creationId xmlns:a16="http://schemas.microsoft.com/office/drawing/2014/main" id="{ACDE8943-80F1-250E-8B3E-12D8D6D1693F}"/>
              </a:ext>
            </a:extLst>
          </p:cNvPr>
          <p:cNvSpPr/>
          <p:nvPr/>
        </p:nvSpPr>
        <p:spPr>
          <a:xfrm>
            <a:off x="6318504" y="1081100"/>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290E12A3-FFEA-C3DE-1A5B-C1E343C54A09}"/>
              </a:ext>
            </a:extLst>
          </p:cNvPr>
          <p:cNvSpPr/>
          <p:nvPr/>
        </p:nvSpPr>
        <p:spPr>
          <a:xfrm>
            <a:off x="2183242" y="940707"/>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8" name="Group 7">
            <a:extLst>
              <a:ext uri="{FF2B5EF4-FFF2-40B4-BE49-F238E27FC236}">
                <a16:creationId xmlns:a16="http://schemas.microsoft.com/office/drawing/2014/main" id="{76404261-5549-CAC1-FCA0-56F07066C1D1}"/>
              </a:ext>
            </a:extLst>
          </p:cNvPr>
          <p:cNvGrpSpPr/>
          <p:nvPr/>
        </p:nvGrpSpPr>
        <p:grpSpPr>
          <a:xfrm>
            <a:off x="3809880" y="1114738"/>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F421EE02-1A4C-5DE7-4500-DFD1677FCB95}"/>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F421EE02-1A4C-5DE7-4500-DFD1677FCB95}"/>
                    </a:ext>
                  </a:extLst>
                </p:cNvPr>
                <p:cNvPicPr/>
                <p:nvPr/>
              </p:nvPicPr>
              <p:blipFill>
                <a:blip r:embed="rId3"/>
                <a:stretch>
                  <a:fillRect/>
                </a:stretch>
              </p:blipFill>
              <p:spPr>
                <a:xfrm>
                  <a:off x="2903336" y="450813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6C33600-82C1-65E3-79EF-0E4B4EBC10A1}"/>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B6C33600-82C1-65E3-79EF-0E4B4EBC10A1}"/>
                    </a:ext>
                  </a:extLst>
                </p:cNvPr>
                <p:cNvPicPr/>
                <p:nvPr/>
              </p:nvPicPr>
              <p:blipFill>
                <a:blip r:embed="rId5"/>
                <a:stretch>
                  <a:fillRect/>
                </a:stretch>
              </p:blipFill>
              <p:spPr>
                <a:xfrm>
                  <a:off x="3514604" y="4381776"/>
                  <a:ext cx="194706" cy="302400"/>
                </a:xfrm>
                <a:prstGeom prst="rect">
                  <a:avLst/>
                </a:prstGeom>
              </p:spPr>
            </p:pic>
          </mc:Fallback>
        </mc:AlternateContent>
      </p:grpSp>
    </p:spTree>
    <p:extLst>
      <p:ext uri="{BB962C8B-B14F-4D97-AF65-F5344CB8AC3E}">
        <p14:creationId xmlns:p14="http://schemas.microsoft.com/office/powerpoint/2010/main" val="2073077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6E93-6081-7589-981C-62D80D218E6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421FC9F-E8E2-CEB9-683F-ED5B292E8340}"/>
              </a:ext>
            </a:extLst>
          </p:cNvPr>
          <p:cNvSpPr txBox="1"/>
          <p:nvPr/>
        </p:nvSpPr>
        <p:spPr>
          <a:xfrm>
            <a:off x="148336" y="199104"/>
            <a:ext cx="11199368" cy="1938992"/>
          </a:xfrm>
          <a:prstGeom prst="rect">
            <a:avLst/>
          </a:prstGeom>
          <a:noFill/>
        </p:spPr>
        <p:txBody>
          <a:bodyPr wrap="square">
            <a:spAutoFit/>
          </a:bodyPr>
          <a:lstStyle/>
          <a:p>
            <a:r>
              <a:rPr lang="en-US" sz="2400" b="1" dirty="0">
                <a:solidFill>
                  <a:schemeClr val="accent6">
                    <a:lumMod val="60000"/>
                    <a:lumOff val="40000"/>
                  </a:schemeClr>
                </a:solidFill>
              </a:rPr>
              <a:t>Example</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Sentiment analysis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Fine-tune a classifier to identify sentiment in social media related to </a:t>
            </a:r>
            <a:r>
              <a:rPr lang="en-US" sz="2400" b="1" dirty="0">
                <a:solidFill>
                  <a:schemeClr val="accent6">
                    <a:lumMod val="60000"/>
                    <a:lumOff val="40000"/>
                  </a:schemeClr>
                </a:solidFill>
              </a:rPr>
              <a:t>your products.</a:t>
            </a:r>
          </a:p>
        </p:txBody>
      </p:sp>
      <p:sp>
        <p:nvSpPr>
          <p:cNvPr id="6" name="Oval 5">
            <a:extLst>
              <a:ext uri="{FF2B5EF4-FFF2-40B4-BE49-F238E27FC236}">
                <a16:creationId xmlns:a16="http://schemas.microsoft.com/office/drawing/2014/main" id="{A0C3FC96-6962-8D1A-5B53-D6D8DCCD26A5}"/>
              </a:ext>
            </a:extLst>
          </p:cNvPr>
          <p:cNvSpPr/>
          <p:nvPr/>
        </p:nvSpPr>
        <p:spPr>
          <a:xfrm>
            <a:off x="6318504" y="2608148"/>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53FACDC1-A9DE-B066-BE04-F7B7A8B0BCAA}"/>
              </a:ext>
            </a:extLst>
          </p:cNvPr>
          <p:cNvSpPr/>
          <p:nvPr/>
        </p:nvSpPr>
        <p:spPr>
          <a:xfrm>
            <a:off x="2183242" y="2467755"/>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8" name="Group 7">
            <a:extLst>
              <a:ext uri="{FF2B5EF4-FFF2-40B4-BE49-F238E27FC236}">
                <a16:creationId xmlns:a16="http://schemas.microsoft.com/office/drawing/2014/main" id="{835CB6A7-2F47-841C-CBCC-8DF723067D09}"/>
              </a:ext>
            </a:extLst>
          </p:cNvPr>
          <p:cNvGrpSpPr/>
          <p:nvPr/>
        </p:nvGrpSpPr>
        <p:grpSpPr>
          <a:xfrm>
            <a:off x="3809880" y="2641786"/>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8BB776F3-8E6C-CA3E-634A-F746A2D63484}"/>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8BB776F3-8E6C-CA3E-634A-F746A2D63484}"/>
                    </a:ext>
                  </a:extLst>
                </p:cNvPr>
                <p:cNvPicPr/>
                <p:nvPr/>
              </p:nvPicPr>
              <p:blipFill>
                <a:blip r:embed="rId3"/>
                <a:stretch>
                  <a:fillRect/>
                </a:stretch>
              </p:blipFill>
              <p:spPr>
                <a:xfrm>
                  <a:off x="2903336" y="450777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DB39EF24-E30C-ED50-7341-7196EB348B6A}"/>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DB39EF24-E30C-ED50-7341-7196EB348B6A}"/>
                    </a:ext>
                  </a:extLst>
                </p:cNvPr>
                <p:cNvPicPr/>
                <p:nvPr/>
              </p:nvPicPr>
              <p:blipFill>
                <a:blip r:embed="rId5"/>
                <a:stretch>
                  <a:fillRect/>
                </a:stretch>
              </p:blipFill>
              <p:spPr>
                <a:xfrm>
                  <a:off x="3514604" y="4381392"/>
                  <a:ext cx="194706" cy="302448"/>
                </a:xfrm>
                <a:prstGeom prst="rect">
                  <a:avLst/>
                </a:prstGeom>
              </p:spPr>
            </p:pic>
          </mc:Fallback>
        </mc:AlternateContent>
      </p:grpSp>
      <p:sp>
        <p:nvSpPr>
          <p:cNvPr id="2" name="TextBox 1">
            <a:extLst>
              <a:ext uri="{FF2B5EF4-FFF2-40B4-BE49-F238E27FC236}">
                <a16:creationId xmlns:a16="http://schemas.microsoft.com/office/drawing/2014/main" id="{C73FB28A-C9F9-2018-94D7-90767BF3CE06}"/>
              </a:ext>
            </a:extLst>
          </p:cNvPr>
          <p:cNvSpPr txBox="1"/>
          <p:nvPr/>
        </p:nvSpPr>
        <p:spPr>
          <a:xfrm>
            <a:off x="1170432" y="3959352"/>
            <a:ext cx="2445541" cy="369332"/>
          </a:xfrm>
          <a:prstGeom prst="rect">
            <a:avLst/>
          </a:prstGeom>
          <a:noFill/>
        </p:spPr>
        <p:txBody>
          <a:bodyPr wrap="none" rtlCol="0">
            <a:spAutoFit/>
          </a:bodyPr>
          <a:lstStyle/>
          <a:p>
            <a:r>
              <a:rPr lang="en-US" dirty="0">
                <a:solidFill>
                  <a:schemeClr val="accent6">
                    <a:lumMod val="60000"/>
                    <a:lumOff val="40000"/>
                  </a:schemeClr>
                </a:solidFill>
              </a:rPr>
              <a:t>The product arrived late</a:t>
            </a:r>
          </a:p>
        </p:txBody>
      </p:sp>
      <p:sp>
        <p:nvSpPr>
          <p:cNvPr id="3" name="TextBox 2">
            <a:extLst>
              <a:ext uri="{FF2B5EF4-FFF2-40B4-BE49-F238E27FC236}">
                <a16:creationId xmlns:a16="http://schemas.microsoft.com/office/drawing/2014/main" id="{85524B32-6E64-5285-7C59-5748AAB5F4F0}"/>
              </a:ext>
            </a:extLst>
          </p:cNvPr>
          <p:cNvSpPr txBox="1"/>
          <p:nvPr/>
        </p:nvSpPr>
        <p:spPr>
          <a:xfrm>
            <a:off x="8298419" y="3959352"/>
            <a:ext cx="2577372" cy="369332"/>
          </a:xfrm>
          <a:prstGeom prst="rect">
            <a:avLst/>
          </a:prstGeom>
          <a:noFill/>
        </p:spPr>
        <p:txBody>
          <a:bodyPr wrap="none" rtlCol="0">
            <a:spAutoFit/>
          </a:bodyPr>
          <a:lstStyle/>
          <a:p>
            <a:r>
              <a:rPr lang="en-US" dirty="0">
                <a:solidFill>
                  <a:schemeClr val="accent6">
                    <a:lumMod val="60000"/>
                    <a:lumOff val="40000"/>
                  </a:schemeClr>
                </a:solidFill>
              </a:rPr>
              <a:t>{“sentiment”: “negative”}</a:t>
            </a:r>
          </a:p>
        </p:txBody>
      </p:sp>
      <p:sp>
        <p:nvSpPr>
          <p:cNvPr id="4" name="TextBox 3">
            <a:extLst>
              <a:ext uri="{FF2B5EF4-FFF2-40B4-BE49-F238E27FC236}">
                <a16:creationId xmlns:a16="http://schemas.microsoft.com/office/drawing/2014/main" id="{84786024-AC2D-DE92-45E5-3C2419DB2B84}"/>
              </a:ext>
            </a:extLst>
          </p:cNvPr>
          <p:cNvSpPr txBox="1"/>
          <p:nvPr/>
        </p:nvSpPr>
        <p:spPr>
          <a:xfrm>
            <a:off x="988549" y="4995088"/>
            <a:ext cx="3032561" cy="369332"/>
          </a:xfrm>
          <a:prstGeom prst="rect">
            <a:avLst/>
          </a:prstGeom>
          <a:noFill/>
        </p:spPr>
        <p:txBody>
          <a:bodyPr wrap="none" rtlCol="0">
            <a:spAutoFit/>
          </a:bodyPr>
          <a:lstStyle/>
          <a:p>
            <a:r>
              <a:rPr lang="en-US" dirty="0">
                <a:solidFill>
                  <a:schemeClr val="accent6">
                    <a:lumMod val="60000"/>
                    <a:lumOff val="40000"/>
                  </a:schemeClr>
                </a:solidFill>
              </a:rPr>
              <a:t>The product is  working great</a:t>
            </a:r>
          </a:p>
        </p:txBody>
      </p:sp>
      <p:sp>
        <p:nvSpPr>
          <p:cNvPr id="5" name="TextBox 4">
            <a:extLst>
              <a:ext uri="{FF2B5EF4-FFF2-40B4-BE49-F238E27FC236}">
                <a16:creationId xmlns:a16="http://schemas.microsoft.com/office/drawing/2014/main" id="{5EF7B6D3-BF7C-9B46-A330-A8FAE0FA7DB2}"/>
              </a:ext>
            </a:extLst>
          </p:cNvPr>
          <p:cNvSpPr txBox="1"/>
          <p:nvPr/>
        </p:nvSpPr>
        <p:spPr>
          <a:xfrm>
            <a:off x="8445720" y="4989284"/>
            <a:ext cx="2516458" cy="369332"/>
          </a:xfrm>
          <a:prstGeom prst="rect">
            <a:avLst/>
          </a:prstGeom>
          <a:noFill/>
        </p:spPr>
        <p:txBody>
          <a:bodyPr wrap="none" rtlCol="0">
            <a:spAutoFit/>
          </a:bodyPr>
          <a:lstStyle/>
          <a:p>
            <a:r>
              <a:rPr lang="en-US" dirty="0">
                <a:solidFill>
                  <a:schemeClr val="accent6">
                    <a:lumMod val="60000"/>
                    <a:lumOff val="40000"/>
                  </a:schemeClr>
                </a:solidFill>
              </a:rPr>
              <a:t>{“sentiment”: “positive”}</a:t>
            </a:r>
          </a:p>
        </p:txBody>
      </p:sp>
      <p:sp>
        <p:nvSpPr>
          <p:cNvPr id="12" name="Oval 11">
            <a:extLst>
              <a:ext uri="{FF2B5EF4-FFF2-40B4-BE49-F238E27FC236}">
                <a16:creationId xmlns:a16="http://schemas.microsoft.com/office/drawing/2014/main" id="{C436F4B5-6C84-F55B-F3E4-C80D8AA85E04}"/>
              </a:ext>
            </a:extLst>
          </p:cNvPr>
          <p:cNvSpPr/>
          <p:nvPr/>
        </p:nvSpPr>
        <p:spPr>
          <a:xfrm>
            <a:off x="4594098" y="4328684"/>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Tree>
    <p:extLst>
      <p:ext uri="{BB962C8B-B14F-4D97-AF65-F5344CB8AC3E}">
        <p14:creationId xmlns:p14="http://schemas.microsoft.com/office/powerpoint/2010/main" val="4264305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3C7D-B5EC-CE70-7A7C-0616A581D10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39B2A20-AFAF-6C40-474D-FEBDE05ECF54}"/>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When to use fine-tuning</a:t>
            </a:r>
          </a:p>
          <a:p>
            <a:pPr marL="342900" indent="-342900">
              <a:buFont typeface="Arial" panose="020B0604020202020204" pitchFamily="34" charset="0"/>
              <a:buChar char="•"/>
            </a:pPr>
            <a:r>
              <a:rPr lang="en-US" sz="2400" dirty="0">
                <a:solidFill>
                  <a:schemeClr val="accent6">
                    <a:lumMod val="60000"/>
                    <a:lumOff val="40000"/>
                  </a:schemeClr>
                </a:solidFill>
              </a:rPr>
              <a:t>You want </a:t>
            </a:r>
            <a:r>
              <a:rPr lang="en-US" sz="2400" b="1" dirty="0">
                <a:solidFill>
                  <a:schemeClr val="accent6">
                    <a:lumMod val="60000"/>
                    <a:lumOff val="40000"/>
                  </a:schemeClr>
                </a:solidFill>
              </a:rPr>
              <a:t>consistent style or tone</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need </a:t>
            </a:r>
            <a:r>
              <a:rPr lang="en-US" sz="2400" b="1" dirty="0">
                <a:solidFill>
                  <a:schemeClr val="accent6">
                    <a:lumMod val="60000"/>
                    <a:lumOff val="40000"/>
                  </a:schemeClr>
                </a:solidFill>
              </a:rPr>
              <a:t>task-specific behavior</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want model to follow </a:t>
            </a:r>
            <a:r>
              <a:rPr lang="en-US" sz="2400" b="1" dirty="0">
                <a:solidFill>
                  <a:schemeClr val="accent6">
                    <a:lumMod val="60000"/>
                    <a:lumOff val="40000"/>
                  </a:schemeClr>
                </a:solidFill>
              </a:rPr>
              <a:t>strict formats</a:t>
            </a:r>
          </a:p>
        </p:txBody>
      </p:sp>
      <p:sp>
        <p:nvSpPr>
          <p:cNvPr id="2" name="Oval 1">
            <a:extLst>
              <a:ext uri="{FF2B5EF4-FFF2-40B4-BE49-F238E27FC236}">
                <a16:creationId xmlns:a16="http://schemas.microsoft.com/office/drawing/2014/main" id="{B82CE82B-486D-B7D7-0BB8-9A8BE9E16818}"/>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344E8735-9E8D-0EFD-92C1-F3B3DE41E29C}"/>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3" name="Group 2">
            <a:extLst>
              <a:ext uri="{FF2B5EF4-FFF2-40B4-BE49-F238E27FC236}">
                <a16:creationId xmlns:a16="http://schemas.microsoft.com/office/drawing/2014/main" id="{9D5EBBA6-C461-7C43-0E5A-E9303A8FAAF4}"/>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B734E104-6377-CB61-9EE1-5149FF20B4D0}"/>
                    </a:ext>
                  </a:extLst>
                </p14:cNvPr>
                <p14:cNvContentPartPr/>
                <p14:nvPr/>
              </p14:nvContentPartPr>
              <p14:xfrm>
                <a:off x="2910024" y="4525776"/>
                <a:ext cx="739440" cy="64800"/>
              </p14:xfrm>
            </p:contentPart>
          </mc:Choice>
          <mc:Fallback xmlns="">
            <p:pic>
              <p:nvPicPr>
                <p:cNvPr id="8" name="Ink 7">
                  <a:extLst>
                    <a:ext uri="{FF2B5EF4-FFF2-40B4-BE49-F238E27FC236}">
                      <a16:creationId xmlns:a16="http://schemas.microsoft.com/office/drawing/2014/main" id="{B734E104-6377-CB61-9EE1-5149FF20B4D0}"/>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8D0EC889-927D-14F3-9504-BDC018AABB00}"/>
                    </a:ext>
                  </a:extLst>
                </p14:cNvPr>
                <p14:cNvContentPartPr/>
                <p14:nvPr/>
              </p14:nvContentPartPr>
              <p14:xfrm>
                <a:off x="3521304" y="4399416"/>
                <a:ext cx="181440" cy="266760"/>
              </p14:xfrm>
            </p:contentPart>
          </mc:Choice>
          <mc:Fallback xmlns="">
            <p:pic>
              <p:nvPicPr>
                <p:cNvPr id="10" name="Ink 9">
                  <a:extLst>
                    <a:ext uri="{FF2B5EF4-FFF2-40B4-BE49-F238E27FC236}">
                      <a16:creationId xmlns:a16="http://schemas.microsoft.com/office/drawing/2014/main" id="{8D0EC889-927D-14F3-9504-BDC018AABB00}"/>
                    </a:ext>
                  </a:extLst>
                </p:cNvPr>
                <p:cNvPicPr/>
                <p:nvPr/>
              </p:nvPicPr>
              <p:blipFill>
                <a:blip r:embed="rId5"/>
                <a:stretch>
                  <a:fillRect/>
                </a:stretch>
              </p:blipFill>
              <p:spPr>
                <a:xfrm>
                  <a:off x="3503304" y="4381392"/>
                  <a:ext cx="217080" cy="302448"/>
                </a:xfrm>
                <a:prstGeom prst="rect">
                  <a:avLst/>
                </a:prstGeom>
              </p:spPr>
            </p:pic>
          </mc:Fallback>
        </mc:AlternateContent>
      </p:grpSp>
    </p:spTree>
    <p:extLst>
      <p:ext uri="{BB962C8B-B14F-4D97-AF65-F5344CB8AC3E}">
        <p14:creationId xmlns:p14="http://schemas.microsoft.com/office/powerpoint/2010/main" val="745250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8F00-DEAD-79BD-8CA3-0A7C12A5A80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8C3F698-F21B-1D92-2FAA-F6B2AC2CD1A4}"/>
              </a:ext>
            </a:extLst>
          </p:cNvPr>
          <p:cNvSpPr txBox="1"/>
          <p:nvPr/>
        </p:nvSpPr>
        <p:spPr>
          <a:xfrm>
            <a:off x="148336" y="199104"/>
            <a:ext cx="10292080" cy="830997"/>
          </a:xfrm>
          <a:prstGeom prst="rect">
            <a:avLst/>
          </a:prstGeom>
          <a:noFill/>
        </p:spPr>
        <p:txBody>
          <a:bodyPr wrap="square">
            <a:spAutoFit/>
          </a:bodyPr>
          <a:lstStyle/>
          <a:p>
            <a:r>
              <a:rPr lang="en-US" sz="2400" dirty="0">
                <a:solidFill>
                  <a:schemeClr val="accent6">
                    <a:lumMod val="60000"/>
                    <a:lumOff val="40000"/>
                  </a:schemeClr>
                </a:solidFill>
              </a:rPr>
              <a:t>NOTE: </a:t>
            </a:r>
          </a:p>
          <a:p>
            <a:r>
              <a:rPr lang="en-US" sz="2400" dirty="0">
                <a:solidFill>
                  <a:schemeClr val="accent6">
                    <a:lumMod val="60000"/>
                    <a:lumOff val="40000"/>
                  </a:schemeClr>
                </a:solidFill>
              </a:rPr>
              <a:t>A </a:t>
            </a:r>
            <a:r>
              <a:rPr lang="en-US" sz="2400" b="1" dirty="0">
                <a:solidFill>
                  <a:schemeClr val="accent6">
                    <a:lumMod val="60000"/>
                    <a:lumOff val="40000"/>
                  </a:schemeClr>
                </a:solidFill>
              </a:rPr>
              <a:t>smaller fine-tuned</a:t>
            </a:r>
            <a:r>
              <a:rPr lang="en-US" sz="2400" dirty="0">
                <a:solidFill>
                  <a:schemeClr val="accent6">
                    <a:lumMod val="60000"/>
                    <a:lumOff val="40000"/>
                  </a:schemeClr>
                </a:solidFill>
              </a:rPr>
              <a:t> model can outperform the larger base model</a:t>
            </a:r>
          </a:p>
        </p:txBody>
      </p:sp>
      <p:sp>
        <p:nvSpPr>
          <p:cNvPr id="7" name="Freeform: Shape 6">
            <a:extLst>
              <a:ext uri="{FF2B5EF4-FFF2-40B4-BE49-F238E27FC236}">
                <a16:creationId xmlns:a16="http://schemas.microsoft.com/office/drawing/2014/main" id="{D5F35BEC-DA0B-C59D-411D-689965933345}"/>
              </a:ext>
            </a:extLst>
          </p:cNvPr>
          <p:cNvSpPr/>
          <p:nvPr/>
        </p:nvSpPr>
        <p:spPr>
          <a:xfrm>
            <a:off x="274320" y="2889504"/>
            <a:ext cx="4078224" cy="299008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3" name="Oval 2">
            <a:extLst>
              <a:ext uri="{FF2B5EF4-FFF2-40B4-BE49-F238E27FC236}">
                <a16:creationId xmlns:a16="http://schemas.microsoft.com/office/drawing/2014/main" id="{DE22D1DF-259E-1CC8-F265-D434060099F8}"/>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8" name="Group 7">
            <a:extLst>
              <a:ext uri="{FF2B5EF4-FFF2-40B4-BE49-F238E27FC236}">
                <a16:creationId xmlns:a16="http://schemas.microsoft.com/office/drawing/2014/main" id="{33A74F51-6EE3-8480-3F5C-9E35B175339E}"/>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CCD839BD-4347-462F-AC29-084818E84A94}"/>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CCD839BD-4347-462F-AC29-084818E84A94}"/>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EFE146C4-ADD8-516C-5ED4-9A1E3F3B836A}"/>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EFE146C4-ADD8-516C-5ED4-9A1E3F3B836A}"/>
                    </a:ext>
                  </a:extLst>
                </p:cNvPr>
                <p:cNvPicPr/>
                <p:nvPr/>
              </p:nvPicPr>
              <p:blipFill>
                <a:blip r:embed="rId5"/>
                <a:stretch>
                  <a:fillRect/>
                </a:stretch>
              </p:blipFill>
              <p:spPr>
                <a:xfrm>
                  <a:off x="3503304" y="4381392"/>
                  <a:ext cx="217080" cy="302448"/>
                </a:xfrm>
                <a:prstGeom prst="rect">
                  <a:avLst/>
                </a:prstGeom>
              </p:spPr>
            </p:pic>
          </mc:Fallback>
        </mc:AlternateContent>
      </p:grpSp>
    </p:spTree>
    <p:extLst>
      <p:ext uri="{BB962C8B-B14F-4D97-AF65-F5344CB8AC3E}">
        <p14:creationId xmlns:p14="http://schemas.microsoft.com/office/powerpoint/2010/main" val="1902430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84CC-4929-13D9-91B2-B60EAE3A3F3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0E6666B-181D-D4FE-2B5C-51EB40C8C5B9}"/>
              </a:ext>
            </a:extLst>
          </p:cNvPr>
          <p:cNvSpPr txBox="1"/>
          <p:nvPr/>
        </p:nvSpPr>
        <p:spPr>
          <a:xfrm>
            <a:off x="148336" y="199104"/>
            <a:ext cx="8337296" cy="6370975"/>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1) When behavior matters more than knowledge</a:t>
            </a:r>
          </a:p>
          <a:p>
            <a:r>
              <a:rPr lang="en-US" sz="2400" dirty="0">
                <a:solidFill>
                  <a:schemeClr val="accent6">
                    <a:lumMod val="60000"/>
                    <a:lumOff val="40000"/>
                  </a:schemeClr>
                </a:solidFill>
              </a:rPr>
              <a:t>RAG is good at:</a:t>
            </a:r>
          </a:p>
          <a:p>
            <a:pPr marL="342900" indent="-342900">
              <a:buFont typeface="Arial" panose="020B0604020202020204" pitchFamily="34" charset="0"/>
              <a:buChar char="•"/>
            </a:pPr>
            <a:r>
              <a:rPr lang="en-US" sz="2400" dirty="0">
                <a:solidFill>
                  <a:schemeClr val="accent6">
                    <a:lumMod val="60000"/>
                    <a:lumOff val="40000"/>
                  </a:schemeClr>
                </a:solidFill>
              </a:rPr>
              <a:t>fetching facts / retrieving documents </a:t>
            </a:r>
          </a:p>
          <a:p>
            <a:pPr marL="342900" indent="-342900">
              <a:buFont typeface="Arial" panose="020B0604020202020204" pitchFamily="34" charset="0"/>
              <a:buChar char="•"/>
            </a:pPr>
            <a:r>
              <a:rPr lang="en-US" sz="2400" dirty="0">
                <a:solidFill>
                  <a:schemeClr val="accent6">
                    <a:lumMod val="60000"/>
                    <a:lumOff val="40000"/>
                  </a:schemeClr>
                </a:solidFill>
              </a:rPr>
              <a:t>But it does NOT change how the model </a:t>
            </a:r>
            <a:r>
              <a:rPr lang="en-US" sz="2400" i="1" dirty="0">
                <a:solidFill>
                  <a:schemeClr val="accent6">
                    <a:lumMod val="60000"/>
                    <a:lumOff val="40000"/>
                  </a:schemeClr>
                </a:solidFill>
              </a:rPr>
              <a:t>thinks or behaves</a:t>
            </a:r>
            <a:r>
              <a:rPr lang="en-US" sz="2400" dirty="0">
                <a:solidFill>
                  <a:schemeClr val="accent6">
                    <a:lumMod val="60000"/>
                    <a:lumOff val="40000"/>
                  </a:schemeClr>
                </a:solidFill>
              </a:rPr>
              <a:t>.</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Fine-tuning helps when you want:</a:t>
            </a:r>
          </a:p>
          <a:p>
            <a:pPr marL="342900" indent="-342900">
              <a:buFont typeface="Arial" panose="020B0604020202020204" pitchFamily="34" charset="0"/>
              <a:buChar char="•"/>
            </a:pPr>
            <a:r>
              <a:rPr lang="en-US" sz="2400" dirty="0">
                <a:solidFill>
                  <a:schemeClr val="accent6">
                    <a:lumMod val="60000"/>
                    <a:lumOff val="40000"/>
                  </a:schemeClr>
                </a:solidFill>
              </a:rPr>
              <a:t>consistent tone  + domain-specific reasoning style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A legal assistant bot must:</a:t>
            </a:r>
          </a:p>
          <a:p>
            <a:pPr marL="342900" indent="-342900">
              <a:buFont typeface="Arial" panose="020B0604020202020204" pitchFamily="34" charset="0"/>
              <a:buChar char="•"/>
            </a:pPr>
            <a:r>
              <a:rPr lang="en-US" sz="2400" dirty="0">
                <a:solidFill>
                  <a:schemeClr val="accent6">
                    <a:lumMod val="60000"/>
                    <a:lumOff val="40000"/>
                  </a:schemeClr>
                </a:solidFill>
              </a:rPr>
              <a:t>always respond in legal format </a:t>
            </a:r>
          </a:p>
          <a:p>
            <a:pPr marL="342900" indent="-342900">
              <a:buFont typeface="Arial" panose="020B0604020202020204" pitchFamily="34" charset="0"/>
              <a:buChar char="•"/>
            </a:pPr>
            <a:r>
              <a:rPr lang="en-US" sz="2400" dirty="0">
                <a:solidFill>
                  <a:schemeClr val="accent6">
                    <a:lumMod val="60000"/>
                    <a:lumOff val="40000"/>
                  </a:schemeClr>
                </a:solidFill>
              </a:rPr>
              <a:t>cite sections properly </a:t>
            </a:r>
          </a:p>
          <a:p>
            <a:pPr marL="342900" indent="-342900">
              <a:buFont typeface="Arial" panose="020B0604020202020204" pitchFamily="34" charset="0"/>
              <a:buChar char="•"/>
            </a:pPr>
            <a:r>
              <a:rPr lang="en-US" sz="2400" dirty="0">
                <a:solidFill>
                  <a:schemeClr val="accent6">
                    <a:lumMod val="60000"/>
                    <a:lumOff val="40000"/>
                  </a:schemeClr>
                </a:solidFill>
              </a:rPr>
              <a:t>use formal reasoning style </a:t>
            </a:r>
          </a:p>
          <a:p>
            <a:r>
              <a:rPr lang="en-US" sz="2400" dirty="0">
                <a:solidFill>
                  <a:schemeClr val="accent6">
                    <a:lumMod val="60000"/>
                    <a:lumOff val="40000"/>
                  </a:schemeClr>
                </a:solidFill>
              </a:rPr>
              <a:t>👉 RAG alone cannot guarantee this behavior</a:t>
            </a:r>
            <a:br>
              <a:rPr lang="en-US" sz="2400" dirty="0">
                <a:solidFill>
                  <a:schemeClr val="accent6">
                    <a:lumMod val="60000"/>
                    <a:lumOff val="40000"/>
                  </a:schemeClr>
                </a:solidFill>
              </a:rPr>
            </a:br>
            <a:r>
              <a:rPr lang="en-US" sz="2400" dirty="0">
                <a:solidFill>
                  <a:schemeClr val="accent6">
                    <a:lumMod val="60000"/>
                    <a:lumOff val="40000"/>
                  </a:schemeClr>
                </a:solidFill>
              </a:rPr>
              <a:t>👉 Fine-tuning teaches it permanently</a:t>
            </a:r>
          </a:p>
        </p:txBody>
      </p:sp>
      <p:sp>
        <p:nvSpPr>
          <p:cNvPr id="11" name="Oval 10">
            <a:extLst>
              <a:ext uri="{FF2B5EF4-FFF2-40B4-BE49-F238E27FC236}">
                <a16:creationId xmlns:a16="http://schemas.microsoft.com/office/drawing/2014/main" id="{65B464CF-78FC-91E9-22A1-007969381CD2}"/>
              </a:ext>
            </a:extLst>
          </p:cNvPr>
          <p:cNvSpPr/>
          <p:nvPr/>
        </p:nvSpPr>
        <p:spPr>
          <a:xfrm>
            <a:off x="9372600" y="5100696"/>
            <a:ext cx="2734056" cy="840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33D3C230-06F9-6A09-1288-1BF7BFFC4055}"/>
              </a:ext>
            </a:extLst>
          </p:cNvPr>
          <p:cNvGrpSpPr/>
          <p:nvPr/>
        </p:nvGrpSpPr>
        <p:grpSpPr>
          <a:xfrm>
            <a:off x="8403336" y="51937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185845F-5C03-8707-80BB-7767DA04B8CF}"/>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8185845F-5C03-8707-80BB-7767DA04B8CF}"/>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636C7884-F3AE-C9D4-4121-F723C1D044E5}"/>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636C7884-F3AE-C9D4-4121-F723C1D044E5}"/>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A1597FDB-B0D0-DFAE-EEFC-7EC7CAFC50E5}"/>
              </a:ext>
            </a:extLst>
          </p:cNvPr>
          <p:cNvSpPr/>
          <p:nvPr/>
        </p:nvSpPr>
        <p:spPr>
          <a:xfrm>
            <a:off x="6586872" y="4556736"/>
            <a:ext cx="1678079" cy="1699992"/>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2" name="Oval 1">
            <a:extLst>
              <a:ext uri="{FF2B5EF4-FFF2-40B4-BE49-F238E27FC236}">
                <a16:creationId xmlns:a16="http://schemas.microsoft.com/office/drawing/2014/main" id="{FBD55428-9B5F-1B8D-A47F-A3AEB4A7D835}"/>
              </a:ext>
            </a:extLst>
          </p:cNvPr>
          <p:cNvSpPr/>
          <p:nvPr/>
        </p:nvSpPr>
        <p:spPr>
          <a:xfrm>
            <a:off x="10013688" y="51242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3" name="Oval 2">
            <a:extLst>
              <a:ext uri="{FF2B5EF4-FFF2-40B4-BE49-F238E27FC236}">
                <a16:creationId xmlns:a16="http://schemas.microsoft.com/office/drawing/2014/main" id="{92534EC1-3EE9-02C3-ADB9-E563614EA973}"/>
              </a:ext>
            </a:extLst>
          </p:cNvPr>
          <p:cNvSpPr/>
          <p:nvPr/>
        </p:nvSpPr>
        <p:spPr>
          <a:xfrm>
            <a:off x="9470136" y="2804520"/>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sp>
        <p:nvSpPr>
          <p:cNvPr id="4" name="Rectangle 3">
            <a:extLst>
              <a:ext uri="{FF2B5EF4-FFF2-40B4-BE49-F238E27FC236}">
                <a16:creationId xmlns:a16="http://schemas.microsoft.com/office/drawing/2014/main" id="{F213B128-CC58-7EA2-1455-FC5F60A3746C}"/>
              </a:ext>
            </a:extLst>
          </p:cNvPr>
          <p:cNvSpPr/>
          <p:nvPr/>
        </p:nvSpPr>
        <p:spPr>
          <a:xfrm>
            <a:off x="7242048" y="2950824"/>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grpSp>
        <p:nvGrpSpPr>
          <p:cNvPr id="5" name="Group 4">
            <a:extLst>
              <a:ext uri="{FF2B5EF4-FFF2-40B4-BE49-F238E27FC236}">
                <a16:creationId xmlns:a16="http://schemas.microsoft.com/office/drawing/2014/main" id="{DE4DAFDC-4661-2200-9B3B-EF8E1753AEA0}"/>
              </a:ext>
            </a:extLst>
          </p:cNvPr>
          <p:cNvGrpSpPr/>
          <p:nvPr/>
        </p:nvGrpSpPr>
        <p:grpSpPr>
          <a:xfrm>
            <a:off x="10013688" y="1710144"/>
            <a:ext cx="337680" cy="907560"/>
            <a:chOff x="9455904" y="3291696"/>
            <a:chExt cx="337680" cy="90756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F64DFB4-7AFB-9A7C-9F86-7EA8A1F25F0A}"/>
                    </a:ext>
                  </a:extLst>
                </p14:cNvPr>
                <p14:cNvContentPartPr/>
                <p14:nvPr/>
              </p14:nvContentPartPr>
              <p14:xfrm>
                <a:off x="9455904" y="3291696"/>
                <a:ext cx="234720" cy="851760"/>
              </p14:xfrm>
            </p:contentPart>
          </mc:Choice>
          <mc:Fallback xmlns="">
            <p:pic>
              <p:nvPicPr>
                <p:cNvPr id="8" name="Ink 7">
                  <a:extLst>
                    <a:ext uri="{FF2B5EF4-FFF2-40B4-BE49-F238E27FC236}">
                      <a16:creationId xmlns:a16="http://schemas.microsoft.com/office/drawing/2014/main" id="{88426E6E-3230-67F4-43DE-62D9D2CB0666}"/>
                    </a:ext>
                  </a:extLst>
                </p:cNvPr>
                <p:cNvPicPr/>
                <p:nvPr/>
              </p:nvPicPr>
              <p:blipFill>
                <a:blip r:embed="rId7"/>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B6AF910-0D1E-3BCD-DE3F-3FE14542521E}"/>
                    </a:ext>
                  </a:extLst>
                </p14:cNvPr>
                <p14:cNvContentPartPr/>
                <p14:nvPr/>
              </p14:nvContentPartPr>
              <p14:xfrm>
                <a:off x="9515664" y="4010976"/>
                <a:ext cx="277920" cy="188280"/>
              </p14:xfrm>
            </p:contentPart>
          </mc:Choice>
          <mc:Fallback xmlns="">
            <p:pic>
              <p:nvPicPr>
                <p:cNvPr id="10" name="Ink 9">
                  <a:extLst>
                    <a:ext uri="{FF2B5EF4-FFF2-40B4-BE49-F238E27FC236}">
                      <a16:creationId xmlns:a16="http://schemas.microsoft.com/office/drawing/2014/main" id="{F899B411-75FA-99E7-D2AF-15C51AAE7A6C}"/>
                    </a:ext>
                  </a:extLst>
                </p:cNvPr>
                <p:cNvPicPr/>
                <p:nvPr/>
              </p:nvPicPr>
              <p:blipFill>
                <a:blip r:embed="rId9"/>
                <a:stretch>
                  <a:fillRect/>
                </a:stretch>
              </p:blipFill>
              <p:spPr>
                <a:xfrm>
                  <a:off x="9497664" y="3993336"/>
                  <a:ext cx="313560" cy="223920"/>
                </a:xfrm>
                <a:prstGeom prst="rect">
                  <a:avLst/>
                </a:prstGeom>
              </p:spPr>
            </p:pic>
          </mc:Fallback>
        </mc:AlternateContent>
      </p:grpSp>
      <p:grpSp>
        <p:nvGrpSpPr>
          <p:cNvPr id="8" name="Group 7">
            <a:extLst>
              <a:ext uri="{FF2B5EF4-FFF2-40B4-BE49-F238E27FC236}">
                <a16:creationId xmlns:a16="http://schemas.microsoft.com/office/drawing/2014/main" id="{BD753B27-4153-CCC6-2128-8DA776313211}"/>
              </a:ext>
            </a:extLst>
          </p:cNvPr>
          <p:cNvGrpSpPr/>
          <p:nvPr/>
        </p:nvGrpSpPr>
        <p:grpSpPr>
          <a:xfrm>
            <a:off x="8831448" y="1659744"/>
            <a:ext cx="894600" cy="563760"/>
            <a:chOff x="8273664" y="3241296"/>
            <a:chExt cx="894600" cy="563760"/>
          </a:xfrm>
        </p:grpSpPr>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33040239-D160-D1A2-56B4-61A1BC113C87}"/>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F432866-E2DD-21C0-213C-E528F2E45B0D}"/>
                    </a:ext>
                  </a:extLst>
                </p:cNvPr>
                <p:cNvPicPr/>
                <p:nvPr/>
              </p:nvPicPr>
              <p:blipFill>
                <a:blip r:embed="rId11"/>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C3321625-C4D6-966C-F7A5-FC3DBF9EB76B}"/>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43ECEBC8-7A1A-BBA0-B233-11937321D795}"/>
                    </a:ext>
                  </a:extLst>
                </p:cNvPr>
                <p:cNvPicPr/>
                <p:nvPr/>
              </p:nvPicPr>
              <p:blipFill>
                <a:blip r:embed="rId13"/>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050BAF6F-49FB-02FA-C443-A75E26F03A9C}"/>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9DB8F780-5473-A123-8886-14FDB0BAD76D}"/>
                    </a:ext>
                  </a:extLst>
                </p:cNvPr>
                <p:cNvPicPr/>
                <p:nvPr/>
              </p:nvPicPr>
              <p:blipFill>
                <a:blip r:embed="rId15"/>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78215124-77F0-53A0-7DA8-B3F83BC4C53A}"/>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4349F2BA-B32B-92E4-31D4-F73206289EE1}"/>
                    </a:ext>
                  </a:extLst>
                </p:cNvPr>
                <p:cNvPicPr/>
                <p:nvPr/>
              </p:nvPicPr>
              <p:blipFill>
                <a:blip r:embed="rId17"/>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AB717EDA-F4A1-F509-3983-6609483F13D1}"/>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4ADADBC0-1287-633C-4540-786952FF53FB}"/>
                    </a:ext>
                  </a:extLst>
                </p:cNvPr>
                <p:cNvPicPr/>
                <p:nvPr/>
              </p:nvPicPr>
              <p:blipFill>
                <a:blip r:embed="rId19"/>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037BBD1D-EE80-594E-3DA6-2FA1846189BE}"/>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B132E71D-4D5E-4FA4-78C8-6A8D017BFD11}"/>
                    </a:ext>
                  </a:extLst>
                </p:cNvPr>
                <p:cNvPicPr/>
                <p:nvPr/>
              </p:nvPicPr>
              <p:blipFill>
                <a:blip r:embed="rId21"/>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4CED4E41-C7B0-DA0F-B1AE-934BE20DA12A}"/>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543F36F5-E3CC-23E3-985C-A9A698CD7922}"/>
                    </a:ext>
                  </a:extLst>
                </p:cNvPr>
                <p:cNvPicPr/>
                <p:nvPr/>
              </p:nvPicPr>
              <p:blipFill>
                <a:blip r:embed="rId23"/>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0B1AC10-BFE3-D773-A2A3-FC847DCE5C13}"/>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10CD522A-DB0C-2138-5CC2-93A723F85761}"/>
                    </a:ext>
                  </a:extLst>
                </p:cNvPr>
                <p:cNvPicPr/>
                <p:nvPr/>
              </p:nvPicPr>
              <p:blipFill>
                <a:blip r:embed="rId25"/>
                <a:stretch>
                  <a:fillRect/>
                </a:stretch>
              </p:blipFill>
              <p:spPr>
                <a:xfrm>
                  <a:off x="8839224" y="3292056"/>
                  <a:ext cx="144720" cy="129600"/>
                </a:xfrm>
                <a:prstGeom prst="rect">
                  <a:avLst/>
                </a:prstGeom>
              </p:spPr>
            </p:pic>
          </mc:Fallback>
        </mc:AlternateContent>
      </p:grpSp>
      <p:grpSp>
        <p:nvGrpSpPr>
          <p:cNvPr id="23" name="Group 22">
            <a:extLst>
              <a:ext uri="{FF2B5EF4-FFF2-40B4-BE49-F238E27FC236}">
                <a16:creationId xmlns:a16="http://schemas.microsoft.com/office/drawing/2014/main" id="{3065AC72-7537-4D42-E50B-9E538F322BED}"/>
              </a:ext>
            </a:extLst>
          </p:cNvPr>
          <p:cNvGrpSpPr/>
          <p:nvPr/>
        </p:nvGrpSpPr>
        <p:grpSpPr>
          <a:xfrm>
            <a:off x="8869608" y="3236544"/>
            <a:ext cx="551520" cy="126360"/>
            <a:chOff x="8311824" y="4818096"/>
            <a:chExt cx="551520" cy="126360"/>
          </a:xfrm>
        </p:grpSpPr>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B8747E99-F8D9-5651-EEB1-D671DE9160EF}"/>
                    </a:ext>
                  </a:extLst>
                </p14:cNvPr>
                <p14:cNvContentPartPr/>
                <p14:nvPr/>
              </p14:nvContentPartPr>
              <p14:xfrm>
                <a:off x="8311824" y="4866336"/>
                <a:ext cx="507960" cy="25920"/>
              </p14:xfrm>
            </p:contentPart>
          </mc:Choice>
          <mc:Fallback xmlns="">
            <p:pic>
              <p:nvPicPr>
                <p:cNvPr id="22" name="Ink 21">
                  <a:extLst>
                    <a:ext uri="{FF2B5EF4-FFF2-40B4-BE49-F238E27FC236}">
                      <a16:creationId xmlns:a16="http://schemas.microsoft.com/office/drawing/2014/main" id="{6C181C98-598D-3B44-6EDD-B8F12D2E9027}"/>
                    </a:ext>
                  </a:extLst>
                </p:cNvPr>
                <p:cNvPicPr/>
                <p:nvPr/>
              </p:nvPicPr>
              <p:blipFill>
                <a:blip r:embed="rId27"/>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C0FEDFE4-EFA9-3925-0D13-CEDD1FB81711}"/>
                    </a:ext>
                  </a:extLst>
                </p14:cNvPr>
                <p14:cNvContentPartPr/>
                <p14:nvPr/>
              </p14:nvContentPartPr>
              <p14:xfrm>
                <a:off x="8685504" y="4818096"/>
                <a:ext cx="177840" cy="126360"/>
              </p14:xfrm>
            </p:contentPart>
          </mc:Choice>
          <mc:Fallback xmlns="">
            <p:pic>
              <p:nvPicPr>
                <p:cNvPr id="23" name="Ink 22">
                  <a:extLst>
                    <a:ext uri="{FF2B5EF4-FFF2-40B4-BE49-F238E27FC236}">
                      <a16:creationId xmlns:a16="http://schemas.microsoft.com/office/drawing/2014/main" id="{8AE588F6-4D65-BF1F-B26D-09620B15EB49}"/>
                    </a:ext>
                  </a:extLst>
                </p:cNvPr>
                <p:cNvPicPr/>
                <p:nvPr/>
              </p:nvPicPr>
              <p:blipFill>
                <a:blip r:embed="rId29"/>
                <a:stretch>
                  <a:fillRect/>
                </a:stretch>
              </p:blipFill>
              <p:spPr>
                <a:xfrm>
                  <a:off x="8667864" y="4800456"/>
                  <a:ext cx="21348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3E8FA6FB-24CF-3C29-53B7-DD2856D9713F}"/>
                  </a:ext>
                </a:extLst>
              </p14:cNvPr>
              <p14:cNvContentPartPr/>
              <p14:nvPr/>
            </p14:nvContentPartPr>
            <p14:xfrm>
              <a:off x="10798848" y="1734264"/>
              <a:ext cx="304920" cy="844920"/>
            </p14:xfrm>
          </p:contentPart>
        </mc:Choice>
        <mc:Fallback xmlns="">
          <p:pic>
            <p:nvPicPr>
              <p:cNvPr id="26" name="Ink 25">
                <a:extLst>
                  <a:ext uri="{FF2B5EF4-FFF2-40B4-BE49-F238E27FC236}">
                    <a16:creationId xmlns:a16="http://schemas.microsoft.com/office/drawing/2014/main" id="{3E8FA6FB-24CF-3C29-53B7-DD2856D9713F}"/>
                  </a:ext>
                </a:extLst>
              </p:cNvPr>
              <p:cNvPicPr/>
              <p:nvPr/>
            </p:nvPicPr>
            <p:blipFill>
              <a:blip r:embed="rId31"/>
              <a:stretch>
                <a:fillRect/>
              </a:stretch>
            </p:blipFill>
            <p:spPr>
              <a:xfrm>
                <a:off x="10780848" y="1716264"/>
                <a:ext cx="340560" cy="880560"/>
              </a:xfrm>
              <a:prstGeom prst="rect">
                <a:avLst/>
              </a:prstGeom>
            </p:spPr>
          </p:pic>
        </mc:Fallback>
      </mc:AlternateContent>
      <p:grpSp>
        <p:nvGrpSpPr>
          <p:cNvPr id="27" name="Group 26">
            <a:extLst>
              <a:ext uri="{FF2B5EF4-FFF2-40B4-BE49-F238E27FC236}">
                <a16:creationId xmlns:a16="http://schemas.microsoft.com/office/drawing/2014/main" id="{9696B533-4321-DB9F-B48F-9680B9D70EC4}"/>
              </a:ext>
            </a:extLst>
          </p:cNvPr>
          <p:cNvGrpSpPr/>
          <p:nvPr/>
        </p:nvGrpSpPr>
        <p:grpSpPr>
          <a:xfrm>
            <a:off x="8722368" y="2643984"/>
            <a:ext cx="853560" cy="329760"/>
            <a:chOff x="8164584" y="4225536"/>
            <a:chExt cx="853560" cy="329760"/>
          </a:xfrm>
        </p:grpSpPr>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636CEB7A-702A-8C57-C83D-992AB3B57874}"/>
                    </a:ext>
                  </a:extLst>
                </p14:cNvPr>
                <p14:cNvContentPartPr/>
                <p14:nvPr/>
              </p14:nvContentPartPr>
              <p14:xfrm>
                <a:off x="8262864" y="4345416"/>
                <a:ext cx="185400" cy="106560"/>
              </p14:xfrm>
            </p:contentPart>
          </mc:Choice>
          <mc:Fallback xmlns="">
            <p:pic>
              <p:nvPicPr>
                <p:cNvPr id="29" name="Ink 28">
                  <a:extLst>
                    <a:ext uri="{FF2B5EF4-FFF2-40B4-BE49-F238E27FC236}">
                      <a16:creationId xmlns:a16="http://schemas.microsoft.com/office/drawing/2014/main" id="{0CCAAC7A-3C96-E70F-3231-D613E1FF9C44}"/>
                    </a:ext>
                  </a:extLst>
                </p:cNvPr>
                <p:cNvPicPr/>
                <p:nvPr/>
              </p:nvPicPr>
              <p:blipFill>
                <a:blip r:embed="rId33"/>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3F9779D4-C9CC-84B1-A5BB-7ED0EB72E33E}"/>
                    </a:ext>
                  </a:extLst>
                </p14:cNvPr>
                <p14:cNvContentPartPr/>
                <p14:nvPr/>
              </p14:nvContentPartPr>
              <p14:xfrm>
                <a:off x="8164584" y="4249296"/>
                <a:ext cx="378000" cy="298440"/>
              </p14:xfrm>
            </p:contentPart>
          </mc:Choice>
          <mc:Fallback xmlns="">
            <p:pic>
              <p:nvPicPr>
                <p:cNvPr id="30" name="Ink 29">
                  <a:extLst>
                    <a:ext uri="{FF2B5EF4-FFF2-40B4-BE49-F238E27FC236}">
                      <a16:creationId xmlns:a16="http://schemas.microsoft.com/office/drawing/2014/main" id="{10ADA723-8238-C03C-1854-C5C46704874D}"/>
                    </a:ext>
                  </a:extLst>
                </p:cNvPr>
                <p:cNvPicPr/>
                <p:nvPr/>
              </p:nvPicPr>
              <p:blipFill>
                <a:blip r:embed="rId35"/>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9DC64346-0A29-A2EC-42B7-C7756540FF08}"/>
                    </a:ext>
                  </a:extLst>
                </p14:cNvPr>
                <p14:cNvContentPartPr/>
                <p14:nvPr/>
              </p14:nvContentPartPr>
              <p14:xfrm>
                <a:off x="8740224" y="4314096"/>
                <a:ext cx="177120" cy="158760"/>
              </p14:xfrm>
            </p:contentPart>
          </mc:Choice>
          <mc:Fallback xmlns="">
            <p:pic>
              <p:nvPicPr>
                <p:cNvPr id="31" name="Ink 30">
                  <a:extLst>
                    <a:ext uri="{FF2B5EF4-FFF2-40B4-BE49-F238E27FC236}">
                      <a16:creationId xmlns:a16="http://schemas.microsoft.com/office/drawing/2014/main" id="{6AB49C60-6662-8017-B0A6-CDC9C9F8C472}"/>
                    </a:ext>
                  </a:extLst>
                </p:cNvPr>
                <p:cNvPicPr/>
                <p:nvPr/>
              </p:nvPicPr>
              <p:blipFill>
                <a:blip r:embed="rId37"/>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A9C10B44-FE15-426C-6B7D-C61B2A1B60A3}"/>
                    </a:ext>
                  </a:extLst>
                </p14:cNvPr>
                <p14:cNvContentPartPr/>
                <p14:nvPr/>
              </p14:nvContentPartPr>
              <p14:xfrm>
                <a:off x="8640144" y="4225536"/>
                <a:ext cx="378000" cy="329760"/>
              </p14:xfrm>
            </p:contentPart>
          </mc:Choice>
          <mc:Fallback xmlns="">
            <p:pic>
              <p:nvPicPr>
                <p:cNvPr id="32" name="Ink 31">
                  <a:extLst>
                    <a:ext uri="{FF2B5EF4-FFF2-40B4-BE49-F238E27FC236}">
                      <a16:creationId xmlns:a16="http://schemas.microsoft.com/office/drawing/2014/main" id="{54C9E551-A748-36C0-E991-22F3FA161BD1}"/>
                    </a:ext>
                  </a:extLst>
                </p:cNvPr>
                <p:cNvPicPr/>
                <p:nvPr/>
              </p:nvPicPr>
              <p:blipFill>
                <a:blip r:embed="rId39"/>
                <a:stretch>
                  <a:fillRect/>
                </a:stretch>
              </p:blipFill>
              <p:spPr>
                <a:xfrm>
                  <a:off x="8622504" y="4207896"/>
                  <a:ext cx="413640" cy="365400"/>
                </a:xfrm>
                <a:prstGeom prst="rect">
                  <a:avLst/>
                </a:prstGeom>
              </p:spPr>
            </p:pic>
          </mc:Fallback>
        </mc:AlternateContent>
      </p:grpSp>
      <p:grpSp>
        <p:nvGrpSpPr>
          <p:cNvPr id="32" name="Group 31">
            <a:extLst>
              <a:ext uri="{FF2B5EF4-FFF2-40B4-BE49-F238E27FC236}">
                <a16:creationId xmlns:a16="http://schemas.microsoft.com/office/drawing/2014/main" id="{6899278C-4BB8-9EB8-D5A2-9EF21F70F946}"/>
              </a:ext>
            </a:extLst>
          </p:cNvPr>
          <p:cNvGrpSpPr/>
          <p:nvPr/>
        </p:nvGrpSpPr>
        <p:grpSpPr>
          <a:xfrm>
            <a:off x="11073888" y="2012544"/>
            <a:ext cx="426600" cy="320040"/>
            <a:chOff x="10516104" y="3594096"/>
            <a:chExt cx="426600" cy="320040"/>
          </a:xfrm>
        </p:grpSpPr>
        <mc:AlternateContent xmlns:mc="http://schemas.openxmlformats.org/markup-compatibility/2006" xmlns:p14="http://schemas.microsoft.com/office/powerpoint/2010/main">
          <mc:Choice Requires="p14">
            <p:contentPart p14:bwMode="auto" r:id="rId40">
              <p14:nvContentPartPr>
                <p14:cNvPr id="33" name="Ink 32">
                  <a:extLst>
                    <a:ext uri="{FF2B5EF4-FFF2-40B4-BE49-F238E27FC236}">
                      <a16:creationId xmlns:a16="http://schemas.microsoft.com/office/drawing/2014/main" id="{5E942094-A3E9-9FB7-C160-7F4DE4E2C263}"/>
                    </a:ext>
                  </a:extLst>
                </p14:cNvPr>
                <p14:cNvContentPartPr/>
                <p14:nvPr/>
              </p14:nvContentPartPr>
              <p14:xfrm>
                <a:off x="10616184" y="3692016"/>
                <a:ext cx="156240" cy="156600"/>
              </p14:xfrm>
            </p:contentPart>
          </mc:Choice>
          <mc:Fallback xmlns="">
            <p:pic>
              <p:nvPicPr>
                <p:cNvPr id="34" name="Ink 33">
                  <a:extLst>
                    <a:ext uri="{FF2B5EF4-FFF2-40B4-BE49-F238E27FC236}">
                      <a16:creationId xmlns:a16="http://schemas.microsoft.com/office/drawing/2014/main" id="{B6ED7EA7-3CA2-677A-61F7-A8921532BB1C}"/>
                    </a:ext>
                  </a:extLst>
                </p:cNvPr>
                <p:cNvPicPr/>
                <p:nvPr/>
              </p:nvPicPr>
              <p:blipFill>
                <a:blip r:embed="rId41"/>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34F71E24-9A79-C464-A5B1-FA5B7B346EE1}"/>
                    </a:ext>
                  </a:extLst>
                </p14:cNvPr>
                <p14:cNvContentPartPr/>
                <p14:nvPr/>
              </p14:nvContentPartPr>
              <p14:xfrm>
                <a:off x="10516104" y="3594096"/>
                <a:ext cx="426600" cy="320040"/>
              </p14:xfrm>
            </p:contentPart>
          </mc:Choice>
          <mc:Fallback xmlns="">
            <p:pic>
              <p:nvPicPr>
                <p:cNvPr id="35" name="Ink 34">
                  <a:extLst>
                    <a:ext uri="{FF2B5EF4-FFF2-40B4-BE49-F238E27FC236}">
                      <a16:creationId xmlns:a16="http://schemas.microsoft.com/office/drawing/2014/main" id="{1EA7B2CC-21B6-2802-DC85-59D99004FD8F}"/>
                    </a:ext>
                  </a:extLst>
                </p:cNvPr>
                <p:cNvPicPr/>
                <p:nvPr/>
              </p:nvPicPr>
              <p:blipFill>
                <a:blip r:embed="rId43"/>
                <a:stretch>
                  <a:fillRect/>
                </a:stretch>
              </p:blipFill>
              <p:spPr>
                <a:xfrm>
                  <a:off x="10498464" y="3576456"/>
                  <a:ext cx="46224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C9490484-5CD3-6E24-C8B6-5433F343010C}"/>
                  </a:ext>
                </a:extLst>
              </p14:cNvPr>
              <p14:cNvContentPartPr/>
              <p14:nvPr/>
            </p14:nvContentPartPr>
            <p14:xfrm>
              <a:off x="10325448" y="774504"/>
              <a:ext cx="60480" cy="47520"/>
            </p14:xfrm>
          </p:contentPart>
        </mc:Choice>
        <mc:Fallback xmlns="">
          <p:pic>
            <p:nvPicPr>
              <p:cNvPr id="35" name="Ink 34">
                <a:extLst>
                  <a:ext uri="{FF2B5EF4-FFF2-40B4-BE49-F238E27FC236}">
                    <a16:creationId xmlns:a16="http://schemas.microsoft.com/office/drawing/2014/main" id="{C9490484-5CD3-6E24-C8B6-5433F343010C}"/>
                  </a:ext>
                </a:extLst>
              </p:cNvPr>
              <p:cNvPicPr/>
              <p:nvPr/>
            </p:nvPicPr>
            <p:blipFill>
              <a:blip r:embed="rId45"/>
              <a:stretch>
                <a:fillRect/>
              </a:stretch>
            </p:blipFill>
            <p:spPr>
              <a:xfrm>
                <a:off x="10307340" y="756504"/>
                <a:ext cx="96333"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6E89D9A1-036C-91A5-D907-3B2FC2997B28}"/>
                  </a:ext>
                </a:extLst>
              </p14:cNvPr>
              <p14:cNvContentPartPr/>
              <p14:nvPr/>
            </p14:nvContentPartPr>
            <p14:xfrm>
              <a:off x="10898208" y="806904"/>
              <a:ext cx="65520" cy="30960"/>
            </p14:xfrm>
          </p:contentPart>
        </mc:Choice>
        <mc:Fallback xmlns="">
          <p:pic>
            <p:nvPicPr>
              <p:cNvPr id="36" name="Ink 35">
                <a:extLst>
                  <a:ext uri="{FF2B5EF4-FFF2-40B4-BE49-F238E27FC236}">
                    <a16:creationId xmlns:a16="http://schemas.microsoft.com/office/drawing/2014/main" id="{6E89D9A1-036C-91A5-D907-3B2FC2997B28}"/>
                  </a:ext>
                </a:extLst>
              </p:cNvPr>
              <p:cNvPicPr/>
              <p:nvPr/>
            </p:nvPicPr>
            <p:blipFill>
              <a:blip r:embed="rId47"/>
              <a:stretch>
                <a:fillRect/>
              </a:stretch>
            </p:blipFill>
            <p:spPr>
              <a:xfrm>
                <a:off x="10880208" y="788904"/>
                <a:ext cx="101160" cy="66600"/>
              </a:xfrm>
              <a:prstGeom prst="rect">
                <a:avLst/>
              </a:prstGeom>
            </p:spPr>
          </p:pic>
        </mc:Fallback>
      </mc:AlternateContent>
      <p:grpSp>
        <p:nvGrpSpPr>
          <p:cNvPr id="37" name="Group 36">
            <a:extLst>
              <a:ext uri="{FF2B5EF4-FFF2-40B4-BE49-F238E27FC236}">
                <a16:creationId xmlns:a16="http://schemas.microsoft.com/office/drawing/2014/main" id="{284F2A36-05BC-072F-7039-E3263B4B4C44}"/>
              </a:ext>
            </a:extLst>
          </p:cNvPr>
          <p:cNvGrpSpPr/>
          <p:nvPr/>
        </p:nvGrpSpPr>
        <p:grpSpPr>
          <a:xfrm>
            <a:off x="10160208" y="1179504"/>
            <a:ext cx="894240" cy="239040"/>
            <a:chOff x="9602424" y="2761056"/>
            <a:chExt cx="894240" cy="239040"/>
          </a:xfrm>
        </p:grpSpPr>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AAC011E2-0C6B-F74D-5BB2-BB3A79A01EF9}"/>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A51581A7-6284-89DA-3365-1C060C962501}"/>
                    </a:ext>
                  </a:extLst>
                </p:cNvPr>
                <p:cNvPicPr/>
                <p:nvPr/>
              </p:nvPicPr>
              <p:blipFill>
                <a:blip r:embed="rId49"/>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B0851A65-C34D-0773-8992-C70473A15E4D}"/>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6951254D-881E-D11D-2245-ADEF168194B2}"/>
                    </a:ext>
                  </a:extLst>
                </p:cNvPr>
                <p:cNvPicPr/>
                <p:nvPr/>
              </p:nvPicPr>
              <p:blipFill>
                <a:blip r:embed="rId51"/>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0" name="Ink 39">
                  <a:extLst>
                    <a:ext uri="{FF2B5EF4-FFF2-40B4-BE49-F238E27FC236}">
                      <a16:creationId xmlns:a16="http://schemas.microsoft.com/office/drawing/2014/main" id="{CB833FF5-A3D6-43AB-0A67-7FE900EE1469}"/>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D87A8007-C872-ED75-9F29-A0D2D116C65B}"/>
                    </a:ext>
                  </a:extLst>
                </p:cNvPr>
                <p:cNvPicPr/>
                <p:nvPr/>
              </p:nvPicPr>
              <p:blipFill>
                <a:blip r:embed="rId53"/>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1" name="Ink 40">
                  <a:extLst>
                    <a:ext uri="{FF2B5EF4-FFF2-40B4-BE49-F238E27FC236}">
                      <a16:creationId xmlns:a16="http://schemas.microsoft.com/office/drawing/2014/main" id="{730D94FC-B648-619D-85ED-BBD0927CA40A}"/>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D5E4451B-F3DC-6488-5BC9-7BE98F3548E0}"/>
                    </a:ext>
                  </a:extLst>
                </p:cNvPr>
                <p:cNvPicPr/>
                <p:nvPr/>
              </p:nvPicPr>
              <p:blipFill>
                <a:blip r:embed="rId55"/>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42" name="Ink 41">
                <a:extLst>
                  <a:ext uri="{FF2B5EF4-FFF2-40B4-BE49-F238E27FC236}">
                    <a16:creationId xmlns:a16="http://schemas.microsoft.com/office/drawing/2014/main" id="{132C04DF-12BC-4AB8-BF47-1FF085FCCB9B}"/>
                  </a:ext>
                </a:extLst>
              </p14:cNvPr>
              <p14:cNvContentPartPr/>
              <p14:nvPr/>
            </p14:nvContentPartPr>
            <p14:xfrm>
              <a:off x="10290528" y="772704"/>
              <a:ext cx="96480" cy="78480"/>
            </p14:xfrm>
          </p:contentPart>
        </mc:Choice>
        <mc:Fallback xmlns="">
          <p:pic>
            <p:nvPicPr>
              <p:cNvPr id="42" name="Ink 41">
                <a:extLst>
                  <a:ext uri="{FF2B5EF4-FFF2-40B4-BE49-F238E27FC236}">
                    <a16:creationId xmlns:a16="http://schemas.microsoft.com/office/drawing/2014/main" id="{132C04DF-12BC-4AB8-BF47-1FF085FCCB9B}"/>
                  </a:ext>
                </a:extLst>
              </p:cNvPr>
              <p:cNvPicPr/>
              <p:nvPr/>
            </p:nvPicPr>
            <p:blipFill>
              <a:blip r:embed="rId57"/>
              <a:stretch>
                <a:fillRect/>
              </a:stretch>
            </p:blipFill>
            <p:spPr>
              <a:xfrm>
                <a:off x="10272528" y="754704"/>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3" name="Ink 42">
                <a:extLst>
                  <a:ext uri="{FF2B5EF4-FFF2-40B4-BE49-F238E27FC236}">
                    <a16:creationId xmlns:a16="http://schemas.microsoft.com/office/drawing/2014/main" id="{79A1DAE2-6962-5200-C3F8-C274039F3C62}"/>
                  </a:ext>
                </a:extLst>
              </p14:cNvPr>
              <p14:cNvContentPartPr/>
              <p14:nvPr/>
            </p14:nvContentPartPr>
            <p14:xfrm>
              <a:off x="10856088" y="786744"/>
              <a:ext cx="97920" cy="93240"/>
            </p14:xfrm>
          </p:contentPart>
        </mc:Choice>
        <mc:Fallback xmlns="">
          <p:pic>
            <p:nvPicPr>
              <p:cNvPr id="43" name="Ink 42">
                <a:extLst>
                  <a:ext uri="{FF2B5EF4-FFF2-40B4-BE49-F238E27FC236}">
                    <a16:creationId xmlns:a16="http://schemas.microsoft.com/office/drawing/2014/main" id="{79A1DAE2-6962-5200-C3F8-C274039F3C62}"/>
                  </a:ext>
                </a:extLst>
              </p:cNvPr>
              <p:cNvPicPr/>
              <p:nvPr/>
            </p:nvPicPr>
            <p:blipFill>
              <a:blip r:embed="rId59"/>
              <a:stretch>
                <a:fillRect/>
              </a:stretch>
            </p:blipFill>
            <p:spPr>
              <a:xfrm>
                <a:off x="10838088" y="768744"/>
                <a:ext cx="133560" cy="128880"/>
              </a:xfrm>
              <a:prstGeom prst="rect">
                <a:avLst/>
              </a:prstGeom>
            </p:spPr>
          </p:pic>
        </mc:Fallback>
      </mc:AlternateContent>
    </p:spTree>
    <p:extLst>
      <p:ext uri="{BB962C8B-B14F-4D97-AF65-F5344CB8AC3E}">
        <p14:creationId xmlns:p14="http://schemas.microsoft.com/office/powerpoint/2010/main" val="1785913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46FEB-D231-0629-D8ED-5B8339BCA25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304719E-BC05-8978-B171-67EC2252A48E}"/>
              </a:ext>
            </a:extLst>
          </p:cNvPr>
          <p:cNvSpPr txBox="1"/>
          <p:nvPr/>
        </p:nvSpPr>
        <p:spPr>
          <a:xfrm>
            <a:off x="148336" y="199104"/>
            <a:ext cx="11720576" cy="5632311"/>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Question to Loxford Academy: </a:t>
            </a:r>
          </a:p>
          <a:p>
            <a:r>
              <a:rPr lang="en-US" sz="2400" dirty="0">
                <a:solidFill>
                  <a:schemeClr val="accent6">
                    <a:lumMod val="60000"/>
                    <a:lumOff val="40000"/>
                  </a:schemeClr>
                </a:solidFill>
              </a:rPr>
              <a:t>“Can I get a refund for a failed UPI transaction that is older than 7 days but marked as ‘debited’ in my account?”</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RAG</a:t>
            </a:r>
            <a:r>
              <a:rPr lang="en-US" sz="2400" dirty="0">
                <a:solidFill>
                  <a:schemeClr val="accent6">
                    <a:lumMod val="60000"/>
                    <a:lumOff val="40000"/>
                  </a:schemeClr>
                </a:solidFill>
              </a:rPr>
              <a:t> : “According to policy, refunds are processed within 5–7 working days. Please contact support if your issue persists.”             </a:t>
            </a:r>
            <a:r>
              <a:rPr lang="en-US" sz="2400" dirty="0">
                <a:solidFill>
                  <a:schemeClr val="accent4">
                    <a:lumMod val="60000"/>
                    <a:lumOff val="40000"/>
                  </a:schemeClr>
                </a:solidFill>
              </a:rPr>
              <a:t>(-&gt; does not sound like trained human agent)</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Fine tuned </a:t>
            </a:r>
            <a:r>
              <a:rPr lang="en-US" sz="2400" dirty="0">
                <a:solidFill>
                  <a:schemeClr val="accent6">
                    <a:lumMod val="60000"/>
                    <a:lumOff val="40000"/>
                  </a:schemeClr>
                </a:solidFill>
              </a:rPr>
              <a:t>: “Thank you for reaching out. Since your UPI transaction is older than 7 days and still marked as debited, it is outside the automatic refund window and may require manual reconciliation.</a:t>
            </a:r>
          </a:p>
          <a:p>
            <a:r>
              <a:rPr lang="en-US" sz="2400" dirty="0">
                <a:solidFill>
                  <a:schemeClr val="accent6">
                    <a:lumMod val="60000"/>
                    <a:lumOff val="40000"/>
                  </a:schemeClr>
                </a:solidFill>
              </a:rPr>
              <a:t>Please raise a dispute through your bank’s support so the internal team can review and assist you further. Such cases are typically resolved once escalated.”                            </a:t>
            </a:r>
          </a:p>
          <a:p>
            <a:r>
              <a:rPr lang="en-US" sz="2400" dirty="0">
                <a:solidFill>
                  <a:schemeClr val="accent4">
                    <a:lumMod val="60000"/>
                    <a:lumOff val="40000"/>
                  </a:schemeClr>
                </a:solidFill>
              </a:rPr>
              <a:t>(-&gt; does sound like a trained human agent)</a:t>
            </a:r>
          </a:p>
        </p:txBody>
      </p:sp>
    </p:spTree>
    <p:extLst>
      <p:ext uri="{BB962C8B-B14F-4D97-AF65-F5344CB8AC3E}">
        <p14:creationId xmlns:p14="http://schemas.microsoft.com/office/powerpoint/2010/main" val="346269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79512-11C9-913F-CF05-ABC6BD9D981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B878292-0942-2F7B-7AE1-A5E171598109}"/>
              </a:ext>
            </a:extLst>
          </p:cNvPr>
          <p:cNvSpPr txBox="1"/>
          <p:nvPr/>
        </p:nvSpPr>
        <p:spPr>
          <a:xfrm>
            <a:off x="148336" y="199104"/>
            <a:ext cx="11757152" cy="5632311"/>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2.  Lower latency (faster inference)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RAG pipeline adds overhead:</a:t>
            </a:r>
          </a:p>
          <a:p>
            <a:r>
              <a:rPr lang="en-US" sz="2400" dirty="0">
                <a:solidFill>
                  <a:schemeClr val="accent6">
                    <a:lumMod val="60000"/>
                    <a:lumOff val="40000"/>
                  </a:schemeClr>
                </a:solidFill>
              </a:rPr>
              <a:t>embedding query + vector search + retrieving documents </a:t>
            </a:r>
          </a:p>
          <a:p>
            <a:r>
              <a:rPr lang="en-US" sz="2400" dirty="0">
                <a:solidFill>
                  <a:schemeClr val="accent6">
                    <a:lumMod val="60000"/>
                    <a:lumOff val="40000"/>
                  </a:schemeClr>
                </a:solidFill>
              </a:rPr>
              <a:t>+ injecting context into prompt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Fine-tuned model:</a:t>
            </a:r>
          </a:p>
          <a:p>
            <a:pPr marL="342900" indent="-342900">
              <a:buFont typeface="Arial" panose="020B0604020202020204" pitchFamily="34" charset="0"/>
              <a:buChar char="•"/>
            </a:pPr>
            <a:r>
              <a:rPr lang="en-US" sz="2400" dirty="0">
                <a:solidFill>
                  <a:schemeClr val="accent6">
                    <a:lumMod val="60000"/>
                    <a:lumOff val="40000"/>
                  </a:schemeClr>
                </a:solidFill>
              </a:rPr>
              <a:t>Just forward pass </a:t>
            </a:r>
          </a:p>
          <a:p>
            <a:pPr marL="342900" indent="-342900">
              <a:buFont typeface="Arial" panose="020B0604020202020204" pitchFamily="34" charset="0"/>
              <a:buChar char="•"/>
            </a:pPr>
            <a:r>
              <a:rPr lang="en-US" sz="2400" dirty="0">
                <a:solidFill>
                  <a:schemeClr val="accent6">
                    <a:lumMod val="60000"/>
                    <a:lumOff val="40000"/>
                  </a:schemeClr>
                </a:solidFill>
              </a:rPr>
              <a:t>No retrieval step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 Faster responses</a:t>
            </a:r>
            <a:br>
              <a:rPr lang="en-US" sz="2400" dirty="0">
                <a:solidFill>
                  <a:schemeClr val="accent6">
                    <a:lumMod val="60000"/>
                    <a:lumOff val="40000"/>
                  </a:schemeClr>
                </a:solidFill>
              </a:rPr>
            </a:br>
            <a:r>
              <a:rPr lang="en-US" sz="2400" dirty="0">
                <a:solidFill>
                  <a:schemeClr val="accent6">
                    <a:lumMod val="60000"/>
                    <a:lumOff val="40000"/>
                  </a:schemeClr>
                </a:solidFill>
              </a:rPr>
              <a:t>✔ Simpler deployment</a:t>
            </a:r>
            <a:br>
              <a:rPr lang="en-US" sz="2400" dirty="0">
                <a:solidFill>
                  <a:schemeClr val="accent6">
                    <a:lumMod val="60000"/>
                    <a:lumOff val="40000"/>
                  </a:schemeClr>
                </a:solidFill>
              </a:rPr>
            </a:br>
            <a:r>
              <a:rPr lang="en-US" sz="2400" dirty="0">
                <a:solidFill>
                  <a:schemeClr val="accent6">
                    <a:lumMod val="60000"/>
                    <a:lumOff val="40000"/>
                  </a:schemeClr>
                </a:solidFill>
              </a:rPr>
              <a:t>✔ Better for real-time systems</a:t>
            </a:r>
          </a:p>
        </p:txBody>
      </p:sp>
      <p:sp>
        <p:nvSpPr>
          <p:cNvPr id="2" name="Oval 1">
            <a:extLst>
              <a:ext uri="{FF2B5EF4-FFF2-40B4-BE49-F238E27FC236}">
                <a16:creationId xmlns:a16="http://schemas.microsoft.com/office/drawing/2014/main" id="{946F3594-7590-0D22-CAAA-914D7805219F}"/>
              </a:ext>
            </a:extLst>
          </p:cNvPr>
          <p:cNvSpPr/>
          <p:nvPr/>
        </p:nvSpPr>
        <p:spPr>
          <a:xfrm>
            <a:off x="9372600" y="5100696"/>
            <a:ext cx="2734056" cy="840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3" name="Group 2">
            <a:extLst>
              <a:ext uri="{FF2B5EF4-FFF2-40B4-BE49-F238E27FC236}">
                <a16:creationId xmlns:a16="http://schemas.microsoft.com/office/drawing/2014/main" id="{AE47F3EC-99EE-0755-3766-CE4FEDE29AD0}"/>
              </a:ext>
            </a:extLst>
          </p:cNvPr>
          <p:cNvGrpSpPr/>
          <p:nvPr/>
        </p:nvGrpSpPr>
        <p:grpSpPr>
          <a:xfrm>
            <a:off x="8403336" y="51937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B9BD9FB-FD9A-C2B7-D1FE-FF91C11D04FE}"/>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8185845F-5C03-8707-80BB-7767DA04B8CF}"/>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78275CE-1D44-A892-E3DA-C83794CEB8E7}"/>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636C7884-F3AE-C9D4-4121-F723C1D044E5}"/>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6" name="Freeform: Shape 5">
            <a:extLst>
              <a:ext uri="{FF2B5EF4-FFF2-40B4-BE49-F238E27FC236}">
                <a16:creationId xmlns:a16="http://schemas.microsoft.com/office/drawing/2014/main" id="{8F6955E7-E2EE-7797-7214-FF22DECCA3E8}"/>
              </a:ext>
            </a:extLst>
          </p:cNvPr>
          <p:cNvSpPr/>
          <p:nvPr/>
        </p:nvSpPr>
        <p:spPr>
          <a:xfrm>
            <a:off x="6586872" y="4556736"/>
            <a:ext cx="1678079" cy="1699992"/>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7" name="Oval 6">
            <a:extLst>
              <a:ext uri="{FF2B5EF4-FFF2-40B4-BE49-F238E27FC236}">
                <a16:creationId xmlns:a16="http://schemas.microsoft.com/office/drawing/2014/main" id="{A27741EB-A990-A7CE-5300-E6A9ECDC7407}"/>
              </a:ext>
            </a:extLst>
          </p:cNvPr>
          <p:cNvSpPr/>
          <p:nvPr/>
        </p:nvSpPr>
        <p:spPr>
          <a:xfrm>
            <a:off x="10013688" y="51242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8" name="Oval 7">
            <a:extLst>
              <a:ext uri="{FF2B5EF4-FFF2-40B4-BE49-F238E27FC236}">
                <a16:creationId xmlns:a16="http://schemas.microsoft.com/office/drawing/2014/main" id="{CB08212A-AECB-022C-94A6-EDB95A73D806}"/>
              </a:ext>
            </a:extLst>
          </p:cNvPr>
          <p:cNvSpPr/>
          <p:nvPr/>
        </p:nvSpPr>
        <p:spPr>
          <a:xfrm>
            <a:off x="9470136" y="2804520"/>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sp>
        <p:nvSpPr>
          <p:cNvPr id="10" name="Rectangle 9">
            <a:extLst>
              <a:ext uri="{FF2B5EF4-FFF2-40B4-BE49-F238E27FC236}">
                <a16:creationId xmlns:a16="http://schemas.microsoft.com/office/drawing/2014/main" id="{BDADEC14-7315-026C-1A71-5069E730B4A8}"/>
              </a:ext>
            </a:extLst>
          </p:cNvPr>
          <p:cNvSpPr/>
          <p:nvPr/>
        </p:nvSpPr>
        <p:spPr>
          <a:xfrm>
            <a:off x="7242048" y="2950824"/>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grpSp>
        <p:nvGrpSpPr>
          <p:cNvPr id="16" name="Group 15">
            <a:extLst>
              <a:ext uri="{FF2B5EF4-FFF2-40B4-BE49-F238E27FC236}">
                <a16:creationId xmlns:a16="http://schemas.microsoft.com/office/drawing/2014/main" id="{257B26C2-BA61-BFE2-6469-43D9915B3C3A}"/>
              </a:ext>
            </a:extLst>
          </p:cNvPr>
          <p:cNvGrpSpPr/>
          <p:nvPr/>
        </p:nvGrpSpPr>
        <p:grpSpPr>
          <a:xfrm>
            <a:off x="10013688" y="1710144"/>
            <a:ext cx="337680" cy="907560"/>
            <a:chOff x="9455904" y="3291696"/>
            <a:chExt cx="337680" cy="907560"/>
          </a:xfrm>
        </p:grpSpPr>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CE52D536-E660-8C72-EDD6-F0CA4C7A3CB7}"/>
                    </a:ext>
                  </a:extLst>
                </p14:cNvPr>
                <p14:cNvContentPartPr/>
                <p14:nvPr/>
              </p14:nvContentPartPr>
              <p14:xfrm>
                <a:off x="9455904" y="3291696"/>
                <a:ext cx="234720" cy="851760"/>
              </p14:xfrm>
            </p:contentPart>
          </mc:Choice>
          <mc:Fallback xmlns="">
            <p:pic>
              <p:nvPicPr>
                <p:cNvPr id="8" name="Ink 7">
                  <a:extLst>
                    <a:ext uri="{FF2B5EF4-FFF2-40B4-BE49-F238E27FC236}">
                      <a16:creationId xmlns:a16="http://schemas.microsoft.com/office/drawing/2014/main" id="{88426E6E-3230-67F4-43DE-62D9D2CB0666}"/>
                    </a:ext>
                  </a:extLst>
                </p:cNvPr>
                <p:cNvPicPr/>
                <p:nvPr/>
              </p:nvPicPr>
              <p:blipFill>
                <a:blip r:embed="rId7"/>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2C919557-E170-793C-A471-E472725465F5}"/>
                    </a:ext>
                  </a:extLst>
                </p14:cNvPr>
                <p14:cNvContentPartPr/>
                <p14:nvPr/>
              </p14:nvContentPartPr>
              <p14:xfrm>
                <a:off x="9515664" y="4010976"/>
                <a:ext cx="277920" cy="188280"/>
              </p14:xfrm>
            </p:contentPart>
          </mc:Choice>
          <mc:Fallback xmlns="">
            <p:pic>
              <p:nvPicPr>
                <p:cNvPr id="10" name="Ink 9">
                  <a:extLst>
                    <a:ext uri="{FF2B5EF4-FFF2-40B4-BE49-F238E27FC236}">
                      <a16:creationId xmlns:a16="http://schemas.microsoft.com/office/drawing/2014/main" id="{F899B411-75FA-99E7-D2AF-15C51AAE7A6C}"/>
                    </a:ext>
                  </a:extLst>
                </p:cNvPr>
                <p:cNvPicPr/>
                <p:nvPr/>
              </p:nvPicPr>
              <p:blipFill>
                <a:blip r:embed="rId9"/>
                <a:stretch>
                  <a:fillRect/>
                </a:stretch>
              </p:blipFill>
              <p:spPr>
                <a:xfrm>
                  <a:off x="9497664" y="3993336"/>
                  <a:ext cx="313560" cy="223920"/>
                </a:xfrm>
                <a:prstGeom prst="rect">
                  <a:avLst/>
                </a:prstGeom>
              </p:spPr>
            </p:pic>
          </mc:Fallback>
        </mc:AlternateContent>
      </p:grpSp>
      <p:grpSp>
        <p:nvGrpSpPr>
          <p:cNvPr id="19" name="Group 18">
            <a:extLst>
              <a:ext uri="{FF2B5EF4-FFF2-40B4-BE49-F238E27FC236}">
                <a16:creationId xmlns:a16="http://schemas.microsoft.com/office/drawing/2014/main" id="{08F37B8E-880F-71B7-606C-EBBBFAA8FD96}"/>
              </a:ext>
            </a:extLst>
          </p:cNvPr>
          <p:cNvGrpSpPr/>
          <p:nvPr/>
        </p:nvGrpSpPr>
        <p:grpSpPr>
          <a:xfrm>
            <a:off x="8831448" y="1659744"/>
            <a:ext cx="894600" cy="563760"/>
            <a:chOff x="8273664" y="3241296"/>
            <a:chExt cx="894600" cy="563760"/>
          </a:xfrm>
        </p:grpSpPr>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3E4F78DF-6778-BA25-35CC-D5E562C6E796}"/>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F432866-E2DD-21C0-213C-E528F2E45B0D}"/>
                    </a:ext>
                  </a:extLst>
                </p:cNvPr>
                <p:cNvPicPr/>
                <p:nvPr/>
              </p:nvPicPr>
              <p:blipFill>
                <a:blip r:embed="rId11"/>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609E6E86-9ACE-4F37-F5F4-D24C1DF5D69D}"/>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43ECEBC8-7A1A-BBA0-B233-11937321D795}"/>
                    </a:ext>
                  </a:extLst>
                </p:cNvPr>
                <p:cNvPicPr/>
                <p:nvPr/>
              </p:nvPicPr>
              <p:blipFill>
                <a:blip r:embed="rId13"/>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26E48C65-77DD-F461-E3C2-D941A4122CD0}"/>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9DB8F780-5473-A123-8886-14FDB0BAD76D}"/>
                    </a:ext>
                  </a:extLst>
                </p:cNvPr>
                <p:cNvPicPr/>
                <p:nvPr/>
              </p:nvPicPr>
              <p:blipFill>
                <a:blip r:embed="rId15"/>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C17C0576-E4A0-2A7C-87F4-CA4C368F61B5}"/>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4349F2BA-B32B-92E4-31D4-F73206289EE1}"/>
                    </a:ext>
                  </a:extLst>
                </p:cNvPr>
                <p:cNvPicPr/>
                <p:nvPr/>
              </p:nvPicPr>
              <p:blipFill>
                <a:blip r:embed="rId17"/>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a:extLst>
                    <a:ext uri="{FF2B5EF4-FFF2-40B4-BE49-F238E27FC236}">
                      <a16:creationId xmlns:a16="http://schemas.microsoft.com/office/drawing/2014/main" id="{ABDB0088-E85D-C8F1-0487-747FFC6927C7}"/>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4ADADBC0-1287-633C-4540-786952FF53FB}"/>
                    </a:ext>
                  </a:extLst>
                </p:cNvPr>
                <p:cNvPicPr/>
                <p:nvPr/>
              </p:nvPicPr>
              <p:blipFill>
                <a:blip r:embed="rId19"/>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F90EE80D-338D-53D4-8076-A281B23D7822}"/>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B132E71D-4D5E-4FA4-78C8-6A8D017BFD11}"/>
                    </a:ext>
                  </a:extLst>
                </p:cNvPr>
                <p:cNvPicPr/>
                <p:nvPr/>
              </p:nvPicPr>
              <p:blipFill>
                <a:blip r:embed="rId21"/>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Ink 25">
                  <a:extLst>
                    <a:ext uri="{FF2B5EF4-FFF2-40B4-BE49-F238E27FC236}">
                      <a16:creationId xmlns:a16="http://schemas.microsoft.com/office/drawing/2014/main" id="{43A603D8-CC40-B2CF-62EA-8271A34F3948}"/>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543F36F5-E3CC-23E3-985C-A9A698CD7922}"/>
                    </a:ext>
                  </a:extLst>
                </p:cNvPr>
                <p:cNvPicPr/>
                <p:nvPr/>
              </p:nvPicPr>
              <p:blipFill>
                <a:blip r:embed="rId23"/>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k 26">
                  <a:extLst>
                    <a:ext uri="{FF2B5EF4-FFF2-40B4-BE49-F238E27FC236}">
                      <a16:creationId xmlns:a16="http://schemas.microsoft.com/office/drawing/2014/main" id="{C19618F2-A8D3-A4F6-324E-C92C8C2E3280}"/>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10CD522A-DB0C-2138-5CC2-93A723F85761}"/>
                    </a:ext>
                  </a:extLst>
                </p:cNvPr>
                <p:cNvPicPr/>
                <p:nvPr/>
              </p:nvPicPr>
              <p:blipFill>
                <a:blip r:embed="rId25"/>
                <a:stretch>
                  <a:fillRect/>
                </a:stretch>
              </p:blipFill>
              <p:spPr>
                <a:xfrm>
                  <a:off x="8839224" y="3292056"/>
                  <a:ext cx="144720" cy="12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E1B2E237-7B78-219D-12C6-2068C74E742F}"/>
                  </a:ext>
                </a:extLst>
              </p14:cNvPr>
              <p14:cNvContentPartPr/>
              <p14:nvPr/>
            </p14:nvContentPartPr>
            <p14:xfrm>
              <a:off x="10798848" y="1734264"/>
              <a:ext cx="304920" cy="844920"/>
            </p14:xfrm>
          </p:contentPart>
        </mc:Choice>
        <mc:Fallback xmlns="">
          <p:pic>
            <p:nvPicPr>
              <p:cNvPr id="28" name="Ink 27">
                <a:extLst>
                  <a:ext uri="{FF2B5EF4-FFF2-40B4-BE49-F238E27FC236}">
                    <a16:creationId xmlns:a16="http://schemas.microsoft.com/office/drawing/2014/main" id="{E1B2E237-7B78-219D-12C6-2068C74E742F}"/>
                  </a:ext>
                </a:extLst>
              </p:cNvPr>
              <p:cNvPicPr/>
              <p:nvPr/>
            </p:nvPicPr>
            <p:blipFill>
              <a:blip r:embed="rId27"/>
              <a:stretch>
                <a:fillRect/>
              </a:stretch>
            </p:blipFill>
            <p:spPr>
              <a:xfrm>
                <a:off x="10780848" y="1716264"/>
                <a:ext cx="340560" cy="880560"/>
              </a:xfrm>
              <a:prstGeom prst="rect">
                <a:avLst/>
              </a:prstGeom>
            </p:spPr>
          </p:pic>
        </mc:Fallback>
      </mc:AlternateContent>
      <p:grpSp>
        <p:nvGrpSpPr>
          <p:cNvPr id="29" name="Group 28">
            <a:extLst>
              <a:ext uri="{FF2B5EF4-FFF2-40B4-BE49-F238E27FC236}">
                <a16:creationId xmlns:a16="http://schemas.microsoft.com/office/drawing/2014/main" id="{E703CB43-428D-6C76-5853-A614C0AD1E2D}"/>
              </a:ext>
            </a:extLst>
          </p:cNvPr>
          <p:cNvGrpSpPr/>
          <p:nvPr/>
        </p:nvGrpSpPr>
        <p:grpSpPr>
          <a:xfrm>
            <a:off x="8722368" y="2643984"/>
            <a:ext cx="853560" cy="329760"/>
            <a:chOff x="8164584" y="4225536"/>
            <a:chExt cx="853560" cy="329760"/>
          </a:xfrm>
        </p:grpSpPr>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B7E478DE-90FC-05A7-632E-231DFC631392}"/>
                    </a:ext>
                  </a:extLst>
                </p14:cNvPr>
                <p14:cNvContentPartPr/>
                <p14:nvPr/>
              </p14:nvContentPartPr>
              <p14:xfrm>
                <a:off x="8262864" y="4345416"/>
                <a:ext cx="185400" cy="106560"/>
              </p14:xfrm>
            </p:contentPart>
          </mc:Choice>
          <mc:Fallback xmlns="">
            <p:pic>
              <p:nvPicPr>
                <p:cNvPr id="29" name="Ink 28">
                  <a:extLst>
                    <a:ext uri="{FF2B5EF4-FFF2-40B4-BE49-F238E27FC236}">
                      <a16:creationId xmlns:a16="http://schemas.microsoft.com/office/drawing/2014/main" id="{0CCAAC7A-3C96-E70F-3231-D613E1FF9C44}"/>
                    </a:ext>
                  </a:extLst>
                </p:cNvPr>
                <p:cNvPicPr/>
                <p:nvPr/>
              </p:nvPicPr>
              <p:blipFill>
                <a:blip r:embed="rId29"/>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0BC179F8-6DB3-F800-498C-CAEB49A9E479}"/>
                    </a:ext>
                  </a:extLst>
                </p14:cNvPr>
                <p14:cNvContentPartPr/>
                <p14:nvPr/>
              </p14:nvContentPartPr>
              <p14:xfrm>
                <a:off x="8164584" y="4249296"/>
                <a:ext cx="378000" cy="298440"/>
              </p14:xfrm>
            </p:contentPart>
          </mc:Choice>
          <mc:Fallback xmlns="">
            <p:pic>
              <p:nvPicPr>
                <p:cNvPr id="30" name="Ink 29">
                  <a:extLst>
                    <a:ext uri="{FF2B5EF4-FFF2-40B4-BE49-F238E27FC236}">
                      <a16:creationId xmlns:a16="http://schemas.microsoft.com/office/drawing/2014/main" id="{10ADA723-8238-C03C-1854-C5C46704874D}"/>
                    </a:ext>
                  </a:extLst>
                </p:cNvPr>
                <p:cNvPicPr/>
                <p:nvPr/>
              </p:nvPicPr>
              <p:blipFill>
                <a:blip r:embed="rId31"/>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2" name="Ink 31">
                  <a:extLst>
                    <a:ext uri="{FF2B5EF4-FFF2-40B4-BE49-F238E27FC236}">
                      <a16:creationId xmlns:a16="http://schemas.microsoft.com/office/drawing/2014/main" id="{AFA6D259-B218-2E18-EE01-109366D69CC3}"/>
                    </a:ext>
                  </a:extLst>
                </p14:cNvPr>
                <p14:cNvContentPartPr/>
                <p14:nvPr/>
              </p14:nvContentPartPr>
              <p14:xfrm>
                <a:off x="8740224" y="4314096"/>
                <a:ext cx="177120" cy="158760"/>
              </p14:xfrm>
            </p:contentPart>
          </mc:Choice>
          <mc:Fallback xmlns="">
            <p:pic>
              <p:nvPicPr>
                <p:cNvPr id="31" name="Ink 30">
                  <a:extLst>
                    <a:ext uri="{FF2B5EF4-FFF2-40B4-BE49-F238E27FC236}">
                      <a16:creationId xmlns:a16="http://schemas.microsoft.com/office/drawing/2014/main" id="{6AB49C60-6662-8017-B0A6-CDC9C9F8C472}"/>
                    </a:ext>
                  </a:extLst>
                </p:cNvPr>
                <p:cNvPicPr/>
                <p:nvPr/>
              </p:nvPicPr>
              <p:blipFill>
                <a:blip r:embed="rId33"/>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3" name="Ink 32">
                  <a:extLst>
                    <a:ext uri="{FF2B5EF4-FFF2-40B4-BE49-F238E27FC236}">
                      <a16:creationId xmlns:a16="http://schemas.microsoft.com/office/drawing/2014/main" id="{FED6A896-8567-A397-FEB5-89D7D4DBB661}"/>
                    </a:ext>
                  </a:extLst>
                </p14:cNvPr>
                <p14:cNvContentPartPr/>
                <p14:nvPr/>
              </p14:nvContentPartPr>
              <p14:xfrm>
                <a:off x="8640144" y="4225536"/>
                <a:ext cx="378000" cy="329760"/>
              </p14:xfrm>
            </p:contentPart>
          </mc:Choice>
          <mc:Fallback xmlns="">
            <p:pic>
              <p:nvPicPr>
                <p:cNvPr id="32" name="Ink 31">
                  <a:extLst>
                    <a:ext uri="{FF2B5EF4-FFF2-40B4-BE49-F238E27FC236}">
                      <a16:creationId xmlns:a16="http://schemas.microsoft.com/office/drawing/2014/main" id="{54C9E551-A748-36C0-E991-22F3FA161BD1}"/>
                    </a:ext>
                  </a:extLst>
                </p:cNvPr>
                <p:cNvPicPr/>
                <p:nvPr/>
              </p:nvPicPr>
              <p:blipFill>
                <a:blip r:embed="rId35"/>
                <a:stretch>
                  <a:fillRect/>
                </a:stretch>
              </p:blipFill>
              <p:spPr>
                <a:xfrm>
                  <a:off x="8622504" y="4207896"/>
                  <a:ext cx="413640" cy="365400"/>
                </a:xfrm>
                <a:prstGeom prst="rect">
                  <a:avLst/>
                </a:prstGeom>
              </p:spPr>
            </p:pic>
          </mc:Fallback>
        </mc:AlternateContent>
      </p:grpSp>
      <p:grpSp>
        <p:nvGrpSpPr>
          <p:cNvPr id="34" name="Group 33">
            <a:extLst>
              <a:ext uri="{FF2B5EF4-FFF2-40B4-BE49-F238E27FC236}">
                <a16:creationId xmlns:a16="http://schemas.microsoft.com/office/drawing/2014/main" id="{E1AF4B71-F0C9-8E0E-6EB1-8173808C8019}"/>
              </a:ext>
            </a:extLst>
          </p:cNvPr>
          <p:cNvGrpSpPr/>
          <p:nvPr/>
        </p:nvGrpSpPr>
        <p:grpSpPr>
          <a:xfrm>
            <a:off x="11073888" y="2012544"/>
            <a:ext cx="426600" cy="320040"/>
            <a:chOff x="10516104" y="3594096"/>
            <a:chExt cx="426600" cy="320040"/>
          </a:xfrm>
        </p:grpSpPr>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FAFAAE7F-FF20-AC13-98BA-3A68E65CB59D}"/>
                    </a:ext>
                  </a:extLst>
                </p14:cNvPr>
                <p14:cNvContentPartPr/>
                <p14:nvPr/>
              </p14:nvContentPartPr>
              <p14:xfrm>
                <a:off x="10616184" y="3692016"/>
                <a:ext cx="156240" cy="156600"/>
              </p14:xfrm>
            </p:contentPart>
          </mc:Choice>
          <mc:Fallback xmlns="">
            <p:pic>
              <p:nvPicPr>
                <p:cNvPr id="34" name="Ink 33">
                  <a:extLst>
                    <a:ext uri="{FF2B5EF4-FFF2-40B4-BE49-F238E27FC236}">
                      <a16:creationId xmlns:a16="http://schemas.microsoft.com/office/drawing/2014/main" id="{B6ED7EA7-3CA2-677A-61F7-A8921532BB1C}"/>
                    </a:ext>
                  </a:extLst>
                </p:cNvPr>
                <p:cNvPicPr/>
                <p:nvPr/>
              </p:nvPicPr>
              <p:blipFill>
                <a:blip r:embed="rId37"/>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87D6729D-42AD-185B-E2C9-99AF323A2A6E}"/>
                    </a:ext>
                  </a:extLst>
                </p14:cNvPr>
                <p14:cNvContentPartPr/>
                <p14:nvPr/>
              </p14:nvContentPartPr>
              <p14:xfrm>
                <a:off x="10516104" y="3594096"/>
                <a:ext cx="426600" cy="320040"/>
              </p14:xfrm>
            </p:contentPart>
          </mc:Choice>
          <mc:Fallback xmlns="">
            <p:pic>
              <p:nvPicPr>
                <p:cNvPr id="35" name="Ink 34">
                  <a:extLst>
                    <a:ext uri="{FF2B5EF4-FFF2-40B4-BE49-F238E27FC236}">
                      <a16:creationId xmlns:a16="http://schemas.microsoft.com/office/drawing/2014/main" id="{1EA7B2CC-21B6-2802-DC85-59D99004FD8F}"/>
                    </a:ext>
                  </a:extLst>
                </p:cNvPr>
                <p:cNvPicPr/>
                <p:nvPr/>
              </p:nvPicPr>
              <p:blipFill>
                <a:blip r:embed="rId39"/>
                <a:stretch>
                  <a:fillRect/>
                </a:stretch>
              </p:blipFill>
              <p:spPr>
                <a:xfrm>
                  <a:off x="10498464" y="3576456"/>
                  <a:ext cx="462240" cy="355680"/>
                </a:xfrm>
                <a:prstGeom prst="rect">
                  <a:avLst/>
                </a:prstGeom>
              </p:spPr>
            </p:pic>
          </mc:Fallback>
        </mc:AlternateContent>
      </p:grpSp>
      <p:grpSp>
        <p:nvGrpSpPr>
          <p:cNvPr id="37" name="Group 36">
            <a:extLst>
              <a:ext uri="{FF2B5EF4-FFF2-40B4-BE49-F238E27FC236}">
                <a16:creationId xmlns:a16="http://schemas.microsoft.com/office/drawing/2014/main" id="{263D69A3-8A3D-5910-8FE9-88CDBF431A9E}"/>
              </a:ext>
            </a:extLst>
          </p:cNvPr>
          <p:cNvGrpSpPr/>
          <p:nvPr/>
        </p:nvGrpSpPr>
        <p:grpSpPr>
          <a:xfrm>
            <a:off x="10160208" y="1179504"/>
            <a:ext cx="894240" cy="239040"/>
            <a:chOff x="9602424" y="2761056"/>
            <a:chExt cx="894240" cy="239040"/>
          </a:xfrm>
        </p:grpSpPr>
        <mc:AlternateContent xmlns:mc="http://schemas.openxmlformats.org/markup-compatibility/2006" xmlns:p14="http://schemas.microsoft.com/office/powerpoint/2010/main">
          <mc:Choice Requires="p14">
            <p:contentPart p14:bwMode="auto" r:id="rId40">
              <p14:nvContentPartPr>
                <p14:cNvPr id="38" name="Ink 37">
                  <a:extLst>
                    <a:ext uri="{FF2B5EF4-FFF2-40B4-BE49-F238E27FC236}">
                      <a16:creationId xmlns:a16="http://schemas.microsoft.com/office/drawing/2014/main" id="{AEE79D89-23F5-DBDE-76BD-9639D19E9F5F}"/>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A51581A7-6284-89DA-3365-1C060C962501}"/>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 name="Ink 38">
                  <a:extLst>
                    <a:ext uri="{FF2B5EF4-FFF2-40B4-BE49-F238E27FC236}">
                      <a16:creationId xmlns:a16="http://schemas.microsoft.com/office/drawing/2014/main" id="{A3EA7B6A-40D2-4F30-94B2-F228D340238E}"/>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6951254D-881E-D11D-2245-ADEF168194B2}"/>
                    </a:ext>
                  </a:extLst>
                </p:cNvPr>
                <p:cNvPicPr/>
                <p:nvPr/>
              </p:nvPicPr>
              <p:blipFill>
                <a:blip r:embed="rId47"/>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0" name="Ink 39">
                  <a:extLst>
                    <a:ext uri="{FF2B5EF4-FFF2-40B4-BE49-F238E27FC236}">
                      <a16:creationId xmlns:a16="http://schemas.microsoft.com/office/drawing/2014/main" id="{90996D25-635A-FEF3-3D6B-5EBE4947A739}"/>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D87A8007-C872-ED75-9F29-A0D2D116C65B}"/>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FCC91A26-6DAF-533C-D2C9-88CCEF6C8271}"/>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D5E4451B-F3DC-6488-5BC9-7BE98F3548E0}"/>
                    </a:ext>
                  </a:extLst>
                </p:cNvPr>
                <p:cNvPicPr/>
                <p:nvPr/>
              </p:nvPicPr>
              <p:blipFill>
                <a:blip r:embed="rId51"/>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49B38A48-9FC9-758F-AC94-C0833EF356B5}"/>
                  </a:ext>
                </a:extLst>
              </p14:cNvPr>
              <p14:cNvContentPartPr/>
              <p14:nvPr/>
            </p14:nvContentPartPr>
            <p14:xfrm>
              <a:off x="10290528" y="772704"/>
              <a:ext cx="96480" cy="78480"/>
            </p14:xfrm>
          </p:contentPart>
        </mc:Choice>
        <mc:Fallback xmlns="">
          <p:pic>
            <p:nvPicPr>
              <p:cNvPr id="42" name="Ink 41">
                <a:extLst>
                  <a:ext uri="{FF2B5EF4-FFF2-40B4-BE49-F238E27FC236}">
                    <a16:creationId xmlns:a16="http://schemas.microsoft.com/office/drawing/2014/main" id="{49B38A48-9FC9-758F-AC94-C0833EF356B5}"/>
                  </a:ext>
                </a:extLst>
              </p:cNvPr>
              <p:cNvPicPr/>
              <p:nvPr/>
            </p:nvPicPr>
            <p:blipFill>
              <a:blip r:embed="rId53"/>
              <a:stretch>
                <a:fillRect/>
              </a:stretch>
            </p:blipFill>
            <p:spPr>
              <a:xfrm>
                <a:off x="10272528" y="754704"/>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A82F636C-B6DD-9128-8E48-EBCFA9DA703E}"/>
                  </a:ext>
                </a:extLst>
              </p14:cNvPr>
              <p14:cNvContentPartPr/>
              <p14:nvPr/>
            </p14:nvContentPartPr>
            <p14:xfrm>
              <a:off x="10856088" y="786744"/>
              <a:ext cx="97920" cy="93240"/>
            </p14:xfrm>
          </p:contentPart>
        </mc:Choice>
        <mc:Fallback xmlns="">
          <p:pic>
            <p:nvPicPr>
              <p:cNvPr id="43" name="Ink 42">
                <a:extLst>
                  <a:ext uri="{FF2B5EF4-FFF2-40B4-BE49-F238E27FC236}">
                    <a16:creationId xmlns:a16="http://schemas.microsoft.com/office/drawing/2014/main" id="{A82F636C-B6DD-9128-8E48-EBCFA9DA703E}"/>
                  </a:ext>
                </a:extLst>
              </p:cNvPr>
              <p:cNvPicPr/>
              <p:nvPr/>
            </p:nvPicPr>
            <p:blipFill>
              <a:blip r:embed="rId55"/>
              <a:stretch>
                <a:fillRect/>
              </a:stretch>
            </p:blipFill>
            <p:spPr>
              <a:xfrm>
                <a:off x="10838088" y="768744"/>
                <a:ext cx="133560" cy="128880"/>
              </a:xfrm>
              <a:prstGeom prst="rect">
                <a:avLst/>
              </a:prstGeom>
            </p:spPr>
          </p:pic>
        </mc:Fallback>
      </mc:AlternateContent>
      <p:grpSp>
        <p:nvGrpSpPr>
          <p:cNvPr id="44" name="Group 43">
            <a:extLst>
              <a:ext uri="{FF2B5EF4-FFF2-40B4-BE49-F238E27FC236}">
                <a16:creationId xmlns:a16="http://schemas.microsoft.com/office/drawing/2014/main" id="{6B576F61-8F24-B9AB-37A0-0806C8A6A15C}"/>
              </a:ext>
            </a:extLst>
          </p:cNvPr>
          <p:cNvGrpSpPr/>
          <p:nvPr/>
        </p:nvGrpSpPr>
        <p:grpSpPr>
          <a:xfrm>
            <a:off x="8869608" y="3236544"/>
            <a:ext cx="551520" cy="126360"/>
            <a:chOff x="8311824" y="4818096"/>
            <a:chExt cx="551520" cy="126360"/>
          </a:xfrm>
        </p:grpSpPr>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532F0C9F-0B77-40AB-59C5-CB300EC4690F}"/>
                    </a:ext>
                  </a:extLst>
                </p14:cNvPr>
                <p14:cNvContentPartPr/>
                <p14:nvPr/>
              </p14:nvContentPartPr>
              <p14:xfrm>
                <a:off x="8311824" y="4866336"/>
                <a:ext cx="507960" cy="25920"/>
              </p14:xfrm>
            </p:contentPart>
          </mc:Choice>
          <mc:Fallback xmlns="">
            <p:pic>
              <p:nvPicPr>
                <p:cNvPr id="22" name="Ink 21">
                  <a:extLst>
                    <a:ext uri="{FF2B5EF4-FFF2-40B4-BE49-F238E27FC236}">
                      <a16:creationId xmlns:a16="http://schemas.microsoft.com/office/drawing/2014/main" id="{6C181C98-598D-3B44-6EDD-B8F12D2E9027}"/>
                    </a:ext>
                  </a:extLst>
                </p:cNvPr>
                <p:cNvPicPr/>
                <p:nvPr/>
              </p:nvPicPr>
              <p:blipFill>
                <a:blip r:embed="rId57"/>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105378DD-626C-DC28-90AF-824BE9088487}"/>
                    </a:ext>
                  </a:extLst>
                </p14:cNvPr>
                <p14:cNvContentPartPr/>
                <p14:nvPr/>
              </p14:nvContentPartPr>
              <p14:xfrm>
                <a:off x="8685504" y="4818096"/>
                <a:ext cx="177840" cy="126360"/>
              </p14:xfrm>
            </p:contentPart>
          </mc:Choice>
          <mc:Fallback xmlns="">
            <p:pic>
              <p:nvPicPr>
                <p:cNvPr id="23" name="Ink 22">
                  <a:extLst>
                    <a:ext uri="{FF2B5EF4-FFF2-40B4-BE49-F238E27FC236}">
                      <a16:creationId xmlns:a16="http://schemas.microsoft.com/office/drawing/2014/main" id="{8AE588F6-4D65-BF1F-B26D-09620B15EB49}"/>
                    </a:ext>
                  </a:extLst>
                </p:cNvPr>
                <p:cNvPicPr/>
                <p:nvPr/>
              </p:nvPicPr>
              <p:blipFill>
                <a:blip r:embed="rId59"/>
                <a:stretch>
                  <a:fillRect/>
                </a:stretch>
              </p:blipFill>
              <p:spPr>
                <a:xfrm>
                  <a:off x="8667864" y="4800456"/>
                  <a:ext cx="213480" cy="162000"/>
                </a:xfrm>
                <a:prstGeom prst="rect">
                  <a:avLst/>
                </a:prstGeom>
              </p:spPr>
            </p:pic>
          </mc:Fallback>
        </mc:AlternateContent>
      </p:grpSp>
    </p:spTree>
    <p:extLst>
      <p:ext uri="{BB962C8B-B14F-4D97-AF65-F5344CB8AC3E}">
        <p14:creationId xmlns:p14="http://schemas.microsoft.com/office/powerpoint/2010/main" val="1326726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7CB40-BBB9-5127-8D00-B24F457D3F4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C3772D7-4C85-9991-4DA6-C175191C94CE}"/>
              </a:ext>
            </a:extLst>
          </p:cNvPr>
          <p:cNvSpPr txBox="1"/>
          <p:nvPr/>
        </p:nvSpPr>
        <p:spPr>
          <a:xfrm>
            <a:off x="148336" y="199104"/>
            <a:ext cx="11757152" cy="5632311"/>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3. 🔒 Better for sensitive decision systems</a:t>
            </a:r>
          </a:p>
          <a:p>
            <a:r>
              <a:rPr lang="en-US" sz="2400" dirty="0">
                <a:solidFill>
                  <a:schemeClr val="accent6">
                    <a:lumMod val="60000"/>
                    <a:lumOff val="40000"/>
                  </a:schemeClr>
                </a:solidFill>
              </a:rPr>
              <a:t>In regulated systems:</a:t>
            </a:r>
          </a:p>
          <a:p>
            <a:pPr marL="342900" indent="-342900">
              <a:buFont typeface="Arial" panose="020B0604020202020204" pitchFamily="34" charset="0"/>
              <a:buChar char="•"/>
            </a:pPr>
            <a:r>
              <a:rPr lang="en-US" sz="2400" dirty="0">
                <a:solidFill>
                  <a:schemeClr val="accent6">
                    <a:lumMod val="60000"/>
                    <a:lumOff val="40000"/>
                  </a:schemeClr>
                </a:solidFill>
              </a:rPr>
              <a:t>healthcare triage </a:t>
            </a:r>
          </a:p>
          <a:p>
            <a:pPr marL="342900" indent="-342900">
              <a:buFont typeface="Arial" panose="020B0604020202020204" pitchFamily="34" charset="0"/>
              <a:buChar char="•"/>
            </a:pPr>
            <a:r>
              <a:rPr lang="en-US" sz="2400" dirty="0">
                <a:solidFill>
                  <a:schemeClr val="accent6">
                    <a:lumMod val="60000"/>
                    <a:lumOff val="40000"/>
                  </a:schemeClr>
                </a:solidFill>
              </a:rPr>
              <a:t>banking risk scoring </a:t>
            </a:r>
          </a:p>
          <a:p>
            <a:pPr marL="342900" indent="-342900">
              <a:buFont typeface="Arial" panose="020B0604020202020204" pitchFamily="34" charset="0"/>
              <a:buChar char="•"/>
            </a:pPr>
            <a:r>
              <a:rPr lang="en-US" sz="2400" dirty="0">
                <a:solidFill>
                  <a:schemeClr val="accent6">
                    <a:lumMod val="60000"/>
                    <a:lumOff val="40000"/>
                  </a:schemeClr>
                </a:solidFill>
              </a:rPr>
              <a:t>insurance underwriting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You often want:</a:t>
            </a:r>
          </a:p>
          <a:p>
            <a:pPr marL="342900" indent="-342900">
              <a:buFont typeface="Arial" panose="020B0604020202020204" pitchFamily="34" charset="0"/>
              <a:buChar char="•"/>
            </a:pPr>
            <a:r>
              <a:rPr lang="en-US" sz="2400" dirty="0">
                <a:solidFill>
                  <a:schemeClr val="accent6">
                    <a:lumMod val="60000"/>
                    <a:lumOff val="40000"/>
                  </a:schemeClr>
                </a:solidFill>
              </a:rPr>
              <a:t>deterministic behavior </a:t>
            </a:r>
          </a:p>
          <a:p>
            <a:pPr marL="342900" indent="-342900">
              <a:buFont typeface="Arial" panose="020B0604020202020204" pitchFamily="34" charset="0"/>
              <a:buChar char="•"/>
            </a:pPr>
            <a:r>
              <a:rPr lang="en-US" sz="2400" dirty="0">
                <a:solidFill>
                  <a:schemeClr val="accent6">
                    <a:lumMod val="60000"/>
                    <a:lumOff val="40000"/>
                  </a:schemeClr>
                </a:solidFill>
              </a:rPr>
              <a:t>controlled logic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Fine-tuning provides:</a:t>
            </a:r>
            <a:br>
              <a:rPr lang="en-US" sz="2400" dirty="0">
                <a:solidFill>
                  <a:schemeClr val="accent6">
                    <a:lumMod val="60000"/>
                    <a:lumOff val="40000"/>
                  </a:schemeClr>
                </a:solidFill>
              </a:rPr>
            </a:br>
            <a:r>
              <a:rPr lang="en-US" sz="2400" dirty="0">
                <a:solidFill>
                  <a:schemeClr val="accent6">
                    <a:lumMod val="60000"/>
                    <a:lumOff val="40000"/>
                  </a:schemeClr>
                </a:solidFill>
              </a:rPr>
              <a:t>✔ predictable responses</a:t>
            </a:r>
            <a:br>
              <a:rPr lang="en-US" sz="2400" dirty="0">
                <a:solidFill>
                  <a:schemeClr val="accent6">
                    <a:lumMod val="60000"/>
                    <a:lumOff val="40000"/>
                  </a:schemeClr>
                </a:solidFill>
              </a:rPr>
            </a:br>
            <a:r>
              <a:rPr lang="en-US" sz="2400" dirty="0">
                <a:solidFill>
                  <a:schemeClr val="accent6">
                    <a:lumMod val="60000"/>
                    <a:lumOff val="40000"/>
                  </a:schemeClr>
                </a:solidFill>
              </a:rPr>
              <a:t>✔ stable decision patterns</a:t>
            </a:r>
          </a:p>
        </p:txBody>
      </p:sp>
      <p:sp>
        <p:nvSpPr>
          <p:cNvPr id="11" name="Oval 10">
            <a:extLst>
              <a:ext uri="{FF2B5EF4-FFF2-40B4-BE49-F238E27FC236}">
                <a16:creationId xmlns:a16="http://schemas.microsoft.com/office/drawing/2014/main" id="{AED65077-1A01-7FF7-5D12-8B6D32C15533}"/>
              </a:ext>
            </a:extLst>
          </p:cNvPr>
          <p:cNvSpPr/>
          <p:nvPr/>
        </p:nvSpPr>
        <p:spPr>
          <a:xfrm>
            <a:off x="9372600" y="3939408"/>
            <a:ext cx="2734056" cy="840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3003F391-F443-EEE6-114C-EE69B687B8DE}"/>
              </a:ext>
            </a:extLst>
          </p:cNvPr>
          <p:cNvGrpSpPr/>
          <p:nvPr/>
        </p:nvGrpSpPr>
        <p:grpSpPr>
          <a:xfrm>
            <a:off x="8403336" y="4032504"/>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B029A4A0-50B6-AA5D-E113-8E1D4933B095}"/>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B029A4A0-50B6-AA5D-E113-8E1D4933B095}"/>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14797694-428A-B5D6-F730-E3E3F048C28B}"/>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14797694-428A-B5D6-F730-E3E3F048C28B}"/>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301CE17F-D13C-F1AF-BAD1-3948FE3EAF3C}"/>
              </a:ext>
            </a:extLst>
          </p:cNvPr>
          <p:cNvSpPr/>
          <p:nvPr/>
        </p:nvSpPr>
        <p:spPr>
          <a:xfrm>
            <a:off x="6586872" y="3395448"/>
            <a:ext cx="1678079" cy="1699992"/>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250247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90EFD-B000-2063-B991-1F10991DEC4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F6419E2-2E93-6359-8A5A-B319887805F2}"/>
              </a:ext>
            </a:extLst>
          </p:cNvPr>
          <p:cNvSpPr txBox="1"/>
          <p:nvPr/>
        </p:nvSpPr>
        <p:spPr>
          <a:xfrm>
            <a:off x="148336" y="199104"/>
            <a:ext cx="11711432" cy="3416320"/>
          </a:xfrm>
          <a:prstGeom prst="rect">
            <a:avLst/>
          </a:prstGeom>
          <a:noFill/>
        </p:spPr>
        <p:txBody>
          <a:bodyPr wrap="square">
            <a:spAutoFit/>
          </a:bodyPr>
          <a:lstStyle/>
          <a:p>
            <a:r>
              <a:rPr lang="en-US" sz="2400" b="1" dirty="0">
                <a:solidFill>
                  <a:schemeClr val="accent6">
                    <a:lumMod val="60000"/>
                    <a:lumOff val="40000"/>
                  </a:schemeClr>
                </a:solidFill>
              </a:rPr>
              <a:t>When not to fine-tune:</a:t>
            </a:r>
          </a:p>
          <a:p>
            <a:pPr marL="342900" indent="-342900">
              <a:buFont typeface="Arial" panose="020B0604020202020204" pitchFamily="34" charset="0"/>
              <a:buChar char="•"/>
            </a:pPr>
            <a:r>
              <a:rPr lang="en-US" sz="2400" b="1" dirty="0">
                <a:solidFill>
                  <a:schemeClr val="accent6">
                    <a:lumMod val="60000"/>
                    <a:lumOff val="40000"/>
                  </a:schemeClr>
                </a:solidFill>
              </a:rPr>
              <a:t>Your dataset is very small</a:t>
            </a:r>
            <a:r>
              <a:rPr lang="en-US" sz="2400" dirty="0">
                <a:solidFill>
                  <a:schemeClr val="accent6">
                    <a:lumMod val="60000"/>
                    <a:lumOff val="40000"/>
                  </a:schemeClr>
                </a:solidFill>
              </a:rPr>
              <a:t>. Fine-tuning requires hundreds to thousands of quality examples.</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dirty="0">
                <a:solidFill>
                  <a:schemeClr val="accent6">
                    <a:lumMod val="60000"/>
                    <a:lumOff val="40000"/>
                  </a:schemeClr>
                </a:solidFill>
              </a:rPr>
              <a:t>task is extremely dissimilar</a:t>
            </a:r>
            <a:r>
              <a:rPr lang="en-US" sz="2400" dirty="0">
                <a:solidFill>
                  <a:schemeClr val="accent6">
                    <a:lumMod val="60000"/>
                    <a:lumOff val="40000"/>
                  </a:schemeClr>
                </a:solidFill>
              </a:rPr>
              <a:t> from the base model’s training data. The model may struggle to connect its existing knowledge to this new domain.</a:t>
            </a:r>
          </a:p>
          <a:p>
            <a:pPr marL="342900" indent="-342900">
              <a:buFont typeface="Arial" panose="020B0604020202020204" pitchFamily="34" charset="0"/>
              <a:buChar char="•"/>
            </a:pPr>
            <a:r>
              <a:rPr lang="en-US" sz="2400" dirty="0">
                <a:solidFill>
                  <a:schemeClr val="accent6">
                    <a:lumMod val="60000"/>
                    <a:lumOff val="40000"/>
                  </a:schemeClr>
                </a:solidFill>
              </a:rPr>
              <a:t>You need to </a:t>
            </a:r>
            <a:r>
              <a:rPr lang="en-US" sz="2400" b="1" dirty="0">
                <a:solidFill>
                  <a:schemeClr val="accent6">
                    <a:lumMod val="60000"/>
                    <a:lumOff val="40000"/>
                  </a:schemeClr>
                </a:solidFill>
              </a:rPr>
              <a:t>frequently update</a:t>
            </a:r>
            <a:r>
              <a:rPr lang="en-US" sz="2400" dirty="0">
                <a:solidFill>
                  <a:schemeClr val="accent6">
                    <a:lumMod val="60000"/>
                    <a:lumOff val="40000"/>
                  </a:schemeClr>
                </a:solidFill>
              </a:rPr>
              <a:t> the model. Retraining from scratch allows for more flexibility.</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dirty="0">
                <a:solidFill>
                  <a:schemeClr val="accent6">
                    <a:lumMod val="60000"/>
                    <a:lumOff val="40000"/>
                  </a:schemeClr>
                </a:solidFill>
              </a:rPr>
              <a:t>problem can be solved with simpler methods</a:t>
            </a:r>
            <a:r>
              <a:rPr lang="en-US" sz="2400" dirty="0">
                <a:solidFill>
                  <a:schemeClr val="accent6">
                    <a:lumMod val="60000"/>
                    <a:lumOff val="40000"/>
                  </a:schemeClr>
                </a:solidFill>
              </a:rPr>
              <a:t>. Fine-tuning large models can be overkill.</a:t>
            </a:r>
          </a:p>
        </p:txBody>
      </p:sp>
      <p:sp>
        <p:nvSpPr>
          <p:cNvPr id="11" name="Oval 10">
            <a:extLst>
              <a:ext uri="{FF2B5EF4-FFF2-40B4-BE49-F238E27FC236}">
                <a16:creationId xmlns:a16="http://schemas.microsoft.com/office/drawing/2014/main" id="{D0A0DACA-5CBC-4F67-F0B5-B78B97A13975}"/>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54434C73-17D7-4F67-31BC-DDC41BB3557E}"/>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01E5CE3A-07AD-A4FF-5240-EC84CF1975E1}"/>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01E5CE3A-07AD-A4FF-5240-EC84CF1975E1}"/>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5168827E-66DD-2572-DD13-3186E929EC5D}"/>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5168827E-66DD-2572-DD13-3186E929EC5D}"/>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1BEF4C29-7982-F7D8-72EF-AEF3EF02F8E6}"/>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75663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9F317-A865-F278-C0E2-CF451F11C6A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A009D26-D23A-326C-D837-2E6FAD1FBC4F}"/>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Limitations</a:t>
            </a:r>
          </a:p>
          <a:p>
            <a:pPr marL="342900" indent="-342900">
              <a:buFont typeface="Arial" panose="020B0604020202020204" pitchFamily="34" charset="0"/>
              <a:buChar char="•"/>
            </a:pPr>
            <a:r>
              <a:rPr lang="en-US" sz="2400" dirty="0">
                <a:solidFill>
                  <a:schemeClr val="accent6">
                    <a:lumMod val="60000"/>
                    <a:lumOff val="40000"/>
                  </a:schemeClr>
                </a:solidFill>
              </a:rPr>
              <a:t>Expensive (training cost 💰) </a:t>
            </a:r>
          </a:p>
          <a:p>
            <a:pPr marL="342900" indent="-342900">
              <a:buFont typeface="Arial" panose="020B0604020202020204" pitchFamily="34" charset="0"/>
              <a:buChar char="•"/>
            </a:pPr>
            <a:r>
              <a:rPr lang="en-US" sz="2400" dirty="0">
                <a:solidFill>
                  <a:schemeClr val="accent6">
                    <a:lumMod val="60000"/>
                    <a:lumOff val="40000"/>
                  </a:schemeClr>
                </a:solidFill>
              </a:rPr>
              <a:t>Static knowledge (doesn’t update automatically) </a:t>
            </a:r>
          </a:p>
          <a:p>
            <a:pPr marL="342900" indent="-342900">
              <a:buFont typeface="Arial" panose="020B0604020202020204" pitchFamily="34" charset="0"/>
              <a:buChar char="•"/>
            </a:pPr>
            <a:r>
              <a:rPr lang="en-US" sz="2400" dirty="0">
                <a:solidFill>
                  <a:schemeClr val="accent6">
                    <a:lumMod val="60000"/>
                    <a:lumOff val="40000"/>
                  </a:schemeClr>
                </a:solidFill>
              </a:rPr>
              <a:t>Needs retraining for new data</a:t>
            </a:r>
          </a:p>
        </p:txBody>
      </p:sp>
      <p:sp>
        <p:nvSpPr>
          <p:cNvPr id="11" name="Oval 10">
            <a:extLst>
              <a:ext uri="{FF2B5EF4-FFF2-40B4-BE49-F238E27FC236}">
                <a16:creationId xmlns:a16="http://schemas.microsoft.com/office/drawing/2014/main" id="{89FD650A-4027-D1AA-B8E1-6C367ED776A6}"/>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8236BE1E-01AC-F690-C000-5E4AC0BA4DED}"/>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9E7F9CAA-0DE7-0F51-4A9C-40450E0A81C4}"/>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9E7F9CAA-0DE7-0F51-4A9C-40450E0A81C4}"/>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1636769D-E49B-6AF2-04A1-1AA8376ADB9D}"/>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1636769D-E49B-6AF2-04A1-1AA8376ADB9D}"/>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6732E60D-6D5A-BD98-EE0D-F647BACCED13}"/>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2826733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1552</TotalTime>
  <Words>1124</Words>
  <Application>Microsoft Office PowerPoint</Application>
  <PresentationFormat>Widescreen</PresentationFormat>
  <Paragraphs>209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292</cp:revision>
  <dcterms:created xsi:type="dcterms:W3CDTF">2025-09-22T02:44:38Z</dcterms:created>
  <dcterms:modified xsi:type="dcterms:W3CDTF">2026-06-10T10:53:26Z</dcterms:modified>
</cp:coreProperties>
</file>