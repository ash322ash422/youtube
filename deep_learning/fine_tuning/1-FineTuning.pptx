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handoutMasterIdLst>
    <p:handoutMasterId r:id="rId14"/>
  </p:handoutMasterIdLst>
  <p:sldIdLst>
    <p:sldId id="257" r:id="rId2"/>
    <p:sldId id="276" r:id="rId3"/>
    <p:sldId id="277" r:id="rId4"/>
    <p:sldId id="286" r:id="rId5"/>
    <p:sldId id="287" r:id="rId6"/>
    <p:sldId id="289" r:id="rId7"/>
    <p:sldId id="278" r:id="rId8"/>
    <p:sldId id="288" r:id="rId9"/>
    <p:sldId id="279" r:id="rId10"/>
    <p:sldId id="290" r:id="rId11"/>
    <p:sldId id="275"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notesViewPr>
    <p:cSldViewPr snapToGrid="0">
      <p:cViewPr varScale="1">
        <p:scale>
          <a:sx n="84" d="100"/>
          <a:sy n="84" d="100"/>
        </p:scale>
        <p:origin x="3054"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ACA3A45-07AA-881E-EBAC-FAE1FFF9B3B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72C2385-62BD-1B9C-A617-554DDB21E0F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AEECA8-D063-486F-AE31-5020270C1449}" type="datetimeFigureOut">
              <a:rPr lang="en-US" smtClean="0"/>
              <a:t>4/23/2026</a:t>
            </a:fld>
            <a:endParaRPr lang="en-US"/>
          </a:p>
        </p:txBody>
      </p:sp>
      <p:sp>
        <p:nvSpPr>
          <p:cNvPr id="4" name="Footer Placeholder 3">
            <a:extLst>
              <a:ext uri="{FF2B5EF4-FFF2-40B4-BE49-F238E27FC236}">
                <a16:creationId xmlns:a16="http://schemas.microsoft.com/office/drawing/2014/main" id="{C5328A6F-7933-1F9C-E9F6-B4A61026FBA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6F9A57F-3A38-6EDA-B76D-A3DB4F6978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793F6CE-D1D9-4B7B-9040-C7CAC074A6CE}" type="slidenum">
              <a:rPr lang="en-US" smtClean="0"/>
              <a:t>‹#›</a:t>
            </a:fld>
            <a:endParaRPr lang="en-US"/>
          </a:p>
        </p:txBody>
      </p:sp>
    </p:spTree>
    <p:extLst>
      <p:ext uri="{BB962C8B-B14F-4D97-AF65-F5344CB8AC3E}">
        <p14:creationId xmlns:p14="http://schemas.microsoft.com/office/powerpoint/2010/main" val="397613359"/>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18:00.792"/>
    </inkml:context>
    <inkml:brush xml:id="br0">
      <inkml:brushProperty name="width" value="0.1" units="cm"/>
      <inkml:brushProperty name="height" value="0.1" units="cm"/>
      <inkml:brushProperty name="color" value="#FFC114"/>
    </inkml:brush>
  </inkml:definitions>
  <inkml:trace contextRef="#ctx0" brushRef="#br0">19 179 24575,'-1'0'0,"0"1"0,1-1 0,-1 0 0,0 0 0,0 0 0,1 0 0,-1 0 0,0 0 0,0 0 0,0 0 0,1-1 0,-1 1 0,0 0 0,0 0 0,1-1 0,-1 1 0,0 0 0,1-1 0,-1 1 0,0 0 0,1-1 0,-1 1 0,1-1 0,-2 0 0,11-12 0,32-9 0,42-3 0,0 3 0,133-17 0,9 11 0,-144 17 0,-39 5 0,62-1 0,506 8 0,-563 1 0,65 12 0,-43-4 0,-18-1 0,0 2 0,55 21 0,-86-26 0,10 6 5,-22-9-233,-1 0 0,1 0-1,0-1 1,-1 0-1,11 2 1,0-4-6598</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18:01.888"/>
    </inkml:context>
    <inkml:brush xml:id="br0">
      <inkml:brushProperty name="width" value="0.1" units="cm"/>
      <inkml:brushProperty name="height" value="0.1" units="cm"/>
      <inkml:brushProperty name="color" value="#FFC114"/>
    </inkml:brush>
  </inkml:definitions>
  <inkml:trace contextRef="#ctx0" brushRef="#br0">252 73 24575,'0'-5'0,"0"-1"0,0 1 0,0 0 0,-1-1 0,1 1 0,-1 0 0,-1-1 0,1 1 0,-1 0 0,0 0 0,-5-9 0,3 15 0,2 12 0,3 14 0,3-6 0,2 0 0,1 0 0,0 0 0,2-1 0,0 0 0,1-1 0,18 26 0,4-2 0,70 73 0,-94-107 0,0 0 0,-1 0 0,0 0 0,0 1 0,5 11 0,-10-19 0,-1 0 0,0 0 0,0 0 0,-1 0 0,1 0 0,0 0 0,-1 0 0,1 0 0,-1 0 0,1 1 0,-1-1 0,0 0 0,0 0 0,0 0 0,0 0 0,-1 0 0,1 1 0,0-1 0,-1 0 0,0 0 0,1 0 0,-1 0 0,0 0 0,0 0 0,0 0 0,0-1 0,0 1 0,-1 0 0,1 0 0,-1-1 0,1 1 0,-1-1 0,1 1 0,-4 1 0,-15 8 0,-1-1 0,0-1 0,0-1 0,-28 7 0,-48 19 0,-132 81-1365,207-103-5461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20:57.109"/>
    </inkml:context>
    <inkml:brush xml:id="br0">
      <inkml:brushProperty name="width" value="0.1" units="cm"/>
      <inkml:brushProperty name="height" value="0.1" units="cm"/>
      <inkml:brushProperty name="color" value="#FFC114"/>
    </inkml:brush>
  </inkml:definitions>
  <inkml:trace contextRef="#ctx0" brushRef="#br0">52 179 24575,'-2'0'0,"0"1"0,0-1 0,-1 0 0,1 0 0,0 0 0,0 0 0,0 0 0,0 0 0,0 0 0,0 0 0,0-1 0,0 1 0,0 0 0,0 0 0,0-1 0,0 1 0,0 0 0,0-1 0,0 1 0,1 0 0,-1-1 0,0 1 0,1-1 0,-3 0 0,29-12 0,84-9 0,113-3 0,4 3 0,355-17 0,24 11 0,-387 17 0,-105 5 0,168-1 0,1359 8 0,-1513 1 0,174 12 0,-114-4 0,-50-1 0,-1 2 0,152 21 0,-235-26 0,27 6 5,-60-9-233,1 0 0,-1 0-1,1-1 1,1 0-1,26 2 1,-2-4-6598</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20:57.110"/>
    </inkml:context>
    <inkml:brush xml:id="br0">
      <inkml:brushProperty name="width" value="0.1" units="cm"/>
      <inkml:brushProperty name="height" value="0.1" units="cm"/>
      <inkml:brushProperty name="color" value="#FFC114"/>
    </inkml:brush>
  </inkml:definitions>
  <inkml:trace contextRef="#ctx0" brushRef="#br0">678 73 24575,'1'-5'0,"-1"-1"0,0 1 0,-1 0 0,0-1 0,-1 1 0,-1 0 0,0-1 0,-1 1 0,0 0 0,-1 0 0,-14-9 0,8 15 0,6 12 0,5 14 0,13-6 0,2 0 0,3 0 0,3 0 0,1-1 0,3 0 0,3-1 0,48 26 0,9-2 0,189 73 0,-252-107 0,-1 0 0,-1 0 0,-1 0 0,-1 1 0,15 11 0,-29-19 0,-2 0 0,1 0 0,0 0 0,-1 0 0,0 0 0,0 0 0,-1 0 0,1 0 0,-1 0 0,-1 1 0,1-1 0,-1 0 0,0 0 0,0 0 0,0 0 0,-1 0 0,0 1 0,0-1 0,-1 0 0,1 0 0,-1 0 0,-1 0 0,1 0 0,-1 0 0,0 0 0,0-1 0,0 1 0,0 0 0,-1 0 0,0-1 0,0 1 0,0-1 0,-1 1 0,-9 1 0,-39 8 0,-2-1 0,-2-1 0,0-1 0,-74 7 0,-131 19 0,-354 81-1365,557-103-5461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23:09.757"/>
    </inkml:context>
    <inkml:brush xml:id="br0">
      <inkml:brushProperty name="width" value="0.1" units="cm"/>
      <inkml:brushProperty name="height" value="0.1" units="cm"/>
      <inkml:brushProperty name="color" value="#FFC114"/>
    </inkml:brush>
  </inkml:definitions>
  <inkml:trace contextRef="#ctx0" brushRef="#br0">52 179 24575,'-2'0'0,"0"1"0,0-1 0,-1 0 0,1 0 0,0 0 0,0 0 0,0 0 0,0 0 0,0 0 0,0 0 0,0-1 0,0 1 0,0 0 0,0 0 0,0-1 0,0 1 0,0 0 0,0-1 0,0 1 0,1 0 0,-1-1 0,0 1 0,1-1 0,-3 0 0,29-12 0,84-9 0,113-3 0,4 3 0,355-17 0,24 11 0,-387 17 0,-105 5 0,168-1 0,1359 8 0,-1513 1 0,174 12 0,-114-4 0,-50-1 0,-1 2 0,152 21 0,-235-26 0,27 6 5,-60-9-233,1 0 0,-1 0-1,1-1 1,1 0-1,26 2 1,-2-4-6598</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23:09.758"/>
    </inkml:context>
    <inkml:brush xml:id="br0">
      <inkml:brushProperty name="width" value="0.1" units="cm"/>
      <inkml:brushProperty name="height" value="0.1" units="cm"/>
      <inkml:brushProperty name="color" value="#FFC114"/>
    </inkml:brush>
  </inkml:definitions>
  <inkml:trace contextRef="#ctx0" brushRef="#br0">678 73 24575,'1'-5'0,"-1"-1"0,0 1 0,-1 0 0,0-1 0,-1 1 0,-1 0 0,0-1 0,-1 1 0,0 0 0,-1 0 0,-14-9 0,8 15 0,6 12 0,5 14 0,13-6 0,2 0 0,3 0 0,3 0 0,1-1 0,3 0 0,3-1 0,48 26 0,9-2 0,189 73 0,-252-107 0,-1 0 0,-1 0 0,-1 0 0,-1 1 0,15 11 0,-29-19 0,-2 0 0,1 0 0,0 0 0,-1 0 0,0 0 0,0 0 0,-1 0 0,1 0 0,-1 0 0,-1 1 0,1-1 0,-1 0 0,0 0 0,0 0 0,0 0 0,-1 0 0,0 1 0,0-1 0,-1 0 0,1 0 0,-1 0 0,-1 0 0,1 0 0,-1 0 0,0 0 0,0-1 0,0 1 0,0 0 0,-1 0 0,0-1 0,0 1 0,0-1 0,-1 1 0,-9 1 0,-39 8 0,-2-1 0,-2-1 0,0-1 0,-74 7 0,-131 19 0,-354 81-1365,557-103-5461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23:09.757"/>
    </inkml:context>
    <inkml:brush xml:id="br0">
      <inkml:brushProperty name="width" value="0.1" units="cm"/>
      <inkml:brushProperty name="height" value="0.1" units="cm"/>
      <inkml:brushProperty name="color" value="#FFC114"/>
    </inkml:brush>
  </inkml:definitions>
  <inkml:trace contextRef="#ctx0" brushRef="#br0">52 179 24575,'-2'0'0,"0"1"0,0-1 0,-1 0 0,1 0 0,0 0 0,0 0 0,0 0 0,0 0 0,0 0 0,0 0 0,0-1 0,0 1 0,0 0 0,0 0 0,0-1 0,0 1 0,0 0 0,0-1 0,0 1 0,1 0 0,-1-1 0,0 1 0,1-1 0,-3 0 0,29-12 0,84-9 0,113-3 0,4 3 0,355-17 0,24 11 0,-387 17 0,-105 5 0,168-1 0,1359 8 0,-1513 1 0,174 12 0,-114-4 0,-50-1 0,-1 2 0,152 21 0,-235-26 0,27 6 5,-60-9-233,1 0 0,-1 0-1,1-1 1,1 0-1,26 2 1,-2-4-6598</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23:09.758"/>
    </inkml:context>
    <inkml:brush xml:id="br0">
      <inkml:brushProperty name="width" value="0.1" units="cm"/>
      <inkml:brushProperty name="height" value="0.1" units="cm"/>
      <inkml:brushProperty name="color" value="#FFC114"/>
    </inkml:brush>
  </inkml:definitions>
  <inkml:trace contextRef="#ctx0" brushRef="#br0">678 73 24575,'1'-5'0,"-1"-1"0,0 1 0,-1 0 0,0-1 0,-1 1 0,-1 0 0,0-1 0,-1 1 0,0 0 0,-1 0 0,-14-9 0,8 15 0,6 12 0,5 14 0,13-6 0,2 0 0,3 0 0,3 0 0,1-1 0,3 0 0,3-1 0,48 26 0,9-2 0,189 73 0,-252-107 0,-1 0 0,-1 0 0,-1 0 0,-1 1 0,15 11 0,-29-19 0,-2 0 0,1 0 0,0 0 0,-1 0 0,0 0 0,0 0 0,-1 0 0,1 0 0,-1 0 0,-1 1 0,1-1 0,-1 0 0,0 0 0,0 0 0,0 0 0,-1 0 0,0 1 0,0-1 0,-1 0 0,1 0 0,-1 0 0,-1 0 0,1 0 0,-1 0 0,0 0 0,0-1 0,0 1 0,0 0 0,-1 0 0,0-1 0,0 1 0,0-1 0,-1 1 0,-9 1 0,-39 8 0,-2-1 0,-2-1 0,0-1 0,-74 7 0,-131 19 0,-354 81-1365,557-103-5461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23.815"/>
    </inkml:context>
    <inkml:brush xml:id="br0">
      <inkml:brushProperty name="width" value="0.1" units="cm"/>
      <inkml:brushProperty name="height" value="0.1" units="cm"/>
      <inkml:brushProperty name="color" value="#FFC114"/>
    </inkml:brush>
  </inkml:definitions>
  <inkml:trace contextRef="#ctx0" brushRef="#br0">19 179 24575,'-1'0'0,"0"1"0,1-1 0,-1 0 0,0 0 0,0 0 0,1 0 0,-1 0 0,0 0 0,0 0 0,0 0 0,1-1 0,-1 1 0,0 0 0,0 0 0,1-1 0,-1 1 0,0 0 0,1-1 0,-1 1 0,0 0 0,1-1 0,-1 1 0,1-1 0,-2 0 0,11-12 0,32-9 0,42-3 0,0 3 0,133-17 0,9 11 0,-144 17 0,-39 5 0,62-1 0,506 8 0,-563 1 0,65 12 0,-43-4 0,-18-1 0,0 2 0,55 21 0,-86-26 0,10 6 5,-22-9-233,-1 0 0,1 0-1,0-1 1,-1 0-1,11 2 1,0-4-6598</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23.816"/>
    </inkml:context>
    <inkml:brush xml:id="br0">
      <inkml:brushProperty name="width" value="0.1" units="cm"/>
      <inkml:brushProperty name="height" value="0.1" units="cm"/>
      <inkml:brushProperty name="color" value="#FFC114"/>
    </inkml:brush>
  </inkml:definitions>
  <inkml:trace contextRef="#ctx0" brushRef="#br0">252 73 24575,'0'-5'0,"0"-1"0,0 1 0,0 0 0,-1-1 0,1 1 0,-1 0 0,-1-1 0,1 1 0,-1 0 0,0 0 0,-5-9 0,3 15 0,2 12 0,3 14 0,3-6 0,2 0 0,1 0 0,0 0 0,2-1 0,0 0 0,1-1 0,18 26 0,4-2 0,70 73 0,-94-107 0,0 0 0,-1 0 0,0 0 0,0 1 0,5 11 0,-10-19 0,-1 0 0,0 0 0,0 0 0,-1 0 0,1 0 0,0 0 0,-1 0 0,1 0 0,-1 0 0,1 1 0,-1-1 0,0 0 0,0 0 0,0 0 0,0 0 0,-1 0 0,1 1 0,0-1 0,-1 0 0,0 0 0,1 0 0,-1 0 0,0 0 0,0 0 0,0 0 0,0-1 0,0 1 0,-1 0 0,1 0 0,-1-1 0,1 1 0,-1-1 0,1 1 0,-4 1 0,-15 8 0,-1-1 0,0-1 0,0-1 0,-28 7 0,-48 19 0,-132 81-1365,207-103-5461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47.559"/>
    </inkml:context>
    <inkml:brush xml:id="br0">
      <inkml:brushProperty name="width" value="0.1" units="cm"/>
      <inkml:brushProperty name="height" value="0.1" units="cm"/>
      <inkml:brushProperty name="color" value="#FFC114"/>
    </inkml:brush>
  </inkml:definitions>
  <inkml:trace contextRef="#ctx0" brushRef="#br0">19 179 24575,'-1'0'0,"0"1"0,1-1 0,-1 0 0,0 0 0,0 0 0,1 0 0,-1 0 0,0 0 0,0 0 0,0 0 0,1-1 0,-1 1 0,0 0 0,0 0 0,1-1 0,-1 1 0,0 0 0,1-1 0,-1 1 0,0 0 0,1-1 0,-1 1 0,1-1 0,-2 0 0,11-12 0,32-9 0,42-3 0,0 3 0,133-17 0,9 11 0,-144 17 0,-39 5 0,62-1 0,506 8 0,-563 1 0,65 12 0,-43-4 0,-18-1 0,0 2 0,55 21 0,-86-26 0,10 6 5,-22-9-233,-1 0 0,1 0-1,0-1 1,-1 0-1,11 2 1,0-4-6598</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47.560"/>
    </inkml:context>
    <inkml:brush xml:id="br0">
      <inkml:brushProperty name="width" value="0.1" units="cm"/>
      <inkml:brushProperty name="height" value="0.1" units="cm"/>
      <inkml:brushProperty name="color" value="#FFC114"/>
    </inkml:brush>
  </inkml:definitions>
  <inkml:trace contextRef="#ctx0" brushRef="#br0">252 73 24575,'0'-5'0,"0"-1"0,0 1 0,0 0 0,-1-1 0,1 1 0,-1 0 0,-1-1 0,1 1 0,-1 0 0,0 0 0,-5-9 0,3 15 0,2 12 0,3 14 0,3-6 0,2 0 0,1 0 0,0 0 0,2-1 0,0 0 0,1-1 0,18 26 0,4-2 0,70 73 0,-94-107 0,0 0 0,-1 0 0,0 0 0,0 1 0,5 11 0,-10-19 0,-1 0 0,0 0 0,0 0 0,-1 0 0,1 0 0,0 0 0,-1 0 0,1 0 0,-1 0 0,1 1 0,-1-1 0,0 0 0,0 0 0,0 0 0,0 0 0,-1 0 0,1 1 0,0-1 0,-1 0 0,0 0 0,1 0 0,-1 0 0,0 0 0,0 0 0,0 0 0,0-1 0,0 1 0,-1 0 0,1 0 0,-1-1 0,1 1 0,-1-1 0,1 1 0,-4 1 0,-15 8 0,-1-1 0,0-1 0,0-1 0,-28 7 0,-48 19 0,-132 81-1365,207-103-5461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56.711"/>
    </inkml:context>
    <inkml:brush xml:id="br0">
      <inkml:brushProperty name="width" value="0.1" units="cm"/>
      <inkml:brushProperty name="height" value="0.1" units="cm"/>
      <inkml:brushProperty name="color" value="#FFC114"/>
    </inkml:brush>
  </inkml:definitions>
  <inkml:trace contextRef="#ctx0" brushRef="#br0">19 179 24575,'-1'0'0,"0"1"0,1-1 0,-1 0 0,0 0 0,0 0 0,1 0 0,-1 0 0,0 0 0,0 0 0,0 0 0,1-1 0,-1 1 0,0 0 0,0 0 0,1-1 0,-1 1 0,0 0 0,1-1 0,-1 1 0,0 0 0,1-1 0,-1 1 0,1-1 0,-2 0 0,11-12 0,32-9 0,42-3 0,0 3 0,133-17 0,9 11 0,-144 17 0,-39 5 0,62-1 0,506 8 0,-563 1 0,65 12 0,-43-4 0,-18-1 0,0 2 0,55 21 0,-86-26 0,10 6 5,-22-9-233,-1 0 0,1 0-1,0-1 1,-1 0-1,11 2 1,0-4-6598</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56.712"/>
    </inkml:context>
    <inkml:brush xml:id="br0">
      <inkml:brushProperty name="width" value="0.1" units="cm"/>
      <inkml:brushProperty name="height" value="0.1" units="cm"/>
      <inkml:brushProperty name="color" value="#FFC114"/>
    </inkml:brush>
  </inkml:definitions>
  <inkml:trace contextRef="#ctx0" brushRef="#br0">252 73 24575,'0'-5'0,"0"-1"0,0 1 0,0 0 0,-1-1 0,1 1 0,-1 0 0,-1-1 0,1 1 0,-1 0 0,0 0 0,-5-9 0,3 15 0,2 12 0,3 14 0,3-6 0,2 0 0,1 0 0,0 0 0,2-1 0,0 0 0,1-1 0,18 26 0,4-2 0,70 73 0,-94-107 0,0 0 0,-1 0 0,0 0 0,0 1 0,5 11 0,-10-19 0,-1 0 0,0 0 0,0 0 0,-1 0 0,1 0 0,0 0 0,-1 0 0,1 0 0,-1 0 0,1 1 0,-1-1 0,0 0 0,0 0 0,0 0 0,0 0 0,-1 0 0,1 1 0,0-1 0,-1 0 0,0 0 0,1 0 0,-1 0 0,0 0 0,0 0 0,0 0 0,0-1 0,0 1 0,-1 0 0,1 0 0,-1-1 0,1 1 0,-1-1 0,1 1 0,-4 1 0,-15 8 0,-1-1 0,0-1 0,0-1 0,-28 7 0,-48 19 0,-132 81-1365,207-103-5461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56.711"/>
    </inkml:context>
    <inkml:brush xml:id="br0">
      <inkml:brushProperty name="width" value="0.1" units="cm"/>
      <inkml:brushProperty name="height" value="0.1" units="cm"/>
      <inkml:brushProperty name="color" value="#FFC114"/>
    </inkml:brush>
  </inkml:definitions>
  <inkml:trace contextRef="#ctx0" brushRef="#br0">19 179 24575,'-1'0'0,"0"1"0,1-1 0,-1 0 0,0 0 0,0 0 0,1 0 0,-1 0 0,0 0 0,0 0 0,0 0 0,1-1 0,-1 1 0,0 0 0,0 0 0,1-1 0,-1 1 0,0 0 0,1-1 0,-1 1 0,0 0 0,1-1 0,-1 1 0,1-1 0,-2 0 0,11-12 0,32-9 0,42-3 0,0 3 0,133-17 0,9 11 0,-144 17 0,-39 5 0,62-1 0,506 8 0,-563 1 0,65 12 0,-43-4 0,-18-1 0,0 2 0,55 21 0,-86-26 0,10 6 5,-22-9-233,-1 0 0,1 0-1,0-1 1,-1 0-1,11 2 1,0-4-6598</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56.712"/>
    </inkml:context>
    <inkml:brush xml:id="br0">
      <inkml:brushProperty name="width" value="0.1" units="cm"/>
      <inkml:brushProperty name="height" value="0.1" units="cm"/>
      <inkml:brushProperty name="color" value="#FFC114"/>
    </inkml:brush>
  </inkml:definitions>
  <inkml:trace contextRef="#ctx0" brushRef="#br0">252 73 24575,'0'-5'0,"0"-1"0,0 1 0,0 0 0,-1-1 0,1 1 0,-1 0 0,-1-1 0,1 1 0,-1 0 0,0 0 0,-5-9 0,3 15 0,2 12 0,3 14 0,3-6 0,2 0 0,1 0 0,0 0 0,2-1 0,0 0 0,1-1 0,18 26 0,4-2 0,70 73 0,-94-107 0,0 0 0,-1 0 0,0 0 0,0 1 0,5 11 0,-10-19 0,-1 0 0,0 0 0,0 0 0,-1 0 0,1 0 0,0 0 0,-1 0 0,1 0 0,-1 0 0,1 1 0,-1-1 0,0 0 0,0 0 0,0 0 0,0 0 0,-1 0 0,1 1 0,0-1 0,-1 0 0,0 0 0,1 0 0,-1 0 0,0 0 0,0 0 0,0 0 0,0-1 0,0 1 0,-1 0 0,1 0 0,-1-1 0,1 1 0,-1-1 0,1 1 0,-4 1 0,-15 8 0,-1-1 0,0-1 0,0-1 0,-28 7 0,-48 19 0,-132 81-1365,207-103-5461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233BD1-3BA8-448D-9D08-7846095EA517}" type="datetimeFigureOut">
              <a:rPr lang="en-US" smtClean="0"/>
              <a:t>4/23/2026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63499C-1FAC-4F66-96F8-6DA2CC28B748}" type="slidenum">
              <a:rPr lang="en-US" smtClean="0"/>
              <a:t>‹#›</a:t>
            </a:fld>
            <a:endParaRPr lang="en-US"/>
          </a:p>
        </p:txBody>
      </p:sp>
    </p:spTree>
    <p:extLst>
      <p:ext uri="{BB962C8B-B14F-4D97-AF65-F5344CB8AC3E}">
        <p14:creationId xmlns:p14="http://schemas.microsoft.com/office/powerpoint/2010/main" val="81753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B0F26-247A-F2E0-8FBA-6EA7974D69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94F308-CEE8-92BC-D91A-4212DEA015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32794D3-11DF-A675-8D28-EC65EF27521E}"/>
              </a:ext>
            </a:extLst>
          </p:cNvPr>
          <p:cNvSpPr>
            <a:spLocks noGrp="1"/>
          </p:cNvSpPr>
          <p:nvPr>
            <p:ph type="dt" sz="half" idx="10"/>
          </p:nvPr>
        </p:nvSpPr>
        <p:spPr/>
        <p:txBody>
          <a:bodyPr/>
          <a:lstStyle/>
          <a:p>
            <a:fld id="{6383FAE1-13DE-4511-8C1B-C8AFB720664C}" type="datetimeFigureOut">
              <a:rPr lang="en-US" smtClean="0"/>
              <a:t>4/23/2026</a:t>
            </a:fld>
            <a:endParaRPr lang="en-US"/>
          </a:p>
        </p:txBody>
      </p:sp>
      <p:sp>
        <p:nvSpPr>
          <p:cNvPr id="5" name="Footer Placeholder 4">
            <a:extLst>
              <a:ext uri="{FF2B5EF4-FFF2-40B4-BE49-F238E27FC236}">
                <a16:creationId xmlns:a16="http://schemas.microsoft.com/office/drawing/2014/main" id="{EC53FDAF-B83A-AE0A-B811-B7195D37FD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9530BD-9515-D107-426C-B72742CBF0BF}"/>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4492826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7E77-8771-0BA4-B1D5-7F1DE0138C3D}"/>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9543F30B-85C4-D934-2F30-179E3FCE9424}"/>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8EF7AF-5CE7-4387-31F9-79D35620609B}"/>
              </a:ext>
            </a:extLst>
          </p:cNvPr>
          <p:cNvSpPr>
            <a:spLocks noGrp="1"/>
          </p:cNvSpPr>
          <p:nvPr>
            <p:ph type="dt" sz="half" idx="10"/>
          </p:nvPr>
        </p:nvSpPr>
        <p:spPr/>
        <p:txBody>
          <a:bodyPr/>
          <a:lstStyle/>
          <a:p>
            <a:fld id="{6383FAE1-13DE-4511-8C1B-C8AFB720664C}" type="datetimeFigureOut">
              <a:rPr lang="en-US" smtClean="0"/>
              <a:t>4/23/2026</a:t>
            </a:fld>
            <a:endParaRPr lang="en-US"/>
          </a:p>
        </p:txBody>
      </p:sp>
      <p:sp>
        <p:nvSpPr>
          <p:cNvPr id="5" name="Footer Placeholder 4">
            <a:extLst>
              <a:ext uri="{FF2B5EF4-FFF2-40B4-BE49-F238E27FC236}">
                <a16:creationId xmlns:a16="http://schemas.microsoft.com/office/drawing/2014/main" id="{B0FCCC03-E434-4684-B55E-3F2D399169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1F3B05-B983-07A3-4B58-9D2E18438894}"/>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596036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23C21-D6A5-2D17-9BFA-70B3353D6A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2D89B8-191B-6AAD-5D5E-32B3572657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4CC528A-1563-9376-E089-4DA80AD11D0C}"/>
              </a:ext>
            </a:extLst>
          </p:cNvPr>
          <p:cNvSpPr>
            <a:spLocks noGrp="1"/>
          </p:cNvSpPr>
          <p:nvPr>
            <p:ph type="dt" sz="half" idx="10"/>
          </p:nvPr>
        </p:nvSpPr>
        <p:spPr/>
        <p:txBody>
          <a:bodyPr/>
          <a:lstStyle/>
          <a:p>
            <a:fld id="{6383FAE1-13DE-4511-8C1B-C8AFB720664C}" type="datetimeFigureOut">
              <a:rPr lang="en-US" smtClean="0"/>
              <a:t>4/23/2026</a:t>
            </a:fld>
            <a:endParaRPr lang="en-US"/>
          </a:p>
        </p:txBody>
      </p:sp>
      <p:sp>
        <p:nvSpPr>
          <p:cNvPr id="5" name="Footer Placeholder 4">
            <a:extLst>
              <a:ext uri="{FF2B5EF4-FFF2-40B4-BE49-F238E27FC236}">
                <a16:creationId xmlns:a16="http://schemas.microsoft.com/office/drawing/2014/main" id="{0519A01D-6FDA-C269-FF95-3FDB205C8E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980A21-61AC-4B39-D886-3A327DB7346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941114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03C29-6DED-2A1F-5B4D-128B63652F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494ECB-0FCA-1AD0-F19A-27A4C16DC0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07402C2-E657-5A54-9627-8C9CBCBBE0A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501FADA-AE3E-B30F-6353-BF0478CF0E39}"/>
              </a:ext>
            </a:extLst>
          </p:cNvPr>
          <p:cNvSpPr>
            <a:spLocks noGrp="1"/>
          </p:cNvSpPr>
          <p:nvPr>
            <p:ph type="dt" sz="half" idx="10"/>
          </p:nvPr>
        </p:nvSpPr>
        <p:spPr/>
        <p:txBody>
          <a:bodyPr/>
          <a:lstStyle/>
          <a:p>
            <a:fld id="{6383FAE1-13DE-4511-8C1B-C8AFB720664C}" type="datetimeFigureOut">
              <a:rPr lang="en-US" smtClean="0"/>
              <a:t>4/23/2026</a:t>
            </a:fld>
            <a:endParaRPr lang="en-US"/>
          </a:p>
        </p:txBody>
      </p:sp>
      <p:sp>
        <p:nvSpPr>
          <p:cNvPr id="6" name="Footer Placeholder 5">
            <a:extLst>
              <a:ext uri="{FF2B5EF4-FFF2-40B4-BE49-F238E27FC236}">
                <a16:creationId xmlns:a16="http://schemas.microsoft.com/office/drawing/2014/main" id="{7F16B517-96D7-6416-0C24-B14942ADD4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46F179-BF2F-393A-1AA6-C893B7B9FA3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9258523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50483-A0C8-BF5B-61DE-39BC6FF9C12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46DB55B-C040-F211-BC81-97628EA484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93EEAE-1CB3-AAC8-5818-D61E389EF1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CE50F0-1141-D645-3892-2DA29633A3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2E976C-52C7-C22D-28F7-B21E295185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97D00B-0B76-5C50-686B-A01396FCD6FA}"/>
              </a:ext>
            </a:extLst>
          </p:cNvPr>
          <p:cNvSpPr>
            <a:spLocks noGrp="1"/>
          </p:cNvSpPr>
          <p:nvPr>
            <p:ph type="dt" sz="half" idx="10"/>
          </p:nvPr>
        </p:nvSpPr>
        <p:spPr/>
        <p:txBody>
          <a:bodyPr/>
          <a:lstStyle/>
          <a:p>
            <a:fld id="{6383FAE1-13DE-4511-8C1B-C8AFB720664C}" type="datetimeFigureOut">
              <a:rPr lang="en-US" smtClean="0"/>
              <a:t>4/23/2026</a:t>
            </a:fld>
            <a:endParaRPr lang="en-US"/>
          </a:p>
        </p:txBody>
      </p:sp>
      <p:sp>
        <p:nvSpPr>
          <p:cNvPr id="8" name="Footer Placeholder 7">
            <a:extLst>
              <a:ext uri="{FF2B5EF4-FFF2-40B4-BE49-F238E27FC236}">
                <a16:creationId xmlns:a16="http://schemas.microsoft.com/office/drawing/2014/main" id="{7B842B8D-3B74-4B67-9462-6D2C7ED9AD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992D4BE-CE8C-0250-FE7D-1F370E25FE2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657502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DBE28-2732-66A2-163C-433854615E7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70F3D6-B4BC-015F-96FA-1720B040CC96}"/>
              </a:ext>
            </a:extLst>
          </p:cNvPr>
          <p:cNvSpPr>
            <a:spLocks noGrp="1"/>
          </p:cNvSpPr>
          <p:nvPr>
            <p:ph type="dt" sz="half" idx="10"/>
          </p:nvPr>
        </p:nvSpPr>
        <p:spPr/>
        <p:txBody>
          <a:bodyPr/>
          <a:lstStyle/>
          <a:p>
            <a:fld id="{6383FAE1-13DE-4511-8C1B-C8AFB720664C}" type="datetimeFigureOut">
              <a:rPr lang="en-US" smtClean="0"/>
              <a:t>4/23/2026</a:t>
            </a:fld>
            <a:endParaRPr lang="en-US"/>
          </a:p>
        </p:txBody>
      </p:sp>
      <p:sp>
        <p:nvSpPr>
          <p:cNvPr id="4" name="Footer Placeholder 3">
            <a:extLst>
              <a:ext uri="{FF2B5EF4-FFF2-40B4-BE49-F238E27FC236}">
                <a16:creationId xmlns:a16="http://schemas.microsoft.com/office/drawing/2014/main" id="{21168A87-13A5-0A5A-4D74-C75E277755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D6D7CB-BD93-54BE-CB47-7FBA06B18442}"/>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734650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4114B-4550-9F52-0EF5-D1E9CF2FD384}"/>
              </a:ext>
            </a:extLst>
          </p:cNvPr>
          <p:cNvSpPr>
            <a:spLocks noGrp="1"/>
          </p:cNvSpPr>
          <p:nvPr>
            <p:ph type="dt" sz="half" idx="10"/>
          </p:nvPr>
        </p:nvSpPr>
        <p:spPr/>
        <p:txBody>
          <a:bodyPr/>
          <a:lstStyle/>
          <a:p>
            <a:fld id="{6383FAE1-13DE-4511-8C1B-C8AFB720664C}" type="datetimeFigureOut">
              <a:rPr lang="en-US" smtClean="0"/>
              <a:t>4/23/2026</a:t>
            </a:fld>
            <a:endParaRPr lang="en-US"/>
          </a:p>
        </p:txBody>
      </p:sp>
      <p:sp>
        <p:nvSpPr>
          <p:cNvPr id="3" name="Footer Placeholder 2">
            <a:extLst>
              <a:ext uri="{FF2B5EF4-FFF2-40B4-BE49-F238E27FC236}">
                <a16:creationId xmlns:a16="http://schemas.microsoft.com/office/drawing/2014/main" id="{0BF3136E-0C79-F4F5-F24E-D5FF71CDB5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2E2157-F670-A339-0CB7-7399568D5A1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96501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02A98-8738-1E16-A16E-D8858EEA762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FC67E5-1169-257D-D9E7-C7B952C213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0B2CF6C-0F85-566A-86BC-CBFEB17E75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A64F0FC-ECB8-638F-A224-98FFA8270730}"/>
              </a:ext>
            </a:extLst>
          </p:cNvPr>
          <p:cNvSpPr>
            <a:spLocks noGrp="1"/>
          </p:cNvSpPr>
          <p:nvPr>
            <p:ph type="dt" sz="half" idx="10"/>
          </p:nvPr>
        </p:nvSpPr>
        <p:spPr/>
        <p:txBody>
          <a:bodyPr/>
          <a:lstStyle/>
          <a:p>
            <a:fld id="{6383FAE1-13DE-4511-8C1B-C8AFB720664C}" type="datetimeFigureOut">
              <a:rPr lang="en-US" smtClean="0"/>
              <a:t>4/23/2026</a:t>
            </a:fld>
            <a:endParaRPr lang="en-US"/>
          </a:p>
        </p:txBody>
      </p:sp>
      <p:sp>
        <p:nvSpPr>
          <p:cNvPr id="6" name="Footer Placeholder 5">
            <a:extLst>
              <a:ext uri="{FF2B5EF4-FFF2-40B4-BE49-F238E27FC236}">
                <a16:creationId xmlns:a16="http://schemas.microsoft.com/office/drawing/2014/main" id="{A8095B89-4DC8-435E-3545-6187AD3E00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1B68CF-9592-FB7C-B517-0CC962C8B6D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44300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3E2BC2-F728-2BA5-C848-31FA3458A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957B909-12C3-703B-57E9-008076312F6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DAE4D7A-BC41-33D0-D36D-08BB5C2C59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7FB83-437D-9293-0B99-2DC89A047DD5}"/>
              </a:ext>
            </a:extLst>
          </p:cNvPr>
          <p:cNvSpPr>
            <a:spLocks noGrp="1"/>
          </p:cNvSpPr>
          <p:nvPr>
            <p:ph type="dt" sz="half" idx="10"/>
          </p:nvPr>
        </p:nvSpPr>
        <p:spPr/>
        <p:txBody>
          <a:bodyPr/>
          <a:lstStyle/>
          <a:p>
            <a:fld id="{6383FAE1-13DE-4511-8C1B-C8AFB720664C}" type="datetimeFigureOut">
              <a:rPr lang="en-US" smtClean="0"/>
              <a:t>4/23/2026</a:t>
            </a:fld>
            <a:endParaRPr lang="en-US"/>
          </a:p>
        </p:txBody>
      </p:sp>
      <p:sp>
        <p:nvSpPr>
          <p:cNvPr id="6" name="Footer Placeholder 5">
            <a:extLst>
              <a:ext uri="{FF2B5EF4-FFF2-40B4-BE49-F238E27FC236}">
                <a16:creationId xmlns:a16="http://schemas.microsoft.com/office/drawing/2014/main" id="{1EDF5674-4DC1-3171-8FEB-C280686D41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D431F6-5490-78BA-7028-0BD08BF1A0FA}"/>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3808603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002A-A21A-4F99-1BCE-F61C85D7B6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E85D03-9A7F-4A9E-379E-2DEA86D21F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DEEFB4-95FB-FEDD-75E7-143E7ED29C8A}"/>
              </a:ext>
            </a:extLst>
          </p:cNvPr>
          <p:cNvSpPr>
            <a:spLocks noGrp="1"/>
          </p:cNvSpPr>
          <p:nvPr>
            <p:ph type="dt" sz="half" idx="10"/>
          </p:nvPr>
        </p:nvSpPr>
        <p:spPr/>
        <p:txBody>
          <a:bodyPr/>
          <a:lstStyle/>
          <a:p>
            <a:fld id="{6383FAE1-13DE-4511-8C1B-C8AFB720664C}" type="datetimeFigureOut">
              <a:rPr lang="en-US" smtClean="0"/>
              <a:t>4/23/2026</a:t>
            </a:fld>
            <a:endParaRPr lang="en-US"/>
          </a:p>
        </p:txBody>
      </p:sp>
      <p:sp>
        <p:nvSpPr>
          <p:cNvPr id="5" name="Footer Placeholder 4">
            <a:extLst>
              <a:ext uri="{FF2B5EF4-FFF2-40B4-BE49-F238E27FC236}">
                <a16:creationId xmlns:a16="http://schemas.microsoft.com/office/drawing/2014/main" id="{F1BCE0D7-1712-FF0C-D965-BFD5AE1610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2632A1-4243-F65B-A2B0-3F2142C3415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42750797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293F13-2480-AB35-1A68-57A54CE6CD6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BDA286C-2521-2961-CABA-5684DF43FB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D5FF44-F63B-872A-DC8D-A873790A64A3}"/>
              </a:ext>
            </a:extLst>
          </p:cNvPr>
          <p:cNvSpPr>
            <a:spLocks noGrp="1"/>
          </p:cNvSpPr>
          <p:nvPr>
            <p:ph type="dt" sz="half" idx="10"/>
          </p:nvPr>
        </p:nvSpPr>
        <p:spPr/>
        <p:txBody>
          <a:bodyPr/>
          <a:lstStyle/>
          <a:p>
            <a:fld id="{6383FAE1-13DE-4511-8C1B-C8AFB720664C}" type="datetimeFigureOut">
              <a:rPr lang="en-US" smtClean="0"/>
              <a:t>4/23/2026</a:t>
            </a:fld>
            <a:endParaRPr lang="en-US"/>
          </a:p>
        </p:txBody>
      </p:sp>
      <p:sp>
        <p:nvSpPr>
          <p:cNvPr id="5" name="Footer Placeholder 4">
            <a:extLst>
              <a:ext uri="{FF2B5EF4-FFF2-40B4-BE49-F238E27FC236}">
                <a16:creationId xmlns:a16="http://schemas.microsoft.com/office/drawing/2014/main" id="{4E653A11-7793-38C6-0506-A6FBE9A02A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0962C0-F018-7629-445C-DDCA8AE1401B}"/>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129988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CEE1C2-DF65-6CAD-D1EF-22450840439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46AFB6A6-8766-C849-1846-0F38750241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B55176B-E136-1615-D0B5-186783ACB8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83FAE1-13DE-4511-8C1B-C8AFB720664C}" type="datetimeFigureOut">
              <a:rPr lang="en-US" smtClean="0"/>
              <a:t>4/23/2026</a:t>
            </a:fld>
            <a:endParaRPr lang="en-US"/>
          </a:p>
        </p:txBody>
      </p:sp>
      <p:sp>
        <p:nvSpPr>
          <p:cNvPr id="5" name="Footer Placeholder 4">
            <a:extLst>
              <a:ext uri="{FF2B5EF4-FFF2-40B4-BE49-F238E27FC236}">
                <a16:creationId xmlns:a16="http://schemas.microsoft.com/office/drawing/2014/main" id="{5E5AAAF6-4731-DB91-AB26-A07CEF1B9D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814165E-BEE7-F086-BE90-50642610F0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BC7A09-79EE-44A0-8F92-750D7C83D871}" type="slidenum">
              <a:rPr lang="en-US" smtClean="0"/>
              <a:t>‹#›</a:t>
            </a:fld>
            <a:endParaRPr lang="en-US"/>
          </a:p>
        </p:txBody>
      </p:sp>
      <p:pic>
        <p:nvPicPr>
          <p:cNvPr id="8" name="Picture 7">
            <a:extLst>
              <a:ext uri="{FF2B5EF4-FFF2-40B4-BE49-F238E27FC236}">
                <a16:creationId xmlns:a16="http://schemas.microsoft.com/office/drawing/2014/main" id="{9F3932AB-6107-98C9-CEDA-32A7DF597298}"/>
              </a:ext>
            </a:extLst>
          </p:cNvPr>
          <p:cNvPicPr>
            <a:picLocks noChangeAspect="1"/>
          </p:cNvPicPr>
          <p:nvPr userDrawn="1"/>
        </p:nvPicPr>
        <p:blipFill>
          <a:blip r:embed="rId13">
            <a:alphaModFix amt="50000"/>
            <a:extLst>
              <a:ext uri="{28A0092B-C50C-407E-A947-70E740481C1C}">
                <a14:useLocalDpi xmlns:a14="http://schemas.microsoft.com/office/drawing/2010/main" val="0"/>
              </a:ext>
            </a:extLst>
          </a:blip>
          <a:srcRect l="26008" t="39529" r="41606" b="46715"/>
          <a:stretch>
            <a:fillRect/>
          </a:stretch>
        </p:blipFill>
        <p:spPr>
          <a:xfrm>
            <a:off x="212435" y="136524"/>
            <a:ext cx="1330037" cy="1025209"/>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7" name="Picture 6">
            <a:extLst>
              <a:ext uri="{FF2B5EF4-FFF2-40B4-BE49-F238E27FC236}">
                <a16:creationId xmlns:a16="http://schemas.microsoft.com/office/drawing/2014/main" id="{2CA22C5A-FA6D-B699-950E-8D249A969331}"/>
              </a:ext>
            </a:extLst>
          </p:cNvPr>
          <p:cNvPicPr>
            <a:picLocks noChangeAspect="1"/>
          </p:cNvPicPr>
          <p:nvPr userDrawn="1"/>
        </p:nvPicPr>
        <p:blipFill>
          <a:blip r:embed="rId13">
            <a:alphaModFix/>
            <a:extLst>
              <a:ext uri="{28A0092B-C50C-407E-A947-70E740481C1C}">
                <a14:useLocalDpi xmlns:a14="http://schemas.microsoft.com/office/drawing/2010/main" val="0"/>
              </a:ext>
            </a:extLst>
          </a:blip>
          <a:srcRect l="26008" t="39529" r="41606" b="46715"/>
          <a:stretch>
            <a:fillRect/>
          </a:stretch>
        </p:blipFill>
        <p:spPr>
          <a:xfrm>
            <a:off x="10855909" y="185738"/>
            <a:ext cx="1123656" cy="866128"/>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4999731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accent6">
              <a:lumMod val="60000"/>
              <a:lumOff val="4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accent6">
              <a:lumMod val="60000"/>
              <a:lumOff val="4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6">
              <a:lumMod val="60000"/>
              <a:lumOff val="4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lumMod val="60000"/>
              <a:lumOff val="4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customXml" Target="../ink/ink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customXml" Target="../ink/ink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customXml" Target="../ink/ink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customXml" Target="../ink/ink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customXml" Target="../ink/ink5.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customXml" Target="../ink/ink6.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customXml" Target="../ink/ink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customXml" Target="../ink/ink8.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customXml" Target="../ink/ink9.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customXml" Target="../ink/ink10.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customXml" Target="../ink/ink11.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customXml" Target="../ink/ink1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customXml" Target="../ink/ink1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customXml" Target="../ink/ink14.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customXml" Target="../ink/ink15.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customXml" Target="../ink/ink1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68EEAE26-EEC1-43C8-1E10-2F8BA9771177}"/>
              </a:ext>
            </a:extLst>
          </p:cNvPr>
          <p:cNvSpPr txBox="1"/>
          <p:nvPr/>
        </p:nvSpPr>
        <p:spPr>
          <a:xfrm>
            <a:off x="477520" y="1003776"/>
            <a:ext cx="10292080" cy="584775"/>
          </a:xfrm>
          <a:prstGeom prst="rect">
            <a:avLst/>
          </a:prstGeom>
          <a:noFill/>
        </p:spPr>
        <p:txBody>
          <a:bodyPr wrap="square">
            <a:spAutoFit/>
          </a:bodyPr>
          <a:lstStyle/>
          <a:p>
            <a:pPr algn="ctr">
              <a:buNone/>
            </a:pPr>
            <a:r>
              <a:rPr lang="en-US" sz="3200" b="1" dirty="0">
                <a:solidFill>
                  <a:schemeClr val="accent6">
                    <a:lumMod val="60000"/>
                    <a:lumOff val="40000"/>
                  </a:schemeClr>
                </a:solidFill>
              </a:rPr>
              <a:t>What is Fine Tuning ? </a:t>
            </a:r>
          </a:p>
        </p:txBody>
      </p:sp>
    </p:spTree>
    <p:extLst>
      <p:ext uri="{BB962C8B-B14F-4D97-AF65-F5344CB8AC3E}">
        <p14:creationId xmlns:p14="http://schemas.microsoft.com/office/powerpoint/2010/main" val="23406421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0F1FA-0297-7E70-E79A-87F9DB06E89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81C69A7-3C93-939F-7016-9BDF9AB2DF43}"/>
              </a:ext>
            </a:extLst>
          </p:cNvPr>
          <p:cNvSpPr txBox="1"/>
          <p:nvPr/>
        </p:nvSpPr>
        <p:spPr>
          <a:xfrm>
            <a:off x="148336" y="199104"/>
            <a:ext cx="10979912" cy="3416320"/>
          </a:xfrm>
          <a:prstGeom prst="rect">
            <a:avLst/>
          </a:prstGeom>
          <a:noFill/>
        </p:spPr>
        <p:txBody>
          <a:bodyPr wrap="square">
            <a:spAutoFit/>
          </a:bodyPr>
          <a:lstStyle/>
          <a:p>
            <a:r>
              <a:rPr lang="en-US" sz="2400" b="1" dirty="0">
                <a:solidFill>
                  <a:schemeClr val="accent6">
                    <a:lumMod val="60000"/>
                    <a:lumOff val="40000"/>
                  </a:schemeClr>
                </a:solidFill>
              </a:rPr>
              <a:t>1. Fine-Tuning (FT)</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Definition:</a:t>
            </a:r>
            <a:br>
              <a:rPr lang="en-US" sz="2400" dirty="0">
                <a:solidFill>
                  <a:schemeClr val="accent6">
                    <a:lumMod val="60000"/>
                    <a:lumOff val="40000"/>
                  </a:schemeClr>
                </a:solidFill>
              </a:rPr>
            </a:br>
            <a:r>
              <a:rPr lang="en-US" sz="2400" dirty="0">
                <a:solidFill>
                  <a:schemeClr val="accent6">
                    <a:lumMod val="60000"/>
                    <a:lumOff val="40000"/>
                  </a:schemeClr>
                </a:solidFill>
              </a:rPr>
              <a:t>Fine-tuning means </a:t>
            </a:r>
            <a:r>
              <a:rPr lang="en-US" sz="2400" b="1" dirty="0">
                <a:solidFill>
                  <a:schemeClr val="accent6">
                    <a:lumMod val="60000"/>
                    <a:lumOff val="40000"/>
                  </a:schemeClr>
                </a:solidFill>
              </a:rPr>
              <a:t>training a model further on your own data</a:t>
            </a:r>
            <a:r>
              <a:rPr lang="en-US" sz="2400" dirty="0">
                <a:solidFill>
                  <a:schemeClr val="accent6">
                    <a:lumMod val="60000"/>
                    <a:lumOff val="40000"/>
                  </a:schemeClr>
                </a:solidFill>
              </a:rPr>
              <a:t> so it </a:t>
            </a:r>
            <a:r>
              <a:rPr lang="en-US" sz="2400" b="1" dirty="0">
                <a:solidFill>
                  <a:schemeClr val="accent4">
                    <a:lumMod val="60000"/>
                    <a:lumOff val="40000"/>
                  </a:schemeClr>
                </a:solidFill>
              </a:rPr>
              <a:t>learns new behavior or knowledge.</a:t>
            </a:r>
          </a:p>
          <a:p>
            <a:r>
              <a:rPr lang="en-US" sz="2400" dirty="0">
                <a:solidFill>
                  <a:schemeClr val="accent6">
                    <a:lumMod val="60000"/>
                    <a:lumOff val="40000"/>
                  </a:schemeClr>
                </a:solidFill>
              </a:rPr>
              <a:t>You are molding/changing the base model to your needs. </a:t>
            </a:r>
          </a:p>
          <a:p>
            <a:endParaRPr lang="en-US" sz="2400" dirty="0">
              <a:solidFill>
                <a:schemeClr val="accent6">
                  <a:lumMod val="60000"/>
                  <a:lumOff val="40000"/>
                </a:schemeClr>
              </a:solidFill>
            </a:endParaRPr>
          </a:p>
          <a:p>
            <a:r>
              <a:rPr lang="en-US" sz="2400" b="1" dirty="0">
                <a:solidFill>
                  <a:schemeClr val="accent6">
                    <a:lumMod val="60000"/>
                    <a:lumOff val="40000"/>
                  </a:schemeClr>
                </a:solidFill>
              </a:rPr>
              <a:t>What actually happens?</a:t>
            </a:r>
          </a:p>
          <a:p>
            <a:r>
              <a:rPr lang="en-US" sz="2400" dirty="0">
                <a:solidFill>
                  <a:schemeClr val="accent6">
                    <a:lumMod val="60000"/>
                    <a:lumOff val="40000"/>
                  </a:schemeClr>
                </a:solidFill>
              </a:rPr>
              <a:t>You take a base model (like OpenAI models) and </a:t>
            </a:r>
            <a:r>
              <a:rPr lang="en-US" sz="2400" b="1" dirty="0">
                <a:solidFill>
                  <a:schemeClr val="accent4">
                    <a:lumMod val="60000"/>
                    <a:lumOff val="40000"/>
                  </a:schemeClr>
                </a:solidFill>
              </a:rPr>
              <a:t>update its weights</a:t>
            </a:r>
            <a:r>
              <a:rPr lang="en-US" sz="2400" dirty="0">
                <a:solidFill>
                  <a:schemeClr val="accent4">
                    <a:lumMod val="60000"/>
                    <a:lumOff val="40000"/>
                  </a:schemeClr>
                </a:solidFill>
              </a:rPr>
              <a:t> </a:t>
            </a:r>
            <a:r>
              <a:rPr lang="en-US" sz="2400" dirty="0">
                <a:solidFill>
                  <a:schemeClr val="accent6">
                    <a:lumMod val="60000"/>
                    <a:lumOff val="40000"/>
                  </a:schemeClr>
                </a:solidFill>
              </a:rPr>
              <a:t>using your dataset.</a:t>
            </a:r>
          </a:p>
        </p:txBody>
      </p:sp>
      <p:sp>
        <p:nvSpPr>
          <p:cNvPr id="3" name="Oval 2">
            <a:extLst>
              <a:ext uri="{FF2B5EF4-FFF2-40B4-BE49-F238E27FC236}">
                <a16:creationId xmlns:a16="http://schemas.microsoft.com/office/drawing/2014/main" id="{F2CD6C6F-108A-B83E-1CEA-057AB3B39368}"/>
              </a:ext>
            </a:extLst>
          </p:cNvPr>
          <p:cNvSpPr/>
          <p:nvPr/>
        </p:nvSpPr>
        <p:spPr>
          <a:xfrm>
            <a:off x="4784048" y="4497507"/>
            <a:ext cx="2942632" cy="113711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sp>
        <p:nvSpPr>
          <p:cNvPr id="7" name="Freeform: Shape 6">
            <a:extLst>
              <a:ext uri="{FF2B5EF4-FFF2-40B4-BE49-F238E27FC236}">
                <a16:creationId xmlns:a16="http://schemas.microsoft.com/office/drawing/2014/main" id="{18C9B7C7-671B-46C4-A5BA-578E6A31D478}"/>
              </a:ext>
            </a:extLst>
          </p:cNvPr>
          <p:cNvSpPr/>
          <p:nvPr/>
        </p:nvSpPr>
        <p:spPr>
          <a:xfrm>
            <a:off x="548640" y="4069080"/>
            <a:ext cx="2249424" cy="1938528"/>
          </a:xfrm>
          <a:custGeom>
            <a:avLst/>
            <a:gdLst>
              <a:gd name="csX0" fmla="*/ 813816 w 1618488"/>
              <a:gd name="csY0" fmla="*/ 54864 h 1472184"/>
              <a:gd name="csX1" fmla="*/ 713232 w 1618488"/>
              <a:gd name="csY1" fmla="*/ 18288 h 1472184"/>
              <a:gd name="csX2" fmla="*/ 603504 w 1618488"/>
              <a:gd name="csY2" fmla="*/ 9144 h 1472184"/>
              <a:gd name="csX3" fmla="*/ 393192 w 1618488"/>
              <a:gd name="csY3" fmla="*/ 27432 h 1472184"/>
              <a:gd name="csX4" fmla="*/ 310896 w 1618488"/>
              <a:gd name="csY4" fmla="*/ 64008 h 1472184"/>
              <a:gd name="csX5" fmla="*/ 228600 w 1618488"/>
              <a:gd name="csY5" fmla="*/ 118872 h 1472184"/>
              <a:gd name="csX6" fmla="*/ 182880 w 1618488"/>
              <a:gd name="csY6" fmla="*/ 164592 h 1472184"/>
              <a:gd name="csX7" fmla="*/ 91440 w 1618488"/>
              <a:gd name="csY7" fmla="*/ 301752 h 1472184"/>
              <a:gd name="csX8" fmla="*/ 27432 w 1618488"/>
              <a:gd name="csY8" fmla="*/ 502920 h 1472184"/>
              <a:gd name="csX9" fmla="*/ 18288 w 1618488"/>
              <a:gd name="csY9" fmla="*/ 594360 h 1472184"/>
              <a:gd name="csX10" fmla="*/ 0 w 1618488"/>
              <a:gd name="csY10" fmla="*/ 841248 h 1472184"/>
              <a:gd name="csX11" fmla="*/ 36576 w 1618488"/>
              <a:gd name="csY11" fmla="*/ 1106424 h 1472184"/>
              <a:gd name="csX12" fmla="*/ 64008 w 1618488"/>
              <a:gd name="csY12" fmla="*/ 1179576 h 1472184"/>
              <a:gd name="csX13" fmla="*/ 118872 w 1618488"/>
              <a:gd name="csY13" fmla="*/ 1243584 h 1472184"/>
              <a:gd name="csX14" fmla="*/ 283464 w 1618488"/>
              <a:gd name="csY14" fmla="*/ 1362456 h 1472184"/>
              <a:gd name="csX15" fmla="*/ 484632 w 1618488"/>
              <a:gd name="csY15" fmla="*/ 1444752 h 1472184"/>
              <a:gd name="csX16" fmla="*/ 722376 w 1618488"/>
              <a:gd name="csY16" fmla="*/ 1472184 h 1472184"/>
              <a:gd name="csX17" fmla="*/ 877824 w 1618488"/>
              <a:gd name="csY17" fmla="*/ 1453896 h 1472184"/>
              <a:gd name="csX18" fmla="*/ 996696 w 1618488"/>
              <a:gd name="csY18" fmla="*/ 1408176 h 1472184"/>
              <a:gd name="csX19" fmla="*/ 1051560 w 1618488"/>
              <a:gd name="csY19" fmla="*/ 1353312 h 1472184"/>
              <a:gd name="csX20" fmla="*/ 1152144 w 1618488"/>
              <a:gd name="csY20" fmla="*/ 1271016 h 1472184"/>
              <a:gd name="csX21" fmla="*/ 1298448 w 1618488"/>
              <a:gd name="csY21" fmla="*/ 1243584 h 1472184"/>
              <a:gd name="csX22" fmla="*/ 1490472 w 1618488"/>
              <a:gd name="csY22" fmla="*/ 1207008 h 1472184"/>
              <a:gd name="csX23" fmla="*/ 1563624 w 1618488"/>
              <a:gd name="csY23" fmla="*/ 1152144 h 1472184"/>
              <a:gd name="csX24" fmla="*/ 1618488 w 1618488"/>
              <a:gd name="csY24" fmla="*/ 1005840 h 1472184"/>
              <a:gd name="csX25" fmla="*/ 1572768 w 1618488"/>
              <a:gd name="csY25" fmla="*/ 877824 h 1472184"/>
              <a:gd name="csX26" fmla="*/ 1517904 w 1618488"/>
              <a:gd name="csY26" fmla="*/ 804672 h 1472184"/>
              <a:gd name="csX27" fmla="*/ 1362456 w 1618488"/>
              <a:gd name="csY27" fmla="*/ 667512 h 1472184"/>
              <a:gd name="csX28" fmla="*/ 1289304 w 1618488"/>
              <a:gd name="csY28" fmla="*/ 603504 h 1472184"/>
              <a:gd name="csX29" fmla="*/ 1197864 w 1618488"/>
              <a:gd name="csY29" fmla="*/ 493776 h 1472184"/>
              <a:gd name="csX30" fmla="*/ 1106424 w 1618488"/>
              <a:gd name="csY30" fmla="*/ 402336 h 1472184"/>
              <a:gd name="csX31" fmla="*/ 1088136 w 1618488"/>
              <a:gd name="csY31" fmla="*/ 356616 h 1472184"/>
              <a:gd name="csX32" fmla="*/ 1051560 w 1618488"/>
              <a:gd name="csY32" fmla="*/ 283464 h 1472184"/>
              <a:gd name="csX33" fmla="*/ 1042416 w 1618488"/>
              <a:gd name="csY33" fmla="*/ 246888 h 1472184"/>
              <a:gd name="csX34" fmla="*/ 987552 w 1618488"/>
              <a:gd name="csY34" fmla="*/ 164592 h 1472184"/>
              <a:gd name="csX35" fmla="*/ 969264 w 1618488"/>
              <a:gd name="csY35" fmla="*/ 137160 h 1472184"/>
              <a:gd name="csX36" fmla="*/ 932688 w 1618488"/>
              <a:gd name="csY36" fmla="*/ 91440 h 1472184"/>
              <a:gd name="csX37" fmla="*/ 914400 w 1618488"/>
              <a:gd name="csY37" fmla="*/ 64008 h 1472184"/>
              <a:gd name="csX38" fmla="*/ 850392 w 1618488"/>
              <a:gd name="csY38" fmla="*/ 9144 h 1472184"/>
              <a:gd name="csX39" fmla="*/ 822960 w 1618488"/>
              <a:gd name="csY39" fmla="*/ 0 h 1472184"/>
              <a:gd name="csX40" fmla="*/ 795528 w 1618488"/>
              <a:gd name="csY40" fmla="*/ 9144 h 1472184"/>
              <a:gd name="csX41" fmla="*/ 740664 w 1618488"/>
              <a:gd name="csY41" fmla="*/ 18288 h 1472184"/>
              <a:gd name="csX42" fmla="*/ 694944 w 1618488"/>
              <a:gd name="csY42" fmla="*/ 27432 h 1472184"/>
              <a:gd name="csX43" fmla="*/ 749808 w 1618488"/>
              <a:gd name="csY43" fmla="*/ 45720 h 1472184"/>
              <a:gd name="csX44" fmla="*/ 813816 w 1618488"/>
              <a:gd name="csY44" fmla="*/ 54864 h 1472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8488" h="1472184">
                <a:moveTo>
                  <a:pt x="813816" y="54864"/>
                </a:moveTo>
                <a:cubicBezTo>
                  <a:pt x="807720" y="50292"/>
                  <a:pt x="733356" y="21642"/>
                  <a:pt x="713232" y="18288"/>
                </a:cubicBezTo>
                <a:cubicBezTo>
                  <a:pt x="677029" y="12254"/>
                  <a:pt x="640080" y="12192"/>
                  <a:pt x="603504" y="9144"/>
                </a:cubicBezTo>
                <a:cubicBezTo>
                  <a:pt x="533400" y="15240"/>
                  <a:pt x="462355" y="14464"/>
                  <a:pt x="393192" y="27432"/>
                </a:cubicBezTo>
                <a:cubicBezTo>
                  <a:pt x="363687" y="32964"/>
                  <a:pt x="337138" y="49429"/>
                  <a:pt x="310896" y="64008"/>
                </a:cubicBezTo>
                <a:cubicBezTo>
                  <a:pt x="282076" y="80019"/>
                  <a:pt x="254524" y="98503"/>
                  <a:pt x="228600" y="118872"/>
                </a:cubicBezTo>
                <a:cubicBezTo>
                  <a:pt x="211653" y="132188"/>
                  <a:pt x="197378" y="148644"/>
                  <a:pt x="182880" y="164592"/>
                </a:cubicBezTo>
                <a:cubicBezTo>
                  <a:pt x="139283" y="212548"/>
                  <a:pt x="119439" y="239531"/>
                  <a:pt x="91440" y="301752"/>
                </a:cubicBezTo>
                <a:cubicBezTo>
                  <a:pt x="60691" y="370082"/>
                  <a:pt x="47005" y="431151"/>
                  <a:pt x="27432" y="502920"/>
                </a:cubicBezTo>
                <a:cubicBezTo>
                  <a:pt x="24384" y="533400"/>
                  <a:pt x="20396" y="563801"/>
                  <a:pt x="18288" y="594360"/>
                </a:cubicBezTo>
                <a:cubicBezTo>
                  <a:pt x="628" y="850433"/>
                  <a:pt x="19398" y="686061"/>
                  <a:pt x="0" y="841248"/>
                </a:cubicBezTo>
                <a:cubicBezTo>
                  <a:pt x="9630" y="1033853"/>
                  <a:pt x="-9704" y="975298"/>
                  <a:pt x="36576" y="1106424"/>
                </a:cubicBezTo>
                <a:cubicBezTo>
                  <a:pt x="45243" y="1130981"/>
                  <a:pt x="50609" y="1157245"/>
                  <a:pt x="64008" y="1179576"/>
                </a:cubicBezTo>
                <a:cubicBezTo>
                  <a:pt x="78466" y="1203673"/>
                  <a:pt x="99001" y="1223713"/>
                  <a:pt x="118872" y="1243584"/>
                </a:cubicBezTo>
                <a:cubicBezTo>
                  <a:pt x="168419" y="1293131"/>
                  <a:pt x="219484" y="1332465"/>
                  <a:pt x="283464" y="1362456"/>
                </a:cubicBezTo>
                <a:cubicBezTo>
                  <a:pt x="349065" y="1393206"/>
                  <a:pt x="413024" y="1433735"/>
                  <a:pt x="484632" y="1444752"/>
                </a:cubicBezTo>
                <a:cubicBezTo>
                  <a:pt x="642783" y="1469083"/>
                  <a:pt x="563532" y="1459965"/>
                  <a:pt x="722376" y="1472184"/>
                </a:cubicBezTo>
                <a:cubicBezTo>
                  <a:pt x="774192" y="1466088"/>
                  <a:pt x="826422" y="1462835"/>
                  <a:pt x="877824" y="1453896"/>
                </a:cubicBezTo>
                <a:cubicBezTo>
                  <a:pt x="906578" y="1448895"/>
                  <a:pt x="972928" y="1418362"/>
                  <a:pt x="996696" y="1408176"/>
                </a:cubicBezTo>
                <a:cubicBezTo>
                  <a:pt x="1014984" y="1389888"/>
                  <a:pt x="1034163" y="1372449"/>
                  <a:pt x="1051560" y="1353312"/>
                </a:cubicBezTo>
                <a:cubicBezTo>
                  <a:pt x="1091695" y="1309164"/>
                  <a:pt x="1086039" y="1291135"/>
                  <a:pt x="1152144" y="1271016"/>
                </a:cubicBezTo>
                <a:cubicBezTo>
                  <a:pt x="1199612" y="1256569"/>
                  <a:pt x="1249552" y="1252014"/>
                  <a:pt x="1298448" y="1243584"/>
                </a:cubicBezTo>
                <a:cubicBezTo>
                  <a:pt x="1476555" y="1212876"/>
                  <a:pt x="1356864" y="1240410"/>
                  <a:pt x="1490472" y="1207008"/>
                </a:cubicBezTo>
                <a:cubicBezTo>
                  <a:pt x="1514856" y="1188720"/>
                  <a:pt x="1542950" y="1174541"/>
                  <a:pt x="1563624" y="1152144"/>
                </a:cubicBezTo>
                <a:cubicBezTo>
                  <a:pt x="1604285" y="1108095"/>
                  <a:pt x="1606141" y="1061400"/>
                  <a:pt x="1618488" y="1005840"/>
                </a:cubicBezTo>
                <a:cubicBezTo>
                  <a:pt x="1603248" y="963168"/>
                  <a:pt x="1593032" y="918352"/>
                  <a:pt x="1572768" y="877824"/>
                </a:cubicBezTo>
                <a:cubicBezTo>
                  <a:pt x="1559137" y="850562"/>
                  <a:pt x="1537975" y="827611"/>
                  <a:pt x="1517904" y="804672"/>
                </a:cubicBezTo>
                <a:cubicBezTo>
                  <a:pt x="1448328" y="725156"/>
                  <a:pt x="1443603" y="734339"/>
                  <a:pt x="1362456" y="667512"/>
                </a:cubicBezTo>
                <a:cubicBezTo>
                  <a:pt x="1337445" y="646915"/>
                  <a:pt x="1313047" y="625551"/>
                  <a:pt x="1289304" y="603504"/>
                </a:cubicBezTo>
                <a:cubicBezTo>
                  <a:pt x="1142500" y="467186"/>
                  <a:pt x="1313712" y="626174"/>
                  <a:pt x="1197864" y="493776"/>
                </a:cubicBezTo>
                <a:cubicBezTo>
                  <a:pt x="1169479" y="461336"/>
                  <a:pt x="1106424" y="402336"/>
                  <a:pt x="1106424" y="402336"/>
                </a:cubicBezTo>
                <a:cubicBezTo>
                  <a:pt x="1100328" y="387096"/>
                  <a:pt x="1095014" y="371519"/>
                  <a:pt x="1088136" y="356616"/>
                </a:cubicBezTo>
                <a:cubicBezTo>
                  <a:pt x="1076712" y="331863"/>
                  <a:pt x="1058172" y="309912"/>
                  <a:pt x="1051560" y="283464"/>
                </a:cubicBezTo>
                <a:cubicBezTo>
                  <a:pt x="1048512" y="271272"/>
                  <a:pt x="1047520" y="258372"/>
                  <a:pt x="1042416" y="246888"/>
                </a:cubicBezTo>
                <a:cubicBezTo>
                  <a:pt x="1027866" y="214149"/>
                  <a:pt x="1007878" y="193049"/>
                  <a:pt x="987552" y="164592"/>
                </a:cubicBezTo>
                <a:cubicBezTo>
                  <a:pt x="981164" y="155649"/>
                  <a:pt x="975858" y="145952"/>
                  <a:pt x="969264" y="137160"/>
                </a:cubicBezTo>
                <a:cubicBezTo>
                  <a:pt x="957554" y="121547"/>
                  <a:pt x="944398" y="107053"/>
                  <a:pt x="932688" y="91440"/>
                </a:cubicBezTo>
                <a:cubicBezTo>
                  <a:pt x="926094" y="82648"/>
                  <a:pt x="921552" y="72352"/>
                  <a:pt x="914400" y="64008"/>
                </a:cubicBezTo>
                <a:cubicBezTo>
                  <a:pt x="897527" y="44322"/>
                  <a:pt x="874659" y="21278"/>
                  <a:pt x="850392" y="9144"/>
                </a:cubicBezTo>
                <a:cubicBezTo>
                  <a:pt x="841771" y="4833"/>
                  <a:pt x="832104" y="3048"/>
                  <a:pt x="822960" y="0"/>
                </a:cubicBezTo>
                <a:cubicBezTo>
                  <a:pt x="813816" y="3048"/>
                  <a:pt x="804937" y="7053"/>
                  <a:pt x="795528" y="9144"/>
                </a:cubicBezTo>
                <a:cubicBezTo>
                  <a:pt x="777429" y="13166"/>
                  <a:pt x="758905" y="14971"/>
                  <a:pt x="740664" y="18288"/>
                </a:cubicBezTo>
                <a:cubicBezTo>
                  <a:pt x="725373" y="21068"/>
                  <a:pt x="710184" y="24384"/>
                  <a:pt x="694944" y="27432"/>
                </a:cubicBezTo>
                <a:cubicBezTo>
                  <a:pt x="713232" y="33528"/>
                  <a:pt x="731106" y="41045"/>
                  <a:pt x="749808" y="45720"/>
                </a:cubicBezTo>
                <a:cubicBezTo>
                  <a:pt x="792996" y="56517"/>
                  <a:pt x="819912" y="59436"/>
                  <a:pt x="813816" y="54864"/>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 Model</a:t>
            </a:r>
          </a:p>
        </p:txBody>
      </p:sp>
      <p:grpSp>
        <p:nvGrpSpPr>
          <p:cNvPr id="11" name="Group 10">
            <a:extLst>
              <a:ext uri="{FF2B5EF4-FFF2-40B4-BE49-F238E27FC236}">
                <a16:creationId xmlns:a16="http://schemas.microsoft.com/office/drawing/2014/main" id="{49B2155C-F6CC-6FC7-6755-E29A94FB2A8B}"/>
              </a:ext>
            </a:extLst>
          </p:cNvPr>
          <p:cNvGrpSpPr/>
          <p:nvPr/>
        </p:nvGrpSpPr>
        <p:grpSpPr>
          <a:xfrm>
            <a:off x="2910024" y="4874904"/>
            <a:ext cx="792720" cy="266760"/>
            <a:chOff x="2910024" y="4399416"/>
            <a:chExt cx="792720" cy="266760"/>
          </a:xfrm>
        </p:grpSpPr>
        <mc:AlternateContent xmlns:mc="http://schemas.openxmlformats.org/markup-compatibility/2006" xmlns:p14="http://schemas.microsoft.com/office/powerpoint/2010/main">
          <mc:Choice Requires="p14">
            <p:contentPart p14:bwMode="auto" r:id="rId2">
              <p14:nvContentPartPr>
                <p14:cNvPr id="8" name="Ink 7">
                  <a:extLst>
                    <a:ext uri="{FF2B5EF4-FFF2-40B4-BE49-F238E27FC236}">
                      <a16:creationId xmlns:a16="http://schemas.microsoft.com/office/drawing/2014/main" id="{4AE8ED4E-85C1-A057-6DAC-F9DBDC1F3F6C}"/>
                    </a:ext>
                  </a:extLst>
                </p14:cNvPr>
                <p14:cNvContentPartPr/>
                <p14:nvPr/>
              </p14:nvContentPartPr>
              <p14:xfrm>
                <a:off x="2910024" y="4525776"/>
                <a:ext cx="739440" cy="64800"/>
              </p14:xfrm>
            </p:contentPart>
          </mc:Choice>
          <mc:Fallback xmlns="">
            <p:pic>
              <p:nvPicPr>
                <p:cNvPr id="8" name="Ink 7">
                  <a:extLst>
                    <a:ext uri="{FF2B5EF4-FFF2-40B4-BE49-F238E27FC236}">
                      <a16:creationId xmlns:a16="http://schemas.microsoft.com/office/drawing/2014/main" id="{4AE8ED4E-85C1-A057-6DAC-F9DBDC1F3F6C}"/>
                    </a:ext>
                  </a:extLst>
                </p:cNvPr>
                <p:cNvPicPr/>
                <p:nvPr/>
              </p:nvPicPr>
              <p:blipFill>
                <a:blip r:embed="rId3"/>
                <a:stretch>
                  <a:fillRect/>
                </a:stretch>
              </p:blipFill>
              <p:spPr>
                <a:xfrm>
                  <a:off x="2892024" y="4508136"/>
                  <a:ext cx="77508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0" name="Ink 9">
                  <a:extLst>
                    <a:ext uri="{FF2B5EF4-FFF2-40B4-BE49-F238E27FC236}">
                      <a16:creationId xmlns:a16="http://schemas.microsoft.com/office/drawing/2014/main" id="{71828EEF-FC81-FE9B-591A-88E165309464}"/>
                    </a:ext>
                  </a:extLst>
                </p14:cNvPr>
                <p14:cNvContentPartPr/>
                <p14:nvPr/>
              </p14:nvContentPartPr>
              <p14:xfrm>
                <a:off x="3521304" y="4399416"/>
                <a:ext cx="181440" cy="266760"/>
              </p14:xfrm>
            </p:contentPart>
          </mc:Choice>
          <mc:Fallback xmlns="">
            <p:pic>
              <p:nvPicPr>
                <p:cNvPr id="10" name="Ink 9">
                  <a:extLst>
                    <a:ext uri="{FF2B5EF4-FFF2-40B4-BE49-F238E27FC236}">
                      <a16:creationId xmlns:a16="http://schemas.microsoft.com/office/drawing/2014/main" id="{71828EEF-FC81-FE9B-591A-88E165309464}"/>
                    </a:ext>
                  </a:extLst>
                </p:cNvPr>
                <p:cNvPicPr/>
                <p:nvPr/>
              </p:nvPicPr>
              <p:blipFill>
                <a:blip r:embed="rId5"/>
                <a:stretch>
                  <a:fillRect/>
                </a:stretch>
              </p:blipFill>
              <p:spPr>
                <a:xfrm>
                  <a:off x="3503304" y="4381776"/>
                  <a:ext cx="217080" cy="302400"/>
                </a:xfrm>
                <a:prstGeom prst="rect">
                  <a:avLst/>
                </a:prstGeom>
              </p:spPr>
            </p:pic>
          </mc:Fallback>
        </mc:AlternateContent>
      </p:grpSp>
    </p:spTree>
    <p:extLst>
      <p:ext uri="{BB962C8B-B14F-4D97-AF65-F5344CB8AC3E}">
        <p14:creationId xmlns:p14="http://schemas.microsoft.com/office/powerpoint/2010/main" val="6990485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2C47-34CC-11FB-CF47-01AC996B47B2}"/>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479AA42E-A86A-DF15-1547-4716DB0B5639}"/>
              </a:ext>
            </a:extLst>
          </p:cNvPr>
          <p:cNvSpPr txBox="1"/>
          <p:nvPr/>
        </p:nvSpPr>
        <p:spPr>
          <a:xfrm>
            <a:off x="148336" y="199104"/>
            <a:ext cx="10292080" cy="830997"/>
          </a:xfrm>
          <a:prstGeom prst="rect">
            <a:avLst/>
          </a:prstGeom>
          <a:noFill/>
        </p:spPr>
        <p:txBody>
          <a:bodyPr wrap="square">
            <a:spAutoFit/>
          </a:bodyPr>
          <a:lstStyle/>
          <a:p>
            <a:r>
              <a:rPr lang="en-US" sz="2400" b="1" dirty="0">
                <a:solidFill>
                  <a:schemeClr val="accent6">
                    <a:lumMod val="60000"/>
                    <a:lumOff val="40000"/>
                  </a:schemeClr>
                </a:solidFill>
              </a:rPr>
              <a:t>Example</a:t>
            </a:r>
          </a:p>
          <a:p>
            <a:r>
              <a:rPr lang="en-US" sz="2400" dirty="0">
                <a:solidFill>
                  <a:schemeClr val="accent6">
                    <a:lumMod val="60000"/>
                    <a:lumOff val="40000"/>
                  </a:schemeClr>
                </a:solidFill>
              </a:rPr>
              <a:t>You train a model on </a:t>
            </a:r>
            <a:r>
              <a:rPr lang="en-US" sz="2400" b="1" dirty="0">
                <a:solidFill>
                  <a:schemeClr val="accent6">
                    <a:lumMod val="60000"/>
                    <a:lumOff val="40000"/>
                  </a:schemeClr>
                </a:solidFill>
              </a:rPr>
              <a:t>Legal documents </a:t>
            </a:r>
            <a:r>
              <a:rPr lang="en-US" sz="2400" dirty="0">
                <a:solidFill>
                  <a:schemeClr val="accent6">
                    <a:lumMod val="60000"/>
                    <a:lumOff val="40000"/>
                  </a:schemeClr>
                </a:solidFill>
              </a:rPr>
              <a:t>→ Model becomes better lawyer assistant </a:t>
            </a:r>
          </a:p>
        </p:txBody>
      </p:sp>
      <p:sp>
        <p:nvSpPr>
          <p:cNvPr id="3" name="TextBox 2">
            <a:extLst>
              <a:ext uri="{FF2B5EF4-FFF2-40B4-BE49-F238E27FC236}">
                <a16:creationId xmlns:a16="http://schemas.microsoft.com/office/drawing/2014/main" id="{F1C63AA3-08A9-8F6D-21AA-AF42C7B56547}"/>
              </a:ext>
            </a:extLst>
          </p:cNvPr>
          <p:cNvSpPr txBox="1"/>
          <p:nvPr/>
        </p:nvSpPr>
        <p:spPr>
          <a:xfrm>
            <a:off x="114300" y="1732895"/>
            <a:ext cx="5125212" cy="3447098"/>
          </a:xfrm>
          <a:prstGeom prst="rect">
            <a:avLst/>
          </a:prstGeom>
          <a:noFill/>
        </p:spPr>
        <p:txBody>
          <a:bodyPr wrap="square">
            <a:spAutoFit/>
          </a:bodyPr>
          <a:lstStyle/>
          <a:p>
            <a:pPr>
              <a:buNone/>
            </a:pPr>
            <a:r>
              <a:rPr lang="en-US" sz="2000" b="1" dirty="0">
                <a:solidFill>
                  <a:schemeClr val="accent6">
                    <a:lumMod val="60000"/>
                    <a:lumOff val="40000"/>
                  </a:schemeClr>
                </a:solidFill>
              </a:rPr>
              <a:t>Without Fine-Tuning (Generic Base Model)</a:t>
            </a:r>
          </a:p>
          <a:p>
            <a:pPr>
              <a:buNone/>
            </a:pPr>
            <a:endParaRPr lang="en-US" sz="2000" b="1" dirty="0">
              <a:solidFill>
                <a:schemeClr val="accent6">
                  <a:lumMod val="60000"/>
                  <a:lumOff val="40000"/>
                </a:schemeClr>
              </a:solidFill>
            </a:endParaRPr>
          </a:p>
          <a:p>
            <a:pPr>
              <a:buNone/>
            </a:pPr>
            <a:r>
              <a:rPr lang="en-US" sz="2000" dirty="0">
                <a:solidFill>
                  <a:schemeClr val="accent4">
                    <a:lumMod val="60000"/>
                    <a:lumOff val="40000"/>
                  </a:schemeClr>
                </a:solidFill>
              </a:rPr>
              <a:t>You have not paid your bill. Please pay it as soon as possible to avoid issues.</a:t>
            </a:r>
          </a:p>
          <a:p>
            <a:pPr>
              <a:buNone/>
            </a:pPr>
            <a:endParaRPr lang="en-US" sz="2000" dirty="0">
              <a:solidFill>
                <a:schemeClr val="accent4">
                  <a:lumMod val="60000"/>
                  <a:lumOff val="40000"/>
                </a:schemeClr>
              </a:solidFill>
            </a:endParaRPr>
          </a:p>
          <a:p>
            <a:pPr>
              <a:buNone/>
            </a:pPr>
            <a:endParaRPr lang="en-US" sz="2000" dirty="0">
              <a:solidFill>
                <a:schemeClr val="accent6">
                  <a:lumMod val="60000"/>
                  <a:lumOff val="40000"/>
                </a:schemeClr>
              </a:solidFill>
            </a:endParaRPr>
          </a:p>
          <a:p>
            <a:r>
              <a:rPr lang="en-US" sz="2000" dirty="0">
                <a:solidFill>
                  <a:schemeClr val="accent6">
                    <a:lumMod val="60000"/>
                    <a:lumOff val="40000"/>
                  </a:schemeClr>
                </a:solidFill>
              </a:rPr>
              <a:t>Problems:</a:t>
            </a:r>
          </a:p>
          <a:p>
            <a:pPr marL="285750" indent="-285750">
              <a:buFont typeface="Arial" panose="020B0604020202020204" pitchFamily="34" charset="0"/>
              <a:buChar char="•"/>
            </a:pPr>
            <a:r>
              <a:rPr lang="en-US" sz="2000" dirty="0">
                <a:solidFill>
                  <a:schemeClr val="accent6">
                    <a:lumMod val="60000"/>
                    <a:lumOff val="40000"/>
                  </a:schemeClr>
                </a:solidFill>
              </a:rPr>
              <a:t>Too casual </a:t>
            </a:r>
          </a:p>
          <a:p>
            <a:pPr marL="285750" indent="-285750">
              <a:buFont typeface="Arial" panose="020B0604020202020204" pitchFamily="34" charset="0"/>
              <a:buChar char="•"/>
            </a:pPr>
            <a:r>
              <a:rPr lang="en-US" sz="2000" dirty="0">
                <a:solidFill>
                  <a:schemeClr val="accent6">
                    <a:lumMod val="60000"/>
                    <a:lumOff val="40000"/>
                  </a:schemeClr>
                </a:solidFill>
              </a:rPr>
              <a:t>Not precise </a:t>
            </a:r>
          </a:p>
          <a:p>
            <a:pPr marL="285750" indent="-285750">
              <a:buFont typeface="Arial" panose="020B0604020202020204" pitchFamily="34" charset="0"/>
              <a:buChar char="•"/>
            </a:pPr>
            <a:r>
              <a:rPr lang="en-US" sz="2000" dirty="0">
                <a:solidFill>
                  <a:schemeClr val="accent6">
                    <a:lumMod val="60000"/>
                    <a:lumOff val="40000"/>
                  </a:schemeClr>
                </a:solidFill>
              </a:rPr>
              <a:t>Not legally safe </a:t>
            </a:r>
          </a:p>
          <a:p>
            <a:pPr marL="285750" indent="-285750">
              <a:buFont typeface="Arial" panose="020B0604020202020204" pitchFamily="34" charset="0"/>
              <a:buChar char="•"/>
            </a:pPr>
            <a:r>
              <a:rPr lang="en-US" sz="2000" dirty="0">
                <a:solidFill>
                  <a:schemeClr val="accent6">
                    <a:lumMod val="60000"/>
                    <a:lumOff val="40000"/>
                  </a:schemeClr>
                </a:solidFill>
              </a:rPr>
              <a:t>Lacks structure</a:t>
            </a:r>
          </a:p>
        </p:txBody>
      </p:sp>
      <p:sp>
        <p:nvSpPr>
          <p:cNvPr id="5" name="TextBox 4">
            <a:extLst>
              <a:ext uri="{FF2B5EF4-FFF2-40B4-BE49-F238E27FC236}">
                <a16:creationId xmlns:a16="http://schemas.microsoft.com/office/drawing/2014/main" id="{B24B084D-E664-6D74-7D95-4980B3E3A159}"/>
              </a:ext>
            </a:extLst>
          </p:cNvPr>
          <p:cNvSpPr txBox="1"/>
          <p:nvPr/>
        </p:nvSpPr>
        <p:spPr>
          <a:xfrm>
            <a:off x="5500116" y="1714375"/>
            <a:ext cx="6190488" cy="4708981"/>
          </a:xfrm>
          <a:prstGeom prst="rect">
            <a:avLst/>
          </a:prstGeom>
          <a:noFill/>
        </p:spPr>
        <p:txBody>
          <a:bodyPr wrap="square">
            <a:spAutoFit/>
          </a:bodyPr>
          <a:lstStyle/>
          <a:p>
            <a:pPr>
              <a:buNone/>
            </a:pPr>
            <a:r>
              <a:rPr lang="en-US" sz="2000" b="1" dirty="0">
                <a:solidFill>
                  <a:schemeClr val="accent6">
                    <a:lumMod val="60000"/>
                    <a:lumOff val="40000"/>
                  </a:schemeClr>
                </a:solidFill>
              </a:rPr>
              <a:t>With Fine-Tuning (Legal Document Tone)</a:t>
            </a:r>
          </a:p>
          <a:p>
            <a:pPr>
              <a:buNone/>
            </a:pPr>
            <a:endParaRPr lang="en-US" sz="2000" b="1" dirty="0">
              <a:solidFill>
                <a:schemeClr val="accent6">
                  <a:lumMod val="60000"/>
                  <a:lumOff val="40000"/>
                </a:schemeClr>
              </a:solidFill>
            </a:endParaRPr>
          </a:p>
          <a:p>
            <a:pPr>
              <a:buNone/>
            </a:pPr>
            <a:r>
              <a:rPr lang="en-US" sz="2000" b="1" dirty="0">
                <a:solidFill>
                  <a:schemeClr val="accent4">
                    <a:lumMod val="60000"/>
                    <a:lumOff val="40000"/>
                  </a:schemeClr>
                </a:solidFill>
              </a:rPr>
              <a:t>Notice of Outstanding Payment</a:t>
            </a:r>
            <a:endParaRPr lang="en-US" sz="2000" dirty="0">
              <a:solidFill>
                <a:schemeClr val="accent4">
                  <a:lumMod val="60000"/>
                  <a:lumOff val="40000"/>
                </a:schemeClr>
              </a:solidFill>
            </a:endParaRPr>
          </a:p>
          <a:p>
            <a:pPr>
              <a:buNone/>
            </a:pPr>
            <a:r>
              <a:rPr lang="en-US" sz="2000" dirty="0">
                <a:solidFill>
                  <a:schemeClr val="accent4">
                    <a:lumMod val="60000"/>
                    <a:lumOff val="40000"/>
                  </a:schemeClr>
                </a:solidFill>
              </a:rPr>
              <a:t>This is to formally notify you that payment in the amount of ₹10,000 remains outstanding as of the date of this notice.</a:t>
            </a:r>
          </a:p>
          <a:p>
            <a:pPr>
              <a:buNone/>
            </a:pPr>
            <a:endParaRPr lang="en-US" sz="2000" dirty="0">
              <a:solidFill>
                <a:schemeClr val="accent4">
                  <a:lumMod val="60000"/>
                  <a:lumOff val="40000"/>
                </a:schemeClr>
              </a:solidFill>
            </a:endParaRPr>
          </a:p>
          <a:p>
            <a:pPr>
              <a:buNone/>
            </a:pPr>
            <a:r>
              <a:rPr lang="en-US" sz="2000" dirty="0">
                <a:solidFill>
                  <a:schemeClr val="accent4">
                    <a:lumMod val="60000"/>
                    <a:lumOff val="40000"/>
                  </a:schemeClr>
                </a:solidFill>
              </a:rPr>
              <a:t>You are hereby requested to remit the outstanding balance within seven (7) days from receipt of this notice, failing which further action may be initiated in accordance with applicable laws and contractual obligations defined by Rule SC 12.3.A</a:t>
            </a:r>
          </a:p>
          <a:p>
            <a:pPr>
              <a:buNone/>
            </a:pPr>
            <a:endParaRPr lang="en-US" sz="2000" dirty="0">
              <a:solidFill>
                <a:schemeClr val="accent4">
                  <a:lumMod val="60000"/>
                  <a:lumOff val="40000"/>
                </a:schemeClr>
              </a:solidFill>
            </a:endParaRPr>
          </a:p>
          <a:p>
            <a:pPr>
              <a:buNone/>
            </a:pPr>
            <a:r>
              <a:rPr lang="en-US" sz="2000" dirty="0">
                <a:solidFill>
                  <a:schemeClr val="accent4">
                    <a:lumMod val="60000"/>
                    <a:lumOff val="40000"/>
                  </a:schemeClr>
                </a:solidFill>
              </a:rPr>
              <a:t>This notice is issued without prejudice to any other rights or remedies available.</a:t>
            </a:r>
          </a:p>
        </p:txBody>
      </p:sp>
      <p:sp>
        <p:nvSpPr>
          <p:cNvPr id="6" name="Oval 5">
            <a:extLst>
              <a:ext uri="{FF2B5EF4-FFF2-40B4-BE49-F238E27FC236}">
                <a16:creationId xmlns:a16="http://schemas.microsoft.com/office/drawing/2014/main" id="{2429F763-6A7E-F1B8-0BAB-4BAF5DD5D160}"/>
              </a:ext>
            </a:extLst>
          </p:cNvPr>
          <p:cNvSpPr/>
          <p:nvPr/>
        </p:nvSpPr>
        <p:spPr>
          <a:xfrm>
            <a:off x="6318504" y="1081100"/>
            <a:ext cx="3003804" cy="56375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grpSp>
        <p:nvGrpSpPr>
          <p:cNvPr id="8" name="Group 7">
            <a:extLst>
              <a:ext uri="{FF2B5EF4-FFF2-40B4-BE49-F238E27FC236}">
                <a16:creationId xmlns:a16="http://schemas.microsoft.com/office/drawing/2014/main" id="{C947BF97-3FE2-6CCE-1759-948CE48EE9CC}"/>
              </a:ext>
            </a:extLst>
          </p:cNvPr>
          <p:cNvGrpSpPr/>
          <p:nvPr/>
        </p:nvGrpSpPr>
        <p:grpSpPr>
          <a:xfrm>
            <a:off x="3809880" y="1114738"/>
            <a:ext cx="2133720" cy="266760"/>
            <a:chOff x="2910024" y="4399416"/>
            <a:chExt cx="792720" cy="266760"/>
          </a:xfrm>
        </p:grpSpPr>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51C7A33B-5B62-0BFD-3CF4-1878D25B08AE}"/>
                    </a:ext>
                  </a:extLst>
                </p14:cNvPr>
                <p14:cNvContentPartPr/>
                <p14:nvPr/>
              </p14:nvContentPartPr>
              <p14:xfrm>
                <a:off x="2910024" y="4525776"/>
                <a:ext cx="739440" cy="64800"/>
              </p14:xfrm>
            </p:contentPart>
          </mc:Choice>
          <mc:Fallback xmlns="">
            <p:pic>
              <p:nvPicPr>
                <p:cNvPr id="10" name="Ink 9">
                  <a:extLst>
                    <a:ext uri="{FF2B5EF4-FFF2-40B4-BE49-F238E27FC236}">
                      <a16:creationId xmlns:a16="http://schemas.microsoft.com/office/drawing/2014/main" id="{51C7A33B-5B62-0BFD-3CF4-1878D25B08AE}"/>
                    </a:ext>
                  </a:extLst>
                </p:cNvPr>
                <p:cNvPicPr/>
                <p:nvPr/>
              </p:nvPicPr>
              <p:blipFill>
                <a:blip r:embed="rId3"/>
                <a:stretch>
                  <a:fillRect/>
                </a:stretch>
              </p:blipFill>
              <p:spPr>
                <a:xfrm>
                  <a:off x="2903336" y="4508136"/>
                  <a:ext cx="752683"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1" name="Ink 10">
                  <a:extLst>
                    <a:ext uri="{FF2B5EF4-FFF2-40B4-BE49-F238E27FC236}">
                      <a16:creationId xmlns:a16="http://schemas.microsoft.com/office/drawing/2014/main" id="{B22145DF-B926-EC1A-FEA4-4B6AE92D2FDD}"/>
                    </a:ext>
                  </a:extLst>
                </p14:cNvPr>
                <p14:cNvContentPartPr/>
                <p14:nvPr/>
              </p14:nvContentPartPr>
              <p14:xfrm>
                <a:off x="3521304" y="4399416"/>
                <a:ext cx="181440" cy="266760"/>
              </p14:xfrm>
            </p:contentPart>
          </mc:Choice>
          <mc:Fallback xmlns="">
            <p:pic>
              <p:nvPicPr>
                <p:cNvPr id="11" name="Ink 10">
                  <a:extLst>
                    <a:ext uri="{FF2B5EF4-FFF2-40B4-BE49-F238E27FC236}">
                      <a16:creationId xmlns:a16="http://schemas.microsoft.com/office/drawing/2014/main" id="{B22145DF-B926-EC1A-FEA4-4B6AE92D2FDD}"/>
                    </a:ext>
                  </a:extLst>
                </p:cNvPr>
                <p:cNvPicPr/>
                <p:nvPr/>
              </p:nvPicPr>
              <p:blipFill>
                <a:blip r:embed="rId5"/>
                <a:stretch>
                  <a:fillRect/>
                </a:stretch>
              </p:blipFill>
              <p:spPr>
                <a:xfrm>
                  <a:off x="3514604" y="4381776"/>
                  <a:ext cx="194706" cy="302400"/>
                </a:xfrm>
                <a:prstGeom prst="rect">
                  <a:avLst/>
                </a:prstGeom>
              </p:spPr>
            </p:pic>
          </mc:Fallback>
        </mc:AlternateContent>
      </p:grpSp>
      <p:sp>
        <p:nvSpPr>
          <p:cNvPr id="12" name="Freeform: Shape 11">
            <a:extLst>
              <a:ext uri="{FF2B5EF4-FFF2-40B4-BE49-F238E27FC236}">
                <a16:creationId xmlns:a16="http://schemas.microsoft.com/office/drawing/2014/main" id="{4F94ED1D-6927-41C1-C1D6-461D20B18993}"/>
              </a:ext>
            </a:extLst>
          </p:cNvPr>
          <p:cNvSpPr/>
          <p:nvPr/>
        </p:nvSpPr>
        <p:spPr>
          <a:xfrm>
            <a:off x="2183242" y="940707"/>
            <a:ext cx="1251734" cy="830997"/>
          </a:xfrm>
          <a:custGeom>
            <a:avLst/>
            <a:gdLst>
              <a:gd name="csX0" fmla="*/ 813816 w 1618488"/>
              <a:gd name="csY0" fmla="*/ 54864 h 1472184"/>
              <a:gd name="csX1" fmla="*/ 713232 w 1618488"/>
              <a:gd name="csY1" fmla="*/ 18288 h 1472184"/>
              <a:gd name="csX2" fmla="*/ 603504 w 1618488"/>
              <a:gd name="csY2" fmla="*/ 9144 h 1472184"/>
              <a:gd name="csX3" fmla="*/ 393192 w 1618488"/>
              <a:gd name="csY3" fmla="*/ 27432 h 1472184"/>
              <a:gd name="csX4" fmla="*/ 310896 w 1618488"/>
              <a:gd name="csY4" fmla="*/ 64008 h 1472184"/>
              <a:gd name="csX5" fmla="*/ 228600 w 1618488"/>
              <a:gd name="csY5" fmla="*/ 118872 h 1472184"/>
              <a:gd name="csX6" fmla="*/ 182880 w 1618488"/>
              <a:gd name="csY6" fmla="*/ 164592 h 1472184"/>
              <a:gd name="csX7" fmla="*/ 91440 w 1618488"/>
              <a:gd name="csY7" fmla="*/ 301752 h 1472184"/>
              <a:gd name="csX8" fmla="*/ 27432 w 1618488"/>
              <a:gd name="csY8" fmla="*/ 502920 h 1472184"/>
              <a:gd name="csX9" fmla="*/ 18288 w 1618488"/>
              <a:gd name="csY9" fmla="*/ 594360 h 1472184"/>
              <a:gd name="csX10" fmla="*/ 0 w 1618488"/>
              <a:gd name="csY10" fmla="*/ 841248 h 1472184"/>
              <a:gd name="csX11" fmla="*/ 36576 w 1618488"/>
              <a:gd name="csY11" fmla="*/ 1106424 h 1472184"/>
              <a:gd name="csX12" fmla="*/ 64008 w 1618488"/>
              <a:gd name="csY12" fmla="*/ 1179576 h 1472184"/>
              <a:gd name="csX13" fmla="*/ 118872 w 1618488"/>
              <a:gd name="csY13" fmla="*/ 1243584 h 1472184"/>
              <a:gd name="csX14" fmla="*/ 283464 w 1618488"/>
              <a:gd name="csY14" fmla="*/ 1362456 h 1472184"/>
              <a:gd name="csX15" fmla="*/ 484632 w 1618488"/>
              <a:gd name="csY15" fmla="*/ 1444752 h 1472184"/>
              <a:gd name="csX16" fmla="*/ 722376 w 1618488"/>
              <a:gd name="csY16" fmla="*/ 1472184 h 1472184"/>
              <a:gd name="csX17" fmla="*/ 877824 w 1618488"/>
              <a:gd name="csY17" fmla="*/ 1453896 h 1472184"/>
              <a:gd name="csX18" fmla="*/ 996696 w 1618488"/>
              <a:gd name="csY18" fmla="*/ 1408176 h 1472184"/>
              <a:gd name="csX19" fmla="*/ 1051560 w 1618488"/>
              <a:gd name="csY19" fmla="*/ 1353312 h 1472184"/>
              <a:gd name="csX20" fmla="*/ 1152144 w 1618488"/>
              <a:gd name="csY20" fmla="*/ 1271016 h 1472184"/>
              <a:gd name="csX21" fmla="*/ 1298448 w 1618488"/>
              <a:gd name="csY21" fmla="*/ 1243584 h 1472184"/>
              <a:gd name="csX22" fmla="*/ 1490472 w 1618488"/>
              <a:gd name="csY22" fmla="*/ 1207008 h 1472184"/>
              <a:gd name="csX23" fmla="*/ 1563624 w 1618488"/>
              <a:gd name="csY23" fmla="*/ 1152144 h 1472184"/>
              <a:gd name="csX24" fmla="*/ 1618488 w 1618488"/>
              <a:gd name="csY24" fmla="*/ 1005840 h 1472184"/>
              <a:gd name="csX25" fmla="*/ 1572768 w 1618488"/>
              <a:gd name="csY25" fmla="*/ 877824 h 1472184"/>
              <a:gd name="csX26" fmla="*/ 1517904 w 1618488"/>
              <a:gd name="csY26" fmla="*/ 804672 h 1472184"/>
              <a:gd name="csX27" fmla="*/ 1362456 w 1618488"/>
              <a:gd name="csY27" fmla="*/ 667512 h 1472184"/>
              <a:gd name="csX28" fmla="*/ 1289304 w 1618488"/>
              <a:gd name="csY28" fmla="*/ 603504 h 1472184"/>
              <a:gd name="csX29" fmla="*/ 1197864 w 1618488"/>
              <a:gd name="csY29" fmla="*/ 493776 h 1472184"/>
              <a:gd name="csX30" fmla="*/ 1106424 w 1618488"/>
              <a:gd name="csY30" fmla="*/ 402336 h 1472184"/>
              <a:gd name="csX31" fmla="*/ 1088136 w 1618488"/>
              <a:gd name="csY31" fmla="*/ 356616 h 1472184"/>
              <a:gd name="csX32" fmla="*/ 1051560 w 1618488"/>
              <a:gd name="csY32" fmla="*/ 283464 h 1472184"/>
              <a:gd name="csX33" fmla="*/ 1042416 w 1618488"/>
              <a:gd name="csY33" fmla="*/ 246888 h 1472184"/>
              <a:gd name="csX34" fmla="*/ 987552 w 1618488"/>
              <a:gd name="csY34" fmla="*/ 164592 h 1472184"/>
              <a:gd name="csX35" fmla="*/ 969264 w 1618488"/>
              <a:gd name="csY35" fmla="*/ 137160 h 1472184"/>
              <a:gd name="csX36" fmla="*/ 932688 w 1618488"/>
              <a:gd name="csY36" fmla="*/ 91440 h 1472184"/>
              <a:gd name="csX37" fmla="*/ 914400 w 1618488"/>
              <a:gd name="csY37" fmla="*/ 64008 h 1472184"/>
              <a:gd name="csX38" fmla="*/ 850392 w 1618488"/>
              <a:gd name="csY38" fmla="*/ 9144 h 1472184"/>
              <a:gd name="csX39" fmla="*/ 822960 w 1618488"/>
              <a:gd name="csY39" fmla="*/ 0 h 1472184"/>
              <a:gd name="csX40" fmla="*/ 795528 w 1618488"/>
              <a:gd name="csY40" fmla="*/ 9144 h 1472184"/>
              <a:gd name="csX41" fmla="*/ 740664 w 1618488"/>
              <a:gd name="csY41" fmla="*/ 18288 h 1472184"/>
              <a:gd name="csX42" fmla="*/ 694944 w 1618488"/>
              <a:gd name="csY42" fmla="*/ 27432 h 1472184"/>
              <a:gd name="csX43" fmla="*/ 749808 w 1618488"/>
              <a:gd name="csY43" fmla="*/ 45720 h 1472184"/>
              <a:gd name="csX44" fmla="*/ 813816 w 1618488"/>
              <a:gd name="csY44" fmla="*/ 54864 h 1472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8488" h="1472184">
                <a:moveTo>
                  <a:pt x="813816" y="54864"/>
                </a:moveTo>
                <a:cubicBezTo>
                  <a:pt x="807720" y="50292"/>
                  <a:pt x="733356" y="21642"/>
                  <a:pt x="713232" y="18288"/>
                </a:cubicBezTo>
                <a:cubicBezTo>
                  <a:pt x="677029" y="12254"/>
                  <a:pt x="640080" y="12192"/>
                  <a:pt x="603504" y="9144"/>
                </a:cubicBezTo>
                <a:cubicBezTo>
                  <a:pt x="533400" y="15240"/>
                  <a:pt x="462355" y="14464"/>
                  <a:pt x="393192" y="27432"/>
                </a:cubicBezTo>
                <a:cubicBezTo>
                  <a:pt x="363687" y="32964"/>
                  <a:pt x="337138" y="49429"/>
                  <a:pt x="310896" y="64008"/>
                </a:cubicBezTo>
                <a:cubicBezTo>
                  <a:pt x="282076" y="80019"/>
                  <a:pt x="254524" y="98503"/>
                  <a:pt x="228600" y="118872"/>
                </a:cubicBezTo>
                <a:cubicBezTo>
                  <a:pt x="211653" y="132188"/>
                  <a:pt x="197378" y="148644"/>
                  <a:pt x="182880" y="164592"/>
                </a:cubicBezTo>
                <a:cubicBezTo>
                  <a:pt x="139283" y="212548"/>
                  <a:pt x="119439" y="239531"/>
                  <a:pt x="91440" y="301752"/>
                </a:cubicBezTo>
                <a:cubicBezTo>
                  <a:pt x="60691" y="370082"/>
                  <a:pt x="47005" y="431151"/>
                  <a:pt x="27432" y="502920"/>
                </a:cubicBezTo>
                <a:cubicBezTo>
                  <a:pt x="24384" y="533400"/>
                  <a:pt x="20396" y="563801"/>
                  <a:pt x="18288" y="594360"/>
                </a:cubicBezTo>
                <a:cubicBezTo>
                  <a:pt x="628" y="850433"/>
                  <a:pt x="19398" y="686061"/>
                  <a:pt x="0" y="841248"/>
                </a:cubicBezTo>
                <a:cubicBezTo>
                  <a:pt x="9630" y="1033853"/>
                  <a:pt x="-9704" y="975298"/>
                  <a:pt x="36576" y="1106424"/>
                </a:cubicBezTo>
                <a:cubicBezTo>
                  <a:pt x="45243" y="1130981"/>
                  <a:pt x="50609" y="1157245"/>
                  <a:pt x="64008" y="1179576"/>
                </a:cubicBezTo>
                <a:cubicBezTo>
                  <a:pt x="78466" y="1203673"/>
                  <a:pt x="99001" y="1223713"/>
                  <a:pt x="118872" y="1243584"/>
                </a:cubicBezTo>
                <a:cubicBezTo>
                  <a:pt x="168419" y="1293131"/>
                  <a:pt x="219484" y="1332465"/>
                  <a:pt x="283464" y="1362456"/>
                </a:cubicBezTo>
                <a:cubicBezTo>
                  <a:pt x="349065" y="1393206"/>
                  <a:pt x="413024" y="1433735"/>
                  <a:pt x="484632" y="1444752"/>
                </a:cubicBezTo>
                <a:cubicBezTo>
                  <a:pt x="642783" y="1469083"/>
                  <a:pt x="563532" y="1459965"/>
                  <a:pt x="722376" y="1472184"/>
                </a:cubicBezTo>
                <a:cubicBezTo>
                  <a:pt x="774192" y="1466088"/>
                  <a:pt x="826422" y="1462835"/>
                  <a:pt x="877824" y="1453896"/>
                </a:cubicBezTo>
                <a:cubicBezTo>
                  <a:pt x="906578" y="1448895"/>
                  <a:pt x="972928" y="1418362"/>
                  <a:pt x="996696" y="1408176"/>
                </a:cubicBezTo>
                <a:cubicBezTo>
                  <a:pt x="1014984" y="1389888"/>
                  <a:pt x="1034163" y="1372449"/>
                  <a:pt x="1051560" y="1353312"/>
                </a:cubicBezTo>
                <a:cubicBezTo>
                  <a:pt x="1091695" y="1309164"/>
                  <a:pt x="1086039" y="1291135"/>
                  <a:pt x="1152144" y="1271016"/>
                </a:cubicBezTo>
                <a:cubicBezTo>
                  <a:pt x="1199612" y="1256569"/>
                  <a:pt x="1249552" y="1252014"/>
                  <a:pt x="1298448" y="1243584"/>
                </a:cubicBezTo>
                <a:cubicBezTo>
                  <a:pt x="1476555" y="1212876"/>
                  <a:pt x="1356864" y="1240410"/>
                  <a:pt x="1490472" y="1207008"/>
                </a:cubicBezTo>
                <a:cubicBezTo>
                  <a:pt x="1514856" y="1188720"/>
                  <a:pt x="1542950" y="1174541"/>
                  <a:pt x="1563624" y="1152144"/>
                </a:cubicBezTo>
                <a:cubicBezTo>
                  <a:pt x="1604285" y="1108095"/>
                  <a:pt x="1606141" y="1061400"/>
                  <a:pt x="1618488" y="1005840"/>
                </a:cubicBezTo>
                <a:cubicBezTo>
                  <a:pt x="1603248" y="963168"/>
                  <a:pt x="1593032" y="918352"/>
                  <a:pt x="1572768" y="877824"/>
                </a:cubicBezTo>
                <a:cubicBezTo>
                  <a:pt x="1559137" y="850562"/>
                  <a:pt x="1537975" y="827611"/>
                  <a:pt x="1517904" y="804672"/>
                </a:cubicBezTo>
                <a:cubicBezTo>
                  <a:pt x="1448328" y="725156"/>
                  <a:pt x="1443603" y="734339"/>
                  <a:pt x="1362456" y="667512"/>
                </a:cubicBezTo>
                <a:cubicBezTo>
                  <a:pt x="1337445" y="646915"/>
                  <a:pt x="1313047" y="625551"/>
                  <a:pt x="1289304" y="603504"/>
                </a:cubicBezTo>
                <a:cubicBezTo>
                  <a:pt x="1142500" y="467186"/>
                  <a:pt x="1313712" y="626174"/>
                  <a:pt x="1197864" y="493776"/>
                </a:cubicBezTo>
                <a:cubicBezTo>
                  <a:pt x="1169479" y="461336"/>
                  <a:pt x="1106424" y="402336"/>
                  <a:pt x="1106424" y="402336"/>
                </a:cubicBezTo>
                <a:cubicBezTo>
                  <a:pt x="1100328" y="387096"/>
                  <a:pt x="1095014" y="371519"/>
                  <a:pt x="1088136" y="356616"/>
                </a:cubicBezTo>
                <a:cubicBezTo>
                  <a:pt x="1076712" y="331863"/>
                  <a:pt x="1058172" y="309912"/>
                  <a:pt x="1051560" y="283464"/>
                </a:cubicBezTo>
                <a:cubicBezTo>
                  <a:pt x="1048512" y="271272"/>
                  <a:pt x="1047520" y="258372"/>
                  <a:pt x="1042416" y="246888"/>
                </a:cubicBezTo>
                <a:cubicBezTo>
                  <a:pt x="1027866" y="214149"/>
                  <a:pt x="1007878" y="193049"/>
                  <a:pt x="987552" y="164592"/>
                </a:cubicBezTo>
                <a:cubicBezTo>
                  <a:pt x="981164" y="155649"/>
                  <a:pt x="975858" y="145952"/>
                  <a:pt x="969264" y="137160"/>
                </a:cubicBezTo>
                <a:cubicBezTo>
                  <a:pt x="957554" y="121547"/>
                  <a:pt x="944398" y="107053"/>
                  <a:pt x="932688" y="91440"/>
                </a:cubicBezTo>
                <a:cubicBezTo>
                  <a:pt x="926094" y="82648"/>
                  <a:pt x="921552" y="72352"/>
                  <a:pt x="914400" y="64008"/>
                </a:cubicBezTo>
                <a:cubicBezTo>
                  <a:pt x="897527" y="44322"/>
                  <a:pt x="874659" y="21278"/>
                  <a:pt x="850392" y="9144"/>
                </a:cubicBezTo>
                <a:cubicBezTo>
                  <a:pt x="841771" y="4833"/>
                  <a:pt x="832104" y="3048"/>
                  <a:pt x="822960" y="0"/>
                </a:cubicBezTo>
                <a:cubicBezTo>
                  <a:pt x="813816" y="3048"/>
                  <a:pt x="804937" y="7053"/>
                  <a:pt x="795528" y="9144"/>
                </a:cubicBezTo>
                <a:cubicBezTo>
                  <a:pt x="777429" y="13166"/>
                  <a:pt x="758905" y="14971"/>
                  <a:pt x="740664" y="18288"/>
                </a:cubicBezTo>
                <a:cubicBezTo>
                  <a:pt x="725373" y="21068"/>
                  <a:pt x="710184" y="24384"/>
                  <a:pt x="694944" y="27432"/>
                </a:cubicBezTo>
                <a:cubicBezTo>
                  <a:pt x="713232" y="33528"/>
                  <a:pt x="731106" y="41045"/>
                  <a:pt x="749808" y="45720"/>
                </a:cubicBezTo>
                <a:cubicBezTo>
                  <a:pt x="792996" y="56517"/>
                  <a:pt x="819912" y="59436"/>
                  <a:pt x="813816" y="54864"/>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 Model</a:t>
            </a:r>
          </a:p>
        </p:txBody>
      </p:sp>
    </p:spTree>
    <p:extLst>
      <p:ext uri="{BB962C8B-B14F-4D97-AF65-F5344CB8AC3E}">
        <p14:creationId xmlns:p14="http://schemas.microsoft.com/office/powerpoint/2010/main" val="19135926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ACD597-447B-36D1-BA6A-9C5586DA0BB1}"/>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573D0798-9958-3DF2-E941-0DA3F61D5FEB}"/>
              </a:ext>
            </a:extLst>
          </p:cNvPr>
          <p:cNvSpPr txBox="1"/>
          <p:nvPr/>
        </p:nvSpPr>
        <p:spPr>
          <a:xfrm>
            <a:off x="148336" y="199104"/>
            <a:ext cx="10292080" cy="830997"/>
          </a:xfrm>
          <a:prstGeom prst="rect">
            <a:avLst/>
          </a:prstGeom>
          <a:noFill/>
        </p:spPr>
        <p:txBody>
          <a:bodyPr wrap="square">
            <a:spAutoFit/>
          </a:bodyPr>
          <a:lstStyle/>
          <a:p>
            <a:r>
              <a:rPr lang="en-US" sz="2400" b="1" dirty="0">
                <a:solidFill>
                  <a:schemeClr val="accent6">
                    <a:lumMod val="60000"/>
                    <a:lumOff val="40000"/>
                  </a:schemeClr>
                </a:solidFill>
              </a:rPr>
              <a:t>Example</a:t>
            </a:r>
          </a:p>
          <a:p>
            <a:r>
              <a:rPr lang="en-US" sz="2400" dirty="0">
                <a:solidFill>
                  <a:schemeClr val="accent6">
                    <a:lumMod val="60000"/>
                    <a:lumOff val="40000"/>
                  </a:schemeClr>
                </a:solidFill>
              </a:rPr>
              <a:t>You train a model on </a:t>
            </a:r>
            <a:r>
              <a:rPr lang="en-US" sz="2400" b="1" dirty="0">
                <a:solidFill>
                  <a:schemeClr val="accent6">
                    <a:lumMod val="60000"/>
                    <a:lumOff val="40000"/>
                  </a:schemeClr>
                </a:solidFill>
              </a:rPr>
              <a:t>Medical records </a:t>
            </a:r>
            <a:r>
              <a:rPr lang="en-US" sz="2400" dirty="0">
                <a:solidFill>
                  <a:schemeClr val="accent6">
                    <a:lumMod val="60000"/>
                    <a:lumOff val="40000"/>
                  </a:schemeClr>
                </a:solidFill>
              </a:rPr>
              <a:t>→ Model becomes healthcare assistant </a:t>
            </a:r>
          </a:p>
        </p:txBody>
      </p:sp>
      <p:sp>
        <p:nvSpPr>
          <p:cNvPr id="3" name="TextBox 2">
            <a:extLst>
              <a:ext uri="{FF2B5EF4-FFF2-40B4-BE49-F238E27FC236}">
                <a16:creationId xmlns:a16="http://schemas.microsoft.com/office/drawing/2014/main" id="{880454C4-B1BE-6BB0-D8D0-3321F319DC73}"/>
              </a:ext>
            </a:extLst>
          </p:cNvPr>
          <p:cNvSpPr txBox="1"/>
          <p:nvPr/>
        </p:nvSpPr>
        <p:spPr>
          <a:xfrm>
            <a:off x="205740" y="1204990"/>
            <a:ext cx="5298948" cy="3170099"/>
          </a:xfrm>
          <a:prstGeom prst="rect">
            <a:avLst/>
          </a:prstGeom>
          <a:noFill/>
        </p:spPr>
        <p:txBody>
          <a:bodyPr wrap="square">
            <a:spAutoFit/>
          </a:bodyPr>
          <a:lstStyle/>
          <a:p>
            <a:r>
              <a:rPr lang="en-US" sz="2000" b="1" dirty="0">
                <a:solidFill>
                  <a:schemeClr val="accent6">
                    <a:lumMod val="60000"/>
                    <a:lumOff val="40000"/>
                  </a:schemeClr>
                </a:solidFill>
              </a:rPr>
              <a:t>Without Fine-Tuning (Generic Base Model)</a:t>
            </a:r>
          </a:p>
          <a:p>
            <a:pPr>
              <a:buNone/>
            </a:pPr>
            <a:endParaRPr lang="en-US" sz="2000" b="1" dirty="0">
              <a:solidFill>
                <a:schemeClr val="accent6">
                  <a:lumMod val="60000"/>
                  <a:lumOff val="40000"/>
                </a:schemeClr>
              </a:solidFill>
            </a:endParaRPr>
          </a:p>
          <a:p>
            <a:pPr>
              <a:buNone/>
            </a:pPr>
            <a:r>
              <a:rPr lang="en-US" sz="2000" dirty="0">
                <a:solidFill>
                  <a:schemeClr val="accent4">
                    <a:lumMod val="60000"/>
                    <a:lumOff val="40000"/>
                  </a:schemeClr>
                </a:solidFill>
              </a:rPr>
              <a:t>The patient was admitted for stomach pain. They got better and are going home with medicines.</a:t>
            </a:r>
          </a:p>
          <a:p>
            <a:pPr>
              <a:buNone/>
            </a:pPr>
            <a:endParaRPr lang="en-US" sz="2000" dirty="0">
              <a:solidFill>
                <a:schemeClr val="accent6">
                  <a:lumMod val="60000"/>
                  <a:lumOff val="40000"/>
                </a:schemeClr>
              </a:solidFill>
            </a:endParaRPr>
          </a:p>
          <a:p>
            <a:pPr>
              <a:buNone/>
            </a:pPr>
            <a:r>
              <a:rPr lang="en-US" sz="2000" dirty="0">
                <a:solidFill>
                  <a:schemeClr val="accent6">
                    <a:lumMod val="60000"/>
                    <a:lumOff val="40000"/>
                  </a:schemeClr>
                </a:solidFill>
              </a:rPr>
              <a:t>Problems:</a:t>
            </a:r>
          </a:p>
          <a:p>
            <a:pPr marL="285750" indent="-285750">
              <a:buFont typeface="Arial" panose="020B0604020202020204" pitchFamily="34" charset="0"/>
              <a:buChar char="•"/>
            </a:pPr>
            <a:r>
              <a:rPr lang="en-US" sz="2000" dirty="0">
                <a:solidFill>
                  <a:schemeClr val="accent6">
                    <a:lumMod val="60000"/>
                    <a:lumOff val="40000"/>
                  </a:schemeClr>
                </a:solidFill>
              </a:rPr>
              <a:t>No diagnosis clarity </a:t>
            </a:r>
          </a:p>
          <a:p>
            <a:pPr marL="285750" indent="-285750">
              <a:buFont typeface="Arial" panose="020B0604020202020204" pitchFamily="34" charset="0"/>
              <a:buChar char="•"/>
            </a:pPr>
            <a:r>
              <a:rPr lang="en-US" sz="2000" dirty="0">
                <a:solidFill>
                  <a:schemeClr val="accent6">
                    <a:lumMod val="60000"/>
                    <a:lumOff val="40000"/>
                  </a:schemeClr>
                </a:solidFill>
              </a:rPr>
              <a:t>No timeline </a:t>
            </a:r>
          </a:p>
          <a:p>
            <a:pPr marL="285750" indent="-285750">
              <a:buFont typeface="Arial" panose="020B0604020202020204" pitchFamily="34" charset="0"/>
              <a:buChar char="•"/>
            </a:pPr>
            <a:r>
              <a:rPr lang="en-US" sz="2000" dirty="0">
                <a:solidFill>
                  <a:schemeClr val="accent6">
                    <a:lumMod val="60000"/>
                    <a:lumOff val="40000"/>
                  </a:schemeClr>
                </a:solidFill>
              </a:rPr>
              <a:t>No instructions </a:t>
            </a:r>
          </a:p>
          <a:p>
            <a:pPr marL="285750" indent="-285750">
              <a:buFont typeface="Arial" panose="020B0604020202020204" pitchFamily="34" charset="0"/>
              <a:buChar char="•"/>
            </a:pPr>
            <a:r>
              <a:rPr lang="en-US" sz="2000" dirty="0">
                <a:solidFill>
                  <a:schemeClr val="accent6">
                    <a:lumMod val="60000"/>
                    <a:lumOff val="40000"/>
                  </a:schemeClr>
                </a:solidFill>
              </a:rPr>
              <a:t>Unsafe in real healthcare context</a:t>
            </a:r>
          </a:p>
        </p:txBody>
      </p:sp>
      <p:sp>
        <p:nvSpPr>
          <p:cNvPr id="5" name="TextBox 4">
            <a:extLst>
              <a:ext uri="{FF2B5EF4-FFF2-40B4-BE49-F238E27FC236}">
                <a16:creationId xmlns:a16="http://schemas.microsoft.com/office/drawing/2014/main" id="{1AF23F6A-2E55-0E51-8FA1-E76D2F091E8A}"/>
              </a:ext>
            </a:extLst>
          </p:cNvPr>
          <p:cNvSpPr txBox="1"/>
          <p:nvPr/>
        </p:nvSpPr>
        <p:spPr>
          <a:xfrm>
            <a:off x="5939028" y="1191596"/>
            <a:ext cx="6190488" cy="5632311"/>
          </a:xfrm>
          <a:prstGeom prst="rect">
            <a:avLst/>
          </a:prstGeom>
          <a:noFill/>
        </p:spPr>
        <p:txBody>
          <a:bodyPr wrap="square">
            <a:spAutoFit/>
          </a:bodyPr>
          <a:lstStyle/>
          <a:p>
            <a:pPr>
              <a:buNone/>
            </a:pPr>
            <a:r>
              <a:rPr lang="en-US" sz="2000" b="1" dirty="0">
                <a:solidFill>
                  <a:schemeClr val="accent6">
                    <a:lumMod val="60000"/>
                    <a:lumOff val="40000"/>
                  </a:schemeClr>
                </a:solidFill>
              </a:rPr>
              <a:t>With Fine-Tuning (Medical Documentation Tone)</a:t>
            </a:r>
          </a:p>
          <a:p>
            <a:pPr>
              <a:buNone/>
            </a:pPr>
            <a:endParaRPr lang="en-US" b="1" dirty="0">
              <a:solidFill>
                <a:schemeClr val="accent6">
                  <a:lumMod val="60000"/>
                  <a:lumOff val="40000"/>
                </a:schemeClr>
              </a:solidFill>
            </a:endParaRPr>
          </a:p>
          <a:p>
            <a:pPr>
              <a:buNone/>
            </a:pPr>
            <a:r>
              <a:rPr lang="en-US" b="1" dirty="0">
                <a:solidFill>
                  <a:schemeClr val="accent4">
                    <a:lumMod val="60000"/>
                    <a:lumOff val="40000"/>
                  </a:schemeClr>
                </a:solidFill>
              </a:rPr>
              <a:t>Discharge Summary</a:t>
            </a:r>
            <a:endParaRPr lang="en-US" dirty="0">
              <a:solidFill>
                <a:schemeClr val="accent4">
                  <a:lumMod val="60000"/>
                  <a:lumOff val="40000"/>
                </a:schemeClr>
              </a:solidFill>
            </a:endParaRPr>
          </a:p>
          <a:p>
            <a:pPr>
              <a:buNone/>
            </a:pPr>
            <a:r>
              <a:rPr lang="en-US" b="1" dirty="0">
                <a:solidFill>
                  <a:schemeClr val="accent4">
                    <a:lumMod val="60000"/>
                    <a:lumOff val="40000"/>
                  </a:schemeClr>
                </a:solidFill>
              </a:rPr>
              <a:t>Admission Date:</a:t>
            </a:r>
            <a:r>
              <a:rPr lang="en-US" dirty="0">
                <a:solidFill>
                  <a:schemeClr val="accent4">
                    <a:lumMod val="60000"/>
                    <a:lumOff val="40000"/>
                  </a:schemeClr>
                </a:solidFill>
              </a:rPr>
              <a:t> 12 March 2018</a:t>
            </a:r>
            <a:br>
              <a:rPr lang="en-US" dirty="0">
                <a:solidFill>
                  <a:schemeClr val="accent4">
                    <a:lumMod val="60000"/>
                    <a:lumOff val="40000"/>
                  </a:schemeClr>
                </a:solidFill>
              </a:rPr>
            </a:br>
            <a:r>
              <a:rPr lang="en-US" b="1" dirty="0">
                <a:solidFill>
                  <a:schemeClr val="accent4">
                    <a:lumMod val="60000"/>
                    <a:lumOff val="40000"/>
                  </a:schemeClr>
                </a:solidFill>
              </a:rPr>
              <a:t>Discharge Date:</a:t>
            </a:r>
            <a:r>
              <a:rPr lang="en-US" dirty="0">
                <a:solidFill>
                  <a:schemeClr val="accent4">
                    <a:lumMod val="60000"/>
                    <a:lumOff val="40000"/>
                  </a:schemeClr>
                </a:solidFill>
              </a:rPr>
              <a:t> 15 March 2018</a:t>
            </a:r>
          </a:p>
          <a:p>
            <a:pPr>
              <a:buNone/>
            </a:pPr>
            <a:endParaRPr lang="en-US" b="1" dirty="0">
              <a:solidFill>
                <a:schemeClr val="accent4">
                  <a:lumMod val="60000"/>
                  <a:lumOff val="40000"/>
                </a:schemeClr>
              </a:solidFill>
            </a:endParaRPr>
          </a:p>
          <a:p>
            <a:pPr>
              <a:buNone/>
            </a:pPr>
            <a:r>
              <a:rPr lang="en-US" b="1" dirty="0">
                <a:solidFill>
                  <a:schemeClr val="accent4">
                    <a:lumMod val="60000"/>
                    <a:lumOff val="40000"/>
                  </a:schemeClr>
                </a:solidFill>
              </a:rPr>
              <a:t>Diagnosis:</a:t>
            </a:r>
            <a:r>
              <a:rPr lang="en-US" dirty="0">
                <a:solidFill>
                  <a:schemeClr val="accent4">
                    <a:lumMod val="60000"/>
                    <a:lumOff val="40000"/>
                  </a:schemeClr>
                </a:solidFill>
              </a:rPr>
              <a:t> Acute gastritis</a:t>
            </a:r>
          </a:p>
          <a:p>
            <a:pPr>
              <a:buNone/>
            </a:pPr>
            <a:r>
              <a:rPr lang="en-US" b="1" dirty="0">
                <a:solidFill>
                  <a:schemeClr val="accent4">
                    <a:lumMod val="60000"/>
                    <a:lumOff val="40000"/>
                  </a:schemeClr>
                </a:solidFill>
              </a:rPr>
              <a:t>Hospital Course:</a:t>
            </a:r>
            <a:br>
              <a:rPr lang="en-US" dirty="0">
                <a:solidFill>
                  <a:schemeClr val="accent4">
                    <a:lumMod val="60000"/>
                    <a:lumOff val="40000"/>
                  </a:schemeClr>
                </a:solidFill>
              </a:rPr>
            </a:br>
            <a:r>
              <a:rPr lang="en-US" dirty="0">
                <a:solidFill>
                  <a:schemeClr val="accent4">
                    <a:lumMod val="60000"/>
                    <a:lumOff val="40000"/>
                  </a:schemeClr>
                </a:solidFill>
              </a:rPr>
              <a:t>The patient was admitted with complaints of epigastric pain and nausea. Laboratory investigations were within normal limits. The patient was managed conservatively with proton pump inhibitors and supportive care, resulting in symptomatic improvement.</a:t>
            </a:r>
          </a:p>
          <a:p>
            <a:pPr>
              <a:buNone/>
            </a:pPr>
            <a:endParaRPr lang="en-US" dirty="0">
              <a:solidFill>
                <a:schemeClr val="accent4">
                  <a:lumMod val="60000"/>
                  <a:lumOff val="40000"/>
                </a:schemeClr>
              </a:solidFill>
            </a:endParaRPr>
          </a:p>
          <a:p>
            <a:pPr>
              <a:buNone/>
            </a:pPr>
            <a:r>
              <a:rPr lang="en-US" b="1" dirty="0">
                <a:solidFill>
                  <a:schemeClr val="accent4">
                    <a:lumMod val="60000"/>
                    <a:lumOff val="40000"/>
                  </a:schemeClr>
                </a:solidFill>
              </a:rPr>
              <a:t>Condition at Discharge:</a:t>
            </a:r>
            <a:r>
              <a:rPr lang="en-US" dirty="0">
                <a:solidFill>
                  <a:schemeClr val="accent4">
                    <a:lumMod val="60000"/>
                    <a:lumOff val="40000"/>
                  </a:schemeClr>
                </a:solidFill>
              </a:rPr>
              <a:t> Stable</a:t>
            </a:r>
          </a:p>
          <a:p>
            <a:pPr>
              <a:buNone/>
            </a:pPr>
            <a:r>
              <a:rPr lang="en-US" b="1" dirty="0">
                <a:solidFill>
                  <a:schemeClr val="accent4">
                    <a:lumMod val="60000"/>
                    <a:lumOff val="40000"/>
                  </a:schemeClr>
                </a:solidFill>
              </a:rPr>
              <a:t>Discharge Medications:</a:t>
            </a:r>
            <a:endParaRPr lang="en-US" dirty="0">
              <a:solidFill>
                <a:schemeClr val="accent4">
                  <a:lumMod val="60000"/>
                  <a:lumOff val="40000"/>
                </a:schemeClr>
              </a:solidFill>
            </a:endParaRPr>
          </a:p>
          <a:p>
            <a:pPr marL="285750" indent="-285750">
              <a:buFont typeface="Arial" panose="020B0604020202020204" pitchFamily="34" charset="0"/>
              <a:buChar char="•"/>
            </a:pPr>
            <a:r>
              <a:rPr lang="en-US" dirty="0">
                <a:solidFill>
                  <a:schemeClr val="accent4">
                    <a:lumMod val="60000"/>
                    <a:lumOff val="40000"/>
                  </a:schemeClr>
                </a:solidFill>
              </a:rPr>
              <a:t>Pantoprazole 40 mg once daily before meals </a:t>
            </a:r>
          </a:p>
          <a:p>
            <a:pPr>
              <a:buNone/>
            </a:pPr>
            <a:r>
              <a:rPr lang="en-US" b="1" dirty="0">
                <a:solidFill>
                  <a:schemeClr val="accent4">
                    <a:lumMod val="60000"/>
                    <a:lumOff val="40000"/>
                  </a:schemeClr>
                </a:solidFill>
              </a:rPr>
              <a:t>Discharge Instructions:</a:t>
            </a:r>
            <a:endParaRPr lang="en-US" dirty="0">
              <a:solidFill>
                <a:schemeClr val="accent4">
                  <a:lumMod val="60000"/>
                  <a:lumOff val="40000"/>
                </a:schemeClr>
              </a:solidFill>
            </a:endParaRPr>
          </a:p>
          <a:p>
            <a:pPr marL="285750" indent="-285750">
              <a:buFont typeface="Arial" panose="020B0604020202020204" pitchFamily="34" charset="0"/>
              <a:buChar char="•"/>
            </a:pPr>
            <a:r>
              <a:rPr lang="en-US" dirty="0">
                <a:solidFill>
                  <a:schemeClr val="accent4">
                    <a:lumMod val="60000"/>
                    <a:lumOff val="40000"/>
                  </a:schemeClr>
                </a:solidFill>
              </a:rPr>
              <a:t>Avoid spicy and oily foods </a:t>
            </a:r>
          </a:p>
          <a:p>
            <a:pPr marL="285750" indent="-285750">
              <a:buFont typeface="Arial" panose="020B0604020202020204" pitchFamily="34" charset="0"/>
              <a:buChar char="•"/>
            </a:pPr>
            <a:r>
              <a:rPr lang="en-US" dirty="0">
                <a:solidFill>
                  <a:schemeClr val="accent4">
                    <a:lumMod val="60000"/>
                    <a:lumOff val="40000"/>
                  </a:schemeClr>
                </a:solidFill>
              </a:rPr>
              <a:t>Follow up in outpatient department after 1 week</a:t>
            </a:r>
          </a:p>
        </p:txBody>
      </p:sp>
    </p:spTree>
    <p:extLst>
      <p:ext uri="{BB962C8B-B14F-4D97-AF65-F5344CB8AC3E}">
        <p14:creationId xmlns:p14="http://schemas.microsoft.com/office/powerpoint/2010/main" val="40704054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5A1FA-6B02-3C74-9ACC-FD1D4F323B99}"/>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6AA22694-26F9-9577-AB5C-2BD74DE9F149}"/>
              </a:ext>
            </a:extLst>
          </p:cNvPr>
          <p:cNvSpPr txBox="1"/>
          <p:nvPr/>
        </p:nvSpPr>
        <p:spPr>
          <a:xfrm>
            <a:off x="148336" y="199104"/>
            <a:ext cx="10292080" cy="830997"/>
          </a:xfrm>
          <a:prstGeom prst="rect">
            <a:avLst/>
          </a:prstGeom>
          <a:noFill/>
        </p:spPr>
        <p:txBody>
          <a:bodyPr wrap="square">
            <a:spAutoFit/>
          </a:bodyPr>
          <a:lstStyle/>
          <a:p>
            <a:r>
              <a:rPr lang="en-US" sz="2400" b="1" dirty="0">
                <a:solidFill>
                  <a:schemeClr val="accent6">
                    <a:lumMod val="60000"/>
                    <a:lumOff val="40000"/>
                  </a:schemeClr>
                </a:solidFill>
              </a:rPr>
              <a:t>Example</a:t>
            </a:r>
          </a:p>
          <a:p>
            <a:r>
              <a:rPr lang="en-US" sz="2400" dirty="0">
                <a:solidFill>
                  <a:schemeClr val="accent6">
                    <a:lumMod val="60000"/>
                    <a:lumOff val="40000"/>
                  </a:schemeClr>
                </a:solidFill>
              </a:rPr>
              <a:t>You train a model on your </a:t>
            </a:r>
            <a:r>
              <a:rPr lang="en-US" sz="2400" b="1" dirty="0">
                <a:solidFill>
                  <a:schemeClr val="accent6">
                    <a:lumMod val="60000"/>
                    <a:lumOff val="40000"/>
                  </a:schemeClr>
                </a:solidFill>
              </a:rPr>
              <a:t>company tone </a:t>
            </a:r>
            <a:r>
              <a:rPr lang="en-US" sz="2400" dirty="0">
                <a:solidFill>
                  <a:schemeClr val="accent6">
                    <a:lumMod val="60000"/>
                    <a:lumOff val="40000"/>
                  </a:schemeClr>
                </a:solidFill>
              </a:rPr>
              <a:t>→ Model replies in your brand voice</a:t>
            </a:r>
          </a:p>
        </p:txBody>
      </p:sp>
      <p:sp>
        <p:nvSpPr>
          <p:cNvPr id="3" name="TextBox 2">
            <a:extLst>
              <a:ext uri="{FF2B5EF4-FFF2-40B4-BE49-F238E27FC236}">
                <a16:creationId xmlns:a16="http://schemas.microsoft.com/office/drawing/2014/main" id="{CFC400AE-8D33-A854-B472-44DA85B94120}"/>
              </a:ext>
            </a:extLst>
          </p:cNvPr>
          <p:cNvSpPr txBox="1"/>
          <p:nvPr/>
        </p:nvSpPr>
        <p:spPr>
          <a:xfrm>
            <a:off x="123444" y="1862251"/>
            <a:ext cx="3753612" cy="1015663"/>
          </a:xfrm>
          <a:prstGeom prst="rect">
            <a:avLst/>
          </a:prstGeom>
          <a:noFill/>
        </p:spPr>
        <p:txBody>
          <a:bodyPr wrap="square">
            <a:spAutoFit/>
          </a:bodyPr>
          <a:lstStyle/>
          <a:p>
            <a:pPr>
              <a:buNone/>
            </a:pPr>
            <a:r>
              <a:rPr lang="en-US" sz="2000" b="1" dirty="0">
                <a:solidFill>
                  <a:schemeClr val="accent6">
                    <a:lumMod val="60000"/>
                    <a:lumOff val="40000"/>
                  </a:schemeClr>
                </a:solidFill>
              </a:rPr>
              <a:t>Generic Base Model</a:t>
            </a:r>
          </a:p>
          <a:p>
            <a:pPr>
              <a:buNone/>
            </a:pPr>
            <a:endParaRPr lang="en-US" sz="2000" b="1" dirty="0">
              <a:solidFill>
                <a:schemeClr val="accent6">
                  <a:lumMod val="60000"/>
                  <a:lumOff val="40000"/>
                </a:schemeClr>
              </a:solidFill>
            </a:endParaRPr>
          </a:p>
          <a:p>
            <a:pPr>
              <a:buNone/>
            </a:pPr>
            <a:r>
              <a:rPr lang="en-US" sz="2000" dirty="0">
                <a:solidFill>
                  <a:schemeClr val="accent4">
                    <a:lumMod val="60000"/>
                    <a:lumOff val="40000"/>
                  </a:schemeClr>
                </a:solidFill>
              </a:rPr>
              <a:t>Your order has been shipped.</a:t>
            </a:r>
          </a:p>
        </p:txBody>
      </p:sp>
      <p:sp>
        <p:nvSpPr>
          <p:cNvPr id="5" name="TextBox 4">
            <a:extLst>
              <a:ext uri="{FF2B5EF4-FFF2-40B4-BE49-F238E27FC236}">
                <a16:creationId xmlns:a16="http://schemas.microsoft.com/office/drawing/2014/main" id="{69DE0A89-0A07-032A-B120-EFE464763AFF}"/>
              </a:ext>
            </a:extLst>
          </p:cNvPr>
          <p:cNvSpPr txBox="1"/>
          <p:nvPr/>
        </p:nvSpPr>
        <p:spPr>
          <a:xfrm>
            <a:off x="4585716" y="1791546"/>
            <a:ext cx="6190488" cy="4370427"/>
          </a:xfrm>
          <a:prstGeom prst="rect">
            <a:avLst/>
          </a:prstGeom>
          <a:noFill/>
        </p:spPr>
        <p:txBody>
          <a:bodyPr wrap="square">
            <a:spAutoFit/>
          </a:bodyPr>
          <a:lstStyle/>
          <a:p>
            <a:pPr>
              <a:buNone/>
            </a:pPr>
            <a:r>
              <a:rPr lang="en-US" sz="2000" b="1" dirty="0">
                <a:solidFill>
                  <a:schemeClr val="accent6">
                    <a:lumMod val="60000"/>
                    <a:lumOff val="40000"/>
                  </a:schemeClr>
                </a:solidFill>
              </a:rPr>
              <a:t>Fine-Tuned (Luxury Tone)</a:t>
            </a:r>
          </a:p>
          <a:p>
            <a:pPr>
              <a:buNone/>
            </a:pPr>
            <a:endParaRPr lang="en-US" sz="2000" b="1" dirty="0">
              <a:solidFill>
                <a:schemeClr val="accent6">
                  <a:lumMod val="60000"/>
                  <a:lumOff val="40000"/>
                </a:schemeClr>
              </a:solidFill>
            </a:endParaRPr>
          </a:p>
          <a:p>
            <a:pPr>
              <a:buNone/>
            </a:pPr>
            <a:r>
              <a:rPr lang="en-US" sz="2000" dirty="0">
                <a:solidFill>
                  <a:schemeClr val="accent4">
                    <a:lumMod val="60000"/>
                    <a:lumOff val="40000"/>
                  </a:schemeClr>
                </a:solidFill>
              </a:rPr>
              <a:t>Your order has been carefully prepared and is now on its way to you. We hope it brings you an exceptional experience.</a:t>
            </a:r>
          </a:p>
          <a:p>
            <a:pPr>
              <a:buNone/>
            </a:pPr>
            <a:endParaRPr lang="en-US" sz="2000" dirty="0">
              <a:solidFill>
                <a:schemeClr val="accent4">
                  <a:lumMod val="60000"/>
                  <a:lumOff val="40000"/>
                </a:schemeClr>
              </a:solidFill>
            </a:endParaRPr>
          </a:p>
          <a:p>
            <a:pPr>
              <a:buNone/>
            </a:pPr>
            <a:r>
              <a:rPr lang="en-US" sz="2000" dirty="0">
                <a:solidFill>
                  <a:schemeClr val="accent4">
                    <a:lumMod val="60000"/>
                    <a:lumOff val="40000"/>
                  </a:schemeClr>
                </a:solidFill>
              </a:rPr>
              <a:t>Please leave a review on www.LoxfordAcademy.com</a:t>
            </a:r>
          </a:p>
          <a:p>
            <a:pPr>
              <a:buNone/>
            </a:pPr>
            <a:endParaRPr lang="en-US" sz="2000" dirty="0">
              <a:solidFill>
                <a:schemeClr val="accent4">
                  <a:lumMod val="60000"/>
                  <a:lumOff val="40000"/>
                </a:schemeClr>
              </a:solidFill>
            </a:endParaRPr>
          </a:p>
          <a:p>
            <a:pPr>
              <a:buNone/>
            </a:pPr>
            <a:r>
              <a:rPr lang="en-US" sz="2000" dirty="0">
                <a:solidFill>
                  <a:schemeClr val="accent4">
                    <a:lumMod val="60000"/>
                    <a:lumOff val="40000"/>
                  </a:schemeClr>
                </a:solidFill>
              </a:rPr>
              <a:t>Thank you</a:t>
            </a:r>
          </a:p>
          <a:p>
            <a:pPr>
              <a:buNone/>
            </a:pPr>
            <a:endParaRPr lang="en-US" sz="2000" dirty="0">
              <a:solidFill>
                <a:schemeClr val="accent6">
                  <a:lumMod val="60000"/>
                  <a:lumOff val="40000"/>
                </a:schemeClr>
              </a:solidFill>
            </a:endParaRPr>
          </a:p>
          <a:p>
            <a:pPr>
              <a:buNone/>
            </a:pPr>
            <a:r>
              <a:rPr lang="en-US" sz="2000" b="1" u="sng" dirty="0">
                <a:solidFill>
                  <a:schemeClr val="accent6">
                    <a:lumMod val="60000"/>
                    <a:lumOff val="40000"/>
                  </a:schemeClr>
                </a:solidFill>
              </a:rPr>
              <a:t>What changed?</a:t>
            </a:r>
            <a:endParaRPr lang="en-US" sz="2000" u="sng" dirty="0">
              <a:solidFill>
                <a:schemeClr val="accent6">
                  <a:lumMod val="60000"/>
                  <a:lumOff val="40000"/>
                </a:schemeClr>
              </a:solidFill>
            </a:endParaRPr>
          </a:p>
          <a:p>
            <a:pPr marL="285750" indent="-285750">
              <a:buFont typeface="Arial" panose="020B0604020202020204" pitchFamily="34" charset="0"/>
              <a:buChar char="•"/>
            </a:pPr>
            <a:r>
              <a:rPr lang="en-US" sz="2000" dirty="0">
                <a:solidFill>
                  <a:schemeClr val="accent6">
                    <a:lumMod val="60000"/>
                    <a:lumOff val="40000"/>
                  </a:schemeClr>
                </a:solidFill>
              </a:rPr>
              <a:t>Elegant wording </a:t>
            </a:r>
          </a:p>
          <a:p>
            <a:pPr marL="285750" indent="-285750">
              <a:buFont typeface="Arial" panose="020B0604020202020204" pitchFamily="34" charset="0"/>
              <a:buChar char="•"/>
            </a:pPr>
            <a:r>
              <a:rPr lang="en-US" sz="2000" dirty="0">
                <a:solidFill>
                  <a:schemeClr val="accent6">
                    <a:lumMod val="60000"/>
                    <a:lumOff val="40000"/>
                  </a:schemeClr>
                </a:solidFill>
              </a:rPr>
              <a:t>Premium feel </a:t>
            </a:r>
          </a:p>
          <a:p>
            <a:pPr marL="285750" indent="-285750">
              <a:buFont typeface="Arial" panose="020B0604020202020204" pitchFamily="34" charset="0"/>
              <a:buChar char="•"/>
            </a:pPr>
            <a:r>
              <a:rPr lang="en-US" sz="2000" dirty="0">
                <a:solidFill>
                  <a:schemeClr val="accent6">
                    <a:lumMod val="60000"/>
                    <a:lumOff val="40000"/>
                  </a:schemeClr>
                </a:solidFill>
              </a:rPr>
              <a:t>Experience-focused language</a:t>
            </a:r>
          </a:p>
        </p:txBody>
      </p:sp>
      <p:sp>
        <p:nvSpPr>
          <p:cNvPr id="6" name="Oval 5">
            <a:extLst>
              <a:ext uri="{FF2B5EF4-FFF2-40B4-BE49-F238E27FC236}">
                <a16:creationId xmlns:a16="http://schemas.microsoft.com/office/drawing/2014/main" id="{ACDE8943-80F1-250E-8B3E-12D8D6D1693F}"/>
              </a:ext>
            </a:extLst>
          </p:cNvPr>
          <p:cNvSpPr/>
          <p:nvPr/>
        </p:nvSpPr>
        <p:spPr>
          <a:xfrm>
            <a:off x="6318504" y="1081100"/>
            <a:ext cx="3003804" cy="56375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sp>
        <p:nvSpPr>
          <p:cNvPr id="7" name="Freeform: Shape 6">
            <a:extLst>
              <a:ext uri="{FF2B5EF4-FFF2-40B4-BE49-F238E27FC236}">
                <a16:creationId xmlns:a16="http://schemas.microsoft.com/office/drawing/2014/main" id="{290E12A3-FFEA-C3DE-1A5B-C1E343C54A09}"/>
              </a:ext>
            </a:extLst>
          </p:cNvPr>
          <p:cNvSpPr/>
          <p:nvPr/>
        </p:nvSpPr>
        <p:spPr>
          <a:xfrm>
            <a:off x="2183242" y="940707"/>
            <a:ext cx="1251734" cy="830997"/>
          </a:xfrm>
          <a:custGeom>
            <a:avLst/>
            <a:gdLst>
              <a:gd name="csX0" fmla="*/ 813816 w 1618488"/>
              <a:gd name="csY0" fmla="*/ 54864 h 1472184"/>
              <a:gd name="csX1" fmla="*/ 713232 w 1618488"/>
              <a:gd name="csY1" fmla="*/ 18288 h 1472184"/>
              <a:gd name="csX2" fmla="*/ 603504 w 1618488"/>
              <a:gd name="csY2" fmla="*/ 9144 h 1472184"/>
              <a:gd name="csX3" fmla="*/ 393192 w 1618488"/>
              <a:gd name="csY3" fmla="*/ 27432 h 1472184"/>
              <a:gd name="csX4" fmla="*/ 310896 w 1618488"/>
              <a:gd name="csY4" fmla="*/ 64008 h 1472184"/>
              <a:gd name="csX5" fmla="*/ 228600 w 1618488"/>
              <a:gd name="csY5" fmla="*/ 118872 h 1472184"/>
              <a:gd name="csX6" fmla="*/ 182880 w 1618488"/>
              <a:gd name="csY6" fmla="*/ 164592 h 1472184"/>
              <a:gd name="csX7" fmla="*/ 91440 w 1618488"/>
              <a:gd name="csY7" fmla="*/ 301752 h 1472184"/>
              <a:gd name="csX8" fmla="*/ 27432 w 1618488"/>
              <a:gd name="csY8" fmla="*/ 502920 h 1472184"/>
              <a:gd name="csX9" fmla="*/ 18288 w 1618488"/>
              <a:gd name="csY9" fmla="*/ 594360 h 1472184"/>
              <a:gd name="csX10" fmla="*/ 0 w 1618488"/>
              <a:gd name="csY10" fmla="*/ 841248 h 1472184"/>
              <a:gd name="csX11" fmla="*/ 36576 w 1618488"/>
              <a:gd name="csY11" fmla="*/ 1106424 h 1472184"/>
              <a:gd name="csX12" fmla="*/ 64008 w 1618488"/>
              <a:gd name="csY12" fmla="*/ 1179576 h 1472184"/>
              <a:gd name="csX13" fmla="*/ 118872 w 1618488"/>
              <a:gd name="csY13" fmla="*/ 1243584 h 1472184"/>
              <a:gd name="csX14" fmla="*/ 283464 w 1618488"/>
              <a:gd name="csY14" fmla="*/ 1362456 h 1472184"/>
              <a:gd name="csX15" fmla="*/ 484632 w 1618488"/>
              <a:gd name="csY15" fmla="*/ 1444752 h 1472184"/>
              <a:gd name="csX16" fmla="*/ 722376 w 1618488"/>
              <a:gd name="csY16" fmla="*/ 1472184 h 1472184"/>
              <a:gd name="csX17" fmla="*/ 877824 w 1618488"/>
              <a:gd name="csY17" fmla="*/ 1453896 h 1472184"/>
              <a:gd name="csX18" fmla="*/ 996696 w 1618488"/>
              <a:gd name="csY18" fmla="*/ 1408176 h 1472184"/>
              <a:gd name="csX19" fmla="*/ 1051560 w 1618488"/>
              <a:gd name="csY19" fmla="*/ 1353312 h 1472184"/>
              <a:gd name="csX20" fmla="*/ 1152144 w 1618488"/>
              <a:gd name="csY20" fmla="*/ 1271016 h 1472184"/>
              <a:gd name="csX21" fmla="*/ 1298448 w 1618488"/>
              <a:gd name="csY21" fmla="*/ 1243584 h 1472184"/>
              <a:gd name="csX22" fmla="*/ 1490472 w 1618488"/>
              <a:gd name="csY22" fmla="*/ 1207008 h 1472184"/>
              <a:gd name="csX23" fmla="*/ 1563624 w 1618488"/>
              <a:gd name="csY23" fmla="*/ 1152144 h 1472184"/>
              <a:gd name="csX24" fmla="*/ 1618488 w 1618488"/>
              <a:gd name="csY24" fmla="*/ 1005840 h 1472184"/>
              <a:gd name="csX25" fmla="*/ 1572768 w 1618488"/>
              <a:gd name="csY25" fmla="*/ 877824 h 1472184"/>
              <a:gd name="csX26" fmla="*/ 1517904 w 1618488"/>
              <a:gd name="csY26" fmla="*/ 804672 h 1472184"/>
              <a:gd name="csX27" fmla="*/ 1362456 w 1618488"/>
              <a:gd name="csY27" fmla="*/ 667512 h 1472184"/>
              <a:gd name="csX28" fmla="*/ 1289304 w 1618488"/>
              <a:gd name="csY28" fmla="*/ 603504 h 1472184"/>
              <a:gd name="csX29" fmla="*/ 1197864 w 1618488"/>
              <a:gd name="csY29" fmla="*/ 493776 h 1472184"/>
              <a:gd name="csX30" fmla="*/ 1106424 w 1618488"/>
              <a:gd name="csY30" fmla="*/ 402336 h 1472184"/>
              <a:gd name="csX31" fmla="*/ 1088136 w 1618488"/>
              <a:gd name="csY31" fmla="*/ 356616 h 1472184"/>
              <a:gd name="csX32" fmla="*/ 1051560 w 1618488"/>
              <a:gd name="csY32" fmla="*/ 283464 h 1472184"/>
              <a:gd name="csX33" fmla="*/ 1042416 w 1618488"/>
              <a:gd name="csY33" fmla="*/ 246888 h 1472184"/>
              <a:gd name="csX34" fmla="*/ 987552 w 1618488"/>
              <a:gd name="csY34" fmla="*/ 164592 h 1472184"/>
              <a:gd name="csX35" fmla="*/ 969264 w 1618488"/>
              <a:gd name="csY35" fmla="*/ 137160 h 1472184"/>
              <a:gd name="csX36" fmla="*/ 932688 w 1618488"/>
              <a:gd name="csY36" fmla="*/ 91440 h 1472184"/>
              <a:gd name="csX37" fmla="*/ 914400 w 1618488"/>
              <a:gd name="csY37" fmla="*/ 64008 h 1472184"/>
              <a:gd name="csX38" fmla="*/ 850392 w 1618488"/>
              <a:gd name="csY38" fmla="*/ 9144 h 1472184"/>
              <a:gd name="csX39" fmla="*/ 822960 w 1618488"/>
              <a:gd name="csY39" fmla="*/ 0 h 1472184"/>
              <a:gd name="csX40" fmla="*/ 795528 w 1618488"/>
              <a:gd name="csY40" fmla="*/ 9144 h 1472184"/>
              <a:gd name="csX41" fmla="*/ 740664 w 1618488"/>
              <a:gd name="csY41" fmla="*/ 18288 h 1472184"/>
              <a:gd name="csX42" fmla="*/ 694944 w 1618488"/>
              <a:gd name="csY42" fmla="*/ 27432 h 1472184"/>
              <a:gd name="csX43" fmla="*/ 749808 w 1618488"/>
              <a:gd name="csY43" fmla="*/ 45720 h 1472184"/>
              <a:gd name="csX44" fmla="*/ 813816 w 1618488"/>
              <a:gd name="csY44" fmla="*/ 54864 h 1472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8488" h="1472184">
                <a:moveTo>
                  <a:pt x="813816" y="54864"/>
                </a:moveTo>
                <a:cubicBezTo>
                  <a:pt x="807720" y="50292"/>
                  <a:pt x="733356" y="21642"/>
                  <a:pt x="713232" y="18288"/>
                </a:cubicBezTo>
                <a:cubicBezTo>
                  <a:pt x="677029" y="12254"/>
                  <a:pt x="640080" y="12192"/>
                  <a:pt x="603504" y="9144"/>
                </a:cubicBezTo>
                <a:cubicBezTo>
                  <a:pt x="533400" y="15240"/>
                  <a:pt x="462355" y="14464"/>
                  <a:pt x="393192" y="27432"/>
                </a:cubicBezTo>
                <a:cubicBezTo>
                  <a:pt x="363687" y="32964"/>
                  <a:pt x="337138" y="49429"/>
                  <a:pt x="310896" y="64008"/>
                </a:cubicBezTo>
                <a:cubicBezTo>
                  <a:pt x="282076" y="80019"/>
                  <a:pt x="254524" y="98503"/>
                  <a:pt x="228600" y="118872"/>
                </a:cubicBezTo>
                <a:cubicBezTo>
                  <a:pt x="211653" y="132188"/>
                  <a:pt x="197378" y="148644"/>
                  <a:pt x="182880" y="164592"/>
                </a:cubicBezTo>
                <a:cubicBezTo>
                  <a:pt x="139283" y="212548"/>
                  <a:pt x="119439" y="239531"/>
                  <a:pt x="91440" y="301752"/>
                </a:cubicBezTo>
                <a:cubicBezTo>
                  <a:pt x="60691" y="370082"/>
                  <a:pt x="47005" y="431151"/>
                  <a:pt x="27432" y="502920"/>
                </a:cubicBezTo>
                <a:cubicBezTo>
                  <a:pt x="24384" y="533400"/>
                  <a:pt x="20396" y="563801"/>
                  <a:pt x="18288" y="594360"/>
                </a:cubicBezTo>
                <a:cubicBezTo>
                  <a:pt x="628" y="850433"/>
                  <a:pt x="19398" y="686061"/>
                  <a:pt x="0" y="841248"/>
                </a:cubicBezTo>
                <a:cubicBezTo>
                  <a:pt x="9630" y="1033853"/>
                  <a:pt x="-9704" y="975298"/>
                  <a:pt x="36576" y="1106424"/>
                </a:cubicBezTo>
                <a:cubicBezTo>
                  <a:pt x="45243" y="1130981"/>
                  <a:pt x="50609" y="1157245"/>
                  <a:pt x="64008" y="1179576"/>
                </a:cubicBezTo>
                <a:cubicBezTo>
                  <a:pt x="78466" y="1203673"/>
                  <a:pt x="99001" y="1223713"/>
                  <a:pt x="118872" y="1243584"/>
                </a:cubicBezTo>
                <a:cubicBezTo>
                  <a:pt x="168419" y="1293131"/>
                  <a:pt x="219484" y="1332465"/>
                  <a:pt x="283464" y="1362456"/>
                </a:cubicBezTo>
                <a:cubicBezTo>
                  <a:pt x="349065" y="1393206"/>
                  <a:pt x="413024" y="1433735"/>
                  <a:pt x="484632" y="1444752"/>
                </a:cubicBezTo>
                <a:cubicBezTo>
                  <a:pt x="642783" y="1469083"/>
                  <a:pt x="563532" y="1459965"/>
                  <a:pt x="722376" y="1472184"/>
                </a:cubicBezTo>
                <a:cubicBezTo>
                  <a:pt x="774192" y="1466088"/>
                  <a:pt x="826422" y="1462835"/>
                  <a:pt x="877824" y="1453896"/>
                </a:cubicBezTo>
                <a:cubicBezTo>
                  <a:pt x="906578" y="1448895"/>
                  <a:pt x="972928" y="1418362"/>
                  <a:pt x="996696" y="1408176"/>
                </a:cubicBezTo>
                <a:cubicBezTo>
                  <a:pt x="1014984" y="1389888"/>
                  <a:pt x="1034163" y="1372449"/>
                  <a:pt x="1051560" y="1353312"/>
                </a:cubicBezTo>
                <a:cubicBezTo>
                  <a:pt x="1091695" y="1309164"/>
                  <a:pt x="1086039" y="1291135"/>
                  <a:pt x="1152144" y="1271016"/>
                </a:cubicBezTo>
                <a:cubicBezTo>
                  <a:pt x="1199612" y="1256569"/>
                  <a:pt x="1249552" y="1252014"/>
                  <a:pt x="1298448" y="1243584"/>
                </a:cubicBezTo>
                <a:cubicBezTo>
                  <a:pt x="1476555" y="1212876"/>
                  <a:pt x="1356864" y="1240410"/>
                  <a:pt x="1490472" y="1207008"/>
                </a:cubicBezTo>
                <a:cubicBezTo>
                  <a:pt x="1514856" y="1188720"/>
                  <a:pt x="1542950" y="1174541"/>
                  <a:pt x="1563624" y="1152144"/>
                </a:cubicBezTo>
                <a:cubicBezTo>
                  <a:pt x="1604285" y="1108095"/>
                  <a:pt x="1606141" y="1061400"/>
                  <a:pt x="1618488" y="1005840"/>
                </a:cubicBezTo>
                <a:cubicBezTo>
                  <a:pt x="1603248" y="963168"/>
                  <a:pt x="1593032" y="918352"/>
                  <a:pt x="1572768" y="877824"/>
                </a:cubicBezTo>
                <a:cubicBezTo>
                  <a:pt x="1559137" y="850562"/>
                  <a:pt x="1537975" y="827611"/>
                  <a:pt x="1517904" y="804672"/>
                </a:cubicBezTo>
                <a:cubicBezTo>
                  <a:pt x="1448328" y="725156"/>
                  <a:pt x="1443603" y="734339"/>
                  <a:pt x="1362456" y="667512"/>
                </a:cubicBezTo>
                <a:cubicBezTo>
                  <a:pt x="1337445" y="646915"/>
                  <a:pt x="1313047" y="625551"/>
                  <a:pt x="1289304" y="603504"/>
                </a:cubicBezTo>
                <a:cubicBezTo>
                  <a:pt x="1142500" y="467186"/>
                  <a:pt x="1313712" y="626174"/>
                  <a:pt x="1197864" y="493776"/>
                </a:cubicBezTo>
                <a:cubicBezTo>
                  <a:pt x="1169479" y="461336"/>
                  <a:pt x="1106424" y="402336"/>
                  <a:pt x="1106424" y="402336"/>
                </a:cubicBezTo>
                <a:cubicBezTo>
                  <a:pt x="1100328" y="387096"/>
                  <a:pt x="1095014" y="371519"/>
                  <a:pt x="1088136" y="356616"/>
                </a:cubicBezTo>
                <a:cubicBezTo>
                  <a:pt x="1076712" y="331863"/>
                  <a:pt x="1058172" y="309912"/>
                  <a:pt x="1051560" y="283464"/>
                </a:cubicBezTo>
                <a:cubicBezTo>
                  <a:pt x="1048512" y="271272"/>
                  <a:pt x="1047520" y="258372"/>
                  <a:pt x="1042416" y="246888"/>
                </a:cubicBezTo>
                <a:cubicBezTo>
                  <a:pt x="1027866" y="214149"/>
                  <a:pt x="1007878" y="193049"/>
                  <a:pt x="987552" y="164592"/>
                </a:cubicBezTo>
                <a:cubicBezTo>
                  <a:pt x="981164" y="155649"/>
                  <a:pt x="975858" y="145952"/>
                  <a:pt x="969264" y="137160"/>
                </a:cubicBezTo>
                <a:cubicBezTo>
                  <a:pt x="957554" y="121547"/>
                  <a:pt x="944398" y="107053"/>
                  <a:pt x="932688" y="91440"/>
                </a:cubicBezTo>
                <a:cubicBezTo>
                  <a:pt x="926094" y="82648"/>
                  <a:pt x="921552" y="72352"/>
                  <a:pt x="914400" y="64008"/>
                </a:cubicBezTo>
                <a:cubicBezTo>
                  <a:pt x="897527" y="44322"/>
                  <a:pt x="874659" y="21278"/>
                  <a:pt x="850392" y="9144"/>
                </a:cubicBezTo>
                <a:cubicBezTo>
                  <a:pt x="841771" y="4833"/>
                  <a:pt x="832104" y="3048"/>
                  <a:pt x="822960" y="0"/>
                </a:cubicBezTo>
                <a:cubicBezTo>
                  <a:pt x="813816" y="3048"/>
                  <a:pt x="804937" y="7053"/>
                  <a:pt x="795528" y="9144"/>
                </a:cubicBezTo>
                <a:cubicBezTo>
                  <a:pt x="777429" y="13166"/>
                  <a:pt x="758905" y="14971"/>
                  <a:pt x="740664" y="18288"/>
                </a:cubicBezTo>
                <a:cubicBezTo>
                  <a:pt x="725373" y="21068"/>
                  <a:pt x="710184" y="24384"/>
                  <a:pt x="694944" y="27432"/>
                </a:cubicBezTo>
                <a:cubicBezTo>
                  <a:pt x="713232" y="33528"/>
                  <a:pt x="731106" y="41045"/>
                  <a:pt x="749808" y="45720"/>
                </a:cubicBezTo>
                <a:cubicBezTo>
                  <a:pt x="792996" y="56517"/>
                  <a:pt x="819912" y="59436"/>
                  <a:pt x="813816" y="54864"/>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 Model</a:t>
            </a:r>
          </a:p>
        </p:txBody>
      </p:sp>
      <p:grpSp>
        <p:nvGrpSpPr>
          <p:cNvPr id="8" name="Group 7">
            <a:extLst>
              <a:ext uri="{FF2B5EF4-FFF2-40B4-BE49-F238E27FC236}">
                <a16:creationId xmlns:a16="http://schemas.microsoft.com/office/drawing/2014/main" id="{76404261-5549-CAC1-FCA0-56F07066C1D1}"/>
              </a:ext>
            </a:extLst>
          </p:cNvPr>
          <p:cNvGrpSpPr/>
          <p:nvPr/>
        </p:nvGrpSpPr>
        <p:grpSpPr>
          <a:xfrm>
            <a:off x="3809880" y="1114738"/>
            <a:ext cx="2133720" cy="266760"/>
            <a:chOff x="2910024" y="4399416"/>
            <a:chExt cx="792720" cy="266760"/>
          </a:xfrm>
        </p:grpSpPr>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F421EE02-1A4C-5DE7-4500-DFD1677FCB95}"/>
                    </a:ext>
                  </a:extLst>
                </p14:cNvPr>
                <p14:cNvContentPartPr/>
                <p14:nvPr/>
              </p14:nvContentPartPr>
              <p14:xfrm>
                <a:off x="2910024" y="4525776"/>
                <a:ext cx="739440" cy="64800"/>
              </p14:xfrm>
            </p:contentPart>
          </mc:Choice>
          <mc:Fallback xmlns="">
            <p:pic>
              <p:nvPicPr>
                <p:cNvPr id="10" name="Ink 9">
                  <a:extLst>
                    <a:ext uri="{FF2B5EF4-FFF2-40B4-BE49-F238E27FC236}">
                      <a16:creationId xmlns:a16="http://schemas.microsoft.com/office/drawing/2014/main" id="{F421EE02-1A4C-5DE7-4500-DFD1677FCB95}"/>
                    </a:ext>
                  </a:extLst>
                </p:cNvPr>
                <p:cNvPicPr/>
                <p:nvPr/>
              </p:nvPicPr>
              <p:blipFill>
                <a:blip r:embed="rId3"/>
                <a:stretch>
                  <a:fillRect/>
                </a:stretch>
              </p:blipFill>
              <p:spPr>
                <a:xfrm>
                  <a:off x="2903336" y="4508136"/>
                  <a:ext cx="752683"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1" name="Ink 10">
                  <a:extLst>
                    <a:ext uri="{FF2B5EF4-FFF2-40B4-BE49-F238E27FC236}">
                      <a16:creationId xmlns:a16="http://schemas.microsoft.com/office/drawing/2014/main" id="{B6C33600-82C1-65E3-79EF-0E4B4EBC10A1}"/>
                    </a:ext>
                  </a:extLst>
                </p14:cNvPr>
                <p14:cNvContentPartPr/>
                <p14:nvPr/>
              </p14:nvContentPartPr>
              <p14:xfrm>
                <a:off x="3521304" y="4399416"/>
                <a:ext cx="181440" cy="266760"/>
              </p14:xfrm>
            </p:contentPart>
          </mc:Choice>
          <mc:Fallback xmlns="">
            <p:pic>
              <p:nvPicPr>
                <p:cNvPr id="11" name="Ink 10">
                  <a:extLst>
                    <a:ext uri="{FF2B5EF4-FFF2-40B4-BE49-F238E27FC236}">
                      <a16:creationId xmlns:a16="http://schemas.microsoft.com/office/drawing/2014/main" id="{B6C33600-82C1-65E3-79EF-0E4B4EBC10A1}"/>
                    </a:ext>
                  </a:extLst>
                </p:cNvPr>
                <p:cNvPicPr/>
                <p:nvPr/>
              </p:nvPicPr>
              <p:blipFill>
                <a:blip r:embed="rId5"/>
                <a:stretch>
                  <a:fillRect/>
                </a:stretch>
              </p:blipFill>
              <p:spPr>
                <a:xfrm>
                  <a:off x="3514604" y="4381776"/>
                  <a:ext cx="194706" cy="302400"/>
                </a:xfrm>
                <a:prstGeom prst="rect">
                  <a:avLst/>
                </a:prstGeom>
              </p:spPr>
            </p:pic>
          </mc:Fallback>
        </mc:AlternateContent>
      </p:grpSp>
    </p:spTree>
    <p:extLst>
      <p:ext uri="{BB962C8B-B14F-4D97-AF65-F5344CB8AC3E}">
        <p14:creationId xmlns:p14="http://schemas.microsoft.com/office/powerpoint/2010/main" val="20730774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26E93-6081-7589-981C-62D80D218E61}"/>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421FC9F-E8E2-CEB9-683F-ED5B292E8340}"/>
              </a:ext>
            </a:extLst>
          </p:cNvPr>
          <p:cNvSpPr txBox="1"/>
          <p:nvPr/>
        </p:nvSpPr>
        <p:spPr>
          <a:xfrm>
            <a:off x="148336" y="199104"/>
            <a:ext cx="11199368" cy="1938992"/>
          </a:xfrm>
          <a:prstGeom prst="rect">
            <a:avLst/>
          </a:prstGeom>
          <a:noFill/>
        </p:spPr>
        <p:txBody>
          <a:bodyPr wrap="square">
            <a:spAutoFit/>
          </a:bodyPr>
          <a:lstStyle/>
          <a:p>
            <a:r>
              <a:rPr lang="en-US" sz="2400" b="1" dirty="0">
                <a:solidFill>
                  <a:schemeClr val="accent6">
                    <a:lumMod val="60000"/>
                    <a:lumOff val="40000"/>
                  </a:schemeClr>
                </a:solidFill>
              </a:rPr>
              <a:t>Example</a:t>
            </a:r>
          </a:p>
          <a:p>
            <a:endParaRPr lang="en-US" sz="2400" b="1" dirty="0">
              <a:solidFill>
                <a:schemeClr val="accent6">
                  <a:lumMod val="60000"/>
                  <a:lumOff val="40000"/>
                </a:schemeClr>
              </a:solidFill>
            </a:endParaRPr>
          </a:p>
          <a:p>
            <a:r>
              <a:rPr lang="en-US" sz="2400" dirty="0">
                <a:solidFill>
                  <a:schemeClr val="accent6">
                    <a:lumMod val="60000"/>
                    <a:lumOff val="40000"/>
                  </a:schemeClr>
                </a:solidFill>
              </a:rPr>
              <a:t>Sentiment analysis</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Fine-tune a classifier to identify sentiment in social media related to your products.</a:t>
            </a:r>
          </a:p>
        </p:txBody>
      </p:sp>
      <p:sp>
        <p:nvSpPr>
          <p:cNvPr id="6" name="Oval 5">
            <a:extLst>
              <a:ext uri="{FF2B5EF4-FFF2-40B4-BE49-F238E27FC236}">
                <a16:creationId xmlns:a16="http://schemas.microsoft.com/office/drawing/2014/main" id="{A0C3FC96-6962-8D1A-5B53-D6D8DCCD26A5}"/>
              </a:ext>
            </a:extLst>
          </p:cNvPr>
          <p:cNvSpPr/>
          <p:nvPr/>
        </p:nvSpPr>
        <p:spPr>
          <a:xfrm>
            <a:off x="6318504" y="2608148"/>
            <a:ext cx="3003804" cy="56375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sp>
        <p:nvSpPr>
          <p:cNvPr id="7" name="Freeform: Shape 6">
            <a:extLst>
              <a:ext uri="{FF2B5EF4-FFF2-40B4-BE49-F238E27FC236}">
                <a16:creationId xmlns:a16="http://schemas.microsoft.com/office/drawing/2014/main" id="{53FACDC1-A9DE-B066-BE04-F7B7A8B0BCAA}"/>
              </a:ext>
            </a:extLst>
          </p:cNvPr>
          <p:cNvSpPr/>
          <p:nvPr/>
        </p:nvSpPr>
        <p:spPr>
          <a:xfrm>
            <a:off x="2183242" y="2467755"/>
            <a:ext cx="1251734" cy="830997"/>
          </a:xfrm>
          <a:custGeom>
            <a:avLst/>
            <a:gdLst>
              <a:gd name="csX0" fmla="*/ 813816 w 1618488"/>
              <a:gd name="csY0" fmla="*/ 54864 h 1472184"/>
              <a:gd name="csX1" fmla="*/ 713232 w 1618488"/>
              <a:gd name="csY1" fmla="*/ 18288 h 1472184"/>
              <a:gd name="csX2" fmla="*/ 603504 w 1618488"/>
              <a:gd name="csY2" fmla="*/ 9144 h 1472184"/>
              <a:gd name="csX3" fmla="*/ 393192 w 1618488"/>
              <a:gd name="csY3" fmla="*/ 27432 h 1472184"/>
              <a:gd name="csX4" fmla="*/ 310896 w 1618488"/>
              <a:gd name="csY4" fmla="*/ 64008 h 1472184"/>
              <a:gd name="csX5" fmla="*/ 228600 w 1618488"/>
              <a:gd name="csY5" fmla="*/ 118872 h 1472184"/>
              <a:gd name="csX6" fmla="*/ 182880 w 1618488"/>
              <a:gd name="csY6" fmla="*/ 164592 h 1472184"/>
              <a:gd name="csX7" fmla="*/ 91440 w 1618488"/>
              <a:gd name="csY7" fmla="*/ 301752 h 1472184"/>
              <a:gd name="csX8" fmla="*/ 27432 w 1618488"/>
              <a:gd name="csY8" fmla="*/ 502920 h 1472184"/>
              <a:gd name="csX9" fmla="*/ 18288 w 1618488"/>
              <a:gd name="csY9" fmla="*/ 594360 h 1472184"/>
              <a:gd name="csX10" fmla="*/ 0 w 1618488"/>
              <a:gd name="csY10" fmla="*/ 841248 h 1472184"/>
              <a:gd name="csX11" fmla="*/ 36576 w 1618488"/>
              <a:gd name="csY11" fmla="*/ 1106424 h 1472184"/>
              <a:gd name="csX12" fmla="*/ 64008 w 1618488"/>
              <a:gd name="csY12" fmla="*/ 1179576 h 1472184"/>
              <a:gd name="csX13" fmla="*/ 118872 w 1618488"/>
              <a:gd name="csY13" fmla="*/ 1243584 h 1472184"/>
              <a:gd name="csX14" fmla="*/ 283464 w 1618488"/>
              <a:gd name="csY14" fmla="*/ 1362456 h 1472184"/>
              <a:gd name="csX15" fmla="*/ 484632 w 1618488"/>
              <a:gd name="csY15" fmla="*/ 1444752 h 1472184"/>
              <a:gd name="csX16" fmla="*/ 722376 w 1618488"/>
              <a:gd name="csY16" fmla="*/ 1472184 h 1472184"/>
              <a:gd name="csX17" fmla="*/ 877824 w 1618488"/>
              <a:gd name="csY17" fmla="*/ 1453896 h 1472184"/>
              <a:gd name="csX18" fmla="*/ 996696 w 1618488"/>
              <a:gd name="csY18" fmla="*/ 1408176 h 1472184"/>
              <a:gd name="csX19" fmla="*/ 1051560 w 1618488"/>
              <a:gd name="csY19" fmla="*/ 1353312 h 1472184"/>
              <a:gd name="csX20" fmla="*/ 1152144 w 1618488"/>
              <a:gd name="csY20" fmla="*/ 1271016 h 1472184"/>
              <a:gd name="csX21" fmla="*/ 1298448 w 1618488"/>
              <a:gd name="csY21" fmla="*/ 1243584 h 1472184"/>
              <a:gd name="csX22" fmla="*/ 1490472 w 1618488"/>
              <a:gd name="csY22" fmla="*/ 1207008 h 1472184"/>
              <a:gd name="csX23" fmla="*/ 1563624 w 1618488"/>
              <a:gd name="csY23" fmla="*/ 1152144 h 1472184"/>
              <a:gd name="csX24" fmla="*/ 1618488 w 1618488"/>
              <a:gd name="csY24" fmla="*/ 1005840 h 1472184"/>
              <a:gd name="csX25" fmla="*/ 1572768 w 1618488"/>
              <a:gd name="csY25" fmla="*/ 877824 h 1472184"/>
              <a:gd name="csX26" fmla="*/ 1517904 w 1618488"/>
              <a:gd name="csY26" fmla="*/ 804672 h 1472184"/>
              <a:gd name="csX27" fmla="*/ 1362456 w 1618488"/>
              <a:gd name="csY27" fmla="*/ 667512 h 1472184"/>
              <a:gd name="csX28" fmla="*/ 1289304 w 1618488"/>
              <a:gd name="csY28" fmla="*/ 603504 h 1472184"/>
              <a:gd name="csX29" fmla="*/ 1197864 w 1618488"/>
              <a:gd name="csY29" fmla="*/ 493776 h 1472184"/>
              <a:gd name="csX30" fmla="*/ 1106424 w 1618488"/>
              <a:gd name="csY30" fmla="*/ 402336 h 1472184"/>
              <a:gd name="csX31" fmla="*/ 1088136 w 1618488"/>
              <a:gd name="csY31" fmla="*/ 356616 h 1472184"/>
              <a:gd name="csX32" fmla="*/ 1051560 w 1618488"/>
              <a:gd name="csY32" fmla="*/ 283464 h 1472184"/>
              <a:gd name="csX33" fmla="*/ 1042416 w 1618488"/>
              <a:gd name="csY33" fmla="*/ 246888 h 1472184"/>
              <a:gd name="csX34" fmla="*/ 987552 w 1618488"/>
              <a:gd name="csY34" fmla="*/ 164592 h 1472184"/>
              <a:gd name="csX35" fmla="*/ 969264 w 1618488"/>
              <a:gd name="csY35" fmla="*/ 137160 h 1472184"/>
              <a:gd name="csX36" fmla="*/ 932688 w 1618488"/>
              <a:gd name="csY36" fmla="*/ 91440 h 1472184"/>
              <a:gd name="csX37" fmla="*/ 914400 w 1618488"/>
              <a:gd name="csY37" fmla="*/ 64008 h 1472184"/>
              <a:gd name="csX38" fmla="*/ 850392 w 1618488"/>
              <a:gd name="csY38" fmla="*/ 9144 h 1472184"/>
              <a:gd name="csX39" fmla="*/ 822960 w 1618488"/>
              <a:gd name="csY39" fmla="*/ 0 h 1472184"/>
              <a:gd name="csX40" fmla="*/ 795528 w 1618488"/>
              <a:gd name="csY40" fmla="*/ 9144 h 1472184"/>
              <a:gd name="csX41" fmla="*/ 740664 w 1618488"/>
              <a:gd name="csY41" fmla="*/ 18288 h 1472184"/>
              <a:gd name="csX42" fmla="*/ 694944 w 1618488"/>
              <a:gd name="csY42" fmla="*/ 27432 h 1472184"/>
              <a:gd name="csX43" fmla="*/ 749808 w 1618488"/>
              <a:gd name="csY43" fmla="*/ 45720 h 1472184"/>
              <a:gd name="csX44" fmla="*/ 813816 w 1618488"/>
              <a:gd name="csY44" fmla="*/ 54864 h 1472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8488" h="1472184">
                <a:moveTo>
                  <a:pt x="813816" y="54864"/>
                </a:moveTo>
                <a:cubicBezTo>
                  <a:pt x="807720" y="50292"/>
                  <a:pt x="733356" y="21642"/>
                  <a:pt x="713232" y="18288"/>
                </a:cubicBezTo>
                <a:cubicBezTo>
                  <a:pt x="677029" y="12254"/>
                  <a:pt x="640080" y="12192"/>
                  <a:pt x="603504" y="9144"/>
                </a:cubicBezTo>
                <a:cubicBezTo>
                  <a:pt x="533400" y="15240"/>
                  <a:pt x="462355" y="14464"/>
                  <a:pt x="393192" y="27432"/>
                </a:cubicBezTo>
                <a:cubicBezTo>
                  <a:pt x="363687" y="32964"/>
                  <a:pt x="337138" y="49429"/>
                  <a:pt x="310896" y="64008"/>
                </a:cubicBezTo>
                <a:cubicBezTo>
                  <a:pt x="282076" y="80019"/>
                  <a:pt x="254524" y="98503"/>
                  <a:pt x="228600" y="118872"/>
                </a:cubicBezTo>
                <a:cubicBezTo>
                  <a:pt x="211653" y="132188"/>
                  <a:pt x="197378" y="148644"/>
                  <a:pt x="182880" y="164592"/>
                </a:cubicBezTo>
                <a:cubicBezTo>
                  <a:pt x="139283" y="212548"/>
                  <a:pt x="119439" y="239531"/>
                  <a:pt x="91440" y="301752"/>
                </a:cubicBezTo>
                <a:cubicBezTo>
                  <a:pt x="60691" y="370082"/>
                  <a:pt x="47005" y="431151"/>
                  <a:pt x="27432" y="502920"/>
                </a:cubicBezTo>
                <a:cubicBezTo>
                  <a:pt x="24384" y="533400"/>
                  <a:pt x="20396" y="563801"/>
                  <a:pt x="18288" y="594360"/>
                </a:cubicBezTo>
                <a:cubicBezTo>
                  <a:pt x="628" y="850433"/>
                  <a:pt x="19398" y="686061"/>
                  <a:pt x="0" y="841248"/>
                </a:cubicBezTo>
                <a:cubicBezTo>
                  <a:pt x="9630" y="1033853"/>
                  <a:pt x="-9704" y="975298"/>
                  <a:pt x="36576" y="1106424"/>
                </a:cubicBezTo>
                <a:cubicBezTo>
                  <a:pt x="45243" y="1130981"/>
                  <a:pt x="50609" y="1157245"/>
                  <a:pt x="64008" y="1179576"/>
                </a:cubicBezTo>
                <a:cubicBezTo>
                  <a:pt x="78466" y="1203673"/>
                  <a:pt x="99001" y="1223713"/>
                  <a:pt x="118872" y="1243584"/>
                </a:cubicBezTo>
                <a:cubicBezTo>
                  <a:pt x="168419" y="1293131"/>
                  <a:pt x="219484" y="1332465"/>
                  <a:pt x="283464" y="1362456"/>
                </a:cubicBezTo>
                <a:cubicBezTo>
                  <a:pt x="349065" y="1393206"/>
                  <a:pt x="413024" y="1433735"/>
                  <a:pt x="484632" y="1444752"/>
                </a:cubicBezTo>
                <a:cubicBezTo>
                  <a:pt x="642783" y="1469083"/>
                  <a:pt x="563532" y="1459965"/>
                  <a:pt x="722376" y="1472184"/>
                </a:cubicBezTo>
                <a:cubicBezTo>
                  <a:pt x="774192" y="1466088"/>
                  <a:pt x="826422" y="1462835"/>
                  <a:pt x="877824" y="1453896"/>
                </a:cubicBezTo>
                <a:cubicBezTo>
                  <a:pt x="906578" y="1448895"/>
                  <a:pt x="972928" y="1418362"/>
                  <a:pt x="996696" y="1408176"/>
                </a:cubicBezTo>
                <a:cubicBezTo>
                  <a:pt x="1014984" y="1389888"/>
                  <a:pt x="1034163" y="1372449"/>
                  <a:pt x="1051560" y="1353312"/>
                </a:cubicBezTo>
                <a:cubicBezTo>
                  <a:pt x="1091695" y="1309164"/>
                  <a:pt x="1086039" y="1291135"/>
                  <a:pt x="1152144" y="1271016"/>
                </a:cubicBezTo>
                <a:cubicBezTo>
                  <a:pt x="1199612" y="1256569"/>
                  <a:pt x="1249552" y="1252014"/>
                  <a:pt x="1298448" y="1243584"/>
                </a:cubicBezTo>
                <a:cubicBezTo>
                  <a:pt x="1476555" y="1212876"/>
                  <a:pt x="1356864" y="1240410"/>
                  <a:pt x="1490472" y="1207008"/>
                </a:cubicBezTo>
                <a:cubicBezTo>
                  <a:pt x="1514856" y="1188720"/>
                  <a:pt x="1542950" y="1174541"/>
                  <a:pt x="1563624" y="1152144"/>
                </a:cubicBezTo>
                <a:cubicBezTo>
                  <a:pt x="1604285" y="1108095"/>
                  <a:pt x="1606141" y="1061400"/>
                  <a:pt x="1618488" y="1005840"/>
                </a:cubicBezTo>
                <a:cubicBezTo>
                  <a:pt x="1603248" y="963168"/>
                  <a:pt x="1593032" y="918352"/>
                  <a:pt x="1572768" y="877824"/>
                </a:cubicBezTo>
                <a:cubicBezTo>
                  <a:pt x="1559137" y="850562"/>
                  <a:pt x="1537975" y="827611"/>
                  <a:pt x="1517904" y="804672"/>
                </a:cubicBezTo>
                <a:cubicBezTo>
                  <a:pt x="1448328" y="725156"/>
                  <a:pt x="1443603" y="734339"/>
                  <a:pt x="1362456" y="667512"/>
                </a:cubicBezTo>
                <a:cubicBezTo>
                  <a:pt x="1337445" y="646915"/>
                  <a:pt x="1313047" y="625551"/>
                  <a:pt x="1289304" y="603504"/>
                </a:cubicBezTo>
                <a:cubicBezTo>
                  <a:pt x="1142500" y="467186"/>
                  <a:pt x="1313712" y="626174"/>
                  <a:pt x="1197864" y="493776"/>
                </a:cubicBezTo>
                <a:cubicBezTo>
                  <a:pt x="1169479" y="461336"/>
                  <a:pt x="1106424" y="402336"/>
                  <a:pt x="1106424" y="402336"/>
                </a:cubicBezTo>
                <a:cubicBezTo>
                  <a:pt x="1100328" y="387096"/>
                  <a:pt x="1095014" y="371519"/>
                  <a:pt x="1088136" y="356616"/>
                </a:cubicBezTo>
                <a:cubicBezTo>
                  <a:pt x="1076712" y="331863"/>
                  <a:pt x="1058172" y="309912"/>
                  <a:pt x="1051560" y="283464"/>
                </a:cubicBezTo>
                <a:cubicBezTo>
                  <a:pt x="1048512" y="271272"/>
                  <a:pt x="1047520" y="258372"/>
                  <a:pt x="1042416" y="246888"/>
                </a:cubicBezTo>
                <a:cubicBezTo>
                  <a:pt x="1027866" y="214149"/>
                  <a:pt x="1007878" y="193049"/>
                  <a:pt x="987552" y="164592"/>
                </a:cubicBezTo>
                <a:cubicBezTo>
                  <a:pt x="981164" y="155649"/>
                  <a:pt x="975858" y="145952"/>
                  <a:pt x="969264" y="137160"/>
                </a:cubicBezTo>
                <a:cubicBezTo>
                  <a:pt x="957554" y="121547"/>
                  <a:pt x="944398" y="107053"/>
                  <a:pt x="932688" y="91440"/>
                </a:cubicBezTo>
                <a:cubicBezTo>
                  <a:pt x="926094" y="82648"/>
                  <a:pt x="921552" y="72352"/>
                  <a:pt x="914400" y="64008"/>
                </a:cubicBezTo>
                <a:cubicBezTo>
                  <a:pt x="897527" y="44322"/>
                  <a:pt x="874659" y="21278"/>
                  <a:pt x="850392" y="9144"/>
                </a:cubicBezTo>
                <a:cubicBezTo>
                  <a:pt x="841771" y="4833"/>
                  <a:pt x="832104" y="3048"/>
                  <a:pt x="822960" y="0"/>
                </a:cubicBezTo>
                <a:cubicBezTo>
                  <a:pt x="813816" y="3048"/>
                  <a:pt x="804937" y="7053"/>
                  <a:pt x="795528" y="9144"/>
                </a:cubicBezTo>
                <a:cubicBezTo>
                  <a:pt x="777429" y="13166"/>
                  <a:pt x="758905" y="14971"/>
                  <a:pt x="740664" y="18288"/>
                </a:cubicBezTo>
                <a:cubicBezTo>
                  <a:pt x="725373" y="21068"/>
                  <a:pt x="710184" y="24384"/>
                  <a:pt x="694944" y="27432"/>
                </a:cubicBezTo>
                <a:cubicBezTo>
                  <a:pt x="713232" y="33528"/>
                  <a:pt x="731106" y="41045"/>
                  <a:pt x="749808" y="45720"/>
                </a:cubicBezTo>
                <a:cubicBezTo>
                  <a:pt x="792996" y="56517"/>
                  <a:pt x="819912" y="59436"/>
                  <a:pt x="813816" y="54864"/>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 Model</a:t>
            </a:r>
          </a:p>
        </p:txBody>
      </p:sp>
      <p:grpSp>
        <p:nvGrpSpPr>
          <p:cNvPr id="8" name="Group 7">
            <a:extLst>
              <a:ext uri="{FF2B5EF4-FFF2-40B4-BE49-F238E27FC236}">
                <a16:creationId xmlns:a16="http://schemas.microsoft.com/office/drawing/2014/main" id="{835CB6A7-2F47-841C-CBCC-8DF723067D09}"/>
              </a:ext>
            </a:extLst>
          </p:cNvPr>
          <p:cNvGrpSpPr/>
          <p:nvPr/>
        </p:nvGrpSpPr>
        <p:grpSpPr>
          <a:xfrm>
            <a:off x="3809880" y="2641786"/>
            <a:ext cx="2133720" cy="266760"/>
            <a:chOff x="2910024" y="4399416"/>
            <a:chExt cx="792720" cy="266760"/>
          </a:xfrm>
        </p:grpSpPr>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8BB776F3-8E6C-CA3E-634A-F746A2D63484}"/>
                    </a:ext>
                  </a:extLst>
                </p14:cNvPr>
                <p14:cNvContentPartPr/>
                <p14:nvPr/>
              </p14:nvContentPartPr>
              <p14:xfrm>
                <a:off x="2910024" y="4525776"/>
                <a:ext cx="739440" cy="64800"/>
              </p14:xfrm>
            </p:contentPart>
          </mc:Choice>
          <mc:Fallback xmlns="">
            <p:pic>
              <p:nvPicPr>
                <p:cNvPr id="10" name="Ink 9">
                  <a:extLst>
                    <a:ext uri="{FF2B5EF4-FFF2-40B4-BE49-F238E27FC236}">
                      <a16:creationId xmlns:a16="http://schemas.microsoft.com/office/drawing/2014/main" id="{8BB776F3-8E6C-CA3E-634A-F746A2D63484}"/>
                    </a:ext>
                  </a:extLst>
                </p:cNvPr>
                <p:cNvPicPr/>
                <p:nvPr/>
              </p:nvPicPr>
              <p:blipFill>
                <a:blip r:embed="rId3"/>
                <a:stretch>
                  <a:fillRect/>
                </a:stretch>
              </p:blipFill>
              <p:spPr>
                <a:xfrm>
                  <a:off x="2903336" y="4507776"/>
                  <a:ext cx="752683"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1" name="Ink 10">
                  <a:extLst>
                    <a:ext uri="{FF2B5EF4-FFF2-40B4-BE49-F238E27FC236}">
                      <a16:creationId xmlns:a16="http://schemas.microsoft.com/office/drawing/2014/main" id="{DB39EF24-E30C-ED50-7341-7196EB348B6A}"/>
                    </a:ext>
                  </a:extLst>
                </p14:cNvPr>
                <p14:cNvContentPartPr/>
                <p14:nvPr/>
              </p14:nvContentPartPr>
              <p14:xfrm>
                <a:off x="3521304" y="4399416"/>
                <a:ext cx="181440" cy="266760"/>
              </p14:xfrm>
            </p:contentPart>
          </mc:Choice>
          <mc:Fallback xmlns="">
            <p:pic>
              <p:nvPicPr>
                <p:cNvPr id="11" name="Ink 10">
                  <a:extLst>
                    <a:ext uri="{FF2B5EF4-FFF2-40B4-BE49-F238E27FC236}">
                      <a16:creationId xmlns:a16="http://schemas.microsoft.com/office/drawing/2014/main" id="{DB39EF24-E30C-ED50-7341-7196EB348B6A}"/>
                    </a:ext>
                  </a:extLst>
                </p:cNvPr>
                <p:cNvPicPr/>
                <p:nvPr/>
              </p:nvPicPr>
              <p:blipFill>
                <a:blip r:embed="rId5"/>
                <a:stretch>
                  <a:fillRect/>
                </a:stretch>
              </p:blipFill>
              <p:spPr>
                <a:xfrm>
                  <a:off x="3514604" y="4381392"/>
                  <a:ext cx="194706" cy="302448"/>
                </a:xfrm>
                <a:prstGeom prst="rect">
                  <a:avLst/>
                </a:prstGeom>
              </p:spPr>
            </p:pic>
          </mc:Fallback>
        </mc:AlternateContent>
      </p:grpSp>
    </p:spTree>
    <p:extLst>
      <p:ext uri="{BB962C8B-B14F-4D97-AF65-F5344CB8AC3E}">
        <p14:creationId xmlns:p14="http://schemas.microsoft.com/office/powerpoint/2010/main" val="42643054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33C7D-B5EC-CE70-7A7C-0616A581D10D}"/>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639B2A20-AFAF-6C40-474D-FEBDE05ECF54}"/>
              </a:ext>
            </a:extLst>
          </p:cNvPr>
          <p:cNvSpPr txBox="1"/>
          <p:nvPr/>
        </p:nvSpPr>
        <p:spPr>
          <a:xfrm>
            <a:off x="148336" y="199104"/>
            <a:ext cx="10292080" cy="1569660"/>
          </a:xfrm>
          <a:prstGeom prst="rect">
            <a:avLst/>
          </a:prstGeom>
          <a:noFill/>
        </p:spPr>
        <p:txBody>
          <a:bodyPr wrap="square">
            <a:spAutoFit/>
          </a:bodyPr>
          <a:lstStyle/>
          <a:p>
            <a:r>
              <a:rPr lang="en-US" sz="2400" b="1" dirty="0">
                <a:solidFill>
                  <a:schemeClr val="accent6">
                    <a:lumMod val="60000"/>
                    <a:lumOff val="40000"/>
                  </a:schemeClr>
                </a:solidFill>
              </a:rPr>
              <a:t>✅ When to use fine-tuning</a:t>
            </a:r>
          </a:p>
          <a:p>
            <a:pPr marL="342900" indent="-342900">
              <a:buFont typeface="Arial" panose="020B0604020202020204" pitchFamily="34" charset="0"/>
              <a:buChar char="•"/>
            </a:pPr>
            <a:r>
              <a:rPr lang="en-US" sz="2400" dirty="0">
                <a:solidFill>
                  <a:schemeClr val="accent6">
                    <a:lumMod val="60000"/>
                    <a:lumOff val="40000"/>
                  </a:schemeClr>
                </a:solidFill>
              </a:rPr>
              <a:t>You want </a:t>
            </a:r>
            <a:r>
              <a:rPr lang="en-US" sz="2400" b="1" dirty="0">
                <a:solidFill>
                  <a:schemeClr val="accent6">
                    <a:lumMod val="60000"/>
                    <a:lumOff val="40000"/>
                  </a:schemeClr>
                </a:solidFill>
              </a:rPr>
              <a:t>consistent style or tone</a:t>
            </a:r>
            <a:r>
              <a:rPr lang="en-US" sz="2400" dirty="0">
                <a:solidFill>
                  <a:schemeClr val="accent6">
                    <a:lumMod val="60000"/>
                    <a:lumOff val="40000"/>
                  </a:schemeClr>
                </a:solidFill>
              </a:rPr>
              <a:t> </a:t>
            </a:r>
          </a:p>
          <a:p>
            <a:pPr marL="342900" indent="-342900">
              <a:buFont typeface="Arial" panose="020B0604020202020204" pitchFamily="34" charset="0"/>
              <a:buChar char="•"/>
            </a:pPr>
            <a:r>
              <a:rPr lang="en-US" sz="2400" dirty="0">
                <a:solidFill>
                  <a:schemeClr val="accent6">
                    <a:lumMod val="60000"/>
                    <a:lumOff val="40000"/>
                  </a:schemeClr>
                </a:solidFill>
              </a:rPr>
              <a:t>You need </a:t>
            </a:r>
            <a:r>
              <a:rPr lang="en-US" sz="2400" b="1" dirty="0">
                <a:solidFill>
                  <a:schemeClr val="accent6">
                    <a:lumMod val="60000"/>
                    <a:lumOff val="40000"/>
                  </a:schemeClr>
                </a:solidFill>
              </a:rPr>
              <a:t>task-specific behavior</a:t>
            </a:r>
            <a:r>
              <a:rPr lang="en-US" sz="2400" dirty="0">
                <a:solidFill>
                  <a:schemeClr val="accent6">
                    <a:lumMod val="60000"/>
                    <a:lumOff val="40000"/>
                  </a:schemeClr>
                </a:solidFill>
              </a:rPr>
              <a:t> </a:t>
            </a:r>
          </a:p>
          <a:p>
            <a:pPr marL="342900" indent="-342900">
              <a:buFont typeface="Arial" panose="020B0604020202020204" pitchFamily="34" charset="0"/>
              <a:buChar char="•"/>
            </a:pPr>
            <a:r>
              <a:rPr lang="en-US" sz="2400" dirty="0">
                <a:solidFill>
                  <a:schemeClr val="accent6">
                    <a:lumMod val="60000"/>
                    <a:lumOff val="40000"/>
                  </a:schemeClr>
                </a:solidFill>
              </a:rPr>
              <a:t>You want model to follow </a:t>
            </a:r>
            <a:r>
              <a:rPr lang="en-US" sz="2400" b="1" dirty="0">
                <a:solidFill>
                  <a:schemeClr val="accent6">
                    <a:lumMod val="60000"/>
                    <a:lumOff val="40000"/>
                  </a:schemeClr>
                </a:solidFill>
              </a:rPr>
              <a:t>strict formats</a:t>
            </a:r>
          </a:p>
        </p:txBody>
      </p:sp>
      <p:sp>
        <p:nvSpPr>
          <p:cNvPr id="2" name="Oval 1">
            <a:extLst>
              <a:ext uri="{FF2B5EF4-FFF2-40B4-BE49-F238E27FC236}">
                <a16:creationId xmlns:a16="http://schemas.microsoft.com/office/drawing/2014/main" id="{B82CE82B-486D-B7D7-0BB8-9A8BE9E16818}"/>
              </a:ext>
            </a:extLst>
          </p:cNvPr>
          <p:cNvSpPr/>
          <p:nvPr/>
        </p:nvSpPr>
        <p:spPr>
          <a:xfrm>
            <a:off x="4965192" y="4096512"/>
            <a:ext cx="3749040" cy="11495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sp>
        <p:nvSpPr>
          <p:cNvPr id="7" name="Freeform: Shape 6">
            <a:extLst>
              <a:ext uri="{FF2B5EF4-FFF2-40B4-BE49-F238E27FC236}">
                <a16:creationId xmlns:a16="http://schemas.microsoft.com/office/drawing/2014/main" id="{344E8735-9E8D-0EFD-92C1-F3B3DE41E29C}"/>
              </a:ext>
            </a:extLst>
          </p:cNvPr>
          <p:cNvSpPr/>
          <p:nvPr/>
        </p:nvSpPr>
        <p:spPr>
          <a:xfrm>
            <a:off x="548640" y="3922776"/>
            <a:ext cx="2249424" cy="1938528"/>
          </a:xfrm>
          <a:custGeom>
            <a:avLst/>
            <a:gdLst>
              <a:gd name="csX0" fmla="*/ 813816 w 1618488"/>
              <a:gd name="csY0" fmla="*/ 54864 h 1472184"/>
              <a:gd name="csX1" fmla="*/ 713232 w 1618488"/>
              <a:gd name="csY1" fmla="*/ 18288 h 1472184"/>
              <a:gd name="csX2" fmla="*/ 603504 w 1618488"/>
              <a:gd name="csY2" fmla="*/ 9144 h 1472184"/>
              <a:gd name="csX3" fmla="*/ 393192 w 1618488"/>
              <a:gd name="csY3" fmla="*/ 27432 h 1472184"/>
              <a:gd name="csX4" fmla="*/ 310896 w 1618488"/>
              <a:gd name="csY4" fmla="*/ 64008 h 1472184"/>
              <a:gd name="csX5" fmla="*/ 228600 w 1618488"/>
              <a:gd name="csY5" fmla="*/ 118872 h 1472184"/>
              <a:gd name="csX6" fmla="*/ 182880 w 1618488"/>
              <a:gd name="csY6" fmla="*/ 164592 h 1472184"/>
              <a:gd name="csX7" fmla="*/ 91440 w 1618488"/>
              <a:gd name="csY7" fmla="*/ 301752 h 1472184"/>
              <a:gd name="csX8" fmla="*/ 27432 w 1618488"/>
              <a:gd name="csY8" fmla="*/ 502920 h 1472184"/>
              <a:gd name="csX9" fmla="*/ 18288 w 1618488"/>
              <a:gd name="csY9" fmla="*/ 594360 h 1472184"/>
              <a:gd name="csX10" fmla="*/ 0 w 1618488"/>
              <a:gd name="csY10" fmla="*/ 841248 h 1472184"/>
              <a:gd name="csX11" fmla="*/ 36576 w 1618488"/>
              <a:gd name="csY11" fmla="*/ 1106424 h 1472184"/>
              <a:gd name="csX12" fmla="*/ 64008 w 1618488"/>
              <a:gd name="csY12" fmla="*/ 1179576 h 1472184"/>
              <a:gd name="csX13" fmla="*/ 118872 w 1618488"/>
              <a:gd name="csY13" fmla="*/ 1243584 h 1472184"/>
              <a:gd name="csX14" fmla="*/ 283464 w 1618488"/>
              <a:gd name="csY14" fmla="*/ 1362456 h 1472184"/>
              <a:gd name="csX15" fmla="*/ 484632 w 1618488"/>
              <a:gd name="csY15" fmla="*/ 1444752 h 1472184"/>
              <a:gd name="csX16" fmla="*/ 722376 w 1618488"/>
              <a:gd name="csY16" fmla="*/ 1472184 h 1472184"/>
              <a:gd name="csX17" fmla="*/ 877824 w 1618488"/>
              <a:gd name="csY17" fmla="*/ 1453896 h 1472184"/>
              <a:gd name="csX18" fmla="*/ 996696 w 1618488"/>
              <a:gd name="csY18" fmla="*/ 1408176 h 1472184"/>
              <a:gd name="csX19" fmla="*/ 1051560 w 1618488"/>
              <a:gd name="csY19" fmla="*/ 1353312 h 1472184"/>
              <a:gd name="csX20" fmla="*/ 1152144 w 1618488"/>
              <a:gd name="csY20" fmla="*/ 1271016 h 1472184"/>
              <a:gd name="csX21" fmla="*/ 1298448 w 1618488"/>
              <a:gd name="csY21" fmla="*/ 1243584 h 1472184"/>
              <a:gd name="csX22" fmla="*/ 1490472 w 1618488"/>
              <a:gd name="csY22" fmla="*/ 1207008 h 1472184"/>
              <a:gd name="csX23" fmla="*/ 1563624 w 1618488"/>
              <a:gd name="csY23" fmla="*/ 1152144 h 1472184"/>
              <a:gd name="csX24" fmla="*/ 1618488 w 1618488"/>
              <a:gd name="csY24" fmla="*/ 1005840 h 1472184"/>
              <a:gd name="csX25" fmla="*/ 1572768 w 1618488"/>
              <a:gd name="csY25" fmla="*/ 877824 h 1472184"/>
              <a:gd name="csX26" fmla="*/ 1517904 w 1618488"/>
              <a:gd name="csY26" fmla="*/ 804672 h 1472184"/>
              <a:gd name="csX27" fmla="*/ 1362456 w 1618488"/>
              <a:gd name="csY27" fmla="*/ 667512 h 1472184"/>
              <a:gd name="csX28" fmla="*/ 1289304 w 1618488"/>
              <a:gd name="csY28" fmla="*/ 603504 h 1472184"/>
              <a:gd name="csX29" fmla="*/ 1197864 w 1618488"/>
              <a:gd name="csY29" fmla="*/ 493776 h 1472184"/>
              <a:gd name="csX30" fmla="*/ 1106424 w 1618488"/>
              <a:gd name="csY30" fmla="*/ 402336 h 1472184"/>
              <a:gd name="csX31" fmla="*/ 1088136 w 1618488"/>
              <a:gd name="csY31" fmla="*/ 356616 h 1472184"/>
              <a:gd name="csX32" fmla="*/ 1051560 w 1618488"/>
              <a:gd name="csY32" fmla="*/ 283464 h 1472184"/>
              <a:gd name="csX33" fmla="*/ 1042416 w 1618488"/>
              <a:gd name="csY33" fmla="*/ 246888 h 1472184"/>
              <a:gd name="csX34" fmla="*/ 987552 w 1618488"/>
              <a:gd name="csY34" fmla="*/ 164592 h 1472184"/>
              <a:gd name="csX35" fmla="*/ 969264 w 1618488"/>
              <a:gd name="csY35" fmla="*/ 137160 h 1472184"/>
              <a:gd name="csX36" fmla="*/ 932688 w 1618488"/>
              <a:gd name="csY36" fmla="*/ 91440 h 1472184"/>
              <a:gd name="csX37" fmla="*/ 914400 w 1618488"/>
              <a:gd name="csY37" fmla="*/ 64008 h 1472184"/>
              <a:gd name="csX38" fmla="*/ 850392 w 1618488"/>
              <a:gd name="csY38" fmla="*/ 9144 h 1472184"/>
              <a:gd name="csX39" fmla="*/ 822960 w 1618488"/>
              <a:gd name="csY39" fmla="*/ 0 h 1472184"/>
              <a:gd name="csX40" fmla="*/ 795528 w 1618488"/>
              <a:gd name="csY40" fmla="*/ 9144 h 1472184"/>
              <a:gd name="csX41" fmla="*/ 740664 w 1618488"/>
              <a:gd name="csY41" fmla="*/ 18288 h 1472184"/>
              <a:gd name="csX42" fmla="*/ 694944 w 1618488"/>
              <a:gd name="csY42" fmla="*/ 27432 h 1472184"/>
              <a:gd name="csX43" fmla="*/ 749808 w 1618488"/>
              <a:gd name="csY43" fmla="*/ 45720 h 1472184"/>
              <a:gd name="csX44" fmla="*/ 813816 w 1618488"/>
              <a:gd name="csY44" fmla="*/ 54864 h 1472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8488" h="1472184">
                <a:moveTo>
                  <a:pt x="813816" y="54864"/>
                </a:moveTo>
                <a:cubicBezTo>
                  <a:pt x="807720" y="50292"/>
                  <a:pt x="733356" y="21642"/>
                  <a:pt x="713232" y="18288"/>
                </a:cubicBezTo>
                <a:cubicBezTo>
                  <a:pt x="677029" y="12254"/>
                  <a:pt x="640080" y="12192"/>
                  <a:pt x="603504" y="9144"/>
                </a:cubicBezTo>
                <a:cubicBezTo>
                  <a:pt x="533400" y="15240"/>
                  <a:pt x="462355" y="14464"/>
                  <a:pt x="393192" y="27432"/>
                </a:cubicBezTo>
                <a:cubicBezTo>
                  <a:pt x="363687" y="32964"/>
                  <a:pt x="337138" y="49429"/>
                  <a:pt x="310896" y="64008"/>
                </a:cubicBezTo>
                <a:cubicBezTo>
                  <a:pt x="282076" y="80019"/>
                  <a:pt x="254524" y="98503"/>
                  <a:pt x="228600" y="118872"/>
                </a:cubicBezTo>
                <a:cubicBezTo>
                  <a:pt x="211653" y="132188"/>
                  <a:pt x="197378" y="148644"/>
                  <a:pt x="182880" y="164592"/>
                </a:cubicBezTo>
                <a:cubicBezTo>
                  <a:pt x="139283" y="212548"/>
                  <a:pt x="119439" y="239531"/>
                  <a:pt x="91440" y="301752"/>
                </a:cubicBezTo>
                <a:cubicBezTo>
                  <a:pt x="60691" y="370082"/>
                  <a:pt x="47005" y="431151"/>
                  <a:pt x="27432" y="502920"/>
                </a:cubicBezTo>
                <a:cubicBezTo>
                  <a:pt x="24384" y="533400"/>
                  <a:pt x="20396" y="563801"/>
                  <a:pt x="18288" y="594360"/>
                </a:cubicBezTo>
                <a:cubicBezTo>
                  <a:pt x="628" y="850433"/>
                  <a:pt x="19398" y="686061"/>
                  <a:pt x="0" y="841248"/>
                </a:cubicBezTo>
                <a:cubicBezTo>
                  <a:pt x="9630" y="1033853"/>
                  <a:pt x="-9704" y="975298"/>
                  <a:pt x="36576" y="1106424"/>
                </a:cubicBezTo>
                <a:cubicBezTo>
                  <a:pt x="45243" y="1130981"/>
                  <a:pt x="50609" y="1157245"/>
                  <a:pt x="64008" y="1179576"/>
                </a:cubicBezTo>
                <a:cubicBezTo>
                  <a:pt x="78466" y="1203673"/>
                  <a:pt x="99001" y="1223713"/>
                  <a:pt x="118872" y="1243584"/>
                </a:cubicBezTo>
                <a:cubicBezTo>
                  <a:pt x="168419" y="1293131"/>
                  <a:pt x="219484" y="1332465"/>
                  <a:pt x="283464" y="1362456"/>
                </a:cubicBezTo>
                <a:cubicBezTo>
                  <a:pt x="349065" y="1393206"/>
                  <a:pt x="413024" y="1433735"/>
                  <a:pt x="484632" y="1444752"/>
                </a:cubicBezTo>
                <a:cubicBezTo>
                  <a:pt x="642783" y="1469083"/>
                  <a:pt x="563532" y="1459965"/>
                  <a:pt x="722376" y="1472184"/>
                </a:cubicBezTo>
                <a:cubicBezTo>
                  <a:pt x="774192" y="1466088"/>
                  <a:pt x="826422" y="1462835"/>
                  <a:pt x="877824" y="1453896"/>
                </a:cubicBezTo>
                <a:cubicBezTo>
                  <a:pt x="906578" y="1448895"/>
                  <a:pt x="972928" y="1418362"/>
                  <a:pt x="996696" y="1408176"/>
                </a:cubicBezTo>
                <a:cubicBezTo>
                  <a:pt x="1014984" y="1389888"/>
                  <a:pt x="1034163" y="1372449"/>
                  <a:pt x="1051560" y="1353312"/>
                </a:cubicBezTo>
                <a:cubicBezTo>
                  <a:pt x="1091695" y="1309164"/>
                  <a:pt x="1086039" y="1291135"/>
                  <a:pt x="1152144" y="1271016"/>
                </a:cubicBezTo>
                <a:cubicBezTo>
                  <a:pt x="1199612" y="1256569"/>
                  <a:pt x="1249552" y="1252014"/>
                  <a:pt x="1298448" y="1243584"/>
                </a:cubicBezTo>
                <a:cubicBezTo>
                  <a:pt x="1476555" y="1212876"/>
                  <a:pt x="1356864" y="1240410"/>
                  <a:pt x="1490472" y="1207008"/>
                </a:cubicBezTo>
                <a:cubicBezTo>
                  <a:pt x="1514856" y="1188720"/>
                  <a:pt x="1542950" y="1174541"/>
                  <a:pt x="1563624" y="1152144"/>
                </a:cubicBezTo>
                <a:cubicBezTo>
                  <a:pt x="1604285" y="1108095"/>
                  <a:pt x="1606141" y="1061400"/>
                  <a:pt x="1618488" y="1005840"/>
                </a:cubicBezTo>
                <a:cubicBezTo>
                  <a:pt x="1603248" y="963168"/>
                  <a:pt x="1593032" y="918352"/>
                  <a:pt x="1572768" y="877824"/>
                </a:cubicBezTo>
                <a:cubicBezTo>
                  <a:pt x="1559137" y="850562"/>
                  <a:pt x="1537975" y="827611"/>
                  <a:pt x="1517904" y="804672"/>
                </a:cubicBezTo>
                <a:cubicBezTo>
                  <a:pt x="1448328" y="725156"/>
                  <a:pt x="1443603" y="734339"/>
                  <a:pt x="1362456" y="667512"/>
                </a:cubicBezTo>
                <a:cubicBezTo>
                  <a:pt x="1337445" y="646915"/>
                  <a:pt x="1313047" y="625551"/>
                  <a:pt x="1289304" y="603504"/>
                </a:cubicBezTo>
                <a:cubicBezTo>
                  <a:pt x="1142500" y="467186"/>
                  <a:pt x="1313712" y="626174"/>
                  <a:pt x="1197864" y="493776"/>
                </a:cubicBezTo>
                <a:cubicBezTo>
                  <a:pt x="1169479" y="461336"/>
                  <a:pt x="1106424" y="402336"/>
                  <a:pt x="1106424" y="402336"/>
                </a:cubicBezTo>
                <a:cubicBezTo>
                  <a:pt x="1100328" y="387096"/>
                  <a:pt x="1095014" y="371519"/>
                  <a:pt x="1088136" y="356616"/>
                </a:cubicBezTo>
                <a:cubicBezTo>
                  <a:pt x="1076712" y="331863"/>
                  <a:pt x="1058172" y="309912"/>
                  <a:pt x="1051560" y="283464"/>
                </a:cubicBezTo>
                <a:cubicBezTo>
                  <a:pt x="1048512" y="271272"/>
                  <a:pt x="1047520" y="258372"/>
                  <a:pt x="1042416" y="246888"/>
                </a:cubicBezTo>
                <a:cubicBezTo>
                  <a:pt x="1027866" y="214149"/>
                  <a:pt x="1007878" y="193049"/>
                  <a:pt x="987552" y="164592"/>
                </a:cubicBezTo>
                <a:cubicBezTo>
                  <a:pt x="981164" y="155649"/>
                  <a:pt x="975858" y="145952"/>
                  <a:pt x="969264" y="137160"/>
                </a:cubicBezTo>
                <a:cubicBezTo>
                  <a:pt x="957554" y="121547"/>
                  <a:pt x="944398" y="107053"/>
                  <a:pt x="932688" y="91440"/>
                </a:cubicBezTo>
                <a:cubicBezTo>
                  <a:pt x="926094" y="82648"/>
                  <a:pt x="921552" y="72352"/>
                  <a:pt x="914400" y="64008"/>
                </a:cubicBezTo>
                <a:cubicBezTo>
                  <a:pt x="897527" y="44322"/>
                  <a:pt x="874659" y="21278"/>
                  <a:pt x="850392" y="9144"/>
                </a:cubicBezTo>
                <a:cubicBezTo>
                  <a:pt x="841771" y="4833"/>
                  <a:pt x="832104" y="3048"/>
                  <a:pt x="822960" y="0"/>
                </a:cubicBezTo>
                <a:cubicBezTo>
                  <a:pt x="813816" y="3048"/>
                  <a:pt x="804937" y="7053"/>
                  <a:pt x="795528" y="9144"/>
                </a:cubicBezTo>
                <a:cubicBezTo>
                  <a:pt x="777429" y="13166"/>
                  <a:pt x="758905" y="14971"/>
                  <a:pt x="740664" y="18288"/>
                </a:cubicBezTo>
                <a:cubicBezTo>
                  <a:pt x="725373" y="21068"/>
                  <a:pt x="710184" y="24384"/>
                  <a:pt x="694944" y="27432"/>
                </a:cubicBezTo>
                <a:cubicBezTo>
                  <a:pt x="713232" y="33528"/>
                  <a:pt x="731106" y="41045"/>
                  <a:pt x="749808" y="45720"/>
                </a:cubicBezTo>
                <a:cubicBezTo>
                  <a:pt x="792996" y="56517"/>
                  <a:pt x="819912" y="59436"/>
                  <a:pt x="813816" y="54864"/>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 Model</a:t>
            </a:r>
          </a:p>
        </p:txBody>
      </p:sp>
      <p:grpSp>
        <p:nvGrpSpPr>
          <p:cNvPr id="3" name="Group 2">
            <a:extLst>
              <a:ext uri="{FF2B5EF4-FFF2-40B4-BE49-F238E27FC236}">
                <a16:creationId xmlns:a16="http://schemas.microsoft.com/office/drawing/2014/main" id="{9D5EBBA6-C461-7C43-0E5A-E9303A8FAAF4}"/>
              </a:ext>
            </a:extLst>
          </p:cNvPr>
          <p:cNvGrpSpPr/>
          <p:nvPr/>
        </p:nvGrpSpPr>
        <p:grpSpPr>
          <a:xfrm>
            <a:off x="3675888" y="4279392"/>
            <a:ext cx="792720" cy="266760"/>
            <a:chOff x="2910024" y="4399416"/>
            <a:chExt cx="792720" cy="266760"/>
          </a:xfrm>
        </p:grpSpPr>
        <mc:AlternateContent xmlns:mc="http://schemas.openxmlformats.org/markup-compatibility/2006" xmlns:p14="http://schemas.microsoft.com/office/powerpoint/2010/main">
          <mc:Choice Requires="p14">
            <p:contentPart p14:bwMode="auto" r:id="rId2">
              <p14:nvContentPartPr>
                <p14:cNvPr id="8" name="Ink 7">
                  <a:extLst>
                    <a:ext uri="{FF2B5EF4-FFF2-40B4-BE49-F238E27FC236}">
                      <a16:creationId xmlns:a16="http://schemas.microsoft.com/office/drawing/2014/main" id="{B734E104-6377-CB61-9EE1-5149FF20B4D0}"/>
                    </a:ext>
                  </a:extLst>
                </p14:cNvPr>
                <p14:cNvContentPartPr/>
                <p14:nvPr/>
              </p14:nvContentPartPr>
              <p14:xfrm>
                <a:off x="2910024" y="4525776"/>
                <a:ext cx="739440" cy="64800"/>
              </p14:xfrm>
            </p:contentPart>
          </mc:Choice>
          <mc:Fallback xmlns="">
            <p:pic>
              <p:nvPicPr>
                <p:cNvPr id="8" name="Ink 7">
                  <a:extLst>
                    <a:ext uri="{FF2B5EF4-FFF2-40B4-BE49-F238E27FC236}">
                      <a16:creationId xmlns:a16="http://schemas.microsoft.com/office/drawing/2014/main" id="{B734E104-6377-CB61-9EE1-5149FF20B4D0}"/>
                    </a:ext>
                  </a:extLst>
                </p:cNvPr>
                <p:cNvPicPr/>
                <p:nvPr/>
              </p:nvPicPr>
              <p:blipFill>
                <a:blip r:embed="rId3"/>
                <a:stretch>
                  <a:fillRect/>
                </a:stretch>
              </p:blipFill>
              <p:spPr>
                <a:xfrm>
                  <a:off x="2892033" y="4507776"/>
                  <a:ext cx="775063"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0" name="Ink 9">
                  <a:extLst>
                    <a:ext uri="{FF2B5EF4-FFF2-40B4-BE49-F238E27FC236}">
                      <a16:creationId xmlns:a16="http://schemas.microsoft.com/office/drawing/2014/main" id="{8D0EC889-927D-14F3-9504-BDC018AABB00}"/>
                    </a:ext>
                  </a:extLst>
                </p14:cNvPr>
                <p14:cNvContentPartPr/>
                <p14:nvPr/>
              </p14:nvContentPartPr>
              <p14:xfrm>
                <a:off x="3521304" y="4399416"/>
                <a:ext cx="181440" cy="266760"/>
              </p14:xfrm>
            </p:contentPart>
          </mc:Choice>
          <mc:Fallback xmlns="">
            <p:pic>
              <p:nvPicPr>
                <p:cNvPr id="10" name="Ink 9">
                  <a:extLst>
                    <a:ext uri="{FF2B5EF4-FFF2-40B4-BE49-F238E27FC236}">
                      <a16:creationId xmlns:a16="http://schemas.microsoft.com/office/drawing/2014/main" id="{8D0EC889-927D-14F3-9504-BDC018AABB00}"/>
                    </a:ext>
                  </a:extLst>
                </p:cNvPr>
                <p:cNvPicPr/>
                <p:nvPr/>
              </p:nvPicPr>
              <p:blipFill>
                <a:blip r:embed="rId5"/>
                <a:stretch>
                  <a:fillRect/>
                </a:stretch>
              </p:blipFill>
              <p:spPr>
                <a:xfrm>
                  <a:off x="3503304" y="4381392"/>
                  <a:ext cx="217080" cy="302448"/>
                </a:xfrm>
                <a:prstGeom prst="rect">
                  <a:avLst/>
                </a:prstGeom>
              </p:spPr>
            </p:pic>
          </mc:Fallback>
        </mc:AlternateContent>
      </p:grpSp>
    </p:spTree>
    <p:extLst>
      <p:ext uri="{BB962C8B-B14F-4D97-AF65-F5344CB8AC3E}">
        <p14:creationId xmlns:p14="http://schemas.microsoft.com/office/powerpoint/2010/main" val="7452504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28F00-DEAD-79BD-8CA3-0A7C12A5A801}"/>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A8C3F698-F21B-1D92-2FAA-F6B2AC2CD1A4}"/>
              </a:ext>
            </a:extLst>
          </p:cNvPr>
          <p:cNvSpPr txBox="1"/>
          <p:nvPr/>
        </p:nvSpPr>
        <p:spPr>
          <a:xfrm>
            <a:off x="148336" y="199104"/>
            <a:ext cx="10292080" cy="830997"/>
          </a:xfrm>
          <a:prstGeom prst="rect">
            <a:avLst/>
          </a:prstGeom>
          <a:noFill/>
        </p:spPr>
        <p:txBody>
          <a:bodyPr wrap="square">
            <a:spAutoFit/>
          </a:bodyPr>
          <a:lstStyle/>
          <a:p>
            <a:r>
              <a:rPr lang="en-US" sz="2400" dirty="0">
                <a:solidFill>
                  <a:schemeClr val="accent6">
                    <a:lumMod val="60000"/>
                    <a:lumOff val="40000"/>
                  </a:schemeClr>
                </a:solidFill>
              </a:rPr>
              <a:t>NOTE: </a:t>
            </a:r>
          </a:p>
          <a:p>
            <a:r>
              <a:rPr lang="en-US" sz="2400" dirty="0">
                <a:solidFill>
                  <a:schemeClr val="accent6">
                    <a:lumMod val="60000"/>
                    <a:lumOff val="40000"/>
                  </a:schemeClr>
                </a:solidFill>
              </a:rPr>
              <a:t>A </a:t>
            </a:r>
            <a:r>
              <a:rPr lang="en-US" sz="2400" b="1" dirty="0">
                <a:solidFill>
                  <a:schemeClr val="accent6">
                    <a:lumMod val="60000"/>
                    <a:lumOff val="40000"/>
                  </a:schemeClr>
                </a:solidFill>
              </a:rPr>
              <a:t>smaller fine-tuned</a:t>
            </a:r>
            <a:r>
              <a:rPr lang="en-US" sz="2400" dirty="0">
                <a:solidFill>
                  <a:schemeClr val="accent6">
                    <a:lumMod val="60000"/>
                    <a:lumOff val="40000"/>
                  </a:schemeClr>
                </a:solidFill>
              </a:rPr>
              <a:t> model can outperform the larger base model</a:t>
            </a:r>
          </a:p>
        </p:txBody>
      </p:sp>
      <p:sp>
        <p:nvSpPr>
          <p:cNvPr id="7" name="Freeform: Shape 6">
            <a:extLst>
              <a:ext uri="{FF2B5EF4-FFF2-40B4-BE49-F238E27FC236}">
                <a16:creationId xmlns:a16="http://schemas.microsoft.com/office/drawing/2014/main" id="{D5F35BEC-DA0B-C59D-411D-689965933345}"/>
              </a:ext>
            </a:extLst>
          </p:cNvPr>
          <p:cNvSpPr/>
          <p:nvPr/>
        </p:nvSpPr>
        <p:spPr>
          <a:xfrm>
            <a:off x="274320" y="2889504"/>
            <a:ext cx="4078224" cy="2990088"/>
          </a:xfrm>
          <a:custGeom>
            <a:avLst/>
            <a:gdLst>
              <a:gd name="csX0" fmla="*/ 813816 w 1618488"/>
              <a:gd name="csY0" fmla="*/ 54864 h 1472184"/>
              <a:gd name="csX1" fmla="*/ 713232 w 1618488"/>
              <a:gd name="csY1" fmla="*/ 18288 h 1472184"/>
              <a:gd name="csX2" fmla="*/ 603504 w 1618488"/>
              <a:gd name="csY2" fmla="*/ 9144 h 1472184"/>
              <a:gd name="csX3" fmla="*/ 393192 w 1618488"/>
              <a:gd name="csY3" fmla="*/ 27432 h 1472184"/>
              <a:gd name="csX4" fmla="*/ 310896 w 1618488"/>
              <a:gd name="csY4" fmla="*/ 64008 h 1472184"/>
              <a:gd name="csX5" fmla="*/ 228600 w 1618488"/>
              <a:gd name="csY5" fmla="*/ 118872 h 1472184"/>
              <a:gd name="csX6" fmla="*/ 182880 w 1618488"/>
              <a:gd name="csY6" fmla="*/ 164592 h 1472184"/>
              <a:gd name="csX7" fmla="*/ 91440 w 1618488"/>
              <a:gd name="csY7" fmla="*/ 301752 h 1472184"/>
              <a:gd name="csX8" fmla="*/ 27432 w 1618488"/>
              <a:gd name="csY8" fmla="*/ 502920 h 1472184"/>
              <a:gd name="csX9" fmla="*/ 18288 w 1618488"/>
              <a:gd name="csY9" fmla="*/ 594360 h 1472184"/>
              <a:gd name="csX10" fmla="*/ 0 w 1618488"/>
              <a:gd name="csY10" fmla="*/ 841248 h 1472184"/>
              <a:gd name="csX11" fmla="*/ 36576 w 1618488"/>
              <a:gd name="csY11" fmla="*/ 1106424 h 1472184"/>
              <a:gd name="csX12" fmla="*/ 64008 w 1618488"/>
              <a:gd name="csY12" fmla="*/ 1179576 h 1472184"/>
              <a:gd name="csX13" fmla="*/ 118872 w 1618488"/>
              <a:gd name="csY13" fmla="*/ 1243584 h 1472184"/>
              <a:gd name="csX14" fmla="*/ 283464 w 1618488"/>
              <a:gd name="csY14" fmla="*/ 1362456 h 1472184"/>
              <a:gd name="csX15" fmla="*/ 484632 w 1618488"/>
              <a:gd name="csY15" fmla="*/ 1444752 h 1472184"/>
              <a:gd name="csX16" fmla="*/ 722376 w 1618488"/>
              <a:gd name="csY16" fmla="*/ 1472184 h 1472184"/>
              <a:gd name="csX17" fmla="*/ 877824 w 1618488"/>
              <a:gd name="csY17" fmla="*/ 1453896 h 1472184"/>
              <a:gd name="csX18" fmla="*/ 996696 w 1618488"/>
              <a:gd name="csY18" fmla="*/ 1408176 h 1472184"/>
              <a:gd name="csX19" fmla="*/ 1051560 w 1618488"/>
              <a:gd name="csY19" fmla="*/ 1353312 h 1472184"/>
              <a:gd name="csX20" fmla="*/ 1152144 w 1618488"/>
              <a:gd name="csY20" fmla="*/ 1271016 h 1472184"/>
              <a:gd name="csX21" fmla="*/ 1298448 w 1618488"/>
              <a:gd name="csY21" fmla="*/ 1243584 h 1472184"/>
              <a:gd name="csX22" fmla="*/ 1490472 w 1618488"/>
              <a:gd name="csY22" fmla="*/ 1207008 h 1472184"/>
              <a:gd name="csX23" fmla="*/ 1563624 w 1618488"/>
              <a:gd name="csY23" fmla="*/ 1152144 h 1472184"/>
              <a:gd name="csX24" fmla="*/ 1618488 w 1618488"/>
              <a:gd name="csY24" fmla="*/ 1005840 h 1472184"/>
              <a:gd name="csX25" fmla="*/ 1572768 w 1618488"/>
              <a:gd name="csY25" fmla="*/ 877824 h 1472184"/>
              <a:gd name="csX26" fmla="*/ 1517904 w 1618488"/>
              <a:gd name="csY26" fmla="*/ 804672 h 1472184"/>
              <a:gd name="csX27" fmla="*/ 1362456 w 1618488"/>
              <a:gd name="csY27" fmla="*/ 667512 h 1472184"/>
              <a:gd name="csX28" fmla="*/ 1289304 w 1618488"/>
              <a:gd name="csY28" fmla="*/ 603504 h 1472184"/>
              <a:gd name="csX29" fmla="*/ 1197864 w 1618488"/>
              <a:gd name="csY29" fmla="*/ 493776 h 1472184"/>
              <a:gd name="csX30" fmla="*/ 1106424 w 1618488"/>
              <a:gd name="csY30" fmla="*/ 402336 h 1472184"/>
              <a:gd name="csX31" fmla="*/ 1088136 w 1618488"/>
              <a:gd name="csY31" fmla="*/ 356616 h 1472184"/>
              <a:gd name="csX32" fmla="*/ 1051560 w 1618488"/>
              <a:gd name="csY32" fmla="*/ 283464 h 1472184"/>
              <a:gd name="csX33" fmla="*/ 1042416 w 1618488"/>
              <a:gd name="csY33" fmla="*/ 246888 h 1472184"/>
              <a:gd name="csX34" fmla="*/ 987552 w 1618488"/>
              <a:gd name="csY34" fmla="*/ 164592 h 1472184"/>
              <a:gd name="csX35" fmla="*/ 969264 w 1618488"/>
              <a:gd name="csY35" fmla="*/ 137160 h 1472184"/>
              <a:gd name="csX36" fmla="*/ 932688 w 1618488"/>
              <a:gd name="csY36" fmla="*/ 91440 h 1472184"/>
              <a:gd name="csX37" fmla="*/ 914400 w 1618488"/>
              <a:gd name="csY37" fmla="*/ 64008 h 1472184"/>
              <a:gd name="csX38" fmla="*/ 850392 w 1618488"/>
              <a:gd name="csY38" fmla="*/ 9144 h 1472184"/>
              <a:gd name="csX39" fmla="*/ 822960 w 1618488"/>
              <a:gd name="csY39" fmla="*/ 0 h 1472184"/>
              <a:gd name="csX40" fmla="*/ 795528 w 1618488"/>
              <a:gd name="csY40" fmla="*/ 9144 h 1472184"/>
              <a:gd name="csX41" fmla="*/ 740664 w 1618488"/>
              <a:gd name="csY41" fmla="*/ 18288 h 1472184"/>
              <a:gd name="csX42" fmla="*/ 694944 w 1618488"/>
              <a:gd name="csY42" fmla="*/ 27432 h 1472184"/>
              <a:gd name="csX43" fmla="*/ 749808 w 1618488"/>
              <a:gd name="csY43" fmla="*/ 45720 h 1472184"/>
              <a:gd name="csX44" fmla="*/ 813816 w 1618488"/>
              <a:gd name="csY44" fmla="*/ 54864 h 1472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8488" h="1472184">
                <a:moveTo>
                  <a:pt x="813816" y="54864"/>
                </a:moveTo>
                <a:cubicBezTo>
                  <a:pt x="807720" y="50292"/>
                  <a:pt x="733356" y="21642"/>
                  <a:pt x="713232" y="18288"/>
                </a:cubicBezTo>
                <a:cubicBezTo>
                  <a:pt x="677029" y="12254"/>
                  <a:pt x="640080" y="12192"/>
                  <a:pt x="603504" y="9144"/>
                </a:cubicBezTo>
                <a:cubicBezTo>
                  <a:pt x="533400" y="15240"/>
                  <a:pt x="462355" y="14464"/>
                  <a:pt x="393192" y="27432"/>
                </a:cubicBezTo>
                <a:cubicBezTo>
                  <a:pt x="363687" y="32964"/>
                  <a:pt x="337138" y="49429"/>
                  <a:pt x="310896" y="64008"/>
                </a:cubicBezTo>
                <a:cubicBezTo>
                  <a:pt x="282076" y="80019"/>
                  <a:pt x="254524" y="98503"/>
                  <a:pt x="228600" y="118872"/>
                </a:cubicBezTo>
                <a:cubicBezTo>
                  <a:pt x="211653" y="132188"/>
                  <a:pt x="197378" y="148644"/>
                  <a:pt x="182880" y="164592"/>
                </a:cubicBezTo>
                <a:cubicBezTo>
                  <a:pt x="139283" y="212548"/>
                  <a:pt x="119439" y="239531"/>
                  <a:pt x="91440" y="301752"/>
                </a:cubicBezTo>
                <a:cubicBezTo>
                  <a:pt x="60691" y="370082"/>
                  <a:pt x="47005" y="431151"/>
                  <a:pt x="27432" y="502920"/>
                </a:cubicBezTo>
                <a:cubicBezTo>
                  <a:pt x="24384" y="533400"/>
                  <a:pt x="20396" y="563801"/>
                  <a:pt x="18288" y="594360"/>
                </a:cubicBezTo>
                <a:cubicBezTo>
                  <a:pt x="628" y="850433"/>
                  <a:pt x="19398" y="686061"/>
                  <a:pt x="0" y="841248"/>
                </a:cubicBezTo>
                <a:cubicBezTo>
                  <a:pt x="9630" y="1033853"/>
                  <a:pt x="-9704" y="975298"/>
                  <a:pt x="36576" y="1106424"/>
                </a:cubicBezTo>
                <a:cubicBezTo>
                  <a:pt x="45243" y="1130981"/>
                  <a:pt x="50609" y="1157245"/>
                  <a:pt x="64008" y="1179576"/>
                </a:cubicBezTo>
                <a:cubicBezTo>
                  <a:pt x="78466" y="1203673"/>
                  <a:pt x="99001" y="1223713"/>
                  <a:pt x="118872" y="1243584"/>
                </a:cubicBezTo>
                <a:cubicBezTo>
                  <a:pt x="168419" y="1293131"/>
                  <a:pt x="219484" y="1332465"/>
                  <a:pt x="283464" y="1362456"/>
                </a:cubicBezTo>
                <a:cubicBezTo>
                  <a:pt x="349065" y="1393206"/>
                  <a:pt x="413024" y="1433735"/>
                  <a:pt x="484632" y="1444752"/>
                </a:cubicBezTo>
                <a:cubicBezTo>
                  <a:pt x="642783" y="1469083"/>
                  <a:pt x="563532" y="1459965"/>
                  <a:pt x="722376" y="1472184"/>
                </a:cubicBezTo>
                <a:cubicBezTo>
                  <a:pt x="774192" y="1466088"/>
                  <a:pt x="826422" y="1462835"/>
                  <a:pt x="877824" y="1453896"/>
                </a:cubicBezTo>
                <a:cubicBezTo>
                  <a:pt x="906578" y="1448895"/>
                  <a:pt x="972928" y="1418362"/>
                  <a:pt x="996696" y="1408176"/>
                </a:cubicBezTo>
                <a:cubicBezTo>
                  <a:pt x="1014984" y="1389888"/>
                  <a:pt x="1034163" y="1372449"/>
                  <a:pt x="1051560" y="1353312"/>
                </a:cubicBezTo>
                <a:cubicBezTo>
                  <a:pt x="1091695" y="1309164"/>
                  <a:pt x="1086039" y="1291135"/>
                  <a:pt x="1152144" y="1271016"/>
                </a:cubicBezTo>
                <a:cubicBezTo>
                  <a:pt x="1199612" y="1256569"/>
                  <a:pt x="1249552" y="1252014"/>
                  <a:pt x="1298448" y="1243584"/>
                </a:cubicBezTo>
                <a:cubicBezTo>
                  <a:pt x="1476555" y="1212876"/>
                  <a:pt x="1356864" y="1240410"/>
                  <a:pt x="1490472" y="1207008"/>
                </a:cubicBezTo>
                <a:cubicBezTo>
                  <a:pt x="1514856" y="1188720"/>
                  <a:pt x="1542950" y="1174541"/>
                  <a:pt x="1563624" y="1152144"/>
                </a:cubicBezTo>
                <a:cubicBezTo>
                  <a:pt x="1604285" y="1108095"/>
                  <a:pt x="1606141" y="1061400"/>
                  <a:pt x="1618488" y="1005840"/>
                </a:cubicBezTo>
                <a:cubicBezTo>
                  <a:pt x="1603248" y="963168"/>
                  <a:pt x="1593032" y="918352"/>
                  <a:pt x="1572768" y="877824"/>
                </a:cubicBezTo>
                <a:cubicBezTo>
                  <a:pt x="1559137" y="850562"/>
                  <a:pt x="1537975" y="827611"/>
                  <a:pt x="1517904" y="804672"/>
                </a:cubicBezTo>
                <a:cubicBezTo>
                  <a:pt x="1448328" y="725156"/>
                  <a:pt x="1443603" y="734339"/>
                  <a:pt x="1362456" y="667512"/>
                </a:cubicBezTo>
                <a:cubicBezTo>
                  <a:pt x="1337445" y="646915"/>
                  <a:pt x="1313047" y="625551"/>
                  <a:pt x="1289304" y="603504"/>
                </a:cubicBezTo>
                <a:cubicBezTo>
                  <a:pt x="1142500" y="467186"/>
                  <a:pt x="1313712" y="626174"/>
                  <a:pt x="1197864" y="493776"/>
                </a:cubicBezTo>
                <a:cubicBezTo>
                  <a:pt x="1169479" y="461336"/>
                  <a:pt x="1106424" y="402336"/>
                  <a:pt x="1106424" y="402336"/>
                </a:cubicBezTo>
                <a:cubicBezTo>
                  <a:pt x="1100328" y="387096"/>
                  <a:pt x="1095014" y="371519"/>
                  <a:pt x="1088136" y="356616"/>
                </a:cubicBezTo>
                <a:cubicBezTo>
                  <a:pt x="1076712" y="331863"/>
                  <a:pt x="1058172" y="309912"/>
                  <a:pt x="1051560" y="283464"/>
                </a:cubicBezTo>
                <a:cubicBezTo>
                  <a:pt x="1048512" y="271272"/>
                  <a:pt x="1047520" y="258372"/>
                  <a:pt x="1042416" y="246888"/>
                </a:cubicBezTo>
                <a:cubicBezTo>
                  <a:pt x="1027866" y="214149"/>
                  <a:pt x="1007878" y="193049"/>
                  <a:pt x="987552" y="164592"/>
                </a:cubicBezTo>
                <a:cubicBezTo>
                  <a:pt x="981164" y="155649"/>
                  <a:pt x="975858" y="145952"/>
                  <a:pt x="969264" y="137160"/>
                </a:cubicBezTo>
                <a:cubicBezTo>
                  <a:pt x="957554" y="121547"/>
                  <a:pt x="944398" y="107053"/>
                  <a:pt x="932688" y="91440"/>
                </a:cubicBezTo>
                <a:cubicBezTo>
                  <a:pt x="926094" y="82648"/>
                  <a:pt x="921552" y="72352"/>
                  <a:pt x="914400" y="64008"/>
                </a:cubicBezTo>
                <a:cubicBezTo>
                  <a:pt x="897527" y="44322"/>
                  <a:pt x="874659" y="21278"/>
                  <a:pt x="850392" y="9144"/>
                </a:cubicBezTo>
                <a:cubicBezTo>
                  <a:pt x="841771" y="4833"/>
                  <a:pt x="832104" y="3048"/>
                  <a:pt x="822960" y="0"/>
                </a:cubicBezTo>
                <a:cubicBezTo>
                  <a:pt x="813816" y="3048"/>
                  <a:pt x="804937" y="7053"/>
                  <a:pt x="795528" y="9144"/>
                </a:cubicBezTo>
                <a:cubicBezTo>
                  <a:pt x="777429" y="13166"/>
                  <a:pt x="758905" y="14971"/>
                  <a:pt x="740664" y="18288"/>
                </a:cubicBezTo>
                <a:cubicBezTo>
                  <a:pt x="725373" y="21068"/>
                  <a:pt x="710184" y="24384"/>
                  <a:pt x="694944" y="27432"/>
                </a:cubicBezTo>
                <a:cubicBezTo>
                  <a:pt x="713232" y="33528"/>
                  <a:pt x="731106" y="41045"/>
                  <a:pt x="749808" y="45720"/>
                </a:cubicBezTo>
                <a:cubicBezTo>
                  <a:pt x="792996" y="56517"/>
                  <a:pt x="819912" y="59436"/>
                  <a:pt x="813816" y="54864"/>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 Model</a:t>
            </a:r>
          </a:p>
        </p:txBody>
      </p:sp>
      <p:sp>
        <p:nvSpPr>
          <p:cNvPr id="3" name="Oval 2">
            <a:extLst>
              <a:ext uri="{FF2B5EF4-FFF2-40B4-BE49-F238E27FC236}">
                <a16:creationId xmlns:a16="http://schemas.microsoft.com/office/drawing/2014/main" id="{DE22D1DF-259E-1CC8-F265-D434060099F8}"/>
              </a:ext>
            </a:extLst>
          </p:cNvPr>
          <p:cNvSpPr/>
          <p:nvPr/>
        </p:nvSpPr>
        <p:spPr>
          <a:xfrm>
            <a:off x="4965192" y="4096512"/>
            <a:ext cx="3749040" cy="11495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grpSp>
        <p:nvGrpSpPr>
          <p:cNvPr id="8" name="Group 7">
            <a:extLst>
              <a:ext uri="{FF2B5EF4-FFF2-40B4-BE49-F238E27FC236}">
                <a16:creationId xmlns:a16="http://schemas.microsoft.com/office/drawing/2014/main" id="{33A74F51-6EE3-8480-3F5C-9E35B175339E}"/>
              </a:ext>
            </a:extLst>
          </p:cNvPr>
          <p:cNvGrpSpPr/>
          <p:nvPr/>
        </p:nvGrpSpPr>
        <p:grpSpPr>
          <a:xfrm>
            <a:off x="3675888" y="4279392"/>
            <a:ext cx="792720" cy="266760"/>
            <a:chOff x="2910024" y="4399416"/>
            <a:chExt cx="792720" cy="266760"/>
          </a:xfrm>
        </p:grpSpPr>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CCD839BD-4347-462F-AC29-084818E84A94}"/>
                    </a:ext>
                  </a:extLst>
                </p14:cNvPr>
                <p14:cNvContentPartPr/>
                <p14:nvPr/>
              </p14:nvContentPartPr>
              <p14:xfrm>
                <a:off x="2910024" y="4525776"/>
                <a:ext cx="739440" cy="64800"/>
              </p14:xfrm>
            </p:contentPart>
          </mc:Choice>
          <mc:Fallback xmlns="">
            <p:pic>
              <p:nvPicPr>
                <p:cNvPr id="10" name="Ink 9">
                  <a:extLst>
                    <a:ext uri="{FF2B5EF4-FFF2-40B4-BE49-F238E27FC236}">
                      <a16:creationId xmlns:a16="http://schemas.microsoft.com/office/drawing/2014/main" id="{CCD839BD-4347-462F-AC29-084818E84A94}"/>
                    </a:ext>
                  </a:extLst>
                </p:cNvPr>
                <p:cNvPicPr/>
                <p:nvPr/>
              </p:nvPicPr>
              <p:blipFill>
                <a:blip r:embed="rId3"/>
                <a:stretch>
                  <a:fillRect/>
                </a:stretch>
              </p:blipFill>
              <p:spPr>
                <a:xfrm>
                  <a:off x="2892033" y="4507776"/>
                  <a:ext cx="775063"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1" name="Ink 10">
                  <a:extLst>
                    <a:ext uri="{FF2B5EF4-FFF2-40B4-BE49-F238E27FC236}">
                      <a16:creationId xmlns:a16="http://schemas.microsoft.com/office/drawing/2014/main" id="{EFE146C4-ADD8-516C-5ED4-9A1E3F3B836A}"/>
                    </a:ext>
                  </a:extLst>
                </p14:cNvPr>
                <p14:cNvContentPartPr/>
                <p14:nvPr/>
              </p14:nvContentPartPr>
              <p14:xfrm>
                <a:off x="3521304" y="4399416"/>
                <a:ext cx="181440" cy="266760"/>
              </p14:xfrm>
            </p:contentPart>
          </mc:Choice>
          <mc:Fallback xmlns="">
            <p:pic>
              <p:nvPicPr>
                <p:cNvPr id="11" name="Ink 10">
                  <a:extLst>
                    <a:ext uri="{FF2B5EF4-FFF2-40B4-BE49-F238E27FC236}">
                      <a16:creationId xmlns:a16="http://schemas.microsoft.com/office/drawing/2014/main" id="{EFE146C4-ADD8-516C-5ED4-9A1E3F3B836A}"/>
                    </a:ext>
                  </a:extLst>
                </p:cNvPr>
                <p:cNvPicPr/>
                <p:nvPr/>
              </p:nvPicPr>
              <p:blipFill>
                <a:blip r:embed="rId5"/>
                <a:stretch>
                  <a:fillRect/>
                </a:stretch>
              </p:blipFill>
              <p:spPr>
                <a:xfrm>
                  <a:off x="3503304" y="4381392"/>
                  <a:ext cx="217080" cy="302448"/>
                </a:xfrm>
                <a:prstGeom prst="rect">
                  <a:avLst/>
                </a:prstGeom>
              </p:spPr>
            </p:pic>
          </mc:Fallback>
        </mc:AlternateContent>
      </p:grpSp>
    </p:spTree>
    <p:extLst>
      <p:ext uri="{BB962C8B-B14F-4D97-AF65-F5344CB8AC3E}">
        <p14:creationId xmlns:p14="http://schemas.microsoft.com/office/powerpoint/2010/main" val="19024300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B84CC-4929-13D9-91B2-B60EAE3A3F3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D0E6666B-181D-D4FE-2B5C-51EB40C8C5B9}"/>
              </a:ext>
            </a:extLst>
          </p:cNvPr>
          <p:cNvSpPr txBox="1"/>
          <p:nvPr/>
        </p:nvSpPr>
        <p:spPr>
          <a:xfrm>
            <a:off x="148336" y="199104"/>
            <a:ext cx="11711432" cy="3416320"/>
          </a:xfrm>
          <a:prstGeom prst="rect">
            <a:avLst/>
          </a:prstGeom>
          <a:noFill/>
        </p:spPr>
        <p:txBody>
          <a:bodyPr wrap="square">
            <a:spAutoFit/>
          </a:bodyPr>
          <a:lstStyle/>
          <a:p>
            <a:r>
              <a:rPr lang="en-US" sz="2400" b="1" dirty="0">
                <a:solidFill>
                  <a:schemeClr val="accent6">
                    <a:lumMod val="60000"/>
                    <a:lumOff val="40000"/>
                  </a:schemeClr>
                </a:solidFill>
              </a:rPr>
              <a:t>When not to fine-tune:</a:t>
            </a:r>
          </a:p>
          <a:p>
            <a:pPr marL="342900" indent="-342900">
              <a:buFont typeface="Arial" panose="020B0604020202020204" pitchFamily="34" charset="0"/>
              <a:buChar char="•"/>
            </a:pPr>
            <a:r>
              <a:rPr lang="en-US" sz="2400" b="1" dirty="0">
                <a:solidFill>
                  <a:schemeClr val="accent6">
                    <a:lumMod val="60000"/>
                    <a:lumOff val="40000"/>
                  </a:schemeClr>
                </a:solidFill>
              </a:rPr>
              <a:t>Your dataset is very small</a:t>
            </a:r>
            <a:r>
              <a:rPr lang="en-US" sz="2400" dirty="0">
                <a:solidFill>
                  <a:schemeClr val="accent6">
                    <a:lumMod val="60000"/>
                    <a:lumOff val="40000"/>
                  </a:schemeClr>
                </a:solidFill>
              </a:rPr>
              <a:t>. Fine-tuning requires hundreds to thousands of quality examples.</a:t>
            </a:r>
          </a:p>
          <a:p>
            <a:pPr marL="342900" indent="-342900">
              <a:buFont typeface="Arial" panose="020B0604020202020204" pitchFamily="34" charset="0"/>
              <a:buChar char="•"/>
            </a:pPr>
            <a:r>
              <a:rPr lang="en-US" sz="2400" dirty="0">
                <a:solidFill>
                  <a:schemeClr val="accent6">
                    <a:lumMod val="60000"/>
                    <a:lumOff val="40000"/>
                  </a:schemeClr>
                </a:solidFill>
              </a:rPr>
              <a:t>Your </a:t>
            </a:r>
            <a:r>
              <a:rPr lang="en-US" sz="2400" b="1" dirty="0">
                <a:solidFill>
                  <a:schemeClr val="accent6">
                    <a:lumMod val="60000"/>
                    <a:lumOff val="40000"/>
                  </a:schemeClr>
                </a:solidFill>
              </a:rPr>
              <a:t>task is extremely dissimilar</a:t>
            </a:r>
            <a:r>
              <a:rPr lang="en-US" sz="2400" dirty="0">
                <a:solidFill>
                  <a:schemeClr val="accent6">
                    <a:lumMod val="60000"/>
                    <a:lumOff val="40000"/>
                  </a:schemeClr>
                </a:solidFill>
              </a:rPr>
              <a:t> from the base model’s training data. The model may struggle to connect its existing knowledge to this new domain.</a:t>
            </a:r>
          </a:p>
          <a:p>
            <a:pPr marL="342900" indent="-342900">
              <a:buFont typeface="Arial" panose="020B0604020202020204" pitchFamily="34" charset="0"/>
              <a:buChar char="•"/>
            </a:pPr>
            <a:r>
              <a:rPr lang="en-US" sz="2400" dirty="0">
                <a:solidFill>
                  <a:schemeClr val="accent6">
                    <a:lumMod val="60000"/>
                    <a:lumOff val="40000"/>
                  </a:schemeClr>
                </a:solidFill>
              </a:rPr>
              <a:t>You need to </a:t>
            </a:r>
            <a:r>
              <a:rPr lang="en-US" sz="2400" b="1" dirty="0">
                <a:solidFill>
                  <a:schemeClr val="accent6">
                    <a:lumMod val="60000"/>
                    <a:lumOff val="40000"/>
                  </a:schemeClr>
                </a:solidFill>
              </a:rPr>
              <a:t>frequently update</a:t>
            </a:r>
            <a:r>
              <a:rPr lang="en-US" sz="2400" dirty="0">
                <a:solidFill>
                  <a:schemeClr val="accent6">
                    <a:lumMod val="60000"/>
                    <a:lumOff val="40000"/>
                  </a:schemeClr>
                </a:solidFill>
              </a:rPr>
              <a:t> the model. Retraining from scratch allows for more flexibility.</a:t>
            </a:r>
          </a:p>
          <a:p>
            <a:pPr marL="342900" indent="-342900">
              <a:buFont typeface="Arial" panose="020B0604020202020204" pitchFamily="34" charset="0"/>
              <a:buChar char="•"/>
            </a:pPr>
            <a:r>
              <a:rPr lang="en-US" sz="2400" dirty="0">
                <a:solidFill>
                  <a:schemeClr val="accent6">
                    <a:lumMod val="60000"/>
                    <a:lumOff val="40000"/>
                  </a:schemeClr>
                </a:solidFill>
              </a:rPr>
              <a:t>Your </a:t>
            </a:r>
            <a:r>
              <a:rPr lang="en-US" sz="2400" b="1" dirty="0">
                <a:solidFill>
                  <a:schemeClr val="accent6">
                    <a:lumMod val="60000"/>
                    <a:lumOff val="40000"/>
                  </a:schemeClr>
                </a:solidFill>
              </a:rPr>
              <a:t>problem can be solved with simpler methods</a:t>
            </a:r>
            <a:r>
              <a:rPr lang="en-US" sz="2400" dirty="0">
                <a:solidFill>
                  <a:schemeClr val="accent6">
                    <a:lumMod val="60000"/>
                    <a:lumOff val="40000"/>
                  </a:schemeClr>
                </a:solidFill>
              </a:rPr>
              <a:t>. Fine-tuning large models can be overkill.</a:t>
            </a:r>
          </a:p>
        </p:txBody>
      </p:sp>
      <p:sp>
        <p:nvSpPr>
          <p:cNvPr id="11" name="Oval 10">
            <a:extLst>
              <a:ext uri="{FF2B5EF4-FFF2-40B4-BE49-F238E27FC236}">
                <a16:creationId xmlns:a16="http://schemas.microsoft.com/office/drawing/2014/main" id="{65B464CF-78FC-91E9-22A1-007969381CD2}"/>
              </a:ext>
            </a:extLst>
          </p:cNvPr>
          <p:cNvSpPr/>
          <p:nvPr/>
        </p:nvSpPr>
        <p:spPr>
          <a:xfrm>
            <a:off x="4965192" y="4096512"/>
            <a:ext cx="3749040" cy="11495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grpSp>
        <p:nvGrpSpPr>
          <p:cNvPr id="12" name="Group 11">
            <a:extLst>
              <a:ext uri="{FF2B5EF4-FFF2-40B4-BE49-F238E27FC236}">
                <a16:creationId xmlns:a16="http://schemas.microsoft.com/office/drawing/2014/main" id="{33D3C230-06F9-6A09-1288-1BF7BFFC4055}"/>
              </a:ext>
            </a:extLst>
          </p:cNvPr>
          <p:cNvGrpSpPr/>
          <p:nvPr/>
        </p:nvGrpSpPr>
        <p:grpSpPr>
          <a:xfrm>
            <a:off x="3675888" y="4279392"/>
            <a:ext cx="792720" cy="266760"/>
            <a:chOff x="2910024" y="4399416"/>
            <a:chExt cx="792720" cy="266760"/>
          </a:xfrm>
        </p:grpSpPr>
        <mc:AlternateContent xmlns:mc="http://schemas.openxmlformats.org/markup-compatibility/2006" xmlns:p14="http://schemas.microsoft.com/office/powerpoint/2010/main">
          <mc:Choice Requires="p14">
            <p:contentPart p14:bwMode="auto" r:id="rId2">
              <p14:nvContentPartPr>
                <p14:cNvPr id="13" name="Ink 12">
                  <a:extLst>
                    <a:ext uri="{FF2B5EF4-FFF2-40B4-BE49-F238E27FC236}">
                      <a16:creationId xmlns:a16="http://schemas.microsoft.com/office/drawing/2014/main" id="{8185845F-5C03-8707-80BB-7767DA04B8CF}"/>
                    </a:ext>
                  </a:extLst>
                </p14:cNvPr>
                <p14:cNvContentPartPr/>
                <p14:nvPr/>
              </p14:nvContentPartPr>
              <p14:xfrm>
                <a:off x="2910024" y="4525776"/>
                <a:ext cx="739440" cy="64800"/>
              </p14:xfrm>
            </p:contentPart>
          </mc:Choice>
          <mc:Fallback xmlns="">
            <p:pic>
              <p:nvPicPr>
                <p:cNvPr id="13" name="Ink 12">
                  <a:extLst>
                    <a:ext uri="{FF2B5EF4-FFF2-40B4-BE49-F238E27FC236}">
                      <a16:creationId xmlns:a16="http://schemas.microsoft.com/office/drawing/2014/main" id="{8185845F-5C03-8707-80BB-7767DA04B8CF}"/>
                    </a:ext>
                  </a:extLst>
                </p:cNvPr>
                <p:cNvPicPr/>
                <p:nvPr/>
              </p:nvPicPr>
              <p:blipFill>
                <a:blip r:embed="rId3"/>
                <a:stretch>
                  <a:fillRect/>
                </a:stretch>
              </p:blipFill>
              <p:spPr>
                <a:xfrm>
                  <a:off x="2892033" y="4507776"/>
                  <a:ext cx="775063"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36C7884-F3AE-C9D4-4121-F723C1D044E5}"/>
                    </a:ext>
                  </a:extLst>
                </p14:cNvPr>
                <p14:cNvContentPartPr/>
                <p14:nvPr/>
              </p14:nvContentPartPr>
              <p14:xfrm>
                <a:off x="3521304" y="4399416"/>
                <a:ext cx="181440" cy="266760"/>
              </p14:xfrm>
            </p:contentPart>
          </mc:Choice>
          <mc:Fallback xmlns="">
            <p:pic>
              <p:nvPicPr>
                <p:cNvPr id="14" name="Ink 13">
                  <a:extLst>
                    <a:ext uri="{FF2B5EF4-FFF2-40B4-BE49-F238E27FC236}">
                      <a16:creationId xmlns:a16="http://schemas.microsoft.com/office/drawing/2014/main" id="{636C7884-F3AE-C9D4-4121-F723C1D044E5}"/>
                    </a:ext>
                  </a:extLst>
                </p:cNvPr>
                <p:cNvPicPr/>
                <p:nvPr/>
              </p:nvPicPr>
              <p:blipFill>
                <a:blip r:embed="rId5"/>
                <a:stretch>
                  <a:fillRect/>
                </a:stretch>
              </p:blipFill>
              <p:spPr>
                <a:xfrm>
                  <a:off x="3503304" y="4381392"/>
                  <a:ext cx="217080" cy="302448"/>
                </a:xfrm>
                <a:prstGeom prst="rect">
                  <a:avLst/>
                </a:prstGeom>
              </p:spPr>
            </p:pic>
          </mc:Fallback>
        </mc:AlternateContent>
      </p:grpSp>
      <p:sp>
        <p:nvSpPr>
          <p:cNvPr id="15" name="Freeform: Shape 14">
            <a:extLst>
              <a:ext uri="{FF2B5EF4-FFF2-40B4-BE49-F238E27FC236}">
                <a16:creationId xmlns:a16="http://schemas.microsoft.com/office/drawing/2014/main" id="{A1597FDB-B0D0-DFAE-EEFC-7EC7CAFC50E5}"/>
              </a:ext>
            </a:extLst>
          </p:cNvPr>
          <p:cNvSpPr/>
          <p:nvPr/>
        </p:nvSpPr>
        <p:spPr>
          <a:xfrm>
            <a:off x="548640" y="3922776"/>
            <a:ext cx="2249424" cy="1938528"/>
          </a:xfrm>
          <a:custGeom>
            <a:avLst/>
            <a:gdLst>
              <a:gd name="csX0" fmla="*/ 813816 w 1618488"/>
              <a:gd name="csY0" fmla="*/ 54864 h 1472184"/>
              <a:gd name="csX1" fmla="*/ 713232 w 1618488"/>
              <a:gd name="csY1" fmla="*/ 18288 h 1472184"/>
              <a:gd name="csX2" fmla="*/ 603504 w 1618488"/>
              <a:gd name="csY2" fmla="*/ 9144 h 1472184"/>
              <a:gd name="csX3" fmla="*/ 393192 w 1618488"/>
              <a:gd name="csY3" fmla="*/ 27432 h 1472184"/>
              <a:gd name="csX4" fmla="*/ 310896 w 1618488"/>
              <a:gd name="csY4" fmla="*/ 64008 h 1472184"/>
              <a:gd name="csX5" fmla="*/ 228600 w 1618488"/>
              <a:gd name="csY5" fmla="*/ 118872 h 1472184"/>
              <a:gd name="csX6" fmla="*/ 182880 w 1618488"/>
              <a:gd name="csY6" fmla="*/ 164592 h 1472184"/>
              <a:gd name="csX7" fmla="*/ 91440 w 1618488"/>
              <a:gd name="csY7" fmla="*/ 301752 h 1472184"/>
              <a:gd name="csX8" fmla="*/ 27432 w 1618488"/>
              <a:gd name="csY8" fmla="*/ 502920 h 1472184"/>
              <a:gd name="csX9" fmla="*/ 18288 w 1618488"/>
              <a:gd name="csY9" fmla="*/ 594360 h 1472184"/>
              <a:gd name="csX10" fmla="*/ 0 w 1618488"/>
              <a:gd name="csY10" fmla="*/ 841248 h 1472184"/>
              <a:gd name="csX11" fmla="*/ 36576 w 1618488"/>
              <a:gd name="csY11" fmla="*/ 1106424 h 1472184"/>
              <a:gd name="csX12" fmla="*/ 64008 w 1618488"/>
              <a:gd name="csY12" fmla="*/ 1179576 h 1472184"/>
              <a:gd name="csX13" fmla="*/ 118872 w 1618488"/>
              <a:gd name="csY13" fmla="*/ 1243584 h 1472184"/>
              <a:gd name="csX14" fmla="*/ 283464 w 1618488"/>
              <a:gd name="csY14" fmla="*/ 1362456 h 1472184"/>
              <a:gd name="csX15" fmla="*/ 484632 w 1618488"/>
              <a:gd name="csY15" fmla="*/ 1444752 h 1472184"/>
              <a:gd name="csX16" fmla="*/ 722376 w 1618488"/>
              <a:gd name="csY16" fmla="*/ 1472184 h 1472184"/>
              <a:gd name="csX17" fmla="*/ 877824 w 1618488"/>
              <a:gd name="csY17" fmla="*/ 1453896 h 1472184"/>
              <a:gd name="csX18" fmla="*/ 996696 w 1618488"/>
              <a:gd name="csY18" fmla="*/ 1408176 h 1472184"/>
              <a:gd name="csX19" fmla="*/ 1051560 w 1618488"/>
              <a:gd name="csY19" fmla="*/ 1353312 h 1472184"/>
              <a:gd name="csX20" fmla="*/ 1152144 w 1618488"/>
              <a:gd name="csY20" fmla="*/ 1271016 h 1472184"/>
              <a:gd name="csX21" fmla="*/ 1298448 w 1618488"/>
              <a:gd name="csY21" fmla="*/ 1243584 h 1472184"/>
              <a:gd name="csX22" fmla="*/ 1490472 w 1618488"/>
              <a:gd name="csY22" fmla="*/ 1207008 h 1472184"/>
              <a:gd name="csX23" fmla="*/ 1563624 w 1618488"/>
              <a:gd name="csY23" fmla="*/ 1152144 h 1472184"/>
              <a:gd name="csX24" fmla="*/ 1618488 w 1618488"/>
              <a:gd name="csY24" fmla="*/ 1005840 h 1472184"/>
              <a:gd name="csX25" fmla="*/ 1572768 w 1618488"/>
              <a:gd name="csY25" fmla="*/ 877824 h 1472184"/>
              <a:gd name="csX26" fmla="*/ 1517904 w 1618488"/>
              <a:gd name="csY26" fmla="*/ 804672 h 1472184"/>
              <a:gd name="csX27" fmla="*/ 1362456 w 1618488"/>
              <a:gd name="csY27" fmla="*/ 667512 h 1472184"/>
              <a:gd name="csX28" fmla="*/ 1289304 w 1618488"/>
              <a:gd name="csY28" fmla="*/ 603504 h 1472184"/>
              <a:gd name="csX29" fmla="*/ 1197864 w 1618488"/>
              <a:gd name="csY29" fmla="*/ 493776 h 1472184"/>
              <a:gd name="csX30" fmla="*/ 1106424 w 1618488"/>
              <a:gd name="csY30" fmla="*/ 402336 h 1472184"/>
              <a:gd name="csX31" fmla="*/ 1088136 w 1618488"/>
              <a:gd name="csY31" fmla="*/ 356616 h 1472184"/>
              <a:gd name="csX32" fmla="*/ 1051560 w 1618488"/>
              <a:gd name="csY32" fmla="*/ 283464 h 1472184"/>
              <a:gd name="csX33" fmla="*/ 1042416 w 1618488"/>
              <a:gd name="csY33" fmla="*/ 246888 h 1472184"/>
              <a:gd name="csX34" fmla="*/ 987552 w 1618488"/>
              <a:gd name="csY34" fmla="*/ 164592 h 1472184"/>
              <a:gd name="csX35" fmla="*/ 969264 w 1618488"/>
              <a:gd name="csY35" fmla="*/ 137160 h 1472184"/>
              <a:gd name="csX36" fmla="*/ 932688 w 1618488"/>
              <a:gd name="csY36" fmla="*/ 91440 h 1472184"/>
              <a:gd name="csX37" fmla="*/ 914400 w 1618488"/>
              <a:gd name="csY37" fmla="*/ 64008 h 1472184"/>
              <a:gd name="csX38" fmla="*/ 850392 w 1618488"/>
              <a:gd name="csY38" fmla="*/ 9144 h 1472184"/>
              <a:gd name="csX39" fmla="*/ 822960 w 1618488"/>
              <a:gd name="csY39" fmla="*/ 0 h 1472184"/>
              <a:gd name="csX40" fmla="*/ 795528 w 1618488"/>
              <a:gd name="csY40" fmla="*/ 9144 h 1472184"/>
              <a:gd name="csX41" fmla="*/ 740664 w 1618488"/>
              <a:gd name="csY41" fmla="*/ 18288 h 1472184"/>
              <a:gd name="csX42" fmla="*/ 694944 w 1618488"/>
              <a:gd name="csY42" fmla="*/ 27432 h 1472184"/>
              <a:gd name="csX43" fmla="*/ 749808 w 1618488"/>
              <a:gd name="csY43" fmla="*/ 45720 h 1472184"/>
              <a:gd name="csX44" fmla="*/ 813816 w 1618488"/>
              <a:gd name="csY44" fmla="*/ 54864 h 1472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8488" h="1472184">
                <a:moveTo>
                  <a:pt x="813816" y="54864"/>
                </a:moveTo>
                <a:cubicBezTo>
                  <a:pt x="807720" y="50292"/>
                  <a:pt x="733356" y="21642"/>
                  <a:pt x="713232" y="18288"/>
                </a:cubicBezTo>
                <a:cubicBezTo>
                  <a:pt x="677029" y="12254"/>
                  <a:pt x="640080" y="12192"/>
                  <a:pt x="603504" y="9144"/>
                </a:cubicBezTo>
                <a:cubicBezTo>
                  <a:pt x="533400" y="15240"/>
                  <a:pt x="462355" y="14464"/>
                  <a:pt x="393192" y="27432"/>
                </a:cubicBezTo>
                <a:cubicBezTo>
                  <a:pt x="363687" y="32964"/>
                  <a:pt x="337138" y="49429"/>
                  <a:pt x="310896" y="64008"/>
                </a:cubicBezTo>
                <a:cubicBezTo>
                  <a:pt x="282076" y="80019"/>
                  <a:pt x="254524" y="98503"/>
                  <a:pt x="228600" y="118872"/>
                </a:cubicBezTo>
                <a:cubicBezTo>
                  <a:pt x="211653" y="132188"/>
                  <a:pt x="197378" y="148644"/>
                  <a:pt x="182880" y="164592"/>
                </a:cubicBezTo>
                <a:cubicBezTo>
                  <a:pt x="139283" y="212548"/>
                  <a:pt x="119439" y="239531"/>
                  <a:pt x="91440" y="301752"/>
                </a:cubicBezTo>
                <a:cubicBezTo>
                  <a:pt x="60691" y="370082"/>
                  <a:pt x="47005" y="431151"/>
                  <a:pt x="27432" y="502920"/>
                </a:cubicBezTo>
                <a:cubicBezTo>
                  <a:pt x="24384" y="533400"/>
                  <a:pt x="20396" y="563801"/>
                  <a:pt x="18288" y="594360"/>
                </a:cubicBezTo>
                <a:cubicBezTo>
                  <a:pt x="628" y="850433"/>
                  <a:pt x="19398" y="686061"/>
                  <a:pt x="0" y="841248"/>
                </a:cubicBezTo>
                <a:cubicBezTo>
                  <a:pt x="9630" y="1033853"/>
                  <a:pt x="-9704" y="975298"/>
                  <a:pt x="36576" y="1106424"/>
                </a:cubicBezTo>
                <a:cubicBezTo>
                  <a:pt x="45243" y="1130981"/>
                  <a:pt x="50609" y="1157245"/>
                  <a:pt x="64008" y="1179576"/>
                </a:cubicBezTo>
                <a:cubicBezTo>
                  <a:pt x="78466" y="1203673"/>
                  <a:pt x="99001" y="1223713"/>
                  <a:pt x="118872" y="1243584"/>
                </a:cubicBezTo>
                <a:cubicBezTo>
                  <a:pt x="168419" y="1293131"/>
                  <a:pt x="219484" y="1332465"/>
                  <a:pt x="283464" y="1362456"/>
                </a:cubicBezTo>
                <a:cubicBezTo>
                  <a:pt x="349065" y="1393206"/>
                  <a:pt x="413024" y="1433735"/>
                  <a:pt x="484632" y="1444752"/>
                </a:cubicBezTo>
                <a:cubicBezTo>
                  <a:pt x="642783" y="1469083"/>
                  <a:pt x="563532" y="1459965"/>
                  <a:pt x="722376" y="1472184"/>
                </a:cubicBezTo>
                <a:cubicBezTo>
                  <a:pt x="774192" y="1466088"/>
                  <a:pt x="826422" y="1462835"/>
                  <a:pt x="877824" y="1453896"/>
                </a:cubicBezTo>
                <a:cubicBezTo>
                  <a:pt x="906578" y="1448895"/>
                  <a:pt x="972928" y="1418362"/>
                  <a:pt x="996696" y="1408176"/>
                </a:cubicBezTo>
                <a:cubicBezTo>
                  <a:pt x="1014984" y="1389888"/>
                  <a:pt x="1034163" y="1372449"/>
                  <a:pt x="1051560" y="1353312"/>
                </a:cubicBezTo>
                <a:cubicBezTo>
                  <a:pt x="1091695" y="1309164"/>
                  <a:pt x="1086039" y="1291135"/>
                  <a:pt x="1152144" y="1271016"/>
                </a:cubicBezTo>
                <a:cubicBezTo>
                  <a:pt x="1199612" y="1256569"/>
                  <a:pt x="1249552" y="1252014"/>
                  <a:pt x="1298448" y="1243584"/>
                </a:cubicBezTo>
                <a:cubicBezTo>
                  <a:pt x="1476555" y="1212876"/>
                  <a:pt x="1356864" y="1240410"/>
                  <a:pt x="1490472" y="1207008"/>
                </a:cubicBezTo>
                <a:cubicBezTo>
                  <a:pt x="1514856" y="1188720"/>
                  <a:pt x="1542950" y="1174541"/>
                  <a:pt x="1563624" y="1152144"/>
                </a:cubicBezTo>
                <a:cubicBezTo>
                  <a:pt x="1604285" y="1108095"/>
                  <a:pt x="1606141" y="1061400"/>
                  <a:pt x="1618488" y="1005840"/>
                </a:cubicBezTo>
                <a:cubicBezTo>
                  <a:pt x="1603248" y="963168"/>
                  <a:pt x="1593032" y="918352"/>
                  <a:pt x="1572768" y="877824"/>
                </a:cubicBezTo>
                <a:cubicBezTo>
                  <a:pt x="1559137" y="850562"/>
                  <a:pt x="1537975" y="827611"/>
                  <a:pt x="1517904" y="804672"/>
                </a:cubicBezTo>
                <a:cubicBezTo>
                  <a:pt x="1448328" y="725156"/>
                  <a:pt x="1443603" y="734339"/>
                  <a:pt x="1362456" y="667512"/>
                </a:cubicBezTo>
                <a:cubicBezTo>
                  <a:pt x="1337445" y="646915"/>
                  <a:pt x="1313047" y="625551"/>
                  <a:pt x="1289304" y="603504"/>
                </a:cubicBezTo>
                <a:cubicBezTo>
                  <a:pt x="1142500" y="467186"/>
                  <a:pt x="1313712" y="626174"/>
                  <a:pt x="1197864" y="493776"/>
                </a:cubicBezTo>
                <a:cubicBezTo>
                  <a:pt x="1169479" y="461336"/>
                  <a:pt x="1106424" y="402336"/>
                  <a:pt x="1106424" y="402336"/>
                </a:cubicBezTo>
                <a:cubicBezTo>
                  <a:pt x="1100328" y="387096"/>
                  <a:pt x="1095014" y="371519"/>
                  <a:pt x="1088136" y="356616"/>
                </a:cubicBezTo>
                <a:cubicBezTo>
                  <a:pt x="1076712" y="331863"/>
                  <a:pt x="1058172" y="309912"/>
                  <a:pt x="1051560" y="283464"/>
                </a:cubicBezTo>
                <a:cubicBezTo>
                  <a:pt x="1048512" y="271272"/>
                  <a:pt x="1047520" y="258372"/>
                  <a:pt x="1042416" y="246888"/>
                </a:cubicBezTo>
                <a:cubicBezTo>
                  <a:pt x="1027866" y="214149"/>
                  <a:pt x="1007878" y="193049"/>
                  <a:pt x="987552" y="164592"/>
                </a:cubicBezTo>
                <a:cubicBezTo>
                  <a:pt x="981164" y="155649"/>
                  <a:pt x="975858" y="145952"/>
                  <a:pt x="969264" y="137160"/>
                </a:cubicBezTo>
                <a:cubicBezTo>
                  <a:pt x="957554" y="121547"/>
                  <a:pt x="944398" y="107053"/>
                  <a:pt x="932688" y="91440"/>
                </a:cubicBezTo>
                <a:cubicBezTo>
                  <a:pt x="926094" y="82648"/>
                  <a:pt x="921552" y="72352"/>
                  <a:pt x="914400" y="64008"/>
                </a:cubicBezTo>
                <a:cubicBezTo>
                  <a:pt x="897527" y="44322"/>
                  <a:pt x="874659" y="21278"/>
                  <a:pt x="850392" y="9144"/>
                </a:cubicBezTo>
                <a:cubicBezTo>
                  <a:pt x="841771" y="4833"/>
                  <a:pt x="832104" y="3048"/>
                  <a:pt x="822960" y="0"/>
                </a:cubicBezTo>
                <a:cubicBezTo>
                  <a:pt x="813816" y="3048"/>
                  <a:pt x="804937" y="7053"/>
                  <a:pt x="795528" y="9144"/>
                </a:cubicBezTo>
                <a:cubicBezTo>
                  <a:pt x="777429" y="13166"/>
                  <a:pt x="758905" y="14971"/>
                  <a:pt x="740664" y="18288"/>
                </a:cubicBezTo>
                <a:cubicBezTo>
                  <a:pt x="725373" y="21068"/>
                  <a:pt x="710184" y="24384"/>
                  <a:pt x="694944" y="27432"/>
                </a:cubicBezTo>
                <a:cubicBezTo>
                  <a:pt x="713232" y="33528"/>
                  <a:pt x="731106" y="41045"/>
                  <a:pt x="749808" y="45720"/>
                </a:cubicBezTo>
                <a:cubicBezTo>
                  <a:pt x="792996" y="56517"/>
                  <a:pt x="819912" y="59436"/>
                  <a:pt x="813816" y="54864"/>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 Model</a:t>
            </a:r>
          </a:p>
        </p:txBody>
      </p:sp>
    </p:spTree>
    <p:extLst>
      <p:ext uri="{BB962C8B-B14F-4D97-AF65-F5344CB8AC3E}">
        <p14:creationId xmlns:p14="http://schemas.microsoft.com/office/powerpoint/2010/main" val="17859136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9F317-A865-F278-C0E2-CF451F11C6A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FA009D26-D23A-326C-D837-2E6FAD1FBC4F}"/>
              </a:ext>
            </a:extLst>
          </p:cNvPr>
          <p:cNvSpPr txBox="1"/>
          <p:nvPr/>
        </p:nvSpPr>
        <p:spPr>
          <a:xfrm>
            <a:off x="148336" y="199104"/>
            <a:ext cx="10292080" cy="1569660"/>
          </a:xfrm>
          <a:prstGeom prst="rect">
            <a:avLst/>
          </a:prstGeom>
          <a:noFill/>
        </p:spPr>
        <p:txBody>
          <a:bodyPr wrap="square">
            <a:spAutoFit/>
          </a:bodyPr>
          <a:lstStyle/>
          <a:p>
            <a:r>
              <a:rPr lang="en-US" sz="2400" b="1" dirty="0">
                <a:solidFill>
                  <a:schemeClr val="accent6">
                    <a:lumMod val="60000"/>
                    <a:lumOff val="40000"/>
                  </a:schemeClr>
                </a:solidFill>
              </a:rPr>
              <a:t>❌ Limitations</a:t>
            </a:r>
          </a:p>
          <a:p>
            <a:pPr marL="342900" indent="-342900">
              <a:buFont typeface="Arial" panose="020B0604020202020204" pitchFamily="34" charset="0"/>
              <a:buChar char="•"/>
            </a:pPr>
            <a:r>
              <a:rPr lang="en-US" sz="2400" dirty="0">
                <a:solidFill>
                  <a:schemeClr val="accent6">
                    <a:lumMod val="60000"/>
                    <a:lumOff val="40000"/>
                  </a:schemeClr>
                </a:solidFill>
              </a:rPr>
              <a:t>Expensive (training cost 💰) </a:t>
            </a:r>
          </a:p>
          <a:p>
            <a:pPr marL="342900" indent="-342900">
              <a:buFont typeface="Arial" panose="020B0604020202020204" pitchFamily="34" charset="0"/>
              <a:buChar char="•"/>
            </a:pPr>
            <a:r>
              <a:rPr lang="en-US" sz="2400" dirty="0">
                <a:solidFill>
                  <a:schemeClr val="accent6">
                    <a:lumMod val="60000"/>
                    <a:lumOff val="40000"/>
                  </a:schemeClr>
                </a:solidFill>
              </a:rPr>
              <a:t>Static knowledge (doesn’t update automatically) </a:t>
            </a:r>
          </a:p>
          <a:p>
            <a:pPr marL="342900" indent="-342900">
              <a:buFont typeface="Arial" panose="020B0604020202020204" pitchFamily="34" charset="0"/>
              <a:buChar char="•"/>
            </a:pPr>
            <a:r>
              <a:rPr lang="en-US" sz="2400" dirty="0">
                <a:solidFill>
                  <a:schemeClr val="accent6">
                    <a:lumMod val="60000"/>
                    <a:lumOff val="40000"/>
                  </a:schemeClr>
                </a:solidFill>
              </a:rPr>
              <a:t>Needs retraining for new data</a:t>
            </a:r>
          </a:p>
        </p:txBody>
      </p:sp>
      <p:sp>
        <p:nvSpPr>
          <p:cNvPr id="11" name="Oval 10">
            <a:extLst>
              <a:ext uri="{FF2B5EF4-FFF2-40B4-BE49-F238E27FC236}">
                <a16:creationId xmlns:a16="http://schemas.microsoft.com/office/drawing/2014/main" id="{89FD650A-4027-D1AA-B8E1-6C367ED776A6}"/>
              </a:ext>
            </a:extLst>
          </p:cNvPr>
          <p:cNvSpPr/>
          <p:nvPr/>
        </p:nvSpPr>
        <p:spPr>
          <a:xfrm>
            <a:off x="4965192" y="4096512"/>
            <a:ext cx="3749040" cy="11495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grpSp>
        <p:nvGrpSpPr>
          <p:cNvPr id="12" name="Group 11">
            <a:extLst>
              <a:ext uri="{FF2B5EF4-FFF2-40B4-BE49-F238E27FC236}">
                <a16:creationId xmlns:a16="http://schemas.microsoft.com/office/drawing/2014/main" id="{8236BE1E-01AC-F690-C000-5E4AC0BA4DED}"/>
              </a:ext>
            </a:extLst>
          </p:cNvPr>
          <p:cNvGrpSpPr/>
          <p:nvPr/>
        </p:nvGrpSpPr>
        <p:grpSpPr>
          <a:xfrm>
            <a:off x="3675888" y="4279392"/>
            <a:ext cx="792720" cy="266760"/>
            <a:chOff x="2910024" y="4399416"/>
            <a:chExt cx="792720" cy="266760"/>
          </a:xfrm>
        </p:grpSpPr>
        <mc:AlternateContent xmlns:mc="http://schemas.openxmlformats.org/markup-compatibility/2006" xmlns:p14="http://schemas.microsoft.com/office/powerpoint/2010/main">
          <mc:Choice Requires="p14">
            <p:contentPart p14:bwMode="auto" r:id="rId2">
              <p14:nvContentPartPr>
                <p14:cNvPr id="13" name="Ink 12">
                  <a:extLst>
                    <a:ext uri="{FF2B5EF4-FFF2-40B4-BE49-F238E27FC236}">
                      <a16:creationId xmlns:a16="http://schemas.microsoft.com/office/drawing/2014/main" id="{9E7F9CAA-0DE7-0F51-4A9C-40450E0A81C4}"/>
                    </a:ext>
                  </a:extLst>
                </p14:cNvPr>
                <p14:cNvContentPartPr/>
                <p14:nvPr/>
              </p14:nvContentPartPr>
              <p14:xfrm>
                <a:off x="2910024" y="4525776"/>
                <a:ext cx="739440" cy="64800"/>
              </p14:xfrm>
            </p:contentPart>
          </mc:Choice>
          <mc:Fallback xmlns="">
            <p:pic>
              <p:nvPicPr>
                <p:cNvPr id="13" name="Ink 12">
                  <a:extLst>
                    <a:ext uri="{FF2B5EF4-FFF2-40B4-BE49-F238E27FC236}">
                      <a16:creationId xmlns:a16="http://schemas.microsoft.com/office/drawing/2014/main" id="{9E7F9CAA-0DE7-0F51-4A9C-40450E0A81C4}"/>
                    </a:ext>
                  </a:extLst>
                </p:cNvPr>
                <p:cNvPicPr/>
                <p:nvPr/>
              </p:nvPicPr>
              <p:blipFill>
                <a:blip r:embed="rId3"/>
                <a:stretch>
                  <a:fillRect/>
                </a:stretch>
              </p:blipFill>
              <p:spPr>
                <a:xfrm>
                  <a:off x="2892033" y="4507776"/>
                  <a:ext cx="775063"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1636769D-E49B-6AF2-04A1-1AA8376ADB9D}"/>
                    </a:ext>
                  </a:extLst>
                </p14:cNvPr>
                <p14:cNvContentPartPr/>
                <p14:nvPr/>
              </p14:nvContentPartPr>
              <p14:xfrm>
                <a:off x="3521304" y="4399416"/>
                <a:ext cx="181440" cy="266760"/>
              </p14:xfrm>
            </p:contentPart>
          </mc:Choice>
          <mc:Fallback xmlns="">
            <p:pic>
              <p:nvPicPr>
                <p:cNvPr id="14" name="Ink 13">
                  <a:extLst>
                    <a:ext uri="{FF2B5EF4-FFF2-40B4-BE49-F238E27FC236}">
                      <a16:creationId xmlns:a16="http://schemas.microsoft.com/office/drawing/2014/main" id="{1636769D-E49B-6AF2-04A1-1AA8376ADB9D}"/>
                    </a:ext>
                  </a:extLst>
                </p:cNvPr>
                <p:cNvPicPr/>
                <p:nvPr/>
              </p:nvPicPr>
              <p:blipFill>
                <a:blip r:embed="rId5"/>
                <a:stretch>
                  <a:fillRect/>
                </a:stretch>
              </p:blipFill>
              <p:spPr>
                <a:xfrm>
                  <a:off x="3503304" y="4381392"/>
                  <a:ext cx="217080" cy="302448"/>
                </a:xfrm>
                <a:prstGeom prst="rect">
                  <a:avLst/>
                </a:prstGeom>
              </p:spPr>
            </p:pic>
          </mc:Fallback>
        </mc:AlternateContent>
      </p:grpSp>
      <p:sp>
        <p:nvSpPr>
          <p:cNvPr id="15" name="Freeform: Shape 14">
            <a:extLst>
              <a:ext uri="{FF2B5EF4-FFF2-40B4-BE49-F238E27FC236}">
                <a16:creationId xmlns:a16="http://schemas.microsoft.com/office/drawing/2014/main" id="{6732E60D-6D5A-BD98-EE0D-F647BACCED13}"/>
              </a:ext>
            </a:extLst>
          </p:cNvPr>
          <p:cNvSpPr/>
          <p:nvPr/>
        </p:nvSpPr>
        <p:spPr>
          <a:xfrm>
            <a:off x="548640" y="3922776"/>
            <a:ext cx="2249424" cy="1938528"/>
          </a:xfrm>
          <a:custGeom>
            <a:avLst/>
            <a:gdLst>
              <a:gd name="csX0" fmla="*/ 813816 w 1618488"/>
              <a:gd name="csY0" fmla="*/ 54864 h 1472184"/>
              <a:gd name="csX1" fmla="*/ 713232 w 1618488"/>
              <a:gd name="csY1" fmla="*/ 18288 h 1472184"/>
              <a:gd name="csX2" fmla="*/ 603504 w 1618488"/>
              <a:gd name="csY2" fmla="*/ 9144 h 1472184"/>
              <a:gd name="csX3" fmla="*/ 393192 w 1618488"/>
              <a:gd name="csY3" fmla="*/ 27432 h 1472184"/>
              <a:gd name="csX4" fmla="*/ 310896 w 1618488"/>
              <a:gd name="csY4" fmla="*/ 64008 h 1472184"/>
              <a:gd name="csX5" fmla="*/ 228600 w 1618488"/>
              <a:gd name="csY5" fmla="*/ 118872 h 1472184"/>
              <a:gd name="csX6" fmla="*/ 182880 w 1618488"/>
              <a:gd name="csY6" fmla="*/ 164592 h 1472184"/>
              <a:gd name="csX7" fmla="*/ 91440 w 1618488"/>
              <a:gd name="csY7" fmla="*/ 301752 h 1472184"/>
              <a:gd name="csX8" fmla="*/ 27432 w 1618488"/>
              <a:gd name="csY8" fmla="*/ 502920 h 1472184"/>
              <a:gd name="csX9" fmla="*/ 18288 w 1618488"/>
              <a:gd name="csY9" fmla="*/ 594360 h 1472184"/>
              <a:gd name="csX10" fmla="*/ 0 w 1618488"/>
              <a:gd name="csY10" fmla="*/ 841248 h 1472184"/>
              <a:gd name="csX11" fmla="*/ 36576 w 1618488"/>
              <a:gd name="csY11" fmla="*/ 1106424 h 1472184"/>
              <a:gd name="csX12" fmla="*/ 64008 w 1618488"/>
              <a:gd name="csY12" fmla="*/ 1179576 h 1472184"/>
              <a:gd name="csX13" fmla="*/ 118872 w 1618488"/>
              <a:gd name="csY13" fmla="*/ 1243584 h 1472184"/>
              <a:gd name="csX14" fmla="*/ 283464 w 1618488"/>
              <a:gd name="csY14" fmla="*/ 1362456 h 1472184"/>
              <a:gd name="csX15" fmla="*/ 484632 w 1618488"/>
              <a:gd name="csY15" fmla="*/ 1444752 h 1472184"/>
              <a:gd name="csX16" fmla="*/ 722376 w 1618488"/>
              <a:gd name="csY16" fmla="*/ 1472184 h 1472184"/>
              <a:gd name="csX17" fmla="*/ 877824 w 1618488"/>
              <a:gd name="csY17" fmla="*/ 1453896 h 1472184"/>
              <a:gd name="csX18" fmla="*/ 996696 w 1618488"/>
              <a:gd name="csY18" fmla="*/ 1408176 h 1472184"/>
              <a:gd name="csX19" fmla="*/ 1051560 w 1618488"/>
              <a:gd name="csY19" fmla="*/ 1353312 h 1472184"/>
              <a:gd name="csX20" fmla="*/ 1152144 w 1618488"/>
              <a:gd name="csY20" fmla="*/ 1271016 h 1472184"/>
              <a:gd name="csX21" fmla="*/ 1298448 w 1618488"/>
              <a:gd name="csY21" fmla="*/ 1243584 h 1472184"/>
              <a:gd name="csX22" fmla="*/ 1490472 w 1618488"/>
              <a:gd name="csY22" fmla="*/ 1207008 h 1472184"/>
              <a:gd name="csX23" fmla="*/ 1563624 w 1618488"/>
              <a:gd name="csY23" fmla="*/ 1152144 h 1472184"/>
              <a:gd name="csX24" fmla="*/ 1618488 w 1618488"/>
              <a:gd name="csY24" fmla="*/ 1005840 h 1472184"/>
              <a:gd name="csX25" fmla="*/ 1572768 w 1618488"/>
              <a:gd name="csY25" fmla="*/ 877824 h 1472184"/>
              <a:gd name="csX26" fmla="*/ 1517904 w 1618488"/>
              <a:gd name="csY26" fmla="*/ 804672 h 1472184"/>
              <a:gd name="csX27" fmla="*/ 1362456 w 1618488"/>
              <a:gd name="csY27" fmla="*/ 667512 h 1472184"/>
              <a:gd name="csX28" fmla="*/ 1289304 w 1618488"/>
              <a:gd name="csY28" fmla="*/ 603504 h 1472184"/>
              <a:gd name="csX29" fmla="*/ 1197864 w 1618488"/>
              <a:gd name="csY29" fmla="*/ 493776 h 1472184"/>
              <a:gd name="csX30" fmla="*/ 1106424 w 1618488"/>
              <a:gd name="csY30" fmla="*/ 402336 h 1472184"/>
              <a:gd name="csX31" fmla="*/ 1088136 w 1618488"/>
              <a:gd name="csY31" fmla="*/ 356616 h 1472184"/>
              <a:gd name="csX32" fmla="*/ 1051560 w 1618488"/>
              <a:gd name="csY32" fmla="*/ 283464 h 1472184"/>
              <a:gd name="csX33" fmla="*/ 1042416 w 1618488"/>
              <a:gd name="csY33" fmla="*/ 246888 h 1472184"/>
              <a:gd name="csX34" fmla="*/ 987552 w 1618488"/>
              <a:gd name="csY34" fmla="*/ 164592 h 1472184"/>
              <a:gd name="csX35" fmla="*/ 969264 w 1618488"/>
              <a:gd name="csY35" fmla="*/ 137160 h 1472184"/>
              <a:gd name="csX36" fmla="*/ 932688 w 1618488"/>
              <a:gd name="csY36" fmla="*/ 91440 h 1472184"/>
              <a:gd name="csX37" fmla="*/ 914400 w 1618488"/>
              <a:gd name="csY37" fmla="*/ 64008 h 1472184"/>
              <a:gd name="csX38" fmla="*/ 850392 w 1618488"/>
              <a:gd name="csY38" fmla="*/ 9144 h 1472184"/>
              <a:gd name="csX39" fmla="*/ 822960 w 1618488"/>
              <a:gd name="csY39" fmla="*/ 0 h 1472184"/>
              <a:gd name="csX40" fmla="*/ 795528 w 1618488"/>
              <a:gd name="csY40" fmla="*/ 9144 h 1472184"/>
              <a:gd name="csX41" fmla="*/ 740664 w 1618488"/>
              <a:gd name="csY41" fmla="*/ 18288 h 1472184"/>
              <a:gd name="csX42" fmla="*/ 694944 w 1618488"/>
              <a:gd name="csY42" fmla="*/ 27432 h 1472184"/>
              <a:gd name="csX43" fmla="*/ 749808 w 1618488"/>
              <a:gd name="csY43" fmla="*/ 45720 h 1472184"/>
              <a:gd name="csX44" fmla="*/ 813816 w 1618488"/>
              <a:gd name="csY44" fmla="*/ 54864 h 1472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8488" h="1472184">
                <a:moveTo>
                  <a:pt x="813816" y="54864"/>
                </a:moveTo>
                <a:cubicBezTo>
                  <a:pt x="807720" y="50292"/>
                  <a:pt x="733356" y="21642"/>
                  <a:pt x="713232" y="18288"/>
                </a:cubicBezTo>
                <a:cubicBezTo>
                  <a:pt x="677029" y="12254"/>
                  <a:pt x="640080" y="12192"/>
                  <a:pt x="603504" y="9144"/>
                </a:cubicBezTo>
                <a:cubicBezTo>
                  <a:pt x="533400" y="15240"/>
                  <a:pt x="462355" y="14464"/>
                  <a:pt x="393192" y="27432"/>
                </a:cubicBezTo>
                <a:cubicBezTo>
                  <a:pt x="363687" y="32964"/>
                  <a:pt x="337138" y="49429"/>
                  <a:pt x="310896" y="64008"/>
                </a:cubicBezTo>
                <a:cubicBezTo>
                  <a:pt x="282076" y="80019"/>
                  <a:pt x="254524" y="98503"/>
                  <a:pt x="228600" y="118872"/>
                </a:cubicBezTo>
                <a:cubicBezTo>
                  <a:pt x="211653" y="132188"/>
                  <a:pt x="197378" y="148644"/>
                  <a:pt x="182880" y="164592"/>
                </a:cubicBezTo>
                <a:cubicBezTo>
                  <a:pt x="139283" y="212548"/>
                  <a:pt x="119439" y="239531"/>
                  <a:pt x="91440" y="301752"/>
                </a:cubicBezTo>
                <a:cubicBezTo>
                  <a:pt x="60691" y="370082"/>
                  <a:pt x="47005" y="431151"/>
                  <a:pt x="27432" y="502920"/>
                </a:cubicBezTo>
                <a:cubicBezTo>
                  <a:pt x="24384" y="533400"/>
                  <a:pt x="20396" y="563801"/>
                  <a:pt x="18288" y="594360"/>
                </a:cubicBezTo>
                <a:cubicBezTo>
                  <a:pt x="628" y="850433"/>
                  <a:pt x="19398" y="686061"/>
                  <a:pt x="0" y="841248"/>
                </a:cubicBezTo>
                <a:cubicBezTo>
                  <a:pt x="9630" y="1033853"/>
                  <a:pt x="-9704" y="975298"/>
                  <a:pt x="36576" y="1106424"/>
                </a:cubicBezTo>
                <a:cubicBezTo>
                  <a:pt x="45243" y="1130981"/>
                  <a:pt x="50609" y="1157245"/>
                  <a:pt x="64008" y="1179576"/>
                </a:cubicBezTo>
                <a:cubicBezTo>
                  <a:pt x="78466" y="1203673"/>
                  <a:pt x="99001" y="1223713"/>
                  <a:pt x="118872" y="1243584"/>
                </a:cubicBezTo>
                <a:cubicBezTo>
                  <a:pt x="168419" y="1293131"/>
                  <a:pt x="219484" y="1332465"/>
                  <a:pt x="283464" y="1362456"/>
                </a:cubicBezTo>
                <a:cubicBezTo>
                  <a:pt x="349065" y="1393206"/>
                  <a:pt x="413024" y="1433735"/>
                  <a:pt x="484632" y="1444752"/>
                </a:cubicBezTo>
                <a:cubicBezTo>
                  <a:pt x="642783" y="1469083"/>
                  <a:pt x="563532" y="1459965"/>
                  <a:pt x="722376" y="1472184"/>
                </a:cubicBezTo>
                <a:cubicBezTo>
                  <a:pt x="774192" y="1466088"/>
                  <a:pt x="826422" y="1462835"/>
                  <a:pt x="877824" y="1453896"/>
                </a:cubicBezTo>
                <a:cubicBezTo>
                  <a:pt x="906578" y="1448895"/>
                  <a:pt x="972928" y="1418362"/>
                  <a:pt x="996696" y="1408176"/>
                </a:cubicBezTo>
                <a:cubicBezTo>
                  <a:pt x="1014984" y="1389888"/>
                  <a:pt x="1034163" y="1372449"/>
                  <a:pt x="1051560" y="1353312"/>
                </a:cubicBezTo>
                <a:cubicBezTo>
                  <a:pt x="1091695" y="1309164"/>
                  <a:pt x="1086039" y="1291135"/>
                  <a:pt x="1152144" y="1271016"/>
                </a:cubicBezTo>
                <a:cubicBezTo>
                  <a:pt x="1199612" y="1256569"/>
                  <a:pt x="1249552" y="1252014"/>
                  <a:pt x="1298448" y="1243584"/>
                </a:cubicBezTo>
                <a:cubicBezTo>
                  <a:pt x="1476555" y="1212876"/>
                  <a:pt x="1356864" y="1240410"/>
                  <a:pt x="1490472" y="1207008"/>
                </a:cubicBezTo>
                <a:cubicBezTo>
                  <a:pt x="1514856" y="1188720"/>
                  <a:pt x="1542950" y="1174541"/>
                  <a:pt x="1563624" y="1152144"/>
                </a:cubicBezTo>
                <a:cubicBezTo>
                  <a:pt x="1604285" y="1108095"/>
                  <a:pt x="1606141" y="1061400"/>
                  <a:pt x="1618488" y="1005840"/>
                </a:cubicBezTo>
                <a:cubicBezTo>
                  <a:pt x="1603248" y="963168"/>
                  <a:pt x="1593032" y="918352"/>
                  <a:pt x="1572768" y="877824"/>
                </a:cubicBezTo>
                <a:cubicBezTo>
                  <a:pt x="1559137" y="850562"/>
                  <a:pt x="1537975" y="827611"/>
                  <a:pt x="1517904" y="804672"/>
                </a:cubicBezTo>
                <a:cubicBezTo>
                  <a:pt x="1448328" y="725156"/>
                  <a:pt x="1443603" y="734339"/>
                  <a:pt x="1362456" y="667512"/>
                </a:cubicBezTo>
                <a:cubicBezTo>
                  <a:pt x="1337445" y="646915"/>
                  <a:pt x="1313047" y="625551"/>
                  <a:pt x="1289304" y="603504"/>
                </a:cubicBezTo>
                <a:cubicBezTo>
                  <a:pt x="1142500" y="467186"/>
                  <a:pt x="1313712" y="626174"/>
                  <a:pt x="1197864" y="493776"/>
                </a:cubicBezTo>
                <a:cubicBezTo>
                  <a:pt x="1169479" y="461336"/>
                  <a:pt x="1106424" y="402336"/>
                  <a:pt x="1106424" y="402336"/>
                </a:cubicBezTo>
                <a:cubicBezTo>
                  <a:pt x="1100328" y="387096"/>
                  <a:pt x="1095014" y="371519"/>
                  <a:pt x="1088136" y="356616"/>
                </a:cubicBezTo>
                <a:cubicBezTo>
                  <a:pt x="1076712" y="331863"/>
                  <a:pt x="1058172" y="309912"/>
                  <a:pt x="1051560" y="283464"/>
                </a:cubicBezTo>
                <a:cubicBezTo>
                  <a:pt x="1048512" y="271272"/>
                  <a:pt x="1047520" y="258372"/>
                  <a:pt x="1042416" y="246888"/>
                </a:cubicBezTo>
                <a:cubicBezTo>
                  <a:pt x="1027866" y="214149"/>
                  <a:pt x="1007878" y="193049"/>
                  <a:pt x="987552" y="164592"/>
                </a:cubicBezTo>
                <a:cubicBezTo>
                  <a:pt x="981164" y="155649"/>
                  <a:pt x="975858" y="145952"/>
                  <a:pt x="969264" y="137160"/>
                </a:cubicBezTo>
                <a:cubicBezTo>
                  <a:pt x="957554" y="121547"/>
                  <a:pt x="944398" y="107053"/>
                  <a:pt x="932688" y="91440"/>
                </a:cubicBezTo>
                <a:cubicBezTo>
                  <a:pt x="926094" y="82648"/>
                  <a:pt x="921552" y="72352"/>
                  <a:pt x="914400" y="64008"/>
                </a:cubicBezTo>
                <a:cubicBezTo>
                  <a:pt x="897527" y="44322"/>
                  <a:pt x="874659" y="21278"/>
                  <a:pt x="850392" y="9144"/>
                </a:cubicBezTo>
                <a:cubicBezTo>
                  <a:pt x="841771" y="4833"/>
                  <a:pt x="832104" y="3048"/>
                  <a:pt x="822960" y="0"/>
                </a:cubicBezTo>
                <a:cubicBezTo>
                  <a:pt x="813816" y="3048"/>
                  <a:pt x="804937" y="7053"/>
                  <a:pt x="795528" y="9144"/>
                </a:cubicBezTo>
                <a:cubicBezTo>
                  <a:pt x="777429" y="13166"/>
                  <a:pt x="758905" y="14971"/>
                  <a:pt x="740664" y="18288"/>
                </a:cubicBezTo>
                <a:cubicBezTo>
                  <a:pt x="725373" y="21068"/>
                  <a:pt x="710184" y="24384"/>
                  <a:pt x="694944" y="27432"/>
                </a:cubicBezTo>
                <a:cubicBezTo>
                  <a:pt x="713232" y="33528"/>
                  <a:pt x="731106" y="41045"/>
                  <a:pt x="749808" y="45720"/>
                </a:cubicBezTo>
                <a:cubicBezTo>
                  <a:pt x="792996" y="56517"/>
                  <a:pt x="819912" y="59436"/>
                  <a:pt x="813816" y="54864"/>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 Model</a:t>
            </a:r>
          </a:p>
        </p:txBody>
      </p:sp>
    </p:spTree>
    <p:extLst>
      <p:ext uri="{BB962C8B-B14F-4D97-AF65-F5344CB8AC3E}">
        <p14:creationId xmlns:p14="http://schemas.microsoft.com/office/powerpoint/2010/main" val="28267331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31D7F-4279-DA2E-FA64-6CF3C441D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5E1B75-886E-0812-B2FD-DD250C225521}"/>
              </a:ext>
            </a:extLst>
          </p:cNvPr>
          <p:cNvSpPr>
            <a:spLocks noGrp="1"/>
          </p:cNvSpPr>
          <p:nvPr>
            <p:ph type="title"/>
          </p:nvPr>
        </p:nvSpPr>
        <p:spPr>
          <a:xfrm>
            <a:off x="274320" y="136525"/>
            <a:ext cx="11466576" cy="832739"/>
          </a:xfrm>
        </p:spPr>
        <p:txBody>
          <a:bodyPr>
            <a:normAutofit/>
          </a:bodyPr>
          <a:lstStyle/>
          <a:p>
            <a:r>
              <a:rPr lang="en-US" sz="3600" dirty="0"/>
              <a:t>EXTRA</a:t>
            </a:r>
          </a:p>
        </p:txBody>
      </p:sp>
      <p:sp>
        <p:nvSpPr>
          <p:cNvPr id="4" name="TextBox 3">
            <a:extLst>
              <a:ext uri="{FF2B5EF4-FFF2-40B4-BE49-F238E27FC236}">
                <a16:creationId xmlns:a16="http://schemas.microsoft.com/office/drawing/2014/main" id="{902F8BE4-9CEA-0DAD-0357-E0A8215F169D}"/>
              </a:ext>
            </a:extLst>
          </p:cNvPr>
          <p:cNvSpPr txBox="1"/>
          <p:nvPr/>
        </p:nvSpPr>
        <p:spPr>
          <a:xfrm>
            <a:off x="274320" y="933117"/>
            <a:ext cx="11658600" cy="1477328"/>
          </a:xfrm>
          <a:prstGeom prst="rect">
            <a:avLst/>
          </a:prstGeom>
          <a:noFill/>
        </p:spPr>
        <p:txBody>
          <a:bodyPr wrap="square">
            <a:spAutoFit/>
          </a:bodyPr>
          <a:lstStyle/>
          <a:p>
            <a:pPr marL="0" indent="0">
              <a:buNone/>
            </a:pPr>
            <a:r>
              <a:rPr lang="en-US" dirty="0" err="1">
                <a:solidFill>
                  <a:schemeClr val="accent6">
                    <a:lumMod val="60000"/>
                    <a:lumOff val="40000"/>
                  </a:schemeClr>
                </a:solidFill>
              </a:rPr>
              <a:t>Ffnbksdfd</a:t>
            </a:r>
            <a:endParaRPr lang="en-US" dirty="0">
              <a:solidFill>
                <a:schemeClr val="accent6">
                  <a:lumMod val="60000"/>
                  <a:lumOff val="40000"/>
                </a:schemeClr>
              </a:solidFill>
            </a:endParaRPr>
          </a:p>
          <a:p>
            <a:pPr marL="0" indent="0">
              <a:buNone/>
            </a:pPr>
            <a:r>
              <a:rPr lang="en-US" dirty="0" err="1">
                <a:solidFill>
                  <a:schemeClr val="accent6">
                    <a:lumMod val="60000"/>
                    <a:lumOff val="40000"/>
                  </a:schemeClr>
                </a:solidFill>
              </a:rPr>
              <a:t>Fdslj;f</a:t>
            </a:r>
            <a:endParaRPr lang="en-US" dirty="0">
              <a:solidFill>
                <a:schemeClr val="accent6">
                  <a:lumMod val="60000"/>
                  <a:lumOff val="40000"/>
                </a:schemeClr>
              </a:solidFill>
            </a:endParaRPr>
          </a:p>
          <a:p>
            <a:pPr marL="0" indent="0">
              <a:buNone/>
            </a:pPr>
            <a:endParaRPr lang="en-US" dirty="0">
              <a:solidFill>
                <a:schemeClr val="accent6">
                  <a:lumMod val="60000"/>
                  <a:lumOff val="40000"/>
                </a:schemeClr>
              </a:solidFill>
            </a:endParaRPr>
          </a:p>
          <a:p>
            <a:pPr marL="0" indent="0">
              <a:buNone/>
            </a:pPr>
            <a:r>
              <a:rPr lang="en-US" dirty="0" err="1">
                <a:solidFill>
                  <a:schemeClr val="accent6">
                    <a:lumMod val="60000"/>
                    <a:lumOff val="40000"/>
                  </a:schemeClr>
                </a:solidFill>
              </a:rPr>
              <a:t>Fl;ds</a:t>
            </a:r>
            <a:endParaRPr lang="en-US" dirty="0">
              <a:solidFill>
                <a:schemeClr val="accent6">
                  <a:lumMod val="60000"/>
                  <a:lumOff val="40000"/>
                </a:schemeClr>
              </a:solidFill>
            </a:endParaRPr>
          </a:p>
          <a:p>
            <a:pPr marL="0" indent="0">
              <a:buNone/>
            </a:pPr>
            <a:endParaRPr lang="en-US" dirty="0">
              <a:solidFill>
                <a:schemeClr val="accent6">
                  <a:lumMod val="60000"/>
                  <a:lumOff val="40000"/>
                </a:schemeClr>
              </a:solidFill>
            </a:endParaRPr>
          </a:p>
        </p:txBody>
      </p:sp>
    </p:spTree>
    <p:extLst>
      <p:ext uri="{BB962C8B-B14F-4D97-AF65-F5344CB8AC3E}">
        <p14:creationId xmlns:p14="http://schemas.microsoft.com/office/powerpoint/2010/main" val="3666253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What is Statistics</Template>
  <TotalTime>1505</TotalTime>
  <Words>630</Words>
  <Application>Microsoft Office PowerPoint</Application>
  <PresentationFormat>Widescreen</PresentationFormat>
  <Paragraphs>111</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EXTRA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Ashwani Kumar</dc:creator>
  <cp:lastModifiedBy>Ashwani Kumar</cp:lastModifiedBy>
  <cp:revision>281</cp:revision>
  <dcterms:created xsi:type="dcterms:W3CDTF">2025-09-22T02:44:38Z</dcterms:created>
  <dcterms:modified xsi:type="dcterms:W3CDTF">2026-04-23T03:59:01Z</dcterms:modified>
</cp:coreProperties>
</file>