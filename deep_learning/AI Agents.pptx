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93" r:id="rId8"/>
    <p:sldId id="262" r:id="rId9"/>
    <p:sldId id="263" r:id="rId10"/>
    <p:sldId id="264" r:id="rId11"/>
    <p:sldId id="268" r:id="rId12"/>
    <p:sldId id="269" r:id="rId13"/>
    <p:sldId id="270" r:id="rId14"/>
    <p:sldId id="271" r:id="rId15"/>
    <p:sldId id="272" r:id="rId16"/>
    <p:sldId id="265" r:id="rId17"/>
    <p:sldId id="294" r:id="rId18"/>
    <p:sldId id="277" r:id="rId19"/>
    <p:sldId id="278" r:id="rId20"/>
    <p:sldId id="279" r:id="rId21"/>
    <p:sldId id="280" r:id="rId22"/>
    <p:sldId id="281" r:id="rId23"/>
    <p:sldId id="282" r:id="rId24"/>
    <p:sldId id="283" r:id="rId25"/>
    <p:sldId id="284" r:id="rId26"/>
    <p:sldId id="285" r:id="rId27"/>
    <p:sldId id="292" r:id="rId28"/>
    <p:sldId id="287" r:id="rId29"/>
    <p:sldId id="288" r:id="rId30"/>
    <p:sldId id="289" r:id="rId31"/>
    <p:sldId id="290" r:id="rId32"/>
    <p:sldId id="291" r:id="rId33"/>
    <p:sldId id="276" r:id="rId34"/>
    <p:sldId id="266" r:id="rId35"/>
    <p:sldId id="267" r:id="rId36"/>
    <p:sldId id="275" r:id="rId37"/>
    <p:sldId id="274" r:id="rId38"/>
    <p:sldId id="27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4" d="100"/>
          <a:sy n="64" d="100"/>
        </p:scale>
        <p:origin x="3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4BB2DD4-0FF9-4D18-8D34-560DF962E2F1}"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138330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BB2DD4-0FF9-4D18-8D34-560DF962E2F1}"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3030452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4BB2DD4-0FF9-4D18-8D34-560DF962E2F1}"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93964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BB2DD4-0FF9-4D18-8D34-560DF962E2F1}" type="datetimeFigureOut">
              <a:rPr lang="en-US" smtClean="0"/>
              <a:t>3/8/2025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2462687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BB2DD4-0FF9-4D18-8D34-560DF962E2F1}" type="datetimeFigureOut">
              <a:rPr lang="en-US" smtClean="0"/>
              <a:t>3/8/2025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2838674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BB2DD4-0FF9-4D18-8D34-560DF962E2F1}" type="datetimeFigureOut">
              <a:rPr lang="en-US" smtClean="0"/>
              <a:t>3/8/2025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3212816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BB2DD4-0FF9-4D18-8D34-560DF962E2F1}" type="datetimeFigureOut">
              <a:rPr lang="en-US" smtClean="0"/>
              <a:t>3/8/2025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4241381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4BB2DD4-0FF9-4D18-8D34-560DF962E2F1}" type="datetimeFigureOut">
              <a:rPr lang="en-US" smtClean="0"/>
              <a:t>3/8/2025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1059628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4BB2DD4-0FF9-4D18-8D34-560DF962E2F1}" type="datetimeFigureOut">
              <a:rPr lang="en-US" smtClean="0"/>
              <a:t>3/8/2025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1431148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BB2DD4-0FF9-4D18-8D34-560DF962E2F1}"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3935808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BB2DD4-0FF9-4D18-8D34-560DF962E2F1}"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2157741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B2DD4-0FF9-4D18-8D34-560DF962E2F1}" type="datetimeFigureOut">
              <a:rPr lang="en-US" smtClean="0"/>
              <a:t>3/8/2025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6C286-7937-499C-AEAF-8CE14528743D}" type="slidenum">
              <a:rPr lang="en-US" smtClean="0"/>
              <a:t>‹#›</a:t>
            </a:fld>
            <a:endParaRPr lang="en-US"/>
          </a:p>
        </p:txBody>
      </p:sp>
    </p:spTree>
    <p:extLst>
      <p:ext uri="{BB962C8B-B14F-4D97-AF65-F5344CB8AC3E}">
        <p14:creationId xmlns:p14="http://schemas.microsoft.com/office/powerpoint/2010/main" val="14965944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AI AGENTS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73863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8332"/>
          </a:xfrm>
        </p:spPr>
        <p:txBody>
          <a:bodyPr>
            <a:normAutofit fontScale="90000"/>
          </a:bodyPr>
          <a:lstStyle/>
          <a:p>
            <a:r>
              <a:rPr lang="en-US" dirty="0"/>
              <a:t>Agents</a:t>
            </a:r>
          </a:p>
        </p:txBody>
      </p:sp>
      <p:sp>
        <p:nvSpPr>
          <p:cNvPr id="3" name="Content Placeholder 2"/>
          <p:cNvSpPr>
            <a:spLocks noGrp="1"/>
          </p:cNvSpPr>
          <p:nvPr>
            <p:ph idx="1"/>
          </p:nvPr>
        </p:nvSpPr>
        <p:spPr>
          <a:xfrm>
            <a:off x="318781" y="1045448"/>
            <a:ext cx="11492917" cy="3333605"/>
          </a:xfrm>
        </p:spPr>
        <p:txBody>
          <a:bodyPr>
            <a:normAutofit/>
          </a:bodyPr>
          <a:lstStyle/>
          <a:p>
            <a:pPr marL="0" indent="0">
              <a:buNone/>
            </a:pPr>
            <a:r>
              <a:rPr lang="en-US" sz="1800" dirty="0"/>
              <a:t>AI Agents are AI systems that can autonomously execute tasks by making decisions about </a:t>
            </a:r>
            <a:r>
              <a:rPr lang="en-US" sz="1800" b="1" dirty="0"/>
              <a:t>tool</a:t>
            </a:r>
            <a:r>
              <a:rPr lang="en-US" sz="1800" dirty="0"/>
              <a:t> usage and process flow. Unlike traditional automation that follows predefined paths, </a:t>
            </a:r>
            <a:r>
              <a:rPr lang="en-US" sz="1800" b="1" dirty="0"/>
              <a:t>agents can dynamically adapt </a:t>
            </a:r>
            <a:r>
              <a:rPr lang="en-US" sz="1800" dirty="0"/>
              <a:t>their approach based on context and intermediate results. </a:t>
            </a:r>
            <a:r>
              <a:rPr lang="en-US" sz="1800" b="1" dirty="0"/>
              <a:t>Agents can collaborate</a:t>
            </a:r>
            <a:r>
              <a:rPr lang="en-US" sz="1800" dirty="0"/>
              <a:t> to achieve the goal.</a:t>
            </a:r>
          </a:p>
          <a:p>
            <a:pPr marL="0" indent="0">
              <a:buNone/>
            </a:pPr>
            <a:r>
              <a:rPr lang="en-US" sz="1800" dirty="0"/>
              <a:t>AI agent are capable of executing a given task </a:t>
            </a:r>
            <a:r>
              <a:rPr lang="en-US" sz="1800" b="1" dirty="0"/>
              <a:t>without ongoing direct human intervention</a:t>
            </a:r>
            <a:r>
              <a:rPr lang="en-US" sz="1800" dirty="0"/>
              <a:t>. When assigned an objective, an AI agent will perceive its environment, assess the tools at its disposal, and formulate a plan to achieve its given goal. </a:t>
            </a:r>
          </a:p>
          <a:p>
            <a:pPr marL="0" indent="0">
              <a:buNone/>
            </a:pPr>
            <a:r>
              <a:rPr lang="en-US" sz="1800" dirty="0"/>
              <a:t>Agents are also distinct from </a:t>
            </a:r>
            <a:r>
              <a:rPr lang="en-US" sz="1800" b="1" dirty="0"/>
              <a:t>co-pilots</a:t>
            </a:r>
            <a:r>
              <a:rPr lang="en-US" sz="1800" dirty="0"/>
              <a:t> (e.g. traditional chat applications) in that they can fully automate a task, as opposed to simply augmenting and extending human input.</a:t>
            </a:r>
          </a:p>
          <a:p>
            <a:r>
              <a:rPr lang="en-US" sz="1800" b="1" dirty="0"/>
              <a:t>Agents</a:t>
            </a:r>
            <a:r>
              <a:rPr lang="en-US" sz="1800" dirty="0"/>
              <a:t> → non-linear, non-deterministic (can change from run to run)</a:t>
            </a:r>
          </a:p>
          <a:p>
            <a:r>
              <a:rPr lang="en-US" sz="1800" b="1" dirty="0"/>
              <a:t>Workflows</a:t>
            </a:r>
            <a:r>
              <a:rPr lang="en-US" sz="1800" dirty="0"/>
              <a:t> → linear, deterministic execution paths</a:t>
            </a:r>
          </a:p>
          <a:p>
            <a:r>
              <a:rPr lang="en-US" sz="1800" b="1" dirty="0"/>
              <a:t>Co-pilots</a:t>
            </a:r>
            <a:r>
              <a:rPr lang="en-US" sz="1800" dirty="0"/>
              <a:t> → augmentative AI assistance requiring human intervention</a:t>
            </a:r>
          </a:p>
          <a:p>
            <a:endParaRPr lang="en-US"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9040" y="3257172"/>
            <a:ext cx="5089410" cy="3333605"/>
          </a:xfrm>
          <a:prstGeom prst="rect">
            <a:avLst/>
          </a:prstGeom>
        </p:spPr>
      </p:pic>
    </p:spTree>
    <p:extLst>
      <p:ext uri="{BB962C8B-B14F-4D97-AF65-F5344CB8AC3E}">
        <p14:creationId xmlns:p14="http://schemas.microsoft.com/office/powerpoint/2010/main" val="294421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4"/>
            <a:ext cx="10515600" cy="649943"/>
          </a:xfrm>
        </p:spPr>
        <p:txBody>
          <a:bodyPr>
            <a:normAutofit/>
          </a:bodyPr>
          <a:lstStyle/>
          <a:p>
            <a:r>
              <a:rPr lang="en-US" sz="3600" b="1" dirty="0"/>
              <a:t>Example: booking vacations(p1)</a:t>
            </a:r>
          </a:p>
        </p:txBody>
      </p:sp>
      <p:sp>
        <p:nvSpPr>
          <p:cNvPr id="3" name="Content Placeholder 2"/>
          <p:cNvSpPr>
            <a:spLocks noGrp="1"/>
          </p:cNvSpPr>
          <p:nvPr>
            <p:ph idx="1"/>
          </p:nvPr>
        </p:nvSpPr>
        <p:spPr>
          <a:xfrm>
            <a:off x="251670" y="986725"/>
            <a:ext cx="11635530" cy="1152467"/>
          </a:xfrm>
        </p:spPr>
        <p:txBody>
          <a:bodyPr>
            <a:normAutofit/>
          </a:bodyPr>
          <a:lstStyle/>
          <a:p>
            <a:pPr marL="0" indent="0">
              <a:buNone/>
            </a:pPr>
            <a:r>
              <a:rPr lang="en-US" sz="2000" dirty="0"/>
              <a:t>Lets illustrate how an agent works within a context like booking a vacation.</a:t>
            </a:r>
          </a:p>
          <a:p>
            <a:pPr marL="0" indent="0">
              <a:buNone/>
            </a:pPr>
            <a:r>
              <a:rPr lang="en-US" sz="2000" dirty="0"/>
              <a:t>Imagine you're trying to book a vacation. You need to research flights, find hotels, check restaurant reviews, and keep track of your budget.</a:t>
            </a:r>
          </a:p>
          <a:p>
            <a:endParaRPr lang="en-US" sz="2000" dirty="0"/>
          </a:p>
        </p:txBody>
      </p:sp>
      <p:sp>
        <p:nvSpPr>
          <p:cNvPr id="4" name="TextBox 3"/>
          <p:cNvSpPr txBox="1"/>
          <p:nvPr/>
        </p:nvSpPr>
        <p:spPr>
          <a:xfrm>
            <a:off x="251670" y="2449583"/>
            <a:ext cx="11797900" cy="1477328"/>
          </a:xfrm>
          <a:prstGeom prst="rect">
            <a:avLst/>
          </a:prstGeom>
          <a:noFill/>
        </p:spPr>
        <p:txBody>
          <a:bodyPr wrap="square" rtlCol="0">
            <a:spAutoFit/>
          </a:bodyPr>
          <a:lstStyle/>
          <a:p>
            <a:r>
              <a:rPr lang="en-US" b="1" dirty="0"/>
              <a:t>Traditional workflow automation</a:t>
            </a:r>
            <a:endParaRPr lang="en-US" dirty="0"/>
          </a:p>
          <a:p>
            <a:r>
              <a:rPr lang="en-US" dirty="0"/>
              <a:t>A traditional automation system follows a predetermined sequence: it can take inputs such as dates, location, and budget, and make calls to predefined APIs in a fixed order. However, if any unexpected situations arise, such as flights being sold out, or the specified hotels being unavailable, it cannot adapt.</a:t>
            </a:r>
          </a:p>
          <a:p>
            <a:endParaRPr lang="en-US" dirty="0"/>
          </a:p>
        </p:txBody>
      </p:sp>
      <p:sp>
        <p:nvSpPr>
          <p:cNvPr id="5" name="Rectangle 4"/>
          <p:cNvSpPr/>
          <p:nvPr/>
        </p:nvSpPr>
        <p:spPr>
          <a:xfrm>
            <a:off x="5939412" y="398476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step2</a:t>
            </a:r>
          </a:p>
        </p:txBody>
      </p:sp>
      <p:sp>
        <p:nvSpPr>
          <p:cNvPr id="6" name="Rectangle 5"/>
          <p:cNvSpPr/>
          <p:nvPr/>
        </p:nvSpPr>
        <p:spPr>
          <a:xfrm>
            <a:off x="2199316" y="3986167"/>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Input</a:t>
            </a:r>
          </a:p>
        </p:txBody>
      </p:sp>
      <p:sp>
        <p:nvSpPr>
          <p:cNvPr id="7" name="Rectangle 6"/>
          <p:cNvSpPr/>
          <p:nvPr/>
        </p:nvSpPr>
        <p:spPr>
          <a:xfrm>
            <a:off x="4079850" y="396239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step1</a:t>
            </a:r>
          </a:p>
        </p:txBody>
      </p:sp>
      <p:sp>
        <p:nvSpPr>
          <p:cNvPr id="8" name="Rectangle 7"/>
          <p:cNvSpPr/>
          <p:nvPr/>
        </p:nvSpPr>
        <p:spPr>
          <a:xfrm>
            <a:off x="7621406" y="400574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step3</a:t>
            </a:r>
          </a:p>
        </p:txBody>
      </p:sp>
      <p:sp>
        <p:nvSpPr>
          <p:cNvPr id="9" name="Rectangle 8"/>
          <p:cNvSpPr/>
          <p:nvPr/>
        </p:nvSpPr>
        <p:spPr>
          <a:xfrm>
            <a:off x="9680906" y="398476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Output</a:t>
            </a:r>
          </a:p>
        </p:txBody>
      </p:sp>
      <p:sp>
        <p:nvSpPr>
          <p:cNvPr id="10" name="Right Arrow 9"/>
          <p:cNvSpPr/>
          <p:nvPr/>
        </p:nvSpPr>
        <p:spPr>
          <a:xfrm>
            <a:off x="3246539" y="4286773"/>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5210963" y="4355283"/>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6989431" y="4355283"/>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8818233" y="4330116"/>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85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4"/>
            <a:ext cx="10515600" cy="649943"/>
          </a:xfrm>
        </p:spPr>
        <p:txBody>
          <a:bodyPr>
            <a:normAutofit/>
          </a:bodyPr>
          <a:lstStyle/>
          <a:p>
            <a:r>
              <a:rPr lang="en-US" sz="3600" b="1" dirty="0"/>
              <a:t>Example: booking vacations(p2)</a:t>
            </a:r>
          </a:p>
        </p:txBody>
      </p:sp>
      <p:sp>
        <p:nvSpPr>
          <p:cNvPr id="4" name="TextBox 3"/>
          <p:cNvSpPr txBox="1"/>
          <p:nvPr/>
        </p:nvSpPr>
        <p:spPr>
          <a:xfrm>
            <a:off x="251670" y="1249956"/>
            <a:ext cx="11797900" cy="1200329"/>
          </a:xfrm>
          <a:prstGeom prst="rect">
            <a:avLst/>
          </a:prstGeom>
          <a:noFill/>
        </p:spPr>
        <p:txBody>
          <a:bodyPr wrap="square" rtlCol="0">
            <a:spAutoFit/>
          </a:bodyPr>
          <a:lstStyle/>
          <a:p>
            <a:r>
              <a:rPr lang="en-US" b="1" dirty="0"/>
              <a:t>AI co-pilot</a:t>
            </a:r>
            <a:endParaRPr lang="en-US" dirty="0"/>
          </a:p>
          <a:p>
            <a:r>
              <a:rPr lang="en-US" dirty="0"/>
              <a:t>A co-pilot acts as an intelligent assistant that can provide hotel and itinerary recommendations based on your preferences. If you have questions, it can understand and respond to natural language queries and offer guidance and suggestions. However, it is unable to take the next steps to execute the end-to-end action on its own. </a:t>
            </a:r>
          </a:p>
        </p:txBody>
      </p:sp>
      <p:sp>
        <p:nvSpPr>
          <p:cNvPr id="5" name="Rectangle 4"/>
          <p:cNvSpPr/>
          <p:nvPr/>
        </p:nvSpPr>
        <p:spPr>
          <a:xfrm>
            <a:off x="5939412" y="398476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Human Input</a:t>
            </a:r>
          </a:p>
        </p:txBody>
      </p:sp>
      <p:sp>
        <p:nvSpPr>
          <p:cNvPr id="6" name="Rectangle 5"/>
          <p:cNvSpPr/>
          <p:nvPr/>
        </p:nvSpPr>
        <p:spPr>
          <a:xfrm>
            <a:off x="2199316" y="3986167"/>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Input</a:t>
            </a:r>
          </a:p>
        </p:txBody>
      </p:sp>
      <p:sp>
        <p:nvSpPr>
          <p:cNvPr id="7" name="Rectangle 6"/>
          <p:cNvSpPr/>
          <p:nvPr/>
        </p:nvSpPr>
        <p:spPr>
          <a:xfrm>
            <a:off x="4079850" y="396239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8" name="Rectangle 7"/>
          <p:cNvSpPr/>
          <p:nvPr/>
        </p:nvSpPr>
        <p:spPr>
          <a:xfrm>
            <a:off x="7621406" y="400574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Action</a:t>
            </a:r>
          </a:p>
        </p:txBody>
      </p:sp>
      <p:sp>
        <p:nvSpPr>
          <p:cNvPr id="10" name="Right Arrow 9"/>
          <p:cNvSpPr/>
          <p:nvPr/>
        </p:nvSpPr>
        <p:spPr>
          <a:xfrm>
            <a:off x="3246539" y="4286773"/>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5210963" y="4195892"/>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6989431" y="4355283"/>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10800000">
            <a:off x="5187194" y="4507683"/>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0915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4"/>
            <a:ext cx="10515600" cy="649943"/>
          </a:xfrm>
        </p:spPr>
        <p:txBody>
          <a:bodyPr>
            <a:normAutofit/>
          </a:bodyPr>
          <a:lstStyle/>
          <a:p>
            <a:r>
              <a:rPr lang="en-US" sz="3600" b="1" dirty="0"/>
              <a:t>Example: booking vacations(p3)</a:t>
            </a:r>
          </a:p>
        </p:txBody>
      </p:sp>
      <p:sp>
        <p:nvSpPr>
          <p:cNvPr id="4" name="TextBox 3"/>
          <p:cNvSpPr txBox="1"/>
          <p:nvPr/>
        </p:nvSpPr>
        <p:spPr>
          <a:xfrm>
            <a:off x="251670" y="1249956"/>
            <a:ext cx="11797900" cy="1754326"/>
          </a:xfrm>
          <a:prstGeom prst="rect">
            <a:avLst/>
          </a:prstGeom>
          <a:noFill/>
        </p:spPr>
        <p:txBody>
          <a:bodyPr wrap="square" rtlCol="0">
            <a:spAutoFit/>
          </a:bodyPr>
          <a:lstStyle/>
          <a:p>
            <a:r>
              <a:rPr lang="en-US" b="1" dirty="0"/>
              <a:t>Agent</a:t>
            </a:r>
            <a:endParaRPr lang="en-US" dirty="0"/>
          </a:p>
          <a:p>
            <a:r>
              <a:rPr lang="en-US" dirty="0"/>
              <a:t>An agent combines AI's ability to make judgements and call the relevant tools to execute the task. An agent's output will be nondeterministic given: real-time availability and pricing changes, dynamic prioritization of constraints, ability to recover from failures, and adaptive decision-making based on intermediate results. In other words, if flights or hotels are unavailable, an agent can reassess and suggest a new itinerary with altered dates or locations, and continue executing your travel booking.</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3712" y="3070371"/>
            <a:ext cx="6785688" cy="3627627"/>
          </a:xfrm>
          <a:prstGeom prst="rect">
            <a:avLst/>
          </a:prstGeom>
        </p:spPr>
      </p:pic>
    </p:spTree>
    <p:extLst>
      <p:ext uri="{BB962C8B-B14F-4D97-AF65-F5344CB8AC3E}">
        <p14:creationId xmlns:p14="http://schemas.microsoft.com/office/powerpoint/2010/main" val="4122230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1554"/>
          </a:xfrm>
        </p:spPr>
        <p:txBody>
          <a:bodyPr>
            <a:normAutofit fontScale="90000"/>
          </a:bodyPr>
          <a:lstStyle/>
          <a:p>
            <a:r>
              <a:rPr lang="en-US" dirty="0"/>
              <a:t>Some examples of AI Agent(p1)</a:t>
            </a:r>
          </a:p>
        </p:txBody>
      </p:sp>
      <p:sp>
        <p:nvSpPr>
          <p:cNvPr id="3" name="Content Placeholder 2"/>
          <p:cNvSpPr>
            <a:spLocks noGrp="1"/>
          </p:cNvSpPr>
          <p:nvPr>
            <p:ph idx="1"/>
          </p:nvPr>
        </p:nvSpPr>
        <p:spPr>
          <a:xfrm>
            <a:off x="310393" y="1112560"/>
            <a:ext cx="11635530" cy="5276207"/>
          </a:xfrm>
        </p:spPr>
        <p:txBody>
          <a:bodyPr>
            <a:normAutofit fontScale="92500" lnSpcReduction="10000"/>
          </a:bodyPr>
          <a:lstStyle/>
          <a:p>
            <a:pPr marL="0" indent="0">
              <a:buNone/>
            </a:pPr>
            <a:r>
              <a:rPr lang="en-US" b="1" dirty="0"/>
              <a:t>simple tasks:</a:t>
            </a:r>
          </a:p>
          <a:p>
            <a:r>
              <a:rPr lang="en-US" dirty="0"/>
              <a:t>agent that could help me review my emails and create tasks on a digital to-do list based on the highest priority emails coming in.</a:t>
            </a:r>
          </a:p>
          <a:p>
            <a:endParaRPr lang="en-US" dirty="0"/>
          </a:p>
          <a:p>
            <a:r>
              <a:rPr lang="en-US" dirty="0"/>
              <a:t>agent that uses weather data and other information to decide when to water my garden and how long to water it for.</a:t>
            </a:r>
          </a:p>
          <a:p>
            <a:endParaRPr lang="en-US" dirty="0"/>
          </a:p>
          <a:p>
            <a:r>
              <a:rPr lang="en-US" dirty="0"/>
              <a:t>an agent that could respond to people reporting bugs and automatically gather missing information and seek clarification on confusing parts of a bug report and then route the bug to the appropriate team to resolve.</a:t>
            </a:r>
          </a:p>
          <a:p>
            <a:endParaRPr lang="en-US" dirty="0"/>
          </a:p>
          <a:p>
            <a:r>
              <a:rPr lang="en-US" dirty="0"/>
              <a:t>agent could use a camera to look at a Rubik's cube and then use robotic manipulators to solve it.</a:t>
            </a:r>
          </a:p>
          <a:p>
            <a:endParaRPr lang="en-US" dirty="0"/>
          </a:p>
          <a:p>
            <a:endParaRPr lang="en-US" dirty="0"/>
          </a:p>
        </p:txBody>
      </p:sp>
    </p:spTree>
    <p:extLst>
      <p:ext uri="{BB962C8B-B14F-4D97-AF65-F5344CB8AC3E}">
        <p14:creationId xmlns:p14="http://schemas.microsoft.com/office/powerpoint/2010/main" val="159641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A3B49-108B-4C86-04E1-EF3F43D97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B1A2F-E16E-6C58-691A-0CADFCE10382}"/>
              </a:ext>
            </a:extLst>
          </p:cNvPr>
          <p:cNvSpPr>
            <a:spLocks noGrp="1"/>
          </p:cNvSpPr>
          <p:nvPr>
            <p:ph type="title"/>
          </p:nvPr>
        </p:nvSpPr>
        <p:spPr>
          <a:xfrm>
            <a:off x="838200" y="365126"/>
            <a:ext cx="10515600" cy="641554"/>
          </a:xfrm>
        </p:spPr>
        <p:txBody>
          <a:bodyPr>
            <a:normAutofit fontScale="90000"/>
          </a:bodyPr>
          <a:lstStyle/>
          <a:p>
            <a:r>
              <a:rPr lang="en-US" dirty="0"/>
              <a:t>Some examples of AI Agent(p1)</a:t>
            </a:r>
          </a:p>
        </p:txBody>
      </p:sp>
      <p:sp>
        <p:nvSpPr>
          <p:cNvPr id="3" name="Content Placeholder 2">
            <a:extLst>
              <a:ext uri="{FF2B5EF4-FFF2-40B4-BE49-F238E27FC236}">
                <a16:creationId xmlns:a16="http://schemas.microsoft.com/office/drawing/2014/main" id="{C1057545-AC87-E325-DDAE-F61CBAD145A8}"/>
              </a:ext>
            </a:extLst>
          </p:cNvPr>
          <p:cNvSpPr>
            <a:spLocks noGrp="1"/>
          </p:cNvSpPr>
          <p:nvPr>
            <p:ph idx="1"/>
          </p:nvPr>
        </p:nvSpPr>
        <p:spPr>
          <a:xfrm>
            <a:off x="310393" y="1112560"/>
            <a:ext cx="11635530" cy="5276207"/>
          </a:xfrm>
        </p:spPr>
        <p:txBody>
          <a:bodyPr>
            <a:normAutofit/>
          </a:bodyPr>
          <a:lstStyle/>
          <a:p>
            <a:pPr marL="0" indent="0">
              <a:buNone/>
            </a:pPr>
            <a:r>
              <a:rPr lang="en-US" b="1" dirty="0"/>
              <a:t>Complicated tasks:</a:t>
            </a:r>
          </a:p>
          <a:p>
            <a:r>
              <a:rPr lang="en-US" dirty="0"/>
              <a:t>agent also to build a travel planning agent that takes my preferences and needs into account, researches things like destinations and hotels and even activities, and then suggests an itinerary for me and use a collaborating agent to book everything all in one shot.</a:t>
            </a:r>
          </a:p>
          <a:p>
            <a:r>
              <a:rPr lang="en-US" dirty="0"/>
              <a:t>agent to find a list of suppliers, email them for quotes, and sort replies according to the best price. </a:t>
            </a:r>
          </a:p>
          <a:p>
            <a:r>
              <a:rPr lang="en-US" dirty="0"/>
              <a:t>agent to create a shopping list based on a recipe, purchase the ingredients online, and have them delivered to you.</a:t>
            </a:r>
          </a:p>
          <a:p>
            <a:r>
              <a:rPr lang="en-US" dirty="0"/>
              <a:t>agents that monitor patients vitals, and suggest treatment plans and even support surgical procedures by providing </a:t>
            </a:r>
            <a:r>
              <a:rPr lang="en-US" dirty="0" err="1"/>
              <a:t>realtime</a:t>
            </a:r>
            <a:r>
              <a:rPr lang="en-US" dirty="0"/>
              <a:t> data to surgeons</a:t>
            </a:r>
          </a:p>
          <a:p>
            <a:endParaRPr lang="en-US" dirty="0"/>
          </a:p>
        </p:txBody>
      </p:sp>
    </p:spTree>
    <p:extLst>
      <p:ext uri="{BB962C8B-B14F-4D97-AF65-F5344CB8AC3E}">
        <p14:creationId xmlns:p14="http://schemas.microsoft.com/office/powerpoint/2010/main" val="1017202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6267275" cy="641553"/>
          </a:xfrm>
        </p:spPr>
        <p:txBody>
          <a:bodyPr>
            <a:normAutofit fontScale="90000"/>
          </a:bodyPr>
          <a:lstStyle/>
          <a:p>
            <a:r>
              <a:rPr lang="en-US" sz="4000" b="1" dirty="0"/>
              <a:t>How Does an AI Agent Work?(p1)</a:t>
            </a:r>
            <a:endParaRPr lang="en-US" sz="4000" dirty="0"/>
          </a:p>
        </p:txBody>
      </p:sp>
      <p:sp>
        <p:nvSpPr>
          <p:cNvPr id="3" name="Content Placeholder 2"/>
          <p:cNvSpPr>
            <a:spLocks noGrp="1"/>
          </p:cNvSpPr>
          <p:nvPr>
            <p:ph idx="1"/>
          </p:nvPr>
        </p:nvSpPr>
        <p:spPr>
          <a:xfrm>
            <a:off x="838200" y="1137727"/>
            <a:ext cx="10515600" cy="2117201"/>
          </a:xfrm>
        </p:spPr>
        <p:txBody>
          <a:bodyPr>
            <a:normAutofit fontScale="85000" lnSpcReduction="20000"/>
          </a:bodyPr>
          <a:lstStyle/>
          <a:p>
            <a:pPr fontAlgn="base"/>
            <a:r>
              <a:rPr lang="en-US" dirty="0"/>
              <a:t>In essence, an AI agent works through the process of assigning, creating, or inferring an objective, which it will then break down into a series of tasks and attempt to complete. This process can be divided into three stages: </a:t>
            </a:r>
          </a:p>
          <a:p>
            <a:pPr marL="514350" indent="-514350" fontAlgn="base">
              <a:buAutoNum type="arabicPeriod"/>
            </a:pPr>
            <a:r>
              <a:rPr lang="en-US" dirty="0"/>
              <a:t>Task definition and planning, </a:t>
            </a:r>
          </a:p>
          <a:p>
            <a:pPr marL="514350" indent="-514350" fontAlgn="base">
              <a:buAutoNum type="arabicPeriod"/>
            </a:pPr>
            <a:r>
              <a:rPr lang="en-US" dirty="0"/>
              <a:t>Decision-making, and </a:t>
            </a:r>
          </a:p>
          <a:p>
            <a:pPr marL="514350" indent="-514350" fontAlgn="base">
              <a:buAutoNum type="arabicPeriod"/>
            </a:pPr>
            <a:r>
              <a:rPr lang="en-US" dirty="0"/>
              <a:t>Feedback and adaptation. </a:t>
            </a:r>
          </a:p>
          <a:p>
            <a:endParaRPr lang="en-US" dirty="0"/>
          </a:p>
        </p:txBody>
      </p:sp>
      <p:sp>
        <p:nvSpPr>
          <p:cNvPr id="4" name="TextBox 3"/>
          <p:cNvSpPr txBox="1"/>
          <p:nvPr/>
        </p:nvSpPr>
        <p:spPr>
          <a:xfrm>
            <a:off x="132347" y="3733100"/>
            <a:ext cx="11857404" cy="3170099"/>
          </a:xfrm>
          <a:prstGeom prst="rect">
            <a:avLst/>
          </a:prstGeom>
          <a:noFill/>
        </p:spPr>
        <p:txBody>
          <a:bodyPr wrap="square" rtlCol="0">
            <a:spAutoFit/>
          </a:bodyPr>
          <a:lstStyle/>
          <a:p>
            <a:pPr fontAlgn="base"/>
            <a:r>
              <a:rPr lang="en-US" sz="2000" b="1" dirty="0"/>
              <a:t>1. Task Definition and Planning</a:t>
            </a:r>
          </a:p>
          <a:p>
            <a:pPr marL="285750" indent="-285750" fontAlgn="base">
              <a:buFont typeface="Arial" panose="020B0604020202020204" pitchFamily="34" charset="0"/>
              <a:buChar char="•"/>
            </a:pPr>
            <a:r>
              <a:rPr lang="en-US" sz="2000" b="1" dirty="0"/>
              <a:t>Define and assign an objective: </a:t>
            </a:r>
            <a:r>
              <a:rPr lang="en-US" sz="2000" dirty="0"/>
              <a:t>giving an agent a predefined goal you want it to accomplish.</a:t>
            </a:r>
          </a:p>
          <a:p>
            <a:pPr marL="285750" indent="-285750" fontAlgn="base">
              <a:buFont typeface="Arial" panose="020B0604020202020204" pitchFamily="34" charset="0"/>
              <a:buChar char="•"/>
            </a:pPr>
            <a:r>
              <a:rPr lang="en-US" sz="2000" b="1" dirty="0"/>
              <a:t>Assign Resources:</a:t>
            </a:r>
            <a:r>
              <a:rPr lang="en-US" sz="2000" dirty="0"/>
              <a:t> select the tools and sources of information the agent will be permitted to use to achieve its goal.  </a:t>
            </a:r>
          </a:p>
          <a:p>
            <a:pPr marL="285750" indent="-285750" fontAlgn="base">
              <a:buFont typeface="Arial" panose="020B0604020202020204" pitchFamily="34" charset="0"/>
              <a:buChar char="•"/>
            </a:pPr>
            <a:r>
              <a:rPr lang="en-US" sz="2000" b="1" dirty="0"/>
              <a:t>Environmental assessment: </a:t>
            </a:r>
            <a:r>
              <a:rPr lang="en-US" sz="2000" dirty="0"/>
              <a:t>the agent uses sensors and any other available data sources to collect information about its environment; this helps it understand its given task in greater context, as well as potential obstacles.</a:t>
            </a:r>
          </a:p>
          <a:p>
            <a:pPr marL="285750" indent="-285750" fontAlgn="base">
              <a:buFont typeface="Arial" panose="020B0604020202020204" pitchFamily="34" charset="0"/>
              <a:buChar char="•"/>
            </a:pPr>
            <a:r>
              <a:rPr lang="en-US" sz="2000" b="1" dirty="0"/>
              <a:t>Plan generation: </a:t>
            </a:r>
            <a:r>
              <a:rPr lang="en-US" sz="2000" dirty="0"/>
              <a:t>taking the tools at its disposal into account, the agent devises strategies for achieving its goal, which typically involves breaking down its tasks into subtasks, and potentially also breaking the goal down into </a:t>
            </a:r>
            <a:r>
              <a:rPr lang="en-US" sz="2000" dirty="0" err="1"/>
              <a:t>subgoals</a:t>
            </a:r>
            <a:r>
              <a:rPr lang="en-US" sz="2000" dirty="0"/>
              <a:t>.  </a:t>
            </a:r>
          </a:p>
          <a:p>
            <a:endParaRPr lang="en-US" sz="2000" dirty="0"/>
          </a:p>
        </p:txBody>
      </p:sp>
    </p:spTree>
    <p:extLst>
      <p:ext uri="{BB962C8B-B14F-4D97-AF65-F5344CB8AC3E}">
        <p14:creationId xmlns:p14="http://schemas.microsoft.com/office/powerpoint/2010/main" val="3640618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6267275" cy="641553"/>
          </a:xfrm>
        </p:spPr>
        <p:txBody>
          <a:bodyPr>
            <a:normAutofit fontScale="90000"/>
          </a:bodyPr>
          <a:lstStyle/>
          <a:p>
            <a:r>
              <a:rPr lang="en-US" sz="4000" b="1" dirty="0"/>
              <a:t>How Does an AI Agent Work?(p2)</a:t>
            </a:r>
            <a:endParaRPr lang="en-US" sz="4000" dirty="0"/>
          </a:p>
        </p:txBody>
      </p:sp>
      <p:sp>
        <p:nvSpPr>
          <p:cNvPr id="4" name="TextBox 3"/>
          <p:cNvSpPr txBox="1"/>
          <p:nvPr/>
        </p:nvSpPr>
        <p:spPr>
          <a:xfrm>
            <a:off x="436229" y="1182844"/>
            <a:ext cx="11553522" cy="1631216"/>
          </a:xfrm>
          <a:prstGeom prst="rect">
            <a:avLst/>
          </a:prstGeom>
          <a:noFill/>
        </p:spPr>
        <p:txBody>
          <a:bodyPr wrap="square" rtlCol="0">
            <a:spAutoFit/>
          </a:bodyPr>
          <a:lstStyle/>
          <a:p>
            <a:pPr fontAlgn="base"/>
            <a:r>
              <a:rPr lang="en-US" sz="2000" b="1" dirty="0"/>
              <a:t>2. Decision-Making</a:t>
            </a:r>
            <a:endParaRPr lang="en-US" sz="2000" dirty="0"/>
          </a:p>
          <a:p>
            <a:pPr marL="285750" indent="-285750" fontAlgn="base">
              <a:buFont typeface="Arial" panose="020B0604020202020204" pitchFamily="34" charset="0"/>
              <a:buChar char="•"/>
            </a:pPr>
            <a:r>
              <a:rPr lang="en-US" sz="2000" b="1" dirty="0"/>
              <a:t>Data analysis: </a:t>
            </a:r>
            <a:r>
              <a:rPr lang="en-US" sz="2000" dirty="0"/>
              <a:t>analyzing available data – such as environmental sensor readings, past experiences, and the model that powers it, to predict the outcomes of prospective actions it could take.</a:t>
            </a:r>
          </a:p>
          <a:p>
            <a:pPr marL="285750" indent="-285750" fontAlgn="base">
              <a:buFont typeface="Arial" panose="020B0604020202020204" pitchFamily="34" charset="0"/>
              <a:buChar char="•"/>
            </a:pPr>
            <a:r>
              <a:rPr lang="en-US" sz="2000" b="1" dirty="0"/>
              <a:t>Action execution: </a:t>
            </a:r>
            <a:r>
              <a:rPr lang="en-US" sz="2000" dirty="0"/>
              <a:t>the agent sequentially selects and executes the action it has determined will maximize the likelihood of success. </a:t>
            </a:r>
          </a:p>
        </p:txBody>
      </p:sp>
      <p:sp>
        <p:nvSpPr>
          <p:cNvPr id="6" name="TextBox 5"/>
          <p:cNvSpPr txBox="1"/>
          <p:nvPr/>
        </p:nvSpPr>
        <p:spPr>
          <a:xfrm>
            <a:off x="427839" y="3825379"/>
            <a:ext cx="11450815" cy="2246769"/>
          </a:xfrm>
          <a:prstGeom prst="rect">
            <a:avLst/>
          </a:prstGeom>
          <a:noFill/>
        </p:spPr>
        <p:txBody>
          <a:bodyPr wrap="square" rtlCol="0">
            <a:spAutoFit/>
          </a:bodyPr>
          <a:lstStyle/>
          <a:p>
            <a:pPr fontAlgn="base"/>
            <a:r>
              <a:rPr lang="en-US" sz="2000" b="1" dirty="0"/>
              <a:t>3. Feedback and Adaptation</a:t>
            </a:r>
            <a:endParaRPr lang="en-US" sz="2000" dirty="0"/>
          </a:p>
          <a:p>
            <a:pPr marL="285750" indent="-285750" fontAlgn="base">
              <a:buFont typeface="Arial" panose="020B0604020202020204" pitchFamily="34" charset="0"/>
              <a:buChar char="•"/>
            </a:pPr>
            <a:r>
              <a:rPr lang="en-US" sz="2000" b="1" dirty="0"/>
              <a:t>Performance Monitoring: </a:t>
            </a:r>
            <a:r>
              <a:rPr lang="en-US" sz="2000" dirty="0"/>
              <a:t>the agent monitors the outcome of its actions and evaluates if they brought it closer to accomplishing the given objective. </a:t>
            </a:r>
          </a:p>
          <a:p>
            <a:pPr marL="285750" indent="-285750" fontAlgn="base">
              <a:buFont typeface="Arial" panose="020B0604020202020204" pitchFamily="34" charset="0"/>
              <a:buChar char="•"/>
            </a:pPr>
            <a:r>
              <a:rPr lang="en-US" sz="2000" b="1" dirty="0"/>
              <a:t>Feedback loop: </a:t>
            </a:r>
            <a:r>
              <a:rPr lang="en-US" sz="2000" dirty="0"/>
              <a:t>The agent uses the feedback to adjust its strategy and potential actions to take. If permitted, i.e., if programmed to do so, it can ask for human intervention if it is stuck on a task. </a:t>
            </a:r>
          </a:p>
          <a:p>
            <a:pPr marL="285750" indent="-285750" fontAlgn="base">
              <a:buFont typeface="Arial" panose="020B0604020202020204" pitchFamily="34" charset="0"/>
              <a:buChar char="•"/>
            </a:pPr>
            <a:r>
              <a:rPr lang="en-US" sz="2000" b="1" dirty="0"/>
              <a:t>Adaptation and learning: </a:t>
            </a:r>
            <a:r>
              <a:rPr lang="en-US" sz="2000" dirty="0"/>
              <a:t>The agent continuously learns from its experiences. It monitors the results of its actions and updates its knowledge base and decision-making processes based on the new information.</a:t>
            </a:r>
          </a:p>
        </p:txBody>
      </p:sp>
    </p:spTree>
    <p:extLst>
      <p:ext uri="{BB962C8B-B14F-4D97-AF65-F5344CB8AC3E}">
        <p14:creationId xmlns:p14="http://schemas.microsoft.com/office/powerpoint/2010/main" val="488549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178"/>
            <a:ext cx="10515600" cy="700277"/>
          </a:xfrm>
        </p:spPr>
        <p:txBody>
          <a:bodyPr/>
          <a:lstStyle/>
          <a:p>
            <a:r>
              <a:rPr lang="en-US" b="1" dirty="0"/>
              <a:t>The Components of an AI agent</a:t>
            </a:r>
            <a:endParaRPr lang="en-US" dirty="0"/>
          </a:p>
        </p:txBody>
      </p:sp>
      <p:sp>
        <p:nvSpPr>
          <p:cNvPr id="3" name="Content Placeholder 2"/>
          <p:cNvSpPr>
            <a:spLocks noGrp="1"/>
          </p:cNvSpPr>
          <p:nvPr>
            <p:ph idx="1"/>
          </p:nvPr>
        </p:nvSpPr>
        <p:spPr>
          <a:xfrm>
            <a:off x="352338" y="844112"/>
            <a:ext cx="11839662" cy="3442662"/>
          </a:xfrm>
        </p:spPr>
        <p:txBody>
          <a:bodyPr>
            <a:normAutofit/>
          </a:bodyPr>
          <a:lstStyle/>
          <a:p>
            <a:pPr fontAlgn="base"/>
            <a:r>
              <a:rPr lang="en-US" sz="2000" b="1" dirty="0"/>
              <a:t>AI Model: </a:t>
            </a:r>
            <a:r>
              <a:rPr lang="en-US" sz="2000" dirty="0"/>
              <a:t>recent advances such as an LLM, VLM (vision-language model), or, more recently, LMM (large multi-modal model) could be used as the core of an AI agent, acting as its</a:t>
            </a:r>
            <a:r>
              <a:rPr lang="en-US" sz="2000" b="1" dirty="0"/>
              <a:t> </a:t>
            </a:r>
            <a:r>
              <a:rPr lang="en-US" sz="2000" dirty="0"/>
              <a:t>decision-making mechanism. The model will process data collected by sensors, make decisions based on said data, and take actions to achieve the agent’s goals.</a:t>
            </a:r>
          </a:p>
          <a:p>
            <a:pPr fontAlgn="base"/>
            <a:r>
              <a:rPr lang="en-US" sz="2000" b="1" dirty="0"/>
              <a:t>Sensors</a:t>
            </a:r>
            <a:r>
              <a:rPr lang="en-US" sz="2000" dirty="0"/>
              <a:t>: components responsible for collecting data from the agent’s environment so it can “perceive” it accurately and act accordingly. Sensors are an agent’s input devices, enabling it to learn about the world. In software agents, a sensor would be digital interfaces to websites or databases, while in a robotic agent, these include cameras and microphones. </a:t>
            </a:r>
          </a:p>
          <a:p>
            <a:pPr fontAlgn="base"/>
            <a:r>
              <a:rPr lang="en-US" sz="2000" b="1" dirty="0"/>
              <a:t>Actuators</a:t>
            </a:r>
            <a:r>
              <a:rPr lang="en-US" sz="2000" dirty="0"/>
              <a:t>: these are an agent’s means of output – enabling it to take actions based on its given objective and data collected from its sensors. In software agents, these are components that can control other applications or devices, while for a robotic agent, these could be appendages, i.e., limbs, display screens, or speakers. </a:t>
            </a:r>
          </a:p>
        </p:txBody>
      </p:sp>
    </p:spTree>
    <p:extLst>
      <p:ext uri="{BB962C8B-B14F-4D97-AF65-F5344CB8AC3E}">
        <p14:creationId xmlns:p14="http://schemas.microsoft.com/office/powerpoint/2010/main" val="2160857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2831"/>
          </a:xfrm>
        </p:spPr>
        <p:txBody>
          <a:bodyPr>
            <a:normAutofit fontScale="90000"/>
          </a:bodyPr>
          <a:lstStyle/>
          <a:p>
            <a:r>
              <a:rPr lang="en-US" dirty="0"/>
              <a:t>Types of AI Agents(p1)</a:t>
            </a:r>
          </a:p>
        </p:txBody>
      </p:sp>
      <p:sp>
        <p:nvSpPr>
          <p:cNvPr id="3" name="Content Placeholder 2"/>
          <p:cNvSpPr>
            <a:spLocks noGrp="1"/>
          </p:cNvSpPr>
          <p:nvPr>
            <p:ph idx="1"/>
          </p:nvPr>
        </p:nvSpPr>
        <p:spPr>
          <a:xfrm>
            <a:off x="234892" y="1473286"/>
            <a:ext cx="7071919" cy="5162405"/>
          </a:xfrm>
        </p:spPr>
        <p:txBody>
          <a:bodyPr>
            <a:noAutofit/>
          </a:bodyPr>
          <a:lstStyle/>
          <a:p>
            <a:pPr marL="0" indent="0">
              <a:buNone/>
            </a:pPr>
            <a:r>
              <a:rPr lang="en-US" sz="1800" b="1" dirty="0"/>
              <a:t>Reactive Agents</a:t>
            </a:r>
          </a:p>
          <a:p>
            <a:r>
              <a:rPr lang="en-US" sz="1800" dirty="0"/>
              <a:t>These agents do not have memory or the ability to learn from past experiences.</a:t>
            </a:r>
          </a:p>
          <a:p>
            <a:r>
              <a:rPr lang="en-US" sz="1800" dirty="0"/>
              <a:t>They respond directly to environmental stimuli based on predefined rules.</a:t>
            </a:r>
          </a:p>
          <a:p>
            <a:r>
              <a:rPr lang="en-US" sz="1800" dirty="0"/>
              <a:t>Example: Chess-playing AI (Deep Blue) – It makes moves based only on the current board state.</a:t>
            </a:r>
          </a:p>
          <a:p>
            <a:pPr marL="0" indent="0">
              <a:buNone/>
            </a:pPr>
            <a:endParaRPr lang="en-US" sz="1800" dirty="0"/>
          </a:p>
          <a:p>
            <a:pPr marL="0" indent="0">
              <a:buNone/>
            </a:pPr>
            <a:r>
              <a:rPr lang="en-US" sz="1800" b="1" dirty="0"/>
              <a:t>Model-Based (Deliberative) Agents</a:t>
            </a:r>
          </a:p>
          <a:p>
            <a:r>
              <a:rPr lang="en-US" sz="1800" dirty="0"/>
              <a:t>These agents maintain an internal model of the world and use it to make decisions.</a:t>
            </a:r>
          </a:p>
          <a:p>
            <a:r>
              <a:rPr lang="en-US" sz="1800" dirty="0"/>
              <a:t>They can plan actions based on their understanding of the environment.</a:t>
            </a:r>
          </a:p>
          <a:p>
            <a:r>
              <a:rPr lang="en-US" sz="1800" dirty="0"/>
              <a:t>Example: Self-driving cars – They build a model of the surroundings to navigate safely.</a:t>
            </a:r>
          </a:p>
          <a:p>
            <a:endParaRPr lang="en-US" sz="1800" dirty="0"/>
          </a:p>
          <a:p>
            <a:pPr marL="0" indent="0">
              <a:buNone/>
            </a:pPr>
            <a:endParaRPr lang="en-US"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9348" y="486559"/>
            <a:ext cx="4458994" cy="2312783"/>
          </a:xfrm>
          <a:prstGeom prst="rect">
            <a:avLst/>
          </a:prstGeom>
        </p:spPr>
      </p:pic>
    </p:spTree>
    <p:extLst>
      <p:ext uri="{BB962C8B-B14F-4D97-AF65-F5344CB8AC3E}">
        <p14:creationId xmlns:p14="http://schemas.microsoft.com/office/powerpoint/2010/main" val="2251031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389"/>
          </a:xfrm>
        </p:spPr>
        <p:txBody>
          <a:bodyPr/>
          <a:lstStyle/>
          <a:p>
            <a:r>
              <a:rPr lang="en-US" dirty="0"/>
              <a:t>Types of AI Agents(p2)</a:t>
            </a:r>
          </a:p>
        </p:txBody>
      </p:sp>
      <p:sp>
        <p:nvSpPr>
          <p:cNvPr id="3" name="Content Placeholder 2"/>
          <p:cNvSpPr>
            <a:spLocks noGrp="1"/>
          </p:cNvSpPr>
          <p:nvPr>
            <p:ph idx="1"/>
          </p:nvPr>
        </p:nvSpPr>
        <p:spPr>
          <a:xfrm>
            <a:off x="234891" y="1473287"/>
            <a:ext cx="11660697" cy="3878890"/>
          </a:xfrm>
        </p:spPr>
        <p:txBody>
          <a:bodyPr>
            <a:noAutofit/>
          </a:bodyPr>
          <a:lstStyle/>
          <a:p>
            <a:pPr marL="0" indent="0">
              <a:buNone/>
            </a:pPr>
            <a:r>
              <a:rPr lang="en-US" sz="2000" b="1" dirty="0"/>
              <a:t>Goal-Based Agents</a:t>
            </a:r>
          </a:p>
          <a:p>
            <a:r>
              <a:rPr lang="en-US" sz="2000" dirty="0"/>
              <a:t>They take actions that bring them closer to achieving a specific goal.</a:t>
            </a:r>
          </a:p>
          <a:p>
            <a:r>
              <a:rPr lang="en-US" sz="2000" dirty="0"/>
              <a:t>They evaluate different possible actions and select the one that maximizes goal achievement.</a:t>
            </a:r>
          </a:p>
          <a:p>
            <a:r>
              <a:rPr lang="en-US" sz="2000" dirty="0"/>
              <a:t>Example: Pathfinding AI in robotics and games – It determines the shortest route to a destination.</a:t>
            </a:r>
          </a:p>
          <a:p>
            <a:endParaRPr lang="en-US" sz="2000" dirty="0"/>
          </a:p>
          <a:p>
            <a:pPr marL="0" indent="0">
              <a:buNone/>
            </a:pPr>
            <a:r>
              <a:rPr lang="en-US" sz="2000" b="1" dirty="0"/>
              <a:t>Utility-Based Agents</a:t>
            </a:r>
          </a:p>
          <a:p>
            <a:r>
              <a:rPr lang="en-US" sz="2000" dirty="0"/>
              <a:t>They optimize actions based on a utility function, considering multiple factors like cost, efficiency, and risk.</a:t>
            </a:r>
          </a:p>
          <a:p>
            <a:r>
              <a:rPr lang="en-US" sz="2000" dirty="0"/>
              <a:t>Used in applications requiring decision-making under uncertainty.</a:t>
            </a:r>
          </a:p>
          <a:p>
            <a:r>
              <a:rPr lang="en-US" sz="2000" dirty="0"/>
              <a:t>Example: Recommendation systems (Netflix, Spotify) – They optimize user engagement and satisfaction.</a:t>
            </a:r>
          </a:p>
        </p:txBody>
      </p:sp>
    </p:spTree>
    <p:extLst>
      <p:ext uri="{BB962C8B-B14F-4D97-AF65-F5344CB8AC3E}">
        <p14:creationId xmlns:p14="http://schemas.microsoft.com/office/powerpoint/2010/main" val="440913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389"/>
          </a:xfrm>
        </p:spPr>
        <p:txBody>
          <a:bodyPr/>
          <a:lstStyle/>
          <a:p>
            <a:r>
              <a:rPr lang="en-US" dirty="0"/>
              <a:t>Types of AI Agents(p3)</a:t>
            </a:r>
          </a:p>
        </p:txBody>
      </p:sp>
      <p:sp>
        <p:nvSpPr>
          <p:cNvPr id="3" name="Content Placeholder 2"/>
          <p:cNvSpPr>
            <a:spLocks noGrp="1"/>
          </p:cNvSpPr>
          <p:nvPr>
            <p:ph idx="1"/>
          </p:nvPr>
        </p:nvSpPr>
        <p:spPr>
          <a:xfrm>
            <a:off x="234891" y="1473287"/>
            <a:ext cx="11660697" cy="4109366"/>
          </a:xfrm>
        </p:spPr>
        <p:txBody>
          <a:bodyPr>
            <a:noAutofit/>
          </a:bodyPr>
          <a:lstStyle/>
          <a:p>
            <a:pPr marL="0" indent="0">
              <a:buNone/>
            </a:pPr>
            <a:r>
              <a:rPr lang="en-US" sz="2000" b="1" dirty="0"/>
              <a:t>Learning Agents</a:t>
            </a:r>
          </a:p>
          <a:p>
            <a:r>
              <a:rPr lang="en-US" sz="2000" dirty="0"/>
              <a:t>These agents improve their performance by learning from past experiences.</a:t>
            </a:r>
          </a:p>
          <a:p>
            <a:r>
              <a:rPr lang="en-US" sz="2000" dirty="0"/>
              <a:t>They use machine learning techniques to adapt to new data and environments.</a:t>
            </a:r>
          </a:p>
          <a:p>
            <a:r>
              <a:rPr lang="en-US" sz="2000" dirty="0"/>
              <a:t>Example: </a:t>
            </a:r>
            <a:r>
              <a:rPr lang="en-US" sz="2000" dirty="0" err="1"/>
              <a:t>Chatbots</a:t>
            </a:r>
            <a:r>
              <a:rPr lang="en-US" sz="2000" dirty="0"/>
              <a:t> (</a:t>
            </a:r>
            <a:r>
              <a:rPr lang="en-US" sz="2000" dirty="0" err="1"/>
              <a:t>ChatGPT</a:t>
            </a:r>
            <a:r>
              <a:rPr lang="en-US" sz="2000" dirty="0"/>
              <a:t>, Bard) – They learn from user interactions to improve responses.</a:t>
            </a:r>
          </a:p>
          <a:p>
            <a:endParaRPr lang="en-US" sz="2000" dirty="0"/>
          </a:p>
          <a:p>
            <a:pPr marL="0" indent="0">
              <a:buNone/>
            </a:pPr>
            <a:r>
              <a:rPr lang="en-US" sz="2000" b="1" dirty="0"/>
              <a:t>Multi-Agent Systems (MAS)</a:t>
            </a:r>
          </a:p>
          <a:p>
            <a:r>
              <a:rPr lang="en-US" sz="2000" dirty="0"/>
              <a:t>A group of AI agents that work together to achieve a common goal.</a:t>
            </a:r>
          </a:p>
          <a:p>
            <a:r>
              <a:rPr lang="en-US" sz="2000" dirty="0"/>
              <a:t>Used in swarm robotics, distributed computing, and collaborative AI.</a:t>
            </a:r>
          </a:p>
          <a:p>
            <a:r>
              <a:rPr lang="en-US" sz="2000" dirty="0"/>
              <a:t>Example: Stock trading AI – Multiple AI agents analyze different market aspects and make trading decisions collectively.</a:t>
            </a:r>
          </a:p>
        </p:txBody>
      </p:sp>
    </p:spTree>
    <p:extLst>
      <p:ext uri="{BB962C8B-B14F-4D97-AF65-F5344CB8AC3E}">
        <p14:creationId xmlns:p14="http://schemas.microsoft.com/office/powerpoint/2010/main" val="1844511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389"/>
          </a:xfrm>
        </p:spPr>
        <p:txBody>
          <a:bodyPr/>
          <a:lstStyle/>
          <a:p>
            <a:r>
              <a:rPr lang="en-US" dirty="0"/>
              <a:t>Types of AI Agents(p4)</a:t>
            </a:r>
          </a:p>
        </p:txBody>
      </p:sp>
      <p:sp>
        <p:nvSpPr>
          <p:cNvPr id="3" name="Content Placeholder 2"/>
          <p:cNvSpPr>
            <a:spLocks noGrp="1"/>
          </p:cNvSpPr>
          <p:nvPr>
            <p:ph idx="1"/>
          </p:nvPr>
        </p:nvSpPr>
        <p:spPr>
          <a:xfrm>
            <a:off x="234891" y="1473287"/>
            <a:ext cx="11660697" cy="2561818"/>
          </a:xfrm>
        </p:spPr>
        <p:txBody>
          <a:bodyPr>
            <a:noAutofit/>
          </a:bodyPr>
          <a:lstStyle/>
          <a:p>
            <a:pPr marL="0" indent="0">
              <a:buNone/>
            </a:pPr>
            <a:r>
              <a:rPr lang="en-US" sz="2000" b="1" dirty="0"/>
              <a:t>Theory of Mind Agents</a:t>
            </a:r>
          </a:p>
          <a:p>
            <a:r>
              <a:rPr lang="en-US" sz="2000" dirty="0"/>
              <a:t>The theory of mind defines each living being as having sentiments, thoughts, ideas, and a mental state distinct from the others. A theory of mind AI agent describes the next step in artificial intelligence evolution. It is a leap forward from the Reactive and Limited Memory systems and describes agents as having a deeper understanding of the human mind. These agents understand complex emotional states and consider them when making a decision.</a:t>
            </a:r>
          </a:p>
          <a:p>
            <a:pPr marL="0" indent="0">
              <a:buNone/>
            </a:pPr>
            <a:endParaRPr lang="en-US" sz="2000" dirty="0"/>
          </a:p>
        </p:txBody>
      </p:sp>
    </p:spTree>
    <p:extLst>
      <p:ext uri="{BB962C8B-B14F-4D97-AF65-F5344CB8AC3E}">
        <p14:creationId xmlns:p14="http://schemas.microsoft.com/office/powerpoint/2010/main" val="3619300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389"/>
          </a:xfrm>
        </p:spPr>
        <p:txBody>
          <a:bodyPr/>
          <a:lstStyle/>
          <a:p>
            <a:r>
              <a:rPr lang="en-US" dirty="0"/>
              <a:t>Types of AI Agents(p5)</a:t>
            </a:r>
          </a:p>
        </p:txBody>
      </p:sp>
      <p:sp>
        <p:nvSpPr>
          <p:cNvPr id="3" name="Content Placeholder 2"/>
          <p:cNvSpPr>
            <a:spLocks noGrp="1"/>
          </p:cNvSpPr>
          <p:nvPr>
            <p:ph idx="1"/>
          </p:nvPr>
        </p:nvSpPr>
        <p:spPr>
          <a:xfrm>
            <a:off x="234891" y="1473287"/>
            <a:ext cx="11660697" cy="3753054"/>
          </a:xfrm>
        </p:spPr>
        <p:txBody>
          <a:bodyPr>
            <a:noAutofit/>
          </a:bodyPr>
          <a:lstStyle/>
          <a:p>
            <a:pPr marL="0" indent="0">
              <a:buNone/>
            </a:pPr>
            <a:r>
              <a:rPr lang="en-US" sz="2000" b="1" dirty="0"/>
              <a:t>Self-Aware Agents</a:t>
            </a:r>
          </a:p>
          <a:p>
            <a:r>
              <a:rPr lang="en-US" sz="2000" dirty="0"/>
              <a:t>Self-awareness is an extension of the theory of mind principle. A self-aware agent not only understands others but also itself. It has a working consciousness and sense of being similar to humans. Theoretically, a self-aware agent will be a sentient being that thinks and behaves exactly like a human, and its interactions will reflect emotional prowess.</a:t>
            </a:r>
          </a:p>
          <a:p>
            <a:r>
              <a:rPr lang="en-US" sz="2000" dirty="0"/>
              <a:t>The theory of mind and self-awareness stages are the true representation of a sentient AI. However, these developments are </a:t>
            </a:r>
            <a:r>
              <a:rPr lang="en-US" sz="2000" b="1" dirty="0"/>
              <a:t>still a topic of research</a:t>
            </a:r>
            <a:r>
              <a:rPr lang="en-US" sz="2000" dirty="0"/>
              <a:t>, and little advancement has been made toward reaching human-level cognition. Current AI systems lack the depth of understanding, reasoning, and subjective experience that characterize true sentience. </a:t>
            </a:r>
          </a:p>
          <a:p>
            <a:r>
              <a:rPr lang="en-US" sz="2000" dirty="0"/>
              <a:t>Significant progress has been made in areas like natural language processing (NLP) and emotional simulation. However, the leap to a fully self-aware or conscious AI, capable of independent thought and genuine emotions, </a:t>
            </a:r>
            <a:r>
              <a:rPr lang="en-US" sz="2000" b="1" dirty="0"/>
              <a:t>remains speculative and far from realization</a:t>
            </a:r>
            <a:r>
              <a:rPr lang="en-US" sz="2000" dirty="0"/>
              <a:t>.</a:t>
            </a:r>
          </a:p>
          <a:p>
            <a:pPr marL="0" indent="0">
              <a:buNone/>
            </a:pPr>
            <a:endParaRPr lang="en-US" sz="2000" dirty="0"/>
          </a:p>
        </p:txBody>
      </p:sp>
    </p:spTree>
    <p:extLst>
      <p:ext uri="{BB962C8B-B14F-4D97-AF65-F5344CB8AC3E}">
        <p14:creationId xmlns:p14="http://schemas.microsoft.com/office/powerpoint/2010/main" val="4250997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994"/>
            <a:ext cx="10515600" cy="539062"/>
          </a:xfrm>
        </p:spPr>
        <p:txBody>
          <a:bodyPr>
            <a:noAutofit/>
          </a:bodyPr>
          <a:lstStyle/>
          <a:p>
            <a:r>
              <a:rPr lang="en-US" sz="3600" b="1" dirty="0"/>
              <a:t>Multi-Agent Systems(p1)</a:t>
            </a:r>
            <a:endParaRPr lang="en-US" sz="3600" dirty="0"/>
          </a:p>
        </p:txBody>
      </p:sp>
      <p:sp>
        <p:nvSpPr>
          <p:cNvPr id="3" name="Content Placeholder 2"/>
          <p:cNvSpPr>
            <a:spLocks noGrp="1"/>
          </p:cNvSpPr>
          <p:nvPr>
            <p:ph idx="1"/>
          </p:nvPr>
        </p:nvSpPr>
        <p:spPr>
          <a:xfrm>
            <a:off x="167779" y="673563"/>
            <a:ext cx="11811699" cy="3794999"/>
          </a:xfrm>
        </p:spPr>
        <p:txBody>
          <a:bodyPr>
            <a:normAutofit/>
          </a:bodyPr>
          <a:lstStyle/>
          <a:p>
            <a:pPr marL="0" indent="0" fontAlgn="base">
              <a:buNone/>
            </a:pPr>
            <a:r>
              <a:rPr lang="en-US" sz="2400" dirty="0"/>
              <a:t>A multi-agent system (MAS) is a framework that allows multiple AI agents to collaborate to solve problems and achieve predetermined goals. </a:t>
            </a:r>
          </a:p>
          <a:p>
            <a:pPr marL="0" indent="0" fontAlgn="base">
              <a:buNone/>
            </a:pPr>
            <a:r>
              <a:rPr lang="en-US" sz="2400" dirty="0"/>
              <a:t>They offer several benefits over systems consisting of a single AI agent:</a:t>
            </a:r>
          </a:p>
          <a:p>
            <a:pPr marL="0" indent="0" fontAlgn="base">
              <a:buNone/>
            </a:pPr>
            <a:r>
              <a:rPr lang="en-US" sz="2400" dirty="0"/>
              <a:t>- If a single agent has too many tools at its disposal, then MAS makes decision which tools to invoke. You have more </a:t>
            </a:r>
            <a:r>
              <a:rPr lang="en-US" sz="2400" b="1" dirty="0"/>
              <a:t>control</a:t>
            </a:r>
            <a:r>
              <a:rPr lang="en-US" sz="2400" dirty="0"/>
              <a:t> on how task are to be executed</a:t>
            </a:r>
          </a:p>
          <a:p>
            <a:pPr fontAlgn="base">
              <a:buFontTx/>
              <a:buChar char="-"/>
            </a:pPr>
            <a:r>
              <a:rPr lang="en-US" sz="2400" dirty="0"/>
              <a:t>MAS are </a:t>
            </a:r>
            <a:r>
              <a:rPr lang="en-US" sz="2400" b="1" dirty="0"/>
              <a:t>capable of taking on more complex tasks: </a:t>
            </a:r>
            <a:r>
              <a:rPr lang="en-US" sz="2400" dirty="0"/>
              <a:t>A key reason for this is that </a:t>
            </a:r>
            <a:r>
              <a:rPr lang="en-US" sz="2400" b="1" dirty="0"/>
              <a:t>agents in MAS can learn from the behavior of other agents as well as their environment</a:t>
            </a:r>
            <a:r>
              <a:rPr lang="en-US" sz="2400" dirty="0"/>
              <a:t>. </a:t>
            </a:r>
          </a:p>
          <a:p>
            <a:pPr fontAlgn="base">
              <a:buFontTx/>
              <a:buChar char="-"/>
            </a:pPr>
            <a:r>
              <a:rPr lang="en-US" sz="2400" dirty="0"/>
              <a:t>MAS are </a:t>
            </a:r>
            <a:r>
              <a:rPr lang="en-US" sz="2400" b="1" dirty="0"/>
              <a:t>modular</a:t>
            </a:r>
            <a:r>
              <a:rPr lang="en-US" sz="2400" dirty="0"/>
              <a:t> and hence</a:t>
            </a:r>
            <a:r>
              <a:rPr lang="en-US" sz="2400" b="1" dirty="0"/>
              <a:t> scalable</a:t>
            </a:r>
            <a:r>
              <a:rPr lang="en-US" sz="2400" dirty="0"/>
              <a:t> – additional agents can be instantiated if the existing system isn’t up to the task, or can’t cope with growing demand.   </a:t>
            </a:r>
          </a:p>
        </p:txBody>
      </p:sp>
      <p:pic>
        <p:nvPicPr>
          <p:cNvPr id="7" name="Picture 6">
            <a:extLst>
              <a:ext uri="{FF2B5EF4-FFF2-40B4-BE49-F238E27FC236}">
                <a16:creationId xmlns:a16="http://schemas.microsoft.com/office/drawing/2014/main" id="{98246E9F-24E6-5538-EED1-5A5F833EB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976" y="4524203"/>
            <a:ext cx="1432684" cy="2103302"/>
          </a:xfrm>
          <a:prstGeom prst="rect">
            <a:avLst/>
          </a:prstGeom>
        </p:spPr>
      </p:pic>
      <p:pic>
        <p:nvPicPr>
          <p:cNvPr id="9" name="Picture 8">
            <a:extLst>
              <a:ext uri="{FF2B5EF4-FFF2-40B4-BE49-F238E27FC236}">
                <a16:creationId xmlns:a16="http://schemas.microsoft.com/office/drawing/2014/main" id="{DF81A69A-C51E-C38B-EEB1-8041CB7B6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4687" y="4501012"/>
            <a:ext cx="1661304" cy="2133785"/>
          </a:xfrm>
          <a:prstGeom prst="rect">
            <a:avLst/>
          </a:prstGeom>
        </p:spPr>
      </p:pic>
      <p:pic>
        <p:nvPicPr>
          <p:cNvPr id="11" name="Picture 10">
            <a:extLst>
              <a:ext uri="{FF2B5EF4-FFF2-40B4-BE49-F238E27FC236}">
                <a16:creationId xmlns:a16="http://schemas.microsoft.com/office/drawing/2014/main" id="{3B75C740-655C-E447-8A82-8CB4040582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3293" y="4541100"/>
            <a:ext cx="1798476" cy="2149026"/>
          </a:xfrm>
          <a:prstGeom prst="rect">
            <a:avLst/>
          </a:prstGeom>
        </p:spPr>
      </p:pic>
      <p:pic>
        <p:nvPicPr>
          <p:cNvPr id="13" name="Picture 12">
            <a:extLst>
              <a:ext uri="{FF2B5EF4-FFF2-40B4-BE49-F238E27FC236}">
                <a16:creationId xmlns:a16="http://schemas.microsoft.com/office/drawing/2014/main" id="{6BCE1EF4-884B-0B88-2E94-71C04CE483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7085" y="4558648"/>
            <a:ext cx="1851820" cy="2225233"/>
          </a:xfrm>
          <a:prstGeom prst="rect">
            <a:avLst/>
          </a:prstGeom>
        </p:spPr>
      </p:pic>
      <p:pic>
        <p:nvPicPr>
          <p:cNvPr id="15" name="Picture 14">
            <a:extLst>
              <a:ext uri="{FF2B5EF4-FFF2-40B4-BE49-F238E27FC236}">
                <a16:creationId xmlns:a16="http://schemas.microsoft.com/office/drawing/2014/main" id="{563EF940-9AD1-CE69-E22A-8E25642B42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31988" y="4524355"/>
            <a:ext cx="1851820" cy="2293819"/>
          </a:xfrm>
          <a:prstGeom prst="rect">
            <a:avLst/>
          </a:prstGeom>
        </p:spPr>
      </p:pic>
    </p:spTree>
    <p:extLst>
      <p:ext uri="{BB962C8B-B14F-4D97-AF65-F5344CB8AC3E}">
        <p14:creationId xmlns:p14="http://schemas.microsoft.com/office/powerpoint/2010/main" val="4117987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612BC-4AC2-9333-5364-8E40434BE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3C87C-9544-DB01-698E-2C50C3A77CD9}"/>
              </a:ext>
            </a:extLst>
          </p:cNvPr>
          <p:cNvSpPr>
            <a:spLocks noGrp="1"/>
          </p:cNvSpPr>
          <p:nvPr>
            <p:ph type="title"/>
          </p:nvPr>
        </p:nvSpPr>
        <p:spPr>
          <a:xfrm>
            <a:off x="838200" y="104994"/>
            <a:ext cx="10515600" cy="539062"/>
          </a:xfrm>
        </p:spPr>
        <p:txBody>
          <a:bodyPr>
            <a:noAutofit/>
          </a:bodyPr>
          <a:lstStyle/>
          <a:p>
            <a:r>
              <a:rPr lang="en-US" sz="3600" b="1" dirty="0"/>
              <a:t>Multi-Agent Systems(p1)</a:t>
            </a:r>
            <a:endParaRPr lang="en-US" sz="3600" dirty="0"/>
          </a:p>
        </p:txBody>
      </p:sp>
      <p:sp>
        <p:nvSpPr>
          <p:cNvPr id="3" name="Content Placeholder 2">
            <a:extLst>
              <a:ext uri="{FF2B5EF4-FFF2-40B4-BE49-F238E27FC236}">
                <a16:creationId xmlns:a16="http://schemas.microsoft.com/office/drawing/2014/main" id="{1FFC0898-8EC1-50A3-DC65-6F2B318DFC6D}"/>
              </a:ext>
            </a:extLst>
          </p:cNvPr>
          <p:cNvSpPr>
            <a:spLocks noGrp="1"/>
          </p:cNvSpPr>
          <p:nvPr>
            <p:ph idx="1"/>
          </p:nvPr>
        </p:nvSpPr>
        <p:spPr>
          <a:xfrm>
            <a:off x="167779" y="673563"/>
            <a:ext cx="11811699" cy="3794999"/>
          </a:xfrm>
        </p:spPr>
        <p:txBody>
          <a:bodyPr>
            <a:normAutofit/>
          </a:bodyPr>
          <a:lstStyle/>
          <a:p>
            <a:pPr marL="0" indent="0" fontAlgn="base">
              <a:buNone/>
            </a:pPr>
            <a:r>
              <a:rPr lang="en-US" sz="2400" dirty="0"/>
              <a:t> -  MAS are more </a:t>
            </a:r>
            <a:r>
              <a:rPr lang="en-US" sz="2400" b="1" dirty="0"/>
              <a:t>fault-tolerant</a:t>
            </a:r>
            <a:r>
              <a:rPr lang="en-US" sz="2400" dirty="0"/>
              <a:t> to individual agent failures than single-agent systems. This offers higher availability, which is desirable if the agent-powered system represents a critical function. </a:t>
            </a:r>
          </a:p>
          <a:p>
            <a:pPr fontAlgn="base">
              <a:buFontTx/>
              <a:buChar char="-"/>
            </a:pPr>
            <a:r>
              <a:rPr lang="en-US" sz="2400" dirty="0"/>
              <a:t>MAS can achieve its given goal is to have </a:t>
            </a:r>
            <a:r>
              <a:rPr lang="en-US" sz="2400" b="1" dirty="0"/>
              <a:t>agents cooperate to reach a desired objective</a:t>
            </a:r>
            <a:r>
              <a:rPr lang="en-US" sz="2400" dirty="0"/>
              <a:t>. This could involve agents sharing information about the measures they have taken so far, so other agents avoid wasting effort. </a:t>
            </a:r>
          </a:p>
          <a:p>
            <a:pPr fontAlgn="base">
              <a:buFontTx/>
              <a:buChar char="-"/>
            </a:pPr>
            <a:r>
              <a:rPr lang="en-US" sz="2400" dirty="0"/>
              <a:t>You can create multiple </a:t>
            </a:r>
            <a:r>
              <a:rPr lang="en-US" sz="2400" b="1" dirty="0"/>
              <a:t>specialized agents</a:t>
            </a:r>
            <a:r>
              <a:rPr lang="en-US" sz="2400" dirty="0"/>
              <a:t> that are expert in their domain</a:t>
            </a:r>
          </a:p>
          <a:p>
            <a:pPr marL="0" indent="0" fontAlgn="base">
              <a:buNone/>
            </a:pPr>
            <a:r>
              <a:rPr lang="en-US" sz="2400" b="1" dirty="0"/>
              <a:t>Types of MAS</a:t>
            </a:r>
            <a:r>
              <a:rPr lang="en-US" sz="2400" dirty="0"/>
              <a:t>: Network, Supervisor, Hierarchical</a:t>
            </a:r>
            <a:r>
              <a:rPr lang="en-US" sz="2400"/>
              <a:t>, Custom </a:t>
            </a:r>
            <a:r>
              <a:rPr lang="en-US" sz="2400" dirty="0"/>
              <a:t>(Explained later)</a:t>
            </a:r>
          </a:p>
          <a:p>
            <a:pPr fontAlgn="base">
              <a:buFontTx/>
              <a:buChar char="-"/>
            </a:pPr>
            <a:endParaRPr lang="en-US" sz="2400" dirty="0"/>
          </a:p>
        </p:txBody>
      </p:sp>
      <p:pic>
        <p:nvPicPr>
          <p:cNvPr id="7" name="Picture 6">
            <a:extLst>
              <a:ext uri="{FF2B5EF4-FFF2-40B4-BE49-F238E27FC236}">
                <a16:creationId xmlns:a16="http://schemas.microsoft.com/office/drawing/2014/main" id="{1D40B319-23FA-E7CB-1CDD-93DABDA0A5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976" y="4524203"/>
            <a:ext cx="1432684" cy="2103302"/>
          </a:xfrm>
          <a:prstGeom prst="rect">
            <a:avLst/>
          </a:prstGeom>
        </p:spPr>
      </p:pic>
      <p:pic>
        <p:nvPicPr>
          <p:cNvPr id="9" name="Picture 8">
            <a:extLst>
              <a:ext uri="{FF2B5EF4-FFF2-40B4-BE49-F238E27FC236}">
                <a16:creationId xmlns:a16="http://schemas.microsoft.com/office/drawing/2014/main" id="{FDAE4B83-6384-362D-76D4-0D1FB958F3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4687" y="4501012"/>
            <a:ext cx="1661304" cy="2133785"/>
          </a:xfrm>
          <a:prstGeom prst="rect">
            <a:avLst/>
          </a:prstGeom>
        </p:spPr>
      </p:pic>
      <p:pic>
        <p:nvPicPr>
          <p:cNvPr id="11" name="Picture 10">
            <a:extLst>
              <a:ext uri="{FF2B5EF4-FFF2-40B4-BE49-F238E27FC236}">
                <a16:creationId xmlns:a16="http://schemas.microsoft.com/office/drawing/2014/main" id="{8F4A1D68-ECCE-22AA-3B48-5D3A76F996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3293" y="4541100"/>
            <a:ext cx="1798476" cy="2149026"/>
          </a:xfrm>
          <a:prstGeom prst="rect">
            <a:avLst/>
          </a:prstGeom>
        </p:spPr>
      </p:pic>
      <p:pic>
        <p:nvPicPr>
          <p:cNvPr id="13" name="Picture 12">
            <a:extLst>
              <a:ext uri="{FF2B5EF4-FFF2-40B4-BE49-F238E27FC236}">
                <a16:creationId xmlns:a16="http://schemas.microsoft.com/office/drawing/2014/main" id="{BB60FC29-9E7F-F79B-A4FB-32F479C0A2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7085" y="4558648"/>
            <a:ext cx="1851820" cy="2225233"/>
          </a:xfrm>
          <a:prstGeom prst="rect">
            <a:avLst/>
          </a:prstGeom>
        </p:spPr>
      </p:pic>
      <p:pic>
        <p:nvPicPr>
          <p:cNvPr id="15" name="Picture 14">
            <a:extLst>
              <a:ext uri="{FF2B5EF4-FFF2-40B4-BE49-F238E27FC236}">
                <a16:creationId xmlns:a16="http://schemas.microsoft.com/office/drawing/2014/main" id="{569129E8-FD37-258B-FFC5-679844BB2D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31988" y="4524355"/>
            <a:ext cx="1851820" cy="2293819"/>
          </a:xfrm>
          <a:prstGeom prst="rect">
            <a:avLst/>
          </a:prstGeom>
        </p:spPr>
      </p:pic>
    </p:spTree>
    <p:extLst>
      <p:ext uri="{BB962C8B-B14F-4D97-AF65-F5344CB8AC3E}">
        <p14:creationId xmlns:p14="http://schemas.microsoft.com/office/powerpoint/2010/main" val="1979119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6C61E-CECD-25BE-A83A-A6AA11F74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535BA-5BE8-8C41-6D76-1C5C95C5E92F}"/>
              </a:ext>
            </a:extLst>
          </p:cNvPr>
          <p:cNvSpPr>
            <a:spLocks noGrp="1"/>
          </p:cNvSpPr>
          <p:nvPr>
            <p:ph type="title"/>
          </p:nvPr>
        </p:nvSpPr>
        <p:spPr>
          <a:xfrm>
            <a:off x="838200" y="256068"/>
            <a:ext cx="10515600" cy="700277"/>
          </a:xfrm>
        </p:spPr>
        <p:txBody>
          <a:bodyPr/>
          <a:lstStyle/>
          <a:p>
            <a:r>
              <a:rPr lang="en-US" b="1" dirty="0"/>
              <a:t>Multi-Agent Systems Architecture(p2)</a:t>
            </a:r>
            <a:endParaRPr lang="en-US" dirty="0"/>
          </a:p>
        </p:txBody>
      </p:sp>
      <p:sp>
        <p:nvSpPr>
          <p:cNvPr id="5" name="Content Placeholder 4">
            <a:extLst>
              <a:ext uri="{FF2B5EF4-FFF2-40B4-BE49-F238E27FC236}">
                <a16:creationId xmlns:a16="http://schemas.microsoft.com/office/drawing/2014/main" id="{4F3F4C0D-69D5-D789-DF39-FE2D9ADA0196}"/>
              </a:ext>
            </a:extLst>
          </p:cNvPr>
          <p:cNvSpPr>
            <a:spLocks noGrp="1"/>
          </p:cNvSpPr>
          <p:nvPr>
            <p:ph idx="1"/>
          </p:nvPr>
        </p:nvSpPr>
        <p:spPr>
          <a:xfrm>
            <a:off x="294198" y="1261080"/>
            <a:ext cx="10909190" cy="4678543"/>
          </a:xfrm>
        </p:spPr>
        <p:txBody>
          <a:bodyPr>
            <a:normAutofit fontScale="62500" lnSpcReduction="20000"/>
          </a:bodyPr>
          <a:lstStyle/>
          <a:p>
            <a:pPr marL="0" indent="0">
              <a:buNone/>
            </a:pPr>
            <a:r>
              <a:rPr lang="en-US" dirty="0"/>
              <a:t>Lets understand single agent first and its limitations:</a:t>
            </a:r>
          </a:p>
          <a:p>
            <a:pPr marL="0" indent="0">
              <a:buNone/>
            </a:pPr>
            <a:r>
              <a:rPr lang="en-US" b="1" dirty="0"/>
              <a:t>Single Agent:</a:t>
            </a:r>
          </a:p>
          <a:p>
            <a:r>
              <a:rPr lang="en-US" dirty="0"/>
              <a:t>Relies on one LLM or tool to perform all tasks sequentially.</a:t>
            </a:r>
          </a:p>
          <a:p>
            <a:r>
              <a:rPr lang="en-US" dirty="0"/>
              <a:t>SA work well for simple workflows.</a:t>
            </a:r>
          </a:p>
          <a:p>
            <a:pPr marL="0" indent="0">
              <a:buNone/>
            </a:pPr>
            <a:endParaRPr lang="en-US" dirty="0"/>
          </a:p>
          <a:p>
            <a:pPr marL="0" indent="0">
              <a:buNone/>
            </a:pPr>
            <a:r>
              <a:rPr lang="en-US" dirty="0"/>
              <a:t>3 Challenges of Single-Agent Systems:</a:t>
            </a:r>
          </a:p>
          <a:p>
            <a:pPr marL="0" indent="0">
              <a:buNone/>
            </a:pPr>
            <a:r>
              <a:rPr lang="en-US" b="1" dirty="0"/>
              <a:t>A) Tool Overload:</a:t>
            </a:r>
            <a:r>
              <a:rPr lang="en-US" dirty="0"/>
              <a:t> </a:t>
            </a:r>
          </a:p>
          <a:p>
            <a:pPr marL="0" indent="0">
              <a:buNone/>
            </a:pPr>
            <a:r>
              <a:rPr lang="en-US" dirty="0"/>
              <a:t>1. Handling numerous tools can confuse decision-making. </a:t>
            </a:r>
          </a:p>
          <a:p>
            <a:pPr marL="0" indent="0">
              <a:buNone/>
            </a:pPr>
            <a:r>
              <a:rPr lang="en-US" dirty="0"/>
              <a:t>2. Incorrect decisions in tool selection can cascade, causing failures in subsequent steps. </a:t>
            </a:r>
          </a:p>
          <a:p>
            <a:pPr marL="0" indent="0">
              <a:buNone/>
            </a:pPr>
            <a:r>
              <a:rPr lang="en-US" dirty="0"/>
              <a:t>3. Constant back-and-forth among tools slows down the system.</a:t>
            </a:r>
          </a:p>
          <a:p>
            <a:pPr marL="0" indent="0">
              <a:buNone/>
            </a:pPr>
            <a:endParaRPr lang="en-US" dirty="0"/>
          </a:p>
          <a:p>
            <a:pPr marL="0" indent="0">
              <a:buNone/>
            </a:pPr>
            <a:r>
              <a:rPr lang="en-US" dirty="0"/>
              <a:t>Empirical observations suggest that a sweet spot exists for tool usage: </a:t>
            </a:r>
            <a:r>
              <a:rPr lang="en-US" b="1" dirty="0"/>
              <a:t>5-10 tools</a:t>
            </a:r>
            <a:r>
              <a:rPr lang="en-US" dirty="0"/>
              <a:t>.</a:t>
            </a:r>
          </a:p>
          <a:p>
            <a:pPr marL="0" indent="0">
              <a:buNone/>
            </a:pPr>
            <a:r>
              <a:rPr lang="en-US" dirty="0"/>
              <a:t>Below this range the agent may lack capabilities to perform complex workflows.</a:t>
            </a:r>
          </a:p>
          <a:p>
            <a:pPr marL="0" indent="0">
              <a:buNone/>
            </a:pPr>
            <a:r>
              <a:rPr lang="en-US" dirty="0"/>
              <a:t>Above this range the agent’s ability to choose tools effectively diminishes.</a:t>
            </a:r>
          </a:p>
          <a:p>
            <a:pPr marL="0" indent="0">
              <a:buNone/>
            </a:pPr>
            <a:endParaRPr lang="en-US" dirty="0"/>
          </a:p>
          <a:p>
            <a:pPr marL="0" indent="0">
              <a:buNone/>
            </a:pPr>
            <a:endParaRPr lang="en-IN" dirty="0"/>
          </a:p>
        </p:txBody>
      </p:sp>
      <p:sp>
        <p:nvSpPr>
          <p:cNvPr id="6" name="Oval 5">
            <a:extLst>
              <a:ext uri="{FF2B5EF4-FFF2-40B4-BE49-F238E27FC236}">
                <a16:creationId xmlns:a16="http://schemas.microsoft.com/office/drawing/2014/main" id="{08EC3C95-D010-854B-7C42-C8EEC9979A2C}"/>
              </a:ext>
            </a:extLst>
          </p:cNvPr>
          <p:cNvSpPr/>
          <p:nvPr/>
        </p:nvSpPr>
        <p:spPr>
          <a:xfrm>
            <a:off x="7943351" y="4572000"/>
            <a:ext cx="1184744"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Tool1</a:t>
            </a:r>
            <a:endParaRPr lang="en-IN" dirty="0"/>
          </a:p>
        </p:txBody>
      </p:sp>
      <p:sp>
        <p:nvSpPr>
          <p:cNvPr id="7" name="Oval 6">
            <a:extLst>
              <a:ext uri="{FF2B5EF4-FFF2-40B4-BE49-F238E27FC236}">
                <a16:creationId xmlns:a16="http://schemas.microsoft.com/office/drawing/2014/main" id="{4B1E8BC0-C3F9-CBB7-457E-BBE999E10078}"/>
              </a:ext>
            </a:extLst>
          </p:cNvPr>
          <p:cNvSpPr/>
          <p:nvPr/>
        </p:nvSpPr>
        <p:spPr>
          <a:xfrm>
            <a:off x="9320252" y="4589227"/>
            <a:ext cx="1184744"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Tool2</a:t>
            </a:r>
            <a:endParaRPr lang="en-IN" dirty="0"/>
          </a:p>
        </p:txBody>
      </p:sp>
      <p:sp>
        <p:nvSpPr>
          <p:cNvPr id="8" name="Oval 7">
            <a:extLst>
              <a:ext uri="{FF2B5EF4-FFF2-40B4-BE49-F238E27FC236}">
                <a16:creationId xmlns:a16="http://schemas.microsoft.com/office/drawing/2014/main" id="{C81EFC3E-B0D4-200A-AC6F-C53269955A3C}"/>
              </a:ext>
            </a:extLst>
          </p:cNvPr>
          <p:cNvSpPr/>
          <p:nvPr/>
        </p:nvSpPr>
        <p:spPr>
          <a:xfrm>
            <a:off x="10649446" y="4646213"/>
            <a:ext cx="1184744"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Tool3</a:t>
            </a:r>
            <a:endParaRPr lang="en-IN" dirty="0"/>
          </a:p>
        </p:txBody>
      </p:sp>
      <p:sp>
        <p:nvSpPr>
          <p:cNvPr id="12" name="Rectangle: Rounded Corners 11">
            <a:extLst>
              <a:ext uri="{FF2B5EF4-FFF2-40B4-BE49-F238E27FC236}">
                <a16:creationId xmlns:a16="http://schemas.microsoft.com/office/drawing/2014/main" id="{B1B861A3-DB03-4513-0385-CF0960955479}"/>
              </a:ext>
            </a:extLst>
          </p:cNvPr>
          <p:cNvSpPr/>
          <p:nvPr/>
        </p:nvSpPr>
        <p:spPr>
          <a:xfrm>
            <a:off x="9159900" y="2266122"/>
            <a:ext cx="1630018" cy="98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endParaRPr lang="en-IN" dirty="0"/>
          </a:p>
        </p:txBody>
      </p:sp>
      <p:cxnSp>
        <p:nvCxnSpPr>
          <p:cNvPr id="14" name="Straight Arrow Connector 13">
            <a:extLst>
              <a:ext uri="{FF2B5EF4-FFF2-40B4-BE49-F238E27FC236}">
                <a16:creationId xmlns:a16="http://schemas.microsoft.com/office/drawing/2014/main" id="{2A36831D-748F-7A07-727C-4942071B0B17}"/>
              </a:ext>
            </a:extLst>
          </p:cNvPr>
          <p:cNvCxnSpPr>
            <a:cxnSpLocks/>
          </p:cNvCxnSpPr>
          <p:nvPr/>
        </p:nvCxnSpPr>
        <p:spPr>
          <a:xfrm flipH="1">
            <a:off x="9320252" y="3429000"/>
            <a:ext cx="396240" cy="626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9EC233E-A037-CE13-DC3F-74E57274C847}"/>
              </a:ext>
            </a:extLst>
          </p:cNvPr>
          <p:cNvCxnSpPr>
            <a:cxnSpLocks/>
          </p:cNvCxnSpPr>
          <p:nvPr/>
        </p:nvCxnSpPr>
        <p:spPr>
          <a:xfrm flipH="1" flipV="1">
            <a:off x="10103455" y="3447456"/>
            <a:ext cx="233238" cy="625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342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64E14-7142-AD62-E7BB-71138E6E6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06F62-B24F-737F-18EB-DE6154DDBC39}"/>
              </a:ext>
            </a:extLst>
          </p:cNvPr>
          <p:cNvSpPr>
            <a:spLocks noGrp="1"/>
          </p:cNvSpPr>
          <p:nvPr>
            <p:ph type="title"/>
          </p:nvPr>
        </p:nvSpPr>
        <p:spPr>
          <a:xfrm>
            <a:off x="838200" y="256068"/>
            <a:ext cx="10515600" cy="700277"/>
          </a:xfrm>
        </p:spPr>
        <p:txBody>
          <a:bodyPr/>
          <a:lstStyle/>
          <a:p>
            <a:r>
              <a:rPr lang="en-US" b="1" dirty="0"/>
              <a:t>Multi-Agent Systems Architecture(p3)</a:t>
            </a:r>
            <a:endParaRPr lang="en-US" dirty="0"/>
          </a:p>
        </p:txBody>
      </p:sp>
      <p:sp>
        <p:nvSpPr>
          <p:cNvPr id="5" name="Content Placeholder 4">
            <a:extLst>
              <a:ext uri="{FF2B5EF4-FFF2-40B4-BE49-F238E27FC236}">
                <a16:creationId xmlns:a16="http://schemas.microsoft.com/office/drawing/2014/main" id="{5BD29A89-068F-B517-5830-B86237E8589A}"/>
              </a:ext>
            </a:extLst>
          </p:cNvPr>
          <p:cNvSpPr>
            <a:spLocks noGrp="1"/>
          </p:cNvSpPr>
          <p:nvPr>
            <p:ph idx="1"/>
          </p:nvPr>
        </p:nvSpPr>
        <p:spPr>
          <a:xfrm>
            <a:off x="294199" y="1261080"/>
            <a:ext cx="8881604" cy="5235136"/>
          </a:xfrm>
        </p:spPr>
        <p:txBody>
          <a:bodyPr>
            <a:normAutofit fontScale="70000" lnSpcReduction="20000"/>
          </a:bodyPr>
          <a:lstStyle/>
          <a:p>
            <a:pPr marL="0" indent="0">
              <a:buNone/>
            </a:pPr>
            <a:r>
              <a:rPr lang="en-US" b="1" dirty="0"/>
              <a:t>B) Contextual Limitations: </a:t>
            </a:r>
            <a:r>
              <a:rPr lang="en-US" dirty="0"/>
              <a:t>In SA system, LLMs struggle to maintain effective performance when overloaded with growing context. LLM have a finite context window, which determines how much information they can process at once.</a:t>
            </a:r>
          </a:p>
          <a:p>
            <a:pPr marL="0" indent="0">
              <a:buNone/>
            </a:pPr>
            <a:r>
              <a:rPr lang="en-US" dirty="0"/>
              <a:t>As interactions expand in complexity following issues arises:</a:t>
            </a:r>
          </a:p>
          <a:p>
            <a:pPr marL="0" indent="0">
              <a:buNone/>
            </a:pPr>
            <a:r>
              <a:rPr lang="en-US" dirty="0"/>
              <a:t>Contextual Overload: The agent’s memory is overwhelmed by the growing number of tasks, tool outputs, and user interactions.</a:t>
            </a:r>
          </a:p>
          <a:p>
            <a:pPr marL="0" indent="0">
              <a:buNone/>
            </a:pPr>
            <a:r>
              <a:rPr lang="en-US" dirty="0"/>
              <a:t>Performance Drops: The LLM may lose important details, leading to incomplete or incorrect responses.</a:t>
            </a:r>
          </a:p>
          <a:p>
            <a:pPr marL="0" indent="0">
              <a:buNone/>
            </a:pPr>
            <a:r>
              <a:rPr lang="en-US" dirty="0"/>
              <a:t>Inefficiencies: Repeated reinitialization of context for different tasks increases latency and computational costs.</a:t>
            </a:r>
          </a:p>
          <a:p>
            <a:pPr marL="0" indent="0">
              <a:buNone/>
            </a:pPr>
            <a:endParaRPr lang="en-US" dirty="0"/>
          </a:p>
          <a:p>
            <a:pPr marL="0" indent="0">
              <a:buNone/>
            </a:pPr>
            <a:r>
              <a:rPr lang="en-US" dirty="0"/>
              <a:t>Example: Imagine an agent interacting with a user and calling tools to:</a:t>
            </a:r>
          </a:p>
          <a:p>
            <a:pPr marL="0" indent="0">
              <a:buNone/>
            </a:pPr>
            <a:r>
              <a:rPr lang="en-US" dirty="0"/>
              <a:t>1. Retrieve data.</a:t>
            </a:r>
          </a:p>
          <a:p>
            <a:pPr marL="0" indent="0">
              <a:buNone/>
            </a:pPr>
            <a:r>
              <a:rPr lang="en-US" dirty="0"/>
              <a:t>2. Analyze it.</a:t>
            </a:r>
          </a:p>
          <a:p>
            <a:pPr marL="0" indent="0">
              <a:buNone/>
            </a:pPr>
            <a:r>
              <a:rPr lang="en-US" dirty="0"/>
              <a:t>3. Generate a report.</a:t>
            </a:r>
          </a:p>
          <a:p>
            <a:pPr marL="0" indent="0">
              <a:buNone/>
            </a:pPr>
            <a:r>
              <a:rPr lang="en-US" dirty="0"/>
              <a:t>By the time it reaches step 3, the LLM may have lost critical details from step 1 due to context overflow, resulting in flawed outputs.</a:t>
            </a:r>
          </a:p>
        </p:txBody>
      </p:sp>
      <p:sp>
        <p:nvSpPr>
          <p:cNvPr id="6" name="Oval 5">
            <a:extLst>
              <a:ext uri="{FF2B5EF4-FFF2-40B4-BE49-F238E27FC236}">
                <a16:creationId xmlns:a16="http://schemas.microsoft.com/office/drawing/2014/main" id="{B1239105-9C39-4996-3E91-8F3D305693D5}"/>
              </a:ext>
            </a:extLst>
          </p:cNvPr>
          <p:cNvSpPr/>
          <p:nvPr/>
        </p:nvSpPr>
        <p:spPr>
          <a:xfrm>
            <a:off x="7052807" y="4572000"/>
            <a:ext cx="1924213"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Data</a:t>
            </a:r>
            <a:endParaRPr lang="en-IN" dirty="0"/>
          </a:p>
        </p:txBody>
      </p:sp>
      <p:sp>
        <p:nvSpPr>
          <p:cNvPr id="7" name="Oval 6">
            <a:extLst>
              <a:ext uri="{FF2B5EF4-FFF2-40B4-BE49-F238E27FC236}">
                <a16:creationId xmlns:a16="http://schemas.microsoft.com/office/drawing/2014/main" id="{3A9D4894-DB32-D6A2-AC49-1FA55ED7A786}"/>
              </a:ext>
            </a:extLst>
          </p:cNvPr>
          <p:cNvSpPr/>
          <p:nvPr/>
        </p:nvSpPr>
        <p:spPr>
          <a:xfrm>
            <a:off x="9008826" y="4589227"/>
            <a:ext cx="1345096"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Analyze data</a:t>
            </a:r>
            <a:endParaRPr lang="en-IN" dirty="0"/>
          </a:p>
        </p:txBody>
      </p:sp>
      <p:sp>
        <p:nvSpPr>
          <p:cNvPr id="8" name="Oval 7">
            <a:extLst>
              <a:ext uri="{FF2B5EF4-FFF2-40B4-BE49-F238E27FC236}">
                <a16:creationId xmlns:a16="http://schemas.microsoft.com/office/drawing/2014/main" id="{9B550ABD-4981-00E2-9866-CDC8F31BAB5F}"/>
              </a:ext>
            </a:extLst>
          </p:cNvPr>
          <p:cNvSpPr/>
          <p:nvPr/>
        </p:nvSpPr>
        <p:spPr>
          <a:xfrm>
            <a:off x="10377775" y="4646213"/>
            <a:ext cx="1616765"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Generate Report</a:t>
            </a:r>
            <a:endParaRPr lang="en-IN" dirty="0"/>
          </a:p>
        </p:txBody>
      </p:sp>
      <p:sp>
        <p:nvSpPr>
          <p:cNvPr id="12" name="Rectangle: Rounded Corners 11">
            <a:extLst>
              <a:ext uri="{FF2B5EF4-FFF2-40B4-BE49-F238E27FC236}">
                <a16:creationId xmlns:a16="http://schemas.microsoft.com/office/drawing/2014/main" id="{5F39B192-D1BF-AE88-CB1C-48CBD73F6068}"/>
              </a:ext>
            </a:extLst>
          </p:cNvPr>
          <p:cNvSpPr/>
          <p:nvPr/>
        </p:nvSpPr>
        <p:spPr>
          <a:xfrm>
            <a:off x="9159900" y="2266122"/>
            <a:ext cx="1630018" cy="98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endParaRPr lang="en-IN" dirty="0"/>
          </a:p>
        </p:txBody>
      </p:sp>
      <p:cxnSp>
        <p:nvCxnSpPr>
          <p:cNvPr id="14" name="Straight Arrow Connector 13">
            <a:extLst>
              <a:ext uri="{FF2B5EF4-FFF2-40B4-BE49-F238E27FC236}">
                <a16:creationId xmlns:a16="http://schemas.microsoft.com/office/drawing/2014/main" id="{1A750C72-FD5C-E213-9923-F7B4B573CA08}"/>
              </a:ext>
            </a:extLst>
          </p:cNvPr>
          <p:cNvCxnSpPr>
            <a:cxnSpLocks/>
          </p:cNvCxnSpPr>
          <p:nvPr/>
        </p:nvCxnSpPr>
        <p:spPr>
          <a:xfrm flipH="1">
            <a:off x="9320252" y="3429000"/>
            <a:ext cx="396240" cy="626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5C65C91-75D5-2E2E-194A-D97A711114D8}"/>
              </a:ext>
            </a:extLst>
          </p:cNvPr>
          <p:cNvCxnSpPr>
            <a:cxnSpLocks/>
          </p:cNvCxnSpPr>
          <p:nvPr/>
        </p:nvCxnSpPr>
        <p:spPr>
          <a:xfrm flipH="1" flipV="1">
            <a:off x="10103455" y="3447456"/>
            <a:ext cx="233238" cy="625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342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5CB2-8984-4AAF-BD70-3AFCBE4A3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BAA63-552C-0ACE-3851-9E0BE56F35A1}"/>
              </a:ext>
            </a:extLst>
          </p:cNvPr>
          <p:cNvSpPr>
            <a:spLocks noGrp="1"/>
          </p:cNvSpPr>
          <p:nvPr>
            <p:ph type="title"/>
          </p:nvPr>
        </p:nvSpPr>
        <p:spPr>
          <a:xfrm>
            <a:off x="838200" y="256068"/>
            <a:ext cx="10515600" cy="700277"/>
          </a:xfrm>
        </p:spPr>
        <p:txBody>
          <a:bodyPr/>
          <a:lstStyle/>
          <a:p>
            <a:r>
              <a:rPr lang="en-US" b="1" dirty="0"/>
              <a:t>Multi-Agent Systems Architecture(p4)</a:t>
            </a:r>
            <a:endParaRPr lang="en-US" dirty="0"/>
          </a:p>
        </p:txBody>
      </p:sp>
      <p:sp>
        <p:nvSpPr>
          <p:cNvPr id="5" name="Content Placeholder 4">
            <a:extLst>
              <a:ext uri="{FF2B5EF4-FFF2-40B4-BE49-F238E27FC236}">
                <a16:creationId xmlns:a16="http://schemas.microsoft.com/office/drawing/2014/main" id="{429976AC-0D48-C3BD-A80C-F60E334D67EE}"/>
              </a:ext>
            </a:extLst>
          </p:cNvPr>
          <p:cNvSpPr>
            <a:spLocks noGrp="1"/>
          </p:cNvSpPr>
          <p:nvPr>
            <p:ph idx="1"/>
          </p:nvPr>
        </p:nvSpPr>
        <p:spPr>
          <a:xfrm>
            <a:off x="294199" y="1261080"/>
            <a:ext cx="8881604" cy="5235136"/>
          </a:xfrm>
        </p:spPr>
        <p:txBody>
          <a:bodyPr>
            <a:normAutofit fontScale="77500" lnSpcReduction="20000"/>
          </a:bodyPr>
          <a:lstStyle/>
          <a:p>
            <a:pPr marL="0" indent="0">
              <a:buNone/>
            </a:pPr>
            <a:r>
              <a:rPr lang="en-US" b="1" dirty="0"/>
              <a:t>C) Specialization Deficiency:</a:t>
            </a:r>
            <a:r>
              <a:rPr lang="en-US" dirty="0"/>
              <a:t> A single agent cannot excel in diverse tasks requiring varied expertise. If a single agent is expected to handle diverse tasks — ranging from planning and research to coding and mathematical analysis, then this expectation creates challenges:</a:t>
            </a:r>
          </a:p>
          <a:p>
            <a:pPr marL="0" indent="0">
              <a:buNone/>
            </a:pPr>
            <a:r>
              <a:rPr lang="en-US" dirty="0"/>
              <a:t>1. Skill Dilution: A single LLM lacks the depth to perform each task with high expertise.</a:t>
            </a:r>
          </a:p>
          <a:p>
            <a:pPr marL="0" indent="0">
              <a:buNone/>
            </a:pPr>
            <a:r>
              <a:rPr lang="en-US" dirty="0"/>
              <a:t>2. Task Complexity: As tasks become more domain-specific, they require specialized knowledge that a generalized single agent cannot provide.</a:t>
            </a:r>
          </a:p>
          <a:p>
            <a:pPr marL="0" indent="0">
              <a:buNone/>
            </a:pPr>
            <a:r>
              <a:rPr lang="en-US" dirty="0"/>
              <a:t>3. Performance Inefficiencies: Switching between different types of tasks introduces friction, reducing overall system responsiveness.</a:t>
            </a:r>
          </a:p>
          <a:p>
            <a:pPr marL="0" indent="0">
              <a:buNone/>
            </a:pPr>
            <a:endParaRPr lang="en-US" dirty="0"/>
          </a:p>
          <a:p>
            <a:pPr marL="0" indent="0">
              <a:buNone/>
            </a:pPr>
            <a:r>
              <a:rPr lang="en-US" dirty="0"/>
              <a:t>Example: A user needs an AI assistant to:</a:t>
            </a:r>
          </a:p>
          <a:p>
            <a:pPr marL="0" indent="0">
              <a:buNone/>
            </a:pPr>
            <a:r>
              <a:rPr lang="en-US" dirty="0"/>
              <a:t>- Plan a project timeline.</a:t>
            </a:r>
          </a:p>
          <a:p>
            <a:pPr marL="0" indent="0">
              <a:buNone/>
            </a:pPr>
            <a:r>
              <a:rPr lang="en-US" dirty="0"/>
              <a:t>- Write a Python script for automation.</a:t>
            </a:r>
          </a:p>
          <a:p>
            <a:pPr marL="0" indent="0">
              <a:buNone/>
            </a:pPr>
            <a:r>
              <a:rPr lang="en-US" dirty="0"/>
              <a:t>- Generate a financial forecast. </a:t>
            </a:r>
          </a:p>
          <a:p>
            <a:pPr marL="0" indent="0">
              <a:buNone/>
            </a:pPr>
            <a:r>
              <a:rPr lang="en-US" dirty="0"/>
              <a:t>A single agent may struggle to excel in all three areas simultaneously, leading to suboptimal results.</a:t>
            </a:r>
          </a:p>
          <a:p>
            <a:pPr marL="0" indent="0">
              <a:buNone/>
            </a:pPr>
            <a:endParaRPr lang="en-IN" dirty="0"/>
          </a:p>
        </p:txBody>
      </p:sp>
      <p:sp>
        <p:nvSpPr>
          <p:cNvPr id="6" name="Oval 5">
            <a:extLst>
              <a:ext uri="{FF2B5EF4-FFF2-40B4-BE49-F238E27FC236}">
                <a16:creationId xmlns:a16="http://schemas.microsoft.com/office/drawing/2014/main" id="{61EA06F0-197D-5460-3484-5311ACAAD9A5}"/>
              </a:ext>
            </a:extLst>
          </p:cNvPr>
          <p:cNvSpPr/>
          <p:nvPr/>
        </p:nvSpPr>
        <p:spPr>
          <a:xfrm>
            <a:off x="7052807" y="4572000"/>
            <a:ext cx="1924213"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 Project Timeline</a:t>
            </a:r>
            <a:endParaRPr lang="en-IN" dirty="0"/>
          </a:p>
        </p:txBody>
      </p:sp>
      <p:sp>
        <p:nvSpPr>
          <p:cNvPr id="7" name="Oval 6">
            <a:extLst>
              <a:ext uri="{FF2B5EF4-FFF2-40B4-BE49-F238E27FC236}">
                <a16:creationId xmlns:a16="http://schemas.microsoft.com/office/drawing/2014/main" id="{5F4A8E51-5256-145A-1687-8FB2A3C1B967}"/>
              </a:ext>
            </a:extLst>
          </p:cNvPr>
          <p:cNvSpPr/>
          <p:nvPr/>
        </p:nvSpPr>
        <p:spPr>
          <a:xfrm>
            <a:off x="9008826" y="4589227"/>
            <a:ext cx="1345096"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Write Python script</a:t>
            </a:r>
            <a:endParaRPr lang="en-IN" dirty="0"/>
          </a:p>
        </p:txBody>
      </p:sp>
      <p:sp>
        <p:nvSpPr>
          <p:cNvPr id="8" name="Oval 7">
            <a:extLst>
              <a:ext uri="{FF2B5EF4-FFF2-40B4-BE49-F238E27FC236}">
                <a16:creationId xmlns:a16="http://schemas.microsoft.com/office/drawing/2014/main" id="{C5A42278-04C9-0950-B0EF-2F2E06731947}"/>
              </a:ext>
            </a:extLst>
          </p:cNvPr>
          <p:cNvSpPr/>
          <p:nvPr/>
        </p:nvSpPr>
        <p:spPr>
          <a:xfrm>
            <a:off x="10377775" y="4646213"/>
            <a:ext cx="1616765"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Generate Fin. Forecast</a:t>
            </a:r>
            <a:endParaRPr lang="en-IN" dirty="0"/>
          </a:p>
        </p:txBody>
      </p:sp>
      <p:sp>
        <p:nvSpPr>
          <p:cNvPr id="12" name="Rectangle: Rounded Corners 11">
            <a:extLst>
              <a:ext uri="{FF2B5EF4-FFF2-40B4-BE49-F238E27FC236}">
                <a16:creationId xmlns:a16="http://schemas.microsoft.com/office/drawing/2014/main" id="{2BE55771-84DA-132A-AEDA-C0AD7889175A}"/>
              </a:ext>
            </a:extLst>
          </p:cNvPr>
          <p:cNvSpPr/>
          <p:nvPr/>
        </p:nvSpPr>
        <p:spPr>
          <a:xfrm>
            <a:off x="9159900" y="2266122"/>
            <a:ext cx="1630018" cy="98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endParaRPr lang="en-IN" dirty="0"/>
          </a:p>
        </p:txBody>
      </p:sp>
      <p:cxnSp>
        <p:nvCxnSpPr>
          <p:cNvPr id="14" name="Straight Arrow Connector 13">
            <a:extLst>
              <a:ext uri="{FF2B5EF4-FFF2-40B4-BE49-F238E27FC236}">
                <a16:creationId xmlns:a16="http://schemas.microsoft.com/office/drawing/2014/main" id="{088F758B-05EE-E583-5121-28C98E9EED03}"/>
              </a:ext>
            </a:extLst>
          </p:cNvPr>
          <p:cNvCxnSpPr>
            <a:cxnSpLocks/>
          </p:cNvCxnSpPr>
          <p:nvPr/>
        </p:nvCxnSpPr>
        <p:spPr>
          <a:xfrm flipH="1">
            <a:off x="9320252" y="3429000"/>
            <a:ext cx="396240" cy="626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06FB4CE-EA36-7AE1-C6CB-CCBFCE9156D4}"/>
              </a:ext>
            </a:extLst>
          </p:cNvPr>
          <p:cNvCxnSpPr>
            <a:cxnSpLocks/>
          </p:cNvCxnSpPr>
          <p:nvPr/>
        </p:nvCxnSpPr>
        <p:spPr>
          <a:xfrm flipH="1" flipV="1">
            <a:off x="10103455" y="3447456"/>
            <a:ext cx="233238" cy="625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859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43CA3-9C69-C764-8938-74E3B3006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ACE71-5236-327A-57D8-401F98390D1A}"/>
              </a:ext>
            </a:extLst>
          </p:cNvPr>
          <p:cNvSpPr>
            <a:spLocks noGrp="1"/>
          </p:cNvSpPr>
          <p:nvPr>
            <p:ph type="title"/>
          </p:nvPr>
        </p:nvSpPr>
        <p:spPr>
          <a:xfrm>
            <a:off x="838200" y="256068"/>
            <a:ext cx="10515600" cy="700277"/>
          </a:xfrm>
        </p:spPr>
        <p:txBody>
          <a:bodyPr/>
          <a:lstStyle/>
          <a:p>
            <a:r>
              <a:rPr lang="en-US" b="1" dirty="0"/>
              <a:t>Multi-Agent Systems Architecture(p5)</a:t>
            </a:r>
            <a:endParaRPr lang="en-US" dirty="0"/>
          </a:p>
        </p:txBody>
      </p:sp>
      <p:sp>
        <p:nvSpPr>
          <p:cNvPr id="5" name="Content Placeholder 4">
            <a:extLst>
              <a:ext uri="{FF2B5EF4-FFF2-40B4-BE49-F238E27FC236}">
                <a16:creationId xmlns:a16="http://schemas.microsoft.com/office/drawing/2014/main" id="{ED58B222-F8D7-79C1-48BD-29D6CF85038F}"/>
              </a:ext>
            </a:extLst>
          </p:cNvPr>
          <p:cNvSpPr>
            <a:spLocks noGrp="1"/>
          </p:cNvSpPr>
          <p:nvPr>
            <p:ph idx="1"/>
          </p:nvPr>
        </p:nvSpPr>
        <p:spPr>
          <a:xfrm>
            <a:off x="294198" y="1261079"/>
            <a:ext cx="9057080" cy="2849745"/>
          </a:xfrm>
        </p:spPr>
        <p:txBody>
          <a:bodyPr>
            <a:normAutofit fontScale="70000" lnSpcReduction="20000"/>
          </a:bodyPr>
          <a:lstStyle/>
          <a:p>
            <a:pPr marL="0" indent="0">
              <a:buNone/>
            </a:pPr>
            <a:r>
              <a:rPr lang="en-US" b="1" dirty="0"/>
              <a:t>4 types of MAS:</a:t>
            </a:r>
          </a:p>
          <a:p>
            <a:pPr marL="514350" indent="-514350">
              <a:buAutoNum type="arabicPeriod"/>
            </a:pPr>
            <a:r>
              <a:rPr lang="en-US" b="1" dirty="0"/>
              <a:t>Network MAS: </a:t>
            </a:r>
            <a:r>
              <a:rPr lang="en-US" b="0" i="0" dirty="0">
                <a:effectLst/>
                <a:latin typeface="Helvetica Neue"/>
              </a:rPr>
              <a:t>multiple agents operate independently, each equipped with their own tools, and communicate by routing tasks among themselves. This architecture leverages collaboration and coordination between agents for solving complex problems.</a:t>
            </a:r>
          </a:p>
          <a:p>
            <a:pPr marL="0" indent="0">
              <a:buNone/>
            </a:pPr>
            <a:r>
              <a:rPr lang="en-US" b="0" i="0" dirty="0">
                <a:effectLst/>
                <a:latin typeface="Helvetica Neue"/>
              </a:rPr>
              <a:t>Framework like Swarm, </a:t>
            </a:r>
            <a:r>
              <a:rPr lang="en-US" b="0" i="0" dirty="0" err="1">
                <a:effectLst/>
                <a:latin typeface="Helvetica Neue"/>
              </a:rPr>
              <a:t>CrewAI</a:t>
            </a:r>
            <a:r>
              <a:rPr lang="en-US" b="0" i="0" dirty="0">
                <a:effectLst/>
                <a:latin typeface="Helvetica Neue"/>
              </a:rPr>
              <a:t>, </a:t>
            </a:r>
            <a:r>
              <a:rPr lang="en-US" b="0" i="0" dirty="0" err="1">
                <a:effectLst/>
                <a:latin typeface="Helvetica Neue"/>
              </a:rPr>
              <a:t>LangGraph</a:t>
            </a:r>
            <a:r>
              <a:rPr lang="en-US" b="0" i="0" dirty="0">
                <a:effectLst/>
                <a:latin typeface="Helvetica Neue"/>
              </a:rPr>
              <a:t> use this architecture.</a:t>
            </a:r>
          </a:p>
          <a:p>
            <a:pPr marL="0" indent="0">
              <a:buNone/>
            </a:pPr>
            <a:endParaRPr lang="en-US" dirty="0">
              <a:latin typeface="Helvetica Neue"/>
            </a:endParaRPr>
          </a:p>
          <a:p>
            <a:pPr marL="0" indent="0">
              <a:buNone/>
            </a:pPr>
            <a:r>
              <a:rPr lang="en-US" dirty="0">
                <a:latin typeface="Helvetica Neue"/>
              </a:rPr>
              <a:t>SA's communicate by determining the next agent in the sequence to handle a task. Routing decisions are made dynamically, based on the current task and agent capabilities.</a:t>
            </a:r>
          </a:p>
        </p:txBody>
      </p:sp>
      <p:pic>
        <p:nvPicPr>
          <p:cNvPr id="4" name="Picture 3">
            <a:extLst>
              <a:ext uri="{FF2B5EF4-FFF2-40B4-BE49-F238E27FC236}">
                <a16:creationId xmlns:a16="http://schemas.microsoft.com/office/drawing/2014/main" id="{3C85B217-0CB3-70CB-DF27-E4A9E1B0B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1278" y="1609708"/>
            <a:ext cx="2712955" cy="2270957"/>
          </a:xfrm>
          <a:prstGeom prst="rect">
            <a:avLst/>
          </a:prstGeom>
        </p:spPr>
      </p:pic>
      <p:sp>
        <p:nvSpPr>
          <p:cNvPr id="9" name="Content Placeholder 4">
            <a:extLst>
              <a:ext uri="{FF2B5EF4-FFF2-40B4-BE49-F238E27FC236}">
                <a16:creationId xmlns:a16="http://schemas.microsoft.com/office/drawing/2014/main" id="{FE59196A-D447-6D38-FACB-B672FE032BD0}"/>
              </a:ext>
            </a:extLst>
          </p:cNvPr>
          <p:cNvSpPr txBox="1">
            <a:spLocks/>
          </p:cNvSpPr>
          <p:nvPr/>
        </p:nvSpPr>
        <p:spPr>
          <a:xfrm>
            <a:off x="310099" y="4309607"/>
            <a:ext cx="10853532" cy="21468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latin typeface="Helvetica Neue"/>
              </a:rPr>
              <a:t>Advantage of network MAS</a:t>
            </a:r>
          </a:p>
          <a:p>
            <a:r>
              <a:rPr lang="en-US" sz="1800" dirty="0">
                <a:latin typeface="Helvetica Neue"/>
              </a:rPr>
              <a:t>Decentralized Decision-Making: Agents can make independent decisions, reducing reliance on a single central controller.</a:t>
            </a:r>
          </a:p>
          <a:p>
            <a:r>
              <a:rPr lang="en-US" sz="1800" dirty="0">
                <a:latin typeface="Helvetica Neue"/>
              </a:rPr>
              <a:t>Flexibility: The architecture can adapt dynamically to changing task requirements or agent capabilities.</a:t>
            </a:r>
          </a:p>
          <a:p>
            <a:r>
              <a:rPr lang="en-US" sz="1800" dirty="0">
                <a:latin typeface="Helvetica Neue"/>
              </a:rPr>
              <a:t>Parallelism: Multiple agents can operate concurrently, improving system throughput for tasks that can be processed in parallel.</a:t>
            </a:r>
          </a:p>
          <a:p>
            <a:pPr marL="0" indent="0">
              <a:buFont typeface="Arial" panose="020B0604020202020204" pitchFamily="34" charset="0"/>
              <a:buNone/>
            </a:pPr>
            <a:endParaRPr lang="en-US" sz="1800" dirty="0">
              <a:latin typeface="Helvetica Neue"/>
            </a:endParaRPr>
          </a:p>
        </p:txBody>
      </p:sp>
    </p:spTree>
    <p:extLst>
      <p:ext uri="{BB962C8B-B14F-4D97-AF65-F5344CB8AC3E}">
        <p14:creationId xmlns:p14="http://schemas.microsoft.com/office/powerpoint/2010/main" val="1499887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F4F98-23DB-F807-C2B0-B1F52A65E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3F5A7-B7CE-DC0A-44E9-DAE13428C9B5}"/>
              </a:ext>
            </a:extLst>
          </p:cNvPr>
          <p:cNvSpPr>
            <a:spLocks noGrp="1"/>
          </p:cNvSpPr>
          <p:nvPr>
            <p:ph type="title"/>
          </p:nvPr>
        </p:nvSpPr>
        <p:spPr>
          <a:xfrm>
            <a:off x="838200" y="256068"/>
            <a:ext cx="10515600" cy="700277"/>
          </a:xfrm>
        </p:spPr>
        <p:txBody>
          <a:bodyPr/>
          <a:lstStyle/>
          <a:p>
            <a:r>
              <a:rPr lang="en-US" b="1" dirty="0"/>
              <a:t>Multi-Agent Systems Architecture(p6)</a:t>
            </a:r>
            <a:endParaRPr lang="en-US" dirty="0"/>
          </a:p>
        </p:txBody>
      </p:sp>
      <p:sp>
        <p:nvSpPr>
          <p:cNvPr id="5" name="Content Placeholder 4">
            <a:extLst>
              <a:ext uri="{FF2B5EF4-FFF2-40B4-BE49-F238E27FC236}">
                <a16:creationId xmlns:a16="http://schemas.microsoft.com/office/drawing/2014/main" id="{7AECEBBC-3956-0F6E-0371-B75F2AE28BAC}"/>
              </a:ext>
            </a:extLst>
          </p:cNvPr>
          <p:cNvSpPr>
            <a:spLocks noGrp="1"/>
          </p:cNvSpPr>
          <p:nvPr>
            <p:ph idx="1"/>
          </p:nvPr>
        </p:nvSpPr>
        <p:spPr>
          <a:xfrm>
            <a:off x="294198" y="1261079"/>
            <a:ext cx="9057080" cy="2923890"/>
          </a:xfrm>
        </p:spPr>
        <p:txBody>
          <a:bodyPr>
            <a:normAutofit fontScale="62500" lnSpcReduction="20000"/>
          </a:bodyPr>
          <a:lstStyle/>
          <a:p>
            <a:pPr marL="0" indent="0">
              <a:buNone/>
            </a:pPr>
            <a:r>
              <a:rPr lang="en-US" b="1" dirty="0">
                <a:latin typeface="Helvetica Neue"/>
              </a:rPr>
              <a:t>Disadvantages of Network MAS</a:t>
            </a:r>
          </a:p>
          <a:p>
            <a:r>
              <a:rPr lang="en-US" dirty="0">
                <a:latin typeface="Helvetica Neue"/>
              </a:rPr>
              <a:t>Loose Communication Patterns: Lack of strict control over how agents communicate leads to unpredictability. Agents may route tasks inefficiently, causing delays or redundant work.</a:t>
            </a:r>
          </a:p>
          <a:p>
            <a:r>
              <a:rPr lang="en-US" dirty="0">
                <a:latin typeface="Helvetica Neue"/>
              </a:rPr>
              <a:t>High Costs: Frequent communication between agents results in excessive LLM calls, increasing operational costs. Agents may unnecessarily route tasks back and forth, compounding expenses.</a:t>
            </a:r>
          </a:p>
          <a:p>
            <a:r>
              <a:rPr lang="en-US" dirty="0">
                <a:latin typeface="Helvetica Neue"/>
              </a:rPr>
              <a:t>Unreliability in Production: The decentralized nature makes debugging and error handling challenging. Inconsistent task routing can lead to failed workflows or incomplete results.</a:t>
            </a:r>
          </a:p>
          <a:p>
            <a:r>
              <a:rPr lang="en-US" dirty="0">
                <a:latin typeface="Helvetica Neue"/>
              </a:rPr>
              <a:t>Coordination Overhead: With no central control, maintaining coordination across agents requires complex protocols, adding computational overhead.</a:t>
            </a:r>
          </a:p>
        </p:txBody>
      </p:sp>
      <p:pic>
        <p:nvPicPr>
          <p:cNvPr id="3" name="Picture 2">
            <a:extLst>
              <a:ext uri="{FF2B5EF4-FFF2-40B4-BE49-F238E27FC236}">
                <a16:creationId xmlns:a16="http://schemas.microsoft.com/office/drawing/2014/main" id="{92632D47-B718-0653-068A-4D691D993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1278" y="1609708"/>
            <a:ext cx="2712955" cy="2270957"/>
          </a:xfrm>
          <a:prstGeom prst="rect">
            <a:avLst/>
          </a:prstGeom>
        </p:spPr>
      </p:pic>
      <p:sp>
        <p:nvSpPr>
          <p:cNvPr id="4" name="Content Placeholder 4">
            <a:extLst>
              <a:ext uri="{FF2B5EF4-FFF2-40B4-BE49-F238E27FC236}">
                <a16:creationId xmlns:a16="http://schemas.microsoft.com/office/drawing/2014/main" id="{689A5FB4-1EF6-1D16-7B33-F74508F4AF37}"/>
              </a:ext>
            </a:extLst>
          </p:cNvPr>
          <p:cNvSpPr txBox="1">
            <a:spLocks/>
          </p:cNvSpPr>
          <p:nvPr/>
        </p:nvSpPr>
        <p:spPr>
          <a:xfrm>
            <a:off x="461175" y="4304234"/>
            <a:ext cx="11219291" cy="2472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latin typeface="Helvetica Neue"/>
              </a:rPr>
              <a:t>Practical Applications of N/w MAS</a:t>
            </a:r>
          </a:p>
          <a:p>
            <a:pPr marL="0" indent="0">
              <a:buFont typeface="Arial" panose="020B0604020202020204" pitchFamily="34" charset="0"/>
              <a:buNone/>
            </a:pPr>
            <a:r>
              <a:rPr lang="en-US" sz="1800" dirty="0">
                <a:latin typeface="Helvetica Neue"/>
              </a:rPr>
              <a:t>While the network of agents architecture is rarely recommended for production due to its inefficiencies, it has niche applications in:</a:t>
            </a:r>
          </a:p>
          <a:p>
            <a:pPr marL="0" indent="0">
              <a:buFont typeface="Arial" panose="020B0604020202020204" pitchFamily="34" charset="0"/>
              <a:buNone/>
            </a:pPr>
            <a:r>
              <a:rPr lang="en-US" sz="1800" dirty="0">
                <a:latin typeface="Helvetica Neue"/>
              </a:rPr>
              <a:t>- Exploratory Systems: Research prototypes or academic experiments where flexibility and dynamic task routing are prioritized over cost and reliability.</a:t>
            </a:r>
          </a:p>
          <a:p>
            <a:pPr marL="0" indent="0">
              <a:buFont typeface="Arial" panose="020B0604020202020204" pitchFamily="34" charset="0"/>
              <a:buNone/>
            </a:pPr>
            <a:r>
              <a:rPr lang="en-US" sz="1800" dirty="0">
                <a:latin typeface="Helvetica Neue"/>
              </a:rPr>
              <a:t>- Distributed Problem Solving: Use cases like swarm intelligence, where decentralized agents simulate behaviors found in natural systems (e.g., ant colonies, bird flocks).</a:t>
            </a:r>
          </a:p>
        </p:txBody>
      </p:sp>
    </p:spTree>
    <p:extLst>
      <p:ext uri="{BB962C8B-B14F-4D97-AF65-F5344CB8AC3E}">
        <p14:creationId xmlns:p14="http://schemas.microsoft.com/office/powerpoint/2010/main" val="1226526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B0C53-D16E-3D2F-B425-DECE8A28A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3F5CF-D922-9B40-C1C7-758959E7F089}"/>
              </a:ext>
            </a:extLst>
          </p:cNvPr>
          <p:cNvSpPr>
            <a:spLocks noGrp="1"/>
          </p:cNvSpPr>
          <p:nvPr>
            <p:ph type="title"/>
          </p:nvPr>
        </p:nvSpPr>
        <p:spPr>
          <a:xfrm>
            <a:off x="838200" y="256068"/>
            <a:ext cx="10515600" cy="700277"/>
          </a:xfrm>
        </p:spPr>
        <p:txBody>
          <a:bodyPr/>
          <a:lstStyle/>
          <a:p>
            <a:r>
              <a:rPr lang="en-US" b="1" dirty="0"/>
              <a:t>Multi-Agent Systems Architecture(p7)</a:t>
            </a:r>
            <a:endParaRPr lang="en-US" dirty="0"/>
          </a:p>
        </p:txBody>
      </p:sp>
      <p:sp>
        <p:nvSpPr>
          <p:cNvPr id="5" name="Content Placeholder 4">
            <a:extLst>
              <a:ext uri="{FF2B5EF4-FFF2-40B4-BE49-F238E27FC236}">
                <a16:creationId xmlns:a16="http://schemas.microsoft.com/office/drawing/2014/main" id="{610AE5BA-B8D2-B13A-BD40-669436033F1A}"/>
              </a:ext>
            </a:extLst>
          </p:cNvPr>
          <p:cNvSpPr>
            <a:spLocks noGrp="1"/>
          </p:cNvSpPr>
          <p:nvPr>
            <p:ph idx="1"/>
          </p:nvPr>
        </p:nvSpPr>
        <p:spPr>
          <a:xfrm>
            <a:off x="294197" y="956344"/>
            <a:ext cx="10089055" cy="5645587"/>
          </a:xfrm>
        </p:spPr>
        <p:txBody>
          <a:bodyPr>
            <a:normAutofit fontScale="62500" lnSpcReduction="20000"/>
          </a:bodyPr>
          <a:lstStyle/>
          <a:p>
            <a:pPr marL="0" indent="0">
              <a:buNone/>
            </a:pPr>
            <a:r>
              <a:rPr lang="en-US" sz="3800" dirty="0">
                <a:latin typeface="Helvetica Neue"/>
              </a:rPr>
              <a:t>2. </a:t>
            </a:r>
            <a:r>
              <a:rPr lang="en-US" sz="3800" b="1" dirty="0">
                <a:latin typeface="Helvetica Neue"/>
              </a:rPr>
              <a:t>S</a:t>
            </a:r>
            <a:r>
              <a:rPr lang="en-IN" sz="3800" b="1" i="0" dirty="0" err="1">
                <a:solidFill>
                  <a:srgbClr val="242424"/>
                </a:solidFill>
                <a:effectLst/>
                <a:latin typeface="sohne"/>
              </a:rPr>
              <a:t>upervisor</a:t>
            </a:r>
            <a:r>
              <a:rPr lang="en-IN" sz="3800" b="1" i="0" dirty="0">
                <a:solidFill>
                  <a:srgbClr val="242424"/>
                </a:solidFill>
                <a:effectLst/>
                <a:latin typeface="sohne"/>
              </a:rPr>
              <a:t> Agent</a:t>
            </a:r>
            <a:r>
              <a:rPr lang="en-IN" b="1" i="0" dirty="0">
                <a:solidFill>
                  <a:srgbClr val="242424"/>
                </a:solidFill>
                <a:effectLst/>
                <a:latin typeface="sohne"/>
              </a:rPr>
              <a:t> </a:t>
            </a:r>
          </a:p>
          <a:p>
            <a:pPr marL="0" indent="0">
              <a:buNone/>
            </a:pPr>
            <a:r>
              <a:rPr lang="en-US" b="1" dirty="0">
                <a:latin typeface="Helvetica Neue"/>
              </a:rPr>
              <a:t>How It Works</a:t>
            </a:r>
          </a:p>
          <a:p>
            <a:pPr marL="0" indent="0">
              <a:buNone/>
            </a:pPr>
            <a:r>
              <a:rPr lang="en-US" dirty="0">
                <a:latin typeface="Helvetica Neue"/>
              </a:rPr>
              <a:t>Supervisor Agent:</a:t>
            </a:r>
          </a:p>
          <a:p>
            <a:pPr marL="0" indent="0">
              <a:buNone/>
            </a:pPr>
            <a:r>
              <a:rPr lang="en-US" dirty="0">
                <a:latin typeface="Helvetica Neue"/>
              </a:rPr>
              <a:t>- Acts as the central controller.</a:t>
            </a:r>
          </a:p>
          <a:p>
            <a:pPr marL="0" indent="0">
              <a:buNone/>
            </a:pPr>
            <a:r>
              <a:rPr lang="en-US" dirty="0">
                <a:latin typeface="Helvetica Neue"/>
              </a:rPr>
              <a:t>- Decides which sub-agent should handle a specific task based on the task requirements.</a:t>
            </a:r>
          </a:p>
          <a:p>
            <a:pPr marL="0" indent="0">
              <a:buNone/>
            </a:pPr>
            <a:r>
              <a:rPr lang="en-US" dirty="0">
                <a:latin typeface="Helvetica Neue"/>
              </a:rPr>
              <a:t>- Manages the overall workflow and ensures the completion of tasks in a structured manner.</a:t>
            </a:r>
          </a:p>
          <a:p>
            <a:pPr marL="0" indent="0">
              <a:buNone/>
            </a:pPr>
            <a:endParaRPr lang="en-US" dirty="0">
              <a:latin typeface="Helvetica Neue"/>
            </a:endParaRPr>
          </a:p>
          <a:p>
            <a:pPr marL="0" indent="0">
              <a:buNone/>
            </a:pPr>
            <a:r>
              <a:rPr lang="en-US" dirty="0">
                <a:latin typeface="Helvetica Neue"/>
              </a:rPr>
              <a:t>Sub-Agents:</a:t>
            </a:r>
          </a:p>
          <a:p>
            <a:pPr marL="0" indent="0">
              <a:buNone/>
            </a:pPr>
            <a:r>
              <a:rPr lang="en-US" dirty="0">
                <a:latin typeface="Helvetica Neue"/>
              </a:rPr>
              <a:t>- Specialized agents with expertise in specific domains (e.g., data analysis, coding, content generation).</a:t>
            </a:r>
          </a:p>
          <a:p>
            <a:pPr marL="0" indent="0">
              <a:buNone/>
            </a:pPr>
            <a:r>
              <a:rPr lang="en-US" dirty="0">
                <a:latin typeface="Helvetica Neue"/>
              </a:rPr>
              <a:t>- Perform their tasks independently without worrying about routing or decision-making.</a:t>
            </a:r>
          </a:p>
          <a:p>
            <a:pPr marL="0" indent="0">
              <a:buNone/>
            </a:pPr>
            <a:endParaRPr lang="en-US" dirty="0">
              <a:latin typeface="Helvetica Neue"/>
            </a:endParaRPr>
          </a:p>
          <a:p>
            <a:pPr marL="0" indent="0">
              <a:buNone/>
            </a:pPr>
            <a:r>
              <a:rPr lang="en-US" dirty="0">
                <a:latin typeface="Helvetica Neue"/>
              </a:rPr>
              <a:t>Communication Flow:</a:t>
            </a:r>
          </a:p>
          <a:p>
            <a:pPr marL="0" indent="0">
              <a:buNone/>
            </a:pPr>
            <a:r>
              <a:rPr lang="en-US" dirty="0">
                <a:latin typeface="Helvetica Neue"/>
              </a:rPr>
              <a:t>- The supervisor receives a task, analyzes it, and routes it to the appropriate sub-agent.</a:t>
            </a:r>
          </a:p>
          <a:p>
            <a:pPr marL="0" indent="0">
              <a:buNone/>
            </a:pPr>
            <a:r>
              <a:rPr lang="en-US" dirty="0">
                <a:latin typeface="Helvetica Neue"/>
              </a:rPr>
              <a:t>- The sub-agent processes the task and returns results to the supervisor, which then decides the next steps.</a:t>
            </a:r>
          </a:p>
          <a:p>
            <a:pPr marL="0" indent="0">
              <a:buNone/>
            </a:pPr>
            <a:endParaRPr lang="en-US" dirty="0">
              <a:latin typeface="Helvetica Neue"/>
            </a:endParaRPr>
          </a:p>
        </p:txBody>
      </p:sp>
      <p:pic>
        <p:nvPicPr>
          <p:cNvPr id="3" name="Picture 2">
            <a:extLst>
              <a:ext uri="{FF2B5EF4-FFF2-40B4-BE49-F238E27FC236}">
                <a16:creationId xmlns:a16="http://schemas.microsoft.com/office/drawing/2014/main" id="{CE298F75-D1E7-B2E6-DB93-6C88E528E2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405458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A17B8-5AD8-6458-CC7C-0781E3B35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CE3EE-0A80-A054-E568-2299D1779773}"/>
              </a:ext>
            </a:extLst>
          </p:cNvPr>
          <p:cNvSpPr>
            <a:spLocks noGrp="1"/>
          </p:cNvSpPr>
          <p:nvPr>
            <p:ph type="title"/>
          </p:nvPr>
        </p:nvSpPr>
        <p:spPr>
          <a:xfrm>
            <a:off x="838200" y="256068"/>
            <a:ext cx="10515600" cy="700277"/>
          </a:xfrm>
        </p:spPr>
        <p:txBody>
          <a:bodyPr/>
          <a:lstStyle/>
          <a:p>
            <a:r>
              <a:rPr lang="en-US" b="1" dirty="0"/>
              <a:t>Multi-Agent Systems Architecture(p8)</a:t>
            </a:r>
            <a:endParaRPr lang="en-US" dirty="0"/>
          </a:p>
        </p:txBody>
      </p:sp>
      <p:sp>
        <p:nvSpPr>
          <p:cNvPr id="5" name="Content Placeholder 4">
            <a:extLst>
              <a:ext uri="{FF2B5EF4-FFF2-40B4-BE49-F238E27FC236}">
                <a16:creationId xmlns:a16="http://schemas.microsoft.com/office/drawing/2014/main" id="{85391171-0C2E-29E2-F285-BF3D802A7372}"/>
              </a:ext>
            </a:extLst>
          </p:cNvPr>
          <p:cNvSpPr>
            <a:spLocks noGrp="1"/>
          </p:cNvSpPr>
          <p:nvPr>
            <p:ph idx="1"/>
          </p:nvPr>
        </p:nvSpPr>
        <p:spPr>
          <a:xfrm>
            <a:off x="294197" y="956344"/>
            <a:ext cx="10185308" cy="4734593"/>
          </a:xfrm>
        </p:spPr>
        <p:txBody>
          <a:bodyPr>
            <a:normAutofit fontScale="47500" lnSpcReduction="20000"/>
          </a:bodyPr>
          <a:lstStyle/>
          <a:p>
            <a:pPr marL="0" indent="0">
              <a:buNone/>
            </a:pPr>
            <a:r>
              <a:rPr lang="en-US" sz="3800" b="1" dirty="0">
                <a:latin typeface="Helvetica Neue"/>
              </a:rPr>
              <a:t>Advantages of Supervisor MAS</a:t>
            </a:r>
          </a:p>
          <a:p>
            <a:pPr marL="0" indent="0">
              <a:buNone/>
            </a:pPr>
            <a:endParaRPr lang="en-US" sz="3800" dirty="0">
              <a:latin typeface="Helvetica Neue"/>
            </a:endParaRPr>
          </a:p>
          <a:p>
            <a:pPr marL="0" indent="0">
              <a:buNone/>
            </a:pPr>
            <a:r>
              <a:rPr lang="en-US" sz="3800" dirty="0">
                <a:latin typeface="Helvetica Neue"/>
              </a:rPr>
              <a:t>a) Simplified Sub-Agent Roles: Sub-agents focus exclusively on their tasks, without needing to handle routing or inter-agent communication. This improves their efficiency and accuracy.</a:t>
            </a:r>
          </a:p>
          <a:p>
            <a:pPr marL="0" indent="0">
              <a:buNone/>
            </a:pPr>
            <a:endParaRPr lang="en-US" sz="3800" dirty="0">
              <a:latin typeface="Helvetica Neue"/>
            </a:endParaRPr>
          </a:p>
          <a:p>
            <a:pPr marL="0" indent="0">
              <a:buNone/>
            </a:pPr>
            <a:r>
              <a:rPr lang="en-US" sz="3800" dirty="0">
                <a:latin typeface="Helvetica Neue"/>
              </a:rPr>
              <a:t>b) Centralized Control:</a:t>
            </a:r>
          </a:p>
          <a:p>
            <a:pPr marL="0" indent="0">
              <a:buNone/>
            </a:pPr>
            <a:r>
              <a:rPr lang="en-US" sz="3800" dirty="0">
                <a:latin typeface="Helvetica Neue"/>
              </a:rPr>
              <a:t>The supervisor ensures that tasks are executed in the correct sequence, reducing errors caused by miscommunication.</a:t>
            </a:r>
          </a:p>
          <a:p>
            <a:pPr marL="0" indent="0">
              <a:buNone/>
            </a:pPr>
            <a:r>
              <a:rPr lang="en-US" sz="3800" dirty="0">
                <a:latin typeface="Helvetica Neue"/>
              </a:rPr>
              <a:t>It provides a clear view of the overall workflow, making it easier to debug and maintain.</a:t>
            </a:r>
          </a:p>
          <a:p>
            <a:pPr marL="0" indent="0">
              <a:buNone/>
            </a:pPr>
            <a:endParaRPr lang="en-US" sz="3800" dirty="0">
              <a:latin typeface="Helvetica Neue"/>
            </a:endParaRPr>
          </a:p>
          <a:p>
            <a:pPr marL="0" indent="0">
              <a:buNone/>
            </a:pPr>
            <a:r>
              <a:rPr lang="en-US" sz="3800" dirty="0">
                <a:latin typeface="Helvetica Neue"/>
              </a:rPr>
              <a:t>c) Scalability:</a:t>
            </a:r>
          </a:p>
          <a:p>
            <a:pPr marL="0" indent="0">
              <a:buNone/>
            </a:pPr>
            <a:r>
              <a:rPr lang="en-US" sz="3800" dirty="0">
                <a:latin typeface="Helvetica Neue"/>
              </a:rPr>
              <a:t>New sub-agents can be added to the system without disrupting the existing architecture.</a:t>
            </a:r>
          </a:p>
          <a:p>
            <a:pPr marL="0" indent="0">
              <a:buNone/>
            </a:pPr>
            <a:r>
              <a:rPr lang="en-US" sz="3800" dirty="0">
                <a:latin typeface="Helvetica Neue"/>
              </a:rPr>
              <a:t>The supervisor can dynamically allocate tasks to the most suitable agent.</a:t>
            </a:r>
          </a:p>
          <a:p>
            <a:pPr marL="0" indent="0">
              <a:buNone/>
            </a:pPr>
            <a:endParaRPr lang="en-US" sz="3800" dirty="0">
              <a:latin typeface="Helvetica Neue"/>
            </a:endParaRPr>
          </a:p>
          <a:p>
            <a:pPr marL="0" indent="0">
              <a:buNone/>
            </a:pPr>
            <a:r>
              <a:rPr lang="en-US" sz="3800" dirty="0">
                <a:latin typeface="Helvetica Neue"/>
              </a:rPr>
              <a:t>d) Improved Resource Management: The supervisor optimizes task routing to minimize redundant LLM calls and computational overhead.</a:t>
            </a:r>
          </a:p>
        </p:txBody>
      </p:sp>
      <p:pic>
        <p:nvPicPr>
          <p:cNvPr id="3" name="Picture 2">
            <a:extLst>
              <a:ext uri="{FF2B5EF4-FFF2-40B4-BE49-F238E27FC236}">
                <a16:creationId xmlns:a16="http://schemas.microsoft.com/office/drawing/2014/main" id="{A3B31C21-A508-82D5-A734-1BEA96BEB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572143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8B4AB-7FAE-AD84-4BB6-1B032C0E9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C7630-A104-D30E-7D33-06D028779B5F}"/>
              </a:ext>
            </a:extLst>
          </p:cNvPr>
          <p:cNvSpPr>
            <a:spLocks noGrp="1"/>
          </p:cNvSpPr>
          <p:nvPr>
            <p:ph type="title"/>
          </p:nvPr>
        </p:nvSpPr>
        <p:spPr>
          <a:xfrm>
            <a:off x="838200" y="256068"/>
            <a:ext cx="10515600" cy="700277"/>
          </a:xfrm>
        </p:spPr>
        <p:txBody>
          <a:bodyPr/>
          <a:lstStyle/>
          <a:p>
            <a:r>
              <a:rPr lang="en-US" b="1" dirty="0"/>
              <a:t>Multi-Agent Systems Architecture(p9)</a:t>
            </a:r>
            <a:endParaRPr lang="en-US" dirty="0"/>
          </a:p>
        </p:txBody>
      </p:sp>
      <p:sp>
        <p:nvSpPr>
          <p:cNvPr id="5" name="Content Placeholder 4">
            <a:extLst>
              <a:ext uri="{FF2B5EF4-FFF2-40B4-BE49-F238E27FC236}">
                <a16:creationId xmlns:a16="http://schemas.microsoft.com/office/drawing/2014/main" id="{308B728E-F6E6-8547-686A-BEAB4BBD7A6A}"/>
              </a:ext>
            </a:extLst>
          </p:cNvPr>
          <p:cNvSpPr>
            <a:spLocks noGrp="1"/>
          </p:cNvSpPr>
          <p:nvPr>
            <p:ph idx="1"/>
          </p:nvPr>
        </p:nvSpPr>
        <p:spPr>
          <a:xfrm>
            <a:off x="294196" y="956344"/>
            <a:ext cx="10515599" cy="5372267"/>
          </a:xfrm>
        </p:spPr>
        <p:txBody>
          <a:bodyPr>
            <a:normAutofit fontScale="55000" lnSpcReduction="20000"/>
          </a:bodyPr>
          <a:lstStyle/>
          <a:p>
            <a:pPr marL="0" indent="0">
              <a:buNone/>
            </a:pPr>
            <a:r>
              <a:rPr lang="en-US" sz="3800" b="1" dirty="0">
                <a:latin typeface="Helvetica Neue"/>
              </a:rPr>
              <a:t>Challenges of supervisor MAS</a:t>
            </a:r>
          </a:p>
          <a:p>
            <a:pPr marL="0" indent="0">
              <a:buNone/>
            </a:pPr>
            <a:endParaRPr lang="en-US" sz="3800" dirty="0">
              <a:latin typeface="Helvetica Neue"/>
            </a:endParaRPr>
          </a:p>
          <a:p>
            <a:pPr marL="0" indent="0">
              <a:buNone/>
            </a:pPr>
            <a:r>
              <a:rPr lang="en-US" sz="3800" dirty="0">
                <a:latin typeface="Helvetica Neue"/>
              </a:rPr>
              <a:t>Supervisor Bottleneck:</a:t>
            </a:r>
          </a:p>
          <a:p>
            <a:pPr marL="0" indent="0">
              <a:buNone/>
            </a:pPr>
            <a:r>
              <a:rPr lang="en-US" sz="3800" dirty="0">
                <a:latin typeface="Helvetica Neue"/>
              </a:rPr>
              <a:t>If the supervisor becomes overloaded with too many tasks or too much decision-making, it can slow down the entire system.</a:t>
            </a:r>
          </a:p>
          <a:p>
            <a:pPr marL="0" indent="0">
              <a:buNone/>
            </a:pPr>
            <a:r>
              <a:rPr lang="en-US" sz="3800" dirty="0">
                <a:latin typeface="Helvetica Neue"/>
              </a:rPr>
              <a:t>Mitigation: Using a hierarchical approach where supervisors manage groups of sub-agents.</a:t>
            </a:r>
          </a:p>
          <a:p>
            <a:pPr marL="0" indent="0">
              <a:buNone/>
            </a:pPr>
            <a:endParaRPr lang="en-US" sz="3800" dirty="0">
              <a:latin typeface="Helvetica Neue"/>
            </a:endParaRPr>
          </a:p>
          <a:p>
            <a:pPr marL="0" indent="0">
              <a:buNone/>
            </a:pPr>
            <a:r>
              <a:rPr lang="en-US" sz="3800" dirty="0">
                <a:latin typeface="Helvetica Neue"/>
              </a:rPr>
              <a:t>Complex Supervisor Logic:</a:t>
            </a:r>
          </a:p>
          <a:p>
            <a:pPr marL="0" indent="0">
              <a:buNone/>
            </a:pPr>
            <a:r>
              <a:rPr lang="en-US" sz="3800" dirty="0">
                <a:latin typeface="Helvetica Neue"/>
              </a:rPr>
              <a:t>Designing the supervisor’s task-routing logic can become complex, especially in dynamic environments with many sub-agents.</a:t>
            </a:r>
          </a:p>
          <a:p>
            <a:pPr marL="0" indent="0">
              <a:buNone/>
            </a:pPr>
            <a:endParaRPr lang="en-US" sz="3800" dirty="0">
              <a:latin typeface="Helvetica Neue"/>
            </a:endParaRPr>
          </a:p>
          <a:p>
            <a:pPr marL="0" indent="0">
              <a:buNone/>
            </a:pPr>
            <a:r>
              <a:rPr lang="en-US" sz="3800" dirty="0">
                <a:latin typeface="Helvetica Neue"/>
              </a:rPr>
              <a:t>Single Point of Failure:</a:t>
            </a:r>
          </a:p>
          <a:p>
            <a:pPr marL="0" indent="0">
              <a:buNone/>
            </a:pPr>
            <a:r>
              <a:rPr lang="en-US" sz="3800" dirty="0">
                <a:latin typeface="Helvetica Neue"/>
              </a:rPr>
              <a:t>The system’s functionality heavily depends on the supervisor. If it fails, the entire workflow is disrupted.</a:t>
            </a:r>
          </a:p>
          <a:p>
            <a:pPr marL="0" indent="0">
              <a:buNone/>
            </a:pPr>
            <a:r>
              <a:rPr lang="en-US" sz="3800" dirty="0">
                <a:latin typeface="Helvetica Neue"/>
              </a:rPr>
              <a:t>Mitigation: Implementing redundancy or fallback mechanisms.</a:t>
            </a:r>
          </a:p>
        </p:txBody>
      </p:sp>
      <p:pic>
        <p:nvPicPr>
          <p:cNvPr id="3" name="Picture 2">
            <a:extLst>
              <a:ext uri="{FF2B5EF4-FFF2-40B4-BE49-F238E27FC236}">
                <a16:creationId xmlns:a16="http://schemas.microsoft.com/office/drawing/2014/main" id="{886B1A9D-9791-2614-5459-D4A58879E7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1772080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49B49-E779-B0EE-3EB6-0F0A96915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69C70-19D2-FC2F-85F8-216CC66E24BD}"/>
              </a:ext>
            </a:extLst>
          </p:cNvPr>
          <p:cNvSpPr>
            <a:spLocks noGrp="1"/>
          </p:cNvSpPr>
          <p:nvPr>
            <p:ph type="title"/>
          </p:nvPr>
        </p:nvSpPr>
        <p:spPr>
          <a:xfrm>
            <a:off x="838200" y="256068"/>
            <a:ext cx="10515600" cy="700277"/>
          </a:xfrm>
        </p:spPr>
        <p:txBody>
          <a:bodyPr/>
          <a:lstStyle/>
          <a:p>
            <a:r>
              <a:rPr lang="en-US" b="1" dirty="0"/>
              <a:t>Multi-Agent Systems Architecture(p10)</a:t>
            </a:r>
            <a:endParaRPr lang="en-US" dirty="0"/>
          </a:p>
        </p:txBody>
      </p:sp>
      <p:sp>
        <p:nvSpPr>
          <p:cNvPr id="5" name="Content Placeholder 4">
            <a:extLst>
              <a:ext uri="{FF2B5EF4-FFF2-40B4-BE49-F238E27FC236}">
                <a16:creationId xmlns:a16="http://schemas.microsoft.com/office/drawing/2014/main" id="{2C602BCC-21AB-28D7-A13B-C8345EBD94E8}"/>
              </a:ext>
            </a:extLst>
          </p:cNvPr>
          <p:cNvSpPr>
            <a:spLocks noGrp="1"/>
          </p:cNvSpPr>
          <p:nvPr>
            <p:ph idx="1"/>
          </p:nvPr>
        </p:nvSpPr>
        <p:spPr>
          <a:xfrm>
            <a:off x="294197" y="956344"/>
            <a:ext cx="10113120" cy="5372267"/>
          </a:xfrm>
        </p:spPr>
        <p:txBody>
          <a:bodyPr>
            <a:normAutofit fontScale="85000" lnSpcReduction="20000"/>
          </a:bodyPr>
          <a:lstStyle/>
          <a:p>
            <a:pPr marL="0" indent="0">
              <a:buNone/>
            </a:pPr>
            <a:r>
              <a:rPr lang="en-US" sz="3800" b="1" dirty="0">
                <a:latin typeface="Helvetica Neue"/>
              </a:rPr>
              <a:t>Example Use Case of supervisor MAS</a:t>
            </a:r>
          </a:p>
          <a:p>
            <a:pPr marL="0" indent="0">
              <a:buNone/>
            </a:pPr>
            <a:endParaRPr lang="en-US" sz="3800" dirty="0">
              <a:latin typeface="Helvetica Neue"/>
            </a:endParaRPr>
          </a:p>
          <a:p>
            <a:pPr marL="0" indent="0">
              <a:buNone/>
            </a:pPr>
            <a:r>
              <a:rPr lang="en-US" sz="3800" dirty="0">
                <a:latin typeface="Helvetica Neue"/>
              </a:rPr>
              <a:t>A company develops an AI-powered business assistant:</a:t>
            </a:r>
          </a:p>
          <a:p>
            <a:pPr marL="0" indent="0">
              <a:buNone/>
            </a:pPr>
            <a:r>
              <a:rPr lang="en-US" sz="3800" dirty="0">
                <a:latin typeface="Helvetica Neue"/>
              </a:rPr>
              <a:t>1. The supervisor agent handles user requests and delegates them to sub-agents. Example: A user asks for a project timeline and budget analysis.</a:t>
            </a:r>
          </a:p>
          <a:p>
            <a:pPr marL="0" indent="0">
              <a:buNone/>
            </a:pPr>
            <a:r>
              <a:rPr lang="en-US" sz="3800" dirty="0">
                <a:latin typeface="Helvetica Neue"/>
              </a:rPr>
              <a:t>2. Sub-agent 1 (Planner) creates the project timeline.</a:t>
            </a:r>
          </a:p>
          <a:p>
            <a:pPr marL="0" indent="0">
              <a:buNone/>
            </a:pPr>
            <a:r>
              <a:rPr lang="en-US" sz="3800" dirty="0">
                <a:latin typeface="Helvetica Neue"/>
              </a:rPr>
              <a:t>3. Sub-agent 2 (Finance Expert) performs budget analysis.</a:t>
            </a:r>
          </a:p>
          <a:p>
            <a:pPr marL="0" indent="0">
              <a:buNone/>
            </a:pPr>
            <a:r>
              <a:rPr lang="en-US" sz="3800" dirty="0">
                <a:latin typeface="Helvetica Neue"/>
              </a:rPr>
              <a:t>4. Results are returned to the supervisor, which consolidates and delivers the final output to the user.</a:t>
            </a:r>
          </a:p>
          <a:p>
            <a:pPr marL="0" indent="0">
              <a:buNone/>
            </a:pPr>
            <a:endParaRPr lang="en-US" sz="3800" dirty="0">
              <a:latin typeface="Helvetica Neue"/>
            </a:endParaRPr>
          </a:p>
        </p:txBody>
      </p:sp>
      <p:pic>
        <p:nvPicPr>
          <p:cNvPr id="3" name="Picture 2">
            <a:extLst>
              <a:ext uri="{FF2B5EF4-FFF2-40B4-BE49-F238E27FC236}">
                <a16:creationId xmlns:a16="http://schemas.microsoft.com/office/drawing/2014/main" id="{453C7378-F975-4093-E86C-2235A9B8F6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335107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1E656-A1DB-6057-6662-781ADC271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4EFA8-1161-9725-E041-FB8B78765B57}"/>
              </a:ext>
            </a:extLst>
          </p:cNvPr>
          <p:cNvSpPr>
            <a:spLocks noGrp="1"/>
          </p:cNvSpPr>
          <p:nvPr>
            <p:ph type="title"/>
          </p:nvPr>
        </p:nvSpPr>
        <p:spPr>
          <a:xfrm>
            <a:off x="838200" y="256068"/>
            <a:ext cx="10515600" cy="700277"/>
          </a:xfrm>
        </p:spPr>
        <p:txBody>
          <a:bodyPr/>
          <a:lstStyle/>
          <a:p>
            <a:r>
              <a:rPr lang="en-US" b="1" dirty="0"/>
              <a:t>Multi-Agent Systems Architecture(p11)</a:t>
            </a:r>
            <a:endParaRPr lang="en-US" dirty="0"/>
          </a:p>
        </p:txBody>
      </p:sp>
      <p:sp>
        <p:nvSpPr>
          <p:cNvPr id="5" name="Content Placeholder 4">
            <a:extLst>
              <a:ext uri="{FF2B5EF4-FFF2-40B4-BE49-F238E27FC236}">
                <a16:creationId xmlns:a16="http://schemas.microsoft.com/office/drawing/2014/main" id="{CDE71B14-C4EB-C119-D0B1-EA41DA729E06}"/>
              </a:ext>
            </a:extLst>
          </p:cNvPr>
          <p:cNvSpPr>
            <a:spLocks noGrp="1"/>
          </p:cNvSpPr>
          <p:nvPr>
            <p:ph idx="1"/>
          </p:nvPr>
        </p:nvSpPr>
        <p:spPr>
          <a:xfrm>
            <a:off x="294196" y="956345"/>
            <a:ext cx="11725351" cy="3338930"/>
          </a:xfrm>
        </p:spPr>
        <p:txBody>
          <a:bodyPr>
            <a:normAutofit fontScale="62500" lnSpcReduction="20000"/>
          </a:bodyPr>
          <a:lstStyle/>
          <a:p>
            <a:pPr marL="0" indent="0">
              <a:buNone/>
            </a:pPr>
            <a:r>
              <a:rPr lang="en-US" sz="3800" b="1" dirty="0">
                <a:latin typeface="Helvetica Neue"/>
              </a:rPr>
              <a:t>Example Use Case of supervisor MAS: </a:t>
            </a:r>
            <a:r>
              <a:rPr lang="en-US" sz="2800" b="0" i="0" dirty="0">
                <a:solidFill>
                  <a:srgbClr val="555555"/>
                </a:solidFill>
                <a:effectLst/>
                <a:latin typeface="Helvetica Neue"/>
              </a:rPr>
              <a:t>MAS to generate a report on a specific topic we want</a:t>
            </a:r>
          </a:p>
          <a:p>
            <a:pPr marL="0" indent="0" algn="l" fontAlgn="base">
              <a:buNone/>
            </a:pPr>
            <a:r>
              <a:rPr lang="en-US" sz="2800" b="0" dirty="0">
                <a:solidFill>
                  <a:srgbClr val="555555"/>
                </a:solidFill>
                <a:effectLst/>
                <a:latin typeface="Helvetica Neue"/>
              </a:rPr>
              <a:t>The structure detail is simple; we will have four specialized agents:</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Web researcher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Trend analyst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Report writer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Proofreader agent</a:t>
            </a:r>
          </a:p>
          <a:p>
            <a:pPr marL="0" indent="0" algn="l" fontAlgn="base">
              <a:buNone/>
            </a:pPr>
            <a:r>
              <a:rPr lang="en-US" sz="2800" b="0" dirty="0">
                <a:solidFill>
                  <a:srgbClr val="555555"/>
                </a:solidFill>
                <a:effectLst/>
                <a:latin typeface="Helvetica Neue"/>
              </a:rPr>
              <a:t>The manager agent supervises all of these agents which only perform their tasks if directed. Additionally, the web researcher agent has access to the web search tool to access the internet to research the intended topic.</a:t>
            </a:r>
          </a:p>
          <a:p>
            <a:pPr marL="0" indent="0">
              <a:buNone/>
            </a:pPr>
            <a:endParaRPr lang="en-US" sz="3800" dirty="0">
              <a:latin typeface="Helvetica Neue"/>
            </a:endParaRPr>
          </a:p>
        </p:txBody>
      </p:sp>
      <p:pic>
        <p:nvPicPr>
          <p:cNvPr id="6" name="Picture 5">
            <a:extLst>
              <a:ext uri="{FF2B5EF4-FFF2-40B4-BE49-F238E27FC236}">
                <a16:creationId xmlns:a16="http://schemas.microsoft.com/office/drawing/2014/main" id="{88DB2C31-E135-EFCA-14D1-E35E62E5A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3577" y="4295275"/>
            <a:ext cx="8950455" cy="2406323"/>
          </a:xfrm>
          <a:prstGeom prst="rect">
            <a:avLst/>
          </a:prstGeom>
        </p:spPr>
      </p:pic>
    </p:spTree>
    <p:extLst>
      <p:ext uri="{BB962C8B-B14F-4D97-AF65-F5344CB8AC3E}">
        <p14:creationId xmlns:p14="http://schemas.microsoft.com/office/powerpoint/2010/main" val="2559069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FEB13-27AD-EC4D-0218-4459FF84B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7CFFE-67C8-3790-B93A-813A66E0254B}"/>
              </a:ext>
            </a:extLst>
          </p:cNvPr>
          <p:cNvSpPr>
            <a:spLocks noGrp="1"/>
          </p:cNvSpPr>
          <p:nvPr>
            <p:ph type="title"/>
          </p:nvPr>
        </p:nvSpPr>
        <p:spPr>
          <a:xfrm>
            <a:off x="838200" y="256068"/>
            <a:ext cx="10515600" cy="700277"/>
          </a:xfrm>
        </p:spPr>
        <p:txBody>
          <a:bodyPr/>
          <a:lstStyle/>
          <a:p>
            <a:r>
              <a:rPr lang="en-US" b="1" dirty="0"/>
              <a:t>Multi-Agent Systems Architecture(p12)</a:t>
            </a:r>
            <a:endParaRPr lang="en-US" dirty="0"/>
          </a:p>
        </p:txBody>
      </p:sp>
      <p:sp>
        <p:nvSpPr>
          <p:cNvPr id="5" name="Content Placeholder 4">
            <a:extLst>
              <a:ext uri="{FF2B5EF4-FFF2-40B4-BE49-F238E27FC236}">
                <a16:creationId xmlns:a16="http://schemas.microsoft.com/office/drawing/2014/main" id="{A0AB5444-E12D-7C20-1392-F8CE2897E373}"/>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3. Hierarchical MAS</a:t>
            </a:r>
          </a:p>
          <a:p>
            <a:pPr marL="0" indent="0">
              <a:buNone/>
            </a:pPr>
            <a:r>
              <a:rPr lang="en-US" sz="1600" b="1" dirty="0">
                <a:latin typeface="Helvetica Neue"/>
              </a:rPr>
              <a:t>How It Works</a:t>
            </a:r>
          </a:p>
          <a:p>
            <a:pPr marL="0" indent="0">
              <a:buNone/>
            </a:pPr>
            <a:r>
              <a:rPr lang="en-US" sz="1600" dirty="0">
                <a:latin typeface="Helvetica Neue"/>
              </a:rPr>
              <a:t>Layered Supervision:</a:t>
            </a:r>
          </a:p>
          <a:p>
            <a:pPr marL="0" indent="0">
              <a:buNone/>
            </a:pPr>
            <a:r>
              <a:rPr lang="en-US" sz="1600" dirty="0">
                <a:latin typeface="Helvetica Neue"/>
              </a:rPr>
              <a:t>A top-level supervisor agent manages high-level tasks and delegates them to mid-level supervisor agents. These mid-level supervisors handle specific groups of sub-agents, each specializing in distinct domains or tasks.</a:t>
            </a:r>
          </a:p>
          <a:p>
            <a:pPr marL="0" indent="0">
              <a:buNone/>
            </a:pPr>
            <a:endParaRPr lang="en-US" sz="1600" dirty="0">
              <a:latin typeface="Helvetica Neue"/>
            </a:endParaRPr>
          </a:p>
          <a:p>
            <a:pPr marL="0" indent="0">
              <a:buNone/>
            </a:pPr>
            <a:r>
              <a:rPr lang="en-US" sz="1600" dirty="0">
                <a:latin typeface="Helvetica Neue"/>
              </a:rPr>
              <a:t>Sub-Agents:</a:t>
            </a:r>
          </a:p>
          <a:p>
            <a:pPr marL="0" indent="0">
              <a:buNone/>
            </a:pPr>
            <a:r>
              <a:rPr lang="en-US" sz="1600" dirty="0">
                <a:latin typeface="Helvetica Neue"/>
              </a:rPr>
              <a:t> Operate at the lowest level, performing specific tasks based on instructions from their respective supervisors.  Sub-agents focus solely on execution, leaving routing and decision-making to their assigned supervisors.</a:t>
            </a:r>
          </a:p>
          <a:p>
            <a:pPr marL="0" indent="0">
              <a:buNone/>
            </a:pPr>
            <a:endParaRPr lang="en-US" sz="1600" dirty="0">
              <a:latin typeface="Helvetica Neue"/>
            </a:endParaRPr>
          </a:p>
          <a:p>
            <a:pPr marL="0" indent="0">
              <a:buNone/>
            </a:pPr>
            <a:r>
              <a:rPr lang="en-US" sz="1600" dirty="0">
                <a:latin typeface="Helvetica Neue"/>
              </a:rPr>
              <a:t>Task Flow:</a:t>
            </a:r>
          </a:p>
          <a:p>
            <a:pPr marL="0" indent="0">
              <a:buNone/>
            </a:pPr>
            <a:r>
              <a:rPr lang="en-US" sz="1600" dirty="0">
                <a:latin typeface="Helvetica Neue"/>
              </a:rPr>
              <a:t>- Tasks are broken down at each hierarchical level. The top-level supervisor divides a large task into manageable subtasks. Mid-level supervisors further refine and distribute these subtasks to sub-agents.</a:t>
            </a:r>
          </a:p>
          <a:p>
            <a:pPr marL="0" indent="0">
              <a:buNone/>
            </a:pPr>
            <a:endParaRPr lang="en-US" sz="1600" dirty="0">
              <a:latin typeface="Helvetica Neue"/>
            </a:endParaRPr>
          </a:p>
          <a:p>
            <a:pPr marL="0" indent="0">
              <a:buNone/>
            </a:pPr>
            <a:r>
              <a:rPr lang="en-US" sz="1600" dirty="0">
                <a:latin typeface="Helvetica Neue"/>
              </a:rPr>
              <a:t>Communication:</a:t>
            </a:r>
          </a:p>
          <a:p>
            <a:pPr marL="0" indent="0">
              <a:buNone/>
            </a:pPr>
            <a:r>
              <a:rPr lang="en-US" sz="1600" dirty="0">
                <a:latin typeface="Helvetica Neue"/>
              </a:rPr>
              <a:t>- Supervisors communicate with their direct subordinates (other supervisors or sub-agents).</a:t>
            </a:r>
          </a:p>
          <a:p>
            <a:pPr marL="0" indent="0">
              <a:buNone/>
            </a:pPr>
            <a:r>
              <a:rPr lang="en-US" sz="1600" dirty="0">
                <a:latin typeface="Helvetica Neue"/>
              </a:rPr>
              <a:t>- Results flow upward through the hierarchy for aggregation and final output.</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8DE82F62-C92C-8F69-D545-0977EEA7B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2736973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F7F7D-F91F-A95C-D6D1-C80379540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DEAF8-6AD2-2539-79CA-F222CC162FC0}"/>
              </a:ext>
            </a:extLst>
          </p:cNvPr>
          <p:cNvSpPr>
            <a:spLocks noGrp="1"/>
          </p:cNvSpPr>
          <p:nvPr>
            <p:ph type="title"/>
          </p:nvPr>
        </p:nvSpPr>
        <p:spPr>
          <a:xfrm>
            <a:off x="838200" y="256068"/>
            <a:ext cx="10515600" cy="700277"/>
          </a:xfrm>
        </p:spPr>
        <p:txBody>
          <a:bodyPr/>
          <a:lstStyle/>
          <a:p>
            <a:r>
              <a:rPr lang="en-US" b="1" dirty="0"/>
              <a:t>Multi-Agent Systems Architecture(p13)</a:t>
            </a:r>
            <a:endParaRPr lang="en-US" dirty="0"/>
          </a:p>
        </p:txBody>
      </p:sp>
      <p:sp>
        <p:nvSpPr>
          <p:cNvPr id="5" name="Content Placeholder 4">
            <a:extLst>
              <a:ext uri="{FF2B5EF4-FFF2-40B4-BE49-F238E27FC236}">
                <a16:creationId xmlns:a16="http://schemas.microsoft.com/office/drawing/2014/main" id="{3BE743DE-CAA9-C16D-A74C-9A73AA4DA976}"/>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Advantages Hierarchical MAS</a:t>
            </a:r>
          </a:p>
          <a:p>
            <a:pPr marL="0" indent="0">
              <a:buNone/>
            </a:pPr>
            <a:r>
              <a:rPr lang="en-US" sz="1600" b="1" dirty="0">
                <a:latin typeface="Helvetica Neue"/>
              </a:rPr>
              <a:t>Scalability</a:t>
            </a:r>
            <a:r>
              <a:rPr lang="en-US" sz="1600" dirty="0">
                <a:latin typeface="Helvetica Neue"/>
              </a:rPr>
              <a:t>:</a:t>
            </a:r>
          </a:p>
          <a:p>
            <a:pPr marL="0" indent="0">
              <a:buNone/>
            </a:pPr>
            <a:r>
              <a:rPr lang="en-US" sz="1600" dirty="0">
                <a:latin typeface="Helvetica Neue"/>
              </a:rPr>
              <a:t>The hierarchical structure supports systems with a large number of sub-agents by distributing the workload across multiple layers.</a:t>
            </a:r>
          </a:p>
          <a:p>
            <a:pPr marL="0" indent="0">
              <a:buNone/>
            </a:pPr>
            <a:r>
              <a:rPr lang="en-US" sz="1600" dirty="0">
                <a:latin typeface="Helvetica Neue"/>
              </a:rPr>
              <a:t>Each supervisor only needs to manage a subset of the overall tasks, reducing bottlenecks.</a:t>
            </a:r>
          </a:p>
          <a:p>
            <a:pPr marL="0" indent="0">
              <a:buNone/>
            </a:pPr>
            <a:endParaRPr lang="en-US" sz="1600" dirty="0">
              <a:latin typeface="Helvetica Neue"/>
            </a:endParaRPr>
          </a:p>
          <a:p>
            <a:pPr marL="0" indent="0">
              <a:buNone/>
            </a:pPr>
            <a:r>
              <a:rPr lang="en-US" sz="1600" b="1" dirty="0">
                <a:latin typeface="Helvetica Neue"/>
              </a:rPr>
              <a:t>Specialization</a:t>
            </a:r>
            <a:r>
              <a:rPr lang="en-US" sz="1600" dirty="0">
                <a:latin typeface="Helvetica Neue"/>
              </a:rPr>
              <a:t>:</a:t>
            </a:r>
          </a:p>
          <a:p>
            <a:pPr marL="0" indent="0">
              <a:buNone/>
            </a:pPr>
            <a:r>
              <a:rPr lang="en-US" sz="1600" dirty="0">
                <a:latin typeface="Helvetica Neue"/>
              </a:rPr>
              <a:t>Mid-level supervisors can manage groups of sub-agents specializing in particular domains (e.g., financial analysis, content generation). This enables highly modular and efficient task execution.</a:t>
            </a:r>
          </a:p>
          <a:p>
            <a:pPr marL="0" indent="0">
              <a:buNone/>
            </a:pPr>
            <a:endParaRPr lang="en-US" sz="1600" dirty="0">
              <a:latin typeface="Helvetica Neue"/>
            </a:endParaRPr>
          </a:p>
          <a:p>
            <a:pPr marL="0" indent="0">
              <a:buNone/>
            </a:pPr>
            <a:r>
              <a:rPr lang="en-US" sz="1600" b="1" dirty="0">
                <a:latin typeface="Helvetica Neue"/>
              </a:rPr>
              <a:t>Improved Efficiency:</a:t>
            </a:r>
            <a:r>
              <a:rPr lang="en-US" sz="1600" dirty="0">
                <a:latin typeface="Helvetica Neue"/>
              </a:rPr>
              <a:t> Breaking tasks into smaller subtasks and routing them to appropriate agents minimizes processing delays and resource usage.</a:t>
            </a:r>
          </a:p>
          <a:p>
            <a:pPr marL="0" indent="0">
              <a:buNone/>
            </a:pPr>
            <a:endParaRPr lang="en-US" sz="1600" dirty="0">
              <a:latin typeface="Helvetica Neue"/>
            </a:endParaRPr>
          </a:p>
          <a:p>
            <a:pPr marL="0" indent="0">
              <a:buNone/>
            </a:pPr>
            <a:r>
              <a:rPr lang="en-US" sz="1600" b="1" dirty="0">
                <a:latin typeface="Helvetica Neue"/>
              </a:rPr>
              <a:t>Enhanced Debugging and Maintenance</a:t>
            </a:r>
            <a:r>
              <a:rPr lang="en-US" sz="1600" dirty="0">
                <a:latin typeface="Helvetica Neue"/>
              </a:rPr>
              <a:t>:</a:t>
            </a:r>
          </a:p>
          <a:p>
            <a:pPr marL="0" indent="0">
              <a:buNone/>
            </a:pPr>
            <a:r>
              <a:rPr lang="en-US" sz="1600" dirty="0">
                <a:latin typeface="Helvetica Neue"/>
              </a:rPr>
              <a:t>The layered structure allows pinpointing of errors or bottlenecks to a specific supervisor or sub-agent.</a:t>
            </a:r>
          </a:p>
          <a:p>
            <a:pPr marL="0" indent="0">
              <a:buNone/>
            </a:pPr>
            <a:r>
              <a:rPr lang="en-US" sz="1600" dirty="0">
                <a:latin typeface="Helvetica Neue"/>
              </a:rPr>
              <a:t>Maintenance is easier since changes in one layer do not necessarily affect others.</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3504C6B1-4D59-CD5C-5713-0A2835D12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1846867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2E810-E3D2-4E1F-36E4-4E50A949F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D91D4-0C3E-7F8A-0B66-015188657D8A}"/>
              </a:ext>
            </a:extLst>
          </p:cNvPr>
          <p:cNvSpPr>
            <a:spLocks noGrp="1"/>
          </p:cNvSpPr>
          <p:nvPr>
            <p:ph type="title"/>
          </p:nvPr>
        </p:nvSpPr>
        <p:spPr>
          <a:xfrm>
            <a:off x="838200" y="256068"/>
            <a:ext cx="10515600" cy="700277"/>
          </a:xfrm>
        </p:spPr>
        <p:txBody>
          <a:bodyPr/>
          <a:lstStyle/>
          <a:p>
            <a:r>
              <a:rPr lang="en-US" b="1" dirty="0"/>
              <a:t>Multi-Agent Systems Architecture(p14)</a:t>
            </a:r>
            <a:endParaRPr lang="en-US" dirty="0"/>
          </a:p>
        </p:txBody>
      </p:sp>
      <p:sp>
        <p:nvSpPr>
          <p:cNvPr id="5" name="Content Placeholder 4">
            <a:extLst>
              <a:ext uri="{FF2B5EF4-FFF2-40B4-BE49-F238E27FC236}">
                <a16:creationId xmlns:a16="http://schemas.microsoft.com/office/drawing/2014/main" id="{4486B55B-5810-9A50-71E5-8C4237A5A7C4}"/>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Challenges of Hierarchical MAS</a:t>
            </a:r>
            <a:endParaRPr lang="en-US" sz="1600" dirty="0">
              <a:latin typeface="Helvetica Neue"/>
            </a:endParaRPr>
          </a:p>
          <a:p>
            <a:pPr marL="0" indent="0">
              <a:buNone/>
            </a:pPr>
            <a:r>
              <a:rPr lang="en-US" sz="1600" b="1" dirty="0">
                <a:latin typeface="Helvetica Neue"/>
              </a:rPr>
              <a:t>Design Complexity:</a:t>
            </a:r>
          </a:p>
          <a:p>
            <a:pPr marL="0" indent="0">
              <a:buNone/>
            </a:pPr>
            <a:r>
              <a:rPr lang="en-US" sz="1600" dirty="0">
                <a:latin typeface="Helvetica Neue"/>
              </a:rPr>
              <a:t>Building a multi-layered supervisor system requires careful planning to ensure tasks are routed efficiently.</a:t>
            </a:r>
          </a:p>
          <a:p>
            <a:pPr marL="0" indent="0">
              <a:buNone/>
            </a:pPr>
            <a:r>
              <a:rPr lang="en-US" sz="1600" dirty="0">
                <a:latin typeface="Helvetica Neue"/>
              </a:rPr>
              <a:t>Designing logic for supervisors at each level can be time-consuming and prone to errors if not well-structured.</a:t>
            </a:r>
          </a:p>
          <a:p>
            <a:pPr marL="0" indent="0">
              <a:buNone/>
            </a:pPr>
            <a:endParaRPr lang="en-US" sz="1600" dirty="0">
              <a:latin typeface="Helvetica Neue"/>
            </a:endParaRPr>
          </a:p>
          <a:p>
            <a:pPr marL="0" indent="0">
              <a:buNone/>
            </a:pPr>
            <a:r>
              <a:rPr lang="en-US" sz="1600" b="1" dirty="0">
                <a:latin typeface="Helvetica Neue"/>
              </a:rPr>
              <a:t>Communication Overhead:</a:t>
            </a:r>
          </a:p>
          <a:p>
            <a:pPr marL="0" indent="0">
              <a:buNone/>
            </a:pPr>
            <a:r>
              <a:rPr lang="en-US" sz="1600" dirty="0">
                <a:latin typeface="Helvetica Neue"/>
              </a:rPr>
              <a:t>Hierarchical communication can introduce latency as information flows through multiple layers.</a:t>
            </a:r>
          </a:p>
          <a:p>
            <a:pPr marL="0" indent="0">
              <a:buNone/>
            </a:pPr>
            <a:r>
              <a:rPr lang="en-US" sz="1600" dirty="0">
                <a:latin typeface="Helvetica Neue"/>
              </a:rPr>
              <a:t>Mitigation: Optimize task granularity to reduce unnecessary back-and-forth between layers.</a:t>
            </a:r>
          </a:p>
          <a:p>
            <a:pPr marL="0" indent="0">
              <a:buNone/>
            </a:pPr>
            <a:endParaRPr lang="en-US" sz="1600" dirty="0">
              <a:latin typeface="Helvetica Neue"/>
            </a:endParaRPr>
          </a:p>
          <a:p>
            <a:pPr marL="0" indent="0">
              <a:buNone/>
            </a:pPr>
            <a:r>
              <a:rPr lang="en-US" sz="1600" b="1" dirty="0">
                <a:latin typeface="Helvetica Neue"/>
              </a:rPr>
              <a:t>Single Point of Failure at the Top:</a:t>
            </a:r>
          </a:p>
          <a:p>
            <a:pPr marL="0" indent="0">
              <a:buNone/>
            </a:pPr>
            <a:r>
              <a:rPr lang="en-US" sz="1600" dirty="0">
                <a:latin typeface="Helvetica Neue"/>
              </a:rPr>
              <a:t>The top-level supervisor is critical to system functionality. If it fails, the entire hierarchy is disrupted.</a:t>
            </a:r>
          </a:p>
          <a:p>
            <a:pPr marL="0" indent="0">
              <a:buNone/>
            </a:pPr>
            <a:r>
              <a:rPr lang="en-US" sz="1600" dirty="0">
                <a:latin typeface="Helvetica Neue"/>
              </a:rPr>
              <a:t>Mitigation: Introduce redundancy or a failover mechanism for the top-level supervisor.</a:t>
            </a:r>
          </a:p>
          <a:p>
            <a:pPr marL="0" indent="0">
              <a:buNone/>
            </a:pPr>
            <a:endParaRPr lang="en-US" sz="1600" dirty="0">
              <a:latin typeface="Helvetica Neue"/>
            </a:endParaRPr>
          </a:p>
          <a:p>
            <a:pPr marL="0" indent="0">
              <a:buNone/>
            </a:pPr>
            <a:r>
              <a:rPr lang="en-US" sz="1600" b="1" dirty="0">
                <a:latin typeface="Helvetica Neue"/>
              </a:rPr>
              <a:t>Resource Management:</a:t>
            </a:r>
          </a:p>
          <a:p>
            <a:pPr marL="0" indent="0">
              <a:buNone/>
            </a:pPr>
            <a:r>
              <a:rPr lang="en-US" sz="1600" dirty="0">
                <a:latin typeface="Helvetica Neue"/>
              </a:rPr>
              <a:t>Large systems with many layers can consume significant computational resources.</a:t>
            </a:r>
          </a:p>
          <a:p>
            <a:pPr marL="0" indent="0">
              <a:buNone/>
            </a:pPr>
            <a:r>
              <a:rPr lang="en-US" sz="1600" dirty="0">
                <a:latin typeface="Helvetica Neue"/>
              </a:rPr>
              <a:t>Mitigation: Monitor and optimize resource allocation, ensuring supervisors at all levels operate efficiently.</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3124048E-A4CA-9655-59A7-4A90F60FD6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954826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F063C-99F0-F64B-C650-6CAB7AA7B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4B40A-30A1-679C-9D37-A4208040E872}"/>
              </a:ext>
            </a:extLst>
          </p:cNvPr>
          <p:cNvSpPr>
            <a:spLocks noGrp="1"/>
          </p:cNvSpPr>
          <p:nvPr>
            <p:ph type="title"/>
          </p:nvPr>
        </p:nvSpPr>
        <p:spPr>
          <a:xfrm>
            <a:off x="838200" y="256068"/>
            <a:ext cx="10515600" cy="700277"/>
          </a:xfrm>
        </p:spPr>
        <p:txBody>
          <a:bodyPr/>
          <a:lstStyle/>
          <a:p>
            <a:r>
              <a:rPr lang="en-US" b="1" dirty="0"/>
              <a:t>Multi-Agent Systems Architecture(p15)</a:t>
            </a:r>
            <a:endParaRPr lang="en-US" dirty="0"/>
          </a:p>
        </p:txBody>
      </p:sp>
      <p:sp>
        <p:nvSpPr>
          <p:cNvPr id="5" name="Content Placeholder 4">
            <a:extLst>
              <a:ext uri="{FF2B5EF4-FFF2-40B4-BE49-F238E27FC236}">
                <a16:creationId xmlns:a16="http://schemas.microsoft.com/office/drawing/2014/main" id="{B7DE9FB3-868F-6267-3796-ECDD14B4CA58}"/>
              </a:ext>
            </a:extLst>
          </p:cNvPr>
          <p:cNvSpPr>
            <a:spLocks noGrp="1"/>
          </p:cNvSpPr>
          <p:nvPr>
            <p:ph idx="1"/>
          </p:nvPr>
        </p:nvSpPr>
        <p:spPr>
          <a:xfrm>
            <a:off x="294197" y="956344"/>
            <a:ext cx="9944677" cy="5645588"/>
          </a:xfrm>
        </p:spPr>
        <p:txBody>
          <a:bodyPr>
            <a:noAutofit/>
          </a:bodyPr>
          <a:lstStyle/>
          <a:p>
            <a:pPr marL="0" indent="0">
              <a:buNone/>
            </a:pPr>
            <a:r>
              <a:rPr lang="en-US" sz="1800" dirty="0">
                <a:latin typeface="Helvetica Neue"/>
              </a:rPr>
              <a:t>Practical Applications of </a:t>
            </a:r>
            <a:r>
              <a:rPr lang="en-US" sz="1800" dirty="0" err="1">
                <a:latin typeface="Helvetica Neue"/>
              </a:rPr>
              <a:t>hier</a:t>
            </a:r>
            <a:r>
              <a:rPr lang="en-US" sz="1800" dirty="0">
                <a:latin typeface="Helvetica Neue"/>
              </a:rPr>
              <a:t>. MAS</a:t>
            </a:r>
          </a:p>
          <a:p>
            <a:pPr marL="0" indent="0">
              <a:buNone/>
            </a:pPr>
            <a:r>
              <a:rPr lang="en-US" sz="1800" dirty="0">
                <a:latin typeface="Helvetica Neue"/>
              </a:rPr>
              <a:t>Enterprise Automation: Complex workflows requiring task division across multiple departments, such as project planning, resource allocation, and reporting.</a:t>
            </a:r>
          </a:p>
          <a:p>
            <a:pPr marL="0" indent="0">
              <a:buNone/>
            </a:pPr>
            <a:endParaRPr lang="en-US" sz="1800" dirty="0">
              <a:latin typeface="Helvetica Neue"/>
            </a:endParaRPr>
          </a:p>
          <a:p>
            <a:pPr marL="0" indent="0">
              <a:buNone/>
            </a:pPr>
            <a:r>
              <a:rPr lang="en-US" sz="1800" dirty="0">
                <a:latin typeface="Helvetica Neue"/>
              </a:rPr>
              <a:t>Autonomous Systems: Scenarios like autonomous vehicles, where high-level supervisors manage route planning while lower layers handle obstacle avoidance and vehicle control.</a:t>
            </a:r>
          </a:p>
          <a:p>
            <a:pPr marL="0" indent="0">
              <a:buNone/>
            </a:pPr>
            <a:endParaRPr lang="en-US" sz="1800" dirty="0">
              <a:latin typeface="Helvetica Neue"/>
            </a:endParaRPr>
          </a:p>
          <a:p>
            <a:pPr marL="0" indent="0">
              <a:buNone/>
            </a:pPr>
            <a:r>
              <a:rPr lang="en-US" sz="1800" dirty="0">
                <a:latin typeface="Helvetica Neue"/>
              </a:rPr>
              <a:t>Dynamic Multi-Agent Systems: Real-time decision-making systems, such as financial trading bots, where tasks must be delegated and resolved quickly across layers.</a:t>
            </a:r>
          </a:p>
          <a:p>
            <a:pPr marL="0" indent="0">
              <a:buNone/>
            </a:pPr>
            <a:endParaRPr lang="en-US" sz="1800" dirty="0">
              <a:latin typeface="Helvetica Neue"/>
            </a:endParaRPr>
          </a:p>
        </p:txBody>
      </p:sp>
      <p:pic>
        <p:nvPicPr>
          <p:cNvPr id="4" name="Picture 3">
            <a:extLst>
              <a:ext uri="{FF2B5EF4-FFF2-40B4-BE49-F238E27FC236}">
                <a16:creationId xmlns:a16="http://schemas.microsoft.com/office/drawing/2014/main" id="{6BFBD0D6-465B-B940-12D6-29D477373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17441085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00EA5-11A4-AE35-8A20-718E0A407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39F4B-DD1E-192B-D36C-BF36C91DB006}"/>
              </a:ext>
            </a:extLst>
          </p:cNvPr>
          <p:cNvSpPr>
            <a:spLocks noGrp="1"/>
          </p:cNvSpPr>
          <p:nvPr>
            <p:ph type="title"/>
          </p:nvPr>
        </p:nvSpPr>
        <p:spPr>
          <a:xfrm>
            <a:off x="838200" y="256068"/>
            <a:ext cx="10515600" cy="700277"/>
          </a:xfrm>
        </p:spPr>
        <p:txBody>
          <a:bodyPr/>
          <a:lstStyle/>
          <a:p>
            <a:r>
              <a:rPr lang="en-US" b="1" dirty="0"/>
              <a:t>Multi-Agent Systems Architecture(p16)</a:t>
            </a:r>
            <a:endParaRPr lang="en-US" dirty="0"/>
          </a:p>
        </p:txBody>
      </p:sp>
      <p:sp>
        <p:nvSpPr>
          <p:cNvPr id="5" name="Content Placeholder 4">
            <a:extLst>
              <a:ext uri="{FF2B5EF4-FFF2-40B4-BE49-F238E27FC236}">
                <a16:creationId xmlns:a16="http://schemas.microsoft.com/office/drawing/2014/main" id="{FD0275BF-CED8-8998-3977-26FC05BD7443}"/>
              </a:ext>
            </a:extLst>
          </p:cNvPr>
          <p:cNvSpPr>
            <a:spLocks noGrp="1"/>
          </p:cNvSpPr>
          <p:nvPr>
            <p:ph idx="1"/>
          </p:nvPr>
        </p:nvSpPr>
        <p:spPr>
          <a:xfrm>
            <a:off x="294197" y="956344"/>
            <a:ext cx="10173277" cy="5645588"/>
          </a:xfrm>
        </p:spPr>
        <p:txBody>
          <a:bodyPr>
            <a:noAutofit/>
          </a:bodyPr>
          <a:lstStyle/>
          <a:p>
            <a:pPr marL="0" indent="0">
              <a:buNone/>
            </a:pPr>
            <a:r>
              <a:rPr lang="en-US" sz="1600" b="1" dirty="0">
                <a:latin typeface="Helvetica Neue"/>
              </a:rPr>
              <a:t>Example Use Case of Hier. MAS: AI-Powered Research Platform</a:t>
            </a:r>
          </a:p>
          <a:p>
            <a:pPr marL="0" indent="0">
              <a:buNone/>
            </a:pPr>
            <a:endParaRPr lang="en-US" sz="1600" dirty="0">
              <a:latin typeface="Helvetica Neue"/>
            </a:endParaRPr>
          </a:p>
          <a:p>
            <a:pPr marL="0" indent="0">
              <a:buNone/>
            </a:pPr>
            <a:r>
              <a:rPr lang="en-US" sz="1600" dirty="0">
                <a:latin typeface="Helvetica Neue"/>
              </a:rPr>
              <a:t>Top-Level Supervisor:</a:t>
            </a:r>
          </a:p>
          <a:p>
            <a:pPr marL="0" indent="0">
              <a:buNone/>
            </a:pPr>
            <a:r>
              <a:rPr lang="en-US" sz="1600" dirty="0">
                <a:latin typeface="Helvetica Neue"/>
              </a:rPr>
              <a:t>Receives a request to generate a comprehensive research report.</a:t>
            </a:r>
          </a:p>
          <a:p>
            <a:pPr marL="0" indent="0">
              <a:buNone/>
            </a:pPr>
            <a:r>
              <a:rPr lang="en-US" sz="1600" dirty="0">
                <a:latin typeface="Helvetica Neue"/>
              </a:rPr>
              <a:t>Breaks the task into subtasks: literature review, data analysis, and report writing.</a:t>
            </a:r>
          </a:p>
          <a:p>
            <a:pPr marL="0" indent="0">
              <a:buNone/>
            </a:pPr>
            <a:endParaRPr lang="en-US" sz="1600" dirty="0">
              <a:latin typeface="Helvetica Neue"/>
            </a:endParaRPr>
          </a:p>
          <a:p>
            <a:pPr marL="0" indent="0">
              <a:buNone/>
            </a:pPr>
            <a:r>
              <a:rPr lang="en-US" sz="1600" dirty="0">
                <a:latin typeface="Helvetica Neue"/>
              </a:rPr>
              <a:t>Mid-Level Supervisors:</a:t>
            </a:r>
          </a:p>
          <a:p>
            <a:pPr marL="0" indent="0">
              <a:buNone/>
            </a:pPr>
            <a:r>
              <a:rPr lang="en-US" sz="1600" dirty="0">
                <a:latin typeface="Helvetica Neue"/>
              </a:rPr>
              <a:t>Literature Supervisor: Manages sub-agents specialized in retrieving and summarizing articles.</a:t>
            </a:r>
          </a:p>
          <a:p>
            <a:pPr marL="0" indent="0">
              <a:buNone/>
            </a:pPr>
            <a:r>
              <a:rPr lang="en-US" sz="1600" dirty="0">
                <a:latin typeface="Helvetica Neue"/>
              </a:rPr>
              <a:t>Data Supervisor: Delegates tasks to agents performing data collection and statistical analysis.</a:t>
            </a:r>
          </a:p>
          <a:p>
            <a:pPr marL="0" indent="0">
              <a:buNone/>
            </a:pPr>
            <a:r>
              <a:rPr lang="en-US" sz="1600" dirty="0">
                <a:latin typeface="Helvetica Neue"/>
              </a:rPr>
              <a:t>Content Supervisor: Coordinates agents responsible for drafting and editing the report.</a:t>
            </a:r>
          </a:p>
          <a:p>
            <a:pPr marL="0" indent="0">
              <a:buNone/>
            </a:pPr>
            <a:endParaRPr lang="en-US" sz="1600" dirty="0">
              <a:latin typeface="Helvetica Neue"/>
            </a:endParaRPr>
          </a:p>
          <a:p>
            <a:pPr marL="0" indent="0">
              <a:buNone/>
            </a:pPr>
            <a:r>
              <a:rPr lang="en-US" sz="1600" dirty="0">
                <a:latin typeface="Helvetica Neue"/>
              </a:rPr>
              <a:t>Sub-Agents:</a:t>
            </a:r>
          </a:p>
          <a:p>
            <a:pPr marL="0" indent="0">
              <a:buNone/>
            </a:pPr>
            <a:r>
              <a:rPr lang="en-US" sz="1600" dirty="0">
                <a:latin typeface="Helvetica Neue"/>
              </a:rPr>
              <a:t>Each sub-agent performs its specific role (e.g., searching academic databases, running statistical tests, or refining written content).</a:t>
            </a:r>
          </a:p>
          <a:p>
            <a:pPr marL="0" indent="0">
              <a:buNone/>
            </a:pPr>
            <a:endParaRPr lang="en-US" sz="1600" dirty="0">
              <a:latin typeface="Helvetica Neue"/>
            </a:endParaRPr>
          </a:p>
          <a:p>
            <a:pPr marL="0" indent="0">
              <a:buNone/>
            </a:pPr>
            <a:r>
              <a:rPr lang="en-US" sz="1600" dirty="0">
                <a:latin typeface="Helvetica Neue"/>
              </a:rPr>
              <a:t>Results Aggregation:</a:t>
            </a:r>
          </a:p>
          <a:p>
            <a:pPr marL="0" indent="0">
              <a:buNone/>
            </a:pPr>
            <a:r>
              <a:rPr lang="en-US" sz="1600" dirty="0">
                <a:latin typeface="Helvetica Neue"/>
              </a:rPr>
              <a:t>Results flow back up the hierarchy, where the top-level supervisor consolidates them into the final output.</a:t>
            </a:r>
          </a:p>
        </p:txBody>
      </p:sp>
      <p:pic>
        <p:nvPicPr>
          <p:cNvPr id="4" name="Picture 3">
            <a:extLst>
              <a:ext uri="{FF2B5EF4-FFF2-40B4-BE49-F238E27FC236}">
                <a16:creationId xmlns:a16="http://schemas.microsoft.com/office/drawing/2014/main" id="{AD41409C-DED7-1CA2-DEB8-D3113D57C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2524768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AEF2-B1A6-8092-2AEA-73715BDC7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C2B05-643B-C04D-AA0C-7CEC0BBF0A8B}"/>
              </a:ext>
            </a:extLst>
          </p:cNvPr>
          <p:cNvSpPr>
            <a:spLocks noGrp="1"/>
          </p:cNvSpPr>
          <p:nvPr>
            <p:ph type="title"/>
          </p:nvPr>
        </p:nvSpPr>
        <p:spPr>
          <a:xfrm>
            <a:off x="838200" y="256068"/>
            <a:ext cx="10515600" cy="700277"/>
          </a:xfrm>
        </p:spPr>
        <p:txBody>
          <a:bodyPr/>
          <a:lstStyle/>
          <a:p>
            <a:r>
              <a:rPr lang="en-US" b="1" dirty="0"/>
              <a:t>Multi-Agent Systems(p2)</a:t>
            </a:r>
            <a:endParaRPr lang="en-US" dirty="0"/>
          </a:p>
        </p:txBody>
      </p:sp>
      <p:sp>
        <p:nvSpPr>
          <p:cNvPr id="3" name="Content Placeholder 2">
            <a:extLst>
              <a:ext uri="{FF2B5EF4-FFF2-40B4-BE49-F238E27FC236}">
                <a16:creationId xmlns:a16="http://schemas.microsoft.com/office/drawing/2014/main" id="{01581A92-E873-F75A-FCA8-B3D7D7A331FC}"/>
              </a:ext>
            </a:extLst>
          </p:cNvPr>
          <p:cNvSpPr>
            <a:spLocks noGrp="1"/>
          </p:cNvSpPr>
          <p:nvPr>
            <p:ph idx="1"/>
          </p:nvPr>
        </p:nvSpPr>
        <p:spPr>
          <a:xfrm>
            <a:off x="167779" y="928002"/>
            <a:ext cx="11811699" cy="3794999"/>
          </a:xfrm>
        </p:spPr>
        <p:txBody>
          <a:bodyPr>
            <a:normAutofit/>
          </a:bodyPr>
          <a:lstStyle/>
          <a:p>
            <a:pPr marL="0" indent="0" fontAlgn="base">
              <a:buNone/>
            </a:pPr>
            <a:r>
              <a:rPr lang="en-US" sz="1600" b="1" i="0" dirty="0">
                <a:effectLst/>
              </a:rPr>
              <a:t>Examples of MAS:</a:t>
            </a:r>
          </a:p>
          <a:p>
            <a:pPr fontAlgn="base"/>
            <a:r>
              <a:rPr lang="en-US" sz="1600" b="1" i="0" dirty="0">
                <a:effectLst/>
              </a:rPr>
              <a:t>Stock market simulation</a:t>
            </a:r>
            <a:r>
              <a:rPr lang="en-US" sz="1600" b="0" i="0" dirty="0">
                <a:effectLst/>
              </a:rPr>
              <a:t> :A classic example of MAS is a stock market simulation where multiple "agent" programs representing different traders interact with each other, buying and selling stocks based on their own algorithms and strategies, simulating real market dynamics and competition. </a:t>
            </a:r>
          </a:p>
          <a:p>
            <a:pPr>
              <a:spcBef>
                <a:spcPts val="750"/>
              </a:spcBef>
              <a:spcAft>
                <a:spcPts val="600"/>
              </a:spcAft>
            </a:pPr>
            <a:r>
              <a:rPr lang="en-US" sz="1600" b="1" i="0" dirty="0">
                <a:effectLst/>
              </a:rPr>
              <a:t>Robot soccer team: </a:t>
            </a:r>
            <a:r>
              <a:rPr lang="en-US" sz="1600" b="0" i="0" dirty="0">
                <a:effectLst/>
              </a:rPr>
              <a:t>Multiple robots on a field act as individual agents, coordinating their movements and actions to play against another team, simulating real soccer strategies. </a:t>
            </a:r>
          </a:p>
          <a:p>
            <a:pPr>
              <a:spcBef>
                <a:spcPts val="750"/>
              </a:spcBef>
              <a:spcAft>
                <a:spcPts val="600"/>
              </a:spcAft>
            </a:pPr>
            <a:r>
              <a:rPr lang="en-US" sz="1600" b="0" i="0" dirty="0">
                <a:effectLst/>
              </a:rPr>
              <a:t>MAS can be used for tasks like coordinating multiple robots to perform complex jobs, such as search and rescue</a:t>
            </a:r>
          </a:p>
          <a:p>
            <a:pPr marL="0" indent="0" fontAlgn="base">
              <a:buNone/>
            </a:pPr>
            <a:endParaRPr lang="en-US" sz="1600" dirty="0"/>
          </a:p>
        </p:txBody>
      </p:sp>
    </p:spTree>
    <p:extLst>
      <p:ext uri="{BB962C8B-B14F-4D97-AF65-F5344CB8AC3E}">
        <p14:creationId xmlns:p14="http://schemas.microsoft.com/office/powerpoint/2010/main" val="148976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AI Agents</a:t>
            </a:r>
            <a:endParaRPr lang="en-US" dirty="0"/>
          </a:p>
        </p:txBody>
      </p:sp>
      <p:sp>
        <p:nvSpPr>
          <p:cNvPr id="3" name="Content Placeholder 2"/>
          <p:cNvSpPr>
            <a:spLocks noGrp="1"/>
          </p:cNvSpPr>
          <p:nvPr>
            <p:ph idx="1"/>
          </p:nvPr>
        </p:nvSpPr>
        <p:spPr>
          <a:xfrm>
            <a:off x="293615" y="1666234"/>
            <a:ext cx="11702642" cy="3987946"/>
          </a:xfrm>
        </p:spPr>
        <p:txBody>
          <a:bodyPr>
            <a:normAutofit fontScale="70000" lnSpcReduction="20000"/>
          </a:bodyPr>
          <a:lstStyle/>
          <a:p>
            <a:pPr fontAlgn="base"/>
            <a:r>
              <a:rPr lang="en-US" b="1" dirty="0"/>
              <a:t>Efficient Automation: </a:t>
            </a:r>
            <a:r>
              <a:rPr lang="en-US" dirty="0"/>
              <a:t>AI agents can take on repetitive tasks such as FAQs, common requests, batch jobs, etc., without the need for human involvement. This </a:t>
            </a:r>
            <a:r>
              <a:rPr lang="en-US" b="1" dirty="0"/>
              <a:t>f</a:t>
            </a:r>
            <a:r>
              <a:rPr lang="en-US" dirty="0"/>
              <a:t>rees up employees to work on more rewarding and value-adding activities. </a:t>
            </a:r>
          </a:p>
          <a:p>
            <a:pPr fontAlgn="base"/>
            <a:r>
              <a:rPr lang="en-US" b="1" dirty="0"/>
              <a:t>Improved Decision-Making: </a:t>
            </a:r>
            <a:r>
              <a:rPr lang="en-US" dirty="0"/>
              <a:t>agents</a:t>
            </a:r>
            <a:r>
              <a:rPr lang="en-US" b="1" dirty="0"/>
              <a:t> </a:t>
            </a:r>
            <a:r>
              <a:rPr lang="en-US" dirty="0"/>
              <a:t>can analyze vast amounts of data faster and more accurately than a person can, allowing for better data-driven decision-making. </a:t>
            </a:r>
          </a:p>
          <a:p>
            <a:pPr fontAlgn="base"/>
            <a:r>
              <a:rPr lang="en-US" b="1" dirty="0"/>
              <a:t>Reduced Human Error: </a:t>
            </a:r>
            <a:r>
              <a:rPr lang="en-US" dirty="0"/>
              <a:t>subsequently, the ability to process large amounts of data with greater accuracy means work carried out by agents does not suffer from the mistakes made by humans. </a:t>
            </a:r>
          </a:p>
          <a:p>
            <a:pPr fontAlgn="base"/>
            <a:r>
              <a:rPr lang="en-US" b="1" dirty="0"/>
              <a:t>Increased Availability: </a:t>
            </a:r>
            <a:r>
              <a:rPr lang="en-US" dirty="0"/>
              <a:t>AI agents are scalable and deployable around the clock. This ensures that services or support are available any time a user requires it. </a:t>
            </a:r>
          </a:p>
          <a:p>
            <a:pPr fontAlgn="base"/>
            <a:r>
              <a:rPr lang="en-US" b="1" dirty="0"/>
              <a:t>Increased Safety: </a:t>
            </a:r>
            <a:r>
              <a:rPr lang="en-US" dirty="0"/>
              <a:t>autonomous agents can be deployed in dangerous environments, replacing the need for humans and eliminating the risk of injury or catastrophic loss as a result. </a:t>
            </a:r>
          </a:p>
          <a:p>
            <a:pPr fontAlgn="base"/>
            <a:r>
              <a:rPr lang="en-US" b="1" dirty="0"/>
              <a:t>Cost Savings: </a:t>
            </a:r>
            <a:r>
              <a:rPr lang="en-US" dirty="0"/>
              <a:t>as a result of the automation offered by agents, the workforce is freed from the burden of mundane work, boosting their productivity and optimizing labor costs. </a:t>
            </a:r>
          </a:p>
          <a:p>
            <a:pPr fontAlgn="base"/>
            <a:r>
              <a:rPr lang="en-US" b="1" dirty="0"/>
              <a:t>Scalability: </a:t>
            </a:r>
            <a:r>
              <a:rPr lang="en-US" dirty="0"/>
              <a:t>As your user base or data grows, more agents can easily be deployed at scale to meet demands.</a:t>
            </a:r>
          </a:p>
          <a:p>
            <a:endParaRPr lang="en-US" dirty="0"/>
          </a:p>
        </p:txBody>
      </p:sp>
    </p:spTree>
    <p:extLst>
      <p:ext uri="{BB962C8B-B14F-4D97-AF65-F5344CB8AC3E}">
        <p14:creationId xmlns:p14="http://schemas.microsoft.com/office/powerpoint/2010/main" val="24137459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5110"/>
          </a:xfrm>
        </p:spPr>
        <p:txBody>
          <a:bodyPr>
            <a:normAutofit fontScale="90000"/>
          </a:bodyPr>
          <a:lstStyle/>
          <a:p>
            <a:r>
              <a:rPr lang="en-US" b="1" dirty="0"/>
              <a:t>Applications of AI Agents(p1)</a:t>
            </a:r>
            <a:endParaRPr lang="en-US" dirty="0"/>
          </a:p>
        </p:txBody>
      </p:sp>
      <p:sp>
        <p:nvSpPr>
          <p:cNvPr id="3" name="Content Placeholder 2"/>
          <p:cNvSpPr>
            <a:spLocks noGrp="1"/>
          </p:cNvSpPr>
          <p:nvPr>
            <p:ph idx="1"/>
          </p:nvPr>
        </p:nvSpPr>
        <p:spPr>
          <a:xfrm>
            <a:off x="838200" y="1246783"/>
            <a:ext cx="10515600" cy="4877179"/>
          </a:xfrm>
        </p:spPr>
        <p:txBody>
          <a:bodyPr>
            <a:noAutofit/>
          </a:bodyPr>
          <a:lstStyle/>
          <a:p>
            <a:pPr fontAlgn="base"/>
            <a:r>
              <a:rPr lang="en-US" sz="2000" b="1" dirty="0"/>
              <a:t>Virtual Assistants: </a:t>
            </a:r>
            <a:r>
              <a:rPr lang="en-US" sz="2000" dirty="0"/>
              <a:t>services like Siri, Alexa, and Cortana are actually AI agents that are capable of understanding natural language commands in real-time and performing a wide variety of tasks like researching the answers to questions, ordering items, and controlling internet-connected smart devices.</a:t>
            </a:r>
          </a:p>
          <a:p>
            <a:pPr fontAlgn="base"/>
            <a:r>
              <a:rPr lang="en-US" sz="2000" b="1" dirty="0"/>
              <a:t>Customer Service </a:t>
            </a:r>
            <a:r>
              <a:rPr lang="en-US" sz="2000" b="1" dirty="0" err="1"/>
              <a:t>Chatbots</a:t>
            </a:r>
            <a:r>
              <a:rPr lang="en-US" sz="2000" dirty="0"/>
              <a:t>: used by organizations to automate customer service interactions. In addition to answering common questions, agents reroute queries and escalate more involved issues to human personnel.</a:t>
            </a:r>
          </a:p>
          <a:p>
            <a:pPr fontAlgn="base"/>
            <a:r>
              <a:rPr lang="en-US" sz="2000" b="1" dirty="0"/>
              <a:t>Recommendation Engines: </a:t>
            </a:r>
            <a:r>
              <a:rPr lang="en-US" sz="2000" dirty="0"/>
              <a:t>AI agents can</a:t>
            </a:r>
            <a:r>
              <a:rPr lang="en-US" sz="2000" b="1" dirty="0"/>
              <a:t> </a:t>
            </a:r>
            <a:r>
              <a:rPr lang="en-US" sz="2000" dirty="0"/>
              <a:t>learn user preferences from past behavior to offer personalized recommendations for products, services, or content. Streaming services like Netflix and </a:t>
            </a:r>
            <a:r>
              <a:rPr lang="en-US" sz="2000" dirty="0" err="1"/>
              <a:t>eCommerce</a:t>
            </a:r>
            <a:r>
              <a:rPr lang="en-US" sz="2000" dirty="0"/>
              <a:t> platforms like Amazon are prominent examples of this. </a:t>
            </a:r>
          </a:p>
          <a:p>
            <a:pPr fontAlgn="base"/>
            <a:r>
              <a:rPr lang="en-US" sz="2000" b="1" dirty="0"/>
              <a:t>E-Learning Agents: </a:t>
            </a:r>
            <a:r>
              <a:rPr lang="en-US" sz="2000" dirty="0"/>
              <a:t>these deliver</a:t>
            </a:r>
            <a:r>
              <a:rPr lang="en-US" sz="2000" b="1" dirty="0"/>
              <a:t> </a:t>
            </a:r>
            <a:r>
              <a:rPr lang="en-US" sz="2000" dirty="0"/>
              <a:t>educational content based on a student’s particular competence and rate of progress. For instance, they will provide additional resources for areas the student finds challenging while skipping over familiar material.</a:t>
            </a:r>
          </a:p>
          <a:p>
            <a:pPr marL="0" indent="0">
              <a:buNone/>
            </a:pPr>
            <a:endParaRPr lang="en-US" sz="2000" dirty="0"/>
          </a:p>
        </p:txBody>
      </p:sp>
    </p:spTree>
    <p:extLst>
      <p:ext uri="{BB962C8B-B14F-4D97-AF65-F5344CB8AC3E}">
        <p14:creationId xmlns:p14="http://schemas.microsoft.com/office/powerpoint/2010/main" val="3482847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9111-A00A-5B78-DFE7-C17301B8E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88CF2-F13B-448D-1D6D-162311178CB4}"/>
              </a:ext>
            </a:extLst>
          </p:cNvPr>
          <p:cNvSpPr>
            <a:spLocks noGrp="1"/>
          </p:cNvSpPr>
          <p:nvPr>
            <p:ph type="title"/>
          </p:nvPr>
        </p:nvSpPr>
        <p:spPr>
          <a:xfrm>
            <a:off x="838200" y="365126"/>
            <a:ext cx="10515600" cy="675110"/>
          </a:xfrm>
        </p:spPr>
        <p:txBody>
          <a:bodyPr>
            <a:normAutofit fontScale="90000"/>
          </a:bodyPr>
          <a:lstStyle/>
          <a:p>
            <a:r>
              <a:rPr lang="en-US" b="1" dirty="0"/>
              <a:t>Applications of AI Agents(p2)</a:t>
            </a:r>
            <a:endParaRPr lang="en-US" dirty="0"/>
          </a:p>
        </p:txBody>
      </p:sp>
      <p:sp>
        <p:nvSpPr>
          <p:cNvPr id="3" name="Content Placeholder 2">
            <a:extLst>
              <a:ext uri="{FF2B5EF4-FFF2-40B4-BE49-F238E27FC236}">
                <a16:creationId xmlns:a16="http://schemas.microsoft.com/office/drawing/2014/main" id="{85C742B0-50D2-663C-1D27-007125AC325A}"/>
              </a:ext>
            </a:extLst>
          </p:cNvPr>
          <p:cNvSpPr>
            <a:spLocks noGrp="1"/>
          </p:cNvSpPr>
          <p:nvPr>
            <p:ph idx="1"/>
          </p:nvPr>
        </p:nvSpPr>
        <p:spPr>
          <a:xfrm>
            <a:off x="838200" y="1246783"/>
            <a:ext cx="10515600" cy="4877179"/>
          </a:xfrm>
        </p:spPr>
        <p:txBody>
          <a:bodyPr>
            <a:noAutofit/>
          </a:bodyPr>
          <a:lstStyle/>
          <a:p>
            <a:pPr fontAlgn="base"/>
            <a:r>
              <a:rPr lang="en-US" sz="1800" b="1" dirty="0"/>
              <a:t>Data Analysis and Forecasting: </a:t>
            </a:r>
            <a:r>
              <a:rPr lang="en-US" sz="1800" dirty="0"/>
              <a:t>agents can process and interpret vast datasets to identify patterns and anomalies in an effort to predict future events. This is ideally suited for the financial industry that uses such predictive analysis to identify stock market trends, fluctuations, and potential risks – to optimize investment strategies. </a:t>
            </a:r>
          </a:p>
          <a:p>
            <a:pPr fontAlgn="base"/>
            <a:r>
              <a:rPr lang="en-US" sz="1800" b="1" dirty="0"/>
              <a:t>Real-time Cybersecurity Monitoring and Alerting:</a:t>
            </a:r>
            <a:r>
              <a:rPr lang="en-US" sz="1800" dirty="0"/>
              <a:t> AI agents are capable of monitoring IT infrastructure and spotting potential security breaches around the clock – and with far more accuracy than any single human can.  </a:t>
            </a:r>
          </a:p>
          <a:p>
            <a:pPr fontAlgn="base"/>
            <a:r>
              <a:rPr lang="en-US" sz="1800" b="1" dirty="0"/>
              <a:t>Diagnosis and Treatment Agents: </a:t>
            </a:r>
            <a:r>
              <a:rPr lang="en-US" sz="1800" dirty="0"/>
              <a:t>an agent’s ability to process massive amounts of data and detect patterns is also useful in the medical field. AI agents can help identify medical conditions from a patient’s data – particularly when it comes to analyzing patterns in images as well as in large amounts of suitably anonymized data (across patients). </a:t>
            </a:r>
          </a:p>
          <a:p>
            <a:pPr marL="0" indent="0">
              <a:buNone/>
            </a:pPr>
            <a:endParaRPr lang="en-US" sz="1800" dirty="0"/>
          </a:p>
        </p:txBody>
      </p:sp>
    </p:spTree>
    <p:extLst>
      <p:ext uri="{BB962C8B-B14F-4D97-AF65-F5344CB8AC3E}">
        <p14:creationId xmlns:p14="http://schemas.microsoft.com/office/powerpoint/2010/main" val="10831688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62BDC-1204-5D3D-63B5-620C315E2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5A5A4-1ECE-88DB-5FC8-59BDF5365033}"/>
              </a:ext>
            </a:extLst>
          </p:cNvPr>
          <p:cNvSpPr>
            <a:spLocks noGrp="1"/>
          </p:cNvSpPr>
          <p:nvPr>
            <p:ph type="title"/>
          </p:nvPr>
        </p:nvSpPr>
        <p:spPr>
          <a:xfrm>
            <a:off x="838200" y="365126"/>
            <a:ext cx="10515600" cy="675110"/>
          </a:xfrm>
        </p:spPr>
        <p:txBody>
          <a:bodyPr>
            <a:normAutofit fontScale="90000"/>
          </a:bodyPr>
          <a:lstStyle/>
          <a:p>
            <a:r>
              <a:rPr lang="en-US" b="1" dirty="0"/>
              <a:t>Applications of AI Agents(p3)</a:t>
            </a:r>
            <a:endParaRPr lang="en-US" dirty="0"/>
          </a:p>
        </p:txBody>
      </p:sp>
      <p:sp>
        <p:nvSpPr>
          <p:cNvPr id="3" name="Content Placeholder 2">
            <a:extLst>
              <a:ext uri="{FF2B5EF4-FFF2-40B4-BE49-F238E27FC236}">
                <a16:creationId xmlns:a16="http://schemas.microsoft.com/office/drawing/2014/main" id="{2F7674B4-2AB7-694C-CE60-2228AC7AF170}"/>
              </a:ext>
            </a:extLst>
          </p:cNvPr>
          <p:cNvSpPr>
            <a:spLocks noGrp="1"/>
          </p:cNvSpPr>
          <p:nvPr>
            <p:ph idx="1"/>
          </p:nvPr>
        </p:nvSpPr>
        <p:spPr>
          <a:xfrm>
            <a:off x="838200" y="1246783"/>
            <a:ext cx="10515600" cy="4877179"/>
          </a:xfrm>
        </p:spPr>
        <p:txBody>
          <a:bodyPr>
            <a:noAutofit/>
          </a:bodyPr>
          <a:lstStyle/>
          <a:p>
            <a:pPr fontAlgn="base"/>
            <a:r>
              <a:rPr lang="en-US" sz="1800" b="1" dirty="0"/>
              <a:t>Robotics: </a:t>
            </a:r>
            <a:r>
              <a:rPr lang="en-US" sz="1800" dirty="0"/>
              <a:t>self-driving vehicles and autonomous drones are examples of robotic agents that use sensors and actuators to interact with </a:t>
            </a:r>
            <a:r>
              <a:rPr lang="en-US" sz="1800" i="1" dirty="0"/>
              <a:t>physical</a:t>
            </a:r>
            <a:r>
              <a:rPr lang="en-US" sz="1800" dirty="0"/>
              <a:t> environments. Meanwhile, in sectors such as large-scale manufacturing, industrial robots are used as agents to perform work such as assembly and welding. </a:t>
            </a:r>
          </a:p>
          <a:p>
            <a:pPr fontAlgn="base"/>
            <a:r>
              <a:rPr lang="en-US" sz="1800" b="1" dirty="0"/>
              <a:t>Infrastructure and System Monitoring: </a:t>
            </a:r>
            <a:r>
              <a:rPr lang="en-US" sz="1800" dirty="0"/>
              <a:t>AI agents help in overseeing industrial infrastructure and systems, detecting anomalies in equipment that could signal an impending failure. </a:t>
            </a:r>
          </a:p>
          <a:p>
            <a:pPr fontAlgn="base"/>
            <a:r>
              <a:rPr lang="en-US" sz="1800" b="1" dirty="0"/>
              <a:t>Gaming: </a:t>
            </a:r>
            <a:r>
              <a:rPr lang="en-US" sz="1800" dirty="0"/>
              <a:t>Non-playing characters (NPCs) in video games are a basic form of agent that simply responds to a user’s actions. However, more advanced agents can add realism to games: a trend that will become more prevalent as we move into Virtual and Augmented Reality environments.</a:t>
            </a:r>
          </a:p>
          <a:p>
            <a:pPr marL="0" indent="0">
              <a:buNone/>
            </a:pPr>
            <a:endParaRPr lang="en-US" sz="1800" dirty="0"/>
          </a:p>
        </p:txBody>
      </p:sp>
    </p:spTree>
    <p:extLst>
      <p:ext uri="{BB962C8B-B14F-4D97-AF65-F5344CB8AC3E}">
        <p14:creationId xmlns:p14="http://schemas.microsoft.com/office/powerpoint/2010/main" val="5717736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C9AC6-636C-BE6A-EDC2-B4500510846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093FEE-8F7C-E1E7-94DB-89F583AF113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15378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389</TotalTime>
  <Words>4823</Words>
  <Application>Microsoft Office PowerPoint</Application>
  <PresentationFormat>Widescreen</PresentationFormat>
  <Paragraphs>338</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Helvetica Neue</vt:lpstr>
      <vt:lpstr>sohne</vt:lpstr>
      <vt:lpstr>Office Theme</vt:lpstr>
      <vt:lpstr>AI AGENTS</vt:lpstr>
      <vt:lpstr>Agents</vt:lpstr>
      <vt:lpstr>Example: booking vacations(p1)</vt:lpstr>
      <vt:lpstr>Example: booking vacations(p2)</vt:lpstr>
      <vt:lpstr>Example: booking vacations(p3)</vt:lpstr>
      <vt:lpstr>Some examples of AI Agent(p1)</vt:lpstr>
      <vt:lpstr>Some examples of AI Agent(p1)</vt:lpstr>
      <vt:lpstr>How Does an AI Agent Work?(p1)</vt:lpstr>
      <vt:lpstr>How Does an AI Agent Work?(p2)</vt:lpstr>
      <vt:lpstr>The Components of an AI agent</vt:lpstr>
      <vt:lpstr>Types of AI Agents(p1)</vt:lpstr>
      <vt:lpstr>Types of AI Agents(p2)</vt:lpstr>
      <vt:lpstr>Types of AI Agents(p3)</vt:lpstr>
      <vt:lpstr>Types of AI Agents(p4)</vt:lpstr>
      <vt:lpstr>Types of AI Agents(p5)</vt:lpstr>
      <vt:lpstr>Multi-Agent Systems(p1)</vt:lpstr>
      <vt:lpstr>Multi-Agent Systems(p1)</vt:lpstr>
      <vt:lpstr>Multi-Agent Systems Architecture(p2)</vt:lpstr>
      <vt:lpstr>Multi-Agent Systems Architecture(p3)</vt:lpstr>
      <vt:lpstr>Multi-Agent Systems Architecture(p4)</vt:lpstr>
      <vt:lpstr>Multi-Agent Systems Architecture(p5)</vt:lpstr>
      <vt:lpstr>Multi-Agent Systems Architecture(p6)</vt:lpstr>
      <vt:lpstr>Multi-Agent Systems Architecture(p7)</vt:lpstr>
      <vt:lpstr>Multi-Agent Systems Architecture(p8)</vt:lpstr>
      <vt:lpstr>Multi-Agent Systems Architecture(p9)</vt:lpstr>
      <vt:lpstr>Multi-Agent Systems Architecture(p10)</vt:lpstr>
      <vt:lpstr>Multi-Agent Systems Architecture(p11)</vt:lpstr>
      <vt:lpstr>Multi-Agent Systems Architecture(p12)</vt:lpstr>
      <vt:lpstr>Multi-Agent Systems Architecture(p13)</vt:lpstr>
      <vt:lpstr>Multi-Agent Systems Architecture(p14)</vt:lpstr>
      <vt:lpstr>Multi-Agent Systems Architecture(p15)</vt:lpstr>
      <vt:lpstr>Multi-Agent Systems Architecture(p16)</vt:lpstr>
      <vt:lpstr>Multi-Agent Systems(p2)</vt:lpstr>
      <vt:lpstr>Benefits of AI Agents</vt:lpstr>
      <vt:lpstr>Applications of AI Agents(p1)</vt:lpstr>
      <vt:lpstr>Applications of AI Agents(p2)</vt:lpstr>
      <vt:lpstr>Applications of AI Agents(p3)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dc:title>
  <dc:creator>hi</dc:creator>
  <cp:lastModifiedBy>ash322.ash422@gmail.com</cp:lastModifiedBy>
  <cp:revision>96</cp:revision>
  <dcterms:created xsi:type="dcterms:W3CDTF">2025-02-28T18:35:12Z</dcterms:created>
  <dcterms:modified xsi:type="dcterms:W3CDTF">2025-03-08T03:50:36Z</dcterms:modified>
</cp:coreProperties>
</file>