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1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77D0-C464-429D-93F4-AFC3D400992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E8BF-E57B-4DEC-A762-C5C360FC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367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77D0-C464-429D-93F4-AFC3D400992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E8BF-E57B-4DEC-A762-C5C360FC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897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77D0-C464-429D-93F4-AFC3D400992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E8BF-E57B-4DEC-A762-C5C360FC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238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77D0-C464-429D-93F4-AFC3D400992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E8BF-E57B-4DEC-A762-C5C360FC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86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77D0-C464-429D-93F4-AFC3D400992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E8BF-E57B-4DEC-A762-C5C360FC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633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77D0-C464-429D-93F4-AFC3D400992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E8BF-E57B-4DEC-A762-C5C360FC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5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77D0-C464-429D-93F4-AFC3D400992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E8BF-E57B-4DEC-A762-C5C360FC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13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77D0-C464-429D-93F4-AFC3D400992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E8BF-E57B-4DEC-A762-C5C360FC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97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77D0-C464-429D-93F4-AFC3D400992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E8BF-E57B-4DEC-A762-C5C360FC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7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77D0-C464-429D-93F4-AFC3D400992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E8BF-E57B-4DEC-A762-C5C360FC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34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77D0-C464-429D-93F4-AFC3D400992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E8BF-E57B-4DEC-A762-C5C360FC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877D0-C464-429D-93F4-AFC3D4009920}" type="datetimeFigureOut">
              <a:rPr lang="en-US" smtClean="0"/>
              <a:t>6/19/2025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DE8BF-E57B-4DEC-A762-C5C360FC0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3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zxQyTK8quyY?si=C-flWWBSxwrqWao7" TargetMode="External"/><Relationship Id="rId2" Type="http://schemas.openxmlformats.org/officeDocument/2006/relationships/hyperlink" Target="https://youtu.be/ZhAz268Hdpw?si=jQXkVM058uJkEWCw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outu.be/UPtG_38Oq8o?si=fYUN8D7y1fvW2vCw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AI Transformers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52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https</a:t>
            </a:r>
            <a:r>
              <a:rPr lang="en-US">
                <a:hlinkClick r:id="rId2"/>
              </a:rPr>
              <a:t>://</a:t>
            </a:r>
            <a:r>
              <a:rPr lang="en-US" smtClean="0">
                <a:hlinkClick r:id="rId2"/>
              </a:rPr>
              <a:t>youtu.be/wjZofJX0v4M?si=UT5EVkN7zDUhAsAT</a:t>
            </a:r>
          </a:p>
          <a:p>
            <a:r>
              <a:rPr lang="en-US" smtClean="0">
                <a:hlinkClick r:id="rId2"/>
              </a:rPr>
              <a:t>https</a:t>
            </a:r>
            <a:r>
              <a:rPr lang="en-US">
                <a:hlinkClick r:id="rId2"/>
              </a:rPr>
              <a:t>://youtu.be/KJtZARuO3JY?si=Q1uJI6d0At8onSZV</a:t>
            </a:r>
          </a:p>
          <a:p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youtu.be/ZhAz268Hdpw?si=jQXkVM058uJkEWCw</a:t>
            </a:r>
            <a:endParaRPr lang="en-US" dirty="0" smtClean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youtu.be/zxQyTK8quyY?si=C-flWWBSxwrqWao7</a:t>
            </a:r>
            <a:endParaRPr lang="en-US" dirty="0" smtClean="0"/>
          </a:p>
          <a:p>
            <a:r>
              <a:rPr lang="en-US" dirty="0">
                <a:hlinkClick r:id="rId4"/>
              </a:rPr>
              <a:t>1) https://</a:t>
            </a:r>
            <a:r>
              <a:rPr lang="en-US" dirty="0" smtClean="0">
                <a:hlinkClick r:id="rId4"/>
              </a:rPr>
              <a:t>youtu.be/OxCpWwDCDFQ?si=xo2r5jOoc3YQgji6</a:t>
            </a:r>
          </a:p>
          <a:p>
            <a:pPr marL="0" indent="0">
              <a:buNone/>
            </a:pPr>
            <a:r>
              <a:rPr lang="en-US" dirty="0" smtClean="0">
                <a:hlinkClick r:id="rId4"/>
              </a:rPr>
              <a:t>2) https</a:t>
            </a:r>
            <a:r>
              <a:rPr lang="en-US" dirty="0">
                <a:hlinkClick r:id="rId4"/>
              </a:rPr>
              <a:t>://</a:t>
            </a:r>
            <a:r>
              <a:rPr lang="en-US" dirty="0" smtClean="0">
                <a:hlinkClick r:id="rId4"/>
              </a:rPr>
              <a:t>youtu.be/UPtG_38Oq8o?si=fYUN8D7y1fvW2vCw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 smtClean="0"/>
              <a:t>3)  </a:t>
            </a:r>
            <a:r>
              <a:rPr lang="en-US" dirty="0"/>
              <a:t>https://youtu.be/qaWMOYf4ri8?si=iA8GmBLLFfcZgCQk</a:t>
            </a:r>
            <a:endParaRPr lang="en-US" dirty="0" smtClean="0"/>
          </a:p>
          <a:p>
            <a:r>
              <a:rPr lang="en-US" dirty="0"/>
              <a:t>https://www.datacamp.com/tutorial/how-transformers-work</a:t>
            </a:r>
          </a:p>
        </p:txBody>
      </p:sp>
    </p:spTree>
    <p:extLst>
      <p:ext uri="{BB962C8B-B14F-4D97-AF65-F5344CB8AC3E}">
        <p14:creationId xmlns:p14="http://schemas.microsoft.com/office/powerpoint/2010/main" val="1193052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ntroduced </a:t>
            </a:r>
            <a:r>
              <a:rPr lang="en-US" dirty="0"/>
              <a:t>in </a:t>
            </a:r>
            <a:r>
              <a:rPr lang="en-US" dirty="0" smtClean="0"/>
              <a:t>2017</a:t>
            </a:r>
          </a:p>
          <a:p>
            <a:r>
              <a:rPr lang="en-US" dirty="0" smtClean="0"/>
              <a:t>A </a:t>
            </a:r>
            <a:r>
              <a:rPr lang="en-US" b="1" dirty="0"/>
              <a:t>transformer</a:t>
            </a:r>
            <a:r>
              <a:rPr lang="en-US" dirty="0"/>
              <a:t> model is a </a:t>
            </a:r>
            <a:r>
              <a:rPr lang="en-US" dirty="0" smtClean="0"/>
              <a:t>NN </a:t>
            </a:r>
            <a:r>
              <a:rPr lang="en-US" dirty="0"/>
              <a:t>that learns the context of sequential data and </a:t>
            </a:r>
            <a:r>
              <a:rPr lang="en-US" b="1" dirty="0"/>
              <a:t>generates new data</a:t>
            </a:r>
            <a:r>
              <a:rPr lang="en-US" dirty="0"/>
              <a:t> out of it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1302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7454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 smtClean="0"/>
              <a:t>What</a:t>
            </a:r>
            <a:r>
              <a:rPr lang="en-US" dirty="0" smtClean="0"/>
              <a:t> </a:t>
            </a:r>
            <a:r>
              <a:rPr lang="en-US" dirty="0"/>
              <a:t>are </a:t>
            </a:r>
            <a:r>
              <a:rPr lang="en-US" dirty="0" smtClean="0"/>
              <a:t>Transformers?</a:t>
            </a:r>
          </a:p>
          <a:p>
            <a:pPr lvl="1"/>
            <a:r>
              <a:rPr lang="en-US" dirty="0" smtClean="0"/>
              <a:t>Definition</a:t>
            </a:r>
            <a:r>
              <a:rPr lang="en-US" dirty="0"/>
              <a:t>: A deep learning model using self-attention to process sequential </a:t>
            </a:r>
            <a:r>
              <a:rPr lang="en-US" dirty="0" smtClean="0"/>
              <a:t>data.</a:t>
            </a:r>
          </a:p>
          <a:p>
            <a:pPr lvl="1"/>
            <a:r>
              <a:rPr lang="en-US" dirty="0" smtClean="0"/>
              <a:t>Origin</a:t>
            </a:r>
            <a:r>
              <a:rPr lang="en-US" dirty="0"/>
              <a:t>: </a:t>
            </a:r>
            <a:r>
              <a:rPr lang="en-US" i="1" dirty="0"/>
              <a:t>“Attention is All You Need”</a:t>
            </a:r>
            <a:r>
              <a:rPr lang="en-US" dirty="0"/>
              <a:t> by </a:t>
            </a:r>
            <a:r>
              <a:rPr lang="en-US" dirty="0" err="1"/>
              <a:t>Vaswani</a:t>
            </a:r>
            <a:r>
              <a:rPr lang="en-US" dirty="0"/>
              <a:t> et al. (2017)</a:t>
            </a:r>
          </a:p>
          <a:p>
            <a:pPr marL="0" indent="0">
              <a:buNone/>
            </a:pPr>
            <a:r>
              <a:rPr lang="en-US" b="1" dirty="0"/>
              <a:t>Why</a:t>
            </a:r>
            <a:r>
              <a:rPr lang="en-US" dirty="0"/>
              <a:t> are Transformers important?</a:t>
            </a:r>
          </a:p>
          <a:p>
            <a:pPr lvl="1"/>
            <a:r>
              <a:rPr lang="en-US" dirty="0"/>
              <a:t>Overcame limitations of RNNs and LSTMs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RNN Limitation: </a:t>
            </a:r>
          </a:p>
          <a:p>
            <a:pPr marL="914400" lvl="1" indent="-457200">
              <a:buAutoNum type="arabicParenR"/>
            </a:pPr>
            <a:r>
              <a:rPr lang="en-US" dirty="0" smtClean="0"/>
              <a:t>sequential processing and therefore no parallelism</a:t>
            </a:r>
          </a:p>
          <a:p>
            <a:pPr marL="914400" lvl="1" indent="-457200">
              <a:buAutoNum type="arabicParenR"/>
            </a:pPr>
            <a:r>
              <a:rPr lang="en-US" dirty="0" smtClean="0"/>
              <a:t> Hard </a:t>
            </a:r>
            <a:r>
              <a:rPr lang="en-US" dirty="0"/>
              <a:t>to capture long-term </a:t>
            </a:r>
            <a:r>
              <a:rPr lang="en-US" dirty="0" smtClean="0"/>
              <a:t>dependencies due to </a:t>
            </a:r>
            <a:r>
              <a:rPr lang="en-US" dirty="0"/>
              <a:t>vanishing </a:t>
            </a:r>
            <a:r>
              <a:rPr lang="en-US" dirty="0" smtClean="0"/>
              <a:t>gradients</a:t>
            </a:r>
          </a:p>
          <a:p>
            <a:pPr marL="914400" lvl="1" indent="-457200">
              <a:buAutoNum type="arabicParenR"/>
            </a:pPr>
            <a:r>
              <a:rPr lang="en-US" dirty="0"/>
              <a:t>Sequential bottlenecks: Can’t process all words at once</a:t>
            </a:r>
          </a:p>
          <a:p>
            <a:pPr lvl="1"/>
            <a:r>
              <a:rPr lang="en-US" dirty="0"/>
              <a:t>Enabled scalable, parallel processing of large text corpora</a:t>
            </a:r>
          </a:p>
          <a:p>
            <a:pPr lvl="1"/>
            <a:r>
              <a:rPr lang="en-US" dirty="0"/>
              <a:t>Led to models like GPT, BERT, T5, </a:t>
            </a:r>
            <a:r>
              <a:rPr lang="en-US" dirty="0" err="1"/>
              <a:t>ViT</a:t>
            </a:r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11151" y="314698"/>
            <a:ext cx="32520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Introduction</a:t>
            </a:r>
            <a:r>
              <a:rPr lang="en-US" b="1" dirty="0"/>
              <a:t> (10 </a:t>
            </a:r>
            <a:r>
              <a:rPr lang="en-US" b="1" dirty="0" err="1"/>
              <a:t>mins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59280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840" y="249715"/>
            <a:ext cx="10936550" cy="753461"/>
          </a:xfrm>
        </p:spPr>
        <p:txBody>
          <a:bodyPr>
            <a:normAutofit/>
          </a:bodyPr>
          <a:lstStyle/>
          <a:p>
            <a:r>
              <a:rPr lang="en-US" b="1" dirty="0"/>
              <a:t>Applications (Where are Transformers used</a:t>
            </a:r>
            <a:r>
              <a:rPr lang="en-US" b="1" dirty="0" smtClean="0"/>
              <a:t>?)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NLP</a:t>
            </a:r>
            <a:endParaRPr lang="en-US" b="1" dirty="0"/>
          </a:p>
          <a:p>
            <a:r>
              <a:rPr lang="en-US" dirty="0"/>
              <a:t>Text classification (BERT)</a:t>
            </a:r>
          </a:p>
          <a:p>
            <a:r>
              <a:rPr lang="en-US" dirty="0"/>
              <a:t>Text generation (GPT)</a:t>
            </a:r>
          </a:p>
          <a:p>
            <a:r>
              <a:rPr lang="en-US" dirty="0"/>
              <a:t>Translation (T5, </a:t>
            </a:r>
            <a:r>
              <a:rPr lang="en-US" dirty="0" err="1"/>
              <a:t>MarianMT</a:t>
            </a:r>
            <a:r>
              <a:rPr lang="en-US" dirty="0"/>
              <a:t>)</a:t>
            </a:r>
          </a:p>
          <a:p>
            <a:r>
              <a:rPr lang="en-US" dirty="0"/>
              <a:t>Question answering (</a:t>
            </a:r>
            <a:r>
              <a:rPr lang="en-US" dirty="0" err="1"/>
              <a:t>RoBERTa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b="1" dirty="0"/>
              <a:t>Vision</a:t>
            </a:r>
          </a:p>
          <a:p>
            <a:r>
              <a:rPr lang="en-US" dirty="0"/>
              <a:t>Vision Transformers (</a:t>
            </a:r>
            <a:r>
              <a:rPr lang="en-US" dirty="0" err="1"/>
              <a:t>ViT</a:t>
            </a:r>
            <a:r>
              <a:rPr lang="en-US" dirty="0"/>
              <a:t>)</a:t>
            </a:r>
          </a:p>
          <a:p>
            <a:r>
              <a:rPr lang="en-US" dirty="0"/>
              <a:t>Object detection, segmentation</a:t>
            </a:r>
          </a:p>
          <a:p>
            <a:pPr marL="0" indent="0">
              <a:buNone/>
            </a:pPr>
            <a:r>
              <a:rPr lang="en-US" b="1" dirty="0" smtClean="0"/>
              <a:t>Speech</a:t>
            </a:r>
            <a:endParaRPr lang="en-US" b="1" dirty="0"/>
          </a:p>
          <a:p>
            <a:r>
              <a:rPr lang="en-US" dirty="0"/>
              <a:t>Whisper, wav2vec</a:t>
            </a:r>
          </a:p>
          <a:p>
            <a:pPr marL="0" indent="0">
              <a:buNone/>
            </a:pPr>
            <a:r>
              <a:rPr lang="en-US" b="1" dirty="0" smtClean="0"/>
              <a:t>Multimodal</a:t>
            </a:r>
            <a:endParaRPr lang="en-US" b="1" dirty="0"/>
          </a:p>
          <a:p>
            <a:r>
              <a:rPr lang="en-US" dirty="0"/>
              <a:t>CLIP (image + text)</a:t>
            </a:r>
          </a:p>
          <a:p>
            <a:r>
              <a:rPr lang="en-US" dirty="0"/>
              <a:t>Flamingo, Gemini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4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317854" cy="788972"/>
          </a:xfrm>
        </p:spPr>
        <p:txBody>
          <a:bodyPr/>
          <a:lstStyle/>
          <a:p>
            <a:r>
              <a:rPr lang="en-US" b="1" dirty="0"/>
              <a:t>Core Components of a </a:t>
            </a:r>
            <a:r>
              <a:rPr lang="en-US" b="1" dirty="0" smtClean="0"/>
              <a:t>Transformer(p1)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Transformers </a:t>
            </a:r>
            <a:r>
              <a:rPr lang="en-US" dirty="0"/>
              <a:t>consist of </a:t>
            </a:r>
            <a:r>
              <a:rPr lang="en-US" b="1" dirty="0"/>
              <a:t>encoder</a:t>
            </a:r>
            <a:r>
              <a:rPr lang="en-US" dirty="0"/>
              <a:t> and </a:t>
            </a:r>
            <a:r>
              <a:rPr lang="en-US" b="1" dirty="0"/>
              <a:t>decoder</a:t>
            </a:r>
            <a:r>
              <a:rPr lang="en-US" dirty="0"/>
              <a:t> stacks. Most models use either:</a:t>
            </a:r>
          </a:p>
          <a:p>
            <a:r>
              <a:rPr lang="en-US" b="1" dirty="0"/>
              <a:t>Encoder-only</a:t>
            </a:r>
            <a:r>
              <a:rPr lang="en-US" dirty="0"/>
              <a:t> (e.g., BERT – understanding tasks)</a:t>
            </a:r>
          </a:p>
          <a:p>
            <a:r>
              <a:rPr lang="en-US" b="1" dirty="0"/>
              <a:t>Decoder-only</a:t>
            </a:r>
            <a:r>
              <a:rPr lang="en-US" dirty="0"/>
              <a:t> (e.g., GPT – generation tasks)</a:t>
            </a:r>
          </a:p>
          <a:p>
            <a:r>
              <a:rPr lang="en-US" b="1" dirty="0"/>
              <a:t>Both</a:t>
            </a:r>
            <a:r>
              <a:rPr lang="en-US" dirty="0"/>
              <a:t> (e.g., T5 – translation/summarization)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131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9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Core Components of a </a:t>
            </a:r>
            <a:r>
              <a:rPr lang="en-US" b="1" dirty="0" smtClean="0"/>
              <a:t>Transformer (p2)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674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Input Embedding + Positional Encoding</a:t>
            </a:r>
          </a:p>
          <a:p>
            <a:r>
              <a:rPr lang="en-US" dirty="0"/>
              <a:t>Words are converted into </a:t>
            </a:r>
            <a:r>
              <a:rPr lang="en-US" b="1" dirty="0"/>
              <a:t>vectors</a:t>
            </a:r>
            <a:r>
              <a:rPr lang="en-US" dirty="0"/>
              <a:t> via </a:t>
            </a:r>
            <a:r>
              <a:rPr lang="en-US" b="1" dirty="0"/>
              <a:t>embedding layers</a:t>
            </a:r>
            <a:r>
              <a:rPr lang="en-US" dirty="0"/>
              <a:t>.</a:t>
            </a:r>
          </a:p>
          <a:p>
            <a:r>
              <a:rPr lang="en-US" dirty="0"/>
              <a:t>Since the model has no sense of word order (no recurrence), we </a:t>
            </a:r>
            <a:r>
              <a:rPr lang="en-US" b="1" dirty="0"/>
              <a:t>add positional encoding</a:t>
            </a:r>
            <a:r>
              <a:rPr lang="en-US" dirty="0"/>
              <a:t> to preserve sequence information.</a:t>
            </a:r>
          </a:p>
        </p:txBody>
      </p:sp>
    </p:spTree>
    <p:extLst>
      <p:ext uri="{BB962C8B-B14F-4D97-AF65-F5344CB8AC3E}">
        <p14:creationId xmlns:p14="http://schemas.microsoft.com/office/powerpoint/2010/main" val="2271126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9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Core Components of a </a:t>
            </a:r>
            <a:r>
              <a:rPr lang="en-US" b="1" dirty="0" smtClean="0"/>
              <a:t>Transformer (p3)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8183"/>
            <a:ext cx="10515600" cy="472990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/>
              <a:t>Self-Attention Mechanism</a:t>
            </a:r>
          </a:p>
          <a:p>
            <a:pPr marL="0" indent="0">
              <a:buNone/>
            </a:pPr>
            <a:r>
              <a:rPr lang="en-US" dirty="0"/>
              <a:t>Key concept: Every word (token) in a sentence "looks at" all other words to understand their importance in context.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Self-Attention Formula:</a:t>
            </a:r>
          </a:p>
          <a:p>
            <a:pPr marL="0" indent="0">
              <a:buNone/>
            </a:pPr>
            <a:r>
              <a:rPr lang="en-US" dirty="0"/>
              <a:t>Given token vectors, the model creates</a:t>
            </a:r>
            <a:r>
              <a:rPr lang="en-US" dirty="0" smtClean="0"/>
              <a:t>: Query </a:t>
            </a:r>
            <a:r>
              <a:rPr lang="en-US" dirty="0"/>
              <a:t>(Q) , Key (K), Value (V)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each word: Attention(Q, K, V) = </a:t>
            </a:r>
            <a:r>
              <a:rPr lang="en-US" dirty="0" smtClean="0"/>
              <a:t> </a:t>
            </a:r>
            <a:r>
              <a:rPr lang="en-US" dirty="0" err="1" smtClean="0"/>
              <a:t>softmax</a:t>
            </a:r>
            <a:r>
              <a:rPr lang="en-US" dirty="0" smtClean="0"/>
              <a:t>(QKᵀ </a:t>
            </a:r>
            <a:r>
              <a:rPr lang="en-US" dirty="0"/>
              <a:t>/ √</a:t>
            </a:r>
            <a:r>
              <a:rPr lang="en-US" dirty="0" err="1"/>
              <a:t>d_k</a:t>
            </a:r>
            <a:r>
              <a:rPr lang="en-US" dirty="0"/>
              <a:t>) × V</a:t>
            </a:r>
          </a:p>
          <a:p>
            <a:pPr marL="0" indent="0">
              <a:buNone/>
            </a:pPr>
            <a:r>
              <a:rPr lang="en-US" dirty="0"/>
              <a:t>This measures how much attention each word pays to others and helps model know which words are important to focus 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Sentence: "The cat sat on the mat"</a:t>
            </a:r>
          </a:p>
          <a:p>
            <a:r>
              <a:rPr lang="en-US" dirty="0"/>
              <a:t>When encoding "cat", attention may also focus on "sat", "mat", etc.</a:t>
            </a:r>
          </a:p>
          <a:p>
            <a:r>
              <a:rPr lang="en-US" dirty="0"/>
              <a:t>For "it" in "it sat on the mat", attention helps resolve that "it" refers to "cat".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1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9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Core Components of a </a:t>
            </a:r>
            <a:r>
              <a:rPr lang="en-US" b="1" dirty="0" smtClean="0"/>
              <a:t>Transformer (p4)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58788" y="1797234"/>
            <a:ext cx="89486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Multi-Head Attention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Instead </a:t>
            </a:r>
            <a:r>
              <a:rPr lang="en-US" dirty="0"/>
              <a:t>of one attention layer, we use </a:t>
            </a:r>
            <a:r>
              <a:rPr lang="en-US" b="1" dirty="0"/>
              <a:t>multiple heads</a:t>
            </a:r>
            <a:r>
              <a:rPr lang="en-US" dirty="0"/>
              <a:t> in parallel.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Each </a:t>
            </a:r>
            <a:r>
              <a:rPr lang="en-US" dirty="0"/>
              <a:t>head captures different types of relationships (syntax, semantics, etc.).</a:t>
            </a:r>
          </a:p>
          <a:p>
            <a:r>
              <a:rPr lang="en-US" dirty="0"/>
              <a:t>Then we concatenate and linearly transform the outputs.</a:t>
            </a:r>
          </a:p>
        </p:txBody>
      </p:sp>
    </p:spTree>
    <p:extLst>
      <p:ext uri="{BB962C8B-B14F-4D97-AF65-F5344CB8AC3E}">
        <p14:creationId xmlns:p14="http://schemas.microsoft.com/office/powerpoint/2010/main" val="42817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9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Core Components of a </a:t>
            </a:r>
            <a:r>
              <a:rPr lang="en-US" b="1" dirty="0" smtClean="0"/>
              <a:t>Transformer (p5)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38199" y="1323091"/>
            <a:ext cx="940663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Feedforward Network</a:t>
            </a:r>
          </a:p>
          <a:p>
            <a:r>
              <a:rPr lang="en-US" dirty="0"/>
              <a:t>After attention, each token passes through the </a:t>
            </a:r>
            <a:r>
              <a:rPr lang="en-US" b="1" dirty="0"/>
              <a:t>same feedforward neural network</a:t>
            </a:r>
            <a:r>
              <a:rPr lang="en-US" dirty="0"/>
              <a:t> independently</a:t>
            </a:r>
            <a:r>
              <a:rPr lang="en-US" dirty="0" smtClean="0"/>
              <a:t>:</a:t>
            </a:r>
          </a:p>
          <a:p>
            <a:r>
              <a:rPr lang="en-US" dirty="0"/>
              <a:t>FFN(x) = max(0, </a:t>
            </a:r>
            <a:r>
              <a:rPr lang="en-US" dirty="0" err="1"/>
              <a:t>xW</a:t>
            </a:r>
            <a:r>
              <a:rPr lang="en-US" dirty="0"/>
              <a:t>₁ + b₁)W₂ + b₂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972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9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Core Components of a </a:t>
            </a:r>
            <a:r>
              <a:rPr lang="en-US" b="1" dirty="0" smtClean="0"/>
              <a:t>Transformer (p6)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49406" y="1949946"/>
            <a:ext cx="90019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Layer </a:t>
            </a:r>
            <a:r>
              <a:rPr lang="en-US" b="1" dirty="0"/>
              <a:t>Normalization + Residual Connections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Residual connection</a:t>
            </a:r>
            <a:r>
              <a:rPr lang="en-US" dirty="0"/>
              <a:t>: Output of each block is added back to its input (helps gradient flow).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Layer normalization</a:t>
            </a:r>
            <a:r>
              <a:rPr lang="en-US" dirty="0"/>
              <a:t>: Stabilizes training.</a:t>
            </a:r>
          </a:p>
        </p:txBody>
      </p:sp>
    </p:spTree>
    <p:extLst>
      <p:ext uri="{BB962C8B-B14F-4D97-AF65-F5344CB8AC3E}">
        <p14:creationId xmlns:p14="http://schemas.microsoft.com/office/powerpoint/2010/main" val="1093260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9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Core Components of a </a:t>
            </a:r>
            <a:r>
              <a:rPr lang="en-US" b="1" dirty="0" smtClean="0"/>
              <a:t>Transformer (p7)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838200" y="1839871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Stacking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A </a:t>
            </a:r>
            <a:r>
              <a:rPr lang="en-US" dirty="0"/>
              <a:t>typical transformer model stacks </a:t>
            </a:r>
            <a:r>
              <a:rPr lang="en-US" b="1" dirty="0"/>
              <a:t>6–96</a:t>
            </a:r>
            <a:r>
              <a:rPr lang="en-US" dirty="0"/>
              <a:t> of these encoder or decoder blocks.</a:t>
            </a:r>
          </a:p>
        </p:txBody>
      </p:sp>
    </p:spTree>
    <p:extLst>
      <p:ext uri="{BB962C8B-B14F-4D97-AF65-F5344CB8AC3E}">
        <p14:creationId xmlns:p14="http://schemas.microsoft.com/office/powerpoint/2010/main" val="3952181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90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Core Components of a </a:t>
            </a:r>
            <a:r>
              <a:rPr lang="en-US" b="1" dirty="0" smtClean="0"/>
              <a:t>Transformer (p8)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12559" y="1722670"/>
            <a:ext cx="99607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Output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For </a:t>
            </a:r>
            <a:r>
              <a:rPr lang="en-US" dirty="0"/>
              <a:t>classification tasks (like BERT), the final token representations are passed to a classifier.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 For </a:t>
            </a:r>
            <a:r>
              <a:rPr lang="en-US" dirty="0"/>
              <a:t>generation tasks (like GPT), the decoder predicts the next word/token step-by-step.</a:t>
            </a:r>
          </a:p>
        </p:txBody>
      </p:sp>
    </p:spTree>
    <p:extLst>
      <p:ext uri="{BB962C8B-B14F-4D97-AF65-F5344CB8AC3E}">
        <p14:creationId xmlns:p14="http://schemas.microsoft.com/office/powerpoint/2010/main" val="2993750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827" y="365126"/>
            <a:ext cx="8181513" cy="797850"/>
          </a:xfrm>
        </p:spPr>
        <p:txBody>
          <a:bodyPr/>
          <a:lstStyle/>
          <a:p>
            <a:r>
              <a:rPr lang="en-US" b="1" dirty="0"/>
              <a:t>Transformer </a:t>
            </a:r>
            <a:r>
              <a:rPr lang="en-US" b="1" dirty="0" smtClean="0"/>
              <a:t>Families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23928"/>
          </a:xfrm>
        </p:spPr>
        <p:txBody>
          <a:bodyPr/>
          <a:lstStyle/>
          <a:p>
            <a:r>
              <a:rPr lang="en-US" b="1" dirty="0" smtClean="0"/>
              <a:t>BERT</a:t>
            </a:r>
            <a:r>
              <a:rPr lang="en-US" dirty="0" smtClean="0"/>
              <a:t> </a:t>
            </a:r>
            <a:r>
              <a:rPr lang="en-US" dirty="0"/>
              <a:t>– Encoder-only (understanding)</a:t>
            </a:r>
          </a:p>
          <a:p>
            <a:r>
              <a:rPr lang="en-US" b="1" dirty="0"/>
              <a:t>GPT</a:t>
            </a:r>
            <a:r>
              <a:rPr lang="en-US" dirty="0"/>
              <a:t> – Decoder-only (generation)</a:t>
            </a:r>
          </a:p>
          <a:p>
            <a:r>
              <a:rPr lang="en-US" b="1" dirty="0"/>
              <a:t>T5 / BART</a:t>
            </a:r>
            <a:r>
              <a:rPr lang="en-US" dirty="0"/>
              <a:t> – Encoder-decoder (translation, summarization)</a:t>
            </a:r>
          </a:p>
          <a:p>
            <a:r>
              <a:rPr lang="en-US" b="1" dirty="0" err="1"/>
              <a:t>ViT</a:t>
            </a:r>
            <a:r>
              <a:rPr lang="en-US" dirty="0"/>
              <a:t> – Transformer in vision</a:t>
            </a:r>
          </a:p>
          <a:p>
            <a:r>
              <a:rPr lang="en-US" b="1" dirty="0"/>
              <a:t>Recent Giants</a:t>
            </a:r>
            <a:r>
              <a:rPr lang="en-US" dirty="0"/>
              <a:t> – GPT-3, GPT-4, </a:t>
            </a:r>
            <a:r>
              <a:rPr lang="en-US" dirty="0" err="1"/>
              <a:t>PaLM</a:t>
            </a:r>
            <a:r>
              <a:rPr lang="en-US" dirty="0"/>
              <a:t>, Gemini, </a:t>
            </a:r>
            <a:r>
              <a:rPr lang="en-US" dirty="0" err="1"/>
              <a:t>LLaMA</a:t>
            </a:r>
            <a:r>
              <a:rPr lang="en-US" dirty="0"/>
              <a:t>, Claude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122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Pros &amp; Cons (5 </a:t>
            </a:r>
            <a:r>
              <a:rPr lang="en-US" b="1" dirty="0" err="1"/>
              <a:t>mins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Pros</a:t>
            </a:r>
            <a:endParaRPr lang="en-US" b="1" dirty="0"/>
          </a:p>
          <a:p>
            <a:r>
              <a:rPr lang="en-US" dirty="0"/>
              <a:t>Parallel processing</a:t>
            </a:r>
          </a:p>
          <a:p>
            <a:r>
              <a:rPr lang="en-US" dirty="0"/>
              <a:t>Better long-range understanding</a:t>
            </a:r>
          </a:p>
          <a:p>
            <a:r>
              <a:rPr lang="en-US" dirty="0"/>
              <a:t>Scalable</a:t>
            </a:r>
          </a:p>
          <a:p>
            <a:pPr marL="0" indent="0">
              <a:buNone/>
            </a:pPr>
            <a:r>
              <a:rPr lang="en-US" b="1" dirty="0" smtClean="0"/>
              <a:t>Cons</a:t>
            </a:r>
            <a:endParaRPr lang="en-US" b="1" dirty="0"/>
          </a:p>
          <a:p>
            <a:r>
              <a:rPr lang="en-US" dirty="0"/>
              <a:t>Requires large data</a:t>
            </a:r>
          </a:p>
          <a:p>
            <a:r>
              <a:rPr lang="en-US" dirty="0"/>
              <a:t>Expensive training (GPU/TPU)</a:t>
            </a:r>
          </a:p>
          <a:p>
            <a:r>
              <a:rPr lang="en-US" dirty="0"/>
              <a:t>Not interpretable out of the box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068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717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AI Transformers</vt:lpstr>
      <vt:lpstr>PowerPoint Presentation</vt:lpstr>
      <vt:lpstr>Definition</vt:lpstr>
      <vt:lpstr>PowerPoint Presentation</vt:lpstr>
      <vt:lpstr>Applications (Where are Transformers used?)</vt:lpstr>
      <vt:lpstr>Core Components of a Transformer(p1)</vt:lpstr>
      <vt:lpstr>Core Components of a Transformer (p2)</vt:lpstr>
      <vt:lpstr>Core Components of a Transformer (p3)</vt:lpstr>
      <vt:lpstr>Core Components of a Transformer (p4)</vt:lpstr>
      <vt:lpstr>Core Components of a Transformer (p5)</vt:lpstr>
      <vt:lpstr>Core Components of a Transformer (p6)</vt:lpstr>
      <vt:lpstr>Core Components of a Transformer (p7)</vt:lpstr>
      <vt:lpstr>Core Components of a Transformer (p8)</vt:lpstr>
      <vt:lpstr>Transformer Families</vt:lpstr>
      <vt:lpstr>Pros &amp; Cons (5 mins)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Transformers</dc:title>
  <dc:creator>hi</dc:creator>
  <cp:lastModifiedBy>hi</cp:lastModifiedBy>
  <cp:revision>28</cp:revision>
  <dcterms:created xsi:type="dcterms:W3CDTF">2025-03-21T18:06:39Z</dcterms:created>
  <dcterms:modified xsi:type="dcterms:W3CDTF">2025-06-19T12:31:36Z</dcterms:modified>
</cp:coreProperties>
</file>