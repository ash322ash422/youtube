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8" r:id="rId3"/>
    <p:sldId id="262" r:id="rId4"/>
    <p:sldId id="272" r:id="rId5"/>
    <p:sldId id="273" r:id="rId6"/>
    <p:sldId id="257" r:id="rId7"/>
    <p:sldId id="259" r:id="rId8"/>
    <p:sldId id="274" r:id="rId9"/>
    <p:sldId id="280" r:id="rId10"/>
    <p:sldId id="279" r:id="rId11"/>
    <p:sldId id="281" r:id="rId12"/>
    <p:sldId id="258" r:id="rId13"/>
    <p:sldId id="263" r:id="rId14"/>
    <p:sldId id="270" r:id="rId15"/>
    <p:sldId id="271" r:id="rId16"/>
    <p:sldId id="261" r:id="rId17"/>
    <p:sldId id="277" r:id="rId18"/>
    <p:sldId id="276" r:id="rId19"/>
    <p:sldId id="275" r:id="rId20"/>
    <p:sldId id="264" r:id="rId21"/>
    <p:sldId id="282" r:id="rId22"/>
    <p:sldId id="265" r:id="rId23"/>
    <p:sldId id="266" r:id="rId24"/>
    <p:sldId id="267" r:id="rId25"/>
    <p:sldId id="268" r:id="rId26"/>
    <p:sldId id="269"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731" autoAdjust="0"/>
  </p:normalViewPr>
  <p:slideViewPr>
    <p:cSldViewPr snapToGrid="0">
      <p:cViewPr varScale="1">
        <p:scale>
          <a:sx n="108" d="100"/>
          <a:sy n="108" d="100"/>
        </p:scale>
        <p:origin x="714"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BC911E-BA4D-52EF-0549-B71BF531664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0CC4469-C8B5-573B-58AC-86E09B72067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52203FB-75D4-C751-DDD2-BCE8E8AD260E}"/>
              </a:ext>
            </a:extLst>
          </p:cNvPr>
          <p:cNvSpPr>
            <a:spLocks noGrp="1"/>
          </p:cNvSpPr>
          <p:nvPr>
            <p:ph type="dt" sz="half" idx="10"/>
          </p:nvPr>
        </p:nvSpPr>
        <p:spPr/>
        <p:txBody>
          <a:bodyPr/>
          <a:lstStyle/>
          <a:p>
            <a:fld id="{4565A654-9D0C-4DAA-B381-92628E1C236C}" type="datetimeFigureOut">
              <a:rPr lang="en-IN" smtClean="0"/>
              <a:t>10-05-2025</a:t>
            </a:fld>
            <a:endParaRPr lang="en-IN"/>
          </a:p>
        </p:txBody>
      </p:sp>
      <p:sp>
        <p:nvSpPr>
          <p:cNvPr id="5" name="Footer Placeholder 4">
            <a:extLst>
              <a:ext uri="{FF2B5EF4-FFF2-40B4-BE49-F238E27FC236}">
                <a16:creationId xmlns:a16="http://schemas.microsoft.com/office/drawing/2014/main" id="{FC26F5B0-3C63-DC28-632B-D6E5BBF8B8A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961C8FE-9D0D-98BE-72F7-E4BE69A6F30A}"/>
              </a:ext>
            </a:extLst>
          </p:cNvPr>
          <p:cNvSpPr>
            <a:spLocks noGrp="1"/>
          </p:cNvSpPr>
          <p:nvPr>
            <p:ph type="sldNum" sz="quarter" idx="12"/>
          </p:nvPr>
        </p:nvSpPr>
        <p:spPr/>
        <p:txBody>
          <a:bodyPr/>
          <a:lstStyle/>
          <a:p>
            <a:fld id="{11037FFC-58BA-4495-9B99-C86A89ED7E51}" type="slidenum">
              <a:rPr lang="en-IN" smtClean="0"/>
              <a:t>‹#›</a:t>
            </a:fld>
            <a:endParaRPr lang="en-IN"/>
          </a:p>
        </p:txBody>
      </p:sp>
    </p:spTree>
    <p:extLst>
      <p:ext uri="{BB962C8B-B14F-4D97-AF65-F5344CB8AC3E}">
        <p14:creationId xmlns:p14="http://schemas.microsoft.com/office/powerpoint/2010/main" val="38821139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2C9AD2-70A8-F7B7-176D-5F9E5D08408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89C2D18-7E63-6392-CC11-12946F92007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0F30052-674A-1D02-5226-1DB6ECC7F74E}"/>
              </a:ext>
            </a:extLst>
          </p:cNvPr>
          <p:cNvSpPr>
            <a:spLocks noGrp="1"/>
          </p:cNvSpPr>
          <p:nvPr>
            <p:ph type="dt" sz="half" idx="10"/>
          </p:nvPr>
        </p:nvSpPr>
        <p:spPr/>
        <p:txBody>
          <a:bodyPr/>
          <a:lstStyle/>
          <a:p>
            <a:fld id="{4565A654-9D0C-4DAA-B381-92628E1C236C}" type="datetimeFigureOut">
              <a:rPr lang="en-IN" smtClean="0"/>
              <a:t>10-05-2025</a:t>
            </a:fld>
            <a:endParaRPr lang="en-IN"/>
          </a:p>
        </p:txBody>
      </p:sp>
      <p:sp>
        <p:nvSpPr>
          <p:cNvPr id="5" name="Footer Placeholder 4">
            <a:extLst>
              <a:ext uri="{FF2B5EF4-FFF2-40B4-BE49-F238E27FC236}">
                <a16:creationId xmlns:a16="http://schemas.microsoft.com/office/drawing/2014/main" id="{279B2242-912C-8E8F-95B5-4DFBB9182EC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10E43FE-F171-0ED4-3614-6BDC17E665DD}"/>
              </a:ext>
            </a:extLst>
          </p:cNvPr>
          <p:cNvSpPr>
            <a:spLocks noGrp="1"/>
          </p:cNvSpPr>
          <p:nvPr>
            <p:ph type="sldNum" sz="quarter" idx="12"/>
          </p:nvPr>
        </p:nvSpPr>
        <p:spPr/>
        <p:txBody>
          <a:bodyPr/>
          <a:lstStyle/>
          <a:p>
            <a:fld id="{11037FFC-58BA-4495-9B99-C86A89ED7E51}" type="slidenum">
              <a:rPr lang="en-IN" smtClean="0"/>
              <a:t>‹#›</a:t>
            </a:fld>
            <a:endParaRPr lang="en-IN"/>
          </a:p>
        </p:txBody>
      </p:sp>
    </p:spTree>
    <p:extLst>
      <p:ext uri="{BB962C8B-B14F-4D97-AF65-F5344CB8AC3E}">
        <p14:creationId xmlns:p14="http://schemas.microsoft.com/office/powerpoint/2010/main" val="27903370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CF113E-688D-42F1-24A9-806C33C8CCA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4BE9CDF-F890-308B-60D4-C671C9966A7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4A68178-FF2D-C11E-CCAE-C43AF624481D}"/>
              </a:ext>
            </a:extLst>
          </p:cNvPr>
          <p:cNvSpPr>
            <a:spLocks noGrp="1"/>
          </p:cNvSpPr>
          <p:nvPr>
            <p:ph type="dt" sz="half" idx="10"/>
          </p:nvPr>
        </p:nvSpPr>
        <p:spPr/>
        <p:txBody>
          <a:bodyPr/>
          <a:lstStyle/>
          <a:p>
            <a:fld id="{4565A654-9D0C-4DAA-B381-92628E1C236C}" type="datetimeFigureOut">
              <a:rPr lang="en-IN" smtClean="0"/>
              <a:t>10-05-2025</a:t>
            </a:fld>
            <a:endParaRPr lang="en-IN"/>
          </a:p>
        </p:txBody>
      </p:sp>
      <p:sp>
        <p:nvSpPr>
          <p:cNvPr id="5" name="Footer Placeholder 4">
            <a:extLst>
              <a:ext uri="{FF2B5EF4-FFF2-40B4-BE49-F238E27FC236}">
                <a16:creationId xmlns:a16="http://schemas.microsoft.com/office/drawing/2014/main" id="{37DEFDD0-0E54-F34E-576E-8E710CA4D91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4F5145F-93B5-8FB9-C2D9-1E4F11C21DE4}"/>
              </a:ext>
            </a:extLst>
          </p:cNvPr>
          <p:cNvSpPr>
            <a:spLocks noGrp="1"/>
          </p:cNvSpPr>
          <p:nvPr>
            <p:ph type="sldNum" sz="quarter" idx="12"/>
          </p:nvPr>
        </p:nvSpPr>
        <p:spPr/>
        <p:txBody>
          <a:bodyPr/>
          <a:lstStyle/>
          <a:p>
            <a:fld id="{11037FFC-58BA-4495-9B99-C86A89ED7E51}" type="slidenum">
              <a:rPr lang="en-IN" smtClean="0"/>
              <a:t>‹#›</a:t>
            </a:fld>
            <a:endParaRPr lang="en-IN"/>
          </a:p>
        </p:txBody>
      </p:sp>
    </p:spTree>
    <p:extLst>
      <p:ext uri="{BB962C8B-B14F-4D97-AF65-F5344CB8AC3E}">
        <p14:creationId xmlns:p14="http://schemas.microsoft.com/office/powerpoint/2010/main" val="11479693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319B07-C178-2B7A-8B68-BDFE03E33B2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974A435-1696-624A-A2C2-43A5E230380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B243E66-FB0C-6622-3BF1-1B56CE408D4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D8EF9E8-B1FF-66F8-F9F5-569D3512B7C3}"/>
              </a:ext>
            </a:extLst>
          </p:cNvPr>
          <p:cNvSpPr>
            <a:spLocks noGrp="1"/>
          </p:cNvSpPr>
          <p:nvPr>
            <p:ph type="dt" sz="half" idx="10"/>
          </p:nvPr>
        </p:nvSpPr>
        <p:spPr/>
        <p:txBody>
          <a:bodyPr/>
          <a:lstStyle/>
          <a:p>
            <a:fld id="{4565A654-9D0C-4DAA-B381-92628E1C236C}" type="datetimeFigureOut">
              <a:rPr lang="en-IN" smtClean="0"/>
              <a:t>10-05-2025</a:t>
            </a:fld>
            <a:endParaRPr lang="en-IN"/>
          </a:p>
        </p:txBody>
      </p:sp>
      <p:sp>
        <p:nvSpPr>
          <p:cNvPr id="6" name="Footer Placeholder 5">
            <a:extLst>
              <a:ext uri="{FF2B5EF4-FFF2-40B4-BE49-F238E27FC236}">
                <a16:creationId xmlns:a16="http://schemas.microsoft.com/office/drawing/2014/main" id="{3D141EC8-1FD6-93B8-5C57-319DC5EF0E1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83F91B6-80C5-808A-5793-B3FB4FCCAE7B}"/>
              </a:ext>
            </a:extLst>
          </p:cNvPr>
          <p:cNvSpPr>
            <a:spLocks noGrp="1"/>
          </p:cNvSpPr>
          <p:nvPr>
            <p:ph type="sldNum" sz="quarter" idx="12"/>
          </p:nvPr>
        </p:nvSpPr>
        <p:spPr/>
        <p:txBody>
          <a:bodyPr/>
          <a:lstStyle/>
          <a:p>
            <a:fld id="{11037FFC-58BA-4495-9B99-C86A89ED7E51}" type="slidenum">
              <a:rPr lang="en-IN" smtClean="0"/>
              <a:t>‹#›</a:t>
            </a:fld>
            <a:endParaRPr lang="en-IN"/>
          </a:p>
        </p:txBody>
      </p:sp>
    </p:spTree>
    <p:extLst>
      <p:ext uri="{BB962C8B-B14F-4D97-AF65-F5344CB8AC3E}">
        <p14:creationId xmlns:p14="http://schemas.microsoft.com/office/powerpoint/2010/main" val="32348516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A76FCC-6465-FDEB-A3A5-0BAABE2A05E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34C3DFD-6AE1-A9C3-5C39-1BC54F0741C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81B46A9-570C-079D-737C-031E88D0F56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040854F-EA26-7BEE-D556-B9648FF6F16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18EBAEB-B586-EC54-9CC0-E96E6295D5B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049FCB2-E0B7-C5B4-2925-7712AEA71DAC}"/>
              </a:ext>
            </a:extLst>
          </p:cNvPr>
          <p:cNvSpPr>
            <a:spLocks noGrp="1"/>
          </p:cNvSpPr>
          <p:nvPr>
            <p:ph type="dt" sz="half" idx="10"/>
          </p:nvPr>
        </p:nvSpPr>
        <p:spPr/>
        <p:txBody>
          <a:bodyPr/>
          <a:lstStyle/>
          <a:p>
            <a:fld id="{4565A654-9D0C-4DAA-B381-92628E1C236C}" type="datetimeFigureOut">
              <a:rPr lang="en-IN" smtClean="0"/>
              <a:t>10-05-2025</a:t>
            </a:fld>
            <a:endParaRPr lang="en-IN"/>
          </a:p>
        </p:txBody>
      </p:sp>
      <p:sp>
        <p:nvSpPr>
          <p:cNvPr id="8" name="Footer Placeholder 7">
            <a:extLst>
              <a:ext uri="{FF2B5EF4-FFF2-40B4-BE49-F238E27FC236}">
                <a16:creationId xmlns:a16="http://schemas.microsoft.com/office/drawing/2014/main" id="{1D9F6318-6F67-2A0C-DBDD-CDAF3AE1818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9458A5E-0DA2-0D10-0741-E370929A0749}"/>
              </a:ext>
            </a:extLst>
          </p:cNvPr>
          <p:cNvSpPr>
            <a:spLocks noGrp="1"/>
          </p:cNvSpPr>
          <p:nvPr>
            <p:ph type="sldNum" sz="quarter" idx="12"/>
          </p:nvPr>
        </p:nvSpPr>
        <p:spPr/>
        <p:txBody>
          <a:bodyPr/>
          <a:lstStyle/>
          <a:p>
            <a:fld id="{11037FFC-58BA-4495-9B99-C86A89ED7E51}" type="slidenum">
              <a:rPr lang="en-IN" smtClean="0"/>
              <a:t>‹#›</a:t>
            </a:fld>
            <a:endParaRPr lang="en-IN"/>
          </a:p>
        </p:txBody>
      </p:sp>
    </p:spTree>
    <p:extLst>
      <p:ext uri="{BB962C8B-B14F-4D97-AF65-F5344CB8AC3E}">
        <p14:creationId xmlns:p14="http://schemas.microsoft.com/office/powerpoint/2010/main" val="38528296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19D879-9936-09F2-DE21-2C48EA94856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240A706-BCB5-801C-4639-16C13BE307D4}"/>
              </a:ext>
            </a:extLst>
          </p:cNvPr>
          <p:cNvSpPr>
            <a:spLocks noGrp="1"/>
          </p:cNvSpPr>
          <p:nvPr>
            <p:ph type="dt" sz="half" idx="10"/>
          </p:nvPr>
        </p:nvSpPr>
        <p:spPr/>
        <p:txBody>
          <a:bodyPr/>
          <a:lstStyle/>
          <a:p>
            <a:fld id="{4565A654-9D0C-4DAA-B381-92628E1C236C}" type="datetimeFigureOut">
              <a:rPr lang="en-IN" smtClean="0"/>
              <a:t>10-05-2025</a:t>
            </a:fld>
            <a:endParaRPr lang="en-IN"/>
          </a:p>
        </p:txBody>
      </p:sp>
      <p:sp>
        <p:nvSpPr>
          <p:cNvPr id="4" name="Footer Placeholder 3">
            <a:extLst>
              <a:ext uri="{FF2B5EF4-FFF2-40B4-BE49-F238E27FC236}">
                <a16:creationId xmlns:a16="http://schemas.microsoft.com/office/drawing/2014/main" id="{9741DE95-3BD6-434A-9F07-5F83B163A03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E24D211-0D64-2DF8-922A-37A09CA12E52}"/>
              </a:ext>
            </a:extLst>
          </p:cNvPr>
          <p:cNvSpPr>
            <a:spLocks noGrp="1"/>
          </p:cNvSpPr>
          <p:nvPr>
            <p:ph type="sldNum" sz="quarter" idx="12"/>
          </p:nvPr>
        </p:nvSpPr>
        <p:spPr/>
        <p:txBody>
          <a:bodyPr/>
          <a:lstStyle/>
          <a:p>
            <a:fld id="{11037FFC-58BA-4495-9B99-C86A89ED7E51}" type="slidenum">
              <a:rPr lang="en-IN" smtClean="0"/>
              <a:t>‹#›</a:t>
            </a:fld>
            <a:endParaRPr lang="en-IN"/>
          </a:p>
        </p:txBody>
      </p:sp>
    </p:spTree>
    <p:extLst>
      <p:ext uri="{BB962C8B-B14F-4D97-AF65-F5344CB8AC3E}">
        <p14:creationId xmlns:p14="http://schemas.microsoft.com/office/powerpoint/2010/main" val="26748274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87C9BB0-C317-4AC7-B6C7-607ED04BF461}"/>
              </a:ext>
            </a:extLst>
          </p:cNvPr>
          <p:cNvSpPr>
            <a:spLocks noGrp="1"/>
          </p:cNvSpPr>
          <p:nvPr>
            <p:ph type="dt" sz="half" idx="10"/>
          </p:nvPr>
        </p:nvSpPr>
        <p:spPr/>
        <p:txBody>
          <a:bodyPr/>
          <a:lstStyle/>
          <a:p>
            <a:fld id="{4565A654-9D0C-4DAA-B381-92628E1C236C}" type="datetimeFigureOut">
              <a:rPr lang="en-IN" smtClean="0"/>
              <a:t>10-05-2025</a:t>
            </a:fld>
            <a:endParaRPr lang="en-IN"/>
          </a:p>
        </p:txBody>
      </p:sp>
      <p:sp>
        <p:nvSpPr>
          <p:cNvPr id="3" name="Footer Placeholder 2">
            <a:extLst>
              <a:ext uri="{FF2B5EF4-FFF2-40B4-BE49-F238E27FC236}">
                <a16:creationId xmlns:a16="http://schemas.microsoft.com/office/drawing/2014/main" id="{789041FB-9430-1AD3-9BBA-2A6559B1EA0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4731A02-5D31-E9E1-4323-16E98744B6FC}"/>
              </a:ext>
            </a:extLst>
          </p:cNvPr>
          <p:cNvSpPr>
            <a:spLocks noGrp="1"/>
          </p:cNvSpPr>
          <p:nvPr>
            <p:ph type="sldNum" sz="quarter" idx="12"/>
          </p:nvPr>
        </p:nvSpPr>
        <p:spPr/>
        <p:txBody>
          <a:bodyPr/>
          <a:lstStyle/>
          <a:p>
            <a:fld id="{11037FFC-58BA-4495-9B99-C86A89ED7E51}" type="slidenum">
              <a:rPr lang="en-IN" smtClean="0"/>
              <a:t>‹#›</a:t>
            </a:fld>
            <a:endParaRPr lang="en-IN"/>
          </a:p>
        </p:txBody>
      </p:sp>
    </p:spTree>
    <p:extLst>
      <p:ext uri="{BB962C8B-B14F-4D97-AF65-F5344CB8AC3E}">
        <p14:creationId xmlns:p14="http://schemas.microsoft.com/office/powerpoint/2010/main" val="42707463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13F539-D391-D591-5761-D5C75E71D14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4F9368C-7F8E-9D03-AF85-72B9BACFED2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A5F4C9A-F9CC-C556-D9B7-632E7F80A9D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3940054-AC8F-82D3-C67C-D982B74E36E0}"/>
              </a:ext>
            </a:extLst>
          </p:cNvPr>
          <p:cNvSpPr>
            <a:spLocks noGrp="1"/>
          </p:cNvSpPr>
          <p:nvPr>
            <p:ph type="dt" sz="half" idx="10"/>
          </p:nvPr>
        </p:nvSpPr>
        <p:spPr/>
        <p:txBody>
          <a:bodyPr/>
          <a:lstStyle/>
          <a:p>
            <a:fld id="{4565A654-9D0C-4DAA-B381-92628E1C236C}" type="datetimeFigureOut">
              <a:rPr lang="en-IN" smtClean="0"/>
              <a:t>10-05-2025</a:t>
            </a:fld>
            <a:endParaRPr lang="en-IN"/>
          </a:p>
        </p:txBody>
      </p:sp>
      <p:sp>
        <p:nvSpPr>
          <p:cNvPr id="6" name="Footer Placeholder 5">
            <a:extLst>
              <a:ext uri="{FF2B5EF4-FFF2-40B4-BE49-F238E27FC236}">
                <a16:creationId xmlns:a16="http://schemas.microsoft.com/office/drawing/2014/main" id="{13F5D37F-E0AE-D665-208E-090EFBF74D2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9796F54-F13A-3B40-FC08-3C30C23B3537}"/>
              </a:ext>
            </a:extLst>
          </p:cNvPr>
          <p:cNvSpPr>
            <a:spLocks noGrp="1"/>
          </p:cNvSpPr>
          <p:nvPr>
            <p:ph type="sldNum" sz="quarter" idx="12"/>
          </p:nvPr>
        </p:nvSpPr>
        <p:spPr/>
        <p:txBody>
          <a:bodyPr/>
          <a:lstStyle/>
          <a:p>
            <a:fld id="{11037FFC-58BA-4495-9B99-C86A89ED7E51}" type="slidenum">
              <a:rPr lang="en-IN" smtClean="0"/>
              <a:t>‹#›</a:t>
            </a:fld>
            <a:endParaRPr lang="en-IN"/>
          </a:p>
        </p:txBody>
      </p:sp>
    </p:spTree>
    <p:extLst>
      <p:ext uri="{BB962C8B-B14F-4D97-AF65-F5344CB8AC3E}">
        <p14:creationId xmlns:p14="http://schemas.microsoft.com/office/powerpoint/2010/main" val="36714290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3FC35B-00B3-CD66-6638-C0039881A5A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138FE88-5F80-B278-FFEE-3F561EB960C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79CEBD8-3DDA-7016-DB2A-1CF3D9CA47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F5363BD-66A4-4E09-0101-FBAABC000F02}"/>
              </a:ext>
            </a:extLst>
          </p:cNvPr>
          <p:cNvSpPr>
            <a:spLocks noGrp="1"/>
          </p:cNvSpPr>
          <p:nvPr>
            <p:ph type="dt" sz="half" idx="10"/>
          </p:nvPr>
        </p:nvSpPr>
        <p:spPr/>
        <p:txBody>
          <a:bodyPr/>
          <a:lstStyle/>
          <a:p>
            <a:fld id="{4565A654-9D0C-4DAA-B381-92628E1C236C}" type="datetimeFigureOut">
              <a:rPr lang="en-IN" smtClean="0"/>
              <a:t>10-05-2025</a:t>
            </a:fld>
            <a:endParaRPr lang="en-IN"/>
          </a:p>
        </p:txBody>
      </p:sp>
      <p:sp>
        <p:nvSpPr>
          <p:cNvPr id="6" name="Footer Placeholder 5">
            <a:extLst>
              <a:ext uri="{FF2B5EF4-FFF2-40B4-BE49-F238E27FC236}">
                <a16:creationId xmlns:a16="http://schemas.microsoft.com/office/drawing/2014/main" id="{C3B4A633-D3C4-EDCC-9BA2-99C906239A5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ECCC804-5ACC-2526-6F0D-D4835BCAA9E2}"/>
              </a:ext>
            </a:extLst>
          </p:cNvPr>
          <p:cNvSpPr>
            <a:spLocks noGrp="1"/>
          </p:cNvSpPr>
          <p:nvPr>
            <p:ph type="sldNum" sz="quarter" idx="12"/>
          </p:nvPr>
        </p:nvSpPr>
        <p:spPr/>
        <p:txBody>
          <a:bodyPr/>
          <a:lstStyle/>
          <a:p>
            <a:fld id="{11037FFC-58BA-4495-9B99-C86A89ED7E51}" type="slidenum">
              <a:rPr lang="en-IN" smtClean="0"/>
              <a:t>‹#›</a:t>
            </a:fld>
            <a:endParaRPr lang="en-IN"/>
          </a:p>
        </p:txBody>
      </p:sp>
    </p:spTree>
    <p:extLst>
      <p:ext uri="{BB962C8B-B14F-4D97-AF65-F5344CB8AC3E}">
        <p14:creationId xmlns:p14="http://schemas.microsoft.com/office/powerpoint/2010/main" val="41149358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E4999-D914-AFCC-83FA-F4C22A03F7D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EAE30BE-203D-223A-4A14-5AB145308A5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3CB918B-CC91-944F-00FA-EC313AAD2E63}"/>
              </a:ext>
            </a:extLst>
          </p:cNvPr>
          <p:cNvSpPr>
            <a:spLocks noGrp="1"/>
          </p:cNvSpPr>
          <p:nvPr>
            <p:ph type="dt" sz="half" idx="10"/>
          </p:nvPr>
        </p:nvSpPr>
        <p:spPr/>
        <p:txBody>
          <a:bodyPr/>
          <a:lstStyle/>
          <a:p>
            <a:fld id="{4565A654-9D0C-4DAA-B381-92628E1C236C}" type="datetimeFigureOut">
              <a:rPr lang="en-IN" smtClean="0"/>
              <a:t>10-05-2025</a:t>
            </a:fld>
            <a:endParaRPr lang="en-IN"/>
          </a:p>
        </p:txBody>
      </p:sp>
      <p:sp>
        <p:nvSpPr>
          <p:cNvPr id="5" name="Footer Placeholder 4">
            <a:extLst>
              <a:ext uri="{FF2B5EF4-FFF2-40B4-BE49-F238E27FC236}">
                <a16:creationId xmlns:a16="http://schemas.microsoft.com/office/drawing/2014/main" id="{A4AD8EE1-A59F-58E6-4BB8-1C5FD087B9A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84585A1-541D-6D75-9E1E-1F7E754582FC}"/>
              </a:ext>
            </a:extLst>
          </p:cNvPr>
          <p:cNvSpPr>
            <a:spLocks noGrp="1"/>
          </p:cNvSpPr>
          <p:nvPr>
            <p:ph type="sldNum" sz="quarter" idx="12"/>
          </p:nvPr>
        </p:nvSpPr>
        <p:spPr/>
        <p:txBody>
          <a:bodyPr/>
          <a:lstStyle/>
          <a:p>
            <a:fld id="{11037FFC-58BA-4495-9B99-C86A89ED7E51}" type="slidenum">
              <a:rPr lang="en-IN" smtClean="0"/>
              <a:t>‹#›</a:t>
            </a:fld>
            <a:endParaRPr lang="en-IN"/>
          </a:p>
        </p:txBody>
      </p:sp>
    </p:spTree>
    <p:extLst>
      <p:ext uri="{BB962C8B-B14F-4D97-AF65-F5344CB8AC3E}">
        <p14:creationId xmlns:p14="http://schemas.microsoft.com/office/powerpoint/2010/main" val="32408383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5356B5D-C8D8-ECCC-3BB0-1426739D349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A206E72-CD9D-B473-C978-CD7A328D36A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19718C5-F777-7FB5-F11D-F9D5779984ED}"/>
              </a:ext>
            </a:extLst>
          </p:cNvPr>
          <p:cNvSpPr>
            <a:spLocks noGrp="1"/>
          </p:cNvSpPr>
          <p:nvPr>
            <p:ph type="dt" sz="half" idx="10"/>
          </p:nvPr>
        </p:nvSpPr>
        <p:spPr/>
        <p:txBody>
          <a:bodyPr/>
          <a:lstStyle/>
          <a:p>
            <a:fld id="{4565A654-9D0C-4DAA-B381-92628E1C236C}" type="datetimeFigureOut">
              <a:rPr lang="en-IN" smtClean="0"/>
              <a:t>10-05-2025</a:t>
            </a:fld>
            <a:endParaRPr lang="en-IN"/>
          </a:p>
        </p:txBody>
      </p:sp>
      <p:sp>
        <p:nvSpPr>
          <p:cNvPr id="5" name="Footer Placeholder 4">
            <a:extLst>
              <a:ext uri="{FF2B5EF4-FFF2-40B4-BE49-F238E27FC236}">
                <a16:creationId xmlns:a16="http://schemas.microsoft.com/office/drawing/2014/main" id="{51BF4AFF-FC8A-1549-F007-E08A4E4B5D5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A1505D3-2538-6F07-FCBB-72B5D88C7E68}"/>
              </a:ext>
            </a:extLst>
          </p:cNvPr>
          <p:cNvSpPr>
            <a:spLocks noGrp="1"/>
          </p:cNvSpPr>
          <p:nvPr>
            <p:ph type="sldNum" sz="quarter" idx="12"/>
          </p:nvPr>
        </p:nvSpPr>
        <p:spPr/>
        <p:txBody>
          <a:bodyPr/>
          <a:lstStyle/>
          <a:p>
            <a:fld id="{11037FFC-58BA-4495-9B99-C86A89ED7E51}" type="slidenum">
              <a:rPr lang="en-IN" smtClean="0"/>
              <a:t>‹#›</a:t>
            </a:fld>
            <a:endParaRPr lang="en-IN"/>
          </a:p>
        </p:txBody>
      </p:sp>
    </p:spTree>
    <p:extLst>
      <p:ext uri="{BB962C8B-B14F-4D97-AF65-F5344CB8AC3E}">
        <p14:creationId xmlns:p14="http://schemas.microsoft.com/office/powerpoint/2010/main" val="13133546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DFB4D10-2244-A63B-A7C2-C712C2D1F55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CF3F54E-CCA1-2794-AD6B-33306033BC7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BBCC7E9-5E97-7D9A-80F7-C11F71B75BD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565A654-9D0C-4DAA-B381-92628E1C236C}" type="datetimeFigureOut">
              <a:rPr lang="en-IN" smtClean="0"/>
              <a:t>10-05-2025</a:t>
            </a:fld>
            <a:endParaRPr lang="en-IN"/>
          </a:p>
        </p:txBody>
      </p:sp>
      <p:sp>
        <p:nvSpPr>
          <p:cNvPr id="5" name="Footer Placeholder 4">
            <a:extLst>
              <a:ext uri="{FF2B5EF4-FFF2-40B4-BE49-F238E27FC236}">
                <a16:creationId xmlns:a16="http://schemas.microsoft.com/office/drawing/2014/main" id="{B952BDFE-DBE2-2CB5-69A1-EA11BFD25A1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6B6F177B-B754-EC0D-F292-F5747AEE7A1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1037FFC-58BA-4495-9B99-C86A89ED7E51}" type="slidenum">
              <a:rPr lang="en-IN" smtClean="0"/>
              <a:t>‹#›</a:t>
            </a:fld>
            <a:endParaRPr lang="en-IN"/>
          </a:p>
        </p:txBody>
      </p:sp>
    </p:spTree>
    <p:extLst>
      <p:ext uri="{BB962C8B-B14F-4D97-AF65-F5344CB8AC3E}">
        <p14:creationId xmlns:p14="http://schemas.microsoft.com/office/powerpoint/2010/main" val="6434433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dennybritz.com/posts/wildml/recurrent-neural-networks-tutorial-part-1/"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www.analyticsvidhya.com/blog/2023/08/generative-ai-music-generators/#:~:text=AI%20Music%20Generation%20is%20the,composed%2C%20produced%2C%20and%20enjoyed." TargetMode="External"/><Relationship Id="rId2" Type="http://schemas.openxmlformats.org/officeDocument/2006/relationships/hyperlink" Target="https://www.analyticsvidhya.com/blog/2018/10/predicting-stock-price-machine-learningnd-deep-learning-techniques-python/"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www.analyticsvidhya.com/blog/2022/01/feedforward-neural-network-its-layers-functions-and-importance/" TargetMode="External"/><Relationship Id="rId2" Type="http://schemas.openxmlformats.org/officeDocument/2006/relationships/hyperlink" Target="https://brilliant.org/wiki/artificial-neural-network" TargetMode="Externa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builtin.com/artificial-intelligence/ai-music-examples" TargetMode="External"/><Relationship Id="rId7" Type="http://schemas.openxmlformats.org/officeDocument/2006/relationships/hyperlink" Target="https://builtin.com/data-science/introduction-nlp" TargetMode="External"/><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hyperlink" Target="https://builtin.com/artificial-intelligence/machine-translation" TargetMode="External"/><Relationship Id="rId5" Type="http://schemas.openxmlformats.org/officeDocument/2006/relationships/hyperlink" Target="https://builtin.com/artificial-intelligence/what-is-natural-language-generation" TargetMode="External"/><Relationship Id="rId4" Type="http://schemas.openxmlformats.org/officeDocument/2006/relationships/hyperlink" Target="https://builtin.com/machine-learning/sentiment-analysis" TargetMode="External"/></Relationships>
</file>

<file path=ppt/slides/_rels/slide1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jpg"/><Relationship Id="rId1" Type="http://schemas.openxmlformats.org/officeDocument/2006/relationships/slideLayout" Target="../slideLayouts/slideLayout2.xml"/><Relationship Id="rId5" Type="http://schemas.openxmlformats.org/officeDocument/2006/relationships/hyperlink" Target="http://www-dsi.ing.unifi.it/~paolo/ps/tnn-94-gradient.pdf" TargetMode="External"/><Relationship Id="rId4" Type="http://schemas.openxmlformats.org/officeDocument/2006/relationships/hyperlink" Target="http://people.idsia.ch/~juergen/SeppHochreiter1991ThesisAdvisorSchmidhuber.pdf" TargetMode="External"/></Relationships>
</file>

<file path=ppt/slides/_rels/slide23.xml.rels><?xml version="1.0" encoding="UTF-8" standalone="yes"?>
<Relationships xmlns="http://schemas.openxmlformats.org/package/2006/relationships"><Relationship Id="rId3" Type="http://schemas.openxmlformats.org/officeDocument/2006/relationships/hyperlink" Target="https://colah.github.io/posts/2015-08-Understanding-LSTMs/#fn1" TargetMode="External"/><Relationship Id="rId2" Type="http://schemas.openxmlformats.org/officeDocument/2006/relationships/hyperlink" Target="http://www.bioinf.jku.at/publications/older/2604.pdf" TargetMode="External"/><Relationship Id="rId1" Type="http://schemas.openxmlformats.org/officeDocument/2006/relationships/slideLayout" Target="../slideLayouts/slideLayout2.xml"/><Relationship Id="rId6" Type="http://schemas.openxmlformats.org/officeDocument/2006/relationships/image" Target="../media/image13.jpg"/><Relationship Id="rId5" Type="http://schemas.openxmlformats.org/officeDocument/2006/relationships/image" Target="../media/image12.jpg"/><Relationship Id="rId4" Type="http://schemas.openxmlformats.org/officeDocument/2006/relationships/image" Target="../media/image11.jpg"/></Relationships>
</file>

<file path=ppt/slides/_rels/slide24.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16.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02E670-5DAA-CAD5-C096-690745938A41}"/>
              </a:ext>
            </a:extLst>
          </p:cNvPr>
          <p:cNvSpPr>
            <a:spLocks noGrp="1"/>
          </p:cNvSpPr>
          <p:nvPr>
            <p:ph type="ctrTitle"/>
          </p:nvPr>
        </p:nvSpPr>
        <p:spPr/>
        <p:txBody>
          <a:bodyPr/>
          <a:lstStyle/>
          <a:p>
            <a:r>
              <a:rPr lang="en-US" dirty="0"/>
              <a:t>AI RNN LSTM</a:t>
            </a:r>
            <a:endParaRPr lang="en-IN" dirty="0"/>
          </a:p>
        </p:txBody>
      </p:sp>
      <p:sp>
        <p:nvSpPr>
          <p:cNvPr id="3" name="Subtitle 2">
            <a:extLst>
              <a:ext uri="{FF2B5EF4-FFF2-40B4-BE49-F238E27FC236}">
                <a16:creationId xmlns:a16="http://schemas.microsoft.com/office/drawing/2014/main" id="{27E9C61A-C735-C4D6-0C0F-7FAE649F1500}"/>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20204139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source</a:t>
            </a:r>
            <a:endParaRPr lang="en-US" dirty="0"/>
          </a:p>
        </p:txBody>
      </p:sp>
      <p:sp>
        <p:nvSpPr>
          <p:cNvPr id="3" name="Content Placeholder 2"/>
          <p:cNvSpPr>
            <a:spLocks noGrp="1"/>
          </p:cNvSpPr>
          <p:nvPr>
            <p:ph idx="1"/>
          </p:nvPr>
        </p:nvSpPr>
        <p:spPr/>
        <p:txBody>
          <a:bodyPr/>
          <a:lstStyle/>
          <a:p>
            <a:r>
              <a:rPr lang="en-US" dirty="0">
                <a:hlinkClick r:id="rId2"/>
              </a:rPr>
              <a:t>https://dennybritz.com/posts/wildml/recurrent-neural-networks-tutorial-part-1</a:t>
            </a:r>
            <a:r>
              <a:rPr lang="en-US" dirty="0" smtClean="0">
                <a:hlinkClick r:id="rId2"/>
              </a:rPr>
              <a:t>/</a:t>
            </a:r>
            <a:endParaRPr lang="en-US" dirty="0" smtClean="0"/>
          </a:p>
          <a:p>
            <a:r>
              <a:rPr lang="en-US" dirty="0"/>
              <a:t>https://www.youtube.com/watch?v=yZv_yRgOvMg</a:t>
            </a:r>
            <a:endParaRPr lang="en-US" dirty="0"/>
          </a:p>
        </p:txBody>
      </p:sp>
    </p:spTree>
    <p:extLst>
      <p:ext uri="{BB962C8B-B14F-4D97-AF65-F5344CB8AC3E}">
        <p14:creationId xmlns:p14="http://schemas.microsoft.com/office/powerpoint/2010/main" val="40309461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C2F14-81B2-301E-CC6A-29D43BDC2D86}"/>
              </a:ext>
            </a:extLst>
          </p:cNvPr>
          <p:cNvSpPr>
            <a:spLocks noGrp="1"/>
          </p:cNvSpPr>
          <p:nvPr>
            <p:ph type="title"/>
          </p:nvPr>
        </p:nvSpPr>
        <p:spPr>
          <a:xfrm>
            <a:off x="838200" y="214295"/>
            <a:ext cx="10515600" cy="671823"/>
          </a:xfrm>
        </p:spPr>
        <p:txBody>
          <a:bodyPr>
            <a:normAutofit fontScale="90000"/>
          </a:bodyPr>
          <a:lstStyle/>
          <a:p>
            <a:r>
              <a:rPr lang="en-US" dirty="0"/>
              <a:t>RNN Application</a:t>
            </a:r>
            <a:endParaRPr lang="en-IN" dirty="0"/>
          </a:p>
        </p:txBody>
      </p:sp>
      <p:sp>
        <p:nvSpPr>
          <p:cNvPr id="3" name="Content Placeholder 2">
            <a:extLst>
              <a:ext uri="{FF2B5EF4-FFF2-40B4-BE49-F238E27FC236}">
                <a16:creationId xmlns:a16="http://schemas.microsoft.com/office/drawing/2014/main" id="{4938D7F3-2256-9334-6514-77DCC1FFB7A1}"/>
              </a:ext>
            </a:extLst>
          </p:cNvPr>
          <p:cNvSpPr>
            <a:spLocks noGrp="1"/>
          </p:cNvSpPr>
          <p:nvPr>
            <p:ph idx="1"/>
          </p:nvPr>
        </p:nvSpPr>
        <p:spPr>
          <a:xfrm>
            <a:off x="301841" y="763964"/>
            <a:ext cx="11051959" cy="5912044"/>
          </a:xfrm>
        </p:spPr>
        <p:txBody>
          <a:bodyPr>
            <a:noAutofit/>
          </a:bodyPr>
          <a:lstStyle/>
          <a:p>
            <a:pPr marL="0" indent="0" algn="l">
              <a:lnSpc>
                <a:spcPts val="2700"/>
              </a:lnSpc>
              <a:buNone/>
            </a:pPr>
            <a:r>
              <a:rPr lang="en-US" sz="1400" b="1" i="0" dirty="0" smtClean="0">
                <a:solidFill>
                  <a:srgbClr val="383838"/>
                </a:solidFill>
                <a:effectLst/>
                <a:latin typeface="Inter"/>
              </a:rPr>
              <a:t>Recurrent </a:t>
            </a:r>
            <a:r>
              <a:rPr lang="en-US" sz="1400" b="1" i="0" dirty="0">
                <a:solidFill>
                  <a:srgbClr val="383838"/>
                </a:solidFill>
                <a:effectLst/>
                <a:latin typeface="Inter"/>
              </a:rPr>
              <a:t>neural networks</a:t>
            </a:r>
            <a:r>
              <a:rPr lang="en-US" sz="1400" b="0" i="0" dirty="0">
                <a:solidFill>
                  <a:srgbClr val="383838"/>
                </a:solidFill>
                <a:effectLst/>
                <a:latin typeface="Inter"/>
              </a:rPr>
              <a:t> (RNNs) shine in tasks involving </a:t>
            </a:r>
            <a:r>
              <a:rPr lang="en-US" sz="1400" b="1" i="0" dirty="0">
                <a:solidFill>
                  <a:srgbClr val="383838"/>
                </a:solidFill>
                <a:effectLst/>
                <a:latin typeface="Inter"/>
              </a:rPr>
              <a:t>sequential data, where order and context are crucial</a:t>
            </a:r>
            <a:r>
              <a:rPr lang="en-US" sz="1400" b="0" i="0" dirty="0">
                <a:solidFill>
                  <a:srgbClr val="383838"/>
                </a:solidFill>
                <a:effectLst/>
                <a:latin typeface="Inter"/>
              </a:rPr>
              <a:t>. </a:t>
            </a:r>
            <a:endParaRPr lang="en-US" sz="1400" b="0" i="0" dirty="0" smtClean="0">
              <a:solidFill>
                <a:srgbClr val="383838"/>
              </a:solidFill>
              <a:effectLst/>
              <a:latin typeface="Inter"/>
            </a:endParaRPr>
          </a:p>
          <a:p>
            <a:pPr marL="0" indent="0" algn="l">
              <a:lnSpc>
                <a:spcPts val="2700"/>
              </a:lnSpc>
              <a:buNone/>
            </a:pPr>
            <a:r>
              <a:rPr lang="en-US" sz="1400" dirty="0" smtClean="0">
                <a:solidFill>
                  <a:srgbClr val="383838"/>
                </a:solidFill>
                <a:latin typeface="Inter"/>
              </a:rPr>
              <a:t>What is sequence?</a:t>
            </a:r>
          </a:p>
          <a:p>
            <a:pPr marL="0" indent="0" algn="l">
              <a:lnSpc>
                <a:spcPts val="2700"/>
              </a:lnSpc>
              <a:buNone/>
            </a:pPr>
            <a:r>
              <a:rPr lang="en-US" sz="1400" dirty="0" smtClean="0">
                <a:solidFill>
                  <a:srgbClr val="383838"/>
                </a:solidFill>
                <a:latin typeface="Inter"/>
              </a:rPr>
              <a:t> English -&gt; I feel like flying today. So lets go do some para jumping</a:t>
            </a:r>
          </a:p>
          <a:p>
            <a:pPr marL="0" indent="0">
              <a:lnSpc>
                <a:spcPts val="2700"/>
              </a:lnSpc>
              <a:buNone/>
            </a:pPr>
            <a:r>
              <a:rPr lang="en-US" sz="1400" dirty="0" smtClean="0">
                <a:solidFill>
                  <a:srgbClr val="383838"/>
                </a:solidFill>
                <a:latin typeface="Inter"/>
              </a:rPr>
              <a:t>Time series -&gt; series of data with time-stamp: &lt;2020-01, ‘$2’&gt;, </a:t>
            </a:r>
            <a:r>
              <a:rPr lang="en-US" sz="1400" dirty="0">
                <a:solidFill>
                  <a:srgbClr val="383838"/>
                </a:solidFill>
                <a:latin typeface="Inter"/>
              </a:rPr>
              <a:t>&lt;</a:t>
            </a:r>
            <a:r>
              <a:rPr lang="en-US" sz="1400" dirty="0" smtClean="0">
                <a:solidFill>
                  <a:srgbClr val="383838"/>
                </a:solidFill>
                <a:latin typeface="Inter"/>
              </a:rPr>
              <a:t>2020-02, ‘$3’&gt;, </a:t>
            </a:r>
            <a:r>
              <a:rPr lang="en-US" sz="1400" dirty="0">
                <a:solidFill>
                  <a:srgbClr val="383838"/>
                </a:solidFill>
                <a:latin typeface="Inter"/>
              </a:rPr>
              <a:t>&lt;</a:t>
            </a:r>
            <a:r>
              <a:rPr lang="en-US" sz="1400" dirty="0" smtClean="0">
                <a:solidFill>
                  <a:srgbClr val="383838"/>
                </a:solidFill>
                <a:latin typeface="Inter"/>
              </a:rPr>
              <a:t>2020-03, ‘$3’&gt;,…</a:t>
            </a:r>
            <a:endParaRPr lang="en-US" sz="1400" dirty="0">
              <a:solidFill>
                <a:srgbClr val="383838"/>
              </a:solidFill>
              <a:latin typeface="Inter"/>
            </a:endParaRPr>
          </a:p>
          <a:p>
            <a:pPr marL="0" indent="0" algn="l">
              <a:lnSpc>
                <a:spcPts val="2700"/>
              </a:lnSpc>
              <a:buNone/>
            </a:pPr>
            <a:r>
              <a:rPr lang="en-US" sz="1400" b="0" i="0" dirty="0" smtClean="0">
                <a:solidFill>
                  <a:srgbClr val="383838"/>
                </a:solidFill>
                <a:effectLst/>
                <a:latin typeface="Inter"/>
              </a:rPr>
              <a:t>Let’s </a:t>
            </a:r>
            <a:r>
              <a:rPr lang="en-US" sz="1400" b="0" i="0" dirty="0">
                <a:solidFill>
                  <a:srgbClr val="383838"/>
                </a:solidFill>
                <a:effectLst/>
                <a:latin typeface="Inter"/>
              </a:rPr>
              <a:t>explore some real-world use </a:t>
            </a:r>
            <a:r>
              <a:rPr lang="en-US" sz="1400" b="0" i="0" dirty="0" smtClean="0">
                <a:solidFill>
                  <a:srgbClr val="383838"/>
                </a:solidFill>
                <a:effectLst/>
                <a:latin typeface="Inter"/>
              </a:rPr>
              <a:t>cases of RNN. </a:t>
            </a:r>
            <a:endParaRPr lang="en-US" sz="1400" b="0" i="0" dirty="0" smtClean="0">
              <a:solidFill>
                <a:srgbClr val="383838"/>
              </a:solidFill>
              <a:effectLst/>
              <a:latin typeface="Inter"/>
            </a:endParaRPr>
          </a:p>
          <a:p>
            <a:pPr>
              <a:lnSpc>
                <a:spcPts val="2700"/>
              </a:lnSpc>
            </a:pPr>
            <a:r>
              <a:rPr lang="en-US" sz="1400" b="1" i="0" dirty="0" smtClean="0">
                <a:solidFill>
                  <a:srgbClr val="383838"/>
                </a:solidFill>
                <a:effectLst/>
                <a:latin typeface="Inter"/>
              </a:rPr>
              <a:t>Speech </a:t>
            </a:r>
            <a:r>
              <a:rPr lang="en-US" sz="1400" b="1" i="0" dirty="0">
                <a:solidFill>
                  <a:srgbClr val="383838"/>
                </a:solidFill>
                <a:effectLst/>
                <a:latin typeface="Inter"/>
              </a:rPr>
              <a:t>Recognition:</a:t>
            </a:r>
            <a:r>
              <a:rPr lang="en-US" sz="1400" b="0" i="0" dirty="0">
                <a:solidFill>
                  <a:srgbClr val="383838"/>
                </a:solidFill>
                <a:effectLst/>
                <a:latin typeface="Inter"/>
              </a:rPr>
              <a:t> RNNs power virtual assistants like Siri and Alexa, allowing them to understand spoken language and respond accordingly.</a:t>
            </a:r>
          </a:p>
          <a:p>
            <a:pPr algn="l">
              <a:lnSpc>
                <a:spcPts val="2700"/>
              </a:lnSpc>
              <a:spcAft>
                <a:spcPts val="750"/>
              </a:spcAft>
              <a:buFont typeface="Arial" panose="020B0604020202020204" pitchFamily="34" charset="0"/>
              <a:buChar char="•"/>
            </a:pPr>
            <a:r>
              <a:rPr lang="en-US" sz="1400" b="1" i="0" dirty="0">
                <a:solidFill>
                  <a:srgbClr val="383838"/>
                </a:solidFill>
                <a:effectLst/>
                <a:latin typeface="Inter"/>
              </a:rPr>
              <a:t>Machine Translation:</a:t>
            </a:r>
            <a:r>
              <a:rPr lang="en-US" sz="1400" b="0" i="0" dirty="0">
                <a:solidFill>
                  <a:srgbClr val="383838"/>
                </a:solidFill>
                <a:effectLst/>
                <a:latin typeface="Inter"/>
              </a:rPr>
              <a:t> RNNs translate languages more accurately, like Google Translate by </a:t>
            </a:r>
            <a:r>
              <a:rPr lang="en-US" sz="1400" b="0" i="0" dirty="0" err="1">
                <a:solidFill>
                  <a:srgbClr val="383838"/>
                </a:solidFill>
                <a:effectLst/>
                <a:latin typeface="Inter"/>
              </a:rPr>
              <a:t>analysing</a:t>
            </a:r>
            <a:r>
              <a:rPr lang="en-US" sz="1400" b="0" i="0" dirty="0">
                <a:solidFill>
                  <a:srgbClr val="383838"/>
                </a:solidFill>
                <a:effectLst/>
                <a:latin typeface="Inter"/>
              </a:rPr>
              <a:t> sentence structure and context.</a:t>
            </a:r>
          </a:p>
          <a:p>
            <a:pPr algn="l">
              <a:lnSpc>
                <a:spcPts val="2700"/>
              </a:lnSpc>
              <a:spcAft>
                <a:spcPts val="750"/>
              </a:spcAft>
              <a:buFont typeface="Arial" panose="020B0604020202020204" pitchFamily="34" charset="0"/>
              <a:buChar char="•"/>
            </a:pPr>
            <a:r>
              <a:rPr lang="en-US" sz="1400" b="1" i="0" dirty="0">
                <a:solidFill>
                  <a:srgbClr val="383838"/>
                </a:solidFill>
                <a:effectLst/>
                <a:latin typeface="Inter"/>
              </a:rPr>
              <a:t>Text Generation:</a:t>
            </a:r>
            <a:r>
              <a:rPr lang="en-US" sz="1400" b="0" i="0" dirty="0">
                <a:solidFill>
                  <a:srgbClr val="383838"/>
                </a:solidFill>
                <a:effectLst/>
                <a:latin typeface="Inter"/>
              </a:rPr>
              <a:t> RNNs are behind chatbots that can hold conversations and even creative writing tools that generate different text formats.</a:t>
            </a:r>
          </a:p>
          <a:p>
            <a:pPr algn="l">
              <a:lnSpc>
                <a:spcPts val="2700"/>
              </a:lnSpc>
              <a:spcAft>
                <a:spcPts val="750"/>
              </a:spcAft>
              <a:buFont typeface="Arial" panose="020B0604020202020204" pitchFamily="34" charset="0"/>
              <a:buChar char="•"/>
            </a:pPr>
            <a:r>
              <a:rPr lang="en-US" sz="1400" b="1" i="0" dirty="0">
                <a:solidFill>
                  <a:srgbClr val="383838"/>
                </a:solidFill>
                <a:effectLst/>
                <a:latin typeface="Inter"/>
              </a:rPr>
              <a:t>Time Series Forecasting:</a:t>
            </a:r>
            <a:r>
              <a:rPr lang="en-US" sz="1400" b="0" i="0" dirty="0">
                <a:solidFill>
                  <a:srgbClr val="383838"/>
                </a:solidFill>
                <a:effectLst/>
                <a:latin typeface="Inter"/>
              </a:rPr>
              <a:t> RNNs analyze financial data to </a:t>
            </a:r>
            <a:r>
              <a:rPr lang="en-US" sz="1400" b="0" i="0" u="sng" dirty="0">
                <a:solidFill>
                  <a:srgbClr val="383838"/>
                </a:solidFill>
                <a:effectLst/>
                <a:latin typeface="Inter"/>
                <a:hlinkClick r:id="rId2"/>
              </a:rPr>
              <a:t>predict stock prices</a:t>
            </a:r>
            <a:r>
              <a:rPr lang="en-US" sz="1400" b="0" i="0" dirty="0">
                <a:solidFill>
                  <a:srgbClr val="383838"/>
                </a:solidFill>
                <a:effectLst/>
                <a:latin typeface="Inter"/>
              </a:rPr>
              <a:t> or weather patterns based on historical trends.</a:t>
            </a:r>
          </a:p>
          <a:p>
            <a:pPr algn="l">
              <a:lnSpc>
                <a:spcPts val="2700"/>
              </a:lnSpc>
              <a:spcAft>
                <a:spcPts val="750"/>
              </a:spcAft>
              <a:buFont typeface="Arial" panose="020B0604020202020204" pitchFamily="34" charset="0"/>
              <a:buChar char="•"/>
            </a:pPr>
            <a:r>
              <a:rPr lang="en-US" sz="1400" b="1" i="0" dirty="0">
                <a:solidFill>
                  <a:srgbClr val="383838"/>
                </a:solidFill>
                <a:effectLst/>
                <a:latin typeface="Inter"/>
              </a:rPr>
              <a:t>Music Generation:</a:t>
            </a:r>
            <a:r>
              <a:rPr lang="en-US" sz="1400" b="0" i="0" dirty="0">
                <a:solidFill>
                  <a:srgbClr val="383838"/>
                </a:solidFill>
                <a:effectLst/>
                <a:latin typeface="Inter"/>
              </a:rPr>
              <a:t> RNNs can </a:t>
            </a:r>
            <a:r>
              <a:rPr lang="en-US" sz="1400" b="0" i="0" u="sng" dirty="0">
                <a:solidFill>
                  <a:srgbClr val="383838"/>
                </a:solidFill>
                <a:effectLst/>
                <a:latin typeface="Inter"/>
                <a:hlinkClick r:id="rId3"/>
              </a:rPr>
              <a:t>generate music</a:t>
            </a:r>
            <a:r>
              <a:rPr lang="en-US" sz="1400" b="0" i="0" dirty="0">
                <a:solidFill>
                  <a:srgbClr val="383838"/>
                </a:solidFill>
                <a:effectLst/>
                <a:latin typeface="Inter"/>
              </a:rPr>
              <a:t> by learning patterns from existing pieces and generating new melodies or accompaniments.</a:t>
            </a:r>
          </a:p>
          <a:p>
            <a:pPr algn="l">
              <a:lnSpc>
                <a:spcPts val="2700"/>
              </a:lnSpc>
              <a:spcAft>
                <a:spcPts val="750"/>
              </a:spcAft>
              <a:buFont typeface="Arial" panose="020B0604020202020204" pitchFamily="34" charset="0"/>
              <a:buChar char="•"/>
            </a:pPr>
            <a:r>
              <a:rPr lang="en-US" sz="1400" b="1" i="0" dirty="0">
                <a:solidFill>
                  <a:srgbClr val="383838"/>
                </a:solidFill>
                <a:effectLst/>
                <a:latin typeface="Inter"/>
              </a:rPr>
              <a:t>Video Captioning:</a:t>
            </a:r>
            <a:r>
              <a:rPr lang="en-US" sz="1400" b="0" i="0" dirty="0">
                <a:solidFill>
                  <a:srgbClr val="383838"/>
                </a:solidFill>
                <a:effectLst/>
                <a:latin typeface="Inter"/>
              </a:rPr>
              <a:t> RNNs analyze video content and automatically generate captions, making video browsing more accessible</a:t>
            </a:r>
            <a:r>
              <a:rPr lang="en-US" sz="1400" b="0" i="0" dirty="0" smtClean="0">
                <a:solidFill>
                  <a:srgbClr val="383838"/>
                </a:solidFill>
                <a:effectLst/>
                <a:latin typeface="Inter"/>
              </a:rPr>
              <a:t>.</a:t>
            </a:r>
            <a:endParaRPr lang="en-US" sz="1400" b="0" i="0" dirty="0">
              <a:solidFill>
                <a:srgbClr val="383838"/>
              </a:solidFill>
              <a:effectLst/>
              <a:latin typeface="Inter"/>
            </a:endParaRPr>
          </a:p>
        </p:txBody>
      </p:sp>
    </p:spTree>
    <p:extLst>
      <p:ext uri="{BB962C8B-B14F-4D97-AF65-F5344CB8AC3E}">
        <p14:creationId xmlns:p14="http://schemas.microsoft.com/office/powerpoint/2010/main" val="15315767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40833"/>
            <a:ext cx="10515600" cy="442743"/>
          </a:xfrm>
        </p:spPr>
        <p:txBody>
          <a:bodyPr>
            <a:normAutofit fontScale="90000"/>
          </a:bodyPr>
          <a:lstStyle/>
          <a:p>
            <a:r>
              <a:rPr lang="en-US" sz="3200" dirty="0"/>
              <a:t>Why can't we use a plain </a:t>
            </a:r>
            <a:r>
              <a:rPr lang="en-US" sz="3200" b="1" dirty="0"/>
              <a:t>ANN</a:t>
            </a:r>
            <a:r>
              <a:rPr lang="en-US" sz="3200" dirty="0"/>
              <a:t> </a:t>
            </a:r>
            <a:r>
              <a:rPr lang="en-US" sz="3200" dirty="0" smtClean="0"/>
              <a:t>for </a:t>
            </a:r>
            <a:r>
              <a:rPr lang="en-US" sz="3200" dirty="0"/>
              <a:t>time series forecasting?</a:t>
            </a:r>
          </a:p>
        </p:txBody>
      </p:sp>
      <p:sp>
        <p:nvSpPr>
          <p:cNvPr id="3" name="Content Placeholder 2"/>
          <p:cNvSpPr>
            <a:spLocks noGrp="1"/>
          </p:cNvSpPr>
          <p:nvPr>
            <p:ph idx="1"/>
          </p:nvPr>
        </p:nvSpPr>
        <p:spPr>
          <a:xfrm>
            <a:off x="838200" y="1195310"/>
            <a:ext cx="10515600" cy="2701987"/>
          </a:xfrm>
        </p:spPr>
        <p:txBody>
          <a:bodyPr>
            <a:normAutofit fontScale="70000" lnSpcReduction="20000"/>
          </a:bodyPr>
          <a:lstStyle/>
          <a:p>
            <a:pPr marL="0" indent="0">
              <a:buNone/>
            </a:pPr>
            <a:r>
              <a:rPr lang="en-US" dirty="0" smtClean="0"/>
              <a:t>Short answer: </a:t>
            </a:r>
            <a:r>
              <a:rPr lang="en-US" b="1" dirty="0" smtClean="0"/>
              <a:t>Because </a:t>
            </a:r>
            <a:r>
              <a:rPr lang="en-US" b="1" dirty="0"/>
              <a:t>ANN doesn't remember the past</a:t>
            </a:r>
            <a:r>
              <a:rPr lang="en-US" b="1" dirty="0" smtClean="0"/>
              <a:t>.</a:t>
            </a:r>
          </a:p>
          <a:p>
            <a:pPr marL="514350" indent="-514350">
              <a:buAutoNum type="arabicPeriod"/>
            </a:pPr>
            <a:r>
              <a:rPr lang="en-US" dirty="0" smtClean="0"/>
              <a:t>No </a:t>
            </a:r>
            <a:r>
              <a:rPr lang="en-US" dirty="0"/>
              <a:t>memory of past inputs: ANN treats every input independently, it doesn’t remember what happened before</a:t>
            </a:r>
            <a:r>
              <a:rPr lang="en-US" dirty="0" smtClean="0"/>
              <a:t>.</a:t>
            </a:r>
          </a:p>
          <a:p>
            <a:pPr marL="514350" indent="-514350">
              <a:buAutoNum type="arabicPeriod"/>
            </a:pPr>
            <a:r>
              <a:rPr lang="en-US" dirty="0"/>
              <a:t>No temporal ordering: ANN sees data points randomly; time order (yesterday → today → tomorrow) is not naturally handled</a:t>
            </a:r>
            <a:r>
              <a:rPr lang="en-US" dirty="0" smtClean="0"/>
              <a:t>.</a:t>
            </a:r>
          </a:p>
          <a:p>
            <a:pPr marL="514350" indent="-514350">
              <a:buAutoNum type="arabicPeriod"/>
            </a:pPr>
            <a:r>
              <a:rPr lang="en-US" dirty="0"/>
              <a:t>Fixed-size </a:t>
            </a:r>
            <a:r>
              <a:rPr lang="en-US" dirty="0" smtClean="0"/>
              <a:t>input: ANN </a:t>
            </a:r>
            <a:r>
              <a:rPr lang="en-US" dirty="0"/>
              <a:t>expects all inputs to have a fixed shape. Time series may grow or shrink dynamically.</a:t>
            </a:r>
          </a:p>
          <a:p>
            <a:pPr marL="514350" indent="-514350">
              <a:buAutoNum type="arabicPeriod"/>
            </a:pPr>
            <a:r>
              <a:rPr lang="en-US" dirty="0" smtClean="0"/>
              <a:t>Lag </a:t>
            </a:r>
            <a:r>
              <a:rPr lang="en-US" dirty="0"/>
              <a:t>features must be </a:t>
            </a:r>
            <a:r>
              <a:rPr lang="en-US" dirty="0" smtClean="0"/>
              <a:t>hand-crafted: To </a:t>
            </a:r>
            <a:r>
              <a:rPr lang="en-US" dirty="0"/>
              <a:t>make ANN "see the past", you have to manually create "lag features" (previous values), which gets messy for long dependencies.</a:t>
            </a:r>
            <a:endParaRPr lang="en-US" dirty="0" smtClean="0"/>
          </a:p>
          <a:p>
            <a:pPr marL="514350" indent="-514350">
              <a:buAutoNum type="arabicPeriod"/>
            </a:pPr>
            <a:endParaRPr lang="en-US" b="1" dirty="0"/>
          </a:p>
        </p:txBody>
      </p:sp>
    </p:spTree>
    <p:extLst>
      <p:ext uri="{BB962C8B-B14F-4D97-AF65-F5344CB8AC3E}">
        <p14:creationId xmlns:p14="http://schemas.microsoft.com/office/powerpoint/2010/main" val="16261841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0029" y="125428"/>
            <a:ext cx="6166282" cy="380599"/>
          </a:xfrm>
        </p:spPr>
        <p:txBody>
          <a:bodyPr>
            <a:normAutofit fontScale="90000"/>
          </a:bodyPr>
          <a:lstStyle/>
          <a:p>
            <a:r>
              <a:rPr lang="en-US" sz="2400" dirty="0" smtClean="0"/>
              <a:t>Why we cannot use ANN for sentiment analysis?</a:t>
            </a:r>
            <a:endParaRPr lang="en-US" sz="2400"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788016659"/>
              </p:ext>
            </p:extLst>
          </p:nvPr>
        </p:nvGraphicFramePr>
        <p:xfrm>
          <a:off x="376561" y="618261"/>
          <a:ext cx="3431959" cy="1854200"/>
        </p:xfrm>
        <a:graphic>
          <a:graphicData uri="http://schemas.openxmlformats.org/drawingml/2006/table">
            <a:tbl>
              <a:tblPr firstRow="1" bandRow="1">
                <a:tableStyleId>{5C22544A-7EE6-4342-B048-85BDC9FD1C3A}</a:tableStyleId>
              </a:tblPr>
              <a:tblGrid>
                <a:gridCol w="1967136">
                  <a:extLst>
                    <a:ext uri="{9D8B030D-6E8A-4147-A177-3AD203B41FA5}">
                      <a16:colId xmlns:a16="http://schemas.microsoft.com/office/drawing/2014/main" val="2666024637"/>
                    </a:ext>
                  </a:extLst>
                </a:gridCol>
                <a:gridCol w="1464823">
                  <a:extLst>
                    <a:ext uri="{9D8B030D-6E8A-4147-A177-3AD203B41FA5}">
                      <a16:colId xmlns:a16="http://schemas.microsoft.com/office/drawing/2014/main" val="1318399755"/>
                    </a:ext>
                  </a:extLst>
                </a:gridCol>
              </a:tblGrid>
              <a:tr h="370840">
                <a:tc>
                  <a:txBody>
                    <a:bodyPr/>
                    <a:lstStyle/>
                    <a:p>
                      <a:r>
                        <a:rPr lang="en-US" sz="1200" dirty="0" smtClean="0">
                          <a:solidFill>
                            <a:schemeClr val="tx1"/>
                          </a:solidFill>
                        </a:rPr>
                        <a:t>Sentence</a:t>
                      </a:r>
                      <a:endParaRPr lang="en-US"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200" dirty="0" err="1" smtClean="0">
                          <a:solidFill>
                            <a:schemeClr val="tx1"/>
                          </a:solidFill>
                        </a:rPr>
                        <a:t>Is_happy</a:t>
                      </a:r>
                      <a:endParaRPr lang="en-US"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20260630"/>
                  </a:ext>
                </a:extLst>
              </a:tr>
              <a:tr h="370840">
                <a:tc>
                  <a:txBody>
                    <a:bodyPr/>
                    <a:lstStyle/>
                    <a:p>
                      <a:r>
                        <a:rPr lang="en-US" sz="1200" dirty="0" smtClean="0">
                          <a:solidFill>
                            <a:schemeClr val="tx1"/>
                          </a:solidFill>
                        </a:rPr>
                        <a:t>apple was rotten</a:t>
                      </a:r>
                      <a:endParaRPr lang="en-US"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200" dirty="0" smtClean="0">
                          <a:solidFill>
                            <a:schemeClr val="tx1"/>
                          </a:solidFill>
                        </a:rPr>
                        <a:t>n</a:t>
                      </a:r>
                      <a:endParaRPr lang="en-US"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19779007"/>
                  </a:ext>
                </a:extLst>
              </a:tr>
              <a:tr h="370840">
                <a:tc>
                  <a:txBody>
                    <a:bodyPr/>
                    <a:lstStyle/>
                    <a:p>
                      <a:r>
                        <a:rPr lang="en-US" sz="1200" dirty="0" smtClean="0">
                          <a:solidFill>
                            <a:schemeClr val="tx1"/>
                          </a:solidFill>
                        </a:rPr>
                        <a:t>apple was fresh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200" dirty="0" smtClean="0">
                          <a:solidFill>
                            <a:schemeClr val="tx1"/>
                          </a:solidFill>
                        </a:rPr>
                        <a:t>y</a:t>
                      </a:r>
                      <a:endParaRPr lang="en-US"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9475431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solidFill>
                            <a:schemeClr val="tx1"/>
                          </a:solidFill>
                        </a:rPr>
                        <a:t>I</a:t>
                      </a:r>
                      <a:r>
                        <a:rPr lang="en-US" sz="1200" baseline="0" dirty="0" smtClean="0">
                          <a:solidFill>
                            <a:schemeClr val="tx1"/>
                          </a:solidFill>
                        </a:rPr>
                        <a:t> was disappointed by apple</a:t>
                      </a:r>
                      <a:endParaRPr lang="en-US" sz="1200" dirty="0" smtClean="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200" dirty="0" smtClean="0">
                          <a:solidFill>
                            <a:schemeClr val="tx1"/>
                          </a:solidFill>
                        </a:rPr>
                        <a:t>n</a:t>
                      </a:r>
                      <a:endParaRPr lang="en-US"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99491143"/>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aseline="0" dirty="0" smtClean="0">
                          <a:solidFill>
                            <a:schemeClr val="tx1"/>
                          </a:solidFill>
                        </a:rPr>
                        <a:t>apple tasted sweet </a:t>
                      </a:r>
                      <a:endParaRPr lang="en-US" sz="1200" dirty="0" smtClean="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200" dirty="0" smtClean="0">
                          <a:solidFill>
                            <a:schemeClr val="tx1"/>
                          </a:solidFill>
                        </a:rPr>
                        <a:t>y</a:t>
                      </a:r>
                      <a:endParaRPr lang="en-US"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62741263"/>
                  </a:ext>
                </a:extLst>
              </a:tr>
            </a:tbl>
          </a:graphicData>
        </a:graphic>
      </p:graphicFrame>
      <p:sp>
        <p:nvSpPr>
          <p:cNvPr id="5" name="TextBox 4"/>
          <p:cNvSpPr txBox="1"/>
          <p:nvPr/>
        </p:nvSpPr>
        <p:spPr>
          <a:xfrm>
            <a:off x="248574" y="2627784"/>
            <a:ext cx="4836260" cy="1384995"/>
          </a:xfrm>
          <a:prstGeom prst="rect">
            <a:avLst/>
          </a:prstGeom>
          <a:noFill/>
        </p:spPr>
        <p:txBody>
          <a:bodyPr wrap="none" rtlCol="0">
            <a:spAutoFit/>
          </a:bodyPr>
          <a:lstStyle/>
          <a:p>
            <a:r>
              <a:rPr lang="en-US" sz="1200" dirty="0"/>
              <a:t>Here </a:t>
            </a:r>
            <a:r>
              <a:rPr lang="en-US" sz="1200" dirty="0" smtClean="0"/>
              <a:t>vocab. size </a:t>
            </a:r>
            <a:r>
              <a:rPr lang="en-US" sz="1200" dirty="0"/>
              <a:t>= </a:t>
            </a:r>
            <a:r>
              <a:rPr lang="en-US" sz="1200" dirty="0" smtClean="0"/>
              <a:t>9:</a:t>
            </a:r>
          </a:p>
          <a:p>
            <a:r>
              <a:rPr lang="en-US" sz="1200" dirty="0" smtClean="0"/>
              <a:t>Vocabulary = (apple, was, rotten, fresh, tasted, sweet, I, disappointed, by).</a:t>
            </a:r>
            <a:r>
              <a:rPr lang="en-US" sz="1200" dirty="0"/>
              <a:t> </a:t>
            </a:r>
            <a:endParaRPr lang="en-US" sz="1200" dirty="0" smtClean="0"/>
          </a:p>
          <a:p>
            <a:r>
              <a:rPr lang="en-US" sz="1200" dirty="0" smtClean="0"/>
              <a:t>apple:             (1,          0,       0,         0,        0,          0       , 0,    0,                  0 )</a:t>
            </a:r>
          </a:p>
          <a:p>
            <a:r>
              <a:rPr lang="en-US" sz="1200" dirty="0" smtClean="0"/>
              <a:t>was:                (0,          </a:t>
            </a:r>
            <a:r>
              <a:rPr lang="en-US" sz="1200" dirty="0"/>
              <a:t>1,       </a:t>
            </a:r>
            <a:r>
              <a:rPr lang="en-US" sz="1200" dirty="0" smtClean="0"/>
              <a:t>0,         0,        </a:t>
            </a:r>
            <a:r>
              <a:rPr lang="en-US" sz="1200" dirty="0"/>
              <a:t>0,          0       , 0,    0,                  0 )</a:t>
            </a:r>
          </a:p>
          <a:p>
            <a:r>
              <a:rPr lang="en-US" sz="1200" dirty="0" smtClean="0"/>
              <a:t>tasted:            (0,          0,       </a:t>
            </a:r>
            <a:r>
              <a:rPr lang="en-US" sz="1200" dirty="0"/>
              <a:t>0,         </a:t>
            </a:r>
            <a:r>
              <a:rPr lang="en-US" sz="1200" dirty="0" smtClean="0"/>
              <a:t>0,        1,          </a:t>
            </a:r>
            <a:r>
              <a:rPr lang="en-US" sz="1200" dirty="0"/>
              <a:t>0       , 0</a:t>
            </a:r>
            <a:r>
              <a:rPr lang="en-US" sz="1200" dirty="0" smtClean="0"/>
              <a:t>,    </a:t>
            </a:r>
            <a:r>
              <a:rPr lang="en-US" sz="1200" dirty="0"/>
              <a:t>0</a:t>
            </a:r>
            <a:r>
              <a:rPr lang="en-US" sz="1200" dirty="0" smtClean="0"/>
              <a:t>,                  </a:t>
            </a:r>
            <a:r>
              <a:rPr lang="en-US" sz="1200" dirty="0"/>
              <a:t>0</a:t>
            </a:r>
            <a:r>
              <a:rPr lang="en-US" sz="1200" dirty="0" smtClean="0"/>
              <a:t> )</a:t>
            </a:r>
          </a:p>
          <a:p>
            <a:r>
              <a:rPr lang="en-US" sz="1200" dirty="0" smtClean="0"/>
              <a:t>Rotten:</a:t>
            </a:r>
            <a:r>
              <a:rPr lang="en-US" sz="1200" dirty="0"/>
              <a:t> </a:t>
            </a:r>
            <a:r>
              <a:rPr lang="en-US" sz="1200" dirty="0" smtClean="0"/>
              <a:t>          (</a:t>
            </a:r>
            <a:r>
              <a:rPr lang="en-US" sz="1200" dirty="0"/>
              <a:t>0,          0,       </a:t>
            </a:r>
            <a:r>
              <a:rPr lang="en-US" sz="1200" dirty="0" smtClean="0"/>
              <a:t>1,         </a:t>
            </a:r>
            <a:r>
              <a:rPr lang="en-US" sz="1200" dirty="0"/>
              <a:t>0,        </a:t>
            </a:r>
            <a:r>
              <a:rPr lang="en-US" sz="1200" dirty="0" smtClean="0"/>
              <a:t>0,          </a:t>
            </a:r>
            <a:r>
              <a:rPr lang="en-US" sz="1200" dirty="0"/>
              <a:t>0       , 0,    0,                  0 )</a:t>
            </a:r>
            <a:endParaRPr lang="en-US" sz="1200" dirty="0" smtClean="0"/>
          </a:p>
          <a:p>
            <a:endParaRPr lang="en-US" sz="1200"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0800000">
            <a:off x="7352743" y="284083"/>
            <a:ext cx="4637472" cy="6183295"/>
          </a:xfrm>
          <a:prstGeom prst="rect">
            <a:avLst/>
          </a:prstGeom>
        </p:spPr>
      </p:pic>
      <p:sp>
        <p:nvSpPr>
          <p:cNvPr id="8" name="TextBox 7"/>
          <p:cNvSpPr txBox="1"/>
          <p:nvPr/>
        </p:nvSpPr>
        <p:spPr>
          <a:xfrm>
            <a:off x="270029" y="3986073"/>
            <a:ext cx="6334957" cy="2862322"/>
          </a:xfrm>
          <a:prstGeom prst="rect">
            <a:avLst/>
          </a:prstGeom>
          <a:noFill/>
        </p:spPr>
        <p:txBody>
          <a:bodyPr wrap="square" rtlCol="0">
            <a:spAutoFit/>
          </a:bodyPr>
          <a:lstStyle/>
          <a:p>
            <a:r>
              <a:rPr lang="en-US" sz="1200" dirty="0" smtClean="0"/>
              <a:t>1) When sentence is ‘apple was rotten’, then size of input layer is</a:t>
            </a:r>
          </a:p>
          <a:p>
            <a:r>
              <a:rPr lang="en-US" sz="1200" dirty="0" smtClean="0"/>
              <a:t>= number of words in sent.  X vocab. Size </a:t>
            </a:r>
          </a:p>
          <a:p>
            <a:r>
              <a:rPr lang="en-US" sz="1200" dirty="0" smtClean="0"/>
              <a:t>= 3 X 9 = 18.</a:t>
            </a:r>
          </a:p>
          <a:p>
            <a:r>
              <a:rPr lang="en-US" sz="1200" dirty="0" smtClean="0"/>
              <a:t>The number of </a:t>
            </a:r>
            <a:r>
              <a:rPr lang="en-US" sz="1200" dirty="0" err="1" smtClean="0"/>
              <a:t>param</a:t>
            </a:r>
            <a:r>
              <a:rPr lang="en-US" sz="1200" dirty="0" smtClean="0"/>
              <a:t> in HL1 is </a:t>
            </a:r>
          </a:p>
          <a:p>
            <a:r>
              <a:rPr lang="en-US" sz="1200" dirty="0" smtClean="0"/>
              <a:t>= </a:t>
            </a:r>
            <a:r>
              <a:rPr lang="en-US" sz="1200" dirty="0" err="1" smtClean="0"/>
              <a:t>num_of_bias_terms</a:t>
            </a:r>
            <a:r>
              <a:rPr lang="en-US" sz="1200" dirty="0" smtClean="0"/>
              <a:t> + </a:t>
            </a:r>
            <a:r>
              <a:rPr lang="en-US" sz="1200" dirty="0" err="1" smtClean="0"/>
              <a:t>input_size</a:t>
            </a:r>
            <a:r>
              <a:rPr lang="en-US" sz="1200" dirty="0"/>
              <a:t> </a:t>
            </a:r>
            <a:r>
              <a:rPr lang="en-US" sz="1200" dirty="0" smtClean="0"/>
              <a:t>*  </a:t>
            </a:r>
            <a:r>
              <a:rPr lang="en-US" sz="1200" dirty="0" err="1" smtClean="0"/>
              <a:t>num_of_wts_from_each_input</a:t>
            </a:r>
            <a:endParaRPr lang="en-US" sz="1200" dirty="0" smtClean="0"/>
          </a:p>
          <a:p>
            <a:r>
              <a:rPr lang="en-US" sz="1200" dirty="0" smtClean="0"/>
              <a:t>= 4 + 18*4 = 76</a:t>
            </a:r>
          </a:p>
          <a:p>
            <a:r>
              <a:rPr lang="en-US" sz="1200" dirty="0" smtClean="0"/>
              <a:t>In real world, vocab size is around 5 million. So number of </a:t>
            </a:r>
            <a:r>
              <a:rPr lang="en-US" sz="1200" dirty="0" err="1" smtClean="0"/>
              <a:t>param</a:t>
            </a:r>
            <a:r>
              <a:rPr lang="en-US" sz="1200" dirty="0" smtClean="0"/>
              <a:t> would be large =&gt; computational complexity increases for ANN.</a:t>
            </a:r>
          </a:p>
          <a:p>
            <a:r>
              <a:rPr lang="en-US" sz="1200" dirty="0" smtClean="0"/>
              <a:t>2) The size of input is not fixed: </a:t>
            </a:r>
          </a:p>
          <a:p>
            <a:r>
              <a:rPr lang="en-US" sz="1200" dirty="0" smtClean="0"/>
              <a:t>“</a:t>
            </a:r>
            <a:r>
              <a:rPr lang="en-US" sz="1200" dirty="0"/>
              <a:t>apple was </a:t>
            </a:r>
            <a:r>
              <a:rPr lang="en-US" sz="1200" dirty="0" smtClean="0"/>
              <a:t>rotten” needs 3*9=18 inputs</a:t>
            </a:r>
          </a:p>
          <a:p>
            <a:r>
              <a:rPr lang="en-US" sz="1200" dirty="0" smtClean="0"/>
              <a:t>“</a:t>
            </a:r>
            <a:r>
              <a:rPr lang="en-US" sz="1200" dirty="0"/>
              <a:t>I was disappointed by apple</a:t>
            </a:r>
            <a:r>
              <a:rPr lang="en-US" sz="1200" dirty="0" smtClean="0"/>
              <a:t>” needs 5*9=45 inputs. ANN would not be able work with this type of varying input-size scenario. So padding of 0 was used to make it fixed size input….but this in turn would lead to unnecessary large number of 0 causing </a:t>
            </a:r>
            <a:r>
              <a:rPr lang="en-US" sz="1200" b="1" dirty="0" smtClean="0"/>
              <a:t>sparsity.</a:t>
            </a:r>
          </a:p>
          <a:p>
            <a:r>
              <a:rPr lang="en-US" sz="1200" dirty="0"/>
              <a:t>3</a:t>
            </a:r>
            <a:r>
              <a:rPr lang="en-US" sz="1200" dirty="0" smtClean="0"/>
              <a:t>) “Dog was chased by cat” and “cat was chased by dog”. The ANN would treat both as same sentence but they have semantically different meaning.</a:t>
            </a:r>
            <a:endParaRPr lang="en-US" sz="1200" dirty="0"/>
          </a:p>
        </p:txBody>
      </p:sp>
    </p:spTree>
    <p:extLst>
      <p:ext uri="{BB962C8B-B14F-4D97-AF65-F5344CB8AC3E}">
        <p14:creationId xmlns:p14="http://schemas.microsoft.com/office/powerpoint/2010/main" val="29108784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83FECE-52D7-BB62-267F-C092D46EDC7B}"/>
              </a:ext>
            </a:extLst>
          </p:cNvPr>
          <p:cNvSpPr>
            <a:spLocks noGrp="1"/>
          </p:cNvSpPr>
          <p:nvPr>
            <p:ph type="title"/>
          </p:nvPr>
        </p:nvSpPr>
        <p:spPr>
          <a:xfrm>
            <a:off x="838200" y="365126"/>
            <a:ext cx="1839012" cy="558702"/>
          </a:xfrm>
        </p:spPr>
        <p:txBody>
          <a:bodyPr>
            <a:normAutofit fontScale="90000"/>
          </a:bodyPr>
          <a:lstStyle/>
          <a:p>
            <a:r>
              <a:rPr lang="en-US" dirty="0"/>
              <a:t>Theory</a:t>
            </a:r>
            <a:endParaRPr lang="en-IN" dirty="0"/>
          </a:p>
        </p:txBody>
      </p:sp>
      <p:sp>
        <p:nvSpPr>
          <p:cNvPr id="3" name="Content Placeholder 2">
            <a:extLst>
              <a:ext uri="{FF2B5EF4-FFF2-40B4-BE49-F238E27FC236}">
                <a16:creationId xmlns:a16="http://schemas.microsoft.com/office/drawing/2014/main" id="{DD77E0F3-7565-F3AE-BD0C-E715B5ABAA0D}"/>
              </a:ext>
            </a:extLst>
          </p:cNvPr>
          <p:cNvSpPr>
            <a:spLocks noGrp="1"/>
          </p:cNvSpPr>
          <p:nvPr>
            <p:ph idx="1"/>
          </p:nvPr>
        </p:nvSpPr>
        <p:spPr>
          <a:xfrm>
            <a:off x="404566" y="1156320"/>
            <a:ext cx="6477002" cy="5489577"/>
          </a:xfrm>
        </p:spPr>
        <p:txBody>
          <a:bodyPr>
            <a:normAutofit/>
          </a:bodyPr>
          <a:lstStyle/>
          <a:p>
            <a:pPr algn="l">
              <a:spcAft>
                <a:spcPts val="1050"/>
              </a:spcAft>
            </a:pPr>
            <a:r>
              <a:rPr lang="en-US" sz="1400" b="0" i="0" dirty="0">
                <a:solidFill>
                  <a:srgbClr val="05192D"/>
                </a:solidFill>
                <a:effectLst/>
                <a:latin typeface="Studio-Feixen-Sans"/>
              </a:rPr>
              <a:t>A recurrent neural network (RNN) is the type of </a:t>
            </a:r>
            <a:r>
              <a:rPr lang="en-US" sz="1400" b="1" i="0" u="none" strike="noStrike" dirty="0">
                <a:solidFill>
                  <a:srgbClr val="0075AD"/>
                </a:solidFill>
                <a:effectLst/>
                <a:latin typeface="Studio-Feixen-Sans"/>
                <a:hlinkClick r:id="rId2"/>
              </a:rPr>
              <a:t>artificial neural network</a:t>
            </a:r>
            <a:r>
              <a:rPr lang="en-US" sz="1400" b="0" i="0" dirty="0">
                <a:solidFill>
                  <a:srgbClr val="05192D"/>
                </a:solidFill>
                <a:effectLst/>
                <a:latin typeface="Studio-Feixen-Sans"/>
              </a:rPr>
              <a:t> (ANN) that is used in Apple’s Siri and Google’s voice search.</a:t>
            </a:r>
          </a:p>
          <a:p>
            <a:pPr algn="l">
              <a:spcAft>
                <a:spcPts val="1050"/>
              </a:spcAft>
            </a:pPr>
            <a:r>
              <a:rPr lang="en-US" sz="1400" b="0" i="0" dirty="0">
                <a:solidFill>
                  <a:srgbClr val="05192D"/>
                </a:solidFill>
                <a:effectLst/>
                <a:latin typeface="Studio-Feixen-Sans"/>
              </a:rPr>
              <a:t> </a:t>
            </a:r>
            <a:r>
              <a:rPr lang="en-US" sz="1400" b="0" i="0" dirty="0">
                <a:solidFill>
                  <a:srgbClr val="3A3B41"/>
                </a:solidFill>
                <a:effectLst/>
                <a:latin typeface="Georgia" panose="02040502050405020303" pitchFamily="18" charset="0"/>
              </a:rPr>
              <a:t>RNN has a </a:t>
            </a:r>
            <a:r>
              <a:rPr lang="en-US" sz="1400" b="1" i="0" dirty="0">
                <a:solidFill>
                  <a:srgbClr val="3A3B41"/>
                </a:solidFill>
                <a:effectLst/>
                <a:latin typeface="Georgia" panose="02040502050405020303" pitchFamily="18" charset="0"/>
              </a:rPr>
              <a:t>short-term memory</a:t>
            </a:r>
            <a:r>
              <a:rPr lang="en-US" sz="1400" b="0" i="0" dirty="0">
                <a:solidFill>
                  <a:srgbClr val="3A3B41"/>
                </a:solidFill>
                <a:effectLst/>
                <a:latin typeface="Georgia" panose="02040502050405020303" pitchFamily="18" charset="0"/>
              </a:rPr>
              <a:t>. </a:t>
            </a:r>
            <a:r>
              <a:rPr lang="en-US" sz="1400" b="0" i="0" dirty="0">
                <a:solidFill>
                  <a:srgbClr val="05192D"/>
                </a:solidFill>
                <a:effectLst/>
                <a:latin typeface="Studio-Feixen-Sans"/>
              </a:rPr>
              <a:t>RNN remembers past inputs due to an internal memory which is useful for predicting stock prices, generating text, transcriptions, and machine translation.</a:t>
            </a:r>
          </a:p>
          <a:p>
            <a:pPr algn="l">
              <a:spcAft>
                <a:spcPts val="1050"/>
              </a:spcAft>
            </a:pPr>
            <a:r>
              <a:rPr lang="en-US" sz="1400" b="0" i="0" dirty="0">
                <a:solidFill>
                  <a:srgbClr val="05192D"/>
                </a:solidFill>
                <a:effectLst/>
                <a:latin typeface="Studio-Feixen-Sans"/>
              </a:rPr>
              <a:t>In the traditional neural network, the inputs and the outputs are independent of each other, whereas the output in RNN is dependent on prior elementals within the sequence. Recurrent networks also share parameters across each layer of the network.</a:t>
            </a:r>
          </a:p>
          <a:p>
            <a:pPr algn="l">
              <a:spcAft>
                <a:spcPts val="1050"/>
              </a:spcAft>
            </a:pPr>
            <a:r>
              <a:rPr lang="en-US" sz="1400" b="0" i="0" dirty="0">
                <a:solidFill>
                  <a:srgbClr val="383838"/>
                </a:solidFill>
                <a:effectLst/>
                <a:latin typeface="Inter"/>
              </a:rPr>
              <a:t>RNNs are a type of neural network that can model sequence data. RNNs, which are formed from </a:t>
            </a:r>
            <a:r>
              <a:rPr lang="en-US" sz="1400" b="0" i="0" u="sng" dirty="0">
                <a:effectLst/>
                <a:latin typeface="Inter"/>
                <a:hlinkClick r:id="rId3"/>
              </a:rPr>
              <a:t>feedforward networks</a:t>
            </a:r>
            <a:r>
              <a:rPr lang="en-US" sz="1400" b="0" i="0" dirty="0">
                <a:solidFill>
                  <a:srgbClr val="383838"/>
                </a:solidFill>
                <a:effectLst/>
                <a:latin typeface="Inter"/>
              </a:rPr>
              <a:t>, are similar to human brains in their </a:t>
            </a:r>
            <a:r>
              <a:rPr lang="en-US" sz="1400" b="0" i="0" dirty="0" err="1">
                <a:solidFill>
                  <a:srgbClr val="383838"/>
                </a:solidFill>
                <a:effectLst/>
                <a:latin typeface="Inter"/>
              </a:rPr>
              <a:t>behaviour</a:t>
            </a:r>
            <a:r>
              <a:rPr lang="en-US" sz="1400" b="0" i="0" dirty="0">
                <a:solidFill>
                  <a:srgbClr val="383838"/>
                </a:solidFill>
                <a:effectLst/>
                <a:latin typeface="Inter"/>
              </a:rPr>
              <a:t>. Simply said, recurrent neural networks can anticipate sequential data in a way that other algorithms can’t. All of the inputs and outputs in standard neural networks are independent of one another. However, in some circumstances, such as when predicting the next word of a phrase, the prior words are necessary, and so the previous words must be remembered. As a result, RNN was created, which used a hidden layer to overcome the problem. The most important component of RNN is the hidden state, which remembers specific information about a sequence.</a:t>
            </a:r>
            <a:r>
              <a:rPr lang="en-US" sz="1400" b="0" i="0" dirty="0">
                <a:solidFill>
                  <a:srgbClr val="05192D"/>
                </a:solidFill>
                <a:effectLst/>
                <a:latin typeface="Studio-Feixen-Sans"/>
              </a:rPr>
              <a:t> </a:t>
            </a:r>
            <a:endParaRPr lang="en-IN" sz="1400" dirty="0"/>
          </a:p>
        </p:txBody>
      </p:sp>
      <p:pic>
        <p:nvPicPr>
          <p:cNvPr id="5" name="Picture 4">
            <a:extLst>
              <a:ext uri="{FF2B5EF4-FFF2-40B4-BE49-F238E27FC236}">
                <a16:creationId xmlns:a16="http://schemas.microsoft.com/office/drawing/2014/main" id="{6C989EBC-F5D8-1E7E-9CFC-BC0A3D2C8A7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407604" y="1366884"/>
            <a:ext cx="4614060" cy="2200925"/>
          </a:xfrm>
          <a:prstGeom prst="rect">
            <a:avLst/>
          </a:prstGeom>
        </p:spPr>
      </p:pic>
      <p:sp>
        <p:nvSpPr>
          <p:cNvPr id="4" name="TextBox 3"/>
          <p:cNvSpPr txBox="1"/>
          <p:nvPr/>
        </p:nvSpPr>
        <p:spPr>
          <a:xfrm>
            <a:off x="710214" y="6329779"/>
            <a:ext cx="8677888" cy="369332"/>
          </a:xfrm>
          <a:prstGeom prst="rect">
            <a:avLst/>
          </a:prstGeom>
          <a:noFill/>
        </p:spPr>
        <p:txBody>
          <a:bodyPr wrap="none" rtlCol="0">
            <a:spAutoFit/>
          </a:bodyPr>
          <a:lstStyle/>
          <a:p>
            <a:r>
              <a:rPr lang="en-US" dirty="0" smtClean="0"/>
              <a:t>For more read: https</a:t>
            </a:r>
            <a:r>
              <a:rPr lang="en-US" dirty="0"/>
              <a:t>://www.geeksforgeeks.org/introduction-to-recurrent-neural-network/</a:t>
            </a:r>
          </a:p>
        </p:txBody>
      </p:sp>
    </p:spTree>
    <p:extLst>
      <p:ext uri="{BB962C8B-B14F-4D97-AF65-F5344CB8AC3E}">
        <p14:creationId xmlns:p14="http://schemas.microsoft.com/office/powerpoint/2010/main" val="36132145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CDB474-BC4E-E44B-2BDF-5C9BE39797B6}"/>
              </a:ext>
            </a:extLst>
          </p:cNvPr>
          <p:cNvSpPr>
            <a:spLocks noGrp="1"/>
          </p:cNvSpPr>
          <p:nvPr>
            <p:ph type="title"/>
          </p:nvPr>
        </p:nvSpPr>
        <p:spPr>
          <a:xfrm>
            <a:off x="838200" y="160934"/>
            <a:ext cx="10515600" cy="531520"/>
          </a:xfrm>
        </p:spPr>
        <p:txBody>
          <a:bodyPr>
            <a:normAutofit fontScale="90000"/>
          </a:bodyPr>
          <a:lstStyle/>
          <a:p>
            <a:r>
              <a:rPr lang="en-US" dirty="0"/>
              <a:t>Architecture</a:t>
            </a:r>
            <a:endParaRPr lang="en-IN" dirty="0"/>
          </a:p>
        </p:txBody>
      </p:sp>
      <p:sp>
        <p:nvSpPr>
          <p:cNvPr id="3" name="Content Placeholder 2">
            <a:extLst>
              <a:ext uri="{FF2B5EF4-FFF2-40B4-BE49-F238E27FC236}">
                <a16:creationId xmlns:a16="http://schemas.microsoft.com/office/drawing/2014/main" id="{20C1ACD7-D9B9-DB8D-026C-5161CA3F5BE1}"/>
              </a:ext>
            </a:extLst>
          </p:cNvPr>
          <p:cNvSpPr>
            <a:spLocks noGrp="1"/>
          </p:cNvSpPr>
          <p:nvPr>
            <p:ph idx="1"/>
          </p:nvPr>
        </p:nvSpPr>
        <p:spPr>
          <a:xfrm>
            <a:off x="292964" y="636017"/>
            <a:ext cx="11665258" cy="3403322"/>
          </a:xfrm>
        </p:spPr>
        <p:txBody>
          <a:bodyPr>
            <a:noAutofit/>
          </a:bodyPr>
          <a:lstStyle/>
          <a:p>
            <a:pPr marL="0" indent="0">
              <a:buNone/>
            </a:pPr>
            <a:r>
              <a:rPr lang="en-US" sz="1400" dirty="0"/>
              <a:t>RNNs are a type of neural network with hidden states and allow past outputs to be used as inputs. </a:t>
            </a:r>
            <a:r>
              <a:rPr lang="en-US" sz="1400" dirty="0" smtClean="0"/>
              <a:t>Here’s </a:t>
            </a:r>
            <a:r>
              <a:rPr lang="en-US" sz="1400" dirty="0"/>
              <a:t>a breakdown of its key components:</a:t>
            </a:r>
          </a:p>
          <a:p>
            <a:r>
              <a:rPr lang="en-US" sz="1400" b="1" dirty="0"/>
              <a:t>Input Layer</a:t>
            </a:r>
            <a:r>
              <a:rPr lang="en-US" sz="1400" dirty="0"/>
              <a:t>: This layer receives the initial element of the sequence data. For example, in a sentence, it might receive the first word as a vector representation.</a:t>
            </a:r>
          </a:p>
          <a:p>
            <a:r>
              <a:rPr lang="en-US" sz="1400" b="1" dirty="0"/>
              <a:t>Hidden Layer</a:t>
            </a:r>
            <a:r>
              <a:rPr lang="en-US" sz="1400" dirty="0"/>
              <a:t>: The heart of the RNN, the hidden layer contains a set of interconnected neurons. Each neuron processes the current input along with the information from the previous hidden layer’s state. This “state” captures the network’s memory of past inputs, allowing it to understand the current element in context.</a:t>
            </a:r>
          </a:p>
          <a:p>
            <a:r>
              <a:rPr lang="en-US" sz="1400" b="1" dirty="0"/>
              <a:t>Activation Function</a:t>
            </a:r>
            <a:r>
              <a:rPr lang="en-US" sz="1400" dirty="0"/>
              <a:t>: This function introduces non-linearity into the network, enabling it to learn complex patterns. It transforms the combined input from the current input layer and the previous hidden layer state before passing it on.</a:t>
            </a:r>
          </a:p>
          <a:p>
            <a:r>
              <a:rPr lang="en-US" sz="1400" b="1" dirty="0"/>
              <a:t>Output Layer</a:t>
            </a:r>
            <a:r>
              <a:rPr lang="en-US" sz="1400" dirty="0"/>
              <a:t>: The output layer generates the network’s prediction based on the processed information. In a language model, it might predict the next word in the sequence.</a:t>
            </a:r>
          </a:p>
          <a:p>
            <a:r>
              <a:rPr lang="en-US" sz="1400" b="1" dirty="0"/>
              <a:t>Recurrent Connection</a:t>
            </a:r>
            <a:r>
              <a:rPr lang="en-US" sz="1400" dirty="0"/>
              <a:t>: A key distinction of RNNs is the recurrent connection within the hidden layer. This connection allows the network to pass the hidden state information (the network’s memory) to the next time step. It’s like passing a baton in a relay race, carrying information about previous inputs </a:t>
            </a:r>
            <a:r>
              <a:rPr lang="en-US" sz="1400" dirty="0" smtClean="0"/>
              <a:t>forward</a:t>
            </a:r>
            <a:endParaRPr lang="en-US" sz="1400"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79572" y="3888420"/>
            <a:ext cx="6416754" cy="2840854"/>
          </a:xfrm>
          <a:prstGeom prst="rect">
            <a:avLst/>
          </a:prstGeom>
        </p:spPr>
      </p:pic>
    </p:spTree>
    <p:extLst>
      <p:ext uri="{BB962C8B-B14F-4D97-AF65-F5344CB8AC3E}">
        <p14:creationId xmlns:p14="http://schemas.microsoft.com/office/powerpoint/2010/main" val="34771264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02541"/>
          </a:xfrm>
        </p:spPr>
        <p:txBody>
          <a:bodyPr>
            <a:normAutofit fontScale="90000"/>
          </a:bodyPr>
          <a:lstStyle/>
          <a:p>
            <a:r>
              <a:rPr lang="en-US" dirty="0" smtClean="0"/>
              <a:t>RNN</a:t>
            </a: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39526" y="1844984"/>
            <a:ext cx="6153150" cy="2724150"/>
          </a:xfrm>
          <a:prstGeom prst="rect">
            <a:avLst/>
          </a:prstGeom>
        </p:spPr>
      </p:pic>
      <p:sp>
        <p:nvSpPr>
          <p:cNvPr id="5" name="TextBox 4"/>
          <p:cNvSpPr txBox="1"/>
          <p:nvPr/>
        </p:nvSpPr>
        <p:spPr>
          <a:xfrm>
            <a:off x="435006" y="5113538"/>
            <a:ext cx="10012693" cy="923330"/>
          </a:xfrm>
          <a:prstGeom prst="rect">
            <a:avLst/>
          </a:prstGeom>
          <a:noFill/>
        </p:spPr>
        <p:txBody>
          <a:bodyPr wrap="square" rtlCol="0">
            <a:spAutoFit/>
          </a:bodyPr>
          <a:lstStyle/>
          <a:p>
            <a:r>
              <a:rPr lang="en-US" b="1" dirty="0" smtClean="0"/>
              <a:t>RNN incorporates </a:t>
            </a:r>
            <a:r>
              <a:rPr lang="en-US" b="1" dirty="0"/>
              <a:t>loops that allow information from previous steps to be fed back into the network</a:t>
            </a:r>
            <a:r>
              <a:rPr lang="en-US" dirty="0"/>
              <a:t>. This feedback enables RNNs to remember prior inputs making them ideal for tasks where context is important.</a:t>
            </a:r>
          </a:p>
        </p:txBody>
      </p:sp>
    </p:spTree>
    <p:extLst>
      <p:ext uri="{BB962C8B-B14F-4D97-AF65-F5344CB8AC3E}">
        <p14:creationId xmlns:p14="http://schemas.microsoft.com/office/powerpoint/2010/main" val="971873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02541"/>
          </a:xfrm>
        </p:spPr>
        <p:txBody>
          <a:bodyPr>
            <a:normAutofit/>
          </a:bodyPr>
          <a:lstStyle/>
          <a:p>
            <a:r>
              <a:rPr lang="en-US" sz="3200" dirty="0" smtClean="0"/>
              <a:t>RNN: Feed Forward Propagation (TODO from Batch9)</a:t>
            </a:r>
            <a:endParaRPr lang="en-US" sz="3200" dirty="0"/>
          </a:p>
        </p:txBody>
      </p:sp>
    </p:spTree>
    <p:extLst>
      <p:ext uri="{BB962C8B-B14F-4D97-AF65-F5344CB8AC3E}">
        <p14:creationId xmlns:p14="http://schemas.microsoft.com/office/powerpoint/2010/main" val="6297077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8805" y="258589"/>
            <a:ext cx="10515600" cy="602541"/>
          </a:xfrm>
        </p:spPr>
        <p:txBody>
          <a:bodyPr>
            <a:normAutofit/>
          </a:bodyPr>
          <a:lstStyle/>
          <a:p>
            <a:r>
              <a:rPr lang="en-US" sz="3200" dirty="0" smtClean="0"/>
              <a:t>RNN: How many parameters(</a:t>
            </a:r>
            <a:r>
              <a:rPr lang="en-US" sz="3200" dirty="0" err="1" smtClean="0"/>
              <a:t>wts+bias</a:t>
            </a:r>
            <a:r>
              <a:rPr lang="en-US" sz="3200" dirty="0" smtClean="0"/>
              <a:t>) ?  </a:t>
            </a:r>
            <a:r>
              <a:rPr lang="en-US" sz="3200" dirty="0" err="1" smtClean="0"/>
              <a:t>Ans</a:t>
            </a:r>
            <a:r>
              <a:rPr lang="en-US" sz="3200" dirty="0" smtClean="0"/>
              <a:t>: 27+4=31</a:t>
            </a:r>
            <a:endParaRPr lang="en-US" sz="3200"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3416794" y="-100988"/>
            <a:ext cx="5746073" cy="7661432"/>
          </a:xfrm>
          <a:prstGeom prst="rect">
            <a:avLst/>
          </a:prstGeom>
        </p:spPr>
      </p:pic>
    </p:spTree>
    <p:extLst>
      <p:ext uri="{BB962C8B-B14F-4D97-AF65-F5344CB8AC3E}">
        <p14:creationId xmlns:p14="http://schemas.microsoft.com/office/powerpoint/2010/main" val="42024964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8805" y="258589"/>
            <a:ext cx="10515600" cy="602541"/>
          </a:xfrm>
        </p:spPr>
        <p:txBody>
          <a:bodyPr>
            <a:normAutofit/>
          </a:bodyPr>
          <a:lstStyle/>
          <a:p>
            <a:r>
              <a:rPr lang="en-US" sz="3200" dirty="0" smtClean="0"/>
              <a:t>RNN: Back propagation Theory(TODO)</a:t>
            </a:r>
            <a:endParaRPr lang="en-US" sz="3200" dirty="0"/>
          </a:p>
        </p:txBody>
      </p:sp>
    </p:spTree>
    <p:extLst>
      <p:ext uri="{BB962C8B-B14F-4D97-AF65-F5344CB8AC3E}">
        <p14:creationId xmlns:p14="http://schemas.microsoft.com/office/powerpoint/2010/main" val="28221615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0B27C4-64E6-F4F6-E2EC-BFCE60E27E5D}"/>
              </a:ext>
            </a:extLst>
          </p:cNvPr>
          <p:cNvSpPr>
            <a:spLocks noGrp="1"/>
          </p:cNvSpPr>
          <p:nvPr>
            <p:ph type="title"/>
          </p:nvPr>
        </p:nvSpPr>
        <p:spPr/>
        <p:txBody>
          <a:bodyPr/>
          <a:lstStyle/>
          <a:p>
            <a:r>
              <a:rPr lang="en-US" dirty="0"/>
              <a:t>Key properties of RNN</a:t>
            </a:r>
            <a:endParaRPr lang="en-IN" dirty="0"/>
          </a:p>
        </p:txBody>
      </p:sp>
      <p:sp>
        <p:nvSpPr>
          <p:cNvPr id="3" name="Content Placeholder 2">
            <a:extLst>
              <a:ext uri="{FF2B5EF4-FFF2-40B4-BE49-F238E27FC236}">
                <a16:creationId xmlns:a16="http://schemas.microsoft.com/office/drawing/2014/main" id="{590F6925-9813-D65F-7ECD-499A418EADEA}"/>
              </a:ext>
            </a:extLst>
          </p:cNvPr>
          <p:cNvSpPr>
            <a:spLocks noGrp="1"/>
          </p:cNvSpPr>
          <p:nvPr>
            <p:ph idx="1"/>
          </p:nvPr>
        </p:nvSpPr>
        <p:spPr/>
        <p:txBody>
          <a:bodyPr>
            <a:normAutofit fontScale="47500" lnSpcReduction="20000"/>
          </a:bodyPr>
          <a:lstStyle/>
          <a:p>
            <a:pPr marL="0" indent="0" algn="l">
              <a:lnSpc>
                <a:spcPts val="2700"/>
              </a:lnSpc>
              <a:buNone/>
            </a:pPr>
            <a:r>
              <a:rPr lang="en-US" b="0" i="0" dirty="0">
                <a:solidFill>
                  <a:srgbClr val="383838"/>
                </a:solidFill>
                <a:effectLst/>
                <a:latin typeface="Inter"/>
              </a:rPr>
              <a:t>Recurrent neural networks (RNNs) set themselves apart from other neural networks with their unique capabilities:</a:t>
            </a:r>
          </a:p>
          <a:p>
            <a:pPr algn="l">
              <a:lnSpc>
                <a:spcPts val="2700"/>
              </a:lnSpc>
              <a:spcAft>
                <a:spcPts val="750"/>
              </a:spcAft>
              <a:buFont typeface="Arial" panose="020B0604020202020204" pitchFamily="34" charset="0"/>
              <a:buChar char="•"/>
            </a:pPr>
            <a:r>
              <a:rPr lang="en-US" b="1" i="0" dirty="0">
                <a:solidFill>
                  <a:srgbClr val="383838"/>
                </a:solidFill>
                <a:effectLst/>
                <a:latin typeface="Inter"/>
              </a:rPr>
              <a:t>Internal Memory: </a:t>
            </a:r>
            <a:r>
              <a:rPr lang="en-US" b="0" i="0" dirty="0">
                <a:solidFill>
                  <a:srgbClr val="383838"/>
                </a:solidFill>
                <a:effectLst/>
                <a:latin typeface="Inter"/>
              </a:rPr>
              <a:t>This is the key feature of RNNs. It allows them to remember past inputs and use that context when processing new information.</a:t>
            </a:r>
          </a:p>
          <a:p>
            <a:pPr algn="l">
              <a:lnSpc>
                <a:spcPts val="2700"/>
              </a:lnSpc>
              <a:spcAft>
                <a:spcPts val="750"/>
              </a:spcAft>
              <a:buFont typeface="Arial" panose="020B0604020202020204" pitchFamily="34" charset="0"/>
              <a:buChar char="•"/>
            </a:pPr>
            <a:r>
              <a:rPr lang="en-US" b="1" i="0" dirty="0">
                <a:solidFill>
                  <a:srgbClr val="383838"/>
                </a:solidFill>
                <a:effectLst/>
                <a:latin typeface="Inter"/>
              </a:rPr>
              <a:t>Sequential Data Processing: </a:t>
            </a:r>
            <a:r>
              <a:rPr lang="en-US" b="0" i="0" dirty="0">
                <a:solidFill>
                  <a:srgbClr val="383838"/>
                </a:solidFill>
                <a:effectLst/>
                <a:latin typeface="Inter"/>
              </a:rPr>
              <a:t>Because of their memory, RNNs are exceptional at handling sequential data where the order of elements matters. This makes them ideal for speech recognition, machine translation, natural language processing (NLP) and text generation.</a:t>
            </a:r>
          </a:p>
          <a:p>
            <a:pPr algn="l">
              <a:lnSpc>
                <a:spcPts val="2700"/>
              </a:lnSpc>
              <a:spcAft>
                <a:spcPts val="750"/>
              </a:spcAft>
              <a:buFont typeface="Arial" panose="020B0604020202020204" pitchFamily="34" charset="0"/>
              <a:buChar char="•"/>
            </a:pPr>
            <a:r>
              <a:rPr lang="en-US" b="1" i="0" dirty="0">
                <a:solidFill>
                  <a:srgbClr val="383838"/>
                </a:solidFill>
                <a:effectLst/>
                <a:latin typeface="Inter"/>
              </a:rPr>
              <a:t>Contextual Understanding: </a:t>
            </a:r>
            <a:r>
              <a:rPr lang="en-US" b="0" i="0" dirty="0">
                <a:solidFill>
                  <a:srgbClr val="383838"/>
                </a:solidFill>
                <a:effectLst/>
                <a:latin typeface="Inter"/>
              </a:rPr>
              <a:t>RNNs can analyze the current input in relation to what they’ve “seen” before. This contextual understanding is crucial for tasks where meaning depends on prior information.</a:t>
            </a:r>
          </a:p>
          <a:p>
            <a:pPr algn="l">
              <a:lnSpc>
                <a:spcPts val="2700"/>
              </a:lnSpc>
              <a:spcAft>
                <a:spcPts val="750"/>
              </a:spcAft>
              <a:buFont typeface="Arial" panose="020B0604020202020204" pitchFamily="34" charset="0"/>
              <a:buChar char="•"/>
            </a:pPr>
            <a:r>
              <a:rPr lang="en-US" b="1" i="0" dirty="0">
                <a:solidFill>
                  <a:srgbClr val="383838"/>
                </a:solidFill>
                <a:effectLst/>
                <a:latin typeface="Inter"/>
              </a:rPr>
              <a:t>Dynamic Processing: </a:t>
            </a:r>
            <a:r>
              <a:rPr lang="en-US" b="0" i="0" dirty="0">
                <a:solidFill>
                  <a:srgbClr val="383838"/>
                </a:solidFill>
                <a:effectLst/>
                <a:latin typeface="Inter"/>
              </a:rPr>
              <a:t>RNNs can continuously update their internal memory as they process new data, allowing them to adapt to changing patterns within a sequence.</a:t>
            </a:r>
          </a:p>
          <a:p>
            <a:endParaRPr lang="en-IN" dirty="0"/>
          </a:p>
        </p:txBody>
      </p:sp>
    </p:spTree>
    <p:extLst>
      <p:ext uri="{BB962C8B-B14F-4D97-AF65-F5344CB8AC3E}">
        <p14:creationId xmlns:p14="http://schemas.microsoft.com/office/powerpoint/2010/main" val="11686818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BAF557-984D-9391-456C-056CDC893981}"/>
              </a:ext>
            </a:extLst>
          </p:cNvPr>
          <p:cNvSpPr>
            <a:spLocks noGrp="1"/>
          </p:cNvSpPr>
          <p:nvPr>
            <p:ph type="title"/>
          </p:nvPr>
        </p:nvSpPr>
        <p:spPr>
          <a:xfrm>
            <a:off x="838201" y="365125"/>
            <a:ext cx="3121058" cy="615263"/>
          </a:xfrm>
        </p:spPr>
        <p:txBody>
          <a:bodyPr>
            <a:normAutofit fontScale="90000"/>
          </a:bodyPr>
          <a:lstStyle/>
          <a:p>
            <a:r>
              <a:rPr lang="en-US" dirty="0"/>
              <a:t>Types of RNN</a:t>
            </a:r>
            <a:endParaRPr lang="en-IN" dirty="0"/>
          </a:p>
        </p:txBody>
      </p:sp>
      <p:pic>
        <p:nvPicPr>
          <p:cNvPr id="5" name="Picture 4">
            <a:extLst>
              <a:ext uri="{FF2B5EF4-FFF2-40B4-BE49-F238E27FC236}">
                <a16:creationId xmlns:a16="http://schemas.microsoft.com/office/drawing/2014/main" id="{20BFA01E-330B-6BAC-E66B-8118D088BE5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11335" y="503641"/>
            <a:ext cx="5334462" cy="2400508"/>
          </a:xfrm>
          <a:prstGeom prst="rect">
            <a:avLst/>
          </a:prstGeom>
        </p:spPr>
      </p:pic>
      <p:sp>
        <p:nvSpPr>
          <p:cNvPr id="6" name="TextBox 5">
            <a:extLst>
              <a:ext uri="{FF2B5EF4-FFF2-40B4-BE49-F238E27FC236}">
                <a16:creationId xmlns:a16="http://schemas.microsoft.com/office/drawing/2014/main" id="{6FFE490D-681E-A54A-D39D-EF1E43C27571}"/>
              </a:ext>
            </a:extLst>
          </p:cNvPr>
          <p:cNvSpPr txBox="1"/>
          <p:nvPr/>
        </p:nvSpPr>
        <p:spPr>
          <a:xfrm>
            <a:off x="461913" y="1574276"/>
            <a:ext cx="5457106" cy="3539430"/>
          </a:xfrm>
          <a:prstGeom prst="rect">
            <a:avLst/>
          </a:prstGeom>
          <a:noFill/>
        </p:spPr>
        <p:txBody>
          <a:bodyPr wrap="square" rtlCol="0">
            <a:spAutoFit/>
          </a:bodyPr>
          <a:lstStyle/>
          <a:p>
            <a:pPr marL="285750" indent="-285750">
              <a:buFont typeface="Arial" panose="020B0604020202020204" pitchFamily="34" charset="0"/>
              <a:buChar char="•"/>
            </a:pPr>
            <a:r>
              <a:rPr lang="en-US" sz="1400" b="1" dirty="0"/>
              <a:t>One-to-one</a:t>
            </a:r>
            <a:r>
              <a:rPr lang="en-US" sz="1400" dirty="0"/>
              <a:t> RNN models have one input and one output. One-to-one architecture is used in traditional neural networks and for general machine learning tasks like </a:t>
            </a:r>
            <a:r>
              <a:rPr lang="en-US" sz="1400" b="1" dirty="0"/>
              <a:t>image classification</a:t>
            </a:r>
            <a:r>
              <a:rPr lang="en-US" sz="1400" dirty="0"/>
              <a:t>.</a:t>
            </a:r>
          </a:p>
          <a:p>
            <a:pPr marL="285750" indent="-285750">
              <a:buFont typeface="Arial" panose="020B0604020202020204" pitchFamily="34" charset="0"/>
              <a:buChar char="•"/>
            </a:pPr>
            <a:r>
              <a:rPr lang="en-US" sz="1400" b="1" i="0" dirty="0">
                <a:solidFill>
                  <a:srgbClr val="3A3B41"/>
                </a:solidFill>
                <a:effectLst/>
              </a:rPr>
              <a:t>One-to-many</a:t>
            </a:r>
            <a:r>
              <a:rPr lang="en-US" sz="1400" b="0" i="0" dirty="0">
                <a:solidFill>
                  <a:srgbClr val="3A3B41"/>
                </a:solidFill>
                <a:effectLst/>
              </a:rPr>
              <a:t> RNNs have one input and several outputs. This enables image captioning or </a:t>
            </a:r>
            <a:r>
              <a:rPr lang="en-US" sz="1400" b="0" i="0" dirty="0">
                <a:effectLst/>
                <a:hlinkClick r:id="rId3"/>
              </a:rPr>
              <a:t>music generation</a:t>
            </a:r>
            <a:r>
              <a:rPr lang="en-US" sz="1400" b="0" i="0" dirty="0">
                <a:solidFill>
                  <a:srgbClr val="3A3B41"/>
                </a:solidFill>
                <a:effectLst/>
              </a:rPr>
              <a:t> capabilities, as it uses a single input (like a keyword) to generate multiple outputs (like a sentence).</a:t>
            </a:r>
          </a:p>
          <a:p>
            <a:pPr marL="285750" indent="-285750">
              <a:buFont typeface="Arial" panose="020B0604020202020204" pitchFamily="34" charset="0"/>
              <a:buChar char="•"/>
            </a:pPr>
            <a:r>
              <a:rPr lang="en-US" sz="1400" b="1" dirty="0">
                <a:solidFill>
                  <a:srgbClr val="3A3B41"/>
                </a:solidFill>
              </a:rPr>
              <a:t>M</a:t>
            </a:r>
            <a:r>
              <a:rPr lang="en-US" sz="1400" b="1" i="0" dirty="0">
                <a:solidFill>
                  <a:srgbClr val="3A3B41"/>
                </a:solidFill>
                <a:effectLst/>
              </a:rPr>
              <a:t>any-to-one </a:t>
            </a:r>
            <a:r>
              <a:rPr lang="en-US" sz="1400" b="0" i="0" dirty="0">
                <a:solidFill>
                  <a:srgbClr val="3A3B41"/>
                </a:solidFill>
                <a:effectLst/>
              </a:rPr>
              <a:t>model has several inputs and one output. Tasks like </a:t>
            </a:r>
            <a:r>
              <a:rPr lang="en-US" sz="1400" b="0" i="0" dirty="0">
                <a:effectLst/>
                <a:hlinkClick r:id="rId4"/>
              </a:rPr>
              <a:t>sentiment analysis</a:t>
            </a:r>
            <a:r>
              <a:rPr lang="en-US" sz="1400" b="0" i="0" dirty="0">
                <a:solidFill>
                  <a:srgbClr val="3A3B41"/>
                </a:solidFill>
                <a:effectLst/>
              </a:rPr>
              <a:t> or </a:t>
            </a:r>
            <a:r>
              <a:rPr lang="en-US" sz="1400" b="0" i="0" dirty="0">
                <a:effectLst/>
                <a:hlinkClick r:id="rId5"/>
              </a:rPr>
              <a:t>text classification</a:t>
            </a:r>
            <a:r>
              <a:rPr lang="en-US" sz="1400" b="0" i="0" dirty="0">
                <a:solidFill>
                  <a:srgbClr val="3A3B41"/>
                </a:solidFill>
                <a:effectLst/>
              </a:rPr>
              <a:t> often use many-to-one architectures. For example, a sequence of inputs (like a sentence) can be classified into one category (like if the sentence is considered a positive/negative sentiment). </a:t>
            </a:r>
          </a:p>
          <a:p>
            <a:pPr marL="285750" indent="-285750">
              <a:buFont typeface="Arial" panose="020B0604020202020204" pitchFamily="34" charset="0"/>
              <a:buChar char="•"/>
            </a:pPr>
            <a:r>
              <a:rPr lang="en-US" sz="1400" b="1" i="0" dirty="0">
                <a:solidFill>
                  <a:srgbClr val="3A3B41"/>
                </a:solidFill>
                <a:effectLst/>
              </a:rPr>
              <a:t>Many-to-many</a:t>
            </a:r>
            <a:r>
              <a:rPr lang="en-US" sz="1400" b="0" i="0" dirty="0">
                <a:solidFill>
                  <a:srgbClr val="3A3B41"/>
                </a:solidFill>
                <a:effectLst/>
              </a:rPr>
              <a:t> models map several inputs to several outputs. </a:t>
            </a:r>
            <a:r>
              <a:rPr lang="en-US" sz="1400" b="0" i="0" dirty="0">
                <a:effectLst/>
                <a:hlinkClick r:id="rId6"/>
              </a:rPr>
              <a:t>Machine translation</a:t>
            </a:r>
            <a:r>
              <a:rPr lang="en-US" sz="1400" b="0" i="0" dirty="0">
                <a:solidFill>
                  <a:srgbClr val="3A3B41"/>
                </a:solidFill>
                <a:effectLst/>
              </a:rPr>
              <a:t> and </a:t>
            </a:r>
            <a:r>
              <a:rPr lang="en-US" sz="1400" b="0" i="0" dirty="0">
                <a:effectLst/>
                <a:hlinkClick r:id="rId7"/>
              </a:rPr>
              <a:t>name entity recognition</a:t>
            </a:r>
            <a:r>
              <a:rPr lang="en-US" sz="1400" b="0" i="0" dirty="0">
                <a:solidFill>
                  <a:srgbClr val="3A3B41"/>
                </a:solidFill>
                <a:effectLst/>
              </a:rPr>
              <a:t> are powered by many-to-many RNNs, where multiple words or sentences can be structured into multiple different outputs (like a new language or varied categorizations).</a:t>
            </a:r>
            <a:endParaRPr lang="en-IN" sz="1400" dirty="0"/>
          </a:p>
        </p:txBody>
      </p:sp>
    </p:spTree>
    <p:extLst>
      <p:ext uri="{BB962C8B-B14F-4D97-AF65-F5344CB8AC3E}">
        <p14:creationId xmlns:p14="http://schemas.microsoft.com/office/powerpoint/2010/main" val="25739503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9916"/>
            <a:ext cx="10515600" cy="709073"/>
          </a:xfrm>
        </p:spPr>
        <p:txBody>
          <a:bodyPr/>
          <a:lstStyle/>
          <a:p>
            <a:r>
              <a:rPr lang="en-US" dirty="0" smtClean="0"/>
              <a:t>Difference between RNN and simple NN</a:t>
            </a: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71787" y="2739408"/>
            <a:ext cx="6448425" cy="2733675"/>
          </a:xfrm>
          <a:prstGeom prst="rect">
            <a:avLst/>
          </a:prstGeom>
        </p:spPr>
      </p:pic>
    </p:spTree>
    <p:extLst>
      <p:ext uri="{BB962C8B-B14F-4D97-AF65-F5344CB8AC3E}">
        <p14:creationId xmlns:p14="http://schemas.microsoft.com/office/powerpoint/2010/main" val="23848399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Differences </a:t>
            </a:r>
            <a:r>
              <a:rPr lang="en-US" b="1" smtClean="0"/>
              <a:t>Between RNN and CNN</a:t>
            </a:r>
            <a:endParaRPr lang="en-US" dirty="0"/>
          </a:p>
        </p:txBody>
      </p:sp>
      <p:sp>
        <p:nvSpPr>
          <p:cNvPr id="3" name="Content Placeholder 2"/>
          <p:cNvSpPr>
            <a:spLocks noGrp="1"/>
          </p:cNvSpPr>
          <p:nvPr>
            <p:ph idx="1"/>
          </p:nvPr>
        </p:nvSpPr>
        <p:spPr/>
        <p:txBody>
          <a:bodyPr>
            <a:normAutofit lnSpcReduction="10000"/>
          </a:bodyPr>
          <a:lstStyle/>
          <a:p>
            <a:r>
              <a:rPr lang="en-US" dirty="0" smtClean="0"/>
              <a:t>CNN </a:t>
            </a:r>
            <a:r>
              <a:rPr lang="en-US" dirty="0"/>
              <a:t>is applicable for sparse data like images. RNN is applicable for time series and sequential data.</a:t>
            </a:r>
          </a:p>
          <a:p>
            <a:r>
              <a:rPr lang="en-US" dirty="0"/>
              <a:t>While training the model, CNN uses a simple backpropagation and RNN uses backpropagation through time to calculate the loss.</a:t>
            </a:r>
          </a:p>
          <a:p>
            <a:r>
              <a:rPr lang="en-US" dirty="0"/>
              <a:t>RNN can have no restriction in length of inputs and outputs, but CNN has finite inputs and finite outputs.</a:t>
            </a:r>
          </a:p>
          <a:p>
            <a:r>
              <a:rPr lang="en-US" dirty="0"/>
              <a:t>CNN has a feedforward network and RNN works on loops to handle sequential data.</a:t>
            </a:r>
          </a:p>
          <a:p>
            <a:r>
              <a:rPr lang="en-US" dirty="0"/>
              <a:t>CNN can also be used for video and image processing. RNN is primarily used for speech and text analysis.</a:t>
            </a:r>
          </a:p>
          <a:p>
            <a:endParaRPr lang="en-US" dirty="0"/>
          </a:p>
        </p:txBody>
      </p:sp>
    </p:spTree>
    <p:extLst>
      <p:ext uri="{BB962C8B-B14F-4D97-AF65-F5344CB8AC3E}">
        <p14:creationId xmlns:p14="http://schemas.microsoft.com/office/powerpoint/2010/main" val="9015162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FC269-1AD7-B756-9DB8-245A2D770D08}"/>
              </a:ext>
            </a:extLst>
          </p:cNvPr>
          <p:cNvSpPr>
            <a:spLocks noGrp="1"/>
          </p:cNvSpPr>
          <p:nvPr>
            <p:ph type="title"/>
          </p:nvPr>
        </p:nvSpPr>
        <p:spPr>
          <a:xfrm>
            <a:off x="838200" y="125427"/>
            <a:ext cx="10515600" cy="806727"/>
          </a:xfrm>
        </p:spPr>
        <p:txBody>
          <a:bodyPr/>
          <a:lstStyle/>
          <a:p>
            <a:r>
              <a:rPr lang="en-US" dirty="0"/>
              <a:t>Disadvantages of </a:t>
            </a:r>
            <a:r>
              <a:rPr lang="en-US" dirty="0" smtClean="0"/>
              <a:t>RNN(p1)</a:t>
            </a:r>
            <a:endParaRPr lang="en-IN" dirty="0"/>
          </a:p>
        </p:txBody>
      </p:sp>
      <p:sp>
        <p:nvSpPr>
          <p:cNvPr id="3" name="Content Placeholder 2">
            <a:extLst>
              <a:ext uri="{FF2B5EF4-FFF2-40B4-BE49-F238E27FC236}">
                <a16:creationId xmlns:a16="http://schemas.microsoft.com/office/drawing/2014/main" id="{AC9BFD3C-9DF5-E9CF-73D9-B385F4549F93}"/>
              </a:ext>
            </a:extLst>
          </p:cNvPr>
          <p:cNvSpPr>
            <a:spLocks noGrp="1"/>
          </p:cNvSpPr>
          <p:nvPr>
            <p:ph idx="1"/>
          </p:nvPr>
        </p:nvSpPr>
        <p:spPr>
          <a:xfrm>
            <a:off x="177553" y="932154"/>
            <a:ext cx="11780668" cy="5122417"/>
          </a:xfrm>
        </p:spPr>
        <p:txBody>
          <a:bodyPr>
            <a:normAutofit fontScale="55000" lnSpcReduction="20000"/>
          </a:bodyPr>
          <a:lstStyle/>
          <a:p>
            <a:pPr marL="0" indent="0">
              <a:buNone/>
            </a:pPr>
            <a:r>
              <a:rPr lang="en-US" b="1" dirty="0" smtClean="0"/>
              <a:t>1 . </a:t>
            </a:r>
            <a:r>
              <a:rPr lang="en-US" b="1" dirty="0"/>
              <a:t>Limited Memory and Difficulty with Long Sequences:</a:t>
            </a:r>
          </a:p>
          <a:p>
            <a:pPr marL="0" indent="0">
              <a:buNone/>
            </a:pPr>
            <a:r>
              <a:rPr lang="en-US" b="1" dirty="0"/>
              <a:t>Explanation:</a:t>
            </a:r>
            <a:endParaRPr lang="en-US" dirty="0"/>
          </a:p>
          <a:p>
            <a:pPr marL="0" indent="0" fontAlgn="ctr">
              <a:buNone/>
            </a:pPr>
            <a:r>
              <a:rPr lang="en-US" dirty="0"/>
              <a:t>RNNs are good for short-term dependencies (e.g., "The cat sat</a:t>
            </a:r>
            <a:r>
              <a:rPr lang="en-US" dirty="0" smtClean="0"/>
              <a:t>"). They </a:t>
            </a:r>
            <a:r>
              <a:rPr lang="en-US" dirty="0"/>
              <a:t>struggle when important information is far back in time (long-term dependency).</a:t>
            </a:r>
            <a:endParaRPr lang="en-US" dirty="0" smtClean="0"/>
          </a:p>
          <a:p>
            <a:pPr marL="0" indent="0" fontAlgn="ctr">
              <a:buNone/>
            </a:pPr>
            <a:r>
              <a:rPr lang="en-US" dirty="0" smtClean="0"/>
              <a:t>Basic </a:t>
            </a:r>
            <a:r>
              <a:rPr lang="en-US" dirty="0"/>
              <a:t>RNNs have limited memory, making it difficult to remember and process information from previous time steps, especially when dealing with long sequences. </a:t>
            </a:r>
            <a:endParaRPr lang="en-US" dirty="0" smtClean="0"/>
          </a:p>
          <a:p>
            <a:pPr marL="0" indent="0" fontAlgn="ctr">
              <a:buNone/>
            </a:pPr>
            <a:r>
              <a:rPr lang="en-US" dirty="0" smtClean="0"/>
              <a:t>Example</a:t>
            </a:r>
            <a:r>
              <a:rPr lang="en-US" dirty="0"/>
              <a:t>: “Today is Diwali, a festival that is celebrated by millions of people across different countries with lamps, fireworks, sweets, decorations, and family gatherings, bringing joy and brightness everywhere. </a:t>
            </a:r>
            <a:r>
              <a:rPr lang="en-US" dirty="0" smtClean="0"/>
              <a:t>This occasion … ”</a:t>
            </a:r>
            <a:endParaRPr lang="en-US" dirty="0"/>
          </a:p>
          <a:p>
            <a:pPr marL="0" indent="0" fontAlgn="ctr">
              <a:buNone/>
            </a:pPr>
            <a:r>
              <a:rPr lang="en-US" dirty="0"/>
              <a:t>Main subject = "Today is Diwali</a:t>
            </a:r>
            <a:r>
              <a:rPr lang="en-US" dirty="0" smtClean="0"/>
              <a:t>"</a:t>
            </a:r>
            <a:endParaRPr lang="en-US" dirty="0"/>
          </a:p>
          <a:p>
            <a:pPr marL="0" indent="0" fontAlgn="ctr">
              <a:buNone/>
            </a:pPr>
            <a:r>
              <a:rPr lang="en-US" dirty="0"/>
              <a:t>But important information ("Diwali") is hidden behind lots of extra words (celebrated by millions, across countries, lamps, sweets, decorations, gatherings</a:t>
            </a:r>
            <a:r>
              <a:rPr lang="en-US" dirty="0" smtClean="0"/>
              <a:t>...).</a:t>
            </a:r>
            <a:endParaRPr lang="en-US" dirty="0"/>
          </a:p>
          <a:p>
            <a:pPr marL="0" indent="0" fontAlgn="ctr">
              <a:buNone/>
            </a:pPr>
            <a:r>
              <a:rPr lang="en-US" dirty="0"/>
              <a:t>By the time the model reaches </a:t>
            </a:r>
            <a:r>
              <a:rPr lang="en-US" dirty="0" smtClean="0"/>
              <a:t>“This occasion", </a:t>
            </a:r>
            <a:r>
              <a:rPr lang="en-US" dirty="0"/>
              <a:t>a basic RNN might forget that it all started with "Diwali" </a:t>
            </a:r>
            <a:r>
              <a:rPr lang="en-US" dirty="0" smtClean="0"/>
              <a:t>and context is “Diwali” and </a:t>
            </a:r>
            <a:r>
              <a:rPr lang="en-US" dirty="0"/>
              <a:t>not "countries" or "families</a:t>
            </a:r>
            <a:r>
              <a:rPr lang="en-US" dirty="0" smtClean="0"/>
              <a:t>".</a:t>
            </a:r>
          </a:p>
          <a:p>
            <a:pPr marL="0" indent="0" fontAlgn="ctr">
              <a:buNone/>
            </a:pPr>
            <a:endParaRPr lang="en-US" dirty="0"/>
          </a:p>
          <a:p>
            <a:pPr marL="0" indent="0">
              <a:buNone/>
            </a:pPr>
            <a:r>
              <a:rPr lang="en-US" b="1" dirty="0"/>
              <a:t>Cause</a:t>
            </a:r>
            <a:r>
              <a:rPr lang="en-US" b="1" dirty="0" smtClean="0"/>
              <a:t>:</a:t>
            </a:r>
          </a:p>
          <a:p>
            <a:pPr marL="0" indent="0">
              <a:buNone/>
            </a:pPr>
            <a:r>
              <a:rPr lang="en-US" b="1" dirty="0"/>
              <a:t>Meaning/context is "diluted"</a:t>
            </a:r>
            <a:r>
              <a:rPr lang="en-US" dirty="0"/>
              <a:t> as time steps </a:t>
            </a:r>
            <a:r>
              <a:rPr lang="en-US" dirty="0" smtClean="0"/>
              <a:t>increase:</a:t>
            </a:r>
            <a:endParaRPr lang="en-US" dirty="0"/>
          </a:p>
          <a:p>
            <a:pPr marL="0" indent="0" fontAlgn="ctr">
              <a:buNone/>
            </a:pPr>
            <a:r>
              <a:rPr lang="en-US" dirty="0"/>
              <a:t>The RNN's architecture, which is designed to capture immediate past dependencies, struggles to retain information from distant time </a:t>
            </a:r>
            <a:r>
              <a:rPr lang="en-US" dirty="0" smtClean="0"/>
              <a:t>steps. In </a:t>
            </a:r>
            <a:r>
              <a:rPr lang="en-US" dirty="0"/>
              <a:t>a standard RNN, each hidden state only passes information to the next step.</a:t>
            </a:r>
          </a:p>
          <a:p>
            <a:pPr marL="0" indent="0" fontAlgn="ctr">
              <a:buNone/>
            </a:pPr>
            <a:r>
              <a:rPr lang="en-US" dirty="0" smtClean="0"/>
              <a:t>As </a:t>
            </a:r>
            <a:r>
              <a:rPr lang="en-US" dirty="0"/>
              <a:t>more steps pass, the important signal fades (this is called </a:t>
            </a:r>
            <a:r>
              <a:rPr lang="en-US" b="1" dirty="0"/>
              <a:t>vanishing gradient during </a:t>
            </a:r>
            <a:r>
              <a:rPr lang="en-US" b="1" dirty="0" smtClean="0"/>
              <a:t>training)</a:t>
            </a:r>
            <a:r>
              <a:rPr lang="en-US" dirty="0" smtClean="0"/>
              <a:t>, i.e. RNNs </a:t>
            </a:r>
            <a:r>
              <a:rPr lang="en-US" dirty="0"/>
              <a:t>lose important early information over long sequences</a:t>
            </a:r>
            <a:r>
              <a:rPr lang="en-US" dirty="0" smtClean="0"/>
              <a:t>.</a:t>
            </a:r>
            <a:endParaRPr lang="en-US" dirty="0"/>
          </a:p>
        </p:txBody>
      </p:sp>
    </p:spTree>
    <p:extLst>
      <p:ext uri="{BB962C8B-B14F-4D97-AF65-F5344CB8AC3E}">
        <p14:creationId xmlns:p14="http://schemas.microsoft.com/office/powerpoint/2010/main" val="253661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FC269-1AD7-B756-9DB8-245A2D770D08}"/>
              </a:ext>
            </a:extLst>
          </p:cNvPr>
          <p:cNvSpPr>
            <a:spLocks noGrp="1"/>
          </p:cNvSpPr>
          <p:nvPr>
            <p:ph type="title"/>
          </p:nvPr>
        </p:nvSpPr>
        <p:spPr>
          <a:xfrm>
            <a:off x="838200" y="125427"/>
            <a:ext cx="6277824" cy="806727"/>
          </a:xfrm>
        </p:spPr>
        <p:txBody>
          <a:bodyPr/>
          <a:lstStyle/>
          <a:p>
            <a:r>
              <a:rPr lang="en-US" dirty="0"/>
              <a:t>Disadvantages of </a:t>
            </a:r>
            <a:r>
              <a:rPr lang="en-US" dirty="0" smtClean="0"/>
              <a:t>RNN(p2)</a:t>
            </a:r>
            <a:endParaRPr lang="en-IN" dirty="0"/>
          </a:p>
        </p:txBody>
      </p:sp>
      <p:sp>
        <p:nvSpPr>
          <p:cNvPr id="3" name="Content Placeholder 2">
            <a:extLst>
              <a:ext uri="{FF2B5EF4-FFF2-40B4-BE49-F238E27FC236}">
                <a16:creationId xmlns:a16="http://schemas.microsoft.com/office/drawing/2014/main" id="{AC9BFD3C-9DF5-E9CF-73D9-B385F4549F93}"/>
              </a:ext>
            </a:extLst>
          </p:cNvPr>
          <p:cNvSpPr>
            <a:spLocks noGrp="1"/>
          </p:cNvSpPr>
          <p:nvPr>
            <p:ph idx="1"/>
          </p:nvPr>
        </p:nvSpPr>
        <p:spPr>
          <a:xfrm>
            <a:off x="177553" y="932154"/>
            <a:ext cx="11780668" cy="3355761"/>
          </a:xfrm>
        </p:spPr>
        <p:txBody>
          <a:bodyPr>
            <a:normAutofit fontScale="55000" lnSpcReduction="20000"/>
          </a:bodyPr>
          <a:lstStyle/>
          <a:p>
            <a:pPr marL="0" indent="0">
              <a:buNone/>
            </a:pPr>
            <a:r>
              <a:rPr lang="en-US" b="1" dirty="0" smtClean="0"/>
              <a:t>Understanding the math of vanishing gradient problem </a:t>
            </a:r>
            <a:r>
              <a:rPr lang="en-US" b="1" dirty="0"/>
              <a:t>during </a:t>
            </a:r>
            <a:r>
              <a:rPr lang="en-US" b="1" dirty="0" smtClean="0"/>
              <a:t>training:</a:t>
            </a:r>
          </a:p>
          <a:p>
            <a:pPr marL="514350" indent="-514350">
              <a:buFont typeface="+mj-lt"/>
              <a:buAutoNum type="arabicPeriod"/>
            </a:pPr>
            <a:r>
              <a:rPr lang="en-US" dirty="0"/>
              <a:t>During training, RNN uses backpropagation through time (BPTT) to update weights by moving backward across many time steps</a:t>
            </a:r>
            <a:r>
              <a:rPr lang="en-US" dirty="0" smtClean="0"/>
              <a:t>.</a:t>
            </a:r>
            <a:endParaRPr lang="en-US" dirty="0"/>
          </a:p>
          <a:p>
            <a:pPr marL="514350" indent="-514350">
              <a:buFont typeface="+mj-lt"/>
              <a:buAutoNum type="arabicPeriod"/>
            </a:pPr>
            <a:r>
              <a:rPr lang="en-US" dirty="0"/>
              <a:t>At each step, gradients (tiny error signals) are multiplied by the weights repeatedly as they flow backward</a:t>
            </a:r>
            <a:r>
              <a:rPr lang="en-US" dirty="0" smtClean="0"/>
              <a:t>.</a:t>
            </a:r>
            <a:endParaRPr lang="en-US" dirty="0"/>
          </a:p>
          <a:p>
            <a:pPr marL="514350" indent="-514350">
              <a:buFont typeface="+mj-lt"/>
              <a:buAutoNum type="arabicPeriod"/>
            </a:pPr>
            <a:r>
              <a:rPr lang="en-US" dirty="0"/>
              <a:t>If the weights are small (e.g., 0.5), then multiplying many times makes gradients shrink exponentially toward zero</a:t>
            </a:r>
            <a:r>
              <a:rPr lang="en-US" dirty="0" smtClean="0"/>
              <a:t>.</a:t>
            </a:r>
            <a:endParaRPr lang="en-US" dirty="0"/>
          </a:p>
          <a:p>
            <a:pPr marL="514350" indent="-514350">
              <a:buFont typeface="+mj-lt"/>
              <a:buAutoNum type="arabicPeriod"/>
            </a:pPr>
            <a:r>
              <a:rPr lang="en-US" dirty="0"/>
              <a:t>When gradients become very tiny, they stop updating the early layers (the start of the sequence) — this is vanishing gradients</a:t>
            </a:r>
            <a:r>
              <a:rPr lang="en-US" dirty="0" smtClean="0"/>
              <a:t>.</a:t>
            </a:r>
            <a:endParaRPr lang="en-US" dirty="0"/>
          </a:p>
          <a:p>
            <a:pPr marL="514350" indent="-514350">
              <a:buFont typeface="+mj-lt"/>
              <a:buAutoNum type="arabicPeriod"/>
            </a:pPr>
            <a:r>
              <a:rPr lang="en-US" dirty="0"/>
              <a:t>As a result, the RNN forgets long-term information because the model can't learn from early parts of the sequence</a:t>
            </a:r>
            <a:r>
              <a:rPr lang="en-US" dirty="0" smtClean="0"/>
              <a:t>.</a:t>
            </a:r>
            <a:endParaRPr lang="en-US" dirty="0"/>
          </a:p>
          <a:p>
            <a:pPr marL="514350" indent="-514350">
              <a:buFont typeface="+mj-lt"/>
              <a:buAutoNum type="arabicPeriod"/>
            </a:pPr>
            <a:r>
              <a:rPr lang="en-US" dirty="0"/>
              <a:t>Backpropagation plays the key role because it is the process that moves error signals backward, causing the repeated shrinking that leads to this problem.</a:t>
            </a:r>
          </a:p>
          <a:p>
            <a:pPr marL="0" indent="0">
              <a:buNone/>
            </a:pPr>
            <a:r>
              <a:rPr lang="en-US" b="1" dirty="0"/>
              <a:t>Backpropagation + many time steps + small weights = vanishing gradient = RNN forgets long-term memory</a:t>
            </a:r>
            <a:r>
              <a:rPr lang="en-US" dirty="0"/>
              <a:t>.</a:t>
            </a:r>
          </a:p>
          <a:p>
            <a:pPr marL="0" indent="0">
              <a:buNone/>
            </a:pPr>
            <a:r>
              <a:rPr lang="en-US" b="1" dirty="0" smtClean="0"/>
              <a:t>Read </a:t>
            </a:r>
            <a:r>
              <a:rPr lang="en-US" dirty="0"/>
              <a:t>Source: https://dennybritz.com/posts/wildml/recurrent-neural-networks-tutorial-part-3</a:t>
            </a:r>
          </a:p>
        </p:txBody>
      </p:sp>
      <p:sp>
        <p:nvSpPr>
          <p:cNvPr id="4" name="TextBox 3"/>
          <p:cNvSpPr txBox="1"/>
          <p:nvPr/>
        </p:nvSpPr>
        <p:spPr>
          <a:xfrm>
            <a:off x="6950510" y="305975"/>
            <a:ext cx="5279009" cy="261610"/>
          </a:xfrm>
          <a:prstGeom prst="rect">
            <a:avLst/>
          </a:prstGeom>
          <a:noFill/>
        </p:spPr>
        <p:txBody>
          <a:bodyPr wrap="none" rtlCol="0">
            <a:spAutoFit/>
          </a:bodyPr>
          <a:lstStyle/>
          <a:p>
            <a:r>
              <a:rPr lang="en-US" sz="1100" dirty="0" smtClean="0"/>
              <a:t>Source: https</a:t>
            </a:r>
            <a:r>
              <a:rPr lang="en-US" sz="1100" dirty="0"/>
              <a:t>://dennybritz.com/posts/wildml/recurrent-neural-networks-tutorial-part-3/</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26927" y="3872708"/>
            <a:ext cx="4218743" cy="2526660"/>
          </a:xfrm>
          <a:prstGeom prst="rect">
            <a:avLst/>
          </a:prstGeom>
        </p:spPr>
      </p:pic>
    </p:spTree>
    <p:extLst>
      <p:ext uri="{BB962C8B-B14F-4D97-AF65-F5344CB8AC3E}">
        <p14:creationId xmlns:p14="http://schemas.microsoft.com/office/powerpoint/2010/main" val="9952606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FC269-1AD7-B756-9DB8-245A2D770D08}"/>
              </a:ext>
            </a:extLst>
          </p:cNvPr>
          <p:cNvSpPr>
            <a:spLocks noGrp="1"/>
          </p:cNvSpPr>
          <p:nvPr>
            <p:ph type="title"/>
          </p:nvPr>
        </p:nvSpPr>
        <p:spPr>
          <a:xfrm>
            <a:off x="838200" y="365125"/>
            <a:ext cx="10515600" cy="611419"/>
          </a:xfrm>
        </p:spPr>
        <p:txBody>
          <a:bodyPr>
            <a:normAutofit fontScale="90000"/>
          </a:bodyPr>
          <a:lstStyle/>
          <a:p>
            <a:r>
              <a:rPr lang="en-US" dirty="0"/>
              <a:t>Disadvantages of </a:t>
            </a:r>
            <a:r>
              <a:rPr lang="en-US" dirty="0" smtClean="0"/>
              <a:t>RNN(p3)</a:t>
            </a:r>
            <a:endParaRPr lang="en-IN" dirty="0"/>
          </a:p>
        </p:txBody>
      </p:sp>
      <p:sp>
        <p:nvSpPr>
          <p:cNvPr id="3" name="Content Placeholder 2">
            <a:extLst>
              <a:ext uri="{FF2B5EF4-FFF2-40B4-BE49-F238E27FC236}">
                <a16:creationId xmlns:a16="http://schemas.microsoft.com/office/drawing/2014/main" id="{AC9BFD3C-9DF5-E9CF-73D9-B385F4549F93}"/>
              </a:ext>
            </a:extLst>
          </p:cNvPr>
          <p:cNvSpPr>
            <a:spLocks noGrp="1"/>
          </p:cNvSpPr>
          <p:nvPr>
            <p:ph idx="1"/>
          </p:nvPr>
        </p:nvSpPr>
        <p:spPr>
          <a:xfrm>
            <a:off x="838200" y="1825625"/>
            <a:ext cx="10515600" cy="2195959"/>
          </a:xfrm>
        </p:spPr>
        <p:txBody>
          <a:bodyPr>
            <a:normAutofit fontScale="55000" lnSpcReduction="20000"/>
          </a:bodyPr>
          <a:lstStyle/>
          <a:p>
            <a:pPr marL="0" indent="0">
              <a:buNone/>
            </a:pPr>
            <a:r>
              <a:rPr lang="en-US" b="1" dirty="0" smtClean="0"/>
              <a:t>2. Unidirectional </a:t>
            </a:r>
            <a:r>
              <a:rPr lang="en-US" b="1" dirty="0"/>
              <a:t>in RNN</a:t>
            </a:r>
            <a:endParaRPr lang="en-US" dirty="0"/>
          </a:p>
          <a:p>
            <a:pPr marL="0" indent="0">
              <a:buNone/>
            </a:pPr>
            <a:r>
              <a:rPr lang="en-US" dirty="0" smtClean="0"/>
              <a:t>RNN </a:t>
            </a:r>
            <a:r>
              <a:rPr lang="en-US" dirty="0"/>
              <a:t>takes data sequentially and word by word or letter by letter. Now when we are trying to predict a particular word we are not thinking about its future </a:t>
            </a:r>
            <a:r>
              <a:rPr lang="en-US" dirty="0" smtClean="0"/>
              <a:t>context</a:t>
            </a:r>
            <a:r>
              <a:rPr lang="en-US" dirty="0"/>
              <a:t> </a:t>
            </a:r>
            <a:endParaRPr lang="en-US" dirty="0" smtClean="0"/>
          </a:p>
          <a:p>
            <a:pPr marL="0" indent="0">
              <a:buNone/>
            </a:pPr>
            <a:r>
              <a:rPr lang="en-US" dirty="0" smtClean="0"/>
              <a:t>Example : </a:t>
            </a:r>
            <a:r>
              <a:rPr lang="en-US" dirty="0"/>
              <a:t>“Mouse is really good. The mouse is used to ____ for the easy use of computers.” Now if we can travel bidirectional and we can also see future context we may say ‘Scroll’ is the appropriate word here. But, if it’s unidirectional, our model has never seen computers so how does it know if we are talking about the animal mouse or computer mouse.</a:t>
            </a:r>
          </a:p>
          <a:p>
            <a:pPr marL="0" indent="0">
              <a:buNone/>
            </a:pPr>
            <a:r>
              <a:rPr lang="en-US" dirty="0"/>
              <a:t>These problems are solved later using language models like BERT where we can input complete sentences and use the self-attention mechanism to understand the context of the text.</a:t>
            </a:r>
          </a:p>
        </p:txBody>
      </p:sp>
    </p:spTree>
    <p:extLst>
      <p:ext uri="{BB962C8B-B14F-4D97-AF65-F5344CB8AC3E}">
        <p14:creationId xmlns:p14="http://schemas.microsoft.com/office/powerpoint/2010/main" val="41982396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FC269-1AD7-B756-9DB8-245A2D770D08}"/>
              </a:ext>
            </a:extLst>
          </p:cNvPr>
          <p:cNvSpPr>
            <a:spLocks noGrp="1"/>
          </p:cNvSpPr>
          <p:nvPr>
            <p:ph type="title"/>
          </p:nvPr>
        </p:nvSpPr>
        <p:spPr>
          <a:xfrm>
            <a:off x="838200" y="365126"/>
            <a:ext cx="5873318" cy="531520"/>
          </a:xfrm>
        </p:spPr>
        <p:txBody>
          <a:bodyPr>
            <a:normAutofit fontScale="90000"/>
          </a:bodyPr>
          <a:lstStyle/>
          <a:p>
            <a:r>
              <a:rPr lang="en-US" dirty="0"/>
              <a:t>Disadvantages of </a:t>
            </a:r>
            <a:r>
              <a:rPr lang="en-US" dirty="0" smtClean="0"/>
              <a:t>RNN(p4)</a:t>
            </a:r>
            <a:endParaRPr lang="en-IN" dirty="0"/>
          </a:p>
        </p:txBody>
      </p:sp>
      <p:sp>
        <p:nvSpPr>
          <p:cNvPr id="3" name="Content Placeholder 2">
            <a:extLst>
              <a:ext uri="{FF2B5EF4-FFF2-40B4-BE49-F238E27FC236}">
                <a16:creationId xmlns:a16="http://schemas.microsoft.com/office/drawing/2014/main" id="{AC9BFD3C-9DF5-E9CF-73D9-B385F4549F93}"/>
              </a:ext>
            </a:extLst>
          </p:cNvPr>
          <p:cNvSpPr>
            <a:spLocks noGrp="1"/>
          </p:cNvSpPr>
          <p:nvPr>
            <p:ph idx="1"/>
          </p:nvPr>
        </p:nvSpPr>
        <p:spPr>
          <a:xfrm>
            <a:off x="221941" y="1420428"/>
            <a:ext cx="11807301" cy="3151572"/>
          </a:xfrm>
        </p:spPr>
        <p:txBody>
          <a:bodyPr>
            <a:normAutofit fontScale="55000" lnSpcReduction="20000"/>
          </a:bodyPr>
          <a:lstStyle/>
          <a:p>
            <a:pPr marL="0" indent="0" algn="l">
              <a:lnSpc>
                <a:spcPts val="2700"/>
              </a:lnSpc>
              <a:spcAft>
                <a:spcPts val="750"/>
              </a:spcAft>
              <a:buNone/>
            </a:pPr>
            <a:r>
              <a:rPr lang="en-US" b="0" i="0" dirty="0" smtClean="0">
                <a:solidFill>
                  <a:srgbClr val="383838"/>
                </a:solidFill>
                <a:effectLst/>
                <a:latin typeface="Inter"/>
              </a:rPr>
              <a:t>3. Computationally </a:t>
            </a:r>
            <a:r>
              <a:rPr lang="en-US" b="0" i="0" dirty="0">
                <a:solidFill>
                  <a:srgbClr val="383838"/>
                </a:solidFill>
                <a:effectLst/>
                <a:latin typeface="Inter"/>
              </a:rPr>
              <a:t>slower than other neural network </a:t>
            </a:r>
            <a:r>
              <a:rPr lang="en-US" b="0" i="0" dirty="0" smtClean="0">
                <a:solidFill>
                  <a:srgbClr val="383838"/>
                </a:solidFill>
                <a:effectLst/>
                <a:latin typeface="Inter"/>
              </a:rPr>
              <a:t>architectures. The reason</a:t>
            </a:r>
            <a:r>
              <a:rPr lang="en-US" dirty="0" smtClean="0">
                <a:solidFill>
                  <a:srgbClr val="383838"/>
                </a:solidFill>
                <a:latin typeface="Inter"/>
              </a:rPr>
              <a:t>s are</a:t>
            </a:r>
            <a:endParaRPr lang="en-US" b="0" i="0" dirty="0">
              <a:solidFill>
                <a:srgbClr val="383838"/>
              </a:solidFill>
              <a:effectLst/>
              <a:latin typeface="Inter"/>
            </a:endParaRPr>
          </a:p>
          <a:p>
            <a:pPr marL="0" indent="0">
              <a:buNone/>
            </a:pPr>
            <a:r>
              <a:rPr lang="en-US" dirty="0" smtClean="0"/>
              <a:t>a) </a:t>
            </a:r>
            <a:r>
              <a:rPr lang="en-US" b="1" dirty="0" smtClean="0"/>
              <a:t>Sequential Dependency</a:t>
            </a:r>
            <a:r>
              <a:rPr lang="en-US" dirty="0" smtClean="0"/>
              <a:t>: In </a:t>
            </a:r>
            <a:r>
              <a:rPr lang="en-US" dirty="0"/>
              <a:t>RNNs, each output depends on the previous output — you can't compute all time steps at once.</a:t>
            </a:r>
          </a:p>
          <a:p>
            <a:pPr marL="0" indent="0">
              <a:buNone/>
            </a:pPr>
            <a:r>
              <a:rPr lang="en-US" dirty="0"/>
              <a:t>➔ You must go one step at a time, in order, which prevents parallel processing</a:t>
            </a:r>
            <a:r>
              <a:rPr lang="en-US" dirty="0" smtClean="0"/>
              <a:t>.</a:t>
            </a:r>
            <a:endParaRPr lang="en-US" dirty="0"/>
          </a:p>
          <a:p>
            <a:pPr marL="0" indent="0">
              <a:buNone/>
            </a:pPr>
            <a:r>
              <a:rPr lang="en-US" dirty="0" smtClean="0"/>
              <a:t>b) </a:t>
            </a:r>
            <a:r>
              <a:rPr lang="en-US" b="1" dirty="0" smtClean="0"/>
              <a:t>Backpropagation </a:t>
            </a:r>
            <a:r>
              <a:rPr lang="en-US" b="1" dirty="0"/>
              <a:t>Through Time (BPTT</a:t>
            </a:r>
            <a:r>
              <a:rPr lang="en-US" b="1" dirty="0" smtClean="0"/>
              <a:t>)</a:t>
            </a:r>
            <a:r>
              <a:rPr lang="en-US" dirty="0" smtClean="0"/>
              <a:t>: Training </a:t>
            </a:r>
            <a:r>
              <a:rPr lang="en-US" dirty="0"/>
              <a:t>an RNN requires unrolling the network across many time steps and </a:t>
            </a:r>
            <a:r>
              <a:rPr lang="en-US" dirty="0" smtClean="0"/>
              <a:t>back propagating </a:t>
            </a:r>
            <a:r>
              <a:rPr lang="en-US" dirty="0"/>
              <a:t>through each.</a:t>
            </a:r>
          </a:p>
          <a:p>
            <a:pPr marL="0" indent="0">
              <a:buNone/>
            </a:pPr>
            <a:r>
              <a:rPr lang="en-US" dirty="0"/>
              <a:t>➔ This makes training longer and memory-intensive compared to a simple backward pass in a feedforward network</a:t>
            </a:r>
            <a:r>
              <a:rPr lang="en-US" dirty="0" smtClean="0"/>
              <a:t>.</a:t>
            </a:r>
            <a:endParaRPr lang="en-US" dirty="0"/>
          </a:p>
          <a:p>
            <a:pPr marL="0" indent="0">
              <a:buNone/>
            </a:pPr>
            <a:r>
              <a:rPr lang="en-US" dirty="0" smtClean="0"/>
              <a:t>c) </a:t>
            </a:r>
            <a:r>
              <a:rPr lang="en-US" b="1" dirty="0" smtClean="0"/>
              <a:t>Long Sequences</a:t>
            </a:r>
            <a:r>
              <a:rPr lang="en-US" dirty="0" smtClean="0"/>
              <a:t>: If </a:t>
            </a:r>
            <a:r>
              <a:rPr lang="en-US" dirty="0"/>
              <a:t>the sequence is long (e.g., 1000 words), the model must do 1000 sequential calculations instead of processing all words at once like a CNN or Transformer could</a:t>
            </a:r>
            <a:r>
              <a:rPr lang="en-US" dirty="0" smtClean="0"/>
              <a:t>.</a:t>
            </a:r>
            <a:endParaRPr lang="en-US" dirty="0"/>
          </a:p>
          <a:p>
            <a:pPr marL="0" indent="0">
              <a:buNone/>
            </a:pPr>
            <a:r>
              <a:rPr lang="en-US" dirty="0" smtClean="0"/>
              <a:t>d) Gradient Issues: Due </a:t>
            </a:r>
            <a:r>
              <a:rPr lang="en-US" dirty="0"/>
              <a:t>to vanishing or exploding gradients, RNNs often need smaller learning rates, gradient clipping, or careful initialization, slowing down training further</a:t>
            </a:r>
            <a:r>
              <a:rPr lang="en-US" dirty="0" smtClean="0"/>
              <a:t>.</a:t>
            </a:r>
          </a:p>
          <a:p>
            <a:pPr marL="0" indent="0">
              <a:buNone/>
            </a:pPr>
            <a:r>
              <a:rPr lang="en-US" b="1" dirty="0"/>
              <a:t>RNN is slower because it is sequential and depends on past computations, while normal feedforward networks (like CNNs or MLPs) can work on all parts in parallel.</a:t>
            </a:r>
            <a:endParaRPr lang="en-IN" b="1" dirty="0"/>
          </a:p>
        </p:txBody>
      </p:sp>
      <p:sp>
        <p:nvSpPr>
          <p:cNvPr id="4" name="TextBox 3"/>
          <p:cNvSpPr txBox="1"/>
          <p:nvPr/>
        </p:nvSpPr>
        <p:spPr>
          <a:xfrm>
            <a:off x="550416" y="4962617"/>
            <a:ext cx="9302034" cy="1600438"/>
          </a:xfrm>
          <a:prstGeom prst="rect">
            <a:avLst/>
          </a:prstGeom>
          <a:noFill/>
        </p:spPr>
        <p:txBody>
          <a:bodyPr wrap="none" rtlCol="0">
            <a:spAutoFit/>
          </a:bodyPr>
          <a:lstStyle/>
          <a:p>
            <a:r>
              <a:rPr lang="en-US" sz="1400" b="1" dirty="0"/>
              <a:t>Feedforward networks (MLPs, CNNs)</a:t>
            </a:r>
            <a:r>
              <a:rPr lang="en-US" sz="1400" dirty="0"/>
              <a:t> process inputs </a:t>
            </a:r>
            <a:r>
              <a:rPr lang="en-US" sz="1400" b="1" dirty="0"/>
              <a:t>all at once</a:t>
            </a:r>
            <a:r>
              <a:rPr lang="en-US" sz="1400" dirty="0"/>
              <a:t> — they don't depend on previous steps.</a:t>
            </a:r>
          </a:p>
          <a:p>
            <a:r>
              <a:rPr lang="en-US" sz="1400" dirty="0"/>
              <a:t>Suppose you have 1000 words or pixels.</a:t>
            </a:r>
          </a:p>
          <a:p>
            <a:pPr marL="285750" indent="-285750">
              <a:buFont typeface="Arial" panose="020B0604020202020204" pitchFamily="34" charset="0"/>
              <a:buChar char="•"/>
            </a:pPr>
            <a:r>
              <a:rPr lang="en-US" sz="1400" dirty="0"/>
              <a:t>A feedforward network </a:t>
            </a:r>
            <a:r>
              <a:rPr lang="en-US" sz="1400" b="1" dirty="0"/>
              <a:t>takes all 1000 together</a:t>
            </a:r>
            <a:r>
              <a:rPr lang="en-US" sz="1400" dirty="0"/>
              <a:t>, passes them </a:t>
            </a:r>
            <a:r>
              <a:rPr lang="en-US" sz="1400" b="1" dirty="0"/>
              <a:t>through layers at the same time</a:t>
            </a:r>
            <a:r>
              <a:rPr lang="en-US" sz="1400" dirty="0"/>
              <a:t> (matrix multiplication).</a:t>
            </a:r>
          </a:p>
          <a:p>
            <a:pPr marL="285750" indent="-285750">
              <a:buFont typeface="Arial" panose="020B0604020202020204" pitchFamily="34" charset="0"/>
              <a:buChar char="•"/>
            </a:pPr>
            <a:r>
              <a:rPr lang="en-US" sz="1400" dirty="0"/>
              <a:t>In math terms: </a:t>
            </a:r>
            <a:r>
              <a:rPr lang="en-US" sz="1400" b="1" dirty="0"/>
              <a:t>matrix × vector</a:t>
            </a:r>
            <a:r>
              <a:rPr lang="en-US" sz="1400" dirty="0"/>
              <a:t> — super fast because modern hardware (like GPUs) is </a:t>
            </a:r>
            <a:r>
              <a:rPr lang="en-US" sz="1400" b="1" dirty="0"/>
              <a:t>built for parallel matrix operations</a:t>
            </a:r>
            <a:r>
              <a:rPr lang="en-US" sz="1400" dirty="0"/>
              <a:t>.</a:t>
            </a:r>
          </a:p>
          <a:p>
            <a:pPr marL="285750" indent="-285750">
              <a:buFont typeface="Arial" panose="020B0604020202020204" pitchFamily="34" charset="0"/>
              <a:buChar char="•"/>
            </a:pPr>
            <a:r>
              <a:rPr lang="en-US" sz="1400" dirty="0"/>
              <a:t>No waiting for "previous word" or "previous pixel" — </a:t>
            </a:r>
            <a:r>
              <a:rPr lang="en-US" sz="1400" b="1" dirty="0"/>
              <a:t>everything is independent</a:t>
            </a:r>
            <a:r>
              <a:rPr lang="en-US" sz="1400" dirty="0"/>
              <a:t> at each layer.</a:t>
            </a:r>
          </a:p>
          <a:p>
            <a:r>
              <a:rPr lang="en-US" sz="1400" dirty="0" smtClean="0"/>
              <a:t>This </a:t>
            </a:r>
            <a:r>
              <a:rPr lang="en-US" sz="1400" dirty="0"/>
              <a:t>is called </a:t>
            </a:r>
            <a:r>
              <a:rPr lang="en-US" sz="1400" b="1" dirty="0"/>
              <a:t>parallelism</a:t>
            </a:r>
            <a:r>
              <a:rPr lang="en-US" sz="1400" dirty="0"/>
              <a:t>.</a:t>
            </a:r>
          </a:p>
          <a:p>
            <a:endParaRPr lang="en-US" sz="1400" dirty="0"/>
          </a:p>
        </p:txBody>
      </p:sp>
      <p:cxnSp>
        <p:nvCxnSpPr>
          <p:cNvPr id="6" name="Straight Arrow Connector 5"/>
          <p:cNvCxnSpPr/>
          <p:nvPr/>
        </p:nvCxnSpPr>
        <p:spPr>
          <a:xfrm flipH="1">
            <a:off x="9268287" y="4287915"/>
            <a:ext cx="1109709" cy="772357"/>
          </a:xfrm>
          <a:prstGeom prst="straightConnector1">
            <a:avLst/>
          </a:prstGeom>
          <a:ln>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189481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4CE366-76B1-C2C9-1FB0-FDEDA179522F}"/>
              </a:ext>
            </a:extLst>
          </p:cNvPr>
          <p:cNvSpPr>
            <a:spLocks noGrp="1"/>
          </p:cNvSpPr>
          <p:nvPr>
            <p:ph type="title"/>
          </p:nvPr>
        </p:nvSpPr>
        <p:spPr/>
        <p:txBody>
          <a:bodyPr/>
          <a:lstStyle/>
          <a:p>
            <a:pPr algn="ctr"/>
            <a:r>
              <a:rPr lang="en-US" dirty="0"/>
              <a:t>LSTM</a:t>
            </a:r>
            <a:endParaRPr lang="en-IN" dirty="0"/>
          </a:p>
        </p:txBody>
      </p:sp>
      <p:sp>
        <p:nvSpPr>
          <p:cNvPr id="3" name="Content Placeholder 2">
            <a:extLst>
              <a:ext uri="{FF2B5EF4-FFF2-40B4-BE49-F238E27FC236}">
                <a16:creationId xmlns:a16="http://schemas.microsoft.com/office/drawing/2014/main" id="{7F1F6D84-3FBF-C100-F38A-513489211B34}"/>
              </a:ext>
            </a:extLst>
          </p:cNvPr>
          <p:cNvSpPr>
            <a:spLocks noGrp="1"/>
          </p:cNvSpPr>
          <p:nvPr>
            <p:ph idx="1"/>
          </p:nvPr>
        </p:nvSpPr>
        <p:spPr/>
        <p:txBody>
          <a:bodyPr/>
          <a:lstStyle/>
          <a:p>
            <a:r>
              <a:rPr lang="en-US" dirty="0"/>
              <a:t>LSTM is a specific type of RNN (Recurrent Neural Network) designed to address the limitations of standard RNNs, particularly in handling long-term dependencies in sequential data. While both RNNs and LSTMs are designed for processing sequential information, LSTMs use a more sophisticated architecture with "gates" to control the flow of information, allowing them to better remember </a:t>
            </a:r>
            <a:r>
              <a:rPr lang="en-US" dirty="0" smtClean="0"/>
              <a:t>(and forget) </a:t>
            </a:r>
            <a:r>
              <a:rPr lang="en-US" dirty="0"/>
              <a:t>relevant information over long periods of time. </a:t>
            </a:r>
            <a:endParaRPr lang="en-IN" dirty="0"/>
          </a:p>
        </p:txBody>
      </p:sp>
      <p:sp>
        <p:nvSpPr>
          <p:cNvPr id="4" name="TextBox 3"/>
          <p:cNvSpPr txBox="1"/>
          <p:nvPr/>
        </p:nvSpPr>
        <p:spPr>
          <a:xfrm>
            <a:off x="523783" y="5965794"/>
            <a:ext cx="8114144" cy="923330"/>
          </a:xfrm>
          <a:prstGeom prst="rect">
            <a:avLst/>
          </a:prstGeom>
          <a:noFill/>
        </p:spPr>
        <p:txBody>
          <a:bodyPr wrap="none" rtlCol="0">
            <a:spAutoFit/>
          </a:bodyPr>
          <a:lstStyle/>
          <a:p>
            <a:r>
              <a:rPr lang="en-US" dirty="0"/>
              <a:t>That's why </a:t>
            </a:r>
            <a:r>
              <a:rPr lang="en-US" b="1" dirty="0"/>
              <a:t>LSTM</a:t>
            </a:r>
            <a:r>
              <a:rPr lang="en-US" dirty="0"/>
              <a:t> (Long Short-Term Memory) and </a:t>
            </a:r>
            <a:r>
              <a:rPr lang="en-US" b="1" dirty="0"/>
              <a:t>GRU</a:t>
            </a:r>
            <a:r>
              <a:rPr lang="en-US" dirty="0"/>
              <a:t> networks were invented!</a:t>
            </a:r>
          </a:p>
          <a:p>
            <a:r>
              <a:rPr lang="en-US" dirty="0" smtClean="0"/>
              <a:t>They </a:t>
            </a:r>
            <a:r>
              <a:rPr lang="en-US" dirty="0"/>
              <a:t>are </a:t>
            </a:r>
            <a:r>
              <a:rPr lang="en-US" i="1" dirty="0"/>
              <a:t>special types of RNNs</a:t>
            </a:r>
            <a:r>
              <a:rPr lang="en-US" dirty="0"/>
              <a:t> that can </a:t>
            </a:r>
            <a:r>
              <a:rPr lang="en-US" b="1" dirty="0"/>
              <a:t>carry long-term information</a:t>
            </a:r>
            <a:r>
              <a:rPr lang="en-US" dirty="0"/>
              <a:t> much better.</a:t>
            </a:r>
          </a:p>
          <a:p>
            <a:endParaRPr lang="en-US" dirty="0"/>
          </a:p>
        </p:txBody>
      </p:sp>
    </p:spTree>
    <p:extLst>
      <p:ext uri="{BB962C8B-B14F-4D97-AF65-F5344CB8AC3E}">
        <p14:creationId xmlns:p14="http://schemas.microsoft.com/office/powerpoint/2010/main" val="14544555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7969" y="1923818"/>
            <a:ext cx="11141475" cy="4548623"/>
          </a:xfrm>
          <a:prstGeom prst="rect">
            <a:avLst/>
          </a:prstGeom>
        </p:spPr>
      </p:pic>
    </p:spTree>
    <p:extLst>
      <p:ext uri="{BB962C8B-B14F-4D97-AF65-F5344CB8AC3E}">
        <p14:creationId xmlns:p14="http://schemas.microsoft.com/office/powerpoint/2010/main" val="21995047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04887"/>
          </a:xfrm>
        </p:spPr>
        <p:txBody>
          <a:bodyPr>
            <a:normAutofit fontScale="90000"/>
          </a:bodyPr>
          <a:lstStyle/>
          <a:p>
            <a:r>
              <a:rPr lang="en-US" dirty="0" smtClean="0"/>
              <a:t>LSTM Architecture(p1):</a:t>
            </a:r>
            <a:endParaRPr lang="en-US" dirty="0"/>
          </a:p>
        </p:txBody>
      </p:sp>
      <p:sp>
        <p:nvSpPr>
          <p:cNvPr id="3" name="Content Placeholder 2"/>
          <p:cNvSpPr>
            <a:spLocks noGrp="1"/>
          </p:cNvSpPr>
          <p:nvPr>
            <p:ph idx="1"/>
          </p:nvPr>
        </p:nvSpPr>
        <p:spPr>
          <a:xfrm>
            <a:off x="514905" y="790114"/>
            <a:ext cx="11185863" cy="967666"/>
          </a:xfrm>
        </p:spPr>
        <p:txBody>
          <a:bodyPr>
            <a:noAutofit/>
          </a:bodyPr>
          <a:lstStyle/>
          <a:p>
            <a:pPr marL="0" indent="0">
              <a:buNone/>
            </a:pPr>
            <a:r>
              <a:rPr lang="en-US" sz="1200" b="1" dirty="0"/>
              <a:t>The Problem of Long-Term </a:t>
            </a:r>
            <a:r>
              <a:rPr lang="en-US" sz="1200" b="1" dirty="0" smtClean="0"/>
              <a:t>Dependencies:</a:t>
            </a:r>
          </a:p>
          <a:p>
            <a:pPr marL="0" indent="0">
              <a:buNone/>
            </a:pPr>
            <a:r>
              <a:rPr lang="en-US" sz="1200" dirty="0" smtClean="0"/>
              <a:t>Sometimes</a:t>
            </a:r>
            <a:r>
              <a:rPr lang="en-US" sz="1200" dirty="0"/>
              <a:t>, we only need to look at recent information to perform the present task. For example, consider a language model trying to predict the next word based on the previous ones. If we are trying to predict the last word in “the clouds are in the </a:t>
            </a:r>
            <a:r>
              <a:rPr lang="en-US" sz="1200" i="1" dirty="0"/>
              <a:t>sky</a:t>
            </a:r>
            <a:r>
              <a:rPr lang="en-US" sz="1200" dirty="0"/>
              <a:t>,” we don’t need any further context – it’s pretty obvious the next word is going to be sky. In such cases, where the gap between the relevant information and the place that it’s needed is small, RNNs can learn to use the past information.</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0404" y="1765651"/>
            <a:ext cx="2820972" cy="1219696"/>
          </a:xfrm>
          <a:prstGeom prst="rect">
            <a:avLst/>
          </a:prstGeom>
        </p:spPr>
      </p:pic>
      <p:sp>
        <p:nvSpPr>
          <p:cNvPr id="5" name="TextBox 4"/>
          <p:cNvSpPr txBox="1"/>
          <p:nvPr/>
        </p:nvSpPr>
        <p:spPr>
          <a:xfrm>
            <a:off x="443883" y="3231472"/>
            <a:ext cx="11506691" cy="1015663"/>
          </a:xfrm>
          <a:prstGeom prst="rect">
            <a:avLst/>
          </a:prstGeom>
          <a:noFill/>
        </p:spPr>
        <p:txBody>
          <a:bodyPr wrap="square" rtlCol="0">
            <a:spAutoFit/>
          </a:bodyPr>
          <a:lstStyle/>
          <a:p>
            <a:r>
              <a:rPr lang="en-US" sz="1200" dirty="0"/>
              <a:t>But there are also cases where we need more context. Consider trying to predict the last word in the text “I grew up in France… I speak fluent </a:t>
            </a:r>
            <a:r>
              <a:rPr lang="en-US" sz="1200" i="1" dirty="0"/>
              <a:t>French</a:t>
            </a:r>
            <a:r>
              <a:rPr lang="en-US" sz="1200" dirty="0"/>
              <a:t>.” Recent information suggests that the next word is probably the name of a language, but if we want to narrow down which language, we need the context of France, from further back. It’s entirely possible for the gap between the relevant information and the point where it is needed to become very large.</a:t>
            </a:r>
          </a:p>
          <a:p>
            <a:r>
              <a:rPr lang="en-US" sz="1200" dirty="0"/>
              <a:t>Unfortunately, as that gap grows, RNNs become unable to learn to connect the information</a:t>
            </a:r>
          </a:p>
          <a:p>
            <a:endParaRPr lang="en-US" sz="1200"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0746" y="4244090"/>
            <a:ext cx="3601825" cy="1153393"/>
          </a:xfrm>
          <a:prstGeom prst="rect">
            <a:avLst/>
          </a:prstGeom>
        </p:spPr>
      </p:pic>
      <p:sp>
        <p:nvSpPr>
          <p:cNvPr id="7" name="TextBox 6"/>
          <p:cNvSpPr txBox="1"/>
          <p:nvPr/>
        </p:nvSpPr>
        <p:spPr>
          <a:xfrm>
            <a:off x="372863" y="5788243"/>
            <a:ext cx="11398927" cy="830997"/>
          </a:xfrm>
          <a:prstGeom prst="rect">
            <a:avLst/>
          </a:prstGeom>
          <a:noFill/>
        </p:spPr>
        <p:txBody>
          <a:bodyPr wrap="square" rtlCol="0">
            <a:spAutoFit/>
          </a:bodyPr>
          <a:lstStyle/>
          <a:p>
            <a:r>
              <a:rPr lang="en-US" sz="1200" dirty="0"/>
              <a:t>In theory, RNNs are absolutely capable of handling such “long-term dependencies.” A human could carefully pick parameters for them to solve toy problems of this form. Sadly, in practice, RNNs don’t seem to be able to learn them. The problem was explored in depth by </a:t>
            </a:r>
            <a:r>
              <a:rPr lang="en-US" sz="1200" dirty="0" err="1">
                <a:hlinkClick r:id="rId4"/>
              </a:rPr>
              <a:t>Hochreiter</a:t>
            </a:r>
            <a:r>
              <a:rPr lang="en-US" sz="1200" dirty="0">
                <a:hlinkClick r:id="rId4"/>
              </a:rPr>
              <a:t> (1991) [German]</a:t>
            </a:r>
            <a:r>
              <a:rPr lang="en-US" sz="1200" dirty="0"/>
              <a:t> and </a:t>
            </a:r>
            <a:r>
              <a:rPr lang="en-US" sz="1200" dirty="0" err="1">
                <a:hlinkClick r:id="rId5"/>
              </a:rPr>
              <a:t>Bengio</a:t>
            </a:r>
            <a:r>
              <a:rPr lang="en-US" sz="1200" dirty="0">
                <a:hlinkClick r:id="rId5"/>
              </a:rPr>
              <a:t>, et al. (1994)</a:t>
            </a:r>
            <a:r>
              <a:rPr lang="en-US" sz="1200" dirty="0"/>
              <a:t>, who found some pretty fundamental reasons why it might be difficult.</a:t>
            </a:r>
          </a:p>
          <a:p>
            <a:r>
              <a:rPr lang="en-US" sz="1200" dirty="0"/>
              <a:t>Thankfully, LSTMs don’t have this problem</a:t>
            </a:r>
            <a:r>
              <a:rPr lang="en-US" sz="1200" dirty="0" smtClean="0"/>
              <a:t>!</a:t>
            </a:r>
            <a:endParaRPr lang="en-US" sz="1200" dirty="0"/>
          </a:p>
        </p:txBody>
      </p:sp>
      <p:sp>
        <p:nvSpPr>
          <p:cNvPr id="8" name="TextBox 7"/>
          <p:cNvSpPr txBox="1"/>
          <p:nvPr/>
        </p:nvSpPr>
        <p:spPr>
          <a:xfrm>
            <a:off x="8043191" y="88776"/>
            <a:ext cx="4129657" cy="261610"/>
          </a:xfrm>
          <a:prstGeom prst="rect">
            <a:avLst/>
          </a:prstGeom>
          <a:noFill/>
        </p:spPr>
        <p:txBody>
          <a:bodyPr wrap="none" rtlCol="0">
            <a:spAutoFit/>
          </a:bodyPr>
          <a:lstStyle/>
          <a:p>
            <a:r>
              <a:rPr lang="en-US" sz="1100" dirty="0"/>
              <a:t>source https://colah.github.io/posts/2015-08-Understanding-LSTMs/</a:t>
            </a:r>
          </a:p>
        </p:txBody>
      </p:sp>
    </p:spTree>
    <p:extLst>
      <p:ext uri="{BB962C8B-B14F-4D97-AF65-F5344CB8AC3E}">
        <p14:creationId xmlns:p14="http://schemas.microsoft.com/office/powerpoint/2010/main" val="28120576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9916"/>
            <a:ext cx="10515600" cy="504887"/>
          </a:xfrm>
        </p:spPr>
        <p:txBody>
          <a:bodyPr>
            <a:normAutofit fontScale="90000"/>
          </a:bodyPr>
          <a:lstStyle/>
          <a:p>
            <a:r>
              <a:rPr lang="en-US" dirty="0" smtClean="0"/>
              <a:t>LSTM Architecture(p2): </a:t>
            </a:r>
            <a:endParaRPr lang="en-US" dirty="0"/>
          </a:p>
        </p:txBody>
      </p:sp>
      <p:sp>
        <p:nvSpPr>
          <p:cNvPr id="3" name="Content Placeholder 2"/>
          <p:cNvSpPr>
            <a:spLocks noGrp="1"/>
          </p:cNvSpPr>
          <p:nvPr>
            <p:ph idx="1"/>
          </p:nvPr>
        </p:nvSpPr>
        <p:spPr>
          <a:xfrm>
            <a:off x="275209" y="585926"/>
            <a:ext cx="11675366" cy="1291011"/>
          </a:xfrm>
        </p:spPr>
        <p:txBody>
          <a:bodyPr>
            <a:noAutofit/>
          </a:bodyPr>
          <a:lstStyle/>
          <a:p>
            <a:pPr marL="0" indent="0">
              <a:buNone/>
            </a:pPr>
            <a:r>
              <a:rPr lang="en-US" sz="1050" b="1" dirty="0"/>
              <a:t>LSTM Networks</a:t>
            </a:r>
          </a:p>
          <a:p>
            <a:pPr marL="0" indent="0">
              <a:buNone/>
            </a:pPr>
            <a:r>
              <a:rPr lang="en-US" sz="1050" dirty="0"/>
              <a:t>Long Short Term Memory networks – usually just called “LSTMs” – are a special kind of RNN, capable of learning long-term dependencies. They were introduced by </a:t>
            </a:r>
            <a:r>
              <a:rPr lang="en-US" sz="1050" dirty="0" err="1">
                <a:hlinkClick r:id="rId2"/>
              </a:rPr>
              <a:t>Hochreiter</a:t>
            </a:r>
            <a:r>
              <a:rPr lang="en-US" sz="1050" dirty="0">
                <a:hlinkClick r:id="rId2"/>
              </a:rPr>
              <a:t> &amp; </a:t>
            </a:r>
            <a:r>
              <a:rPr lang="en-US" sz="1050" dirty="0" err="1">
                <a:hlinkClick r:id="rId2"/>
              </a:rPr>
              <a:t>Schmidhuber</a:t>
            </a:r>
            <a:r>
              <a:rPr lang="en-US" sz="1050" dirty="0">
                <a:hlinkClick r:id="rId2"/>
              </a:rPr>
              <a:t> (1997)</a:t>
            </a:r>
            <a:r>
              <a:rPr lang="en-US" sz="1050" dirty="0"/>
              <a:t>, and were refined and popularized by many people in following work.</a:t>
            </a:r>
            <a:r>
              <a:rPr lang="en-US" sz="1050" baseline="30000" dirty="0">
                <a:hlinkClick r:id="rId3"/>
              </a:rPr>
              <a:t>1</a:t>
            </a:r>
            <a:r>
              <a:rPr lang="en-US" sz="1050" dirty="0"/>
              <a:t> They work tremendously well on a large variety of problems, and are now widely used.</a:t>
            </a:r>
          </a:p>
          <a:p>
            <a:pPr marL="0" indent="0">
              <a:buNone/>
            </a:pPr>
            <a:r>
              <a:rPr lang="en-US" sz="1050" dirty="0"/>
              <a:t>LSTMs are explicitly designed to avoid the long-term dependency problem. Remembering information for long periods of time is practically their default behavior, not something they struggle to learn!</a:t>
            </a:r>
          </a:p>
          <a:p>
            <a:pPr marL="0" indent="0">
              <a:buNone/>
            </a:pPr>
            <a:r>
              <a:rPr lang="en-US" sz="1050" dirty="0"/>
              <a:t>All recurrent neural networks have the form of a chain of repeating modules of neural network. In standard RNNs, this repeating module will have a very simple structure, such as a single </a:t>
            </a:r>
            <a:r>
              <a:rPr lang="en-US" sz="1050" dirty="0" err="1"/>
              <a:t>tanh</a:t>
            </a:r>
            <a:r>
              <a:rPr lang="en-US" sz="1050" dirty="0"/>
              <a:t> layer.</a:t>
            </a:r>
          </a:p>
          <a:p>
            <a:pPr marL="0" indent="0">
              <a:buNone/>
            </a:pPr>
            <a:endParaRPr lang="en-US" sz="1050" dirty="0"/>
          </a:p>
        </p:txBody>
      </p:sp>
      <p:pic>
        <p:nvPicPr>
          <p:cNvPr id="8"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7250" y="1822861"/>
            <a:ext cx="3807351" cy="1647152"/>
          </a:xfrm>
          <a:prstGeom prst="rect">
            <a:avLst/>
          </a:prstGeom>
        </p:spPr>
      </p:pic>
      <p:sp>
        <p:nvSpPr>
          <p:cNvPr id="9" name="TextBox 8"/>
          <p:cNvSpPr txBox="1"/>
          <p:nvPr/>
        </p:nvSpPr>
        <p:spPr>
          <a:xfrm>
            <a:off x="186432" y="3515555"/>
            <a:ext cx="11862222" cy="276999"/>
          </a:xfrm>
          <a:prstGeom prst="rect">
            <a:avLst/>
          </a:prstGeom>
          <a:noFill/>
        </p:spPr>
        <p:txBody>
          <a:bodyPr wrap="none" rtlCol="0">
            <a:spAutoFit/>
          </a:bodyPr>
          <a:lstStyle/>
          <a:p>
            <a:r>
              <a:rPr lang="en-US" sz="1200" dirty="0"/>
              <a:t>LSTMs also have this chain like structure, but the repeating module has a different structure. Instead of having a single neural network layer, there are four, interacting in a very special way.</a:t>
            </a:r>
          </a:p>
        </p:txBody>
      </p:sp>
      <p:pic>
        <p:nvPicPr>
          <p:cNvPr id="10" name="Picture 9"/>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49927" y="3799446"/>
            <a:ext cx="3975982" cy="1715664"/>
          </a:xfrm>
          <a:prstGeom prst="rect">
            <a:avLst/>
          </a:prstGeom>
        </p:spPr>
      </p:pic>
      <p:sp>
        <p:nvSpPr>
          <p:cNvPr id="11" name="TextBox 10"/>
          <p:cNvSpPr txBox="1"/>
          <p:nvPr/>
        </p:nvSpPr>
        <p:spPr>
          <a:xfrm>
            <a:off x="62143" y="5504156"/>
            <a:ext cx="11328166" cy="276999"/>
          </a:xfrm>
          <a:prstGeom prst="rect">
            <a:avLst/>
          </a:prstGeom>
          <a:noFill/>
        </p:spPr>
        <p:txBody>
          <a:bodyPr wrap="none" rtlCol="0">
            <a:spAutoFit/>
          </a:bodyPr>
          <a:lstStyle/>
          <a:p>
            <a:r>
              <a:rPr lang="en-US" sz="1200" dirty="0"/>
              <a:t>Don’t worry about the details of what’s going on. We’ll walk through the LSTM diagram step by step later. For now, let’s just try to get comfortable with the notation we’ll be using.</a:t>
            </a:r>
          </a:p>
        </p:txBody>
      </p:sp>
      <p:pic>
        <p:nvPicPr>
          <p:cNvPr id="12" name="Picture 11"/>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33153" y="5790975"/>
            <a:ext cx="3195973" cy="552032"/>
          </a:xfrm>
          <a:prstGeom prst="rect">
            <a:avLst/>
          </a:prstGeom>
        </p:spPr>
      </p:pic>
      <p:sp>
        <p:nvSpPr>
          <p:cNvPr id="13" name="TextBox 12"/>
          <p:cNvSpPr txBox="1"/>
          <p:nvPr/>
        </p:nvSpPr>
        <p:spPr>
          <a:xfrm>
            <a:off x="124275" y="6365284"/>
            <a:ext cx="11817422" cy="461665"/>
          </a:xfrm>
          <a:prstGeom prst="rect">
            <a:avLst/>
          </a:prstGeom>
          <a:noFill/>
        </p:spPr>
        <p:txBody>
          <a:bodyPr wrap="square" rtlCol="0">
            <a:spAutoFit/>
          </a:bodyPr>
          <a:lstStyle/>
          <a:p>
            <a:r>
              <a:rPr lang="en-US" sz="1200" dirty="0"/>
              <a:t>In the above diagram, each line carries an entire vector, from the output of one node to the inputs of others. The pink circles represent pointwise operations, like vector addition, while the yellow boxes are learned neural network layers. Lines merging denote concatenation, while a line forking denote its content being copied and the copies going to different locations.</a:t>
            </a:r>
          </a:p>
        </p:txBody>
      </p:sp>
      <p:sp>
        <p:nvSpPr>
          <p:cNvPr id="14" name="TextBox 13"/>
          <p:cNvSpPr txBox="1"/>
          <p:nvPr/>
        </p:nvSpPr>
        <p:spPr>
          <a:xfrm>
            <a:off x="8043191" y="88776"/>
            <a:ext cx="4129657" cy="261610"/>
          </a:xfrm>
          <a:prstGeom prst="rect">
            <a:avLst/>
          </a:prstGeom>
          <a:noFill/>
        </p:spPr>
        <p:txBody>
          <a:bodyPr wrap="none" rtlCol="0">
            <a:spAutoFit/>
          </a:bodyPr>
          <a:lstStyle/>
          <a:p>
            <a:r>
              <a:rPr lang="en-US" sz="1100" dirty="0"/>
              <a:t>source https://colah.github.io/posts/2015-08-Understanding-LSTMs/</a:t>
            </a:r>
          </a:p>
        </p:txBody>
      </p:sp>
    </p:spTree>
    <p:extLst>
      <p:ext uri="{BB962C8B-B14F-4D97-AF65-F5344CB8AC3E}">
        <p14:creationId xmlns:p14="http://schemas.microsoft.com/office/powerpoint/2010/main" val="18927454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9916"/>
            <a:ext cx="10515600" cy="380601"/>
          </a:xfrm>
        </p:spPr>
        <p:txBody>
          <a:bodyPr>
            <a:normAutofit fontScale="90000"/>
          </a:bodyPr>
          <a:lstStyle/>
          <a:p>
            <a:r>
              <a:rPr lang="en-US" sz="2400" dirty="0" smtClean="0"/>
              <a:t>LSTM Architecture(p3): </a:t>
            </a:r>
            <a:endParaRPr lang="en-US" sz="2400" dirty="0"/>
          </a:p>
        </p:txBody>
      </p:sp>
      <p:sp>
        <p:nvSpPr>
          <p:cNvPr id="5" name="TextBox 4"/>
          <p:cNvSpPr txBox="1"/>
          <p:nvPr/>
        </p:nvSpPr>
        <p:spPr>
          <a:xfrm>
            <a:off x="266330" y="683580"/>
            <a:ext cx="10750059" cy="600164"/>
          </a:xfrm>
          <a:prstGeom prst="rect">
            <a:avLst/>
          </a:prstGeom>
          <a:noFill/>
        </p:spPr>
        <p:txBody>
          <a:bodyPr wrap="none" rtlCol="0">
            <a:spAutoFit/>
          </a:bodyPr>
          <a:lstStyle/>
          <a:p>
            <a:r>
              <a:rPr lang="en-US" sz="1100" b="1" dirty="0"/>
              <a:t>The Core Idea Behind LSTMs</a:t>
            </a:r>
          </a:p>
          <a:p>
            <a:r>
              <a:rPr lang="en-US" sz="1100" dirty="0"/>
              <a:t>The key to LSTMs is the cell state, the horizontal line running through the top of the diagram.</a:t>
            </a:r>
          </a:p>
          <a:p>
            <a:r>
              <a:rPr lang="en-US" sz="1100" dirty="0"/>
              <a:t>The cell state is kind of like a conveyor belt. It runs straight down the entire chain, with only some minor linear interactions. It’s very easy for information to just flow along it unchanged</a:t>
            </a:r>
            <a:r>
              <a:rPr lang="en-US" sz="1100" dirty="0" smtClean="0"/>
              <a:t>.</a:t>
            </a:r>
            <a:endParaRPr lang="en-US" sz="1100"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8082" y="1292620"/>
            <a:ext cx="3256556" cy="1928224"/>
          </a:xfrm>
          <a:prstGeom prst="rect">
            <a:avLst/>
          </a:prstGeom>
        </p:spPr>
      </p:pic>
      <p:sp>
        <p:nvSpPr>
          <p:cNvPr id="7" name="TextBox 6"/>
          <p:cNvSpPr txBox="1"/>
          <p:nvPr/>
        </p:nvSpPr>
        <p:spPr>
          <a:xfrm>
            <a:off x="238082" y="3280168"/>
            <a:ext cx="8690199" cy="430887"/>
          </a:xfrm>
          <a:prstGeom prst="rect">
            <a:avLst/>
          </a:prstGeom>
          <a:noFill/>
        </p:spPr>
        <p:txBody>
          <a:bodyPr wrap="none" rtlCol="0">
            <a:spAutoFit/>
          </a:bodyPr>
          <a:lstStyle/>
          <a:p>
            <a:r>
              <a:rPr lang="en-US" sz="1100" dirty="0"/>
              <a:t>The LSTM does have the ability to remove or add information to the cell state, carefully regulated by structures called gates.</a:t>
            </a:r>
          </a:p>
          <a:p>
            <a:r>
              <a:rPr lang="en-US" sz="1100" dirty="0"/>
              <a:t>Gates are a way to optionally let information through. They are composed out of a sigmoid neural net layer and a pointwise multiplication operation</a:t>
            </a:r>
            <a:r>
              <a:rPr lang="en-US" sz="1100" dirty="0" smtClean="0"/>
              <a:t>.</a:t>
            </a:r>
            <a:endParaRPr lang="en-US" sz="1100" dirty="0"/>
          </a:p>
        </p:txBody>
      </p:sp>
      <p:pic>
        <p:nvPicPr>
          <p:cNvPr id="14" name="Picture 1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4251" y="4046185"/>
            <a:ext cx="1575329" cy="1840338"/>
          </a:xfrm>
          <a:prstGeom prst="rect">
            <a:avLst/>
          </a:prstGeom>
        </p:spPr>
      </p:pic>
      <p:sp>
        <p:nvSpPr>
          <p:cNvPr id="15" name="TextBox 14"/>
          <p:cNvSpPr txBox="1"/>
          <p:nvPr/>
        </p:nvSpPr>
        <p:spPr>
          <a:xfrm>
            <a:off x="266330" y="6092978"/>
            <a:ext cx="11602763" cy="600164"/>
          </a:xfrm>
          <a:prstGeom prst="rect">
            <a:avLst/>
          </a:prstGeom>
          <a:noFill/>
        </p:spPr>
        <p:txBody>
          <a:bodyPr wrap="square" rtlCol="0">
            <a:spAutoFit/>
          </a:bodyPr>
          <a:lstStyle/>
          <a:p>
            <a:r>
              <a:rPr lang="en-US" sz="1100" dirty="0"/>
              <a:t>The sigmoid layer outputs numbers between zero and one, describing how much of each component should be let through. A value of zero means “let nothing through,” while a value of one means “let everything through!”</a:t>
            </a:r>
          </a:p>
          <a:p>
            <a:r>
              <a:rPr lang="en-US" sz="1100" dirty="0"/>
              <a:t>An LSTM has three of these gates, to protect and control the cell state</a:t>
            </a:r>
            <a:r>
              <a:rPr lang="en-US" sz="1100" dirty="0" smtClean="0"/>
              <a:t>.</a:t>
            </a:r>
            <a:endParaRPr lang="en-US" sz="1100" dirty="0"/>
          </a:p>
        </p:txBody>
      </p:sp>
      <p:sp>
        <p:nvSpPr>
          <p:cNvPr id="16" name="TextBox 15"/>
          <p:cNvSpPr txBox="1"/>
          <p:nvPr/>
        </p:nvSpPr>
        <p:spPr>
          <a:xfrm>
            <a:off x="8043191" y="88776"/>
            <a:ext cx="4129657" cy="261610"/>
          </a:xfrm>
          <a:prstGeom prst="rect">
            <a:avLst/>
          </a:prstGeom>
          <a:noFill/>
        </p:spPr>
        <p:txBody>
          <a:bodyPr wrap="none" rtlCol="0">
            <a:spAutoFit/>
          </a:bodyPr>
          <a:lstStyle/>
          <a:p>
            <a:r>
              <a:rPr lang="en-US" sz="1100" dirty="0"/>
              <a:t>source https://colah.github.io/posts/2015-08-Understanding-LSTMs/</a:t>
            </a:r>
          </a:p>
        </p:txBody>
      </p:sp>
    </p:spTree>
    <p:extLst>
      <p:ext uri="{BB962C8B-B14F-4D97-AF65-F5344CB8AC3E}">
        <p14:creationId xmlns:p14="http://schemas.microsoft.com/office/powerpoint/2010/main" val="15453665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9916"/>
            <a:ext cx="7027416" cy="302595"/>
          </a:xfrm>
        </p:spPr>
        <p:txBody>
          <a:bodyPr>
            <a:normAutofit fontScale="90000"/>
          </a:bodyPr>
          <a:lstStyle/>
          <a:p>
            <a:r>
              <a:rPr lang="en-US" sz="2400" dirty="0" smtClean="0"/>
              <a:t>LSTM Architecture(p4): </a:t>
            </a:r>
            <a:endParaRPr lang="en-US" sz="2400"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5798" y="887239"/>
            <a:ext cx="5680609" cy="5142369"/>
          </a:xfrm>
          <a:prstGeom prst="rect">
            <a:avLst/>
          </a:prstGeom>
        </p:spPr>
      </p:pic>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54709" y="392511"/>
            <a:ext cx="5593107" cy="5877020"/>
          </a:xfrm>
          <a:prstGeom prst="rect">
            <a:avLst/>
          </a:prstGeom>
        </p:spPr>
      </p:pic>
      <p:sp>
        <p:nvSpPr>
          <p:cNvPr id="9" name="Right Arrow 8"/>
          <p:cNvSpPr/>
          <p:nvPr/>
        </p:nvSpPr>
        <p:spPr>
          <a:xfrm rot="19034116">
            <a:off x="5712737" y="5703683"/>
            <a:ext cx="407406" cy="32592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p:cNvSpPr txBox="1"/>
          <p:nvPr/>
        </p:nvSpPr>
        <p:spPr>
          <a:xfrm>
            <a:off x="10599939" y="6525087"/>
            <a:ext cx="1476943" cy="276999"/>
          </a:xfrm>
          <a:prstGeom prst="rect">
            <a:avLst/>
          </a:prstGeom>
          <a:noFill/>
        </p:spPr>
        <p:txBody>
          <a:bodyPr wrap="none" rtlCol="0">
            <a:spAutoFit/>
          </a:bodyPr>
          <a:lstStyle/>
          <a:p>
            <a:r>
              <a:rPr lang="en-US" sz="1200" dirty="0" smtClean="0"/>
              <a:t>Continued next page</a:t>
            </a:r>
            <a:endParaRPr lang="en-US" sz="1200" dirty="0"/>
          </a:p>
        </p:txBody>
      </p:sp>
      <p:sp>
        <p:nvSpPr>
          <p:cNvPr id="13" name="TextBox 12"/>
          <p:cNvSpPr txBox="1"/>
          <p:nvPr/>
        </p:nvSpPr>
        <p:spPr>
          <a:xfrm>
            <a:off x="8043191" y="88776"/>
            <a:ext cx="4129657" cy="261610"/>
          </a:xfrm>
          <a:prstGeom prst="rect">
            <a:avLst/>
          </a:prstGeom>
          <a:noFill/>
        </p:spPr>
        <p:txBody>
          <a:bodyPr wrap="none" rtlCol="0">
            <a:spAutoFit/>
          </a:bodyPr>
          <a:lstStyle/>
          <a:p>
            <a:r>
              <a:rPr lang="en-US" sz="1100" dirty="0"/>
              <a:t>source https://colah.github.io/posts/2015-08-Understanding-LSTMs/</a:t>
            </a:r>
          </a:p>
        </p:txBody>
      </p:sp>
    </p:spTree>
    <p:extLst>
      <p:ext uri="{BB962C8B-B14F-4D97-AF65-F5344CB8AC3E}">
        <p14:creationId xmlns:p14="http://schemas.microsoft.com/office/powerpoint/2010/main" val="39519488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9916"/>
            <a:ext cx="6086383" cy="451622"/>
          </a:xfrm>
        </p:spPr>
        <p:txBody>
          <a:bodyPr>
            <a:normAutofit/>
          </a:bodyPr>
          <a:lstStyle/>
          <a:p>
            <a:r>
              <a:rPr lang="en-US" sz="2400" dirty="0" smtClean="0"/>
              <a:t>LSTM Architecture(p5): </a:t>
            </a:r>
            <a:endParaRPr lang="en-US" sz="2400"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9595" y="636884"/>
            <a:ext cx="6184126" cy="2890231"/>
          </a:xfrm>
          <a:prstGeom prst="rect">
            <a:avLst/>
          </a:prstGeom>
        </p:spPr>
      </p:pic>
      <p:sp>
        <p:nvSpPr>
          <p:cNvPr id="7" name="TextBox 6"/>
          <p:cNvSpPr txBox="1"/>
          <p:nvPr/>
        </p:nvSpPr>
        <p:spPr>
          <a:xfrm>
            <a:off x="8043191" y="88776"/>
            <a:ext cx="4129657" cy="261610"/>
          </a:xfrm>
          <a:prstGeom prst="rect">
            <a:avLst/>
          </a:prstGeom>
          <a:noFill/>
        </p:spPr>
        <p:txBody>
          <a:bodyPr wrap="none" rtlCol="0">
            <a:spAutoFit/>
          </a:bodyPr>
          <a:lstStyle/>
          <a:p>
            <a:r>
              <a:rPr lang="en-US" sz="1100" dirty="0"/>
              <a:t>source https://colah.github.io/posts/2015-08-Understanding-LSTMs/</a:t>
            </a:r>
          </a:p>
        </p:txBody>
      </p:sp>
    </p:spTree>
    <p:extLst>
      <p:ext uri="{BB962C8B-B14F-4D97-AF65-F5344CB8AC3E}">
        <p14:creationId xmlns:p14="http://schemas.microsoft.com/office/powerpoint/2010/main" val="13807787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3355</TotalTime>
  <Words>2103</Words>
  <Application>Microsoft Office PowerPoint</Application>
  <PresentationFormat>Widescreen</PresentationFormat>
  <Paragraphs>166</Paragraphs>
  <Slides>26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26</vt:i4>
      </vt:variant>
    </vt:vector>
  </HeadingPairs>
  <TitlesOfParts>
    <vt:vector size="33" baseType="lpstr">
      <vt:lpstr>Arial</vt:lpstr>
      <vt:lpstr>Calibri</vt:lpstr>
      <vt:lpstr>Calibri Light</vt:lpstr>
      <vt:lpstr>Georgia</vt:lpstr>
      <vt:lpstr>Inter</vt:lpstr>
      <vt:lpstr>Studio-Feixen-Sans</vt:lpstr>
      <vt:lpstr>Office Theme</vt:lpstr>
      <vt:lpstr>AI RNN LSTM</vt:lpstr>
      <vt:lpstr>source</vt:lpstr>
      <vt:lpstr>RNN Application</vt:lpstr>
      <vt:lpstr>Why can't we use a plain ANN for time series forecasting?</vt:lpstr>
      <vt:lpstr>Why we cannot use ANN for sentiment analysis?</vt:lpstr>
      <vt:lpstr>Theory</vt:lpstr>
      <vt:lpstr>Architecture</vt:lpstr>
      <vt:lpstr>RNN</vt:lpstr>
      <vt:lpstr>RNN: Feed Forward Propagation (TODO from Batch9)</vt:lpstr>
      <vt:lpstr>RNN: How many parameters(wts+bias) ?  Ans: 27+4=31</vt:lpstr>
      <vt:lpstr>RNN: Back propagation Theory(TODO)</vt:lpstr>
      <vt:lpstr>Key properties of RNN</vt:lpstr>
      <vt:lpstr>Types of RNN</vt:lpstr>
      <vt:lpstr>Difference between RNN and simple NN</vt:lpstr>
      <vt:lpstr>Differences Between RNN and CNN</vt:lpstr>
      <vt:lpstr>Disadvantages of RNN(p1)</vt:lpstr>
      <vt:lpstr>Disadvantages of RNN(p2)</vt:lpstr>
      <vt:lpstr>Disadvantages of RNN(p3)</vt:lpstr>
      <vt:lpstr>Disadvantages of RNN(p4)</vt:lpstr>
      <vt:lpstr>LSTM</vt:lpstr>
      <vt:lpstr>PowerPoint Presentation</vt:lpstr>
      <vt:lpstr>LSTM Architecture(p1):</vt:lpstr>
      <vt:lpstr>LSTM Architecture(p2): </vt:lpstr>
      <vt:lpstr>LSTM Architecture(p3): </vt:lpstr>
      <vt:lpstr>LSTM Architecture(p4): </vt:lpstr>
      <vt:lpstr>LSTM Architecture(p5):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RNN LSTM</dc:title>
  <dc:creator>ash322.ash422@gmail.com</dc:creator>
  <cp:lastModifiedBy>hi</cp:lastModifiedBy>
  <cp:revision>128</cp:revision>
  <dcterms:created xsi:type="dcterms:W3CDTF">2025-01-30T10:54:00Z</dcterms:created>
  <dcterms:modified xsi:type="dcterms:W3CDTF">2025-05-11T04:29:45Z</dcterms:modified>
</cp:coreProperties>
</file>