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2"/>
    <p:sldId id="299" r:id="rId3"/>
    <p:sldId id="285" r:id="rId4"/>
    <p:sldId id="298" r:id="rId5"/>
    <p:sldId id="300" r:id="rId6"/>
    <p:sldId id="260" r:id="rId7"/>
    <p:sldId id="291" r:id="rId8"/>
    <p:sldId id="258" r:id="rId9"/>
    <p:sldId id="281" r:id="rId10"/>
    <p:sldId id="292" r:id="rId11"/>
    <p:sldId id="293" r:id="rId12"/>
    <p:sldId id="282" r:id="rId13"/>
    <p:sldId id="294" r:id="rId14"/>
    <p:sldId id="286" r:id="rId15"/>
    <p:sldId id="295" r:id="rId16"/>
    <p:sldId id="280" r:id="rId17"/>
    <p:sldId id="296" r:id="rId18"/>
    <p:sldId id="259" r:id="rId19"/>
    <p:sldId id="262" r:id="rId20"/>
    <p:sldId id="297" r:id="rId21"/>
    <p:sldId id="263" r:id="rId22"/>
    <p:sldId id="287" r:id="rId23"/>
    <p:sldId id="261" r:id="rId24"/>
    <p:sldId id="265" r:id="rId25"/>
    <p:sldId id="266" r:id="rId26"/>
    <p:sldId id="267" r:id="rId27"/>
    <p:sldId id="268" r:id="rId28"/>
    <p:sldId id="264" r:id="rId29"/>
    <p:sldId id="283" r:id="rId30"/>
    <p:sldId id="284" r:id="rId31"/>
    <p:sldId id="270" r:id="rId32"/>
    <p:sldId id="279" r:id="rId33"/>
    <p:sldId id="269" r:id="rId34"/>
    <p:sldId id="271" r:id="rId35"/>
    <p:sldId id="272" r:id="rId36"/>
    <p:sldId id="301" r:id="rId37"/>
    <p:sldId id="288" r:id="rId38"/>
    <p:sldId id="273" r:id="rId39"/>
    <p:sldId id="289" r:id="rId40"/>
    <p:sldId id="274" r:id="rId41"/>
    <p:sldId id="290" r:id="rId42"/>
    <p:sldId id="277" r:id="rId43"/>
    <p:sldId id="278" r:id="rId44"/>
    <p:sldId id="275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03B8E4F-2E9D-4396-9403-566070FEAAB6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A52D65C-C524-4C1F-8047-728773BB3F03}">
      <dgm:prSet phldrT="[Text]" custT="1"/>
      <dgm:spPr/>
      <dgm:t>
        <a:bodyPr anchor="t"/>
        <a:lstStyle/>
        <a:p>
          <a:pPr algn="ctr"/>
          <a:r>
            <a:rPr lang="en-US" sz="2000" b="1" dirty="0"/>
            <a:t>1. Text Acquisition</a:t>
          </a:r>
        </a:p>
        <a:p>
          <a:pPr algn="ctr"/>
          <a:endParaRPr lang="en-US" sz="2000" dirty="0"/>
        </a:p>
        <a:p>
          <a:pPr algn="ctr"/>
          <a:r>
            <a:rPr lang="en-US" sz="2000" dirty="0"/>
            <a:t>Collect or load raw text data.</a:t>
          </a:r>
        </a:p>
        <a:p>
          <a:pPr algn="ctr"/>
          <a:r>
            <a:rPr lang="fr-FR" sz="2000" dirty="0"/>
            <a:t>Sources: files, </a:t>
          </a:r>
          <a:r>
            <a:rPr lang="fr-FR" sz="2000" dirty="0" err="1"/>
            <a:t>databases</a:t>
          </a:r>
          <a:r>
            <a:rPr lang="fr-FR" sz="2000" dirty="0"/>
            <a:t>, APIs (</a:t>
          </a:r>
          <a:r>
            <a:rPr lang="fr-FR" sz="2000" dirty="0" err="1"/>
            <a:t>e.g</a:t>
          </a:r>
          <a:r>
            <a:rPr lang="fr-FR" sz="2000" dirty="0"/>
            <a:t>., Twitter API), web </a:t>
          </a:r>
          <a:r>
            <a:rPr lang="fr-FR" sz="2000" dirty="0" err="1"/>
            <a:t>scraping</a:t>
          </a:r>
          <a:r>
            <a:rPr lang="fr-FR" sz="2000" dirty="0"/>
            <a:t>, etc.</a:t>
          </a:r>
          <a:endParaRPr lang="en-US" sz="2000" dirty="0"/>
        </a:p>
      </dgm:t>
    </dgm:pt>
    <dgm:pt modelId="{2C790ECE-496E-4FC8-A7D5-989EF509FBA7}" type="parTrans" cxnId="{7DA3AC6E-7FEA-42BF-B023-238C071B9E2E}">
      <dgm:prSet/>
      <dgm:spPr/>
      <dgm:t>
        <a:bodyPr/>
        <a:lstStyle/>
        <a:p>
          <a:endParaRPr lang="en-US"/>
        </a:p>
      </dgm:t>
    </dgm:pt>
    <dgm:pt modelId="{761CBF07-9D9B-49AF-B85F-059F41968DC0}" type="sibTrans" cxnId="{7DA3AC6E-7FEA-42BF-B023-238C071B9E2E}">
      <dgm:prSet/>
      <dgm:spPr/>
      <dgm:t>
        <a:bodyPr/>
        <a:lstStyle/>
        <a:p>
          <a:endParaRPr lang="en-US"/>
        </a:p>
      </dgm:t>
    </dgm:pt>
    <dgm:pt modelId="{243C6970-D0C0-4D9F-A4FF-9D3D975D4E10}">
      <dgm:prSet phldrT="[Text]" custT="1"/>
      <dgm:spPr/>
      <dgm:t>
        <a:bodyPr anchor="t"/>
        <a:lstStyle/>
        <a:p>
          <a:r>
            <a:rPr lang="en-US" sz="2000" b="1" dirty="0"/>
            <a:t>2. Text Cleaning (Preprocessing)</a:t>
          </a:r>
        </a:p>
        <a:p>
          <a:endParaRPr lang="en-US" sz="2000" dirty="0"/>
        </a:p>
        <a:p>
          <a:r>
            <a:rPr lang="en-US" sz="2000" dirty="0"/>
            <a:t>Lowercasing</a:t>
          </a:r>
        </a:p>
        <a:p>
          <a:endParaRPr lang="en-US" sz="2000" dirty="0"/>
        </a:p>
        <a:p>
          <a:r>
            <a:rPr lang="en-US" sz="2000" dirty="0"/>
            <a:t>Remove unwanted parts:</a:t>
          </a:r>
        </a:p>
        <a:p>
          <a:r>
            <a:rPr lang="en-US" sz="2000" dirty="0"/>
            <a:t>like punctuation, special characters, numbers, HTML tags, URLs, @</a:t>
          </a:r>
        </a:p>
        <a:p>
          <a:endParaRPr lang="en-US" sz="2000" dirty="0"/>
        </a:p>
        <a:p>
          <a:r>
            <a:rPr lang="en-US" sz="2000" dirty="0"/>
            <a:t>Remove emojis</a:t>
          </a:r>
        </a:p>
      </dgm:t>
    </dgm:pt>
    <dgm:pt modelId="{F74791AA-33B4-44BE-9B3D-6195F889148D}" type="parTrans" cxnId="{109F66A3-1D91-41D3-96CC-EAD2A901BF88}">
      <dgm:prSet/>
      <dgm:spPr/>
      <dgm:t>
        <a:bodyPr/>
        <a:lstStyle/>
        <a:p>
          <a:endParaRPr lang="en-US"/>
        </a:p>
      </dgm:t>
    </dgm:pt>
    <dgm:pt modelId="{91A00A64-9B39-49F1-88C6-9A07EB2B6463}" type="sibTrans" cxnId="{109F66A3-1D91-41D3-96CC-EAD2A901BF88}">
      <dgm:prSet/>
      <dgm:spPr/>
      <dgm:t>
        <a:bodyPr/>
        <a:lstStyle/>
        <a:p>
          <a:endParaRPr lang="en-US"/>
        </a:p>
      </dgm:t>
    </dgm:pt>
    <dgm:pt modelId="{A284574E-85C1-4D29-AE7A-E9FD2E547DAB}">
      <dgm:prSet phldrT="[Text]" custT="1"/>
      <dgm:spPr/>
      <dgm:t>
        <a:bodyPr anchor="t"/>
        <a:lstStyle/>
        <a:p>
          <a:r>
            <a:rPr lang="en-US" sz="2000" b="1" dirty="0"/>
            <a:t>3. Tokenization</a:t>
          </a:r>
        </a:p>
        <a:p>
          <a:endParaRPr lang="en-US" sz="2000" b="1" dirty="0"/>
        </a:p>
        <a:p>
          <a:r>
            <a:rPr lang="en-US" sz="2000" dirty="0"/>
            <a:t>Split text into individual words or </a:t>
          </a:r>
          <a:r>
            <a:rPr lang="en-US" sz="2000" dirty="0" err="1"/>
            <a:t>subwords</a:t>
          </a:r>
          <a:r>
            <a:rPr lang="en-US" sz="2000" dirty="0"/>
            <a:t>.</a:t>
          </a:r>
        </a:p>
        <a:p>
          <a:r>
            <a:rPr lang="en-US" sz="2000" dirty="0"/>
            <a:t>Example: "Virgin America is great" → ["Virgin", "America", "is", "great"]</a:t>
          </a:r>
        </a:p>
        <a:p>
          <a:r>
            <a:rPr lang="en-US" sz="2000" dirty="0"/>
            <a:t>Libraries: </a:t>
          </a:r>
          <a:r>
            <a:rPr lang="en-US" sz="2000" dirty="0" err="1"/>
            <a:t>nltk</a:t>
          </a:r>
          <a:r>
            <a:rPr lang="en-US" sz="2000" dirty="0"/>
            <a:t>, </a:t>
          </a:r>
          <a:r>
            <a:rPr lang="en-US" sz="2000" dirty="0" err="1"/>
            <a:t>spaCy</a:t>
          </a:r>
          <a:r>
            <a:rPr lang="en-US" sz="2000" dirty="0"/>
            <a:t>, transformers.</a:t>
          </a:r>
        </a:p>
      </dgm:t>
    </dgm:pt>
    <dgm:pt modelId="{58B6568E-AF7E-47E4-AC4C-3E35C7E5B43F}" type="parTrans" cxnId="{1B2CECB2-0DFA-4A2E-B0D8-C84428A5C4D5}">
      <dgm:prSet/>
      <dgm:spPr/>
      <dgm:t>
        <a:bodyPr/>
        <a:lstStyle/>
        <a:p>
          <a:endParaRPr lang="en-US"/>
        </a:p>
      </dgm:t>
    </dgm:pt>
    <dgm:pt modelId="{E8F7E40B-621D-4943-B37E-A97B839557A5}" type="sibTrans" cxnId="{1B2CECB2-0DFA-4A2E-B0D8-C84428A5C4D5}">
      <dgm:prSet/>
      <dgm:spPr/>
      <dgm:t>
        <a:bodyPr/>
        <a:lstStyle/>
        <a:p>
          <a:endParaRPr lang="en-US"/>
        </a:p>
      </dgm:t>
    </dgm:pt>
    <dgm:pt modelId="{FCB03A75-110F-4703-85E9-D18F2E2978F4}">
      <dgm:prSet phldrT="[Text]" custT="1"/>
      <dgm:spPr/>
      <dgm:t>
        <a:bodyPr anchor="t"/>
        <a:lstStyle/>
        <a:p>
          <a:r>
            <a:rPr lang="en-US" sz="2000" b="1" dirty="0"/>
            <a:t>4. POS tagging &amp; Normalization</a:t>
          </a:r>
        </a:p>
        <a:p>
          <a:r>
            <a:rPr lang="en-US" sz="2000" b="0" dirty="0"/>
            <a:t>4.0) POS tagging improves normalization </a:t>
          </a:r>
        </a:p>
        <a:p>
          <a:r>
            <a:rPr lang="en-US" sz="2000" dirty="0"/>
            <a:t>4.1) Norm. makes words more uniform:</a:t>
          </a:r>
        </a:p>
        <a:p>
          <a:r>
            <a:rPr lang="en-US" sz="2000" b="1" dirty="0"/>
            <a:t>Stemming</a:t>
          </a:r>
          <a:r>
            <a:rPr lang="en-US" sz="2000" dirty="0"/>
            <a:t> (cut to root form): "running" → "run"</a:t>
          </a:r>
        </a:p>
        <a:p>
          <a:r>
            <a:rPr lang="en-US" sz="2000" b="1" dirty="0"/>
            <a:t>Lemmatization</a:t>
          </a:r>
          <a:r>
            <a:rPr lang="en-US" sz="2000" dirty="0"/>
            <a:t> (dictionary form): "better" → "good"</a:t>
          </a:r>
        </a:p>
        <a:p>
          <a:r>
            <a:rPr lang="en-US" sz="2000" dirty="0"/>
            <a:t>4.2) Norm. removes </a:t>
          </a:r>
          <a:r>
            <a:rPr lang="en-US" sz="2000" dirty="0" err="1"/>
            <a:t>stopwords</a:t>
          </a:r>
          <a:r>
            <a:rPr lang="en-US" sz="2000" dirty="0"/>
            <a:t> (common words like "is", "the").</a:t>
          </a:r>
        </a:p>
      </dgm:t>
    </dgm:pt>
    <dgm:pt modelId="{F2B88FAB-C68D-4438-AF55-D7732EA8ABE5}" type="parTrans" cxnId="{CFB0D465-5467-469F-8D00-8605B004C192}">
      <dgm:prSet/>
      <dgm:spPr/>
      <dgm:t>
        <a:bodyPr/>
        <a:lstStyle/>
        <a:p>
          <a:endParaRPr lang="en-US"/>
        </a:p>
      </dgm:t>
    </dgm:pt>
    <dgm:pt modelId="{83A3C336-922D-4448-9D89-52E473ECDD39}" type="sibTrans" cxnId="{CFB0D465-5467-469F-8D00-8605B004C192}">
      <dgm:prSet/>
      <dgm:spPr/>
      <dgm:t>
        <a:bodyPr/>
        <a:lstStyle/>
        <a:p>
          <a:endParaRPr lang="en-US"/>
        </a:p>
      </dgm:t>
    </dgm:pt>
    <dgm:pt modelId="{813FB44E-7D16-4ED4-BA68-A6E0652D47B0}" type="pres">
      <dgm:prSet presAssocID="{303B8E4F-2E9D-4396-9403-566070FEAAB6}" presName="Name0" presStyleCnt="0">
        <dgm:presLayoutVars>
          <dgm:dir/>
          <dgm:resizeHandles val="exact"/>
        </dgm:presLayoutVars>
      </dgm:prSet>
      <dgm:spPr/>
    </dgm:pt>
    <dgm:pt modelId="{C35A75CD-558B-4038-B5ED-FE94802087E2}" type="pres">
      <dgm:prSet presAssocID="{CA52D65C-C524-4C1F-8047-728773BB3F03}" presName="node" presStyleLbl="node1" presStyleIdx="0" presStyleCnt="4" custScaleX="103374">
        <dgm:presLayoutVars>
          <dgm:bulletEnabled val="1"/>
        </dgm:presLayoutVars>
      </dgm:prSet>
      <dgm:spPr/>
    </dgm:pt>
    <dgm:pt modelId="{D89F832D-E3ED-4E37-854E-BD18B3B3376F}" type="pres">
      <dgm:prSet presAssocID="{761CBF07-9D9B-49AF-B85F-059F41968DC0}" presName="sibTrans" presStyleLbl="sibTrans2D1" presStyleIdx="0" presStyleCnt="3"/>
      <dgm:spPr/>
    </dgm:pt>
    <dgm:pt modelId="{B53021F2-D7F0-4FAF-BB2B-D8D0962C06F8}" type="pres">
      <dgm:prSet presAssocID="{761CBF07-9D9B-49AF-B85F-059F41968DC0}" presName="connectorText" presStyleLbl="sibTrans2D1" presStyleIdx="0" presStyleCnt="3"/>
      <dgm:spPr/>
    </dgm:pt>
    <dgm:pt modelId="{4FAD35A4-61F3-418D-BE87-E52A64AFAABF}" type="pres">
      <dgm:prSet presAssocID="{243C6970-D0C0-4D9F-A4FF-9D3D975D4E10}" presName="node" presStyleLbl="node1" presStyleIdx="1" presStyleCnt="4">
        <dgm:presLayoutVars>
          <dgm:bulletEnabled val="1"/>
        </dgm:presLayoutVars>
      </dgm:prSet>
      <dgm:spPr/>
    </dgm:pt>
    <dgm:pt modelId="{7115A0E0-D94C-4BEC-8C6E-8F6E167A80FC}" type="pres">
      <dgm:prSet presAssocID="{91A00A64-9B39-49F1-88C6-9A07EB2B6463}" presName="sibTrans" presStyleLbl="sibTrans2D1" presStyleIdx="1" presStyleCnt="3"/>
      <dgm:spPr/>
    </dgm:pt>
    <dgm:pt modelId="{1D714562-FF97-4782-ADA8-BC212F1AD835}" type="pres">
      <dgm:prSet presAssocID="{91A00A64-9B39-49F1-88C6-9A07EB2B6463}" presName="connectorText" presStyleLbl="sibTrans2D1" presStyleIdx="1" presStyleCnt="3"/>
      <dgm:spPr/>
    </dgm:pt>
    <dgm:pt modelId="{0BED751A-81B5-4F78-8ACE-26CD8123C9DA}" type="pres">
      <dgm:prSet presAssocID="{A284574E-85C1-4D29-AE7A-E9FD2E547DAB}" presName="node" presStyleLbl="node1" presStyleIdx="2" presStyleCnt="4">
        <dgm:presLayoutVars>
          <dgm:bulletEnabled val="1"/>
        </dgm:presLayoutVars>
      </dgm:prSet>
      <dgm:spPr/>
    </dgm:pt>
    <dgm:pt modelId="{21319410-2170-4FC1-80BC-A15C57440B7B}" type="pres">
      <dgm:prSet presAssocID="{E8F7E40B-621D-4943-B37E-A97B839557A5}" presName="sibTrans" presStyleLbl="sibTrans2D1" presStyleIdx="2" presStyleCnt="3"/>
      <dgm:spPr/>
    </dgm:pt>
    <dgm:pt modelId="{4EC31E27-4C19-47B0-A3B0-14A554CA0D12}" type="pres">
      <dgm:prSet presAssocID="{E8F7E40B-621D-4943-B37E-A97B839557A5}" presName="connectorText" presStyleLbl="sibTrans2D1" presStyleIdx="2" presStyleCnt="3"/>
      <dgm:spPr/>
    </dgm:pt>
    <dgm:pt modelId="{E8DD1799-27EF-49F2-854E-787D75467B88}" type="pres">
      <dgm:prSet presAssocID="{FCB03A75-110F-4703-85E9-D18F2E2978F4}" presName="node" presStyleLbl="node1" presStyleIdx="3" presStyleCnt="4" custScaleX="114445">
        <dgm:presLayoutVars>
          <dgm:bulletEnabled val="1"/>
        </dgm:presLayoutVars>
      </dgm:prSet>
      <dgm:spPr/>
    </dgm:pt>
  </dgm:ptLst>
  <dgm:cxnLst>
    <dgm:cxn modelId="{8E293F29-74BC-465D-A32F-02868DC32EC7}" type="presOf" srcId="{303B8E4F-2E9D-4396-9403-566070FEAAB6}" destId="{813FB44E-7D16-4ED4-BA68-A6E0652D47B0}" srcOrd="0" destOrd="0" presId="urn:microsoft.com/office/officeart/2005/8/layout/process1"/>
    <dgm:cxn modelId="{165CAC63-999B-4346-9064-E83259F67CD4}" type="presOf" srcId="{E8F7E40B-621D-4943-B37E-A97B839557A5}" destId="{4EC31E27-4C19-47B0-A3B0-14A554CA0D12}" srcOrd="1" destOrd="0" presId="urn:microsoft.com/office/officeart/2005/8/layout/process1"/>
    <dgm:cxn modelId="{CFB0D465-5467-469F-8D00-8605B004C192}" srcId="{303B8E4F-2E9D-4396-9403-566070FEAAB6}" destId="{FCB03A75-110F-4703-85E9-D18F2E2978F4}" srcOrd="3" destOrd="0" parTransId="{F2B88FAB-C68D-4438-AF55-D7732EA8ABE5}" sibTransId="{83A3C336-922D-4448-9D89-52E473ECDD39}"/>
    <dgm:cxn modelId="{7DA3AC6E-7FEA-42BF-B023-238C071B9E2E}" srcId="{303B8E4F-2E9D-4396-9403-566070FEAAB6}" destId="{CA52D65C-C524-4C1F-8047-728773BB3F03}" srcOrd="0" destOrd="0" parTransId="{2C790ECE-496E-4FC8-A7D5-989EF509FBA7}" sibTransId="{761CBF07-9D9B-49AF-B85F-059F41968DC0}"/>
    <dgm:cxn modelId="{C8E3BA7A-6993-45FC-BE8F-61A3D1D7B760}" type="presOf" srcId="{FCB03A75-110F-4703-85E9-D18F2E2978F4}" destId="{E8DD1799-27EF-49F2-854E-787D75467B88}" srcOrd="0" destOrd="0" presId="urn:microsoft.com/office/officeart/2005/8/layout/process1"/>
    <dgm:cxn modelId="{D8C08C94-83B6-4F0E-900E-AA5579126D40}" type="presOf" srcId="{91A00A64-9B39-49F1-88C6-9A07EB2B6463}" destId="{1D714562-FF97-4782-ADA8-BC212F1AD835}" srcOrd="1" destOrd="0" presId="urn:microsoft.com/office/officeart/2005/8/layout/process1"/>
    <dgm:cxn modelId="{109F66A3-1D91-41D3-96CC-EAD2A901BF88}" srcId="{303B8E4F-2E9D-4396-9403-566070FEAAB6}" destId="{243C6970-D0C0-4D9F-A4FF-9D3D975D4E10}" srcOrd="1" destOrd="0" parTransId="{F74791AA-33B4-44BE-9B3D-6195F889148D}" sibTransId="{91A00A64-9B39-49F1-88C6-9A07EB2B6463}"/>
    <dgm:cxn modelId="{867472AD-F19E-4C5F-9894-6362DFA3FFF9}" type="presOf" srcId="{761CBF07-9D9B-49AF-B85F-059F41968DC0}" destId="{B53021F2-D7F0-4FAF-BB2B-D8D0962C06F8}" srcOrd="1" destOrd="0" presId="urn:microsoft.com/office/officeart/2005/8/layout/process1"/>
    <dgm:cxn modelId="{1B2CECB2-0DFA-4A2E-B0D8-C84428A5C4D5}" srcId="{303B8E4F-2E9D-4396-9403-566070FEAAB6}" destId="{A284574E-85C1-4D29-AE7A-E9FD2E547DAB}" srcOrd="2" destOrd="0" parTransId="{58B6568E-AF7E-47E4-AC4C-3E35C7E5B43F}" sibTransId="{E8F7E40B-621D-4943-B37E-A97B839557A5}"/>
    <dgm:cxn modelId="{C789C5CF-907B-4CA4-9EDA-39AC3999069D}" type="presOf" srcId="{761CBF07-9D9B-49AF-B85F-059F41968DC0}" destId="{D89F832D-E3ED-4E37-854E-BD18B3B3376F}" srcOrd="0" destOrd="0" presId="urn:microsoft.com/office/officeart/2005/8/layout/process1"/>
    <dgm:cxn modelId="{D1C0B5D8-E219-4EE0-BD99-014ECF4E0676}" type="presOf" srcId="{CA52D65C-C524-4C1F-8047-728773BB3F03}" destId="{C35A75CD-558B-4038-B5ED-FE94802087E2}" srcOrd="0" destOrd="0" presId="urn:microsoft.com/office/officeart/2005/8/layout/process1"/>
    <dgm:cxn modelId="{5A983ED9-1B6C-41D2-B736-17C569C91084}" type="presOf" srcId="{E8F7E40B-621D-4943-B37E-A97B839557A5}" destId="{21319410-2170-4FC1-80BC-A15C57440B7B}" srcOrd="0" destOrd="0" presId="urn:microsoft.com/office/officeart/2005/8/layout/process1"/>
    <dgm:cxn modelId="{8892CCD9-FB57-4BA0-9882-890C0BAAE3AF}" type="presOf" srcId="{A284574E-85C1-4D29-AE7A-E9FD2E547DAB}" destId="{0BED751A-81B5-4F78-8ACE-26CD8123C9DA}" srcOrd="0" destOrd="0" presId="urn:microsoft.com/office/officeart/2005/8/layout/process1"/>
    <dgm:cxn modelId="{3BE46FE4-F88D-4603-87A7-DF7B0B14C4AF}" type="presOf" srcId="{243C6970-D0C0-4D9F-A4FF-9D3D975D4E10}" destId="{4FAD35A4-61F3-418D-BE87-E52A64AFAABF}" srcOrd="0" destOrd="0" presId="urn:microsoft.com/office/officeart/2005/8/layout/process1"/>
    <dgm:cxn modelId="{D4CD53F1-72FA-4E6A-886C-1DFC88FDAB1C}" type="presOf" srcId="{91A00A64-9B39-49F1-88C6-9A07EB2B6463}" destId="{7115A0E0-D94C-4BEC-8C6E-8F6E167A80FC}" srcOrd="0" destOrd="0" presId="urn:microsoft.com/office/officeart/2005/8/layout/process1"/>
    <dgm:cxn modelId="{571E9E73-905F-48EF-8A0A-91B4640E04D0}" type="presParOf" srcId="{813FB44E-7D16-4ED4-BA68-A6E0652D47B0}" destId="{C35A75CD-558B-4038-B5ED-FE94802087E2}" srcOrd="0" destOrd="0" presId="urn:microsoft.com/office/officeart/2005/8/layout/process1"/>
    <dgm:cxn modelId="{C042B741-9C1D-40E6-AE97-A8679568A1AC}" type="presParOf" srcId="{813FB44E-7D16-4ED4-BA68-A6E0652D47B0}" destId="{D89F832D-E3ED-4E37-854E-BD18B3B3376F}" srcOrd="1" destOrd="0" presId="urn:microsoft.com/office/officeart/2005/8/layout/process1"/>
    <dgm:cxn modelId="{A64FAC06-6D93-46A9-98B0-4E8FDF46F7D0}" type="presParOf" srcId="{D89F832D-E3ED-4E37-854E-BD18B3B3376F}" destId="{B53021F2-D7F0-4FAF-BB2B-D8D0962C06F8}" srcOrd="0" destOrd="0" presId="urn:microsoft.com/office/officeart/2005/8/layout/process1"/>
    <dgm:cxn modelId="{3E843724-0BA0-47BB-BCCA-FC510E3E5271}" type="presParOf" srcId="{813FB44E-7D16-4ED4-BA68-A6E0652D47B0}" destId="{4FAD35A4-61F3-418D-BE87-E52A64AFAABF}" srcOrd="2" destOrd="0" presId="urn:microsoft.com/office/officeart/2005/8/layout/process1"/>
    <dgm:cxn modelId="{68C55085-B310-475B-B63E-0FDA5D6F5DC0}" type="presParOf" srcId="{813FB44E-7D16-4ED4-BA68-A6E0652D47B0}" destId="{7115A0E0-D94C-4BEC-8C6E-8F6E167A80FC}" srcOrd="3" destOrd="0" presId="urn:microsoft.com/office/officeart/2005/8/layout/process1"/>
    <dgm:cxn modelId="{71F4183D-ACA5-4E30-8C60-618680740E33}" type="presParOf" srcId="{7115A0E0-D94C-4BEC-8C6E-8F6E167A80FC}" destId="{1D714562-FF97-4782-ADA8-BC212F1AD835}" srcOrd="0" destOrd="0" presId="urn:microsoft.com/office/officeart/2005/8/layout/process1"/>
    <dgm:cxn modelId="{735AF7A8-0F19-43AF-A84E-E586F1524B8F}" type="presParOf" srcId="{813FB44E-7D16-4ED4-BA68-A6E0652D47B0}" destId="{0BED751A-81B5-4F78-8ACE-26CD8123C9DA}" srcOrd="4" destOrd="0" presId="urn:microsoft.com/office/officeart/2005/8/layout/process1"/>
    <dgm:cxn modelId="{BF372B0E-472B-4935-965A-03756BAA5904}" type="presParOf" srcId="{813FB44E-7D16-4ED4-BA68-A6E0652D47B0}" destId="{21319410-2170-4FC1-80BC-A15C57440B7B}" srcOrd="5" destOrd="0" presId="urn:microsoft.com/office/officeart/2005/8/layout/process1"/>
    <dgm:cxn modelId="{5EB149C6-B7DB-4304-8416-8128E1FF71EB}" type="presParOf" srcId="{21319410-2170-4FC1-80BC-A15C57440B7B}" destId="{4EC31E27-4C19-47B0-A3B0-14A554CA0D12}" srcOrd="0" destOrd="0" presId="urn:microsoft.com/office/officeart/2005/8/layout/process1"/>
    <dgm:cxn modelId="{53C854FF-5D69-450A-ABE9-5416472965FE}" type="presParOf" srcId="{813FB44E-7D16-4ED4-BA68-A6E0652D47B0}" destId="{E8DD1799-27EF-49F2-854E-787D75467B8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03B8E4F-2E9D-4396-9403-566070FEAAB6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A52D65C-C524-4C1F-8047-728773BB3F03}">
      <dgm:prSet phldrT="[Text]" custT="1"/>
      <dgm:spPr/>
      <dgm:t>
        <a:bodyPr/>
        <a:lstStyle/>
        <a:p>
          <a:r>
            <a:rPr lang="en-US" sz="2000" b="1" dirty="0"/>
            <a:t>5. Text Representation</a:t>
          </a:r>
        </a:p>
        <a:p>
          <a:r>
            <a:rPr lang="en-US" sz="2000" dirty="0"/>
            <a:t>Convert text into </a:t>
          </a:r>
          <a:r>
            <a:rPr lang="en-US" sz="2000" b="1" dirty="0"/>
            <a:t>numerical format</a:t>
          </a:r>
          <a:r>
            <a:rPr lang="en-US" sz="2000" dirty="0"/>
            <a:t> (models can't read raw text).</a:t>
          </a:r>
        </a:p>
        <a:p>
          <a:r>
            <a:rPr lang="en-US" sz="2000" dirty="0"/>
            <a:t>Methods:</a:t>
          </a:r>
        </a:p>
        <a:p>
          <a:r>
            <a:rPr lang="en-US" sz="2000" b="0" dirty="0"/>
            <a:t>a) N-gram</a:t>
          </a:r>
        </a:p>
        <a:p>
          <a:r>
            <a:rPr lang="en-US" sz="2000" b="0" dirty="0"/>
            <a:t>b) Bag of Words (</a:t>
          </a:r>
          <a:r>
            <a:rPr lang="en-US" sz="2000" b="0" dirty="0" err="1"/>
            <a:t>BoW</a:t>
          </a:r>
          <a:r>
            <a:rPr lang="en-US" sz="2000" b="0" dirty="0"/>
            <a:t>)</a:t>
          </a:r>
        </a:p>
        <a:p>
          <a:r>
            <a:rPr lang="en-US" sz="2000" b="0" dirty="0"/>
            <a:t>c) TF-IDF (Term Frequency - Inverse Document Frequency)</a:t>
          </a:r>
        </a:p>
        <a:p>
          <a:r>
            <a:rPr lang="en-US" sz="2000" b="0" dirty="0"/>
            <a:t>d) Word </a:t>
          </a:r>
          <a:r>
            <a:rPr lang="en-US" sz="2000" b="0" dirty="0" err="1"/>
            <a:t>Embeddings</a:t>
          </a:r>
          <a:r>
            <a:rPr lang="en-US" sz="2000" b="0" dirty="0"/>
            <a:t> (Word2Vec, </a:t>
          </a:r>
          <a:r>
            <a:rPr lang="en-US" sz="2000" b="0" dirty="0" err="1"/>
            <a:t>GloVe</a:t>
          </a:r>
          <a:r>
            <a:rPr lang="en-US" sz="2000" b="0" dirty="0"/>
            <a:t>, </a:t>
          </a:r>
          <a:r>
            <a:rPr lang="en-US" sz="2000" b="0" dirty="0" err="1"/>
            <a:t>FastText</a:t>
          </a:r>
          <a:r>
            <a:rPr lang="en-US" sz="2000" b="0" dirty="0"/>
            <a:t>)</a:t>
          </a:r>
        </a:p>
        <a:p>
          <a:r>
            <a:rPr lang="en-US" sz="2000" b="0" dirty="0"/>
            <a:t>d) Transformer </a:t>
          </a:r>
          <a:r>
            <a:rPr lang="en-US" sz="2000" b="0" dirty="0" err="1"/>
            <a:t>Embeddings</a:t>
          </a:r>
          <a:r>
            <a:rPr lang="en-US" sz="2000" b="0" dirty="0"/>
            <a:t> (BERT, </a:t>
          </a:r>
          <a:r>
            <a:rPr lang="en-US" sz="2000" b="0" dirty="0" err="1"/>
            <a:t>RoBERTa</a:t>
          </a:r>
          <a:r>
            <a:rPr lang="en-US" sz="2000" b="0" dirty="0"/>
            <a:t>, etc.)</a:t>
          </a:r>
        </a:p>
      </dgm:t>
    </dgm:pt>
    <dgm:pt modelId="{2C790ECE-496E-4FC8-A7D5-989EF509FBA7}" type="parTrans" cxnId="{7DA3AC6E-7FEA-42BF-B023-238C071B9E2E}">
      <dgm:prSet/>
      <dgm:spPr/>
      <dgm:t>
        <a:bodyPr/>
        <a:lstStyle/>
        <a:p>
          <a:endParaRPr lang="en-US"/>
        </a:p>
      </dgm:t>
    </dgm:pt>
    <dgm:pt modelId="{761CBF07-9D9B-49AF-B85F-059F41968DC0}" type="sibTrans" cxnId="{7DA3AC6E-7FEA-42BF-B023-238C071B9E2E}">
      <dgm:prSet/>
      <dgm:spPr/>
      <dgm:t>
        <a:bodyPr/>
        <a:lstStyle/>
        <a:p>
          <a:endParaRPr lang="en-US"/>
        </a:p>
      </dgm:t>
    </dgm:pt>
    <dgm:pt modelId="{243C6970-D0C0-4D9F-A4FF-9D3D975D4E10}">
      <dgm:prSet phldrT="[Text]" custT="1"/>
      <dgm:spPr/>
      <dgm:t>
        <a:bodyPr anchor="t"/>
        <a:lstStyle/>
        <a:p>
          <a:r>
            <a:rPr lang="en-US" sz="2000" b="1" dirty="0"/>
            <a:t>6. Model Building</a:t>
          </a:r>
        </a:p>
        <a:p>
          <a:r>
            <a:rPr lang="en-US" sz="2000" dirty="0"/>
            <a:t>Choose and train models:</a:t>
          </a:r>
        </a:p>
        <a:p>
          <a:endParaRPr lang="en-US" sz="2000" dirty="0"/>
        </a:p>
        <a:p>
          <a:r>
            <a:rPr lang="en-US" sz="2000" dirty="0"/>
            <a:t>Classical ML: Logistic Regression, SVM, Random Forest</a:t>
          </a:r>
        </a:p>
        <a:p>
          <a:endParaRPr lang="en-US" sz="2000" dirty="0"/>
        </a:p>
        <a:p>
          <a:r>
            <a:rPr lang="en-US" sz="2000" dirty="0"/>
            <a:t>Deep Learning: RNN, LSTM, GRU, Transformer</a:t>
          </a:r>
        </a:p>
        <a:p>
          <a:endParaRPr lang="en-US" sz="2000" dirty="0"/>
        </a:p>
        <a:p>
          <a:r>
            <a:rPr lang="en-US" sz="2000" dirty="0"/>
            <a:t>Pretrained Models: </a:t>
          </a:r>
        </a:p>
        <a:p>
          <a:r>
            <a:rPr lang="en-US" sz="2000" dirty="0"/>
            <a:t>BERT, GPT, etc.</a:t>
          </a:r>
        </a:p>
      </dgm:t>
    </dgm:pt>
    <dgm:pt modelId="{F74791AA-33B4-44BE-9B3D-6195F889148D}" type="parTrans" cxnId="{109F66A3-1D91-41D3-96CC-EAD2A901BF88}">
      <dgm:prSet/>
      <dgm:spPr/>
      <dgm:t>
        <a:bodyPr/>
        <a:lstStyle/>
        <a:p>
          <a:endParaRPr lang="en-US"/>
        </a:p>
      </dgm:t>
    </dgm:pt>
    <dgm:pt modelId="{91A00A64-9B39-49F1-88C6-9A07EB2B6463}" type="sibTrans" cxnId="{109F66A3-1D91-41D3-96CC-EAD2A901BF88}">
      <dgm:prSet/>
      <dgm:spPr/>
      <dgm:t>
        <a:bodyPr/>
        <a:lstStyle/>
        <a:p>
          <a:endParaRPr lang="en-US"/>
        </a:p>
      </dgm:t>
    </dgm:pt>
    <dgm:pt modelId="{A284574E-85C1-4D29-AE7A-E9FD2E547DAB}">
      <dgm:prSet phldrT="[Text]" custT="1"/>
      <dgm:spPr/>
      <dgm:t>
        <a:bodyPr anchor="t"/>
        <a:lstStyle/>
        <a:p>
          <a:r>
            <a:rPr lang="en-US" sz="2000" b="1" dirty="0"/>
            <a:t>7. Evaluation</a:t>
          </a:r>
        </a:p>
        <a:p>
          <a:r>
            <a:rPr lang="en-US" sz="2000" dirty="0"/>
            <a:t>Evaluate model performance using metrics:</a:t>
          </a:r>
        </a:p>
        <a:p>
          <a:r>
            <a:rPr lang="en-US" sz="2000" dirty="0"/>
            <a:t>Accuracy</a:t>
          </a:r>
        </a:p>
        <a:p>
          <a:r>
            <a:rPr lang="en-US" sz="2000" dirty="0"/>
            <a:t>Precision, Recall, F1-Score</a:t>
          </a:r>
        </a:p>
        <a:p>
          <a:r>
            <a:rPr lang="en-US" sz="2000" dirty="0"/>
            <a:t>Confusion Matrix</a:t>
          </a:r>
        </a:p>
        <a:p>
          <a:endParaRPr lang="en-US" sz="2000" dirty="0"/>
        </a:p>
      </dgm:t>
    </dgm:pt>
    <dgm:pt modelId="{58B6568E-AF7E-47E4-AC4C-3E35C7E5B43F}" type="parTrans" cxnId="{1B2CECB2-0DFA-4A2E-B0D8-C84428A5C4D5}">
      <dgm:prSet/>
      <dgm:spPr/>
      <dgm:t>
        <a:bodyPr/>
        <a:lstStyle/>
        <a:p>
          <a:endParaRPr lang="en-US"/>
        </a:p>
      </dgm:t>
    </dgm:pt>
    <dgm:pt modelId="{E8F7E40B-621D-4943-B37E-A97B839557A5}" type="sibTrans" cxnId="{1B2CECB2-0DFA-4A2E-B0D8-C84428A5C4D5}">
      <dgm:prSet/>
      <dgm:spPr/>
      <dgm:t>
        <a:bodyPr/>
        <a:lstStyle/>
        <a:p>
          <a:endParaRPr lang="en-US"/>
        </a:p>
      </dgm:t>
    </dgm:pt>
    <dgm:pt modelId="{FCB03A75-110F-4703-85E9-D18F2E2978F4}">
      <dgm:prSet phldrT="[Text]" custT="1"/>
      <dgm:spPr/>
      <dgm:t>
        <a:bodyPr anchor="t"/>
        <a:lstStyle/>
        <a:p>
          <a:r>
            <a:rPr lang="en-US" sz="2000" b="1" dirty="0"/>
            <a:t>8. </a:t>
          </a:r>
          <a:r>
            <a:rPr lang="en-US" sz="2000" b="1" dirty="0" err="1"/>
            <a:t>Postprocessing</a:t>
          </a:r>
          <a:endParaRPr lang="en-US" sz="2000" b="1" dirty="0"/>
        </a:p>
        <a:p>
          <a:r>
            <a:rPr lang="en-US" sz="2000" dirty="0"/>
            <a:t>Interpret model outputs.</a:t>
          </a:r>
        </a:p>
        <a:p>
          <a:endParaRPr lang="en-US" sz="2000" dirty="0"/>
        </a:p>
        <a:p>
          <a:r>
            <a:rPr lang="en-US" sz="2000" dirty="0"/>
            <a:t>Decode token IDs back to words if needed (in generation tasks).</a:t>
          </a:r>
        </a:p>
        <a:p>
          <a:endParaRPr lang="en-US" sz="2000" dirty="0"/>
        </a:p>
        <a:p>
          <a:r>
            <a:rPr lang="en-US" sz="2000" dirty="0"/>
            <a:t>Aggregate results or produce final labels (for classification tasks).</a:t>
          </a:r>
        </a:p>
      </dgm:t>
    </dgm:pt>
    <dgm:pt modelId="{F2B88FAB-C68D-4438-AF55-D7732EA8ABE5}" type="parTrans" cxnId="{CFB0D465-5467-469F-8D00-8605B004C192}">
      <dgm:prSet/>
      <dgm:spPr/>
      <dgm:t>
        <a:bodyPr/>
        <a:lstStyle/>
        <a:p>
          <a:endParaRPr lang="en-US"/>
        </a:p>
      </dgm:t>
    </dgm:pt>
    <dgm:pt modelId="{83A3C336-922D-4448-9D89-52E473ECDD39}" type="sibTrans" cxnId="{CFB0D465-5467-469F-8D00-8605B004C192}">
      <dgm:prSet/>
      <dgm:spPr/>
      <dgm:t>
        <a:bodyPr/>
        <a:lstStyle/>
        <a:p>
          <a:endParaRPr lang="en-US"/>
        </a:p>
      </dgm:t>
    </dgm:pt>
    <dgm:pt modelId="{813FB44E-7D16-4ED4-BA68-A6E0652D47B0}" type="pres">
      <dgm:prSet presAssocID="{303B8E4F-2E9D-4396-9403-566070FEAAB6}" presName="Name0" presStyleCnt="0">
        <dgm:presLayoutVars>
          <dgm:dir/>
          <dgm:resizeHandles val="exact"/>
        </dgm:presLayoutVars>
      </dgm:prSet>
      <dgm:spPr/>
    </dgm:pt>
    <dgm:pt modelId="{C35A75CD-558B-4038-B5ED-FE94802087E2}" type="pres">
      <dgm:prSet presAssocID="{CA52D65C-C524-4C1F-8047-728773BB3F03}" presName="node" presStyleLbl="node1" presStyleIdx="0" presStyleCnt="4" custLinFactNeighborY="-3093">
        <dgm:presLayoutVars>
          <dgm:bulletEnabled val="1"/>
        </dgm:presLayoutVars>
      </dgm:prSet>
      <dgm:spPr/>
    </dgm:pt>
    <dgm:pt modelId="{D89F832D-E3ED-4E37-854E-BD18B3B3376F}" type="pres">
      <dgm:prSet presAssocID="{761CBF07-9D9B-49AF-B85F-059F41968DC0}" presName="sibTrans" presStyleLbl="sibTrans2D1" presStyleIdx="0" presStyleCnt="3"/>
      <dgm:spPr/>
    </dgm:pt>
    <dgm:pt modelId="{B53021F2-D7F0-4FAF-BB2B-D8D0962C06F8}" type="pres">
      <dgm:prSet presAssocID="{761CBF07-9D9B-49AF-B85F-059F41968DC0}" presName="connectorText" presStyleLbl="sibTrans2D1" presStyleIdx="0" presStyleCnt="3"/>
      <dgm:spPr/>
    </dgm:pt>
    <dgm:pt modelId="{4FAD35A4-61F3-418D-BE87-E52A64AFAABF}" type="pres">
      <dgm:prSet presAssocID="{243C6970-D0C0-4D9F-A4FF-9D3D975D4E10}" presName="node" presStyleLbl="node1" presStyleIdx="1" presStyleCnt="4">
        <dgm:presLayoutVars>
          <dgm:bulletEnabled val="1"/>
        </dgm:presLayoutVars>
      </dgm:prSet>
      <dgm:spPr/>
    </dgm:pt>
    <dgm:pt modelId="{7115A0E0-D94C-4BEC-8C6E-8F6E167A80FC}" type="pres">
      <dgm:prSet presAssocID="{91A00A64-9B39-49F1-88C6-9A07EB2B6463}" presName="sibTrans" presStyleLbl="sibTrans2D1" presStyleIdx="1" presStyleCnt="3"/>
      <dgm:spPr/>
    </dgm:pt>
    <dgm:pt modelId="{1D714562-FF97-4782-ADA8-BC212F1AD835}" type="pres">
      <dgm:prSet presAssocID="{91A00A64-9B39-49F1-88C6-9A07EB2B6463}" presName="connectorText" presStyleLbl="sibTrans2D1" presStyleIdx="1" presStyleCnt="3"/>
      <dgm:spPr/>
    </dgm:pt>
    <dgm:pt modelId="{0BED751A-81B5-4F78-8ACE-26CD8123C9DA}" type="pres">
      <dgm:prSet presAssocID="{A284574E-85C1-4D29-AE7A-E9FD2E547DAB}" presName="node" presStyleLbl="node1" presStyleIdx="2" presStyleCnt="4">
        <dgm:presLayoutVars>
          <dgm:bulletEnabled val="1"/>
        </dgm:presLayoutVars>
      </dgm:prSet>
      <dgm:spPr/>
    </dgm:pt>
    <dgm:pt modelId="{21319410-2170-4FC1-80BC-A15C57440B7B}" type="pres">
      <dgm:prSet presAssocID="{E8F7E40B-621D-4943-B37E-A97B839557A5}" presName="sibTrans" presStyleLbl="sibTrans2D1" presStyleIdx="2" presStyleCnt="3"/>
      <dgm:spPr/>
    </dgm:pt>
    <dgm:pt modelId="{4EC31E27-4C19-47B0-A3B0-14A554CA0D12}" type="pres">
      <dgm:prSet presAssocID="{E8F7E40B-621D-4943-B37E-A97B839557A5}" presName="connectorText" presStyleLbl="sibTrans2D1" presStyleIdx="2" presStyleCnt="3"/>
      <dgm:spPr/>
    </dgm:pt>
    <dgm:pt modelId="{E8DD1799-27EF-49F2-854E-787D75467B88}" type="pres">
      <dgm:prSet presAssocID="{FCB03A75-110F-4703-85E9-D18F2E2978F4}" presName="node" presStyleLbl="node1" presStyleIdx="3" presStyleCnt="4">
        <dgm:presLayoutVars>
          <dgm:bulletEnabled val="1"/>
        </dgm:presLayoutVars>
      </dgm:prSet>
      <dgm:spPr/>
    </dgm:pt>
  </dgm:ptLst>
  <dgm:cxnLst>
    <dgm:cxn modelId="{8E293F29-74BC-465D-A32F-02868DC32EC7}" type="presOf" srcId="{303B8E4F-2E9D-4396-9403-566070FEAAB6}" destId="{813FB44E-7D16-4ED4-BA68-A6E0652D47B0}" srcOrd="0" destOrd="0" presId="urn:microsoft.com/office/officeart/2005/8/layout/process1"/>
    <dgm:cxn modelId="{165CAC63-999B-4346-9064-E83259F67CD4}" type="presOf" srcId="{E8F7E40B-621D-4943-B37E-A97B839557A5}" destId="{4EC31E27-4C19-47B0-A3B0-14A554CA0D12}" srcOrd="1" destOrd="0" presId="urn:microsoft.com/office/officeart/2005/8/layout/process1"/>
    <dgm:cxn modelId="{CFB0D465-5467-469F-8D00-8605B004C192}" srcId="{303B8E4F-2E9D-4396-9403-566070FEAAB6}" destId="{FCB03A75-110F-4703-85E9-D18F2E2978F4}" srcOrd="3" destOrd="0" parTransId="{F2B88FAB-C68D-4438-AF55-D7732EA8ABE5}" sibTransId="{83A3C336-922D-4448-9D89-52E473ECDD39}"/>
    <dgm:cxn modelId="{7DA3AC6E-7FEA-42BF-B023-238C071B9E2E}" srcId="{303B8E4F-2E9D-4396-9403-566070FEAAB6}" destId="{CA52D65C-C524-4C1F-8047-728773BB3F03}" srcOrd="0" destOrd="0" parTransId="{2C790ECE-496E-4FC8-A7D5-989EF509FBA7}" sibTransId="{761CBF07-9D9B-49AF-B85F-059F41968DC0}"/>
    <dgm:cxn modelId="{C8E3BA7A-6993-45FC-BE8F-61A3D1D7B760}" type="presOf" srcId="{FCB03A75-110F-4703-85E9-D18F2E2978F4}" destId="{E8DD1799-27EF-49F2-854E-787D75467B88}" srcOrd="0" destOrd="0" presId="urn:microsoft.com/office/officeart/2005/8/layout/process1"/>
    <dgm:cxn modelId="{D8C08C94-83B6-4F0E-900E-AA5579126D40}" type="presOf" srcId="{91A00A64-9B39-49F1-88C6-9A07EB2B6463}" destId="{1D714562-FF97-4782-ADA8-BC212F1AD835}" srcOrd="1" destOrd="0" presId="urn:microsoft.com/office/officeart/2005/8/layout/process1"/>
    <dgm:cxn modelId="{109F66A3-1D91-41D3-96CC-EAD2A901BF88}" srcId="{303B8E4F-2E9D-4396-9403-566070FEAAB6}" destId="{243C6970-D0C0-4D9F-A4FF-9D3D975D4E10}" srcOrd="1" destOrd="0" parTransId="{F74791AA-33B4-44BE-9B3D-6195F889148D}" sibTransId="{91A00A64-9B39-49F1-88C6-9A07EB2B6463}"/>
    <dgm:cxn modelId="{867472AD-F19E-4C5F-9894-6362DFA3FFF9}" type="presOf" srcId="{761CBF07-9D9B-49AF-B85F-059F41968DC0}" destId="{B53021F2-D7F0-4FAF-BB2B-D8D0962C06F8}" srcOrd="1" destOrd="0" presId="urn:microsoft.com/office/officeart/2005/8/layout/process1"/>
    <dgm:cxn modelId="{1B2CECB2-0DFA-4A2E-B0D8-C84428A5C4D5}" srcId="{303B8E4F-2E9D-4396-9403-566070FEAAB6}" destId="{A284574E-85C1-4D29-AE7A-E9FD2E547DAB}" srcOrd="2" destOrd="0" parTransId="{58B6568E-AF7E-47E4-AC4C-3E35C7E5B43F}" sibTransId="{E8F7E40B-621D-4943-B37E-A97B839557A5}"/>
    <dgm:cxn modelId="{C789C5CF-907B-4CA4-9EDA-39AC3999069D}" type="presOf" srcId="{761CBF07-9D9B-49AF-B85F-059F41968DC0}" destId="{D89F832D-E3ED-4E37-854E-BD18B3B3376F}" srcOrd="0" destOrd="0" presId="urn:microsoft.com/office/officeart/2005/8/layout/process1"/>
    <dgm:cxn modelId="{D1C0B5D8-E219-4EE0-BD99-014ECF4E0676}" type="presOf" srcId="{CA52D65C-C524-4C1F-8047-728773BB3F03}" destId="{C35A75CD-558B-4038-B5ED-FE94802087E2}" srcOrd="0" destOrd="0" presId="urn:microsoft.com/office/officeart/2005/8/layout/process1"/>
    <dgm:cxn modelId="{5A983ED9-1B6C-41D2-B736-17C569C91084}" type="presOf" srcId="{E8F7E40B-621D-4943-B37E-A97B839557A5}" destId="{21319410-2170-4FC1-80BC-A15C57440B7B}" srcOrd="0" destOrd="0" presId="urn:microsoft.com/office/officeart/2005/8/layout/process1"/>
    <dgm:cxn modelId="{8892CCD9-FB57-4BA0-9882-890C0BAAE3AF}" type="presOf" srcId="{A284574E-85C1-4D29-AE7A-E9FD2E547DAB}" destId="{0BED751A-81B5-4F78-8ACE-26CD8123C9DA}" srcOrd="0" destOrd="0" presId="urn:microsoft.com/office/officeart/2005/8/layout/process1"/>
    <dgm:cxn modelId="{3BE46FE4-F88D-4603-87A7-DF7B0B14C4AF}" type="presOf" srcId="{243C6970-D0C0-4D9F-A4FF-9D3D975D4E10}" destId="{4FAD35A4-61F3-418D-BE87-E52A64AFAABF}" srcOrd="0" destOrd="0" presId="urn:microsoft.com/office/officeart/2005/8/layout/process1"/>
    <dgm:cxn modelId="{D4CD53F1-72FA-4E6A-886C-1DFC88FDAB1C}" type="presOf" srcId="{91A00A64-9B39-49F1-88C6-9A07EB2B6463}" destId="{7115A0E0-D94C-4BEC-8C6E-8F6E167A80FC}" srcOrd="0" destOrd="0" presId="urn:microsoft.com/office/officeart/2005/8/layout/process1"/>
    <dgm:cxn modelId="{571E9E73-905F-48EF-8A0A-91B4640E04D0}" type="presParOf" srcId="{813FB44E-7D16-4ED4-BA68-A6E0652D47B0}" destId="{C35A75CD-558B-4038-B5ED-FE94802087E2}" srcOrd="0" destOrd="0" presId="urn:microsoft.com/office/officeart/2005/8/layout/process1"/>
    <dgm:cxn modelId="{C042B741-9C1D-40E6-AE97-A8679568A1AC}" type="presParOf" srcId="{813FB44E-7D16-4ED4-BA68-A6E0652D47B0}" destId="{D89F832D-E3ED-4E37-854E-BD18B3B3376F}" srcOrd="1" destOrd="0" presId="urn:microsoft.com/office/officeart/2005/8/layout/process1"/>
    <dgm:cxn modelId="{A64FAC06-6D93-46A9-98B0-4E8FDF46F7D0}" type="presParOf" srcId="{D89F832D-E3ED-4E37-854E-BD18B3B3376F}" destId="{B53021F2-D7F0-4FAF-BB2B-D8D0962C06F8}" srcOrd="0" destOrd="0" presId="urn:microsoft.com/office/officeart/2005/8/layout/process1"/>
    <dgm:cxn modelId="{3E843724-0BA0-47BB-BCCA-FC510E3E5271}" type="presParOf" srcId="{813FB44E-7D16-4ED4-BA68-A6E0652D47B0}" destId="{4FAD35A4-61F3-418D-BE87-E52A64AFAABF}" srcOrd="2" destOrd="0" presId="urn:microsoft.com/office/officeart/2005/8/layout/process1"/>
    <dgm:cxn modelId="{68C55085-B310-475B-B63E-0FDA5D6F5DC0}" type="presParOf" srcId="{813FB44E-7D16-4ED4-BA68-A6E0652D47B0}" destId="{7115A0E0-D94C-4BEC-8C6E-8F6E167A80FC}" srcOrd="3" destOrd="0" presId="urn:microsoft.com/office/officeart/2005/8/layout/process1"/>
    <dgm:cxn modelId="{71F4183D-ACA5-4E30-8C60-618680740E33}" type="presParOf" srcId="{7115A0E0-D94C-4BEC-8C6E-8F6E167A80FC}" destId="{1D714562-FF97-4782-ADA8-BC212F1AD835}" srcOrd="0" destOrd="0" presId="urn:microsoft.com/office/officeart/2005/8/layout/process1"/>
    <dgm:cxn modelId="{735AF7A8-0F19-43AF-A84E-E586F1524B8F}" type="presParOf" srcId="{813FB44E-7D16-4ED4-BA68-A6E0652D47B0}" destId="{0BED751A-81B5-4F78-8ACE-26CD8123C9DA}" srcOrd="4" destOrd="0" presId="urn:microsoft.com/office/officeart/2005/8/layout/process1"/>
    <dgm:cxn modelId="{BF372B0E-472B-4935-965A-03756BAA5904}" type="presParOf" srcId="{813FB44E-7D16-4ED4-BA68-A6E0652D47B0}" destId="{21319410-2170-4FC1-80BC-A15C57440B7B}" srcOrd="5" destOrd="0" presId="urn:microsoft.com/office/officeart/2005/8/layout/process1"/>
    <dgm:cxn modelId="{5EB149C6-B7DB-4304-8416-8128E1FF71EB}" type="presParOf" srcId="{21319410-2170-4FC1-80BC-A15C57440B7B}" destId="{4EC31E27-4C19-47B0-A3B0-14A554CA0D12}" srcOrd="0" destOrd="0" presId="urn:microsoft.com/office/officeart/2005/8/layout/process1"/>
    <dgm:cxn modelId="{53C854FF-5D69-450A-ABE9-5416472965FE}" type="presParOf" srcId="{813FB44E-7D16-4ED4-BA68-A6E0652D47B0}" destId="{E8DD1799-27EF-49F2-854E-787D75467B8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5A75CD-558B-4038-B5ED-FE94802087E2}">
      <dsp:nvSpPr>
        <dsp:cNvPr id="0" name=""/>
        <dsp:cNvSpPr/>
      </dsp:nvSpPr>
      <dsp:spPr>
        <a:xfrm>
          <a:off x="4595" y="175435"/>
          <a:ext cx="2261165" cy="56079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1. Text Acquisition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Collect or load raw text data.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kern="1200" dirty="0"/>
            <a:t>Sources: files, </a:t>
          </a:r>
          <a:r>
            <a:rPr lang="fr-FR" sz="2000" kern="1200" dirty="0" err="1"/>
            <a:t>databases</a:t>
          </a:r>
          <a:r>
            <a:rPr lang="fr-FR" sz="2000" kern="1200" dirty="0"/>
            <a:t>, APIs (</a:t>
          </a:r>
          <a:r>
            <a:rPr lang="fr-FR" sz="2000" kern="1200" dirty="0" err="1"/>
            <a:t>e.g</a:t>
          </a:r>
          <a:r>
            <a:rPr lang="fr-FR" sz="2000" kern="1200" dirty="0"/>
            <a:t>., Twitter API), web </a:t>
          </a:r>
          <a:r>
            <a:rPr lang="fr-FR" sz="2000" kern="1200" dirty="0" err="1"/>
            <a:t>scraping</a:t>
          </a:r>
          <a:r>
            <a:rPr lang="fr-FR" sz="2000" kern="1200" dirty="0"/>
            <a:t>, etc.</a:t>
          </a:r>
          <a:endParaRPr lang="en-US" sz="2000" kern="1200" dirty="0"/>
        </a:p>
      </dsp:txBody>
      <dsp:txXfrm>
        <a:off x="70822" y="241662"/>
        <a:ext cx="2128711" cy="5475502"/>
      </dsp:txXfrm>
    </dsp:sp>
    <dsp:sp modelId="{D89F832D-E3ED-4E37-854E-BD18B3B3376F}">
      <dsp:nvSpPr>
        <dsp:cNvPr id="0" name=""/>
        <dsp:cNvSpPr/>
      </dsp:nvSpPr>
      <dsp:spPr>
        <a:xfrm>
          <a:off x="2484497" y="2708180"/>
          <a:ext cx="463721" cy="5424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2484497" y="2816673"/>
        <a:ext cx="324605" cy="325480"/>
      </dsp:txXfrm>
    </dsp:sp>
    <dsp:sp modelId="{4FAD35A4-61F3-418D-BE87-E52A64AFAABF}">
      <dsp:nvSpPr>
        <dsp:cNvPr id="0" name=""/>
        <dsp:cNvSpPr/>
      </dsp:nvSpPr>
      <dsp:spPr>
        <a:xfrm>
          <a:off x="3140706" y="175435"/>
          <a:ext cx="2187364" cy="56079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2. Text Cleaning (Preprocessing)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Lowercasing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Remove unwanted parts: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like punctuation, special characters, numbers, HTML tags, URLs, @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Remove emojis</a:t>
          </a:r>
        </a:p>
      </dsp:txBody>
      <dsp:txXfrm>
        <a:off x="3204772" y="239501"/>
        <a:ext cx="2059232" cy="5479824"/>
      </dsp:txXfrm>
    </dsp:sp>
    <dsp:sp modelId="{7115A0E0-D94C-4BEC-8C6E-8F6E167A80FC}">
      <dsp:nvSpPr>
        <dsp:cNvPr id="0" name=""/>
        <dsp:cNvSpPr/>
      </dsp:nvSpPr>
      <dsp:spPr>
        <a:xfrm>
          <a:off x="5546807" y="2708180"/>
          <a:ext cx="463721" cy="5424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5546807" y="2816673"/>
        <a:ext cx="324605" cy="325480"/>
      </dsp:txXfrm>
    </dsp:sp>
    <dsp:sp modelId="{0BED751A-81B5-4F78-8ACE-26CD8123C9DA}">
      <dsp:nvSpPr>
        <dsp:cNvPr id="0" name=""/>
        <dsp:cNvSpPr/>
      </dsp:nvSpPr>
      <dsp:spPr>
        <a:xfrm>
          <a:off x="6203016" y="175435"/>
          <a:ext cx="2187364" cy="56079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3. Tokenization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b="1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Split text into individual words or </a:t>
          </a:r>
          <a:r>
            <a:rPr lang="en-US" sz="2000" kern="1200" dirty="0" err="1"/>
            <a:t>subwords</a:t>
          </a:r>
          <a:r>
            <a:rPr lang="en-US" sz="2000" kern="1200" dirty="0"/>
            <a:t>.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Example: "Virgin America is great" → ["Virgin", "America", "is", "great"]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Libraries: </a:t>
          </a:r>
          <a:r>
            <a:rPr lang="en-US" sz="2000" kern="1200" dirty="0" err="1"/>
            <a:t>nltk</a:t>
          </a:r>
          <a:r>
            <a:rPr lang="en-US" sz="2000" kern="1200" dirty="0"/>
            <a:t>, </a:t>
          </a:r>
          <a:r>
            <a:rPr lang="en-US" sz="2000" kern="1200" dirty="0" err="1"/>
            <a:t>spaCy</a:t>
          </a:r>
          <a:r>
            <a:rPr lang="en-US" sz="2000" kern="1200" dirty="0"/>
            <a:t>, transformers.</a:t>
          </a:r>
        </a:p>
      </dsp:txBody>
      <dsp:txXfrm>
        <a:off x="6267082" y="239501"/>
        <a:ext cx="2059232" cy="5479824"/>
      </dsp:txXfrm>
    </dsp:sp>
    <dsp:sp modelId="{21319410-2170-4FC1-80BC-A15C57440B7B}">
      <dsp:nvSpPr>
        <dsp:cNvPr id="0" name=""/>
        <dsp:cNvSpPr/>
      </dsp:nvSpPr>
      <dsp:spPr>
        <a:xfrm>
          <a:off x="8609116" y="2708180"/>
          <a:ext cx="463721" cy="5424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8609116" y="2816673"/>
        <a:ext cx="324605" cy="325480"/>
      </dsp:txXfrm>
    </dsp:sp>
    <dsp:sp modelId="{E8DD1799-27EF-49F2-854E-787D75467B88}">
      <dsp:nvSpPr>
        <dsp:cNvPr id="0" name=""/>
        <dsp:cNvSpPr/>
      </dsp:nvSpPr>
      <dsp:spPr>
        <a:xfrm>
          <a:off x="9265325" y="175435"/>
          <a:ext cx="2503328" cy="56079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4. POS tagging &amp; Normalization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/>
            <a:t>4.0) POS tagging improves normalization 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4.1) Norm. makes words more uniform: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Stemming</a:t>
          </a:r>
          <a:r>
            <a:rPr lang="en-US" sz="2000" kern="1200" dirty="0"/>
            <a:t> (cut to root form): "running" → "run"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Lemmatization</a:t>
          </a:r>
          <a:r>
            <a:rPr lang="en-US" sz="2000" kern="1200" dirty="0"/>
            <a:t> (dictionary form): "better" → "good"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4.2) Norm. removes </a:t>
          </a:r>
          <a:r>
            <a:rPr lang="en-US" sz="2000" kern="1200" dirty="0" err="1"/>
            <a:t>stopwords</a:t>
          </a:r>
          <a:r>
            <a:rPr lang="en-US" sz="2000" kern="1200" dirty="0"/>
            <a:t> (common words like "is", "the").</a:t>
          </a:r>
        </a:p>
      </dsp:txBody>
      <dsp:txXfrm>
        <a:off x="9338645" y="248755"/>
        <a:ext cx="2356688" cy="546131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5A75CD-558B-4038-B5ED-FE94802087E2}">
      <dsp:nvSpPr>
        <dsp:cNvPr id="0" name=""/>
        <dsp:cNvSpPr/>
      </dsp:nvSpPr>
      <dsp:spPr>
        <a:xfrm>
          <a:off x="10905" y="0"/>
          <a:ext cx="2257467" cy="659282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5. Text Representation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Convert text into </a:t>
          </a:r>
          <a:r>
            <a:rPr lang="en-US" sz="2000" b="1" kern="1200" dirty="0"/>
            <a:t>numerical format</a:t>
          </a:r>
          <a:r>
            <a:rPr lang="en-US" sz="2000" kern="1200" dirty="0"/>
            <a:t> (models can't read raw text).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Methods: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/>
            <a:t>a) N-gram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/>
            <a:t>b) Bag of Words (</a:t>
          </a:r>
          <a:r>
            <a:rPr lang="en-US" sz="2000" b="0" kern="1200" dirty="0" err="1"/>
            <a:t>BoW</a:t>
          </a:r>
          <a:r>
            <a:rPr lang="en-US" sz="2000" b="0" kern="1200" dirty="0"/>
            <a:t>)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/>
            <a:t>c) TF-IDF (Term Frequency - Inverse Document Frequency)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/>
            <a:t>d) Word </a:t>
          </a:r>
          <a:r>
            <a:rPr lang="en-US" sz="2000" b="0" kern="1200" dirty="0" err="1"/>
            <a:t>Embeddings</a:t>
          </a:r>
          <a:r>
            <a:rPr lang="en-US" sz="2000" b="0" kern="1200" dirty="0"/>
            <a:t> (Word2Vec, </a:t>
          </a:r>
          <a:r>
            <a:rPr lang="en-US" sz="2000" b="0" kern="1200" dirty="0" err="1"/>
            <a:t>GloVe</a:t>
          </a:r>
          <a:r>
            <a:rPr lang="en-US" sz="2000" b="0" kern="1200" dirty="0"/>
            <a:t>, </a:t>
          </a:r>
          <a:r>
            <a:rPr lang="en-US" sz="2000" b="0" kern="1200" dirty="0" err="1"/>
            <a:t>FastText</a:t>
          </a:r>
          <a:r>
            <a:rPr lang="en-US" sz="2000" b="0" kern="1200" dirty="0"/>
            <a:t>)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/>
            <a:t>d) Transformer </a:t>
          </a:r>
          <a:r>
            <a:rPr lang="en-US" sz="2000" b="0" kern="1200" dirty="0" err="1"/>
            <a:t>Embeddings</a:t>
          </a:r>
          <a:r>
            <a:rPr lang="en-US" sz="2000" b="0" kern="1200" dirty="0"/>
            <a:t> (BERT, </a:t>
          </a:r>
          <a:r>
            <a:rPr lang="en-US" sz="2000" b="0" kern="1200" dirty="0" err="1"/>
            <a:t>RoBERTa</a:t>
          </a:r>
          <a:r>
            <a:rPr lang="en-US" sz="2000" b="0" kern="1200" dirty="0"/>
            <a:t>, etc.)</a:t>
          </a:r>
        </a:p>
      </dsp:txBody>
      <dsp:txXfrm>
        <a:off x="77024" y="66119"/>
        <a:ext cx="2125229" cy="6460585"/>
      </dsp:txXfrm>
    </dsp:sp>
    <dsp:sp modelId="{D89F832D-E3ED-4E37-854E-BD18B3B3376F}">
      <dsp:nvSpPr>
        <dsp:cNvPr id="0" name=""/>
        <dsp:cNvSpPr/>
      </dsp:nvSpPr>
      <dsp:spPr>
        <a:xfrm>
          <a:off x="2494119" y="3016486"/>
          <a:ext cx="478583" cy="5598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2494119" y="3128456"/>
        <a:ext cx="335008" cy="335911"/>
      </dsp:txXfrm>
    </dsp:sp>
    <dsp:sp modelId="{4FAD35A4-61F3-418D-BE87-E52A64AFAABF}">
      <dsp:nvSpPr>
        <dsp:cNvPr id="0" name=""/>
        <dsp:cNvSpPr/>
      </dsp:nvSpPr>
      <dsp:spPr>
        <a:xfrm>
          <a:off x="3171359" y="0"/>
          <a:ext cx="2257467" cy="659282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6. Model Building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Choose and train models: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Classical ML: Logistic Regression, SVM, Random Forest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Deep Learning: RNN, LSTM, GRU, Transformer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Pretrained Models: 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BERT, GPT, etc.</a:t>
          </a:r>
        </a:p>
      </dsp:txBody>
      <dsp:txXfrm>
        <a:off x="3237478" y="66119"/>
        <a:ext cx="2125229" cy="6460585"/>
      </dsp:txXfrm>
    </dsp:sp>
    <dsp:sp modelId="{7115A0E0-D94C-4BEC-8C6E-8F6E167A80FC}">
      <dsp:nvSpPr>
        <dsp:cNvPr id="0" name=""/>
        <dsp:cNvSpPr/>
      </dsp:nvSpPr>
      <dsp:spPr>
        <a:xfrm>
          <a:off x="5654573" y="3016486"/>
          <a:ext cx="478583" cy="5598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5654573" y="3128456"/>
        <a:ext cx="335008" cy="335911"/>
      </dsp:txXfrm>
    </dsp:sp>
    <dsp:sp modelId="{0BED751A-81B5-4F78-8ACE-26CD8123C9DA}">
      <dsp:nvSpPr>
        <dsp:cNvPr id="0" name=""/>
        <dsp:cNvSpPr/>
      </dsp:nvSpPr>
      <dsp:spPr>
        <a:xfrm>
          <a:off x="6331813" y="0"/>
          <a:ext cx="2257467" cy="659282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7. Evaluation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Evaluate model performance using metrics: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Accuracy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Precision, Recall, F1-Score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Confusion Matrix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6397932" y="66119"/>
        <a:ext cx="2125229" cy="6460585"/>
      </dsp:txXfrm>
    </dsp:sp>
    <dsp:sp modelId="{21319410-2170-4FC1-80BC-A15C57440B7B}">
      <dsp:nvSpPr>
        <dsp:cNvPr id="0" name=""/>
        <dsp:cNvSpPr/>
      </dsp:nvSpPr>
      <dsp:spPr>
        <a:xfrm>
          <a:off x="8815027" y="3016486"/>
          <a:ext cx="478583" cy="5598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8815027" y="3128456"/>
        <a:ext cx="335008" cy="335911"/>
      </dsp:txXfrm>
    </dsp:sp>
    <dsp:sp modelId="{E8DD1799-27EF-49F2-854E-787D75467B88}">
      <dsp:nvSpPr>
        <dsp:cNvPr id="0" name=""/>
        <dsp:cNvSpPr/>
      </dsp:nvSpPr>
      <dsp:spPr>
        <a:xfrm>
          <a:off x="9492268" y="0"/>
          <a:ext cx="2257467" cy="659282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8. </a:t>
          </a:r>
          <a:r>
            <a:rPr lang="en-US" sz="2000" b="1" kern="1200" dirty="0" err="1"/>
            <a:t>Postprocessing</a:t>
          </a:r>
          <a:endParaRPr lang="en-US" sz="2000" b="1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Interpret model outputs.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Decode token IDs back to words if needed (in generation tasks).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Aggregate results or produce final labels (for classification tasks).</a:t>
          </a:r>
        </a:p>
      </dsp:txBody>
      <dsp:txXfrm>
        <a:off x="9558387" y="66119"/>
        <a:ext cx="2125229" cy="64605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NLP Process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632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02963-E5F4-F136-3467-6895D410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1E362A-0008-D07F-2A6D-27EB0D8B2D3E}"/>
              </a:ext>
            </a:extLst>
          </p:cNvPr>
          <p:cNvSpPr txBox="1"/>
          <p:nvPr/>
        </p:nvSpPr>
        <p:spPr>
          <a:xfrm>
            <a:off x="3216758" y="2532888"/>
            <a:ext cx="665876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Terms</a:t>
            </a:r>
          </a:p>
        </p:txBody>
      </p:sp>
    </p:spTree>
    <p:extLst>
      <p:ext uri="{BB962C8B-B14F-4D97-AF65-F5344CB8AC3E}">
        <p14:creationId xmlns:p14="http://schemas.microsoft.com/office/powerpoint/2010/main" val="3461451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5231" y="3441680"/>
            <a:ext cx="770117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have following corpus that contains product reviews from all customers: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1: "The delivery was fast. The product arrived intact. 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2: “Awesome service, but the product was old."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3: “Timely response. Excellent customer support."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4: “I liked the book. It was brand new as described."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Corpus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{Rev 1, Rev 2, Rev 3, Rev 4 }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4 customer reviews -&gt; there are 4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36408" y="3647314"/>
            <a:ext cx="42200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determine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corpus size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based on any 1 of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many documents it has,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many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total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words (tokens), &lt;- common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many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unique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words (vocabulary size).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95731A-61A0-BAD5-0752-6DF895F619D6}"/>
              </a:ext>
            </a:extLst>
          </p:cNvPr>
          <p:cNvSpPr txBox="1"/>
          <p:nvPr/>
        </p:nvSpPr>
        <p:spPr>
          <a:xfrm>
            <a:off x="135231" y="0"/>
            <a:ext cx="23271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terms: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701C2-4185-D5B1-6F03-CEBE61EDFDCB}"/>
              </a:ext>
            </a:extLst>
          </p:cNvPr>
          <p:cNvSpPr txBox="1"/>
          <p:nvPr/>
        </p:nvSpPr>
        <p:spPr>
          <a:xfrm>
            <a:off x="258482" y="533031"/>
            <a:ext cx="1167503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Corpus: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corpus is a structured collection of text data, often used as a dataset for training NLP models. It can include various types of text, such as books, articles, and social media posts. 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NLP, a document can refer to a single text unit, such as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sentence, paragraph, or entire article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 The definition of a document can be flexible depending on the specific NLP task. </a:t>
            </a:r>
          </a:p>
        </p:txBody>
      </p:sp>
    </p:spTree>
    <p:extLst>
      <p:ext uri="{BB962C8B-B14F-4D97-AF65-F5344CB8AC3E}">
        <p14:creationId xmlns:p14="http://schemas.microsoft.com/office/powerpoint/2010/main" val="343091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9CCCA-9240-56E9-8EC5-A8249FB84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4423D90-6EBE-70EC-4235-EC57D055D02D}"/>
              </a:ext>
            </a:extLst>
          </p:cNvPr>
          <p:cNvSpPr txBox="1"/>
          <p:nvPr/>
        </p:nvSpPr>
        <p:spPr>
          <a:xfrm>
            <a:off x="256032" y="2414213"/>
            <a:ext cx="1068019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1: "The delivery was fast. The product arrived intact. 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2: “Awesome service, but the product was old."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3: “Timely response. Excellent customer support."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4: “I liked the book. It was brand new as described."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Document1 has 2 sentence in it.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Vocabulary: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Unique set of words across all corpus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From your corpus, the vocabulary is: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arrived, as, awesome, book, brand, but, customer, delivery, described, excellent, fast, intact, it, liked, new, old, product, response, service, support, the, timely, was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D7B1D5-BD0F-C962-6180-A7B1A3A2988A}"/>
              </a:ext>
            </a:extLst>
          </p:cNvPr>
          <p:cNvSpPr txBox="1"/>
          <p:nvPr/>
        </p:nvSpPr>
        <p:spPr>
          <a:xfrm>
            <a:off x="256032" y="611970"/>
            <a:ext cx="1143914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A grammatically complete idea within that document.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Vocabulary / dictionary: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vocabulary is a list of all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unique 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appear in the corpus. It's essentially a set of distinct tokens within the text data.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5CE0E3-9362-D389-A5AE-25DA567DDA18}"/>
              </a:ext>
            </a:extLst>
          </p:cNvPr>
          <p:cNvSpPr txBox="1"/>
          <p:nvPr/>
        </p:nvSpPr>
        <p:spPr>
          <a:xfrm>
            <a:off x="135231" y="0"/>
            <a:ext cx="23271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terms:</a:t>
            </a:r>
          </a:p>
        </p:txBody>
      </p:sp>
    </p:spTree>
    <p:extLst>
      <p:ext uri="{BB962C8B-B14F-4D97-AF65-F5344CB8AC3E}">
        <p14:creationId xmlns:p14="http://schemas.microsoft.com/office/powerpoint/2010/main" val="3910810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7676-BEDF-136B-A433-4B8D6655C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AB012BD-B029-3216-9332-86E76C713F1C}"/>
              </a:ext>
            </a:extLst>
          </p:cNvPr>
          <p:cNvSpPr txBox="1"/>
          <p:nvPr/>
        </p:nvSpPr>
        <p:spPr>
          <a:xfrm>
            <a:off x="3216758" y="2532888"/>
            <a:ext cx="665876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NLP Process</a:t>
            </a:r>
          </a:p>
        </p:txBody>
      </p:sp>
    </p:spTree>
    <p:extLst>
      <p:ext uri="{BB962C8B-B14F-4D97-AF65-F5344CB8AC3E}">
        <p14:creationId xmlns:p14="http://schemas.microsoft.com/office/powerpoint/2010/main" val="1995573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2646585671"/>
              </p:ext>
            </p:extLst>
          </p:nvPr>
        </p:nvGraphicFramePr>
        <p:xfrm>
          <a:off x="176169" y="478548"/>
          <a:ext cx="11773250" cy="5958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86066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BED0A-BB1B-0C8A-1775-B5BD6EB77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32B6F99B-C884-9078-111D-307CD91C7D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49953549"/>
              </p:ext>
            </p:extLst>
          </p:nvPr>
        </p:nvGraphicFramePr>
        <p:xfrm>
          <a:off x="109057" y="128016"/>
          <a:ext cx="11760641" cy="65928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24407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99297DE-B38B-67BF-489E-7EC1E7BA7F56}"/>
              </a:ext>
            </a:extLst>
          </p:cNvPr>
          <p:cNvSpPr txBox="1"/>
          <p:nvPr/>
        </p:nvSpPr>
        <p:spPr>
          <a:xfrm>
            <a:off x="306324" y="25646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1355" y="669441"/>
            <a:ext cx="69527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Websites for NLP datasets: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https://ics.uci.edu/~smyth/courses/cs175/text_data_sets.html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https://github.com/niderhoff/nlp-datasets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0211E5-0B27-6587-E44E-C44109C00BA9}"/>
              </a:ext>
            </a:extLst>
          </p:cNvPr>
          <p:cNvSpPr txBox="1"/>
          <p:nvPr/>
        </p:nvSpPr>
        <p:spPr>
          <a:xfrm>
            <a:off x="306324" y="2122623"/>
            <a:ext cx="12001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a)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File-Based Extraction: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PDF and HTML: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Text can be extracted from these file formats using specialized libraries and tools.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Files: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Text files can be directly imported and processed for analysis.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DataFrames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Text files can be imported into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DataFrames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 common format for data manipulation and analysis in Python. </a:t>
            </a:r>
          </a:p>
        </p:txBody>
      </p:sp>
    </p:spTree>
    <p:extLst>
      <p:ext uri="{BB962C8B-B14F-4D97-AF65-F5344CB8AC3E}">
        <p14:creationId xmlns:p14="http://schemas.microsoft.com/office/powerpoint/2010/main" val="2777341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5FB579E-E005-355F-4965-4BBDCAFB6ECE}"/>
              </a:ext>
            </a:extLst>
          </p:cNvPr>
          <p:cNvSpPr txBox="1"/>
          <p:nvPr/>
        </p:nvSpPr>
        <p:spPr>
          <a:xfrm>
            <a:off x="326471" y="1147447"/>
            <a:ext cx="1105780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b)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Web Scraping: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Web Scraping Tools: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Libraries like Beautiful Soup and Scrapy can be used to extract text from websites.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c)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API Integration: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provide structured data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APIs can provide access to structured text data, such as news articles, social media posts, or product reviews.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79E8C3-5B7A-BDE8-D54B-775A52FB8FB8}"/>
              </a:ext>
            </a:extLst>
          </p:cNvPr>
          <p:cNvSpPr txBox="1"/>
          <p:nvPr/>
        </p:nvSpPr>
        <p:spPr>
          <a:xfrm>
            <a:off x="306324" y="25646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</p:spTree>
    <p:extLst>
      <p:ext uri="{BB962C8B-B14F-4D97-AF65-F5344CB8AC3E}">
        <p14:creationId xmlns:p14="http://schemas.microsoft.com/office/powerpoint/2010/main" val="2970904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D0883-10BC-4285-4F50-71165FD85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45FC599-311C-7364-A386-CA908E80FFEB}"/>
              </a:ext>
            </a:extLst>
          </p:cNvPr>
          <p:cNvSpPr txBox="1"/>
          <p:nvPr/>
        </p:nvSpPr>
        <p:spPr>
          <a:xfrm>
            <a:off x="306324" y="25646"/>
            <a:ext cx="2912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637414-70D7-811A-3134-A679E042B38B}"/>
              </a:ext>
            </a:extLst>
          </p:cNvPr>
          <p:cNvSpPr txBox="1"/>
          <p:nvPr/>
        </p:nvSpPr>
        <p:spPr>
          <a:xfrm>
            <a:off x="493776" y="919401"/>
            <a:ext cx="105613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d) Data Augmentation(see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n/b):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say you have data (X, Y), where X is a sentence(e.g. product review) and Y(e.g. sentiment) is its corresponding label.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data augmentation, we transform this X and create X’ out of it, while still preserving the label Y.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(X, Y) ——T——&gt; (X’, Y)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56053F6-2551-F691-A2F2-8CAAB12DFC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60553"/>
              </p:ext>
            </p:extLst>
          </p:nvPr>
        </p:nvGraphicFramePr>
        <p:xfrm>
          <a:off x="306324" y="3810338"/>
          <a:ext cx="5210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3272">
                  <a:extLst>
                    <a:ext uri="{9D8B030D-6E8A-4147-A177-3AD203B41FA5}">
                      <a16:colId xmlns:a16="http://schemas.microsoft.com/office/drawing/2014/main" val="517175169"/>
                    </a:ext>
                  </a:extLst>
                </a:gridCol>
                <a:gridCol w="1636776">
                  <a:extLst>
                    <a:ext uri="{9D8B030D-6E8A-4147-A177-3AD203B41FA5}">
                      <a16:colId xmlns:a16="http://schemas.microsoft.com/office/drawing/2014/main" val="19531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202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The movie was amazing.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706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 will highly recommend this movie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3145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Waste of my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negative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830915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3E49535-BD1A-26DD-7F8C-BED4E1F259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603613"/>
              </p:ext>
            </p:extLst>
          </p:nvPr>
        </p:nvGraphicFramePr>
        <p:xfrm>
          <a:off x="6795516" y="3810338"/>
          <a:ext cx="5210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3272">
                  <a:extLst>
                    <a:ext uri="{9D8B030D-6E8A-4147-A177-3AD203B41FA5}">
                      <a16:colId xmlns:a16="http://schemas.microsoft.com/office/drawing/2014/main" val="517175169"/>
                    </a:ext>
                  </a:extLst>
                </a:gridCol>
                <a:gridCol w="1636776">
                  <a:extLst>
                    <a:ext uri="{9D8B030D-6E8A-4147-A177-3AD203B41FA5}">
                      <a16:colId xmlns:a16="http://schemas.microsoft.com/office/drawing/2014/main" val="19531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202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The </a:t>
                      </a:r>
                      <a:r>
                        <a:rPr lang="en-US" b="1" dirty="0"/>
                        <a:t>picture</a:t>
                      </a:r>
                      <a:r>
                        <a:rPr lang="en-US" dirty="0"/>
                        <a:t> was </a:t>
                      </a:r>
                      <a:r>
                        <a:rPr lang="en-US" b="1" dirty="0"/>
                        <a:t>very 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706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 will </a:t>
                      </a:r>
                      <a:r>
                        <a:rPr lang="en-US" b="1" dirty="0"/>
                        <a:t>strongly suggest</a:t>
                      </a:r>
                      <a:r>
                        <a:rPr lang="en-US" dirty="0"/>
                        <a:t> the </a:t>
                      </a:r>
                      <a:r>
                        <a:rPr lang="en-US" b="1" dirty="0"/>
                        <a:t>picture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3145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Time wasted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negative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8309151"/>
                  </a:ext>
                </a:extLst>
              </a:tr>
            </a:tbl>
          </a:graphicData>
        </a:graphic>
      </p:graphicFrame>
      <p:sp>
        <p:nvSpPr>
          <p:cNvPr id="9" name="Arrow: Right 8">
            <a:extLst>
              <a:ext uri="{FF2B5EF4-FFF2-40B4-BE49-F238E27FC236}">
                <a16:creationId xmlns:a16="http://schemas.microsoft.com/office/drawing/2014/main" id="{6D63FC47-98DA-0B56-0AEA-03705AF5F63E}"/>
              </a:ext>
            </a:extLst>
          </p:cNvPr>
          <p:cNvSpPr/>
          <p:nvPr/>
        </p:nvSpPr>
        <p:spPr>
          <a:xfrm>
            <a:off x="5774436" y="4379976"/>
            <a:ext cx="790956" cy="4023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304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BCBE5-8E38-8032-CEF5-D46991DF4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CA8093-E078-A5A8-6306-B547B2548AD2}"/>
              </a:ext>
            </a:extLst>
          </p:cNvPr>
          <p:cNvSpPr txBox="1"/>
          <p:nvPr/>
        </p:nvSpPr>
        <p:spPr>
          <a:xfrm>
            <a:off x="306324" y="25646"/>
            <a:ext cx="2912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3517EC-9961-22F4-220F-744418F7B340}"/>
              </a:ext>
            </a:extLst>
          </p:cNvPr>
          <p:cNvSpPr txBox="1"/>
          <p:nvPr/>
        </p:nvSpPr>
        <p:spPr>
          <a:xfrm>
            <a:off x="493776" y="919401"/>
            <a:ext cx="1056132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d.1) Synonym Replacement: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Replace words with synonyms to create variations in the dataset.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 cheap smartphones.“ -&gt; "affordable mobile phones"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Note: We can also do antonym replacement, but it would make sense in sentiment analysis: 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(I liked the spoons, +) -&gt; (I hated the spoons, -)</a:t>
            </a:r>
          </a:p>
        </p:txBody>
      </p:sp>
    </p:spTree>
    <p:extLst>
      <p:ext uri="{BB962C8B-B14F-4D97-AF65-F5344CB8AC3E}">
        <p14:creationId xmlns:p14="http://schemas.microsoft.com/office/powerpoint/2010/main" val="351423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4B8AE19-36A8-860D-827A-5C6C7A98957B}"/>
              </a:ext>
            </a:extLst>
          </p:cNvPr>
          <p:cNvSpPr txBox="1"/>
          <p:nvPr/>
        </p:nvSpPr>
        <p:spPr>
          <a:xfrm>
            <a:off x="306324" y="25646"/>
            <a:ext cx="2912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82A43D-6FCF-6883-A664-7849E4320087}"/>
              </a:ext>
            </a:extLst>
          </p:cNvPr>
          <p:cNvSpPr txBox="1"/>
          <p:nvPr/>
        </p:nvSpPr>
        <p:spPr>
          <a:xfrm>
            <a:off x="384048" y="536692"/>
            <a:ext cx="11036808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d.2) Back Translation: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Translate text to another language and then back to the original, introducing diverse phrasing.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 1: English → French → English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 2: English → German → French → English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Original Sentence (English):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"The weather is nice today, and I feel like going for a walk.“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French: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"Il fait beau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aujourd'hui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et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j'ai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envie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de me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promener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.“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English: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"It is beautiful today and I want to go for a walk."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CE8F7A0-E857-31F0-A168-42CD3C67CEE1}"/>
              </a:ext>
            </a:extLst>
          </p:cNvPr>
          <p:cNvSpPr/>
          <p:nvPr/>
        </p:nvSpPr>
        <p:spPr>
          <a:xfrm>
            <a:off x="3648456" y="3537513"/>
            <a:ext cx="585216" cy="95097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457A0DF-5048-8668-AC7D-39FB5F332085}"/>
              </a:ext>
            </a:extLst>
          </p:cNvPr>
          <p:cNvSpPr/>
          <p:nvPr/>
        </p:nvSpPr>
        <p:spPr>
          <a:xfrm>
            <a:off x="3718560" y="5145024"/>
            <a:ext cx="585216" cy="95097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956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94F91-B5E4-FED2-0424-05269D7A4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9092942-47F2-B424-ABB2-5900C93C30DB}"/>
              </a:ext>
            </a:extLst>
          </p:cNvPr>
          <p:cNvSpPr txBox="1">
            <a:spLocks/>
          </p:cNvSpPr>
          <p:nvPr/>
        </p:nvSpPr>
        <p:spPr>
          <a:xfrm>
            <a:off x="306325" y="486561"/>
            <a:ext cx="10885994" cy="5806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d.3) Paraphrasing: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Rephrasing sentences while maintaining the original intent can also be used for data augmentation.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Original Sentence: "She completed the project before the deadline."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Paraphrased Versions: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"The project was finished by her ahead of the deadline."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"She wrapped up the project on time."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"Before the deadline, she managed to complete the project."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"Her project was done prior to the due date.“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tools like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QuillBot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6CE1C2-4662-A1DD-7838-CA275810515E}"/>
              </a:ext>
            </a:extLst>
          </p:cNvPr>
          <p:cNvSpPr txBox="1"/>
          <p:nvPr/>
        </p:nvSpPr>
        <p:spPr>
          <a:xfrm>
            <a:off x="306324" y="25646"/>
            <a:ext cx="2912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</p:spTree>
    <p:extLst>
      <p:ext uri="{BB962C8B-B14F-4D97-AF65-F5344CB8AC3E}">
        <p14:creationId xmlns:p14="http://schemas.microsoft.com/office/powerpoint/2010/main" val="41070549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 txBox="1">
            <a:spLocks/>
          </p:cNvSpPr>
          <p:nvPr/>
        </p:nvSpPr>
        <p:spPr>
          <a:xfrm>
            <a:off x="393192" y="638960"/>
            <a:ext cx="11631168" cy="57282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4.4) Adding Noise: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Introduce random noise or perturbations to augment data. 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Original Sentence: "The manager approved the new policy yesterday."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Noisy Paraphrased Versions: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Character Swap (common typo): "The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mnaager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approved the new policy yesterday."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(“manager” → “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mnaager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”)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Character Deletion: "The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manger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approved the new policy yesterday."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(“manager” → “manger” — which also creates a valid but incorrect word)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Missing Word: "Manager approved new policy yesterday."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(Dropped “The” and “the” — still understandable, often found in informal text)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7BE41D-D259-0E4B-77E8-853C4F25E725}"/>
              </a:ext>
            </a:extLst>
          </p:cNvPr>
          <p:cNvSpPr txBox="1"/>
          <p:nvPr/>
        </p:nvSpPr>
        <p:spPr>
          <a:xfrm>
            <a:off x="306324" y="25646"/>
            <a:ext cx="2912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</p:spTree>
    <p:extLst>
      <p:ext uri="{BB962C8B-B14F-4D97-AF65-F5344CB8AC3E}">
        <p14:creationId xmlns:p14="http://schemas.microsoft.com/office/powerpoint/2010/main" val="1457429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D5229-13B9-7839-6583-974FC2DF9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7766EF-6EBC-9881-9712-F61C5A2891EB}"/>
              </a:ext>
            </a:extLst>
          </p:cNvPr>
          <p:cNvSpPr txBox="1">
            <a:spLocks/>
          </p:cNvSpPr>
          <p:nvPr/>
        </p:nvSpPr>
        <p:spPr>
          <a:xfrm>
            <a:off x="393192" y="638961"/>
            <a:ext cx="11631168" cy="31923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4.4) Adding Noise: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Homophone Confusion: "The manager approved the knew policy yesterday."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(“new” → “knew” — valid word, wrong context)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Keyboard Proximity Error: "The manager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approvdd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new policy yesterday."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(Double 'd' for 'ed' — a common fast-typing error)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A4778-1D7F-156C-B5FE-C2E09EA5B5CE}"/>
              </a:ext>
            </a:extLst>
          </p:cNvPr>
          <p:cNvSpPr txBox="1"/>
          <p:nvPr/>
        </p:nvSpPr>
        <p:spPr>
          <a:xfrm>
            <a:off x="306324" y="25646"/>
            <a:ext cx="2912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</p:spTree>
    <p:extLst>
      <p:ext uri="{BB962C8B-B14F-4D97-AF65-F5344CB8AC3E}">
        <p14:creationId xmlns:p14="http://schemas.microsoft.com/office/powerpoint/2010/main" val="9776617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33EB219-3312-5E15-0B12-71CFD4E769D6}"/>
              </a:ext>
            </a:extLst>
          </p:cNvPr>
          <p:cNvSpPr txBox="1"/>
          <p:nvPr/>
        </p:nvSpPr>
        <p:spPr>
          <a:xfrm>
            <a:off x="297180" y="243763"/>
            <a:ext cx="1011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Text cleaning(preprocessing):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6FECAD-CC22-01C7-FB3E-4C1473D69FC8}"/>
              </a:ext>
            </a:extLst>
          </p:cNvPr>
          <p:cNvSpPr txBox="1"/>
          <p:nvPr/>
        </p:nvSpPr>
        <p:spPr>
          <a:xfrm>
            <a:off x="228600" y="717215"/>
            <a:ext cx="1166774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we need it in NLP sequential data?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Raw text is messy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Tweets, customer reviews, comments, etc. often have typos, emojis, hashtags, URLs, user mentions, extra spaces, casing differences, etc.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Consistency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Different variations like happy, Happy, and HAPPY should mean the same thing, but without cleaning, the model sees them as completely different words.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Efficiency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Smaller, cleaner vocabularies lead to faster training and better generalization.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Noise removal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Removes unnecessary data that could confuse the model (like HTML tags, random symbols).</a:t>
            </a:r>
          </a:p>
        </p:txBody>
      </p:sp>
    </p:spTree>
    <p:extLst>
      <p:ext uri="{BB962C8B-B14F-4D97-AF65-F5344CB8AC3E}">
        <p14:creationId xmlns:p14="http://schemas.microsoft.com/office/powerpoint/2010/main" val="56058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CA1E2-08C4-07AE-A4BD-0CB5CE600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D764CAE-CE8C-4D3A-D45A-A92662050AE3}"/>
              </a:ext>
            </a:extLst>
          </p:cNvPr>
          <p:cNvSpPr txBox="1"/>
          <p:nvPr/>
        </p:nvSpPr>
        <p:spPr>
          <a:xfrm>
            <a:off x="297180" y="243763"/>
            <a:ext cx="1011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Text cleaning(preprocessing):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8B39A8-5A9C-350F-0846-EEF7C50CB387}"/>
              </a:ext>
            </a:extLst>
          </p:cNvPr>
          <p:cNvSpPr txBox="1"/>
          <p:nvPr/>
        </p:nvSpPr>
        <p:spPr>
          <a:xfrm>
            <a:off x="448056" y="1851071"/>
            <a:ext cx="1131112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Sequential Models (like RNN), cleaning is even more important because: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Sequence matters (order of tokens is critical).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size needs to be limited (you often fix input length; you want it full of meaningful words).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Garbage in → garbage out (noisy inputs = bad outputs).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Bottom line: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Clean text helps the model focus on real patterns (like grammar, sentiment, or meaning) rather than noise.</a:t>
            </a:r>
          </a:p>
        </p:txBody>
      </p:sp>
    </p:spTree>
    <p:extLst>
      <p:ext uri="{BB962C8B-B14F-4D97-AF65-F5344CB8AC3E}">
        <p14:creationId xmlns:p14="http://schemas.microsoft.com/office/powerpoint/2010/main" val="3784133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062805"/>
              </p:ext>
            </p:extLst>
          </p:nvPr>
        </p:nvGraphicFramePr>
        <p:xfrm>
          <a:off x="420624" y="855677"/>
          <a:ext cx="11550464" cy="5544642"/>
        </p:xfrm>
        <a:graphic>
          <a:graphicData uri="http://schemas.openxmlformats.org/drawingml/2006/table">
            <a:tbl>
              <a:tblPr/>
              <a:tblGrid>
                <a:gridCol w="3154942">
                  <a:extLst>
                    <a:ext uri="{9D8B030D-6E8A-4147-A177-3AD203B41FA5}">
                      <a16:colId xmlns:a16="http://schemas.microsoft.com/office/drawing/2014/main" val="2616763590"/>
                    </a:ext>
                  </a:extLst>
                </a:gridCol>
                <a:gridCol w="3935700">
                  <a:extLst>
                    <a:ext uri="{9D8B030D-6E8A-4147-A177-3AD203B41FA5}">
                      <a16:colId xmlns:a16="http://schemas.microsoft.com/office/drawing/2014/main" val="3884659483"/>
                    </a:ext>
                  </a:extLst>
                </a:gridCol>
                <a:gridCol w="4459822">
                  <a:extLst>
                    <a:ext uri="{9D8B030D-6E8A-4147-A177-3AD203B41FA5}">
                      <a16:colId xmlns:a16="http://schemas.microsoft.com/office/drawing/2014/main" val="4226176823"/>
                    </a:ext>
                  </a:extLst>
                </a:gridCol>
              </a:tblGrid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Cleaning Step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Purpose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8636113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Lowercasing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Make text uniform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"Happy" → "happy"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499538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user mentions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Remove noise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"@user123" → ""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9733282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URLs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Remove web links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"Visit http://..." → ""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6037838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HTML tags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Tags</a:t>
                      </a:r>
                      <a:r>
                        <a:rPr lang="en-US" sz="1800" b="0" baseline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 do not hold important info..(but heading may)</a:t>
                      </a:r>
                      <a:endParaRPr lang="en-US" sz="18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&lt;p&gt;This is good movie&lt;/p&gt;</a:t>
                      </a:r>
                      <a:r>
                        <a:rPr lang="en-US" sz="1800" b="0" baseline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 -&gt;</a:t>
                      </a:r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This is good movie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0060785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punctuation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Reduce unnecessary tokens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"Wow!!!" → "Wow"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1765656"/>
                  </a:ext>
                </a:extLst>
              </a:tr>
              <a:tr h="619791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numbers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Optional, depends on task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"I am 20 years old" → "I am years old"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4759040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extra whitespace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Make text neat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"Hello    world" → "Hello world"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8874173"/>
                  </a:ext>
                </a:extLst>
              </a:tr>
              <a:tr h="619791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stop words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(Optional) Remove very common words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"the", "is", "in"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879349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Spelling correction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(Optional, heavy) Correct typos, library-&gt; </a:t>
                      </a:r>
                      <a:r>
                        <a:rPr lang="en-US" sz="1800" b="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pyspellchecker</a:t>
                      </a:r>
                      <a:endParaRPr lang="en-US" sz="18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"recieve" → "receive"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7451009"/>
                  </a:ext>
                </a:extLst>
              </a:tr>
              <a:tr h="619791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or replacing </a:t>
                      </a:r>
                      <a:r>
                        <a:rPr lang="en-US" sz="1800" b="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emojis</a:t>
                      </a:r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/special chars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(Optional) Clean text for simple models or replace </a:t>
                      </a:r>
                      <a:r>
                        <a:rPr lang="en-US" sz="1800" b="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emojis</a:t>
                      </a:r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 with actual words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"I ❤️ AI" → "I AI“ or “I love AI”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91435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24B6E77-C385-3BAD-4250-0C708D1D6E4F}"/>
              </a:ext>
            </a:extLst>
          </p:cNvPr>
          <p:cNvSpPr txBox="1"/>
          <p:nvPr/>
        </p:nvSpPr>
        <p:spPr>
          <a:xfrm>
            <a:off x="297180" y="243763"/>
            <a:ext cx="1011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Text cleaning(preprocessing): Why we need it in NLP sequential data?</a:t>
            </a:r>
          </a:p>
        </p:txBody>
      </p:sp>
    </p:spTree>
    <p:extLst>
      <p:ext uri="{BB962C8B-B14F-4D97-AF65-F5344CB8AC3E}">
        <p14:creationId xmlns:p14="http://schemas.microsoft.com/office/powerpoint/2010/main" val="33507733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43949" y="799554"/>
            <a:ext cx="10330777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1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Simple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 Tokenization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Sentence: "Virgin America is my favorite airline!"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['Virgin', 'America', 'is', 'my', 'favorite', 'airline', '!']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2: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 Tokenization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Here, the text is split into separate sentences.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you have a paragraph: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"Virgin America is great. I had a wonderful experience! Highly recommended."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 tokens: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['Virgin America is great.',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'I had a wonderful experience!',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'Highly recommended.']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6B6E67-2AB0-6897-D55C-7827F2B6CD2F}"/>
              </a:ext>
            </a:extLst>
          </p:cNvPr>
          <p:cNvSpPr txBox="1"/>
          <p:nvPr/>
        </p:nvSpPr>
        <p:spPr>
          <a:xfrm>
            <a:off x="132588" y="1993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Tokenization:</a:t>
            </a:r>
          </a:p>
        </p:txBody>
      </p:sp>
    </p:spTree>
    <p:extLst>
      <p:ext uri="{BB962C8B-B14F-4D97-AF65-F5344CB8AC3E}">
        <p14:creationId xmlns:p14="http://schemas.microsoft.com/office/powerpoint/2010/main" val="23893081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764FA-E5CC-98C4-E3D1-A0A02ED19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307E44-D257-6FED-C14E-DBBB2D9ADD24}"/>
              </a:ext>
            </a:extLst>
          </p:cNvPr>
          <p:cNvSpPr txBox="1"/>
          <p:nvPr/>
        </p:nvSpPr>
        <p:spPr>
          <a:xfrm>
            <a:off x="343949" y="799554"/>
            <a:ext cx="115243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3: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Subword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Tokenization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(using BERT tokenizer)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Sentence: "Unbelievable service!"</a:t>
            </a:r>
          </a:p>
          <a:p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Subword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Tokens: ['un', '##believable', 'service', '!']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Notice: un and believable are split because BERT uses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WordPiece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tokenization, handling rare words more efficiently.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D3F392-7937-90FD-25BD-069B64D03D4C}"/>
              </a:ext>
            </a:extLst>
          </p:cNvPr>
          <p:cNvSpPr txBox="1"/>
          <p:nvPr/>
        </p:nvSpPr>
        <p:spPr>
          <a:xfrm>
            <a:off x="132588" y="1993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Tokenization:</a:t>
            </a:r>
          </a:p>
        </p:txBody>
      </p:sp>
    </p:spTree>
    <p:extLst>
      <p:ext uri="{BB962C8B-B14F-4D97-AF65-F5344CB8AC3E}">
        <p14:creationId xmlns:p14="http://schemas.microsoft.com/office/powerpoint/2010/main" val="1567010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43949" y="846533"/>
            <a:ext cx="10683437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4: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Character-level Tokenization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Sentence: "Airline"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Character Tokens: ['A', '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', 'r', 'l', '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', 'n', 'e']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5: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Tokenization preserving hashtags, mentions, etc. (Twitter data)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Sentence: "Thanks @VirginAmerica for the amazing service! #happycustomer“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['Thanks', '@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VirginAmerica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', 'for', 'the', 'amazing', 'service', '!', '#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happycustomer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26C383-0E33-1732-2D45-181650895928}"/>
              </a:ext>
            </a:extLst>
          </p:cNvPr>
          <p:cNvSpPr txBox="1"/>
          <p:nvPr/>
        </p:nvSpPr>
        <p:spPr>
          <a:xfrm>
            <a:off x="132588" y="1993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Tokenization:</a:t>
            </a:r>
          </a:p>
        </p:txBody>
      </p:sp>
    </p:spTree>
    <p:extLst>
      <p:ext uri="{BB962C8B-B14F-4D97-AF65-F5344CB8AC3E}">
        <p14:creationId xmlns:p14="http://schemas.microsoft.com/office/powerpoint/2010/main" val="30726755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43949" y="731184"/>
            <a:ext cx="10868133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tokenization, it would be hard to understand: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Which words occur most frequently?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the sentence sentiment?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Which words are meaningful (e.g., named entities)?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is essential because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computers cannot directly understand or process unstructured human language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By breaking text into tokens, we convert it into a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structured format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can be analyzed, modeled, or used as input to NLP algorithms.</a:t>
            </a:r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Advantages of tokenization: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Makes text data manageable: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breaks down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large text into smaller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more easily processed chunks, making it easier for NLP models to work with. 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Facilitates analysis and understanding: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By isolating individual units (tokens), NLP models can analyze the meaning and relationships between them, leading to a deeper understanding of the text. 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Lays the foundation for other NLP tasks: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is a fundamental step that enables various other NLP tasks, such as text classification, sentiment analysis, machine translation, and language modeling. 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Enables text-to-numerical conversion: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is crucial for converting raw text into a numerical format that machine learning models can process, as they typically work with numbers rather than raw text.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F753D-9FD0-A835-FDFA-646C50868635}"/>
              </a:ext>
            </a:extLst>
          </p:cNvPr>
          <p:cNvSpPr txBox="1"/>
          <p:nvPr/>
        </p:nvSpPr>
        <p:spPr>
          <a:xfrm>
            <a:off x="297180" y="14451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Tokenization: Why do we need it ?</a:t>
            </a:r>
          </a:p>
        </p:txBody>
      </p:sp>
    </p:spTree>
    <p:extLst>
      <p:ext uri="{BB962C8B-B14F-4D97-AF65-F5344CB8AC3E}">
        <p14:creationId xmlns:p14="http://schemas.microsoft.com/office/powerpoint/2010/main" val="630834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633464"/>
              </p:ext>
            </p:extLst>
          </p:nvPr>
        </p:nvGraphicFramePr>
        <p:xfrm>
          <a:off x="356616" y="1625950"/>
          <a:ext cx="11384280" cy="3108960"/>
        </p:xfrm>
        <a:graphic>
          <a:graphicData uri="http://schemas.openxmlformats.org/drawingml/2006/table">
            <a:tbl>
              <a:tblPr/>
              <a:tblGrid>
                <a:gridCol w="2253092">
                  <a:extLst>
                    <a:ext uri="{9D8B030D-6E8A-4147-A177-3AD203B41FA5}">
                      <a16:colId xmlns:a16="http://schemas.microsoft.com/office/drawing/2014/main" val="3717618253"/>
                    </a:ext>
                  </a:extLst>
                </a:gridCol>
                <a:gridCol w="3439048">
                  <a:extLst>
                    <a:ext uri="{9D8B030D-6E8A-4147-A177-3AD203B41FA5}">
                      <a16:colId xmlns:a16="http://schemas.microsoft.com/office/drawing/2014/main" val="134306161"/>
                    </a:ext>
                  </a:extLst>
                </a:gridCol>
                <a:gridCol w="1837590">
                  <a:extLst>
                    <a:ext uri="{9D8B030D-6E8A-4147-A177-3AD203B41FA5}">
                      <a16:colId xmlns:a16="http://schemas.microsoft.com/office/drawing/2014/main" val="2652345858"/>
                    </a:ext>
                  </a:extLst>
                </a:gridCol>
                <a:gridCol w="3854550">
                  <a:extLst>
                    <a:ext uri="{9D8B030D-6E8A-4147-A177-3AD203B41FA5}">
                      <a16:colId xmlns:a16="http://schemas.microsoft.com/office/drawing/2014/main" val="39886598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Library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Use-case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Deep Learning Ready?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223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NLTK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Classical NLP, 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0442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spaCy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Industrial, fast 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No (but </a:t>
                      </a:r>
                      <a:r>
                        <a:rPr lang="en-US" sz="240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embeddings</a:t>
                      </a: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 possible)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47482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transformers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Deep learning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8670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TextBlob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Easy NLP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4748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SentencePiece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Pretraining tokenizers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35216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6E32FB8-2120-377F-3636-0E70C7EBB987}"/>
              </a:ext>
            </a:extLst>
          </p:cNvPr>
          <p:cNvSpPr txBox="1"/>
          <p:nvPr/>
        </p:nvSpPr>
        <p:spPr>
          <a:xfrm>
            <a:off x="580644" y="135374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Tokenization: Libraries used</a:t>
            </a:r>
          </a:p>
        </p:txBody>
      </p:sp>
    </p:spTree>
    <p:extLst>
      <p:ext uri="{BB962C8B-B14F-4D97-AF65-F5344CB8AC3E}">
        <p14:creationId xmlns:p14="http://schemas.microsoft.com/office/powerpoint/2010/main" val="19574537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116" y="213093"/>
            <a:ext cx="3682525" cy="515092"/>
          </a:xfrm>
        </p:spPr>
        <p:txBody>
          <a:bodyPr>
            <a:noAutofit/>
          </a:bodyPr>
          <a:lstStyle/>
          <a:p>
            <a:r>
              <a:rPr lang="en-US" sz="2400" b="1" dirty="0"/>
              <a:t>4.1) POS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116" y="956344"/>
            <a:ext cx="114326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POS tagging?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 can help in better normalization (e.g., you might lemmatize differently based on the word's part of speech: "running" → "run" if it's a verb).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 can become extra features fed into a model (especially in more advanced NLP tasks).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downstream models (like Named Entity Recognition, Question Answering, etc.) perform better with POS information.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Simple 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after tokenization, you get:  ["dogs", "are", "running"]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tagging assigns: [("dogs", "NOUN"), ("are", "VERB"), ("running", "VERB")]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Later during normalization, you lemmatize "running" to "run" because you know it's a verb (instead of wrongly guessing).</a:t>
            </a:r>
          </a:p>
        </p:txBody>
      </p:sp>
    </p:spTree>
    <p:extLst>
      <p:ext uri="{BB962C8B-B14F-4D97-AF65-F5344CB8AC3E}">
        <p14:creationId xmlns:p14="http://schemas.microsoft.com/office/powerpoint/2010/main" val="42821096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461" y="118549"/>
            <a:ext cx="6122231" cy="515092"/>
          </a:xfrm>
        </p:spPr>
        <p:txBody>
          <a:bodyPr>
            <a:noAutofit/>
          </a:bodyPr>
          <a:lstStyle/>
          <a:p>
            <a:r>
              <a:rPr lang="en-US" sz="2000" dirty="0"/>
              <a:t>4.1) POS Tagging: Realistic Examples + How It's Used(p2)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81" y="738231"/>
            <a:ext cx="510889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</a:t>
            </a:r>
            <a:r>
              <a:rPr lang="en-US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</a:t>
            </a:r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/ Virtual Assistants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Input: "Book a flight to Paris."</a:t>
            </a: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Book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(Determiner)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flight (Noun)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(Preposition)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Paris (Proper Noun)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Usage: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1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</a:t>
            </a:r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needs to know that "Book" is a verb (an action), and "flight" is the object. This helps the </a:t>
            </a:r>
            <a:r>
              <a:rPr lang="en-US" sz="1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</a:t>
            </a:r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understand the user's intent: booking something rather than asking about books.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8114" y="4253218"/>
            <a:ext cx="571290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Voice Assistants Understanding Commands (Alexa, Siri)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Input: "Play relaxing music."</a:t>
            </a: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Play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relaxing (Adjective)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music (Noun)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Usage: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Helps distinguish between commands (verbs like "play", "call", "set") and objects (nouns like "music", "alarm").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80016" y="771787"/>
            <a:ext cx="618268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Text Summarization Tools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Input: "The stock market rose sharply due to the new policy announcements."</a:t>
            </a: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stock (Noun)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market (Noun)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rose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sharply (Adverb)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due (Preposition)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(Adjective)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policy (Noun)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announcements (Noun)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Usage: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Nouns and verbs are prioritized to extract key points.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Adjectives/adverbs like "sharply" might be selectively used for richer summaries.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38738" y="4655890"/>
            <a:ext cx="61239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Grammar Checkers ( </a:t>
            </a:r>
            <a:r>
              <a:rPr lang="en-US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Grammarly</a:t>
            </a:r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MS Word)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Input: "He run fast.“ &lt;- TODO: Try this in </a:t>
            </a:r>
            <a:r>
              <a:rPr lang="en-US" sz="1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grammarly</a:t>
            </a:r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 (Pronoun)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run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fast (Adverb)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Usage: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System realizes "He" is singular, but "run" is plural — catches subject-verb disagreement error.</a:t>
            </a:r>
          </a:p>
        </p:txBody>
      </p:sp>
    </p:spTree>
    <p:extLst>
      <p:ext uri="{BB962C8B-B14F-4D97-AF65-F5344CB8AC3E}">
        <p14:creationId xmlns:p14="http://schemas.microsoft.com/office/powerpoint/2010/main" val="14787350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461" y="118549"/>
            <a:ext cx="6088675" cy="515092"/>
          </a:xfrm>
        </p:spPr>
        <p:txBody>
          <a:bodyPr>
            <a:noAutofit/>
          </a:bodyPr>
          <a:lstStyle/>
          <a:p>
            <a:r>
              <a:rPr lang="en-US" sz="2000" dirty="0"/>
              <a:t>4.1) POS Tagging: Realistic Examples + How It's Used(p3)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81" y="738231"/>
            <a:ext cx="510889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Named Entity Recognition (NER)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Input: "Apple is looking at buying a startup in the UK."</a:t>
            </a: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Apple (Proper 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is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looking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buying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startup (Noun)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UK (Proper Noun)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Usage: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Helps distinguish "Apple" as a company (not a fruit!) based on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8114" y="3716322"/>
            <a:ext cx="5712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6. Search Engines Understanding Queries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Input: "best places to visit near me"</a:t>
            </a: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best (Adjective)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places (Noun)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(Preposition)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visit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near (Preposition)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 (Pronoun)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Usage: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Recognizes "places" as the core noun and "visit" as the action — tailors better location-based search results.</a:t>
            </a:r>
          </a:p>
        </p:txBody>
      </p:sp>
    </p:spTree>
    <p:extLst>
      <p:ext uri="{BB962C8B-B14F-4D97-AF65-F5344CB8AC3E}">
        <p14:creationId xmlns:p14="http://schemas.microsoft.com/office/powerpoint/2010/main" val="25746600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461" y="118549"/>
            <a:ext cx="6155787" cy="515092"/>
          </a:xfrm>
        </p:spPr>
        <p:txBody>
          <a:bodyPr>
            <a:noAutofit/>
          </a:bodyPr>
          <a:lstStyle/>
          <a:p>
            <a:r>
              <a:rPr lang="en-US" sz="3200" dirty="0"/>
              <a:t>4.1) POS Tagging: Libraries used(p4)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433016"/>
              </p:ext>
            </p:extLst>
          </p:nvPr>
        </p:nvGraphicFramePr>
        <p:xfrm>
          <a:off x="374904" y="2218214"/>
          <a:ext cx="11420856" cy="4206240"/>
        </p:xfrm>
        <a:graphic>
          <a:graphicData uri="http://schemas.openxmlformats.org/drawingml/2006/table">
            <a:tbl>
              <a:tblPr/>
              <a:tblGrid>
                <a:gridCol w="1631659">
                  <a:extLst>
                    <a:ext uri="{9D8B030D-6E8A-4147-A177-3AD203B41FA5}">
                      <a16:colId xmlns:a16="http://schemas.microsoft.com/office/drawing/2014/main" val="802596431"/>
                    </a:ext>
                  </a:extLst>
                </a:gridCol>
                <a:gridCol w="3827309">
                  <a:extLst>
                    <a:ext uri="{9D8B030D-6E8A-4147-A177-3AD203B41FA5}">
                      <a16:colId xmlns:a16="http://schemas.microsoft.com/office/drawing/2014/main" val="3090122847"/>
                    </a:ext>
                  </a:extLst>
                </a:gridCol>
                <a:gridCol w="1393546">
                  <a:extLst>
                    <a:ext uri="{9D8B030D-6E8A-4147-A177-3AD203B41FA5}">
                      <a16:colId xmlns:a16="http://schemas.microsoft.com/office/drawing/2014/main" val="3508996495"/>
                    </a:ext>
                  </a:extLst>
                </a:gridCol>
                <a:gridCol w="2284171">
                  <a:extLst>
                    <a:ext uri="{9D8B030D-6E8A-4147-A177-3AD203B41FA5}">
                      <a16:colId xmlns:a16="http://schemas.microsoft.com/office/drawing/2014/main" val="4108852308"/>
                    </a:ext>
                  </a:extLst>
                </a:gridCol>
                <a:gridCol w="2284171">
                  <a:extLst>
                    <a:ext uri="{9D8B030D-6E8A-4147-A177-3AD203B41FA5}">
                      <a16:colId xmlns:a16="http://schemas.microsoft.com/office/drawing/2014/main" val="1887275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Library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Strength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988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NLTK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Education, quick prototyping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Learning NLP basics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188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spaCy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Production NLP pipelines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Real-world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741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TextBlob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Simplicity, quick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Beginners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3185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Stanza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Deep learning, multi-lingual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Academic or robust NLP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223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Flair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Contextual embeddings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⚡⚡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Advanced NLP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33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15262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1971" y="188957"/>
            <a:ext cx="6057552" cy="482162"/>
          </a:xfrm>
        </p:spPr>
        <p:txBody>
          <a:bodyPr>
            <a:noAutofit/>
          </a:bodyPr>
          <a:lstStyle/>
          <a:p>
            <a:r>
              <a:rPr lang="en-US" sz="2000" dirty="0"/>
              <a:t>4.2) Normalization: Lemmatization(p1)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367779"/>
              </p:ext>
            </p:extLst>
          </p:nvPr>
        </p:nvGraphicFramePr>
        <p:xfrm>
          <a:off x="1435608" y="3509226"/>
          <a:ext cx="8549640" cy="3169920"/>
        </p:xfrm>
        <a:graphic>
          <a:graphicData uri="http://schemas.openxmlformats.org/drawingml/2006/table">
            <a:tbl>
              <a:tblPr/>
              <a:tblGrid>
                <a:gridCol w="2849880">
                  <a:extLst>
                    <a:ext uri="{9D8B030D-6E8A-4147-A177-3AD203B41FA5}">
                      <a16:colId xmlns:a16="http://schemas.microsoft.com/office/drawing/2014/main" val="921962802"/>
                    </a:ext>
                  </a:extLst>
                </a:gridCol>
                <a:gridCol w="2849880">
                  <a:extLst>
                    <a:ext uri="{9D8B030D-6E8A-4147-A177-3AD203B41FA5}">
                      <a16:colId xmlns:a16="http://schemas.microsoft.com/office/drawing/2014/main" val="2700664409"/>
                    </a:ext>
                  </a:extLst>
                </a:gridCol>
                <a:gridCol w="2849880">
                  <a:extLst>
                    <a:ext uri="{9D8B030D-6E8A-4147-A177-3AD203B41FA5}">
                      <a16:colId xmlns:a16="http://schemas.microsoft.com/office/drawing/2014/main" val="2297029622"/>
                    </a:ext>
                  </a:extLst>
                </a:gridCol>
              </a:tblGrid>
              <a:tr h="392348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Original 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Part of Speech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Lemmatized Form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461006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Running, ran,</a:t>
                      </a:r>
                      <a:r>
                        <a:rPr lang="en-US" sz="2000" b="0" baseline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 r</a:t>
                      </a:r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verb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run</a:t>
                      </a:r>
                      <a:endParaRPr lang="en-US" sz="20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0825751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Better, best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adjective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good</a:t>
                      </a:r>
                      <a:endParaRPr lang="en-US" sz="20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0814240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was, were, being, been,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verb (past)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be</a:t>
                      </a:r>
                      <a:endParaRPr lang="en-US" sz="20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8109336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cars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noun (plural)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car</a:t>
                      </a:r>
                      <a:endParaRPr lang="en-US" sz="20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9659070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geese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noun (plural)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goose</a:t>
                      </a:r>
                      <a:endParaRPr lang="en-US" sz="20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5028633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Studies, reads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verb/noun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study</a:t>
                      </a:r>
                      <a:endParaRPr lang="en-US" sz="20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0427722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Go, going, gone, goes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verb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go</a:t>
                      </a:r>
                      <a:endParaRPr lang="en-US" sz="20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243095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3147B68-9CF0-5A81-F1DF-3E7BB4D019B6}"/>
              </a:ext>
            </a:extLst>
          </p:cNvPr>
          <p:cNvSpPr txBox="1"/>
          <p:nvPr/>
        </p:nvSpPr>
        <p:spPr>
          <a:xfrm>
            <a:off x="539496" y="671119"/>
            <a:ext cx="114300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Lemmatization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 words to their base dictionary form.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"The passengers are flying to New York" -&gt; "The passenger be fly to New York“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Keep in mind that the actual lemmatization result may depend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part of speech (POS)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tagging — so these are grouped accordingly</a:t>
            </a:r>
          </a:p>
        </p:txBody>
      </p:sp>
    </p:spTree>
    <p:extLst>
      <p:ext uri="{BB962C8B-B14F-4D97-AF65-F5344CB8AC3E}">
        <p14:creationId xmlns:p14="http://schemas.microsoft.com/office/powerpoint/2010/main" val="4034066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1972" y="230902"/>
            <a:ext cx="4857926" cy="423439"/>
          </a:xfrm>
        </p:spPr>
        <p:txBody>
          <a:bodyPr>
            <a:noAutofit/>
          </a:bodyPr>
          <a:lstStyle/>
          <a:p>
            <a:r>
              <a:rPr lang="en-US" sz="2000" dirty="0"/>
              <a:t>4.2) Normalization: Stemming(p2)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844841"/>
              </p:ext>
            </p:extLst>
          </p:nvPr>
        </p:nvGraphicFramePr>
        <p:xfrm>
          <a:off x="535344" y="3429000"/>
          <a:ext cx="7895424" cy="3200400"/>
        </p:xfrm>
        <a:graphic>
          <a:graphicData uri="http://schemas.openxmlformats.org/drawingml/2006/table">
            <a:tbl>
              <a:tblPr/>
              <a:tblGrid>
                <a:gridCol w="2235288">
                  <a:extLst>
                    <a:ext uri="{9D8B030D-6E8A-4147-A177-3AD203B41FA5}">
                      <a16:colId xmlns:a16="http://schemas.microsoft.com/office/drawing/2014/main" val="3643671938"/>
                    </a:ext>
                  </a:extLst>
                </a:gridCol>
                <a:gridCol w="5660136">
                  <a:extLst>
                    <a:ext uri="{9D8B030D-6E8A-4147-A177-3AD203B41FA5}">
                      <a16:colId xmlns:a16="http://schemas.microsoft.com/office/drawing/2014/main" val="160745686"/>
                    </a:ext>
                  </a:extLst>
                </a:gridCol>
              </a:tblGrid>
              <a:tr h="486875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Original 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Stemmed Form</a:t>
                      </a:r>
                    </a:p>
                    <a:p>
                      <a:pPr algn="ctr"/>
                      <a:r>
                        <a:rPr lang="en-US" sz="18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Using the </a:t>
                      </a:r>
                      <a:r>
                        <a:rPr lang="en-US" sz="18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Porter Stemmer</a:t>
                      </a:r>
                      <a:r>
                        <a:rPr lang="en-US" sz="1800" b="0" baseline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 - </a:t>
                      </a:r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most common stemmers)</a:t>
                      </a:r>
                      <a:endParaRPr lang="en-US" sz="1800" b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932745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running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3949464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happily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happili</a:t>
                      </a:r>
                      <a:endParaRPr lang="en-US" sz="18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0723421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Studies, studying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studi</a:t>
                      </a:r>
                      <a:endParaRPr lang="en-US" sz="18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2374464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Relational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relat</a:t>
                      </a:r>
                      <a:endParaRPr lang="en-US" sz="18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8869009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bigger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big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289221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fishing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fish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0595046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Agreement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agree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845771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D25BF5A-B7AD-9971-AA2C-86009D7D35D6}"/>
              </a:ext>
            </a:extLst>
          </p:cNvPr>
          <p:cNvSpPr txBox="1"/>
          <p:nvPr/>
        </p:nvSpPr>
        <p:spPr>
          <a:xfrm>
            <a:off x="252984" y="535469"/>
            <a:ext cx="1183233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Stemming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Chop off word endings to their root form. This Reduce dimensionality of the vocabulary.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 (connect, connects, connected, connecting, connection, connections, connectivity, connective) -&gt; connect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Unlike lemmatization, stemming is rule-based and typically faster but less accurate.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stemmed output isn't always a valid English word 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happili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studi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relat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"Passengers loved the amazing services" -&gt; "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passeng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love the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amaz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servic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8192957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1971" y="230902"/>
            <a:ext cx="7164899" cy="658332"/>
          </a:xfrm>
        </p:spPr>
        <p:txBody>
          <a:bodyPr>
            <a:noAutofit/>
          </a:bodyPr>
          <a:lstStyle/>
          <a:p>
            <a:r>
              <a:rPr lang="en-US" sz="2800" dirty="0"/>
              <a:t>4.2) Normalization: Expanding Contractions(p3)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A570FC-A3C9-4CB6-E1D2-0AA377A66351}"/>
              </a:ext>
            </a:extLst>
          </p:cNvPr>
          <p:cNvSpPr txBox="1"/>
          <p:nvPr/>
        </p:nvSpPr>
        <p:spPr>
          <a:xfrm>
            <a:off x="649224" y="1125373"/>
            <a:ext cx="930859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Expanding Contractions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Expand things like "don't" into "do not".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 can't believe it!"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 can not believe it!“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è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Models understand "can" and "not" separately, improving meaning capture.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7883D96B-7154-2E77-2D1B-03F570791631}"/>
              </a:ext>
            </a:extLst>
          </p:cNvPr>
          <p:cNvSpPr/>
          <p:nvPr/>
        </p:nvSpPr>
        <p:spPr>
          <a:xfrm>
            <a:off x="1481328" y="2587752"/>
            <a:ext cx="228600" cy="466344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3650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4251" y="205734"/>
            <a:ext cx="10666556" cy="683499"/>
          </a:xfrm>
        </p:spPr>
        <p:txBody>
          <a:bodyPr>
            <a:noAutofit/>
          </a:bodyPr>
          <a:lstStyle/>
          <a:p>
            <a:r>
              <a:rPr lang="en-US" sz="2800" dirty="0"/>
              <a:t>5. Text Representation: N-gram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243" y="889233"/>
            <a:ext cx="1162368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N-grams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are used to capture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 sequences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contextual patterns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text data.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an N-gram?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N-gram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contiguous sequence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 items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(usually words or characters) from a given text. It helps preserve context and word order to a limited extent.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Unigram (1-gram):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"I", "love", "pizza"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Bigram (2-gram):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"I love", "love pizza"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Trigram (3-gram):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"I love pizza"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is it used?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While single words (unigrams) ignore order and context,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N-grams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let you: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Capture phrases or collocations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like "New York" or "machine learning"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 models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sentiment analysis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classification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autocorrect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Enhance predictive performance by using common word pairings or triplets</a:t>
            </a:r>
          </a:p>
        </p:txBody>
      </p:sp>
    </p:spTree>
    <p:extLst>
      <p:ext uri="{BB962C8B-B14F-4D97-AF65-F5344CB8AC3E}">
        <p14:creationId xmlns:p14="http://schemas.microsoft.com/office/powerpoint/2010/main" val="12043437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86755" y="857713"/>
            <a:ext cx="11778143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you have two sentences: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 love, love flying with Delta Airlines."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"Delta Airlines has great service."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1: Build a Vocabulary (list of unique words)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All the words from both sentences:["I", "love", "flying", "with", "Delta", "Airlines", "has", "great", "service"]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2: Represent each sentence as a Vector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sentence becomes a vector showing whether a word appears (and </a:t>
            </a: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sometimes how many times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565397"/>
              </p:ext>
            </p:extLst>
          </p:nvPr>
        </p:nvGraphicFramePr>
        <p:xfrm>
          <a:off x="222190" y="4555916"/>
          <a:ext cx="11692470" cy="1188720"/>
        </p:xfrm>
        <a:graphic>
          <a:graphicData uri="http://schemas.openxmlformats.org/drawingml/2006/table">
            <a:tbl>
              <a:tblPr/>
              <a:tblGrid>
                <a:gridCol w="1169247">
                  <a:extLst>
                    <a:ext uri="{9D8B030D-6E8A-4147-A177-3AD203B41FA5}">
                      <a16:colId xmlns:a16="http://schemas.microsoft.com/office/drawing/2014/main" val="4267372024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1007650645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3179171509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3186624360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1040426184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388330863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2764918870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2205795173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2537681152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15426532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flying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with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Delta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Airlines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has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great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service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872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Sent 1</a:t>
                      </a:r>
                      <a:endParaRPr lang="en-US" sz="20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532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Sent 2</a:t>
                      </a:r>
                      <a:endParaRPr lang="en-US" sz="20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54448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22191" y="5964964"/>
            <a:ext cx="9410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Now machine learning models can understand the sentences numerically!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D9BD94-0FA9-6307-1A69-100C9B5BB4F5}"/>
              </a:ext>
            </a:extLst>
          </p:cNvPr>
          <p:cNvSpPr txBox="1"/>
          <p:nvPr/>
        </p:nvSpPr>
        <p:spPr>
          <a:xfrm>
            <a:off x="222190" y="108205"/>
            <a:ext cx="100556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Text Representation: How does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BoW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work? (Step-by-Step Example)</a:t>
            </a:r>
          </a:p>
        </p:txBody>
      </p:sp>
    </p:spTree>
    <p:extLst>
      <p:ext uri="{BB962C8B-B14F-4D97-AF65-F5344CB8AC3E}">
        <p14:creationId xmlns:p14="http://schemas.microsoft.com/office/powerpoint/2010/main" val="12374231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3932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Principles of Bag of Words (</a:t>
            </a:r>
            <a:r>
              <a:rPr lang="en-US" dirty="0" err="1"/>
              <a:t>BoW</a:t>
            </a:r>
            <a:r>
              <a:rPr lang="en-US" dirty="0"/>
              <a:t>):</a:t>
            </a:r>
          </a:p>
          <a:p>
            <a:r>
              <a:rPr lang="en-US" dirty="0"/>
              <a:t>We convert text into numbers (vectors) for modeling.</a:t>
            </a:r>
          </a:p>
          <a:p>
            <a:r>
              <a:rPr lang="en-US" dirty="0"/>
              <a:t>We ignore grammar and word order.</a:t>
            </a:r>
          </a:p>
          <a:p>
            <a:r>
              <a:rPr lang="en-US" dirty="0"/>
              <a:t>We only care about whether a word occurs (and sometimes how often).</a:t>
            </a:r>
          </a:p>
          <a:p>
            <a:r>
              <a:rPr lang="en-US" dirty="0"/>
              <a:t>It's simple, fast, and a great starting point for text-based models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It’s called "Bag" because we only care about the words and their counts — like putting words into a "bag" and shaking them — order doesn't matter.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468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88956"/>
            <a:ext cx="10515600" cy="582831"/>
          </a:xfrm>
        </p:spPr>
        <p:txBody>
          <a:bodyPr>
            <a:normAutofit/>
          </a:bodyPr>
          <a:lstStyle/>
          <a:p>
            <a:r>
              <a:rPr lang="en-US" sz="3200" dirty="0"/>
              <a:t>5. Text Representation: Where is </a:t>
            </a:r>
            <a:r>
              <a:rPr lang="en-US" sz="3200" dirty="0" err="1"/>
              <a:t>BoW</a:t>
            </a:r>
            <a:r>
              <a:rPr lang="en-US" sz="3200" dirty="0"/>
              <a:t> used in NLP tasks?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39322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Spam Detection </a:t>
            </a:r>
          </a:p>
          <a:p>
            <a:pPr marL="0" indent="0">
              <a:buNone/>
            </a:pPr>
            <a:r>
              <a:rPr lang="en-US" dirty="0"/>
              <a:t>→ "free", "winner", "offer" appear? =&gt; Spam!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Sentiment Analysis</a:t>
            </a:r>
          </a:p>
          <a:p>
            <a:pPr marL="0" indent="0">
              <a:buNone/>
            </a:pPr>
            <a:r>
              <a:rPr lang="en-US" dirty="0"/>
              <a:t>→ "love", "hate", "awesome", "bad" words are critical.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Topic Classification</a:t>
            </a:r>
          </a:p>
          <a:p>
            <a:pPr marL="0" indent="0">
              <a:buNone/>
            </a:pPr>
            <a:r>
              <a:rPr lang="en-US" dirty="0"/>
              <a:t>→ "flight", "hotel", "restaurant" words hint about travel vs food.</a:t>
            </a:r>
          </a:p>
        </p:txBody>
      </p:sp>
    </p:spTree>
    <p:extLst>
      <p:ext uri="{BB962C8B-B14F-4D97-AF65-F5344CB8AC3E}">
        <p14:creationId xmlns:p14="http://schemas.microsoft.com/office/powerpoint/2010/main" val="9336826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20588"/>
            <a:ext cx="10515600" cy="582831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5. Text Representation: TF-IDF(see </a:t>
            </a:r>
            <a:r>
              <a:rPr lang="en-US" sz="3200" dirty="0" err="1"/>
              <a:t>jupyter</a:t>
            </a:r>
            <a:r>
              <a:rPr lang="en-US" sz="3200" dirty="0"/>
              <a:t> n/b for </a:t>
            </a:r>
            <a:r>
              <a:rPr lang="en-US" sz="3200" dirty="0" err="1"/>
              <a:t>implementaion</a:t>
            </a:r>
            <a:r>
              <a:rPr lang="en-US" sz="32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819A5-49D0-0EDE-48C0-519D51B07AFA}"/>
              </a:ext>
            </a:extLst>
          </p:cNvPr>
          <p:cNvSpPr txBox="1"/>
          <p:nvPr/>
        </p:nvSpPr>
        <p:spPr>
          <a:xfrm>
            <a:off x="318082" y="1351508"/>
            <a:ext cx="1117396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TF-IDF stands for TF – Term Frequency, IDF – Inverse Document Frequency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evaluate how important a word is in a specific document relative to a collection of documents (corpus).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analyzing text, some words like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"the", "is", "and"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appear everywhere, but they’re not very informative.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TF-IDF helps filter out common 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highlights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are more meaningful to a specific document.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It’s a smarter alternative to Bag of Words — where word frequency alone might mislead the model.</a:t>
            </a:r>
          </a:p>
        </p:txBody>
      </p:sp>
    </p:spTree>
    <p:extLst>
      <p:ext uri="{BB962C8B-B14F-4D97-AF65-F5344CB8AC3E}">
        <p14:creationId xmlns:p14="http://schemas.microsoft.com/office/powerpoint/2010/main" val="28266846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B4C4D-5442-E2B2-FAC2-65958953E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D8DCE-757B-54F7-893B-AA8B71367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082" y="120588"/>
            <a:ext cx="10515600" cy="582831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5. Text Representation: TF-IDF(see </a:t>
            </a:r>
            <a:r>
              <a:rPr lang="en-US" sz="3200" dirty="0" err="1"/>
              <a:t>jupyter</a:t>
            </a:r>
            <a:r>
              <a:rPr lang="en-US" sz="3200" dirty="0"/>
              <a:t> n/b for </a:t>
            </a:r>
            <a:r>
              <a:rPr lang="en-US" sz="3200" dirty="0" err="1"/>
              <a:t>implementaion</a:t>
            </a:r>
            <a:r>
              <a:rPr lang="en-US" sz="3200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B59F73A-520F-3BDB-C1DB-6AD5C08DE6B3}"/>
                  </a:ext>
                </a:extLst>
              </p:cNvPr>
              <p:cNvSpPr txBox="1"/>
              <p:nvPr/>
            </p:nvSpPr>
            <p:spPr>
              <a:xfrm>
                <a:off x="318082" y="4246779"/>
                <a:ext cx="6460930" cy="62235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IDF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</m:d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𝑇𝑜𝑡𝑎𝑙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𝑛𝑢𝑚𝑏𝑒𝑟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𝑑𝑜𝑐𝑢𝑚𝑒𝑛𝑡𝑠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𝑁𝑢𝑚𝑏𝑒𝑟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𝑑𝑜𝑐𝑢𝑚𝑒𝑛𝑡𝑠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𝑐𝑜𝑛𝑡𝑎𝑖𝑛𝑖𝑛𝑔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B59F73A-520F-3BDB-C1DB-6AD5C08DE6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082" y="4246779"/>
                <a:ext cx="6460930" cy="6223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1AFCE66-DE09-EDCA-7422-151DF242DD6A}"/>
              </a:ext>
            </a:extLst>
          </p:cNvPr>
          <p:cNvSpPr txBox="1"/>
          <p:nvPr/>
        </p:nvSpPr>
        <p:spPr>
          <a:xfrm>
            <a:off x="8374713" y="4004946"/>
            <a:ext cx="3439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Measures how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uniques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/rare the word is across all documents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79A533-606F-4A1F-E22C-9BE99EAB76C9}"/>
              </a:ext>
            </a:extLst>
          </p:cNvPr>
          <p:cNvSpPr txBox="1"/>
          <p:nvPr/>
        </p:nvSpPr>
        <p:spPr>
          <a:xfrm>
            <a:off x="8374713" y="1902097"/>
            <a:ext cx="3365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Measures how often a term appears in a documents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1C5D2C-8036-3C4D-926B-617C67E87160}"/>
                  </a:ext>
                </a:extLst>
              </p:cNvPr>
              <p:cNvSpPr txBox="1"/>
              <p:nvPr/>
            </p:nvSpPr>
            <p:spPr>
              <a:xfrm>
                <a:off x="451624" y="1902097"/>
                <a:ext cx="6606873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/>
                        <m:e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𝑁𝑢𝑚𝑏𝑒𝑟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𝑡𝑖𝑚𝑒𝑠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𝑡𝑒𝑟𝑚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𝑎𝑝𝑝𝑒𝑎𝑟𝑠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𝑑𝑜𝑐𝑢𝑚𝑒𝑛𝑡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𝑇𝑜𝑡𝑎𝑙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𝑛𝑢𝑚𝑏𝑒𝑟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𝑡𝑒𝑟𝑚𝑠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1C5D2C-8036-3C4D-926B-617C67E87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24" y="1902097"/>
                <a:ext cx="6606873" cy="6223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ABEDE36-0342-CB14-3DBB-5B7F3E261C00}"/>
              </a:ext>
            </a:extLst>
          </p:cNvPr>
          <p:cNvSpPr txBox="1"/>
          <p:nvPr/>
        </p:nvSpPr>
        <p:spPr>
          <a:xfrm>
            <a:off x="569967" y="1259478"/>
            <a:ext cx="2357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NOTE: log is to the base 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15E538-4840-5CD3-4034-5D3D07080195}"/>
                  </a:ext>
                </a:extLst>
              </p:cNvPr>
              <p:cNvSpPr txBox="1"/>
              <p:nvPr/>
            </p:nvSpPr>
            <p:spPr>
              <a:xfrm>
                <a:off x="451624" y="3100775"/>
                <a:ext cx="669343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𝑁𝑢𝑚𝑏𝑒𝑟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𝑡𝑖𝑚𝑒𝑠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𝑡𝑒𝑟𝑚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𝑎𝑝𝑝𝑒𝑎𝑟𝑠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𝑑𝑜𝑐𝑢𝑚𝑒𝑛𝑡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𝑇𝑜𝑡𝑎𝑙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𝑛𝑢𝑚𝑏𝑒𝑟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𝑡𝑒𝑟𝑚𝑠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15E538-4840-5CD3-4034-5D3D070801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24" y="3100775"/>
                <a:ext cx="6693435" cy="6223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0A187EAD-6139-8285-A1A3-C163796783D3}"/>
              </a:ext>
            </a:extLst>
          </p:cNvPr>
          <p:cNvSpPr txBox="1"/>
          <p:nvPr/>
        </p:nvSpPr>
        <p:spPr>
          <a:xfrm>
            <a:off x="569967" y="252444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</a:t>
            </a:r>
            <a:endParaRPr lang="en-IN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FE5CE7-A633-C5FE-684A-EB6401619DB2}"/>
              </a:ext>
            </a:extLst>
          </p:cNvPr>
          <p:cNvSpPr txBox="1"/>
          <p:nvPr/>
        </p:nvSpPr>
        <p:spPr>
          <a:xfrm>
            <a:off x="451624" y="5730579"/>
            <a:ext cx="34900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TF-IDF (t, d) = TF( t, d ) x  IDF( t )</a:t>
            </a:r>
          </a:p>
        </p:txBody>
      </p:sp>
    </p:spTree>
    <p:extLst>
      <p:ext uri="{BB962C8B-B14F-4D97-AF65-F5344CB8AC3E}">
        <p14:creationId xmlns:p14="http://schemas.microsoft.com/office/powerpoint/2010/main" val="41793568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38069-A49E-B36C-FB5C-5F10836BE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040" y="75874"/>
            <a:ext cx="5310674" cy="502621"/>
          </a:xfrm>
        </p:spPr>
        <p:txBody>
          <a:bodyPr>
            <a:noAutofit/>
          </a:bodyPr>
          <a:lstStyle/>
          <a:p>
            <a:r>
              <a:rPr lang="en-US" sz="3200" dirty="0"/>
              <a:t>5. Text Representation: TF-IDF</a:t>
            </a:r>
            <a:endParaRPr lang="en-IN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F5AE08-3FF6-D8EE-51EF-AD97C872C4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890" y="1323754"/>
            <a:ext cx="9090783" cy="52916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99A332-ECD5-5E14-0162-C5717C2706BD}"/>
              </a:ext>
            </a:extLst>
          </p:cNvPr>
          <p:cNvSpPr txBox="1"/>
          <p:nvPr/>
        </p:nvSpPr>
        <p:spPr>
          <a:xfrm>
            <a:off x="783771" y="774441"/>
            <a:ext cx="2775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Variants of Term frequency:</a:t>
            </a:r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81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88957"/>
            <a:ext cx="5604546" cy="456996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5. Text Representation: TF-IDF (Example)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7" y="4716660"/>
            <a:ext cx="7519025" cy="211267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11936" y="919198"/>
            <a:ext cx="3156117" cy="42081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5273" y="4232002"/>
            <a:ext cx="1486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TF-IDF values: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7EA73-0C3B-D942-637C-87F654D60E90}"/>
              </a:ext>
            </a:extLst>
          </p:cNvPr>
          <p:cNvSpPr txBox="1"/>
          <p:nvPr/>
        </p:nvSpPr>
        <p:spPr>
          <a:xfrm>
            <a:off x="97928" y="670480"/>
            <a:ext cx="685151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say you have 3 documents: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d1: "Delta provides great service“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d2: "United offers great food“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d3: "Great airlines offer comfort“</a:t>
            </a:r>
          </a:p>
          <a:p>
            <a:pPr marL="0" indent="0">
              <a:buNone/>
            </a:pPr>
            <a:endParaRPr lang="en-US" sz="1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word "great" appears in 3 documents — so its IDF will be low(0.71) (not unique).</a:t>
            </a:r>
          </a:p>
          <a:p>
            <a:pPr marL="0" indent="0">
              <a:buNone/>
            </a:pPr>
            <a:endParaRPr lang="en-US" sz="1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the word "comfort" appears only once — so it has a high IDF(1.4).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TF-IDF will highlight "comfort" over "great", since "great" is common and not very informative.</a:t>
            </a:r>
          </a:p>
        </p:txBody>
      </p:sp>
    </p:spTree>
    <p:extLst>
      <p:ext uri="{BB962C8B-B14F-4D97-AF65-F5344CB8AC3E}">
        <p14:creationId xmlns:p14="http://schemas.microsoft.com/office/powerpoint/2010/main" val="30263256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277"/>
          </a:xfrm>
        </p:spPr>
        <p:txBody>
          <a:bodyPr>
            <a:normAutofit/>
          </a:bodyPr>
          <a:lstStyle/>
          <a:p>
            <a:r>
              <a:rPr lang="en-US" sz="3200" dirty="0"/>
              <a:t>5. Text Representation: What is document in TF-IDF?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76F66-AD31-D812-B4A2-C42B8D9E2786}"/>
              </a:ext>
            </a:extLst>
          </p:cNvPr>
          <p:cNvSpPr txBox="1"/>
          <p:nvPr/>
        </p:nvSpPr>
        <p:spPr>
          <a:xfrm>
            <a:off x="701040" y="1674013"/>
            <a:ext cx="1121359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practice: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you’re analyzing tweets, each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tweet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“document.”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news classification, each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article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“document.”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summarization, each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paragraph or longer 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treated as a “document.”</a:t>
            </a:r>
          </a:p>
        </p:txBody>
      </p:sp>
    </p:spTree>
    <p:extLst>
      <p:ext uri="{BB962C8B-B14F-4D97-AF65-F5344CB8AC3E}">
        <p14:creationId xmlns:p14="http://schemas.microsoft.com/office/powerpoint/2010/main" val="2570554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88956"/>
            <a:ext cx="10515600" cy="582831"/>
          </a:xfrm>
        </p:spPr>
        <p:txBody>
          <a:bodyPr>
            <a:normAutofit/>
          </a:bodyPr>
          <a:lstStyle/>
          <a:p>
            <a:r>
              <a:rPr lang="en-US" sz="3200" dirty="0"/>
              <a:t>5. Text Representation: TF-IDF, how does it help?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EAE422-2927-8BF9-58D6-28EFAF85EAED}"/>
              </a:ext>
            </a:extLst>
          </p:cNvPr>
          <p:cNvSpPr txBox="1"/>
          <p:nvPr/>
        </p:nvSpPr>
        <p:spPr>
          <a:xfrm>
            <a:off x="571500" y="1270338"/>
            <a:ext cx="72009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Filters out common, less informative words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Keeps meaningful, rare keywords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Improves performance in: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classification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engines (e.g., Google ranking)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 similarity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Keyword extraction</a:t>
            </a:r>
          </a:p>
        </p:txBody>
      </p:sp>
    </p:spTree>
    <p:extLst>
      <p:ext uri="{BB962C8B-B14F-4D97-AF65-F5344CB8AC3E}">
        <p14:creationId xmlns:p14="http://schemas.microsoft.com/office/powerpoint/2010/main" val="29297806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88956"/>
            <a:ext cx="10515600" cy="582831"/>
          </a:xfrm>
        </p:spPr>
        <p:txBody>
          <a:bodyPr>
            <a:normAutofit/>
          </a:bodyPr>
          <a:lstStyle/>
          <a:p>
            <a:r>
              <a:rPr lang="en-US" sz="3200" dirty="0"/>
              <a:t>5. Text Representation: Word </a:t>
            </a:r>
            <a:r>
              <a:rPr lang="en-US" sz="3200" dirty="0" err="1"/>
              <a:t>embeddings</a:t>
            </a: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B377DB-53A7-59BE-032E-CF8B4DD2B5D9}"/>
              </a:ext>
            </a:extLst>
          </p:cNvPr>
          <p:cNvSpPr txBox="1"/>
          <p:nvPr/>
        </p:nvSpPr>
        <p:spPr>
          <a:xfrm>
            <a:off x="162634" y="1984909"/>
            <a:ext cx="1155997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Word2Vec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powerful method developed by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Google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Create these embeddings using a neural network. It converts each word into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fixed-size vector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100-300 dimensions),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captures context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by training on large corpora.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represents words in a continuous vector space where semantically similar words are mapped to nearby points</a:t>
            </a:r>
          </a:p>
        </p:txBody>
      </p:sp>
    </p:spTree>
    <p:extLst>
      <p:ext uri="{BB962C8B-B14F-4D97-AF65-F5344CB8AC3E}">
        <p14:creationId xmlns:p14="http://schemas.microsoft.com/office/powerpoint/2010/main" val="16557280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88956"/>
            <a:ext cx="10515600" cy="582831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5. Text Representation: Word </a:t>
            </a:r>
            <a:r>
              <a:rPr lang="en-US" sz="3200" dirty="0" err="1"/>
              <a:t>embeddings</a:t>
            </a:r>
            <a:r>
              <a:rPr lang="en-US" sz="3200" dirty="0"/>
              <a:t>, Word2Vec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30CB80-58AF-6EE5-2B10-5C88B2019B58}"/>
              </a:ext>
            </a:extLst>
          </p:cNvPr>
          <p:cNvSpPr txBox="1"/>
          <p:nvPr/>
        </p:nvSpPr>
        <p:spPr>
          <a:xfrm>
            <a:off x="318082" y="1056007"/>
            <a:ext cx="858621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Word2Vec Works (High Level)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has two main architectures: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CBOW (Continuous Bag of Words):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Predicts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target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word from its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words.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"The cat sat on the ___" → Predict: "mat"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Skip-Gram: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Predicts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words from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target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word.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Given "sat" → Predict words like "cat", "on", "the"</a:t>
            </a:r>
          </a:p>
        </p:txBody>
      </p:sp>
    </p:spTree>
    <p:extLst>
      <p:ext uri="{BB962C8B-B14F-4D97-AF65-F5344CB8AC3E}">
        <p14:creationId xmlns:p14="http://schemas.microsoft.com/office/powerpoint/2010/main" val="35142771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88956"/>
            <a:ext cx="10515600" cy="582831"/>
          </a:xfrm>
        </p:spPr>
        <p:txBody>
          <a:bodyPr>
            <a:normAutofit/>
          </a:bodyPr>
          <a:lstStyle/>
          <a:p>
            <a:r>
              <a:rPr lang="en-US" sz="3200" dirty="0"/>
              <a:t>5. Text Representation: Word </a:t>
            </a:r>
            <a:r>
              <a:rPr lang="en-US" sz="3200" dirty="0" err="1"/>
              <a:t>embeddings</a:t>
            </a:r>
            <a:r>
              <a:rPr lang="en-US" sz="3200"/>
              <a:t> (</a:t>
            </a:r>
            <a:r>
              <a:rPr lang="en-US" sz="3200" b="1" dirty="0"/>
              <a:t>Word2Vec)</a:t>
            </a: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B3EC54-C00B-B880-06CC-AACEF9B5B464}"/>
              </a:ext>
            </a:extLst>
          </p:cNvPr>
          <p:cNvSpPr txBox="1"/>
          <p:nvPr/>
        </p:nvSpPr>
        <p:spPr>
          <a:xfrm>
            <a:off x="740664" y="2136339"/>
            <a:ext cx="1136599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is Word2Vec powerful?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Because it learns relationships like:</a:t>
            </a:r>
          </a:p>
          <a:p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vec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("King") -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vec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("Man") +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vec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("Woman") ≈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vec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("Queen")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Words like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["apple", "banana", "mango"]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end up near each other in vector space.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Captures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synonyms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analogies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 even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grammatical similarities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Library used: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gensim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43793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1271</TotalTime>
  <Words>4350</Words>
  <Application>Microsoft Office PowerPoint</Application>
  <PresentationFormat>Widescreen</PresentationFormat>
  <Paragraphs>628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Cambria Math</vt:lpstr>
      <vt:lpstr>Wingdings</vt:lpstr>
      <vt:lpstr>Office Theme</vt:lpstr>
      <vt:lpstr>NLP 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4.1) POS Tagging</vt:lpstr>
      <vt:lpstr>4.1) POS Tagging: Realistic Examples + How It's Used(p2)</vt:lpstr>
      <vt:lpstr>4.1) POS Tagging: Realistic Examples + How It's Used(p3)</vt:lpstr>
      <vt:lpstr>4.1) POS Tagging: Libraries used(p4)</vt:lpstr>
      <vt:lpstr>4.2) Normalization: Lemmatization(p1)</vt:lpstr>
      <vt:lpstr>4.2) Normalization: Stemming(p2)</vt:lpstr>
      <vt:lpstr>4.2) Normalization: Expanding Contractions(p3)</vt:lpstr>
      <vt:lpstr>5. Text Representation: N-gram</vt:lpstr>
      <vt:lpstr>PowerPoint Presentation</vt:lpstr>
      <vt:lpstr>PowerPoint Presentation</vt:lpstr>
      <vt:lpstr>5. Text Representation: Where is BoW used in NLP tasks?</vt:lpstr>
      <vt:lpstr>5. Text Representation: TF-IDF(see jupyter n/b for implementaion)</vt:lpstr>
      <vt:lpstr>5. Text Representation: TF-IDF(see jupyter n/b for implementaion)</vt:lpstr>
      <vt:lpstr>5. Text Representation: TF-IDF</vt:lpstr>
      <vt:lpstr>5. Text Representation: TF-IDF (Example)</vt:lpstr>
      <vt:lpstr>5. Text Representation: What is document in TF-IDF?</vt:lpstr>
      <vt:lpstr>5. Text Representation: TF-IDF, how does it help?</vt:lpstr>
      <vt:lpstr>5. Text Representation: Word embeddings</vt:lpstr>
      <vt:lpstr>5. Text Representation: Word embeddings, Word2Vec Architecture</vt:lpstr>
      <vt:lpstr>5. Text Representation: Word embeddings (Word2Vec)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213</cp:revision>
  <dcterms:created xsi:type="dcterms:W3CDTF">2025-09-22T02:44:38Z</dcterms:created>
  <dcterms:modified xsi:type="dcterms:W3CDTF">2026-04-19T11:05:52Z</dcterms:modified>
</cp:coreProperties>
</file>