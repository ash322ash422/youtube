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3"/>
  </p:notesMasterIdLst>
  <p:handoutMasterIdLst>
    <p:handoutMasterId r:id="rId14"/>
  </p:handoutMasterIdLst>
  <p:sldIdLst>
    <p:sldId id="257" r:id="rId2"/>
    <p:sldId id="277" r:id="rId3"/>
    <p:sldId id="278" r:id="rId4"/>
    <p:sldId id="279" r:id="rId5"/>
    <p:sldId id="280" r:id="rId6"/>
    <p:sldId id="281" r:id="rId7"/>
    <p:sldId id="282" r:id="rId8"/>
    <p:sldId id="283" r:id="rId9"/>
    <p:sldId id="284" r:id="rId10"/>
    <p:sldId id="275" r:id="rId11"/>
    <p:sldId id="285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4" d="100"/>
          <a:sy n="84" d="100"/>
        </p:scale>
        <p:origin x="3054" y="9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1ACA3A45-07AA-881E-EBAC-FAE1FFF9B3B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72C2385-62BD-1B9C-A617-554DDB21E0F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BAEECA8-D063-486F-AE31-5020270C1449}" type="datetimeFigureOut">
              <a:rPr lang="en-US" smtClean="0"/>
              <a:t>4/25/2026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5328A6F-7933-1F9C-E9F6-B4A61026FBA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6F9A57F-3A38-6EDA-B76D-A3DB4F6978A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793F6CE-D1D9-4B7B-9040-C7CAC074A6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61335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B233BD1-3BA8-448D-9D08-7846095EA517}" type="datetimeFigureOut">
              <a:rPr lang="en-US" smtClean="0"/>
              <a:t>4/25/2026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C63499C-1FAC-4F66-96F8-6DA2CC28B7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75397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EB0F26-247A-F2E0-8FBA-6EA7974D69E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394F308-CEE8-92BC-D91A-4212DEA015D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2794D3-11DF-A675-8D28-EC65EF2752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4/25/2026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53FDAF-B83A-AE0A-B811-B7195D37FD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9530BD-9515-D107-426C-B72742CBF0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92826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CE7E77-8771-0BA4-B1D5-7F1DE0138C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43F30B-85C4-D934-2F30-179E3FCE94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8EF7AF-5CE7-4387-31F9-79D3562060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4/25/2026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FCCC03-E434-4684-B55E-3F2D399169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1F3B05-B983-07A3-4B58-9D2E184388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60364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223C21-D6A5-2D17-9BFA-70B3353D6A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92D89B8-191B-6AAD-5D5E-32B3572657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CC528A-1563-9376-E089-4DA80AD11D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4/25/2026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19A01D-6FDA-C269-FF95-3FDB205C8E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980A21-61AC-4B39-D886-3A327DB734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11140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903C29-6DED-2A1F-5B4D-128B63652F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494ECB-0FCA-1AD0-F19A-27A4C16DC0F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07402C2-E657-5A54-9627-8C9CBCBBE0A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501FADA-AE3E-B30F-6353-BF0478CF0E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4/25/2026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16B517-96D7-6416-0C24-B14942ADD4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546F179-BF2F-393A-1AA6-C893B7B9FA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58523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950483-A0C8-BF5B-61DE-39BC6FF9C1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46DB55B-C040-F211-BC81-97628EA484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593EEAE-1CB3-AAC8-5818-D61E389EF1E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ACE50F0-1141-D645-3892-2DA29633A37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32E976C-52C7-C22D-28F7-B21E295185E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797D00B-0B76-5C50-686B-A01396FCD6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4/25/2026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B842B8D-3B74-4B67-9462-6D2C7ED9AD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992D4BE-CE8C-0250-FE7D-1F370E25FE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57502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CDBE28-2732-66A2-163C-433854615E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270F3D6-B4BC-015F-96FA-1720B040CC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4/25/2026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1168A87-13A5-0A5A-4D74-C75E277755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DD6D7CB-BD93-54BE-CB47-7FBA06B184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46508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4114B-4550-9F52-0EF5-D1E9CF2FD3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4/25/2026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BF3136E-0C79-F4F5-F24E-D5FF71CDB5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2E2157-F670-A339-0CB7-7399568D5A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65014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802A98-8738-1E16-A16E-D8858EEA76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FC67E5-1169-257D-D9E7-C7B952C213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0B2CF6C-0F85-566A-86BC-CBFEB17E755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A64F0FC-ECB8-638F-A224-98FFA82707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4/25/2026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8095B89-4DC8-435E-3545-6187AD3E00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71B68CF-9592-FB7C-B517-0CC962C8B6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43007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3E2BC2-F728-2BA5-C848-31FA3458AD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957B909-12C3-703B-57E9-008076312F6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DAE4D7A-BC41-33D0-D36D-08BB5C2C594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B17FB83-437D-9293-0B99-2DC89A047D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4/25/2026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EDF5674-4DC1-3171-8FEB-C280686D41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D431F6-5490-78BA-7028-0BD08BF1A0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08603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B3002A-A21A-4F99-1BCE-F61C85D7B6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0E85D03-9A7F-4A9E-379E-2DEA86D21FC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DEEFB4-95FB-FEDD-75E7-143E7ED29C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4/25/2026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BCE0D7-1712-FF0C-D965-BFD5AE1610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2632A1-4243-F65B-A2B0-3F2142C341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50797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2293F13-2480-AB35-1A68-57A54CE6CD6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BDA286C-2521-2961-CABA-5684DF43FB2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D5FF44-F63B-872A-DC8D-A873790A64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4/25/2026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653A11-7793-38C6-0506-A6FBE9A02A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0962C0-F018-7629-445C-DDCA8AE140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29988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3CEE1C2-DF65-6CAD-D1EF-2245084043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6AFB6A6-8766-C849-1846-0F38750241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55176B-E136-1615-D0B5-186783ACB8F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83FAE1-13DE-4511-8C1B-C8AFB720664C}" type="datetimeFigureOut">
              <a:rPr lang="en-US" smtClean="0"/>
              <a:t>4/25/2026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5AAAF6-4731-DB91-AB26-A07CEF1B9D2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14165E-BEE7-F086-BE90-50642610F09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F3932AB-6107-98C9-CEDA-32A7DF597298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08" t="39529" r="41606" b="46715"/>
          <a:stretch>
            <a:fillRect/>
          </a:stretch>
        </p:blipFill>
        <p:spPr>
          <a:xfrm>
            <a:off x="212435" y="136524"/>
            <a:ext cx="1330037" cy="1025209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CA22C5A-FA6D-B699-950E-8D249A969331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08" t="39529" r="41606" b="46715"/>
          <a:stretch>
            <a:fillRect/>
          </a:stretch>
        </p:blipFill>
        <p:spPr>
          <a:xfrm>
            <a:off x="10855909" y="185738"/>
            <a:ext cx="1123656" cy="866128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</p:spTree>
    <p:extLst>
      <p:ext uri="{BB962C8B-B14F-4D97-AF65-F5344CB8AC3E}">
        <p14:creationId xmlns:p14="http://schemas.microsoft.com/office/powerpoint/2010/main" val="14999731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accent6">
              <a:lumMod val="60000"/>
              <a:lumOff val="40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81508872-44FE-C987-D1E3-A093E1C9B1C1}"/>
              </a:ext>
            </a:extLst>
          </p:cNvPr>
          <p:cNvSpPr txBox="1"/>
          <p:nvPr/>
        </p:nvSpPr>
        <p:spPr>
          <a:xfrm>
            <a:off x="383458" y="36855"/>
            <a:ext cx="11348294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1. What is NLP Pipeline?</a:t>
            </a:r>
          </a:p>
          <a:p>
            <a:endParaRPr lang="en-US" sz="24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An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NLP pipeline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is a sequence of steps to convert raw text into a format a model can understand.</a:t>
            </a:r>
          </a:p>
          <a:p>
            <a:endParaRPr lang="en-US" sz="24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Pipeline Flow: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Raw Text → Tokenization → Integer Encoding → Padding → Embeddings → Model (RNN)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The model could be sentence-completion, sentiment analysis, etc.</a:t>
            </a:r>
          </a:p>
        </p:txBody>
      </p:sp>
    </p:spTree>
    <p:extLst>
      <p:ext uri="{BB962C8B-B14F-4D97-AF65-F5344CB8AC3E}">
        <p14:creationId xmlns:p14="http://schemas.microsoft.com/office/powerpoint/2010/main" val="422119331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718CA1-F79B-6944-D6D7-268990BAC9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1EF08A55-79E1-9E6E-901F-A55D5BD70E40}"/>
              </a:ext>
            </a:extLst>
          </p:cNvPr>
          <p:cNvSpPr txBox="1"/>
          <p:nvPr/>
        </p:nvSpPr>
        <p:spPr>
          <a:xfrm>
            <a:off x="383458" y="36855"/>
            <a:ext cx="11348294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2. Tokenization</a:t>
            </a:r>
          </a:p>
          <a:p>
            <a:endParaRPr lang="en-US" sz="24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Concept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Tokenization = Breaking text into smaller units (words/</a:t>
            </a:r>
            <a:r>
              <a:rPr lang="en-US" sz="24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subwords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)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Example: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"I love Cherry" → ["I", "love", “Cherry"]</a:t>
            </a:r>
          </a:p>
        </p:txBody>
      </p:sp>
    </p:spTree>
    <p:extLst>
      <p:ext uri="{BB962C8B-B14F-4D97-AF65-F5344CB8AC3E}">
        <p14:creationId xmlns:p14="http://schemas.microsoft.com/office/powerpoint/2010/main" val="293601378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9DA5E4-4A29-16D5-D06D-BFAED4BCB0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123E90E-133C-A1F6-CD7A-6FD947AB35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351" y="139842"/>
            <a:ext cx="6984506" cy="404236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9887B60F-26A8-E59D-71A2-56A7E5E604E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2563" y="4617720"/>
            <a:ext cx="7601455" cy="609446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65872621-5304-34CB-FCD3-591757C6A47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2563" y="5227166"/>
            <a:ext cx="9123540" cy="4355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577492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30E007-A685-7519-80F9-DD6BDF2788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ECEFE28C-2895-3D3F-5BBC-6442123FF15E}"/>
              </a:ext>
            </a:extLst>
          </p:cNvPr>
          <p:cNvSpPr txBox="1"/>
          <p:nvPr/>
        </p:nvSpPr>
        <p:spPr>
          <a:xfrm>
            <a:off x="201168" y="154770"/>
            <a:ext cx="9884664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3. Text → Sequences (Integer Encoding)</a:t>
            </a:r>
          </a:p>
          <a:p>
            <a:pPr>
              <a:buNone/>
            </a:pPr>
            <a:endParaRPr lang="en-US" sz="24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Convert words into numbers:</a:t>
            </a:r>
          </a:p>
          <a:p>
            <a:pPr>
              <a:buNone/>
            </a:pP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Example:</a:t>
            </a:r>
          </a:p>
          <a:p>
            <a:pPr rtl="0"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  <a:latin typeface="Courier New" panose="02070309020205020404" pitchFamily="49" charset="0"/>
              </a:rPr>
              <a:t>"I love Cherry" → [3, 4, 7]</a:t>
            </a:r>
          </a:p>
        </p:txBody>
      </p:sp>
    </p:spTree>
    <p:extLst>
      <p:ext uri="{BB962C8B-B14F-4D97-AF65-F5344CB8AC3E}">
        <p14:creationId xmlns:p14="http://schemas.microsoft.com/office/powerpoint/2010/main" val="316941413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02BFA3-7B3E-3327-1EFE-6C6EBBD84E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AE8AA15E-71D9-897C-3EEC-51A7DCFF0F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545" y="73152"/>
            <a:ext cx="8209313" cy="41558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793295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24E3E8-9CFE-299D-FDB0-DB8A53D56A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C6A746B-347D-2B09-8595-15D11C06E14C}"/>
              </a:ext>
            </a:extLst>
          </p:cNvPr>
          <p:cNvSpPr txBox="1"/>
          <p:nvPr/>
        </p:nvSpPr>
        <p:spPr>
          <a:xfrm>
            <a:off x="246888" y="229261"/>
            <a:ext cx="10762488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4. Padding (Very Important)</a:t>
            </a:r>
          </a:p>
          <a:p>
            <a:pPr>
              <a:buNone/>
            </a:pPr>
            <a:endParaRPr lang="en-US" sz="24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>
              <a:buNone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Problem:</a:t>
            </a:r>
          </a:p>
          <a:p>
            <a:pPr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Different sentences have different lengths → Neural networks need fixed size</a:t>
            </a:r>
          </a:p>
          <a:p>
            <a:pPr>
              <a:buNone/>
            </a:pPr>
            <a:endParaRPr lang="en-US" sz="24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>
              <a:buNone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Solution:</a:t>
            </a:r>
          </a:p>
          <a:p>
            <a:pPr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Add zeros (padding)</a:t>
            </a:r>
          </a:p>
        </p:txBody>
      </p:sp>
    </p:spTree>
    <p:extLst>
      <p:ext uri="{BB962C8B-B14F-4D97-AF65-F5344CB8AC3E}">
        <p14:creationId xmlns:p14="http://schemas.microsoft.com/office/powerpoint/2010/main" val="89657300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DFA1D0-D396-685B-EFB6-B37C621266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C96143B5-EC6A-7292-B5E1-D94303D002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6661" y="5129784"/>
            <a:ext cx="3087073" cy="1448257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68EFCEF1-10DF-86DD-D2EF-56648FAFE893}"/>
              </a:ext>
            </a:extLst>
          </p:cNvPr>
          <p:cNvSpPr txBox="1"/>
          <p:nvPr/>
        </p:nvSpPr>
        <p:spPr>
          <a:xfrm>
            <a:off x="5184648" y="4587163"/>
            <a:ext cx="6716268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padding='pre' → add zeros at start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padding='post' → add zeros at end (recommended)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EEF9953-3A08-54AD-13BF-6E7827A7995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222" y="64008"/>
            <a:ext cx="8768107" cy="41617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84426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0D236A-9FCF-ACC0-A29E-5EAA6D3720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DCA9EE0-4452-B3CD-4801-D3C4BA0369EA}"/>
              </a:ext>
            </a:extLst>
          </p:cNvPr>
          <p:cNvSpPr txBox="1"/>
          <p:nvPr/>
        </p:nvSpPr>
        <p:spPr>
          <a:xfrm>
            <a:off x="402336" y="154770"/>
            <a:ext cx="8801100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5. Embeddings (Core Concept)</a:t>
            </a:r>
          </a:p>
          <a:p>
            <a:pPr>
              <a:buNone/>
            </a:pPr>
            <a:endParaRPr lang="en-US" sz="24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>
              <a:buNone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👉 Problem:</a:t>
            </a:r>
          </a:p>
          <a:p>
            <a:pPr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Numbers like 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  <a:latin typeface="Courier New" panose="02070309020205020404" pitchFamily="49" charset="0"/>
              </a:rPr>
              <a:t>[3,4,7]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have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no meaning</a:t>
            </a: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>
              <a:buNone/>
            </a:pPr>
            <a:endParaRPr lang="en-US" sz="24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>
              <a:buNone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👉 Solution:</a:t>
            </a:r>
          </a:p>
          <a:p>
            <a:pPr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Convert into dense vectors</a:t>
            </a:r>
          </a:p>
          <a:p>
            <a:pPr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Example:</a:t>
            </a:r>
          </a:p>
          <a:p>
            <a:pPr rtl="0"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  <a:latin typeface="Courier New" panose="02070309020205020404" pitchFamily="49" charset="0"/>
              </a:rPr>
              <a:t>3 → [0.2, -0.1, 0.9, -0.2, 0.003]</a:t>
            </a:r>
          </a:p>
        </p:txBody>
      </p:sp>
    </p:spTree>
    <p:extLst>
      <p:ext uri="{BB962C8B-B14F-4D97-AF65-F5344CB8AC3E}">
        <p14:creationId xmlns:p14="http://schemas.microsoft.com/office/powerpoint/2010/main" val="428392242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66A600-2A51-B354-1B0A-FE08D2EAD8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3A30F1FA-AA6A-74DA-B236-09D5BFD34C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" y="3495400"/>
            <a:ext cx="6706536" cy="371527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3CEA4326-61EA-B19D-A0BD-1AF5A7BCED2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" y="3916023"/>
            <a:ext cx="8097022" cy="2840898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AD05D794-CD23-7B9F-3A49-9E8B9272F6D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9347124" cy="3429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266662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931D7F-4279-DA2E-FA64-6CF3C441D4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11017D61-8B5D-E6CD-D142-357628E5ADB2}"/>
              </a:ext>
            </a:extLst>
          </p:cNvPr>
          <p:cNvSpPr txBox="1"/>
          <p:nvPr/>
        </p:nvSpPr>
        <p:spPr>
          <a:xfrm>
            <a:off x="196596" y="335203"/>
            <a:ext cx="11516868" cy="52629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Why embedding ? </a:t>
            </a:r>
          </a:p>
          <a:p>
            <a:pPr>
              <a:buNone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1. Captures semantic meaning:  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Embeddings place similar words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closer in vector space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.</a:t>
            </a:r>
          </a:p>
          <a:p>
            <a:pPr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king ≈ queen                    </a:t>
            </a:r>
          </a:p>
          <a:p>
            <a:pPr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apple ≠ king</a:t>
            </a:r>
          </a:p>
          <a:p>
            <a:pPr>
              <a:buNone/>
            </a:pP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2. Fix sparsity problem (better than one-hot encoding)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Without embeddings: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Vocabulary size = 10,000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One-hot vector = 10,000 dimensions (mostly zeros ❌) 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With embeddings: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Dense vector (e.g., 100 dimensions) ✅</a:t>
            </a:r>
            <a:b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</a:b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👉 More efficient + meaningful</a:t>
            </a:r>
          </a:p>
          <a:p>
            <a:pPr>
              <a:buNone/>
            </a:pP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662537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35DBB4-1D41-0EAB-BAE7-616F025E48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FDDE46-5FE9-CCC1-DA8D-04B92FE177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4320" y="136525"/>
            <a:ext cx="11466576" cy="832739"/>
          </a:xfrm>
        </p:spPr>
        <p:txBody>
          <a:bodyPr>
            <a:normAutofit/>
          </a:bodyPr>
          <a:lstStyle/>
          <a:p>
            <a:r>
              <a:rPr lang="en-US" sz="3600" dirty="0"/>
              <a:t>EXTRA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3B29DD8-5515-3BCE-43BC-064288F84D72}"/>
              </a:ext>
            </a:extLst>
          </p:cNvPr>
          <p:cNvSpPr txBox="1"/>
          <p:nvPr/>
        </p:nvSpPr>
        <p:spPr>
          <a:xfrm>
            <a:off x="274320" y="933117"/>
            <a:ext cx="116586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Xxxxxxxxxxx</a:t>
            </a:r>
            <a:endParaRPr lang="en-US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0" indent="0">
              <a:buNone/>
            </a:pPr>
            <a:r>
              <a:rPr lang="en-US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xxxxxxxxxxxx</a:t>
            </a:r>
            <a:endParaRPr lang="en-US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4550819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What is Statistics</Template>
  <TotalTime>1171</TotalTime>
  <Words>284</Words>
  <Application>Microsoft Office PowerPoint</Application>
  <PresentationFormat>Widescreen</PresentationFormat>
  <Paragraphs>54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Arial</vt:lpstr>
      <vt:lpstr>Calibri</vt:lpstr>
      <vt:lpstr>Calibri Light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EXTRA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Ashwani Kumar</dc:creator>
  <cp:lastModifiedBy>Ashwani Kumar</cp:lastModifiedBy>
  <cp:revision>185</cp:revision>
  <dcterms:created xsi:type="dcterms:W3CDTF">2025-09-22T02:44:38Z</dcterms:created>
  <dcterms:modified xsi:type="dcterms:W3CDTF">2026-04-25T12:08:54Z</dcterms:modified>
</cp:coreProperties>
</file>