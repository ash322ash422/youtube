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7" r:id="rId3"/>
    <p:sldId id="283" r:id="rId4"/>
    <p:sldId id="284" r:id="rId5"/>
    <p:sldId id="285" r:id="rId6"/>
    <p:sldId id="282" r:id="rId7"/>
    <p:sldId id="278" r:id="rId8"/>
    <p:sldId id="279" r:id="rId9"/>
    <p:sldId id="280" r:id="rId10"/>
    <p:sldId id="281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735C0C-C60D-AB4D-9C7D-03DFC9742AED}"/>
              </a:ext>
            </a:extLst>
          </p:cNvPr>
          <p:cNvSpPr txBox="1"/>
          <p:nvPr/>
        </p:nvSpPr>
        <p:spPr>
          <a:xfrm>
            <a:off x="1207008" y="1390549"/>
            <a:ext cx="91074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Goals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By the end of the class, students should: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sequential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Grasp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traditional ML fails for sequences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intuition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Implement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RNN in TensorFlow/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D7F3-200E-051E-C734-46986F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E1C713-F72D-D22E-CA9B-EB1C59A79116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Autocompletion by google in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search/email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near me to                       -&gt; eat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Recurrent Neural         -&gt; Network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Thanks, and                                  -&gt; regards.</a:t>
            </a:r>
          </a:p>
        </p:txBody>
      </p:sp>
    </p:spTree>
    <p:extLst>
      <p:ext uri="{BB962C8B-B14F-4D97-AF65-F5344CB8AC3E}">
        <p14:creationId xmlns:p14="http://schemas.microsoft.com/office/powerpoint/2010/main" val="1380325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4BA4-8841-D3FA-163E-24196BB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1676B-10E6-DA94-301A-7B0EA0AF1D9C}"/>
              </a:ext>
            </a:extLst>
          </p:cNvPr>
          <p:cNvSpPr txBox="1"/>
          <p:nvPr/>
        </p:nvSpPr>
        <p:spPr>
          <a:xfrm>
            <a:off x="403184" y="311557"/>
            <a:ext cx="9564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translation: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BDED4-0B69-A98E-156C-1900574F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46" y="1511886"/>
            <a:ext cx="6622515" cy="2554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3D799-27F4-DDC2-A0CE-FB61D926D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6" y="4226591"/>
            <a:ext cx="6603490" cy="255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7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ACF9-90D7-8583-5553-E47B79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38277-D55E-7E01-1558-1001EDE28DF6}"/>
              </a:ext>
            </a:extLst>
          </p:cNvPr>
          <p:cNvSpPr txBox="1"/>
          <p:nvPr/>
        </p:nvSpPr>
        <p:spPr>
          <a:xfrm>
            <a:off x="374904" y="311557"/>
            <a:ext cx="59710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Doe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in Bangalore. He met Lomax Kumar at Google headquarters in California. The meeting happened on 12 January 2024.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16690-A986-65F0-C594-AD71A2819CA1}"/>
              </a:ext>
            </a:extLst>
          </p:cNvPr>
          <p:cNvSpPr txBox="1"/>
          <p:nvPr/>
        </p:nvSpPr>
        <p:spPr>
          <a:xfrm>
            <a:off x="6535839" y="754353"/>
            <a:ext cx="244790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  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I-ORG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Bangalore 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Lomax      → B-PER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Kumar      → I-PER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    → B-ORG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headquarters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California → B-LOC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C9C6C-252A-EC74-9A35-7E6F909B00AE}"/>
              </a:ext>
            </a:extLst>
          </p:cNvPr>
          <p:cNvSpPr txBox="1"/>
          <p:nvPr/>
        </p:nvSpPr>
        <p:spPr>
          <a:xfrm>
            <a:off x="9417707" y="1702706"/>
            <a:ext cx="26203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happened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 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12         → B-DATE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January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2024       → I-DATE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         → 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EED21D-8E7D-C5CD-1E12-5264019D3620}"/>
              </a:ext>
            </a:extLst>
          </p:cNvPr>
          <p:cNvSpPr txBox="1"/>
          <p:nvPr/>
        </p:nvSpPr>
        <p:spPr>
          <a:xfrm>
            <a:off x="400640" y="3567946"/>
            <a:ext cx="619341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Tag meanings: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Beginning of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I-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Inside entity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Outside (not an entity) </a:t>
            </a:r>
          </a:p>
          <a:p>
            <a:pPr>
              <a:buNone/>
            </a:pP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Entity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PER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Person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ORG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Organization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LOC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→ Date</a:t>
            </a:r>
          </a:p>
        </p:txBody>
      </p:sp>
    </p:spTree>
    <p:extLst>
      <p:ext uri="{BB962C8B-B14F-4D97-AF65-F5344CB8AC3E}">
        <p14:creationId xmlns:p14="http://schemas.microsoft.com/office/powerpoint/2010/main" val="6576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AA-31A2-DB94-58A2-44F3A59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2E6BE-F549-62F8-DD11-8BE59A62CFD0}"/>
              </a:ext>
            </a:extLst>
          </p:cNvPr>
          <p:cNvSpPr txBox="1"/>
          <p:nvPr/>
        </p:nvSpPr>
        <p:spPr>
          <a:xfrm>
            <a:off x="374903" y="311557"/>
            <a:ext cx="1039672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 of RNN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love pizza and watching movies                              -&gt; 5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movie was OK. I would not watch it again      -&gt;   3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all of the above problems,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sequence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important.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deal with this type of data, where sequence is important, we have RNN.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is a type of NN that specializes in dealing with sequential type data.  </a:t>
            </a:r>
          </a:p>
        </p:txBody>
      </p:sp>
    </p:spTree>
    <p:extLst>
      <p:ext uri="{BB962C8B-B14F-4D97-AF65-F5344CB8AC3E}">
        <p14:creationId xmlns:p14="http://schemas.microsoft.com/office/powerpoint/2010/main" val="194372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4091-413F-8CD5-A518-2450C4DB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7D7C87-47FA-8EF4-E562-E19339B3CB0A}"/>
              </a:ext>
            </a:extLst>
          </p:cNvPr>
          <p:cNvSpPr txBox="1"/>
          <p:nvPr/>
        </p:nvSpPr>
        <p:spPr>
          <a:xfrm>
            <a:off x="374904" y="311557"/>
            <a:ext cx="95646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1️⃣ What is Sequential Data?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“I love AI”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series → stock prices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→ audio waveform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Order matters!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 text: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“dog bites man” ≠ “man bites dog”</a:t>
            </a:r>
          </a:p>
        </p:txBody>
      </p:sp>
    </p:spTree>
    <p:extLst>
      <p:ext uri="{BB962C8B-B14F-4D97-AF65-F5344CB8AC3E}">
        <p14:creationId xmlns:p14="http://schemas.microsoft.com/office/powerpoint/2010/main" val="1494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6A00-619D-1205-9C99-9DA1F559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74922F-32EF-B1DF-894B-CE6B5E0BF7B5}"/>
              </a:ext>
            </a:extLst>
          </p:cNvPr>
          <p:cNvSpPr txBox="1"/>
          <p:nvPr/>
        </p:nvSpPr>
        <p:spPr>
          <a:xfrm>
            <a:off x="374904" y="311557"/>
            <a:ext cx="95646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2️⃣ Problem with Traditional Models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If I use Logistic Regression: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treats inputs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memory of previous words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am feeling ___"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Model doesn’t know previous words → poor prediction</a:t>
            </a:r>
          </a:p>
        </p:txBody>
      </p:sp>
    </p:spTree>
    <p:extLst>
      <p:ext uri="{BB962C8B-B14F-4D97-AF65-F5344CB8AC3E}">
        <p14:creationId xmlns:p14="http://schemas.microsoft.com/office/powerpoint/2010/main" val="369682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3️⃣ RNN Intuition (Core Concept)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🔁 Key Idea: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has "memory"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Diagram Explanation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h1 = f(x1)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h2 = f(x2, h1)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h3 = f(x3, h2)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BE3472-A49D-DC2E-EA3A-927FADDA337B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9A4ADBD-F8C5-993D-DCFD-15B4CCFC0C7E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9E768C-4CA5-2FD7-23EA-22D053503093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87BD08A-B822-9B94-6388-F0AC57DE94C1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347AC9F-DB25-311B-DBA8-5D9FCD4E4063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5370BD4-CDDC-7756-6E29-C84CC38BBE85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EDF317E-F3B7-FBD9-83E6-5E280CD7B856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45020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0B5BD-08EA-8E2B-670F-370D24EC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175326-848E-3057-142A-08D730508437}"/>
              </a:ext>
            </a:extLst>
          </p:cNvPr>
          <p:cNvSpPr txBox="1"/>
          <p:nvPr/>
        </p:nvSpPr>
        <p:spPr>
          <a:xfrm>
            <a:off x="374904" y="311557"/>
            <a:ext cx="9564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Hidden state carries information forward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 I → love → AI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State:  h1 → h2 → h3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CC1E60-F4E1-34DC-2252-F3D084F8B09A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8D5954B-B533-120C-A3F2-7450ABEC6DAA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B7EBC4-372E-1716-B225-EA7C43618FFB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67A962-4F0B-A470-D7F4-1BE5A4BDC32D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682398B-6321-9144-B1B5-3E44DE8C60F0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66CAD65-66FD-6371-F539-B8FE3A785B80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5809C8-F10B-5E69-4FA2-FAAEF67E6E50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06F7F8-E900-B9A4-013D-705A3AB71C6B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23D502-6CE7-4B56-88C1-616F5DF7EE5C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501CC9B-FA05-418B-9AC6-4F868C208214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085096A-9F5E-F417-8B4B-A6C8E3A3B882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E6091D-0BE3-526D-02EE-32C367CC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208" y="1268632"/>
            <a:ext cx="3000794" cy="6192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B9F994C-3F92-A8FC-5B48-608D9972E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136" y="1968083"/>
            <a:ext cx="2943636" cy="1228896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2C559AE7-0023-29C7-67E9-5AF585A7807E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47286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6A9A-9EA7-358C-FE95-883AB9CE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79B368-753C-0DD2-DE6F-762022269F23}"/>
              </a:ext>
            </a:extLst>
          </p:cNvPr>
          <p:cNvSpPr txBox="1"/>
          <p:nvPr/>
        </p:nvSpPr>
        <p:spPr>
          <a:xfrm>
            <a:off x="374904" y="311557"/>
            <a:ext cx="95646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4️⃣ Real NLP Example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 Next Word Prediction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"I love"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"AI"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Flow: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words → numbers (tokenization)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sequence into RNN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next word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B9D3E5-B880-203D-E56D-086FA2990FD9}"/>
              </a:ext>
            </a:extLst>
          </p:cNvPr>
          <p:cNvSpPr/>
          <p:nvPr/>
        </p:nvSpPr>
        <p:spPr>
          <a:xfrm>
            <a:off x="374904" y="3358545"/>
            <a:ext cx="2103120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 = f(x1)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31FB5A0-BA30-5C02-30FC-98D7E5DD228E}"/>
              </a:ext>
            </a:extLst>
          </p:cNvPr>
          <p:cNvSpPr/>
          <p:nvPr/>
        </p:nvSpPr>
        <p:spPr>
          <a:xfrm rot="16200000">
            <a:off x="80924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5B7743-DF77-77E9-5998-88ED93C34976}"/>
              </a:ext>
            </a:extLst>
          </p:cNvPr>
          <p:cNvSpPr/>
          <p:nvPr/>
        </p:nvSpPr>
        <p:spPr>
          <a:xfrm>
            <a:off x="3880103" y="3358545"/>
            <a:ext cx="2147317" cy="1387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 = f(x2, h1)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09E7B4C-1D7D-33F9-C1CC-FEEA8EB3F4C3}"/>
              </a:ext>
            </a:extLst>
          </p:cNvPr>
          <p:cNvSpPr/>
          <p:nvPr/>
        </p:nvSpPr>
        <p:spPr>
          <a:xfrm rot="16200000">
            <a:off x="4372356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9ED14C-7894-BAFA-AC00-9315E8E28608}"/>
              </a:ext>
            </a:extLst>
          </p:cNvPr>
          <p:cNvSpPr/>
          <p:nvPr/>
        </p:nvSpPr>
        <p:spPr>
          <a:xfrm>
            <a:off x="7481316" y="3470148"/>
            <a:ext cx="2232660" cy="1246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 = f(h2, x3)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8876D4A-7493-F4B6-3D9C-7E83610AB616}"/>
              </a:ext>
            </a:extLst>
          </p:cNvPr>
          <p:cNvSpPr/>
          <p:nvPr/>
        </p:nvSpPr>
        <p:spPr>
          <a:xfrm rot="16200000">
            <a:off x="7903464" y="5184648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576BAD-3849-5FA9-53F8-3E81BC92FC49}"/>
              </a:ext>
            </a:extLst>
          </p:cNvPr>
          <p:cNvSpPr/>
          <p:nvPr/>
        </p:nvSpPr>
        <p:spPr>
          <a:xfrm>
            <a:off x="1078992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26153-928F-3FD5-D9EB-EF767511C384}"/>
              </a:ext>
            </a:extLst>
          </p:cNvPr>
          <p:cNvSpPr/>
          <p:nvPr/>
        </p:nvSpPr>
        <p:spPr>
          <a:xfrm>
            <a:off x="4581144" y="6227064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B0D212-8B1A-D9C5-9A41-DC0181F91E81}"/>
              </a:ext>
            </a:extLst>
          </p:cNvPr>
          <p:cNvSpPr/>
          <p:nvPr/>
        </p:nvSpPr>
        <p:spPr>
          <a:xfrm>
            <a:off x="8141208" y="6185915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BC85FB8-A982-4465-6855-E39D4910EC89}"/>
              </a:ext>
            </a:extLst>
          </p:cNvPr>
          <p:cNvSpPr/>
          <p:nvPr/>
        </p:nvSpPr>
        <p:spPr>
          <a:xfrm>
            <a:off x="2563367" y="381439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0571790-F405-22BE-74D6-0800A66B1A51}"/>
              </a:ext>
            </a:extLst>
          </p:cNvPr>
          <p:cNvSpPr/>
          <p:nvPr/>
        </p:nvSpPr>
        <p:spPr>
          <a:xfrm>
            <a:off x="6112763" y="3773248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8DE864F3-EF55-5443-CAB6-97758A268BA3}"/>
              </a:ext>
            </a:extLst>
          </p:cNvPr>
          <p:cNvSpPr/>
          <p:nvPr/>
        </p:nvSpPr>
        <p:spPr>
          <a:xfrm>
            <a:off x="9851136" y="3820316"/>
            <a:ext cx="131673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362438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1215</TotalTime>
  <Words>563</Words>
  <Application>Microsoft Office PowerPoint</Application>
  <PresentationFormat>Widescreen</PresentationFormat>
  <Paragraphs>143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196</cp:revision>
  <dcterms:created xsi:type="dcterms:W3CDTF">2025-09-22T02:44:38Z</dcterms:created>
  <dcterms:modified xsi:type="dcterms:W3CDTF">2026-04-05T20:06:47Z</dcterms:modified>
</cp:coreProperties>
</file>