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6" r:id="rId2"/>
    <p:sldId id="277" r:id="rId3"/>
    <p:sldId id="283" r:id="rId4"/>
    <p:sldId id="284" r:id="rId5"/>
    <p:sldId id="285" r:id="rId6"/>
    <p:sldId id="282" r:id="rId7"/>
    <p:sldId id="278" r:id="rId8"/>
    <p:sldId id="287" r:id="rId9"/>
    <p:sldId id="286" r:id="rId10"/>
    <p:sldId id="292" r:id="rId11"/>
    <p:sldId id="273" r:id="rId12"/>
    <p:sldId id="290" r:id="rId13"/>
    <p:sldId id="291" r:id="rId14"/>
    <p:sldId id="272" r:id="rId15"/>
    <p:sldId id="279" r:id="rId16"/>
    <p:sldId id="280" r:id="rId17"/>
    <p:sldId id="281" r:id="rId18"/>
    <p:sldId id="288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8:00:14.5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530 491 5729 0 0,'0'0'-54'0'0,"-16"0"779"0"0,12 0-611 0 0,3 0-53 0 0,0 0 0 0 0,0 1-1 0 0,1-1 1 0 0,-1 0 0 0 0,0 0-1 0 0,0 0 1 0 0,0 0-1 0 0,0 0 1 0 0,0 0 0 0 0,0 0-1 0 0,1 0 1 0 0,-1 0 0 0 0,0 0-1 0 0,0 0 1 0 0,0-1-1 0 0,0 1 1 0 0,1 0 0 0 0,-1-1-1 0 0,0 1 1 0 0,0-1 0 0 0,1 1-1 0 0,-1-1 1 0 0,0 0-1 0 0,0 1 1 0 0,1-1 0 0 0,-1 0-1 0 0,1 0 1 0 0,-1 1 0 0 0,0-1-1 0 0,1 0 1 0 0,-1 0-1 0 0,1 0 1 0 0,0 0 0 0 0,-1 0-1 0 0,1 0 1 0 0,0 0 0 0 0,-1-1-1 0 0,1-1 41 0 0,25-49 321 0 0,-8 26-384 0 0,1 2 0 0 0,1 0 0 0 0,1 2 0 0 0,1 0 0 0 0,1 2 0 0 0,0 1 0 0 0,0 1 0 0 0,36-21 0 0 0,208-95-41 0 0,-245 125 21 0 0,23-6-20 0 0,0 2 1 0 0,1 2 0 0 0,0 3 0 0 0,0 3 0 0 0,55 1 0 0 0,1-1-5 0 0,-82 4-5 0 0,0 2-1 0 0,0 1 1 0 0,0 1 0 0 0,0 1 0 0 0,0 1 0 0 0,-1 0 0 0 0,1 2-1 0 0,-1 1 1 0 0,0 1 0 0 0,-1 1 0 0 0,18 13 0 0 0,22 20 4 0 0,95 95 0 0 0,-128-114 10 0 0,10 9 16 0 0,-1 3 1 0 0,-1 1-1 0 0,-2 2 1 0 0,-1 1-1 0 0,48 88 1 0 0,-59-94-12 0 0,-1 2-1 0 0,-1 0 1 0 0,-2 1 0 0 0,-1 1 0 0 0,-1 0 0 0 0,-2 1-1 0 0,-1 1 1 0 0,9 79 0 0 0,-14-59 19 0 0,-2 1 0 0 0,-2-1 0 0 0,-2 0 0 0 0,-10 68 0 0 0,4-61-5 0 0,-2 0 0 0 0,-2-2 0 0 0,-3 1 0 0 0,-2-2 0 0 0,-45 116 0 0 0,37-122-4 0 0,-3-2 0 0 0,-1-1 1 0 0,-2-2-1 0 0,-2-1 0 0 0,-64 75 0 0 0,50-73 20 0 0,-2-2-1 0 0,-2-3 1 0 0,-1-3-1 0 0,-60 39 1 0 0,72-60 0 0 0,0-1 0 0 0,-1-3 0 0 0,-1-2 0 0 0,-84 24 0 0 0,-20-21 371 0 0,139-21-364 0 0,1-1 1 0 0,-1 0-1 0 0,0 0 0 0 0,1 0 0 0 0,-8-3 0 0 0,-24 0 162 0 0,-218-19 95 0 0,205 16-268 0 0,-41-12 18 0 0,28 3-10 0 0,39 10 13 0 0,-45-16 1 0 0,59 16-24 0 0,-12-3 77 0 0,0-1 0 0 0,1-1 0 0 0,0-2 0 0 0,1-1 0 0 0,0-1-1 0 0,1-1 1 0 0,0-1 0 0 0,-32-34 0 0 0,26 21-26 0 0,1-2-1 0 0,2 0 0 0 0,0-2 1 0 0,-36-72-1 0 0,46 72-60 0 0,8 20-8 0 0,0 0 0 0 0,-1 0 1 0 0,-9-15-1 0 0,14 27-17 0 0,0-1-46 0 0,1 0-1 0 0,-1 0 0 0 0,0 0 0 0 0,1 0 1 0 0,-1 1-1 0 0,0-1 0 0 0,0 0 1 0 0,0 1-1 0 0,0-1 0 0 0,0 1 0 0 0,0-1 1 0 0,0 1-1 0 0,0-1 0 0 0,-1 1 1 0 0,0-1-1 0 0,-4 26 22 0 0,1 0 0 0 0,1 1 0 0 0,0 0 0 0 0,0 46 0 0 0,-4 28 33 0 0,-12 71 24 0 0,15-124 314 0 0,6-63 568 0 0,3-50-479 0 0,-2-6-354 0 0,2 0 0 0 0,3 0-1 0 0,3 1 1 0 0,2 0 0 0 0,34-119 0 0 0,-26 129-182 0 0,-20 60 85 0 0,0 0-342 0 0,0 2 353 0 0,0 0 0 0 0,0-1 0 0 0,0 1 0 0 0,0 0 0 0 0,0 0 0 0 0,0-1 0 0 0,0 1 0 0 0,0 0 0 0 0,0 0-1 0 0,0 0 1 0 0,1-1 0 0 0,-1 1 0 0 0,0 0 0 0 0,0 0 0 0 0,0 0 0 0 0,0 0 0 0 0,0-1 0 0 0,0 1 0 0 0,0 0 0 0 0,1 0 0 0 0,-1 0-1 0 0,0 0 1 0 0,0 0 0 0 0,0-1 0 0 0,0 1 0 0 0,1 0 0 0 0,-1 0 0 0 0,0 0 0 0 0,0 0 0 0 0,0 0 0 0 0,0 0 0 0 0,1 0 0 0 0,-1 0 0 0 0,0 0-1 0 0,0 0 1 0 0,0 0 0 0 0,0 0 0 0 0,1 0 0 0 0,-1 0 0 0 0,0 0 0 0 0,0 0 0 0 0,0 0 0 0 0,0 0 0 0 0,1 0 0 0 0,-1 0 0 0 0,0 0 0 0 0,0 1-1 0 0,0-1 1 0 0,1 0 0 0 0,20 12 0 0 0,1-2 0 0 0,0 0 0 0 0,47 11 0 0 0,79 6-27 0 0,-80-16 29 0 0,-24-5 8 0 0,-26-5 0 0 0,0 2 1 0 0,30 9-1 0 0,7-4 106 0 0,-52-8-84 0 0,6 2 161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735C0C-C60D-AB4D-9C7D-03DFC9742AED}"/>
              </a:ext>
            </a:extLst>
          </p:cNvPr>
          <p:cNvSpPr txBox="1"/>
          <p:nvPr/>
        </p:nvSpPr>
        <p:spPr>
          <a:xfrm>
            <a:off x="1207008" y="1390549"/>
            <a:ext cx="91074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Goals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the end of the class, students should: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Grasp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traditional ML fails for sequences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intuition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RNN in TensorFlow/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D7F3-200E-051E-C734-46986F01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E1C713-F72D-D22E-CA9B-EB1C59A79116}"/>
              </a:ext>
            </a:extLst>
          </p:cNvPr>
          <p:cNvSpPr txBox="1"/>
          <p:nvPr/>
        </p:nvSpPr>
        <p:spPr>
          <a:xfrm>
            <a:off x="374904" y="311557"/>
            <a:ext cx="95646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Autocompletion by google in 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search/email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deep  ____                          -&gt; learning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Places near me to ___                      -&gt; eat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recurrent neural ___         -&gt; network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Thanks, and  _____                            -&gt; regards.</a:t>
            </a:r>
          </a:p>
        </p:txBody>
      </p:sp>
    </p:spTree>
    <p:extLst>
      <p:ext uri="{BB962C8B-B14F-4D97-AF65-F5344CB8AC3E}">
        <p14:creationId xmlns:p14="http://schemas.microsoft.com/office/powerpoint/2010/main" val="138032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4BA4-8841-D3FA-163E-24196BBA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61676B-10E6-DA94-301A-7B0EA0AF1D9C}"/>
              </a:ext>
            </a:extLst>
          </p:cNvPr>
          <p:cNvSpPr txBox="1"/>
          <p:nvPr/>
        </p:nvSpPr>
        <p:spPr>
          <a:xfrm>
            <a:off x="403184" y="311557"/>
            <a:ext cx="9564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translation: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BDED4-0B69-A98E-156C-1900574F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46" y="1511886"/>
            <a:ext cx="6622515" cy="2554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3D799-27F4-DDC2-A0CE-FB61D926D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46" y="4226591"/>
            <a:ext cx="6603490" cy="255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7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ACF9-90D7-8583-5553-E47B791A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538277-D55E-7E01-1558-1001EDE28DF6}"/>
              </a:ext>
            </a:extLst>
          </p:cNvPr>
          <p:cNvSpPr txBox="1"/>
          <p:nvPr/>
        </p:nvSpPr>
        <p:spPr>
          <a:xfrm>
            <a:off x="374904" y="311557"/>
            <a:ext cx="59710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Doe works at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Bangalore. He met Lomax Kumar at Google headquarters in California. The meeting happened on 12 January 2024.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16690-A986-65F0-C594-AD71A2819CA1}"/>
              </a:ext>
            </a:extLst>
          </p:cNvPr>
          <p:cNvSpPr txBox="1"/>
          <p:nvPr/>
        </p:nvSpPr>
        <p:spPr>
          <a:xfrm>
            <a:off x="6535839" y="507465"/>
            <a:ext cx="244790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      → B-PER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        → I-PER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→ O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→ B-ORG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Academy    → I-ORG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Bangalore  → B-LOC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Lomax      → B-PER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Kumar      → I-PER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    → B-ORG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headquarters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California → B-LOC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C9C6C-252A-EC74-9A35-7E6F909B00AE}"/>
              </a:ext>
            </a:extLst>
          </p:cNvPr>
          <p:cNvSpPr txBox="1"/>
          <p:nvPr/>
        </p:nvSpPr>
        <p:spPr>
          <a:xfrm>
            <a:off x="9417707" y="1702706"/>
            <a:ext cx="26203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meeting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happened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         → B-DATE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January    → I-DATE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2024       → I-DATE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ED21D-8E7D-C5CD-1E12-5264019D3620}"/>
              </a:ext>
            </a:extLst>
          </p:cNvPr>
          <p:cNvSpPr txBox="1"/>
          <p:nvPr/>
        </p:nvSpPr>
        <p:spPr>
          <a:xfrm>
            <a:off x="400640" y="3567946"/>
            <a:ext cx="619341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Tag meanings: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B-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Beginning of entity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I-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Inside entity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Outside (not an entity) 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Entity 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Person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ORG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Organization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LOC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Date</a:t>
            </a:r>
          </a:p>
        </p:txBody>
      </p:sp>
    </p:spTree>
    <p:extLst>
      <p:ext uri="{BB962C8B-B14F-4D97-AF65-F5344CB8AC3E}">
        <p14:creationId xmlns:p14="http://schemas.microsoft.com/office/powerpoint/2010/main" val="6576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9AAA-31A2-DB94-58A2-44F3A59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12E6BE-F549-62F8-DD11-8BE59A62CFD0}"/>
              </a:ext>
            </a:extLst>
          </p:cNvPr>
          <p:cNvSpPr txBox="1"/>
          <p:nvPr/>
        </p:nvSpPr>
        <p:spPr>
          <a:xfrm>
            <a:off x="374903" y="311557"/>
            <a:ext cx="103967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love pizza and watching movies                              -&gt; 5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movie was OK. I would not watch it again      -&gt;   3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all of the above problems,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important.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deal with this type of data, where sequence is important, we have RNN.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is a type of NN that specializes in dealing with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type data.  </a:t>
            </a:r>
          </a:p>
        </p:txBody>
      </p:sp>
    </p:spTree>
    <p:extLst>
      <p:ext uri="{BB962C8B-B14F-4D97-AF65-F5344CB8AC3E}">
        <p14:creationId xmlns:p14="http://schemas.microsoft.com/office/powerpoint/2010/main" val="194372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4091-413F-8CD5-A518-2450C4DB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7D7C87-47FA-8EF4-E562-E19339B3CB0A}"/>
              </a:ext>
            </a:extLst>
          </p:cNvPr>
          <p:cNvSpPr txBox="1"/>
          <p:nvPr/>
        </p:nvSpPr>
        <p:spPr>
          <a:xfrm>
            <a:off x="374904" y="311557"/>
            <a:ext cx="1132027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1️⃣ What is Sequential Data?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“I love AI”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series → stock prices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→ audio waveform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Order matters!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 text: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“dog bites man” ≠ “man bites dog”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Recurrent 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 (RNNs) shine in tasks involving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sequential data, where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Order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Context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 are crucial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94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6A00-619D-1205-9C99-9DA1F559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74922F-32EF-B1DF-894B-CE6B5E0BF7B5}"/>
              </a:ext>
            </a:extLst>
          </p:cNvPr>
          <p:cNvSpPr txBox="1"/>
          <p:nvPr/>
        </p:nvSpPr>
        <p:spPr>
          <a:xfrm>
            <a:off x="374904" y="311557"/>
            <a:ext cx="11420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 cannot use static ANN to for sentence translation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The number of neurons in input and  layer is fixed -&gt; Sentences length changes.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896EF42-88CC-2AA6-1BEF-7365DC8CA001}"/>
              </a:ext>
            </a:extLst>
          </p:cNvPr>
          <p:cNvSpPr/>
          <p:nvPr/>
        </p:nvSpPr>
        <p:spPr>
          <a:xfrm>
            <a:off x="1874520" y="233023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F4F037-E0FD-8083-A95D-3A12A4B2F3C9}"/>
              </a:ext>
            </a:extLst>
          </p:cNvPr>
          <p:cNvSpPr/>
          <p:nvPr/>
        </p:nvSpPr>
        <p:spPr>
          <a:xfrm>
            <a:off x="1860804" y="303885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721961A-EE7C-B431-787C-25E70AE5B72B}"/>
              </a:ext>
            </a:extLst>
          </p:cNvPr>
          <p:cNvSpPr/>
          <p:nvPr/>
        </p:nvSpPr>
        <p:spPr>
          <a:xfrm>
            <a:off x="1874520" y="373684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5BE81A-FDBA-94C8-B8EB-F12D3A9B2908}"/>
              </a:ext>
            </a:extLst>
          </p:cNvPr>
          <p:cNvSpPr/>
          <p:nvPr/>
        </p:nvSpPr>
        <p:spPr>
          <a:xfrm>
            <a:off x="1874520" y="4492752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EA06CE-1D0B-CEEC-87B6-E6F8E466EF81}"/>
              </a:ext>
            </a:extLst>
          </p:cNvPr>
          <p:cNvSpPr/>
          <p:nvPr/>
        </p:nvSpPr>
        <p:spPr>
          <a:xfrm>
            <a:off x="2767584" y="185013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10881B-1397-8AB8-B75B-4388F35B22E1}"/>
              </a:ext>
            </a:extLst>
          </p:cNvPr>
          <p:cNvSpPr/>
          <p:nvPr/>
        </p:nvSpPr>
        <p:spPr>
          <a:xfrm>
            <a:off x="2790444" y="2557272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899749-33A1-6837-F767-150BBF79CD9E}"/>
              </a:ext>
            </a:extLst>
          </p:cNvPr>
          <p:cNvSpPr/>
          <p:nvPr/>
        </p:nvSpPr>
        <p:spPr>
          <a:xfrm>
            <a:off x="2804160" y="325526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A143A3-A007-2F77-B057-4EECAD642D2A}"/>
              </a:ext>
            </a:extLst>
          </p:cNvPr>
          <p:cNvSpPr/>
          <p:nvPr/>
        </p:nvSpPr>
        <p:spPr>
          <a:xfrm>
            <a:off x="2804160" y="395325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81516DD-D2D4-620C-AAF9-1F6F3063478F}"/>
              </a:ext>
            </a:extLst>
          </p:cNvPr>
          <p:cNvSpPr/>
          <p:nvPr/>
        </p:nvSpPr>
        <p:spPr>
          <a:xfrm>
            <a:off x="2804160" y="454304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DE5162-B492-67C6-9A16-5AE9F151DC1D}"/>
              </a:ext>
            </a:extLst>
          </p:cNvPr>
          <p:cNvSpPr/>
          <p:nvPr/>
        </p:nvSpPr>
        <p:spPr>
          <a:xfrm>
            <a:off x="2804160" y="5143500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053E20-BC87-BE85-0354-7C3A43C0477B}"/>
              </a:ext>
            </a:extLst>
          </p:cNvPr>
          <p:cNvSpPr/>
          <p:nvPr/>
        </p:nvSpPr>
        <p:spPr>
          <a:xfrm>
            <a:off x="4770120" y="2404872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8C22BA-F0A8-8B18-D09A-2FAFF6ADBAD6}"/>
              </a:ext>
            </a:extLst>
          </p:cNvPr>
          <p:cNvSpPr/>
          <p:nvPr/>
        </p:nvSpPr>
        <p:spPr>
          <a:xfrm>
            <a:off x="4792980" y="311200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6A0F42-9852-9F82-7C1F-909824EE2CCA}"/>
              </a:ext>
            </a:extLst>
          </p:cNvPr>
          <p:cNvSpPr/>
          <p:nvPr/>
        </p:nvSpPr>
        <p:spPr>
          <a:xfrm>
            <a:off x="4806696" y="3810000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E2A5BD-B743-873B-7C7D-864B10A1B255}"/>
              </a:ext>
            </a:extLst>
          </p:cNvPr>
          <p:cNvSpPr/>
          <p:nvPr/>
        </p:nvSpPr>
        <p:spPr>
          <a:xfrm>
            <a:off x="4806696" y="456590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A48810-FC97-A9DB-2283-328A6DAC5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54" y="5743956"/>
            <a:ext cx="7001852" cy="103837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B9F764-1BCD-727A-E003-C2ED1438167A}"/>
              </a:ext>
            </a:extLst>
          </p:cNvPr>
          <p:cNvCxnSpPr>
            <a:cxnSpLocks/>
          </p:cNvCxnSpPr>
          <p:nvPr/>
        </p:nvCxnSpPr>
        <p:spPr>
          <a:xfrm flipV="1">
            <a:off x="2308860" y="2202180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004D70-8190-55EA-CE93-37DD1695EA5C}"/>
              </a:ext>
            </a:extLst>
          </p:cNvPr>
          <p:cNvCxnSpPr>
            <a:cxnSpLocks/>
          </p:cNvCxnSpPr>
          <p:nvPr/>
        </p:nvCxnSpPr>
        <p:spPr>
          <a:xfrm flipV="1">
            <a:off x="3275076" y="3797808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C24AC4-2B70-5EB6-B8AD-6F4354998CAC}"/>
              </a:ext>
            </a:extLst>
          </p:cNvPr>
          <p:cNvCxnSpPr>
            <a:cxnSpLocks/>
          </p:cNvCxnSpPr>
          <p:nvPr/>
        </p:nvCxnSpPr>
        <p:spPr>
          <a:xfrm flipV="1">
            <a:off x="2331720" y="293065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E81086-9A25-DC3A-D8DD-2A796132D276}"/>
              </a:ext>
            </a:extLst>
          </p:cNvPr>
          <p:cNvCxnSpPr>
            <a:cxnSpLocks/>
          </p:cNvCxnSpPr>
          <p:nvPr/>
        </p:nvCxnSpPr>
        <p:spPr>
          <a:xfrm flipV="1">
            <a:off x="2340102" y="365539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7AAC201-E578-EAE6-6226-D3B83A8A306B}"/>
              </a:ext>
            </a:extLst>
          </p:cNvPr>
          <p:cNvCxnSpPr>
            <a:cxnSpLocks/>
          </p:cNvCxnSpPr>
          <p:nvPr/>
        </p:nvCxnSpPr>
        <p:spPr>
          <a:xfrm>
            <a:off x="2390394" y="2607984"/>
            <a:ext cx="295656" cy="116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D5698B5-C9F5-2DDF-428B-AD3FE8857901}"/>
              </a:ext>
            </a:extLst>
          </p:cNvPr>
          <p:cNvCxnSpPr>
            <a:cxnSpLocks/>
          </p:cNvCxnSpPr>
          <p:nvPr/>
        </p:nvCxnSpPr>
        <p:spPr>
          <a:xfrm>
            <a:off x="2390394" y="3363732"/>
            <a:ext cx="363474" cy="143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B087C3-CC5D-F6A6-221C-48F260D09D1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350770" y="4065802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544FDF-BFD6-F50D-D358-7EA0B00FBAFB}"/>
              </a:ext>
            </a:extLst>
          </p:cNvPr>
          <p:cNvCxnSpPr>
            <a:cxnSpLocks/>
          </p:cNvCxnSpPr>
          <p:nvPr/>
        </p:nvCxnSpPr>
        <p:spPr>
          <a:xfrm>
            <a:off x="2350770" y="4841025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DA6DD2-E206-93A2-387C-24F2D4413DA8}"/>
              </a:ext>
            </a:extLst>
          </p:cNvPr>
          <p:cNvCxnSpPr>
            <a:cxnSpLocks/>
          </p:cNvCxnSpPr>
          <p:nvPr/>
        </p:nvCxnSpPr>
        <p:spPr>
          <a:xfrm flipV="1">
            <a:off x="2348103" y="441655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82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206E-1ADA-D15B-5BA7-B1002A6B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95ACED-7636-3660-B04D-133AD2D37FD6}"/>
              </a:ext>
            </a:extLst>
          </p:cNvPr>
          <p:cNvSpPr txBox="1"/>
          <p:nvPr/>
        </p:nvSpPr>
        <p:spPr>
          <a:xfrm>
            <a:off x="374904" y="311557"/>
            <a:ext cx="114208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order of sentence is important: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 eats banana  !=    banana eats man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traditional NN does not take this into account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A32D9EB-F362-28C0-B59A-B0C8A3065ACD}"/>
              </a:ext>
            </a:extLst>
          </p:cNvPr>
          <p:cNvSpPr/>
          <p:nvPr/>
        </p:nvSpPr>
        <p:spPr>
          <a:xfrm>
            <a:off x="1188720" y="356302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A03E6D-86FB-8B80-FD28-AE100DAFF899}"/>
              </a:ext>
            </a:extLst>
          </p:cNvPr>
          <p:cNvSpPr/>
          <p:nvPr/>
        </p:nvSpPr>
        <p:spPr>
          <a:xfrm>
            <a:off x="1175004" y="427164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E2BCFA-8EE2-0DF2-CBEB-8E9A74AA4819}"/>
              </a:ext>
            </a:extLst>
          </p:cNvPr>
          <p:cNvSpPr/>
          <p:nvPr/>
        </p:nvSpPr>
        <p:spPr>
          <a:xfrm>
            <a:off x="1188720" y="4969640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059689-83F4-29E9-ECFC-F826D66CFEC8}"/>
              </a:ext>
            </a:extLst>
          </p:cNvPr>
          <p:cNvSpPr/>
          <p:nvPr/>
        </p:nvSpPr>
        <p:spPr>
          <a:xfrm>
            <a:off x="2081784" y="308292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F2D0C3-EBF9-A76D-72DC-9051D8667538}"/>
              </a:ext>
            </a:extLst>
          </p:cNvPr>
          <p:cNvSpPr/>
          <p:nvPr/>
        </p:nvSpPr>
        <p:spPr>
          <a:xfrm>
            <a:off x="2104644" y="379006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AD0975-88D9-7F03-8199-693148A06BC4}"/>
              </a:ext>
            </a:extLst>
          </p:cNvPr>
          <p:cNvSpPr/>
          <p:nvPr/>
        </p:nvSpPr>
        <p:spPr>
          <a:xfrm>
            <a:off x="2118360" y="448805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1CE241-CDC3-E96E-7D55-FA0B67049C62}"/>
              </a:ext>
            </a:extLst>
          </p:cNvPr>
          <p:cNvSpPr/>
          <p:nvPr/>
        </p:nvSpPr>
        <p:spPr>
          <a:xfrm>
            <a:off x="2118360" y="518604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0CDCB6-A917-1E70-380C-9A56CBBDB81C}"/>
              </a:ext>
            </a:extLst>
          </p:cNvPr>
          <p:cNvSpPr/>
          <p:nvPr/>
        </p:nvSpPr>
        <p:spPr>
          <a:xfrm>
            <a:off x="3965448" y="3491360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386940-0213-1C6B-5631-91FC55EC8539}"/>
              </a:ext>
            </a:extLst>
          </p:cNvPr>
          <p:cNvSpPr/>
          <p:nvPr/>
        </p:nvSpPr>
        <p:spPr>
          <a:xfrm>
            <a:off x="3988308" y="4198496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80474F-EB7D-BA0A-4F30-9595289E62B1}"/>
              </a:ext>
            </a:extLst>
          </p:cNvPr>
          <p:cNvSpPr/>
          <p:nvPr/>
        </p:nvSpPr>
        <p:spPr>
          <a:xfrm>
            <a:off x="4002024" y="4896488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E82EAB-4858-2E00-1C47-DF17F769E7D5}"/>
              </a:ext>
            </a:extLst>
          </p:cNvPr>
          <p:cNvCxnSpPr>
            <a:cxnSpLocks/>
          </p:cNvCxnSpPr>
          <p:nvPr/>
        </p:nvCxnSpPr>
        <p:spPr>
          <a:xfrm flipV="1">
            <a:off x="1623060" y="3434972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83E8BC-D971-54AA-CA81-739655DFFE02}"/>
              </a:ext>
            </a:extLst>
          </p:cNvPr>
          <p:cNvCxnSpPr>
            <a:cxnSpLocks/>
          </p:cNvCxnSpPr>
          <p:nvPr/>
        </p:nvCxnSpPr>
        <p:spPr>
          <a:xfrm flipV="1">
            <a:off x="2589276" y="5030600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B80726-33FF-0358-DA3F-94104387B21B}"/>
              </a:ext>
            </a:extLst>
          </p:cNvPr>
          <p:cNvCxnSpPr>
            <a:cxnSpLocks/>
          </p:cNvCxnSpPr>
          <p:nvPr/>
        </p:nvCxnSpPr>
        <p:spPr>
          <a:xfrm flipV="1">
            <a:off x="1645920" y="4163444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06B72A-12D1-E153-48CF-8ED76EFD805D}"/>
              </a:ext>
            </a:extLst>
          </p:cNvPr>
          <p:cNvCxnSpPr>
            <a:cxnSpLocks/>
          </p:cNvCxnSpPr>
          <p:nvPr/>
        </p:nvCxnSpPr>
        <p:spPr>
          <a:xfrm flipV="1">
            <a:off x="1654302" y="4888184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A050A53-AC44-472F-DD8D-EA1CA57EFBA8}"/>
              </a:ext>
            </a:extLst>
          </p:cNvPr>
          <p:cNvCxnSpPr>
            <a:cxnSpLocks/>
          </p:cNvCxnSpPr>
          <p:nvPr/>
        </p:nvCxnSpPr>
        <p:spPr>
          <a:xfrm>
            <a:off x="1704594" y="3840776"/>
            <a:ext cx="295656" cy="116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8BB1A2-3410-1566-FC3D-66D2A573B388}"/>
              </a:ext>
            </a:extLst>
          </p:cNvPr>
          <p:cNvCxnSpPr>
            <a:cxnSpLocks/>
          </p:cNvCxnSpPr>
          <p:nvPr/>
        </p:nvCxnSpPr>
        <p:spPr>
          <a:xfrm>
            <a:off x="1704594" y="4596524"/>
            <a:ext cx="363474" cy="143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F641FF1-5E72-BFFF-F110-4BA09954771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664970" y="5298594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33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727C-C87A-644E-D600-38D76561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5FFE14-C1A0-DF62-3D6A-C785BD2E2558}"/>
              </a:ext>
            </a:extLst>
          </p:cNvPr>
          <p:cNvSpPr txBox="1"/>
          <p:nvPr/>
        </p:nvSpPr>
        <p:spPr>
          <a:xfrm>
            <a:off x="374904" y="311557"/>
            <a:ext cx="114208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If I use Logistic Regression: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treats inputs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 of previous words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ate good food. I am feeling ___"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Model doesn’t know previous words → poor prediction (maybe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sorrow, angry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340F9F-0A57-A8B6-CC54-68F3D0534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492" y="4002762"/>
            <a:ext cx="5332620" cy="254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8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5A1E-4BB1-E46C-04CB-E22F1630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2C3A-9FCC-B043-67F6-33F3BA7C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9" y="125428"/>
            <a:ext cx="6166282" cy="3805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Why we cannot use ANN for sentiment analysis?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B347AC-82E1-D747-A362-4812C2CF47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1120161"/>
          <a:ext cx="44805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0172">
                  <a:extLst>
                    <a:ext uri="{9D8B030D-6E8A-4147-A177-3AD203B41FA5}">
                      <a16:colId xmlns:a16="http://schemas.microsoft.com/office/drawing/2014/main" val="2666024637"/>
                    </a:ext>
                  </a:extLst>
                </a:gridCol>
                <a:gridCol w="1050417">
                  <a:extLst>
                    <a:ext uri="{9D8B030D-6E8A-4147-A177-3AD203B41FA5}">
                      <a16:colId xmlns:a16="http://schemas.microsoft.com/office/drawing/2014/main" val="1318399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Sentence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u="sng" dirty="0" err="1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Is_happy</a:t>
                      </a:r>
                      <a:endParaRPr lang="en-US" sz="1800" u="sng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60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apple was rotten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779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apple was fresh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75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I</a:t>
                      </a:r>
                      <a:r>
                        <a:rPr lang="en-US" sz="1800" baseline="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 was disappointed by apple</a:t>
                      </a:r>
                      <a:endParaRPr lang="en-US" sz="18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491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apple tasted sweet </a:t>
                      </a:r>
                      <a:endParaRPr lang="en-US" sz="18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7412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F9360E-C03D-BF43-6D6A-AB3957D8D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952978"/>
              </p:ext>
            </p:extLst>
          </p:nvPr>
        </p:nvGraphicFramePr>
        <p:xfrm>
          <a:off x="4480589" y="1496439"/>
          <a:ext cx="7324315" cy="4532955"/>
        </p:xfrm>
        <a:graphic>
          <a:graphicData uri="http://schemas.openxmlformats.org/drawingml/2006/table">
            <a:tbl>
              <a:tblPr/>
              <a:tblGrid>
                <a:gridCol w="2099402">
                  <a:extLst>
                    <a:ext uri="{9D8B030D-6E8A-4147-A177-3AD203B41FA5}">
                      <a16:colId xmlns:a16="http://schemas.microsoft.com/office/drawing/2014/main" val="3334774913"/>
                    </a:ext>
                  </a:extLst>
                </a:gridCol>
                <a:gridCol w="5224913">
                  <a:extLst>
                    <a:ext uri="{9D8B030D-6E8A-4147-A177-3AD203B41FA5}">
                      <a16:colId xmlns:a16="http://schemas.microsoft.com/office/drawing/2014/main" val="2224978746"/>
                    </a:ext>
                  </a:extLst>
                </a:gridCol>
              </a:tblGrid>
              <a:tr h="2694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Word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One-Hot Vector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790854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apple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[1, 0, 0, 0,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50610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was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1, 0, 0,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616359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rotten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1, 0,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588638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fresh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1, 0,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64127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tasted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1, 0,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448308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sweet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1, 0,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53821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0, 1, 0,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13726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disappointed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0, 0, 1, 0]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594852"/>
                  </a:ext>
                </a:extLst>
              </a:tr>
              <a:tr h="45354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by</a:t>
                      </a: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urier New" panose="02070309020205020404" pitchFamily="49" charset="0"/>
                        </a:rPr>
                        <a:t>[0, 0, 0, 0, 0, 0, 0, 0, 1]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2627" marR="42627" marT="42627" marB="4262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94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348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29" y="125428"/>
            <a:ext cx="6166282" cy="3805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Why we cannot use ANN for sentiment analysis?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085712" y="204828"/>
            <a:ext cx="4836259" cy="6448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0029" y="685015"/>
            <a:ext cx="66154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1)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sentence is ‘apple was rotten’, then size of input layer 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number of words in sent.  X vocab. Size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3 X 9 = 18.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param in HL1 is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num_of_bias_terms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input_size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* 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num_of_wts_from_each_input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4 + 18*4 = 76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real world, vocabulary size is around 5 million.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number of parameters would be large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=&gt; computational complexity increases for ANN.</a:t>
            </a:r>
          </a:p>
        </p:txBody>
      </p:sp>
    </p:spTree>
    <p:extLst>
      <p:ext uri="{BB962C8B-B14F-4D97-AF65-F5344CB8AC3E}">
        <p14:creationId xmlns:p14="http://schemas.microsoft.com/office/powerpoint/2010/main" val="291087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1D8B-47BC-1A72-AFE8-EC2E9CA9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9193230-5C03-2953-3DDD-AE24763190C0}"/>
              </a:ext>
            </a:extLst>
          </p:cNvPr>
          <p:cNvSpPr txBox="1"/>
          <p:nvPr/>
        </p:nvSpPr>
        <p:spPr>
          <a:xfrm>
            <a:off x="270028" y="685015"/>
            <a:ext cx="1109291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2) 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size of input is not fixed: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“apple was rotten”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-&gt;  [1,  0,  0,  0,  0,  0,  0, 0, 0 ]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was -&gt;     [0,  1,  0,  0,  0,  0,  0, 0, 0 ]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rotten -&gt; [0,  0,  1,  0,  0,  0,  0, 0, 0 ]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it needs 3*9=18 inputs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was disappointed by apple”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-&gt;                      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[0, 0, 0, 0, 0, 0, 1, 0, 0]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was -&gt;                 [0, 1, 0, 0, 0, 0, 0, 0, 0]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disappointed -&gt; [0, 0, 0, 0, 0, 0, 0, 0, 1]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by -&gt;                    [0, 0, 0, 0, 0, 0, 0, 0, 1]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-&gt;              [1, 0, 0, 0, 0, 0, 0, 0,0]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needs 5*9=45 inputs.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would not be able work with this type of varying input-size scenario.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padding of 0 was used to make it fixed size input….but this in turn would lead to unnecessary large number of 0 causing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sparsity.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BEBC5-9F0B-75EE-595F-BAD71856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9" y="125428"/>
            <a:ext cx="6166282" cy="3805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Why we cannot use ANN for sentiment analysis?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044D1F-D414-6AF9-A975-38994638662B}"/>
              </a:ext>
            </a:extLst>
          </p:cNvPr>
          <p:cNvSpPr/>
          <p:nvPr/>
        </p:nvSpPr>
        <p:spPr>
          <a:xfrm>
            <a:off x="8019288" y="156953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3357B7-70C7-869C-91C7-16B957DEED77}"/>
              </a:ext>
            </a:extLst>
          </p:cNvPr>
          <p:cNvSpPr/>
          <p:nvPr/>
        </p:nvSpPr>
        <p:spPr>
          <a:xfrm>
            <a:off x="8005572" y="22781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016C92-0C61-5D06-D75B-B1827AE67C08}"/>
              </a:ext>
            </a:extLst>
          </p:cNvPr>
          <p:cNvSpPr/>
          <p:nvPr/>
        </p:nvSpPr>
        <p:spPr>
          <a:xfrm>
            <a:off x="8019288" y="297614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8F99DE-8271-CB94-7846-0959081114F0}"/>
              </a:ext>
            </a:extLst>
          </p:cNvPr>
          <p:cNvSpPr/>
          <p:nvPr/>
        </p:nvSpPr>
        <p:spPr>
          <a:xfrm>
            <a:off x="8019288" y="373205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B42318E-D0B6-84A6-9EF8-138EB8AACA2E}"/>
              </a:ext>
            </a:extLst>
          </p:cNvPr>
          <p:cNvSpPr/>
          <p:nvPr/>
        </p:nvSpPr>
        <p:spPr>
          <a:xfrm>
            <a:off x="8912352" y="108943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36F060-32A8-18FA-5341-44F0F845F5C3}"/>
              </a:ext>
            </a:extLst>
          </p:cNvPr>
          <p:cNvSpPr/>
          <p:nvPr/>
        </p:nvSpPr>
        <p:spPr>
          <a:xfrm>
            <a:off x="8935212" y="17965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E7E45B-7BDB-840F-9B8D-7CAA657AE41F}"/>
              </a:ext>
            </a:extLst>
          </p:cNvPr>
          <p:cNvSpPr/>
          <p:nvPr/>
        </p:nvSpPr>
        <p:spPr>
          <a:xfrm>
            <a:off x="8948928" y="249456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68CE7E-E4FC-73D4-D328-75A0AB708B01}"/>
              </a:ext>
            </a:extLst>
          </p:cNvPr>
          <p:cNvSpPr/>
          <p:nvPr/>
        </p:nvSpPr>
        <p:spPr>
          <a:xfrm>
            <a:off x="8948928" y="31925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26E3BC-953A-195D-B774-11420461CDED}"/>
              </a:ext>
            </a:extLst>
          </p:cNvPr>
          <p:cNvSpPr/>
          <p:nvPr/>
        </p:nvSpPr>
        <p:spPr>
          <a:xfrm>
            <a:off x="8948928" y="378234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294F7C3-8B4A-F482-F68A-9F91A98DB7BE}"/>
              </a:ext>
            </a:extLst>
          </p:cNvPr>
          <p:cNvSpPr/>
          <p:nvPr/>
        </p:nvSpPr>
        <p:spPr>
          <a:xfrm>
            <a:off x="8948928" y="43827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0EB7D86-2E7E-F9D9-1EAD-BBF6308F7711}"/>
              </a:ext>
            </a:extLst>
          </p:cNvPr>
          <p:cNvSpPr/>
          <p:nvPr/>
        </p:nvSpPr>
        <p:spPr>
          <a:xfrm>
            <a:off x="10914888" y="16441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8541AA-CFB1-5833-BCCC-2D0049637D2A}"/>
              </a:ext>
            </a:extLst>
          </p:cNvPr>
          <p:cNvSpPr/>
          <p:nvPr/>
        </p:nvSpPr>
        <p:spPr>
          <a:xfrm>
            <a:off x="10937748" y="235130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39775A-B9D3-8FB3-EF7C-CCEA579C7EF6}"/>
              </a:ext>
            </a:extLst>
          </p:cNvPr>
          <p:cNvSpPr/>
          <p:nvPr/>
        </p:nvSpPr>
        <p:spPr>
          <a:xfrm>
            <a:off x="10951464" y="30492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4F8CE75-10D5-046C-527A-D9A535AA6398}"/>
              </a:ext>
            </a:extLst>
          </p:cNvPr>
          <p:cNvSpPr/>
          <p:nvPr/>
        </p:nvSpPr>
        <p:spPr>
          <a:xfrm>
            <a:off x="10951464" y="380520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479064-1B79-F5CE-C6BC-400D81B8900E}"/>
              </a:ext>
            </a:extLst>
          </p:cNvPr>
          <p:cNvCxnSpPr>
            <a:cxnSpLocks/>
          </p:cNvCxnSpPr>
          <p:nvPr/>
        </p:nvCxnSpPr>
        <p:spPr>
          <a:xfrm flipV="1">
            <a:off x="8453628" y="1441479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8BDCF8-C48C-0A75-BE64-296CB05763A4}"/>
              </a:ext>
            </a:extLst>
          </p:cNvPr>
          <p:cNvCxnSpPr>
            <a:cxnSpLocks/>
          </p:cNvCxnSpPr>
          <p:nvPr/>
        </p:nvCxnSpPr>
        <p:spPr>
          <a:xfrm flipV="1">
            <a:off x="9419844" y="3037107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557899-BECE-DAA0-3A43-618A24C02943}"/>
              </a:ext>
            </a:extLst>
          </p:cNvPr>
          <p:cNvCxnSpPr>
            <a:cxnSpLocks/>
          </p:cNvCxnSpPr>
          <p:nvPr/>
        </p:nvCxnSpPr>
        <p:spPr>
          <a:xfrm flipV="1">
            <a:off x="8476488" y="21699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AF384B-A554-FC4E-0E20-8ABAC437F52B}"/>
              </a:ext>
            </a:extLst>
          </p:cNvPr>
          <p:cNvCxnSpPr>
            <a:cxnSpLocks/>
          </p:cNvCxnSpPr>
          <p:nvPr/>
        </p:nvCxnSpPr>
        <p:spPr>
          <a:xfrm flipV="1">
            <a:off x="8484870" y="289469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4FE246B-DA94-661A-0430-4FD1209D636D}"/>
              </a:ext>
            </a:extLst>
          </p:cNvPr>
          <p:cNvCxnSpPr>
            <a:cxnSpLocks/>
          </p:cNvCxnSpPr>
          <p:nvPr/>
        </p:nvCxnSpPr>
        <p:spPr>
          <a:xfrm>
            <a:off x="8535162" y="1847283"/>
            <a:ext cx="295656" cy="116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065ACC-6AF8-0CFC-475C-3563ADC8E42B}"/>
              </a:ext>
            </a:extLst>
          </p:cNvPr>
          <p:cNvCxnSpPr>
            <a:cxnSpLocks/>
          </p:cNvCxnSpPr>
          <p:nvPr/>
        </p:nvCxnSpPr>
        <p:spPr>
          <a:xfrm>
            <a:off x="8535162" y="2603031"/>
            <a:ext cx="363474" cy="143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5D7FB5-E337-AC82-F490-FCBF37944C76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95538" y="3305101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11DC21-96C2-EABF-3A87-29897BB06F0B}"/>
              </a:ext>
            </a:extLst>
          </p:cNvPr>
          <p:cNvCxnSpPr>
            <a:cxnSpLocks/>
          </p:cNvCxnSpPr>
          <p:nvPr/>
        </p:nvCxnSpPr>
        <p:spPr>
          <a:xfrm>
            <a:off x="8495538" y="4080324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CC3A73-1DF1-E87A-80AB-0AFC6F8A884A}"/>
              </a:ext>
            </a:extLst>
          </p:cNvPr>
          <p:cNvCxnSpPr>
            <a:cxnSpLocks/>
          </p:cNvCxnSpPr>
          <p:nvPr/>
        </p:nvCxnSpPr>
        <p:spPr>
          <a:xfrm flipV="1">
            <a:off x="8492871" y="36558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9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172A8-4E21-C6FE-9EB2-EDBD4393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170B-4C53-9A04-2757-608F0E98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9" y="125428"/>
            <a:ext cx="6166282" cy="38059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Why we cannot use ANN for sentiment analysis?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F9A1E-246C-FB3E-2E3A-E039149C800F}"/>
              </a:ext>
            </a:extLst>
          </p:cNvPr>
          <p:cNvSpPr txBox="1"/>
          <p:nvPr/>
        </p:nvSpPr>
        <p:spPr>
          <a:xfrm>
            <a:off x="270029" y="685015"/>
            <a:ext cx="74200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3)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“Dog was chased by cat” and “cat was chased by dog”.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ANN would treat both as same sentence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they have semantically different meaning.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924E08-23DE-DB4C-3E02-8F252204B36D}"/>
              </a:ext>
            </a:extLst>
          </p:cNvPr>
          <p:cNvSpPr/>
          <p:nvPr/>
        </p:nvSpPr>
        <p:spPr>
          <a:xfrm>
            <a:off x="8019288" y="1569534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C962F88-3CA8-BD0A-F960-C7EC172416EA}"/>
              </a:ext>
            </a:extLst>
          </p:cNvPr>
          <p:cNvSpPr/>
          <p:nvPr/>
        </p:nvSpPr>
        <p:spPr>
          <a:xfrm>
            <a:off x="8005572" y="22781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381147-EB59-43B2-888B-8EB750D8F2DF}"/>
              </a:ext>
            </a:extLst>
          </p:cNvPr>
          <p:cNvSpPr/>
          <p:nvPr/>
        </p:nvSpPr>
        <p:spPr>
          <a:xfrm>
            <a:off x="8019288" y="297614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2D8A8A-A682-0FEA-9EC8-B33C8711AE2C}"/>
              </a:ext>
            </a:extLst>
          </p:cNvPr>
          <p:cNvSpPr/>
          <p:nvPr/>
        </p:nvSpPr>
        <p:spPr>
          <a:xfrm>
            <a:off x="8019288" y="373205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DD2E46-32B5-4554-1773-BA25DD8BA5F1}"/>
              </a:ext>
            </a:extLst>
          </p:cNvPr>
          <p:cNvSpPr/>
          <p:nvPr/>
        </p:nvSpPr>
        <p:spPr>
          <a:xfrm>
            <a:off x="8912352" y="108943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D6F0E8-06F3-5939-29A4-1279D5536994}"/>
              </a:ext>
            </a:extLst>
          </p:cNvPr>
          <p:cNvSpPr/>
          <p:nvPr/>
        </p:nvSpPr>
        <p:spPr>
          <a:xfrm>
            <a:off x="8935212" y="17965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E93696-69DE-6C4C-1CE8-AC27551FA739}"/>
              </a:ext>
            </a:extLst>
          </p:cNvPr>
          <p:cNvSpPr/>
          <p:nvPr/>
        </p:nvSpPr>
        <p:spPr>
          <a:xfrm>
            <a:off x="8948928" y="249456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2B0FCF-A30B-FBF7-FA75-FE9FB3E6A6D2}"/>
              </a:ext>
            </a:extLst>
          </p:cNvPr>
          <p:cNvSpPr/>
          <p:nvPr/>
        </p:nvSpPr>
        <p:spPr>
          <a:xfrm>
            <a:off x="8948928" y="3192555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6435A0-7233-9BF0-37FA-D01861C6867A}"/>
              </a:ext>
            </a:extLst>
          </p:cNvPr>
          <p:cNvSpPr/>
          <p:nvPr/>
        </p:nvSpPr>
        <p:spPr>
          <a:xfrm>
            <a:off x="8948928" y="378234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76564F-882C-73BF-7B01-62C2B5DDDF5C}"/>
              </a:ext>
            </a:extLst>
          </p:cNvPr>
          <p:cNvSpPr/>
          <p:nvPr/>
        </p:nvSpPr>
        <p:spPr>
          <a:xfrm>
            <a:off x="8948928" y="43827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FD1654-62C9-9D19-F524-72869D7D565A}"/>
              </a:ext>
            </a:extLst>
          </p:cNvPr>
          <p:cNvSpPr/>
          <p:nvPr/>
        </p:nvSpPr>
        <p:spPr>
          <a:xfrm>
            <a:off x="10914888" y="1644171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8EF53E6-A8A4-6EF6-12F3-BD3D9CAE8CE7}"/>
              </a:ext>
            </a:extLst>
          </p:cNvPr>
          <p:cNvSpPr/>
          <p:nvPr/>
        </p:nvSpPr>
        <p:spPr>
          <a:xfrm>
            <a:off x="10937748" y="2351307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8667E0-BF6A-0D20-9AA8-6BD037100C67}"/>
              </a:ext>
            </a:extLst>
          </p:cNvPr>
          <p:cNvSpPr/>
          <p:nvPr/>
        </p:nvSpPr>
        <p:spPr>
          <a:xfrm>
            <a:off x="10951464" y="3049299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5630F76-4BBC-281C-5362-43FE268BC097}"/>
              </a:ext>
            </a:extLst>
          </p:cNvPr>
          <p:cNvSpPr/>
          <p:nvPr/>
        </p:nvSpPr>
        <p:spPr>
          <a:xfrm>
            <a:off x="10951464" y="3805203"/>
            <a:ext cx="448056" cy="448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4CD3B5-A1BE-A2D9-D303-9D3A0D769583}"/>
              </a:ext>
            </a:extLst>
          </p:cNvPr>
          <p:cNvCxnSpPr>
            <a:cxnSpLocks/>
          </p:cNvCxnSpPr>
          <p:nvPr/>
        </p:nvCxnSpPr>
        <p:spPr>
          <a:xfrm flipV="1">
            <a:off x="8453628" y="1441479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EB88C3-7375-53E2-23A0-D3C47B9062D5}"/>
              </a:ext>
            </a:extLst>
          </p:cNvPr>
          <p:cNvCxnSpPr>
            <a:cxnSpLocks/>
          </p:cNvCxnSpPr>
          <p:nvPr/>
        </p:nvCxnSpPr>
        <p:spPr>
          <a:xfrm flipV="1">
            <a:off x="9419844" y="3037107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05AE4B-2E13-F056-FEA4-DB495856EB3C}"/>
              </a:ext>
            </a:extLst>
          </p:cNvPr>
          <p:cNvCxnSpPr>
            <a:cxnSpLocks/>
          </p:cNvCxnSpPr>
          <p:nvPr/>
        </p:nvCxnSpPr>
        <p:spPr>
          <a:xfrm flipV="1">
            <a:off x="8476488" y="21699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85F37D-C89D-C802-74FE-E7C55A41FECE}"/>
              </a:ext>
            </a:extLst>
          </p:cNvPr>
          <p:cNvCxnSpPr>
            <a:cxnSpLocks/>
          </p:cNvCxnSpPr>
          <p:nvPr/>
        </p:nvCxnSpPr>
        <p:spPr>
          <a:xfrm flipV="1">
            <a:off x="8484870" y="289469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9F5933-AE4D-C35C-1B82-ED3CD3F15D9A}"/>
              </a:ext>
            </a:extLst>
          </p:cNvPr>
          <p:cNvCxnSpPr>
            <a:cxnSpLocks/>
          </p:cNvCxnSpPr>
          <p:nvPr/>
        </p:nvCxnSpPr>
        <p:spPr>
          <a:xfrm>
            <a:off x="8535162" y="1847283"/>
            <a:ext cx="295656" cy="116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C6441BA-DA03-A3A8-D63D-F9EA0931E637}"/>
              </a:ext>
            </a:extLst>
          </p:cNvPr>
          <p:cNvCxnSpPr>
            <a:cxnSpLocks/>
          </p:cNvCxnSpPr>
          <p:nvPr/>
        </p:nvCxnSpPr>
        <p:spPr>
          <a:xfrm>
            <a:off x="8535162" y="2603031"/>
            <a:ext cx="363474" cy="143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695BE9-CB9B-8349-F06B-01C7DCE0770C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95538" y="3305101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91FC704-5455-B148-E5D8-93FF68F54AD6}"/>
              </a:ext>
            </a:extLst>
          </p:cNvPr>
          <p:cNvCxnSpPr>
            <a:cxnSpLocks/>
          </p:cNvCxnSpPr>
          <p:nvPr/>
        </p:nvCxnSpPr>
        <p:spPr>
          <a:xfrm>
            <a:off x="8495538" y="4080324"/>
            <a:ext cx="453390" cy="1114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7D5AAD-7033-B784-68AF-9307AD31BC65}"/>
              </a:ext>
            </a:extLst>
          </p:cNvPr>
          <p:cNvCxnSpPr>
            <a:cxnSpLocks/>
          </p:cNvCxnSpPr>
          <p:nvPr/>
        </p:nvCxnSpPr>
        <p:spPr>
          <a:xfrm flipV="1">
            <a:off x="8492871" y="3655851"/>
            <a:ext cx="458724" cy="2270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059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833"/>
            <a:ext cx="10515600" cy="44274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Why can't we use a plain </a:t>
            </a:r>
            <a:r>
              <a:rPr lang="en-US" sz="3200" b="1" dirty="0"/>
              <a:t>ANN</a:t>
            </a:r>
            <a:r>
              <a:rPr lang="en-US" sz="3200" dirty="0"/>
              <a:t> for time series forecasting?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01BA9-9A64-3F1F-2F04-0372344CA21C}"/>
              </a:ext>
            </a:extLst>
          </p:cNvPr>
          <p:cNvSpPr txBox="1"/>
          <p:nvPr/>
        </p:nvSpPr>
        <p:spPr>
          <a:xfrm>
            <a:off x="548640" y="933117"/>
            <a:ext cx="106436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 answer: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ANN doesn't remember the past.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 of past inputs: ANN treats every input independently, it doesn’t remember what happened before.</a:t>
            </a:r>
          </a:p>
          <a:p>
            <a:pPr marL="514350" indent="-51435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temporal ordering: ANN sees data points randomly; time order (yesterday → today → tomorrow) is not naturally handled.</a:t>
            </a:r>
          </a:p>
          <a:p>
            <a:pPr marL="514350" indent="-51435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Fixed-size input: ANN expects all inputs to have a fixed shape. Time series may grow or shrink dynamically.</a:t>
            </a:r>
          </a:p>
          <a:p>
            <a:pPr marL="514350" indent="-51435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Lag features must be hand-crafted: To make ANN "see the past", you have to manually create "lag features" (previous values), which gets messy for long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626184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FFB-94C0-4E8F-3BD8-0CB7E022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078C9-F811-911E-A8A6-7F1A4F15EFCA}"/>
              </a:ext>
            </a:extLst>
          </p:cNvPr>
          <p:cNvSpPr txBox="1"/>
          <p:nvPr/>
        </p:nvSpPr>
        <p:spPr>
          <a:xfrm>
            <a:off x="374904" y="311557"/>
            <a:ext cx="9564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3️⃣ RNN Intuition (Core Concept)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🔁 Key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has "memory"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Diagram Explanation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 = f(x1)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h2 = f(x2, h1)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h3 = f(x3, h2)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AF9046-B606-D7FD-AE79-0CE39037840F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CA9F2B2-08BB-96CC-E185-ABFFFE7381FC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BE3472-A49D-DC2E-EA3A-927FADDA337B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9A4ADBD-F8C5-993D-DCFD-15B4CCFC0C7E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9E768C-4CA5-2FD7-23EA-22D053503093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87BD08A-B822-9B94-6388-F0AC57DE94C1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4EBA4-66D6-DF04-0775-597C175693F2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DF0EE-013E-83C6-BD5F-5B7046B9A744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7F99-E151-74D0-0FA1-E43489753209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347AC9F-DB25-311B-DBA8-5D9FCD4E4063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5370BD4-CDDC-7756-6E29-C84CC38BBE85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EDF317E-F3B7-FBD9-83E6-5E280CD7B856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450207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B5BD-08EA-8E2B-670F-370D24EC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175326-848E-3057-142A-08D730508437}"/>
              </a:ext>
            </a:extLst>
          </p:cNvPr>
          <p:cNvSpPr txBox="1"/>
          <p:nvPr/>
        </p:nvSpPr>
        <p:spPr>
          <a:xfrm>
            <a:off x="374904" y="311557"/>
            <a:ext cx="9564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Hidden state carries information forward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 I → love → AI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State:  h1 → h2 → h3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Each state has time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associated with it.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CC1E60-F4E1-34DC-2252-F3D084F8B09A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8D5954B-B533-120C-A3F2-7450ABEC6DAA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B7EBC4-372E-1716-B225-EA7C43618FFB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67A962-4F0B-A470-D7F4-1BE5A4BDC32D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82398B-6321-9144-B1B5-3E44DE8C60F0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66CAD65-66FD-6371-F539-B8FE3A785B80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5809C8-F10B-5E69-4FA2-FAAEF67E6E50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06F7F8-E900-B9A4-013D-705A3AB71C6B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23D502-6CE7-4B56-88C1-616F5DF7EE5C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501CC9B-FA05-418B-9AC6-4F868C208214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085096A-9F5E-F417-8B4B-A6C8E3A3B882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2E6091D-0BE3-526D-02EE-32C367CC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208" y="1268632"/>
            <a:ext cx="3000794" cy="6192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B9F994C-3F92-A8FC-5B48-608D9972E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136" y="1968083"/>
            <a:ext cx="2943636" cy="1228896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2C559AE7-0023-29C7-67E9-5AF585A7807E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472868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6A9A-9EA7-358C-FE95-883AB9CE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79B368-753C-0DD2-DE6F-762022269F23}"/>
              </a:ext>
            </a:extLst>
          </p:cNvPr>
          <p:cNvSpPr txBox="1"/>
          <p:nvPr/>
        </p:nvSpPr>
        <p:spPr>
          <a:xfrm>
            <a:off x="374904" y="311557"/>
            <a:ext cx="9564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4️⃣ Real NLP Example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Next Word Prediction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"I love"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"AI"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Flow: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→ numbers (tokenization)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sequence into RNN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next word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B9D3E5-B880-203D-E56D-086FA2990FD9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31FB5A0-BA30-5C02-30FC-98D7E5DD228E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5B7743-DF77-77E9-5998-88ED93C34976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09E7B4C-1D7D-33F9-C1CC-FEEA8EB3F4C3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9ED14C-7894-BAFA-AC00-9315E8E28608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8876D4A-7493-F4B6-3D9C-7E83610AB616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576BAD-3849-5FA9-53F8-3E81BC92FC49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826153-928F-3FD5-D9EB-EF767511C384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B0D212-8B1A-D9C5-9A41-DC0181F91E81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BC85FB8-A982-4465-6855-E39D4910EC89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0571790-F405-22BE-74D6-0800A66B1A51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DE864F3-EF55-5443-CAB6-97758A268BA3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624382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FFB-94C0-4E8F-3BD8-0CB7E022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078C9-F811-911E-A8A6-7F1A4F15EFCA}"/>
              </a:ext>
            </a:extLst>
          </p:cNvPr>
          <p:cNvSpPr txBox="1"/>
          <p:nvPr/>
        </p:nvSpPr>
        <p:spPr>
          <a:xfrm>
            <a:off x="374904" y="311557"/>
            <a:ext cx="9564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Representation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AF9046-B606-D7FD-AE79-0CE39037840F}"/>
              </a:ext>
            </a:extLst>
          </p:cNvPr>
          <p:cNvSpPr/>
          <p:nvPr/>
        </p:nvSpPr>
        <p:spPr>
          <a:xfrm>
            <a:off x="444630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CA9F2B2-08BB-96CC-E185-ABFFFE7381FC}"/>
              </a:ext>
            </a:extLst>
          </p:cNvPr>
          <p:cNvSpPr/>
          <p:nvPr/>
        </p:nvSpPr>
        <p:spPr>
          <a:xfrm rot="16200000">
            <a:off x="148590" y="348386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4EBA4-66D6-DF04-0775-597C175693F2}"/>
              </a:ext>
            </a:extLst>
          </p:cNvPr>
          <p:cNvSpPr/>
          <p:nvPr/>
        </p:nvSpPr>
        <p:spPr>
          <a:xfrm>
            <a:off x="496061" y="4710508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DF0EE-013E-83C6-BD5F-5B7046B9A744}"/>
              </a:ext>
            </a:extLst>
          </p:cNvPr>
          <p:cNvSpPr/>
          <p:nvPr/>
        </p:nvSpPr>
        <p:spPr>
          <a:xfrm>
            <a:off x="1964433" y="4736593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7F99-E151-74D0-0FA1-E43489753209}"/>
              </a:ext>
            </a:extLst>
          </p:cNvPr>
          <p:cNvSpPr/>
          <p:nvPr/>
        </p:nvSpPr>
        <p:spPr>
          <a:xfrm>
            <a:off x="3432805" y="475569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1E0CF-15D3-EF2F-8A28-9E05BC9BABE9}"/>
              </a:ext>
            </a:extLst>
          </p:cNvPr>
          <p:cNvSpPr/>
          <p:nvPr/>
        </p:nvSpPr>
        <p:spPr>
          <a:xfrm>
            <a:off x="1983868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B6AEC6D-FEF3-1A16-4025-4E837CA8C27F}"/>
              </a:ext>
            </a:extLst>
          </p:cNvPr>
          <p:cNvSpPr/>
          <p:nvPr/>
        </p:nvSpPr>
        <p:spPr>
          <a:xfrm rot="16200000">
            <a:off x="1726689" y="352958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FD34CA-8FE7-F55E-36A3-3B419015B137}"/>
              </a:ext>
            </a:extLst>
          </p:cNvPr>
          <p:cNvSpPr/>
          <p:nvPr/>
        </p:nvSpPr>
        <p:spPr>
          <a:xfrm>
            <a:off x="3420236" y="2390360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7936C9B-CC70-A0E3-E748-7BE8EBCB0B7F}"/>
              </a:ext>
            </a:extLst>
          </p:cNvPr>
          <p:cNvSpPr/>
          <p:nvPr/>
        </p:nvSpPr>
        <p:spPr>
          <a:xfrm rot="16200000">
            <a:off x="3078476" y="3510487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E30A76-E0F0-A447-2CF2-5534B70692FC}"/>
              </a:ext>
            </a:extLst>
          </p:cNvPr>
          <p:cNvSpPr/>
          <p:nvPr/>
        </p:nvSpPr>
        <p:spPr>
          <a:xfrm>
            <a:off x="4857744" y="2417259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64EE96-C530-BDF7-A60E-197FF032A5C1}"/>
              </a:ext>
            </a:extLst>
          </p:cNvPr>
          <p:cNvSpPr/>
          <p:nvPr/>
        </p:nvSpPr>
        <p:spPr>
          <a:xfrm rot="16200000">
            <a:off x="4603998" y="3537386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899C394-E3C4-107C-4469-4A752A56E253}"/>
              </a:ext>
            </a:extLst>
          </p:cNvPr>
          <p:cNvSpPr/>
          <p:nvPr/>
        </p:nvSpPr>
        <p:spPr>
          <a:xfrm>
            <a:off x="1282451" y="2436889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ED5441B-CBD5-3DEE-CD2A-4171ACC2EF81}"/>
              </a:ext>
            </a:extLst>
          </p:cNvPr>
          <p:cNvSpPr/>
          <p:nvPr/>
        </p:nvSpPr>
        <p:spPr>
          <a:xfrm>
            <a:off x="2780542" y="2427758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A43B29-C544-345D-47DF-1114B1615300}"/>
              </a:ext>
            </a:extLst>
          </p:cNvPr>
          <p:cNvSpPr/>
          <p:nvPr/>
        </p:nvSpPr>
        <p:spPr>
          <a:xfrm>
            <a:off x="5701276" y="2517581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ACD796-00B8-5DCE-BA23-35D500543B34}"/>
              </a:ext>
            </a:extLst>
          </p:cNvPr>
          <p:cNvSpPr/>
          <p:nvPr/>
        </p:nvSpPr>
        <p:spPr>
          <a:xfrm>
            <a:off x="4825740" y="476672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31748B6-D2AD-78FB-A51B-4DDFEEC35BB9}"/>
              </a:ext>
            </a:extLst>
          </p:cNvPr>
          <p:cNvSpPr/>
          <p:nvPr/>
        </p:nvSpPr>
        <p:spPr>
          <a:xfrm>
            <a:off x="4239768" y="2485833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EBDDA2-A526-2B3A-F9AF-F7AF4B851FEF}"/>
              </a:ext>
            </a:extLst>
          </p:cNvPr>
          <p:cNvSpPr/>
          <p:nvPr/>
        </p:nvSpPr>
        <p:spPr>
          <a:xfrm>
            <a:off x="9402367" y="2411096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C44F57-2B84-6339-247E-855867018296}"/>
              </a:ext>
            </a:extLst>
          </p:cNvPr>
          <p:cNvSpPr/>
          <p:nvPr/>
        </p:nvSpPr>
        <p:spPr>
          <a:xfrm rot="16200000">
            <a:off x="9195095" y="364311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7A121D-E5DA-3C61-BB3E-7A175AF48E85}"/>
              </a:ext>
            </a:extLst>
          </p:cNvPr>
          <p:cNvSpPr/>
          <p:nvPr/>
        </p:nvSpPr>
        <p:spPr>
          <a:xfrm>
            <a:off x="9496093" y="4736593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Xn</a:t>
            </a:r>
            <a:endParaRPr lang="en-US" sz="240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E1A606A-8A54-E9F4-18EA-37ADDCEEE18F}"/>
              </a:ext>
            </a:extLst>
          </p:cNvPr>
          <p:cNvSpPr/>
          <p:nvPr/>
        </p:nvSpPr>
        <p:spPr>
          <a:xfrm rot="16200000">
            <a:off x="322524" y="1477703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9E2C65E-8838-B4D5-CA95-CA68EA73FB21}"/>
              </a:ext>
            </a:extLst>
          </p:cNvPr>
          <p:cNvSpPr/>
          <p:nvPr/>
        </p:nvSpPr>
        <p:spPr>
          <a:xfrm rot="16200000">
            <a:off x="1842337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8C0130C-F69D-B705-3D06-3EBA502570C7}"/>
              </a:ext>
            </a:extLst>
          </p:cNvPr>
          <p:cNvSpPr/>
          <p:nvPr/>
        </p:nvSpPr>
        <p:spPr>
          <a:xfrm rot="16200000">
            <a:off x="3286713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52ACF93-A67B-68BD-52DB-779C9ABBD71E}"/>
              </a:ext>
            </a:extLst>
          </p:cNvPr>
          <p:cNvSpPr/>
          <p:nvPr/>
        </p:nvSpPr>
        <p:spPr>
          <a:xfrm rot="16200000">
            <a:off x="4685922" y="1523557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71E4F6C-6025-6FC6-886B-133D72CC43D4}"/>
              </a:ext>
            </a:extLst>
          </p:cNvPr>
          <p:cNvSpPr/>
          <p:nvPr/>
        </p:nvSpPr>
        <p:spPr>
          <a:xfrm rot="16200000">
            <a:off x="9280262" y="1505948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14:cNvPr>
              <p14:cNvContentPartPr/>
              <p14:nvPr/>
            </p14:nvContentPartPr>
            <p14:xfrm>
              <a:off x="10109495" y="2363737"/>
              <a:ext cx="820319" cy="984042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3500" y="2327731"/>
                <a:ext cx="891948" cy="1055694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528F7B9-BFDF-AB3E-083A-6ACA5A3EFEC6}"/>
              </a:ext>
            </a:extLst>
          </p:cNvPr>
          <p:cNvSpPr/>
          <p:nvPr/>
        </p:nvSpPr>
        <p:spPr>
          <a:xfrm>
            <a:off x="9438992" y="583749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257089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1871</TotalTime>
  <Words>1418</Words>
  <Application>Microsoft Office PowerPoint</Application>
  <PresentationFormat>Widescreen</PresentationFormat>
  <Paragraphs>256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we cannot use ANN for sentiment analysis?</vt:lpstr>
      <vt:lpstr>Why we cannot use ANN for sentiment analysis?</vt:lpstr>
      <vt:lpstr>Why we cannot use ANN for sentiment analysis?</vt:lpstr>
      <vt:lpstr>Why we cannot use ANN for sentiment analysis?</vt:lpstr>
      <vt:lpstr>Why can't we use a plain ANN for time series forecasting?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219</cp:revision>
  <dcterms:created xsi:type="dcterms:W3CDTF">2025-09-22T02:44:38Z</dcterms:created>
  <dcterms:modified xsi:type="dcterms:W3CDTF">2026-04-09T10:15:21Z</dcterms:modified>
</cp:coreProperties>
</file>