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0" r:id="rId4"/>
    <p:sldId id="281" r:id="rId5"/>
    <p:sldId id="282" r:id="rId6"/>
    <p:sldId id="283" r:id="rId7"/>
    <p:sldId id="284" r:id="rId8"/>
    <p:sldId id="285" r:id="rId9"/>
    <p:sldId id="288" r:id="rId10"/>
    <p:sldId id="290" r:id="rId11"/>
    <p:sldId id="287" r:id="rId12"/>
    <p:sldId id="291" r:id="rId13"/>
    <p:sldId id="292" r:id="rId14"/>
    <p:sldId id="294" r:id="rId15"/>
    <p:sldId id="29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9" autoAdjust="0"/>
    <p:restoredTop sz="94660"/>
  </p:normalViewPr>
  <p:slideViewPr>
    <p:cSldViewPr snapToGrid="0">
      <p:cViewPr varScale="1">
        <p:scale>
          <a:sx n="114" d="100"/>
          <a:sy n="114" d="100"/>
        </p:scale>
        <p:origin x="18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069F3E5-9A8D-4E6D-9702-4B92AE7BFC47}" type="datetimeFigureOut">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2442190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69F3E5-9A8D-4E6D-9702-4B92AE7BFC47}" type="datetimeFigureOut">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3716924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069F3E5-9A8D-4E6D-9702-4B92AE7BFC47}" type="datetimeFigureOut">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06501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069F3E5-9A8D-4E6D-9702-4B92AE7BFC47}" type="datetimeFigureOut">
              <a:rPr lang="en-US" smtClean="0"/>
              <a:t>5/6/2025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890324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069F3E5-9A8D-4E6D-9702-4B92AE7BFC47}" type="datetimeFigureOut">
              <a:rPr lang="en-US" smtClean="0"/>
              <a:t>5/6/2025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4239870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069F3E5-9A8D-4E6D-9702-4B92AE7BFC47}" type="datetimeFigureOut">
              <a:rPr lang="en-US" smtClean="0"/>
              <a:t>5/6/2025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4087121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69F3E5-9A8D-4E6D-9702-4B92AE7BFC47}" type="datetimeFigureOut">
              <a:rPr lang="en-US" smtClean="0"/>
              <a:t>5/6/2025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644227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069F3E5-9A8D-4E6D-9702-4B92AE7BFC47}" type="datetimeFigureOut">
              <a:rPr lang="en-US" smtClean="0"/>
              <a:t>5/6/2025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3241838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069F3E5-9A8D-4E6D-9702-4B92AE7BFC47}" type="datetimeFigureOut">
              <a:rPr lang="en-US" smtClean="0"/>
              <a:t>5/6/2025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864750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69F3E5-9A8D-4E6D-9702-4B92AE7BFC47}" type="datetimeFigureOut">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3108147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69F3E5-9A8D-4E6D-9702-4B92AE7BFC47}" type="datetimeFigureOut">
              <a:rPr lang="en-US" smtClean="0"/>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0835EA-F59B-49B2-AAAD-BCB4B28F0AD2}" type="slidenum">
              <a:rPr lang="en-US" smtClean="0"/>
              <a:t>‹#›</a:t>
            </a:fld>
            <a:endParaRPr lang="en-US"/>
          </a:p>
        </p:txBody>
      </p:sp>
    </p:spTree>
    <p:extLst>
      <p:ext uri="{BB962C8B-B14F-4D97-AF65-F5344CB8AC3E}">
        <p14:creationId xmlns:p14="http://schemas.microsoft.com/office/powerpoint/2010/main" val="1374342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69F3E5-9A8D-4E6D-9702-4B92AE7BFC47}" type="datetimeFigureOut">
              <a:rPr lang="en-US" smtClean="0"/>
              <a:t>5/6/2025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0835EA-F59B-49B2-AAAD-BCB4B28F0AD2}" type="slidenum">
              <a:rPr lang="en-US" smtClean="0"/>
              <a:t>‹#›</a:t>
            </a:fld>
            <a:endParaRPr lang="en-US"/>
          </a:p>
        </p:txBody>
      </p:sp>
    </p:spTree>
    <p:extLst>
      <p:ext uri="{BB962C8B-B14F-4D97-AF65-F5344CB8AC3E}">
        <p14:creationId xmlns:p14="http://schemas.microsoft.com/office/powerpoint/2010/main" val="170099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deeplearning.ai/the-batch/issue-44/"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hyperlink" Target="https://deeplearning.ai/the-batch/online-clues-to-mental-illnes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eeplearning.ai/the-batch/outing-hidden-hatred/" TargetMode="External"/><Relationship Id="rId2" Type="http://schemas.openxmlformats.org/officeDocument/2006/relationships/hyperlink" Target="https://deeplearning.ai/the-batch/news-haters-gonna-mute/" TargetMode="External"/><Relationship Id="rId1" Type="http://schemas.openxmlformats.org/officeDocument/2006/relationships/slideLayout" Target="../slideLayouts/slideLayout2.xml"/><Relationship Id="rId4" Type="http://schemas.openxmlformats.org/officeDocument/2006/relationships/hyperlink" Target="https://deeplearning.ai/the-batch/double-check-for-defamation/"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eeplearning.ai/the-batch/propaganda-watch/" TargetMode="External"/><Relationship Id="rId2" Type="http://schemas.openxmlformats.org/officeDocument/2006/relationships/hyperlink" Target="https://deeplearning.ai/the-batch/ai-makes-headlines/" TargetMode="Externa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hyperlink" Target="https://support.microsoft.com/en-us/office/microsoft-editor-checks-grammar-and-more-in-documents-mail-and-the-web-91ecbe1b-d021-4e9e-a82e-abc4cd7163d7" TargetMode="External"/><Relationship Id="rId2" Type="http://schemas.openxmlformats.org/officeDocument/2006/relationships/hyperlink" Target="https://www.grammarly.com/blog/how-grammarly-uses-ai/" TargetMode="External"/><Relationship Id="rId1" Type="http://schemas.openxmlformats.org/officeDocument/2006/relationships/slideLayout" Target="../slideLayouts/slideLayout2.xml"/><Relationship Id="rId5" Type="http://schemas.openxmlformats.org/officeDocument/2006/relationships/hyperlink" Target="https://deeplearning.ai/the-batch/order-in-the-court/" TargetMode="External"/><Relationship Id="rId4" Type="http://schemas.openxmlformats.org/officeDocument/2006/relationships/hyperlink" Target="https://deeplearning.ai/the-batch/smart-students-dumb-algorithms/"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mathworld.wolfram.com/MarkovProcess.html" TargetMode="External"/><Relationship Id="rId7" Type="http://schemas.openxmlformats.org/officeDocument/2006/relationships/hyperlink" Target="https://blog.google/technology/ai/lamda/" TargetMode="External"/><Relationship Id="rId2" Type="http://schemas.openxmlformats.org/officeDocument/2006/relationships/hyperlink" Target="https://deeplearning.ai/the-batch/generation-text/" TargetMode="External"/><Relationship Id="rId1" Type="http://schemas.openxmlformats.org/officeDocument/2006/relationships/slideLayout" Target="../slideLayouts/slideLayout2.xml"/><Relationship Id="rId6" Type="http://schemas.openxmlformats.org/officeDocument/2006/relationships/hyperlink" Target="https://openai.com/blog/tags/gpt-2/" TargetMode="External"/><Relationship Id="rId5" Type="http://schemas.openxmlformats.org/officeDocument/2006/relationships/hyperlink" Target="https://arxiv.org/abs/1810.04805" TargetMode="External"/><Relationship Id="rId4" Type="http://schemas.openxmlformats.org/officeDocument/2006/relationships/hyperlink" Target="https://machinelearningmastery.com/gentle-introduction-long-short-term-memory-networks-expert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ibm.com/ibm/history/ibm100/us/en/icons/watson/" TargetMode="External"/><Relationship Id="rId2" Type="http://schemas.openxmlformats.org/officeDocument/2006/relationships/hyperlink" Target="https://deeplearning.ai/the-batch/keeping-the-facts-straigh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GenAI</a:t>
            </a:r>
            <a:r>
              <a:rPr lang="en-US" dirty="0" smtClean="0"/>
              <a:t> Module7 – </a:t>
            </a:r>
            <a:r>
              <a:rPr lang="en-US" smtClean="0"/>
              <a:t>NLP- applications-challenges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48632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779" y="1288321"/>
            <a:ext cx="9925517" cy="2618283"/>
          </a:xfrm>
          <a:prstGeom prst="rect">
            <a:avLst/>
          </a:prstGeom>
        </p:spPr>
      </p:pic>
      <p:sp>
        <p:nvSpPr>
          <p:cNvPr id="3" name="TextBox 2"/>
          <p:cNvSpPr txBox="1"/>
          <p:nvPr/>
        </p:nvSpPr>
        <p:spPr>
          <a:xfrm>
            <a:off x="176169" y="4639112"/>
            <a:ext cx="8012193" cy="369332"/>
          </a:xfrm>
          <a:prstGeom prst="rect">
            <a:avLst/>
          </a:prstGeom>
          <a:noFill/>
        </p:spPr>
        <p:txBody>
          <a:bodyPr wrap="none" rtlCol="0">
            <a:spAutoFit/>
          </a:bodyPr>
          <a:lstStyle/>
          <a:p>
            <a:r>
              <a:rPr lang="en-US" dirty="0" smtClean="0"/>
              <a:t>Good Source</a:t>
            </a:r>
            <a:r>
              <a:rPr lang="en-US" dirty="0"/>
              <a:t>: https://www.deeplearning.ai/resources/natural-language-processing/</a:t>
            </a:r>
          </a:p>
        </p:txBody>
      </p:sp>
    </p:spTree>
    <p:extLst>
      <p:ext uri="{BB962C8B-B14F-4D97-AF65-F5344CB8AC3E}">
        <p14:creationId xmlns:p14="http://schemas.microsoft.com/office/powerpoint/2010/main" val="255696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NLP ?</a:t>
            </a:r>
            <a:endParaRPr lang="en-US" dirty="0"/>
          </a:p>
        </p:txBody>
      </p:sp>
      <p:sp>
        <p:nvSpPr>
          <p:cNvPr id="3" name="Content Placeholder 2"/>
          <p:cNvSpPr>
            <a:spLocks noGrp="1"/>
          </p:cNvSpPr>
          <p:nvPr>
            <p:ph idx="1"/>
          </p:nvPr>
        </p:nvSpPr>
        <p:spPr/>
        <p:txBody>
          <a:bodyPr>
            <a:normAutofit fontScale="92500" lnSpcReduction="20000"/>
          </a:bodyPr>
          <a:lstStyle/>
          <a:p>
            <a:r>
              <a:rPr lang="en-US" dirty="0">
                <a:hlinkClick r:id="rId2"/>
              </a:rPr>
              <a:t>Natural language processing (NLP)</a:t>
            </a:r>
            <a:r>
              <a:rPr lang="en-US" dirty="0"/>
              <a:t> is the discipline of building machines that can manipulate human language — or data that resembles human language — in the way that it is written, spoken, and organized. It evolved from computational linguistics, which uses computer science to understand the principles of language, but rather than developing theoretical frameworks, NLP is an engineering discipline that seeks to build technology to accomplish useful tasks. </a:t>
            </a:r>
            <a:endParaRPr lang="en-US" dirty="0" smtClean="0"/>
          </a:p>
          <a:p>
            <a:r>
              <a:rPr lang="en-US" dirty="0" smtClean="0"/>
              <a:t>NLP </a:t>
            </a:r>
            <a:r>
              <a:rPr lang="en-US" dirty="0"/>
              <a:t>can be divided into two overlapping subfields: natural language understanding (NLU), which focuses on semantic analysis or determining the intended meaning of text, and natural language generation (NLG), which focuses on text generation by a machine. </a:t>
            </a:r>
            <a:endParaRPr lang="en-US" dirty="0" smtClean="0"/>
          </a:p>
          <a:p>
            <a:r>
              <a:rPr lang="en-US" dirty="0" smtClean="0"/>
              <a:t>NLP </a:t>
            </a:r>
            <a:r>
              <a:rPr lang="en-US" dirty="0"/>
              <a:t>is separate from — but often used in conjunction with — speech recognition, which seeks to parse spoken language into words, turning sound into text and vice versa.</a:t>
            </a:r>
          </a:p>
        </p:txBody>
      </p:sp>
    </p:spTree>
    <p:extLst>
      <p:ext uri="{BB962C8B-B14F-4D97-AF65-F5344CB8AC3E}">
        <p14:creationId xmlns:p14="http://schemas.microsoft.com/office/powerpoint/2010/main" val="2074674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38" y="256069"/>
            <a:ext cx="5965272" cy="540886"/>
          </a:xfrm>
        </p:spPr>
        <p:txBody>
          <a:bodyPr>
            <a:noAutofit/>
          </a:bodyPr>
          <a:lstStyle/>
          <a:p>
            <a:r>
              <a:rPr lang="en-US" sz="2800" dirty="0" smtClean="0"/>
              <a:t>NLP : Applications(p1)</a:t>
            </a:r>
            <a:endParaRPr lang="en-US" sz="2800" dirty="0"/>
          </a:p>
        </p:txBody>
      </p:sp>
      <p:sp>
        <p:nvSpPr>
          <p:cNvPr id="3" name="Content Placeholder 2"/>
          <p:cNvSpPr>
            <a:spLocks noGrp="1"/>
          </p:cNvSpPr>
          <p:nvPr>
            <p:ph idx="1"/>
          </p:nvPr>
        </p:nvSpPr>
        <p:spPr>
          <a:xfrm>
            <a:off x="838200" y="1230006"/>
            <a:ext cx="10515600" cy="2830266"/>
          </a:xfrm>
        </p:spPr>
        <p:txBody>
          <a:bodyPr>
            <a:normAutofit fontScale="92500" lnSpcReduction="20000"/>
          </a:bodyPr>
          <a:lstStyle/>
          <a:p>
            <a:r>
              <a:rPr lang="en-US" b="1" dirty="0"/>
              <a:t>Sentiment analysis</a:t>
            </a:r>
            <a:r>
              <a:rPr lang="en-US" dirty="0"/>
              <a:t> is the process of classifying the emotional intent of text. Generally, the input to a sentiment classification model is a piece of text, and the output is the probability that the sentiment expressed is positive, negative, or neutral. Typically, this probability is based on either hand-generated features, word n-grams, TF-IDF features, or using deep learning models to capture sequential long- and short-term dependencies. Sentiment analysis is used to classify customer reviews on various online platforms as well as for niche applications like identifying </a:t>
            </a:r>
            <a:r>
              <a:rPr lang="en-US" dirty="0">
                <a:hlinkClick r:id="rId2"/>
              </a:rPr>
              <a:t>signs of mental illness</a:t>
            </a:r>
            <a:r>
              <a:rPr lang="en-US" dirty="0"/>
              <a:t> in online comments.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0294" y="3782561"/>
            <a:ext cx="6400800" cy="2933700"/>
          </a:xfrm>
          <a:prstGeom prst="rect">
            <a:avLst/>
          </a:prstGeom>
        </p:spPr>
      </p:pic>
    </p:spTree>
    <p:extLst>
      <p:ext uri="{BB962C8B-B14F-4D97-AF65-F5344CB8AC3E}">
        <p14:creationId xmlns:p14="http://schemas.microsoft.com/office/powerpoint/2010/main" val="3297483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38" y="256069"/>
            <a:ext cx="5965272" cy="540886"/>
          </a:xfrm>
        </p:spPr>
        <p:txBody>
          <a:bodyPr>
            <a:noAutofit/>
          </a:bodyPr>
          <a:lstStyle/>
          <a:p>
            <a:r>
              <a:rPr lang="en-US" sz="2800" dirty="0" smtClean="0"/>
              <a:t>NLP : Applications(p2)</a:t>
            </a:r>
            <a:endParaRPr lang="en-US" sz="2800" dirty="0"/>
          </a:p>
        </p:txBody>
      </p:sp>
      <p:sp>
        <p:nvSpPr>
          <p:cNvPr id="3" name="Content Placeholder 2"/>
          <p:cNvSpPr>
            <a:spLocks noGrp="1"/>
          </p:cNvSpPr>
          <p:nvPr>
            <p:ph idx="1"/>
          </p:nvPr>
        </p:nvSpPr>
        <p:spPr>
          <a:xfrm>
            <a:off x="351638" y="1070615"/>
            <a:ext cx="11002162" cy="2066868"/>
          </a:xfrm>
        </p:spPr>
        <p:txBody>
          <a:bodyPr>
            <a:normAutofit/>
          </a:bodyPr>
          <a:lstStyle/>
          <a:p>
            <a:r>
              <a:rPr lang="en-US" sz="2000" b="1" dirty="0"/>
              <a:t>Toxicity classification</a:t>
            </a:r>
            <a:r>
              <a:rPr lang="en-US" sz="2000" dirty="0"/>
              <a:t> is a branch of sentiment analysis where the aim is not just to classify hostile intent but also to classify particular categories such as threats, insults, obscenities, and hatred towards certain identities. The input to such a model is text, and the output is generally the probability of each class of toxicity. Toxicity classification models can be used to moderate and improve online conversations by </a:t>
            </a:r>
            <a:r>
              <a:rPr lang="en-US" sz="2000" dirty="0">
                <a:hlinkClick r:id="rId2"/>
              </a:rPr>
              <a:t>silencing offensive comments</a:t>
            </a:r>
            <a:r>
              <a:rPr lang="en-US" sz="2000" dirty="0"/>
              <a:t>, </a:t>
            </a:r>
            <a:r>
              <a:rPr lang="en-US" sz="2000" dirty="0">
                <a:hlinkClick r:id="rId3"/>
              </a:rPr>
              <a:t>detecting hate speech</a:t>
            </a:r>
            <a:r>
              <a:rPr lang="en-US" sz="2000" dirty="0"/>
              <a:t>, or </a:t>
            </a:r>
            <a:r>
              <a:rPr lang="en-US" sz="2000" dirty="0">
                <a:hlinkClick r:id="rId4"/>
              </a:rPr>
              <a:t>scanning documents for defamation</a:t>
            </a:r>
            <a:r>
              <a:rPr lang="en-US" sz="2000" dirty="0"/>
              <a:t>. </a:t>
            </a:r>
          </a:p>
        </p:txBody>
      </p:sp>
      <p:sp>
        <p:nvSpPr>
          <p:cNvPr id="4" name="TextBox 3"/>
          <p:cNvSpPr txBox="1"/>
          <p:nvPr/>
        </p:nvSpPr>
        <p:spPr>
          <a:xfrm>
            <a:off x="453008" y="3884102"/>
            <a:ext cx="11306006" cy="2554545"/>
          </a:xfrm>
          <a:prstGeom prst="rect">
            <a:avLst/>
          </a:prstGeom>
          <a:noFill/>
        </p:spPr>
        <p:txBody>
          <a:bodyPr wrap="square" rtlCol="0">
            <a:spAutoFit/>
          </a:bodyPr>
          <a:lstStyle/>
          <a:p>
            <a:pPr marL="285750" indent="-285750" fontAlgn="base">
              <a:buFont typeface="Arial" panose="020B0604020202020204" pitchFamily="34" charset="0"/>
              <a:buChar char="•"/>
            </a:pPr>
            <a:r>
              <a:rPr lang="en-US" sz="2000" b="1" dirty="0"/>
              <a:t>Language </a:t>
            </a:r>
            <a:r>
              <a:rPr lang="en-US" sz="2000" b="1" dirty="0" smtClean="0"/>
              <a:t>Translator: </a:t>
            </a:r>
            <a:r>
              <a:rPr lang="en-US" sz="2000" dirty="0" smtClean="0"/>
              <a:t>Want </a:t>
            </a:r>
            <a:r>
              <a:rPr lang="en-US" sz="2000" dirty="0"/>
              <a:t>to translate a text from English to Hindi but don’t know Hindi? Well, Google Translate is the tool for you! While it’s not exactly 100% accurate, it is still a great tool to convert text from one language to another. Google Translate and other translation tools as well as use Sequence to sequence modeling that is a technique in Natural Language Processing. Earlier, language translators used  Statistical machine translation (SMT) which meant they analyzed millions of documents that were already translated from one language to another (English to Hindi in this case) and then looked for the common patterns and basic vocabulary of the language. However, this method was not that accurate as compared to Sequence to sequence modeling</a:t>
            </a:r>
            <a:r>
              <a:rPr lang="en-US" sz="2000" dirty="0" smtClean="0"/>
              <a:t>.</a:t>
            </a:r>
            <a:endParaRPr lang="en-US" sz="2000" dirty="0"/>
          </a:p>
        </p:txBody>
      </p:sp>
    </p:spTree>
    <p:extLst>
      <p:ext uri="{BB962C8B-B14F-4D97-AF65-F5344CB8AC3E}">
        <p14:creationId xmlns:p14="http://schemas.microsoft.com/office/powerpoint/2010/main" val="288357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38" y="147012"/>
            <a:ext cx="5965272" cy="540886"/>
          </a:xfrm>
        </p:spPr>
        <p:txBody>
          <a:bodyPr>
            <a:noAutofit/>
          </a:bodyPr>
          <a:lstStyle/>
          <a:p>
            <a:r>
              <a:rPr lang="en-US" sz="2800" dirty="0" smtClean="0"/>
              <a:t>NLP : Applications(p3)</a:t>
            </a:r>
            <a:endParaRPr lang="en-US" sz="2800" dirty="0"/>
          </a:p>
        </p:txBody>
      </p:sp>
      <p:sp>
        <p:nvSpPr>
          <p:cNvPr id="3" name="Content Placeholder 2"/>
          <p:cNvSpPr>
            <a:spLocks noGrp="1"/>
          </p:cNvSpPr>
          <p:nvPr>
            <p:ph idx="1"/>
          </p:nvPr>
        </p:nvSpPr>
        <p:spPr>
          <a:xfrm>
            <a:off x="351637" y="785389"/>
            <a:ext cx="11560729" cy="2830266"/>
          </a:xfrm>
        </p:spPr>
        <p:txBody>
          <a:bodyPr>
            <a:normAutofit/>
          </a:bodyPr>
          <a:lstStyle/>
          <a:p>
            <a:r>
              <a:rPr lang="en-US" b="1" dirty="0"/>
              <a:t>Named entity recognition</a:t>
            </a:r>
            <a:r>
              <a:rPr lang="en-US" dirty="0"/>
              <a:t> aims to extract entities in a piece of text into predefined categories such as personal names, organizations, locations, and quantities. The input to such a model is generally text, and the output is the various named entities along with their start and end positions. Named entity recognition is useful in applications such as </a:t>
            </a:r>
            <a:r>
              <a:rPr lang="en-US" dirty="0">
                <a:hlinkClick r:id="rId2"/>
              </a:rPr>
              <a:t>summarizing news articles</a:t>
            </a:r>
            <a:r>
              <a:rPr lang="en-US" dirty="0"/>
              <a:t> and </a:t>
            </a:r>
            <a:r>
              <a:rPr lang="en-US" dirty="0">
                <a:hlinkClick r:id="rId3"/>
              </a:rPr>
              <a:t>combating disinformation</a:t>
            </a:r>
            <a:r>
              <a:rPr lang="en-US" dirty="0"/>
              <a:t>. For example, here is what a named entity recognition model could provide: </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5875" y="3741489"/>
            <a:ext cx="6529698" cy="2833643"/>
          </a:xfrm>
          <a:prstGeom prst="rect">
            <a:avLst/>
          </a:prstGeom>
        </p:spPr>
      </p:pic>
    </p:spTree>
    <p:extLst>
      <p:ext uri="{BB962C8B-B14F-4D97-AF65-F5344CB8AC3E}">
        <p14:creationId xmlns:p14="http://schemas.microsoft.com/office/powerpoint/2010/main" val="3967648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38" y="147012"/>
            <a:ext cx="5965272" cy="540886"/>
          </a:xfrm>
        </p:spPr>
        <p:txBody>
          <a:bodyPr>
            <a:noAutofit/>
          </a:bodyPr>
          <a:lstStyle/>
          <a:p>
            <a:r>
              <a:rPr lang="en-US" sz="2800" dirty="0" smtClean="0"/>
              <a:t>NLP : Applications(p4)</a:t>
            </a:r>
            <a:endParaRPr lang="en-US" sz="2800" dirty="0"/>
          </a:p>
        </p:txBody>
      </p:sp>
      <p:sp>
        <p:nvSpPr>
          <p:cNvPr id="3" name="Content Placeholder 2"/>
          <p:cNvSpPr>
            <a:spLocks noGrp="1"/>
          </p:cNvSpPr>
          <p:nvPr>
            <p:ph idx="1"/>
          </p:nvPr>
        </p:nvSpPr>
        <p:spPr>
          <a:xfrm>
            <a:off x="351637" y="785389"/>
            <a:ext cx="11560729" cy="2276593"/>
          </a:xfrm>
        </p:spPr>
        <p:txBody>
          <a:bodyPr>
            <a:normAutofit/>
          </a:bodyPr>
          <a:lstStyle/>
          <a:p>
            <a:r>
              <a:rPr lang="en-US" sz="2400" b="1" dirty="0"/>
              <a:t>Grammatical error correction</a:t>
            </a:r>
            <a:r>
              <a:rPr lang="en-US" sz="2400" dirty="0"/>
              <a:t> models encode grammatical rules to correct the grammar within text. This is viewed mainly as a sequence-to-sequence task, where a model is trained on an ungrammatical sentence as input and a correct sentence as output. Online grammar checkers like </a:t>
            </a:r>
            <a:r>
              <a:rPr lang="en-US" sz="2400" dirty="0" err="1">
                <a:hlinkClick r:id="rId2"/>
              </a:rPr>
              <a:t>Grammarly</a:t>
            </a:r>
            <a:r>
              <a:rPr lang="en-US" sz="2400" dirty="0"/>
              <a:t> and word-processing systems like </a:t>
            </a:r>
            <a:r>
              <a:rPr lang="en-US" sz="2400" dirty="0">
                <a:hlinkClick r:id="rId3"/>
              </a:rPr>
              <a:t>Microsoft Word</a:t>
            </a:r>
            <a:r>
              <a:rPr lang="en-US" sz="2400" dirty="0"/>
              <a:t> use such systems to provide a better writing experience to their customers. Schools also use them to </a:t>
            </a:r>
            <a:r>
              <a:rPr lang="en-US" sz="2400" dirty="0">
                <a:hlinkClick r:id="rId4"/>
              </a:rPr>
              <a:t>grade student essays</a:t>
            </a:r>
            <a:r>
              <a:rPr lang="en-US" sz="2400" dirty="0"/>
              <a:t>.</a:t>
            </a:r>
          </a:p>
        </p:txBody>
      </p:sp>
      <p:sp>
        <p:nvSpPr>
          <p:cNvPr id="5" name="TextBox 4"/>
          <p:cNvSpPr txBox="1"/>
          <p:nvPr/>
        </p:nvSpPr>
        <p:spPr>
          <a:xfrm>
            <a:off x="402674" y="3632433"/>
            <a:ext cx="11391464" cy="3046988"/>
          </a:xfrm>
          <a:prstGeom prst="rect">
            <a:avLst/>
          </a:prstGeom>
          <a:noFill/>
        </p:spPr>
        <p:txBody>
          <a:bodyPr wrap="square" rtlCol="0">
            <a:spAutoFit/>
          </a:bodyPr>
          <a:lstStyle/>
          <a:p>
            <a:pPr marL="342900" indent="-342900">
              <a:buFont typeface="Arial" panose="020B0604020202020204" pitchFamily="34" charset="0"/>
              <a:buChar char="•"/>
            </a:pPr>
            <a:r>
              <a:rPr lang="en-US" sz="2400" b="1" dirty="0"/>
              <a:t>Topic modeling</a:t>
            </a:r>
            <a:r>
              <a:rPr lang="en-US" sz="2400" dirty="0"/>
              <a:t> is an unsupervised text mining task that takes a corpus of </a:t>
            </a:r>
            <a:r>
              <a:rPr lang="en-US" sz="2400" dirty="0" smtClean="0"/>
              <a:t>documents and </a:t>
            </a:r>
            <a:r>
              <a:rPr lang="en-US" sz="2400" dirty="0"/>
              <a:t>discovers abstract topics within that corpus. The input to a topic model is a collection of documents, and the output is a list of topics that defines words for each topic as well as assignment proportions of each topic in a document</a:t>
            </a:r>
            <a:r>
              <a:rPr lang="en-US" sz="2400" dirty="0" smtClean="0"/>
              <a:t>. </a:t>
            </a:r>
            <a:r>
              <a:rPr lang="en-US" sz="2400" dirty="0"/>
              <a:t>Latent Semantic Analysis (LSA) and Latent </a:t>
            </a:r>
            <a:r>
              <a:rPr lang="en-US" sz="2400" dirty="0" err="1"/>
              <a:t>Dirichlet</a:t>
            </a:r>
            <a:r>
              <a:rPr lang="en-US" sz="2400" dirty="0"/>
              <a:t> Allocation (LDA</a:t>
            </a:r>
            <a:r>
              <a:rPr lang="en-US" sz="2400" dirty="0" smtClean="0"/>
              <a:t>) are 2 techniques used here.</a:t>
            </a:r>
            <a:r>
              <a:rPr lang="en-US" sz="2400" dirty="0" smtClean="0"/>
              <a:t> </a:t>
            </a:r>
            <a:r>
              <a:rPr lang="en-US" sz="2400" dirty="0"/>
              <a:t>Latent </a:t>
            </a:r>
            <a:r>
              <a:rPr lang="en-US" sz="2400" dirty="0" err="1"/>
              <a:t>Dirichlet</a:t>
            </a:r>
            <a:r>
              <a:rPr lang="en-US" sz="2400" dirty="0"/>
              <a:t> Allocation (LDA), one of the most popular topic modeling techniques, tries to view a document as a collection of topics and a topic as a collection of words. Topic modeling is being used commercially to help lawyers find evidence </a:t>
            </a:r>
            <a:r>
              <a:rPr lang="en-US" sz="2400" dirty="0">
                <a:hlinkClick r:id="rId5"/>
              </a:rPr>
              <a:t>in legal documents</a:t>
            </a:r>
            <a:r>
              <a:rPr lang="en-US" sz="2400" dirty="0"/>
              <a:t>. </a:t>
            </a:r>
          </a:p>
        </p:txBody>
      </p:sp>
    </p:spTree>
    <p:extLst>
      <p:ext uri="{BB962C8B-B14F-4D97-AF65-F5344CB8AC3E}">
        <p14:creationId xmlns:p14="http://schemas.microsoft.com/office/powerpoint/2010/main" val="3938443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38" y="147012"/>
            <a:ext cx="5965272" cy="540886"/>
          </a:xfrm>
        </p:spPr>
        <p:txBody>
          <a:bodyPr>
            <a:noAutofit/>
          </a:bodyPr>
          <a:lstStyle/>
          <a:p>
            <a:r>
              <a:rPr lang="en-US" sz="2800" dirty="0" smtClean="0"/>
              <a:t>NLP : Applications(p5)</a:t>
            </a:r>
            <a:endParaRPr lang="en-US" sz="2800" dirty="0"/>
          </a:p>
        </p:txBody>
      </p:sp>
      <p:sp>
        <p:nvSpPr>
          <p:cNvPr id="3" name="Content Placeholder 2"/>
          <p:cNvSpPr>
            <a:spLocks noGrp="1"/>
          </p:cNvSpPr>
          <p:nvPr>
            <p:ph idx="1"/>
          </p:nvPr>
        </p:nvSpPr>
        <p:spPr>
          <a:xfrm>
            <a:off x="351637" y="785389"/>
            <a:ext cx="11560729" cy="2276593"/>
          </a:xfrm>
        </p:spPr>
        <p:txBody>
          <a:bodyPr>
            <a:normAutofit lnSpcReduction="10000"/>
          </a:bodyPr>
          <a:lstStyle/>
          <a:p>
            <a:r>
              <a:rPr lang="en-US" b="1" dirty="0"/>
              <a:t>Text generation</a:t>
            </a:r>
            <a:r>
              <a:rPr lang="en-US" dirty="0"/>
              <a:t>, more formally known as natural language generation (NLG), produces text that’s similar to human-written text. Such models can be fine-tuned to produce text in different genres and formats — including </a:t>
            </a:r>
            <a:r>
              <a:rPr lang="en-US" dirty="0">
                <a:hlinkClick r:id="rId2"/>
              </a:rPr>
              <a:t>tweets, blogs, and even computer code</a:t>
            </a:r>
            <a:r>
              <a:rPr lang="en-US" dirty="0"/>
              <a:t>. Text generation has been performed using </a:t>
            </a:r>
            <a:r>
              <a:rPr lang="en-US" dirty="0">
                <a:hlinkClick r:id="rId3"/>
              </a:rPr>
              <a:t>Markov processes</a:t>
            </a:r>
            <a:r>
              <a:rPr lang="en-US" dirty="0"/>
              <a:t>, </a:t>
            </a:r>
            <a:r>
              <a:rPr lang="en-US" dirty="0">
                <a:hlinkClick r:id="rId4"/>
              </a:rPr>
              <a:t>LSTMs</a:t>
            </a:r>
            <a:r>
              <a:rPr lang="en-US" dirty="0"/>
              <a:t>, </a:t>
            </a:r>
            <a:r>
              <a:rPr lang="en-US" dirty="0">
                <a:hlinkClick r:id="rId5"/>
              </a:rPr>
              <a:t>BERT</a:t>
            </a:r>
            <a:r>
              <a:rPr lang="en-US" dirty="0"/>
              <a:t>, </a:t>
            </a:r>
            <a:r>
              <a:rPr lang="en-US" dirty="0">
                <a:hlinkClick r:id="rId6"/>
              </a:rPr>
              <a:t>GPT-2</a:t>
            </a:r>
            <a:r>
              <a:rPr lang="en-US" dirty="0"/>
              <a:t>, </a:t>
            </a:r>
            <a:r>
              <a:rPr lang="en-US" dirty="0" err="1">
                <a:hlinkClick r:id="rId7"/>
              </a:rPr>
              <a:t>LaMDA</a:t>
            </a:r>
            <a:r>
              <a:rPr lang="en-US" dirty="0"/>
              <a:t>, and other approaches. It’s particularly useful for autocomplete and </a:t>
            </a:r>
            <a:r>
              <a:rPr lang="en-US" dirty="0" err="1"/>
              <a:t>chatbots</a:t>
            </a:r>
            <a:r>
              <a:rPr lang="en-US" dirty="0"/>
              <a:t>.</a:t>
            </a:r>
            <a:endParaRPr lang="en-US" sz="2400" dirty="0"/>
          </a:p>
        </p:txBody>
      </p:sp>
      <p:sp>
        <p:nvSpPr>
          <p:cNvPr id="6" name="Content Placeholder 2"/>
          <p:cNvSpPr txBox="1">
            <a:spLocks/>
          </p:cNvSpPr>
          <p:nvPr/>
        </p:nvSpPr>
        <p:spPr>
          <a:xfrm>
            <a:off x="504037" y="4016552"/>
            <a:ext cx="11560729" cy="22765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smtClean="0"/>
              <a:t>Information retrieval</a:t>
            </a:r>
            <a:r>
              <a:rPr lang="en-US" smtClean="0"/>
              <a:t> finds the documents that are most relevant to a query. This is a problem every search and recommendation system faces. The goal is not to answer a particular query but to retrieve, from a collection of documents that may be numbered in the millions, a set that is most relevant to the query. </a:t>
            </a:r>
            <a:endParaRPr lang="en-US" sz="2400" dirty="0"/>
          </a:p>
        </p:txBody>
      </p:sp>
    </p:spTree>
    <p:extLst>
      <p:ext uri="{BB962C8B-B14F-4D97-AF65-F5344CB8AC3E}">
        <p14:creationId xmlns:p14="http://schemas.microsoft.com/office/powerpoint/2010/main" val="3620359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38" y="147012"/>
            <a:ext cx="5965272" cy="540886"/>
          </a:xfrm>
        </p:spPr>
        <p:txBody>
          <a:bodyPr>
            <a:noAutofit/>
          </a:bodyPr>
          <a:lstStyle/>
          <a:p>
            <a:r>
              <a:rPr lang="en-US" sz="2800" dirty="0" smtClean="0"/>
              <a:t>NLP : Applications(p6)</a:t>
            </a:r>
            <a:endParaRPr lang="en-US" sz="2800" dirty="0"/>
          </a:p>
        </p:txBody>
      </p:sp>
      <p:sp>
        <p:nvSpPr>
          <p:cNvPr id="3" name="Content Placeholder 2"/>
          <p:cNvSpPr>
            <a:spLocks noGrp="1"/>
          </p:cNvSpPr>
          <p:nvPr>
            <p:ph idx="1"/>
          </p:nvPr>
        </p:nvSpPr>
        <p:spPr>
          <a:xfrm>
            <a:off x="351637" y="785389"/>
            <a:ext cx="11560729" cy="2276593"/>
          </a:xfrm>
        </p:spPr>
        <p:txBody>
          <a:bodyPr>
            <a:normAutofit fontScale="77500" lnSpcReduction="20000"/>
          </a:bodyPr>
          <a:lstStyle/>
          <a:p>
            <a:r>
              <a:rPr lang="en-US" dirty="0"/>
              <a:t>Automatic </a:t>
            </a:r>
            <a:r>
              <a:rPr lang="en-US" dirty="0" smtClean="0"/>
              <a:t>MOM(</a:t>
            </a:r>
            <a:r>
              <a:rPr lang="en-US" dirty="0"/>
              <a:t>Minutes of Meeting</a:t>
            </a:r>
            <a:r>
              <a:rPr lang="en-US" dirty="0" smtClean="0"/>
              <a:t>) </a:t>
            </a:r>
            <a:r>
              <a:rPr lang="en-US" dirty="0"/>
              <a:t>Generation:</a:t>
            </a:r>
          </a:p>
          <a:p>
            <a:pPr marL="0" indent="0">
              <a:buNone/>
            </a:pPr>
            <a:r>
              <a:rPr lang="en-US" b="1" dirty="0"/>
              <a:t>Transcription and Note-Taking:</a:t>
            </a:r>
            <a:endParaRPr lang="en-US" dirty="0"/>
          </a:p>
          <a:p>
            <a:pPr marL="0" indent="0" fontAlgn="ctr">
              <a:buNone/>
            </a:pPr>
            <a:r>
              <a:rPr lang="en-US" dirty="0"/>
              <a:t>NLP can be used to transcribe audio or video recordings of meetings into text, providing a real-time record of the discussion. </a:t>
            </a:r>
          </a:p>
          <a:p>
            <a:pPr marL="0" indent="0">
              <a:buNone/>
            </a:pPr>
            <a:r>
              <a:rPr lang="en-US" b="1" dirty="0"/>
              <a:t>Summarization:</a:t>
            </a:r>
            <a:endParaRPr lang="en-US" dirty="0"/>
          </a:p>
          <a:p>
            <a:pPr marL="0" indent="0">
              <a:buNone/>
            </a:pPr>
            <a:r>
              <a:rPr lang="en-US" dirty="0"/>
              <a:t>NLP algorithms can summarize the main points of the meeting, identify key speakers, and highlight important decisions and action items. </a:t>
            </a:r>
          </a:p>
        </p:txBody>
      </p:sp>
    </p:spTree>
    <p:extLst>
      <p:ext uri="{BB962C8B-B14F-4D97-AF65-F5344CB8AC3E}">
        <p14:creationId xmlns:p14="http://schemas.microsoft.com/office/powerpoint/2010/main" val="2326673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38" y="147012"/>
            <a:ext cx="5965272" cy="540886"/>
          </a:xfrm>
        </p:spPr>
        <p:txBody>
          <a:bodyPr>
            <a:noAutofit/>
          </a:bodyPr>
          <a:lstStyle/>
          <a:p>
            <a:r>
              <a:rPr lang="en-US" sz="2800" dirty="0" smtClean="0"/>
              <a:t>NLP : Applications(p6)</a:t>
            </a:r>
            <a:endParaRPr lang="en-US" sz="2800" dirty="0"/>
          </a:p>
        </p:txBody>
      </p:sp>
      <p:sp>
        <p:nvSpPr>
          <p:cNvPr id="3" name="Content Placeholder 2"/>
          <p:cNvSpPr>
            <a:spLocks noGrp="1"/>
          </p:cNvSpPr>
          <p:nvPr>
            <p:ph idx="1"/>
          </p:nvPr>
        </p:nvSpPr>
        <p:spPr>
          <a:xfrm>
            <a:off x="351637" y="785389"/>
            <a:ext cx="11560729" cy="5598633"/>
          </a:xfrm>
        </p:spPr>
        <p:txBody>
          <a:bodyPr>
            <a:normAutofit fontScale="55000" lnSpcReduction="20000"/>
          </a:bodyPr>
          <a:lstStyle/>
          <a:p>
            <a:r>
              <a:rPr lang="en-US" dirty="0"/>
              <a:t>NLP in biomedicine, also known as Biomedical NLP (BNLP), utilizes natural language processing techniques to analyze and extract meaningful information from medical text, such as clinical notes, reports, and research papers. This field allows for automated understanding of complex medical language, enabling tasks like disease diagnosis, drug discovery, and patient care improvement. </a:t>
            </a:r>
            <a:endParaRPr lang="en-US" dirty="0" smtClean="0"/>
          </a:p>
          <a:p>
            <a:pPr marL="0" indent="0">
              <a:buNone/>
            </a:pPr>
            <a:endParaRPr lang="en-US" dirty="0"/>
          </a:p>
          <a:p>
            <a:pPr marL="0" indent="0">
              <a:buNone/>
            </a:pPr>
            <a:r>
              <a:rPr lang="en-US" dirty="0"/>
              <a:t>1. Information Extraction and Knowledge Discovery:</a:t>
            </a:r>
          </a:p>
          <a:p>
            <a:pPr marL="0" indent="0">
              <a:buNone/>
            </a:pPr>
            <a:r>
              <a:rPr lang="en-US" b="1" dirty="0"/>
              <a:t>Clinical Text </a:t>
            </a:r>
            <a:r>
              <a:rPr lang="en-US" b="1" dirty="0" smtClean="0"/>
              <a:t>Analysis: </a:t>
            </a:r>
            <a:r>
              <a:rPr lang="en-US" dirty="0" smtClean="0"/>
              <a:t>NLP </a:t>
            </a:r>
            <a:r>
              <a:rPr lang="en-US" dirty="0"/>
              <a:t>algorithms can identify relevant details like patient symptoms, diagnoses, and treatments from electronic health records. </a:t>
            </a:r>
          </a:p>
          <a:p>
            <a:pPr marL="0" indent="0">
              <a:buNone/>
            </a:pPr>
            <a:r>
              <a:rPr lang="en-US" b="1" dirty="0"/>
              <a:t>Drug </a:t>
            </a:r>
            <a:r>
              <a:rPr lang="en-US" b="1" dirty="0" smtClean="0"/>
              <a:t>Discovery: </a:t>
            </a:r>
            <a:r>
              <a:rPr lang="en-US" dirty="0" smtClean="0"/>
              <a:t>By </a:t>
            </a:r>
            <a:r>
              <a:rPr lang="en-US" dirty="0"/>
              <a:t>analyzing research papers and databases, NLP can help identify potential drug candidates and their mechanisms of action. </a:t>
            </a:r>
          </a:p>
          <a:p>
            <a:pPr marL="0" indent="0">
              <a:buNone/>
            </a:pPr>
            <a:r>
              <a:rPr lang="en-US" b="1" dirty="0"/>
              <a:t>Disease </a:t>
            </a:r>
            <a:r>
              <a:rPr lang="en-US" b="1" dirty="0" smtClean="0"/>
              <a:t>Diagnosis: </a:t>
            </a:r>
            <a:r>
              <a:rPr lang="en-US" dirty="0" smtClean="0"/>
              <a:t>NLP </a:t>
            </a:r>
            <a:r>
              <a:rPr lang="en-US" dirty="0"/>
              <a:t>can assist in diagnosing diseases by extracting information from patient records and medical literature. </a:t>
            </a:r>
            <a:endParaRPr lang="en-US" dirty="0" smtClean="0"/>
          </a:p>
          <a:p>
            <a:pPr marL="0" indent="0">
              <a:buNone/>
            </a:pPr>
            <a:endParaRPr lang="en-US" dirty="0" smtClean="0"/>
          </a:p>
          <a:p>
            <a:pPr marL="0" indent="0">
              <a:buNone/>
            </a:pPr>
            <a:r>
              <a:rPr lang="en-US" dirty="0" smtClean="0"/>
              <a:t>2</a:t>
            </a:r>
            <a:r>
              <a:rPr lang="en-US" dirty="0"/>
              <a:t>. Text Classification and Categorization:</a:t>
            </a:r>
          </a:p>
          <a:p>
            <a:pPr marL="0" indent="0">
              <a:buNone/>
            </a:pPr>
            <a:r>
              <a:rPr lang="en-US" b="1" dirty="0"/>
              <a:t>Medical Text Transcription </a:t>
            </a:r>
            <a:r>
              <a:rPr lang="en-US" b="1" dirty="0" smtClean="0"/>
              <a:t>Classification: </a:t>
            </a:r>
            <a:r>
              <a:rPr lang="en-US" dirty="0" smtClean="0"/>
              <a:t>NLP </a:t>
            </a:r>
            <a:r>
              <a:rPr lang="en-US" dirty="0"/>
              <a:t>can categorize medical records, reports, or notes into predetermined categories or labels, simplifying information retrieval. </a:t>
            </a:r>
          </a:p>
          <a:p>
            <a:pPr marL="0" indent="0">
              <a:buNone/>
            </a:pPr>
            <a:r>
              <a:rPr lang="en-US" b="1" dirty="0"/>
              <a:t>Sentiment </a:t>
            </a:r>
            <a:r>
              <a:rPr lang="en-US" b="1" dirty="0" smtClean="0"/>
              <a:t>Analysis: </a:t>
            </a:r>
            <a:r>
              <a:rPr lang="en-US" dirty="0" smtClean="0"/>
              <a:t>NLP </a:t>
            </a:r>
            <a:r>
              <a:rPr lang="en-US" dirty="0"/>
              <a:t>can analyze the sentiment expressed in medical text, such as patient feedback or doctor's notes, to identify potential issues. </a:t>
            </a:r>
          </a:p>
          <a:p>
            <a:pPr marL="0" indent="0">
              <a:buNone/>
            </a:pPr>
            <a:endParaRPr lang="en-US" dirty="0" smtClean="0"/>
          </a:p>
          <a:p>
            <a:pPr marL="0" indent="0">
              <a:buNone/>
            </a:pPr>
            <a:r>
              <a:rPr lang="en-US" dirty="0" smtClean="0"/>
              <a:t>3</a:t>
            </a:r>
            <a:r>
              <a:rPr lang="en-US" dirty="0"/>
              <a:t>. Translation and Accessibility:</a:t>
            </a:r>
          </a:p>
          <a:p>
            <a:pPr marL="0" indent="0">
              <a:buNone/>
            </a:pPr>
            <a:r>
              <a:rPr lang="en-US" b="1" dirty="0"/>
              <a:t>Medical Terminology </a:t>
            </a:r>
            <a:r>
              <a:rPr lang="en-US" b="1" dirty="0" smtClean="0"/>
              <a:t>Translation: </a:t>
            </a:r>
            <a:r>
              <a:rPr lang="en-US" dirty="0" smtClean="0"/>
              <a:t>NLP </a:t>
            </a:r>
            <a:r>
              <a:rPr lang="en-US" dirty="0"/>
              <a:t>can translate medical documents and information between different languages, improving patient access to care.</a:t>
            </a:r>
          </a:p>
          <a:p>
            <a:pPr marL="0" indent="0">
              <a:buNone/>
            </a:pPr>
            <a:r>
              <a:rPr lang="en-US" b="1" dirty="0"/>
              <a:t>Patient </a:t>
            </a:r>
            <a:r>
              <a:rPr lang="en-US" b="1" dirty="0" smtClean="0"/>
              <a:t>Education: </a:t>
            </a:r>
            <a:r>
              <a:rPr lang="en-US" dirty="0" smtClean="0"/>
              <a:t>NLP </a:t>
            </a:r>
            <a:r>
              <a:rPr lang="en-US" dirty="0"/>
              <a:t>can be used to create clear and concise medical information for patients in their native languages.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86013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38" y="147012"/>
            <a:ext cx="5965272" cy="540886"/>
          </a:xfrm>
        </p:spPr>
        <p:txBody>
          <a:bodyPr>
            <a:noAutofit/>
          </a:bodyPr>
          <a:lstStyle/>
          <a:p>
            <a:r>
              <a:rPr lang="en-US" sz="2800" dirty="0" smtClean="0"/>
              <a:t>NLP : Applications(p7)</a:t>
            </a:r>
            <a:endParaRPr lang="en-US" sz="2800" dirty="0"/>
          </a:p>
        </p:txBody>
      </p:sp>
      <p:sp>
        <p:nvSpPr>
          <p:cNvPr id="3" name="Content Placeholder 2"/>
          <p:cNvSpPr>
            <a:spLocks noGrp="1"/>
          </p:cNvSpPr>
          <p:nvPr>
            <p:ph idx="1"/>
          </p:nvPr>
        </p:nvSpPr>
        <p:spPr>
          <a:xfrm>
            <a:off x="351637" y="785389"/>
            <a:ext cx="11560729" cy="2276593"/>
          </a:xfrm>
        </p:spPr>
        <p:txBody>
          <a:bodyPr>
            <a:normAutofit fontScale="77500" lnSpcReduction="20000"/>
          </a:bodyPr>
          <a:lstStyle/>
          <a:p>
            <a:r>
              <a:rPr lang="en-US" b="1" dirty="0"/>
              <a:t>Summarization</a:t>
            </a:r>
            <a:r>
              <a:rPr lang="en-US" dirty="0"/>
              <a:t> is the task of shortening text to highlight the most relevant information. Researchers at Salesforce developed a summarizer that also </a:t>
            </a:r>
            <a:r>
              <a:rPr lang="en-US" dirty="0">
                <a:hlinkClick r:id="rId2"/>
              </a:rPr>
              <a:t>evaluates factual consistency</a:t>
            </a:r>
            <a:r>
              <a:rPr lang="en-US" dirty="0"/>
              <a:t> to ensure that its output is accurate. Summarization is divided into two method classes:</a:t>
            </a:r>
          </a:p>
          <a:p>
            <a:pPr lvl="1"/>
            <a:r>
              <a:rPr lang="en-US" b="1" dirty="0"/>
              <a:t>Extractive summarization</a:t>
            </a:r>
            <a:r>
              <a:rPr lang="en-US" dirty="0"/>
              <a:t> focuses on extracting the most important sentences from a long text and combining these to form a summary. Typically, extractive summarization scores each sentence in an input text and then selects several sentences to form the summary.</a:t>
            </a:r>
          </a:p>
          <a:p>
            <a:pPr lvl="1"/>
            <a:r>
              <a:rPr lang="en-US" b="1" dirty="0"/>
              <a:t>Abstractive summarization</a:t>
            </a:r>
            <a:r>
              <a:rPr lang="en-US" dirty="0"/>
              <a:t> produces a summary by paraphrasing. This is similar to writing the abstract that includes words and sentences that are not present in the original text. Abstractive summarization is usually modeled as a sequence-to-sequence task, where the input is a long-form text and the output is a summary.</a:t>
            </a:r>
          </a:p>
        </p:txBody>
      </p:sp>
      <p:sp>
        <p:nvSpPr>
          <p:cNvPr id="4" name="TextBox 3"/>
          <p:cNvSpPr txBox="1"/>
          <p:nvPr/>
        </p:nvSpPr>
        <p:spPr>
          <a:xfrm>
            <a:off x="351639" y="3682767"/>
            <a:ext cx="11560727" cy="2585323"/>
          </a:xfrm>
          <a:prstGeom prst="rect">
            <a:avLst/>
          </a:prstGeom>
          <a:noFill/>
        </p:spPr>
        <p:txBody>
          <a:bodyPr wrap="square" rtlCol="0">
            <a:spAutoFit/>
          </a:bodyPr>
          <a:lstStyle/>
          <a:p>
            <a:pPr marL="285750" indent="-285750">
              <a:buFont typeface="Arial" panose="020B0604020202020204" pitchFamily="34" charset="0"/>
              <a:buChar char="•"/>
            </a:pPr>
            <a:r>
              <a:rPr lang="en-US" b="1" dirty="0"/>
              <a:t>Question answering</a:t>
            </a:r>
            <a:r>
              <a:rPr lang="en-US" dirty="0"/>
              <a:t> deals with answering questions posed by humans in a natural language. One of the most notable examples of question answering was </a:t>
            </a:r>
            <a:r>
              <a:rPr lang="en-US" dirty="0">
                <a:hlinkClick r:id="rId3"/>
              </a:rPr>
              <a:t>Watson</a:t>
            </a:r>
            <a:r>
              <a:rPr lang="en-US" dirty="0"/>
              <a:t>, which in 2011 played the television game-show </a:t>
            </a:r>
            <a:r>
              <a:rPr lang="en-US" i="1" dirty="0"/>
              <a:t>Jeopardy</a:t>
            </a:r>
            <a:r>
              <a:rPr lang="en-US" dirty="0"/>
              <a:t> against human champions and won by substantial margins. Generally, question-answering tasks come in two flavors</a:t>
            </a:r>
            <a:r>
              <a:rPr lang="en-US" dirty="0" smtClean="0"/>
              <a:t>:</a:t>
            </a:r>
          </a:p>
          <a:p>
            <a:endParaRPr lang="en-US" b="1" dirty="0"/>
          </a:p>
          <a:p>
            <a:r>
              <a:rPr lang="en-US" b="1" dirty="0" smtClean="0"/>
              <a:t>Multiple </a:t>
            </a:r>
            <a:r>
              <a:rPr lang="en-US" b="1" dirty="0"/>
              <a:t>choice:</a:t>
            </a:r>
            <a:r>
              <a:rPr lang="en-US" dirty="0"/>
              <a:t> The multiple-choice question problem is composed of a question and a set of possible answers. The learning task is to pick the correct answer. </a:t>
            </a:r>
          </a:p>
          <a:p>
            <a:r>
              <a:rPr lang="en-US" b="1" dirty="0"/>
              <a:t>Open domain</a:t>
            </a:r>
            <a:r>
              <a:rPr lang="en-US" dirty="0"/>
              <a:t>: In open-domain question answering, the model provides answers to questions in natural language without any options provided, often by querying a large number of texts.</a:t>
            </a:r>
          </a:p>
          <a:p>
            <a:endParaRPr lang="en-US" dirty="0"/>
          </a:p>
        </p:txBody>
      </p:sp>
    </p:spTree>
    <p:extLst>
      <p:ext uri="{BB962C8B-B14F-4D97-AF65-F5344CB8AC3E}">
        <p14:creationId xmlns:p14="http://schemas.microsoft.com/office/powerpoint/2010/main" val="2726564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2179"/>
            <a:ext cx="5319319" cy="675110"/>
          </a:xfrm>
        </p:spPr>
        <p:txBody>
          <a:bodyPr>
            <a:normAutofit fontScale="90000"/>
          </a:bodyPr>
          <a:lstStyle/>
          <a:p>
            <a:r>
              <a:rPr lang="en-US" dirty="0" smtClean="0"/>
              <a:t>NLP challenges(p1)</a:t>
            </a:r>
            <a:endParaRPr lang="en-US" dirty="0"/>
          </a:p>
        </p:txBody>
      </p:sp>
      <p:sp>
        <p:nvSpPr>
          <p:cNvPr id="3" name="Content Placeholder 2"/>
          <p:cNvSpPr>
            <a:spLocks noGrp="1"/>
          </p:cNvSpPr>
          <p:nvPr>
            <p:ph idx="1"/>
          </p:nvPr>
        </p:nvSpPr>
        <p:spPr>
          <a:xfrm>
            <a:off x="318782" y="1208014"/>
            <a:ext cx="4697836" cy="5444455"/>
          </a:xfrm>
        </p:spPr>
        <p:txBody>
          <a:bodyPr>
            <a:normAutofit fontScale="55000" lnSpcReduction="20000"/>
          </a:bodyPr>
          <a:lstStyle/>
          <a:p>
            <a:pPr marL="0" indent="0">
              <a:buNone/>
            </a:pPr>
            <a:r>
              <a:rPr lang="en-US" dirty="0"/>
              <a:t>1. Ambiguity and Polysemy:</a:t>
            </a:r>
          </a:p>
          <a:p>
            <a:pPr marL="0" indent="0">
              <a:buNone/>
            </a:pPr>
            <a:r>
              <a:rPr lang="en-US" b="1" dirty="0" smtClean="0"/>
              <a:t>Issue: </a:t>
            </a:r>
            <a:r>
              <a:rPr lang="en-US" dirty="0" smtClean="0"/>
              <a:t>Natural </a:t>
            </a:r>
            <a:r>
              <a:rPr lang="en-US" dirty="0"/>
              <a:t>language is inherently ambiguous, with words and phrases having multiple meanings depending on context. NLP systems need to understand the intended meaning in different situations.</a:t>
            </a:r>
          </a:p>
          <a:p>
            <a:pPr marL="0" indent="0">
              <a:buNone/>
            </a:pPr>
            <a:r>
              <a:rPr lang="en-US" b="1" dirty="0" smtClean="0"/>
              <a:t>Example:</a:t>
            </a:r>
          </a:p>
          <a:p>
            <a:pPr marL="0" indent="0">
              <a:buNone/>
            </a:pPr>
            <a:r>
              <a:rPr lang="en-US" b="1" dirty="0"/>
              <a:t>1. Lexical Ambiguity (Polysemy</a:t>
            </a:r>
            <a:r>
              <a:rPr lang="en-US" b="1" dirty="0" smtClean="0"/>
              <a:t>):</a:t>
            </a:r>
          </a:p>
          <a:p>
            <a:pPr marL="0" indent="0">
              <a:buNone/>
            </a:pPr>
            <a:r>
              <a:rPr lang="en-US" dirty="0" err="1" smtClean="0"/>
              <a:t>Ritesh</a:t>
            </a:r>
            <a:r>
              <a:rPr lang="en-US" dirty="0" smtClean="0"/>
              <a:t> went to the bank (Institution or beach???)</a:t>
            </a:r>
          </a:p>
          <a:p>
            <a:pPr marL="0" indent="0">
              <a:buNone/>
            </a:pPr>
            <a:r>
              <a:rPr lang="en-US" dirty="0" err="1" smtClean="0"/>
              <a:t>Ritesh</a:t>
            </a:r>
            <a:r>
              <a:rPr lang="en-US" dirty="0" smtClean="0"/>
              <a:t> swung the bat in an attempt to hit the flying bat.</a:t>
            </a:r>
          </a:p>
          <a:p>
            <a:pPr marL="0" indent="0">
              <a:buNone/>
            </a:pPr>
            <a:r>
              <a:rPr lang="en-US" b="1" dirty="0"/>
              <a:t>2. Syntactic Ambiguity</a:t>
            </a:r>
          </a:p>
          <a:p>
            <a:pPr marL="0" indent="0">
              <a:buNone/>
            </a:pPr>
            <a:r>
              <a:rPr lang="en-US" b="1" dirty="0"/>
              <a:t>Sentence</a:t>
            </a:r>
            <a:r>
              <a:rPr lang="en-US" dirty="0"/>
              <a:t>: </a:t>
            </a:r>
            <a:r>
              <a:rPr lang="en-US" i="1" dirty="0"/>
              <a:t>"I saw the man with the telescope."</a:t>
            </a:r>
            <a:endParaRPr lang="en-US" dirty="0"/>
          </a:p>
          <a:p>
            <a:pPr marL="0" indent="0">
              <a:buNone/>
            </a:pPr>
            <a:r>
              <a:rPr lang="en-US" b="1" dirty="0"/>
              <a:t>Interpretation 1</a:t>
            </a:r>
            <a:r>
              <a:rPr lang="en-US" dirty="0"/>
              <a:t>: I used a telescope to see the man.</a:t>
            </a:r>
          </a:p>
          <a:p>
            <a:pPr marL="0" indent="0">
              <a:buNone/>
            </a:pPr>
            <a:r>
              <a:rPr lang="en-US" b="1" dirty="0"/>
              <a:t>Interpretation 2</a:t>
            </a:r>
            <a:r>
              <a:rPr lang="en-US" dirty="0"/>
              <a:t>: I saw a man who was holding a telescope.</a:t>
            </a:r>
          </a:p>
          <a:p>
            <a:pPr marL="0" indent="0">
              <a:buNone/>
            </a:pPr>
            <a:r>
              <a:rPr lang="en-US" b="1" dirty="0"/>
              <a:t>3. Pragmatic Ambiguity</a:t>
            </a:r>
          </a:p>
          <a:p>
            <a:pPr marL="0" indent="0">
              <a:buNone/>
            </a:pPr>
            <a:r>
              <a:rPr lang="en-US" b="1" dirty="0"/>
              <a:t>Sentence</a:t>
            </a:r>
            <a:r>
              <a:rPr lang="en-US" dirty="0"/>
              <a:t>: </a:t>
            </a:r>
            <a:r>
              <a:rPr lang="en-US" i="1" dirty="0"/>
              <a:t>"Can you pass the salt?"</a:t>
            </a:r>
            <a:endParaRPr lang="en-US" dirty="0"/>
          </a:p>
          <a:p>
            <a:pPr marL="0" indent="0">
              <a:buNone/>
            </a:pPr>
            <a:r>
              <a:rPr lang="en-US" dirty="0"/>
              <a:t>Literally, it's a yes/no question about ability.</a:t>
            </a:r>
          </a:p>
          <a:p>
            <a:pPr marL="0" indent="0">
              <a:buNone/>
            </a:pPr>
            <a:r>
              <a:rPr lang="en-US" dirty="0"/>
              <a:t>Pragmatically, it's a polite request to pass the salt</a:t>
            </a:r>
            <a:r>
              <a:rPr lang="en-US" dirty="0" smtClean="0"/>
              <a:t>.</a:t>
            </a:r>
          </a:p>
        </p:txBody>
      </p:sp>
      <p:sp>
        <p:nvSpPr>
          <p:cNvPr id="5" name="Content Placeholder 2"/>
          <p:cNvSpPr txBox="1">
            <a:spLocks/>
          </p:cNvSpPr>
          <p:nvPr/>
        </p:nvSpPr>
        <p:spPr>
          <a:xfrm>
            <a:off x="6913934" y="1058410"/>
            <a:ext cx="4697836" cy="544445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smtClean="0"/>
              <a:t>4. Punctuation ambiguity</a:t>
            </a:r>
          </a:p>
          <a:p>
            <a:pPr marL="0" indent="0">
              <a:buFont typeface="Arial" panose="020B0604020202020204" pitchFamily="34" charset="0"/>
              <a:buNone/>
            </a:pPr>
            <a:r>
              <a:rPr lang="en-US" sz="1600" dirty="0" smtClean="0"/>
              <a:t>She found inspiration in cooking, her family, and her dog (right meaning)</a:t>
            </a:r>
          </a:p>
          <a:p>
            <a:pPr marL="0" indent="0">
              <a:buFont typeface="Arial" panose="020B0604020202020204" pitchFamily="34" charset="0"/>
              <a:buNone/>
            </a:pPr>
            <a:r>
              <a:rPr lang="en-US" sz="1600" dirty="0" smtClean="0"/>
              <a:t>She found inspiration in cooking her family and her dog (weird meaning)</a:t>
            </a:r>
          </a:p>
          <a:p>
            <a:pPr marL="0" indent="0">
              <a:buFont typeface="Arial" panose="020B0604020202020204" pitchFamily="34" charset="0"/>
              <a:buNone/>
            </a:pPr>
            <a:r>
              <a:rPr lang="en-US" sz="1600" b="1" dirty="0" smtClean="0"/>
              <a:t>5. Slang</a:t>
            </a:r>
          </a:p>
          <a:p>
            <a:pPr marL="0" indent="0">
              <a:buFont typeface="Arial" panose="020B0604020202020204" pitchFamily="34" charset="0"/>
              <a:buNone/>
            </a:pPr>
            <a:r>
              <a:rPr lang="en-US" sz="1600" dirty="0" smtClean="0"/>
              <a:t>Sentence: "Dude your pants are on fire!"</a:t>
            </a:r>
          </a:p>
          <a:p>
            <a:pPr marL="0" indent="0">
              <a:buFont typeface="Arial" panose="020B0604020202020204" pitchFamily="34" charset="0"/>
              <a:buNone/>
            </a:pPr>
            <a:r>
              <a:rPr lang="en-US" sz="1600" dirty="0" smtClean="0"/>
              <a:t>Literal interpretation: pants are on fire.</a:t>
            </a:r>
          </a:p>
          <a:p>
            <a:pPr marL="0" indent="0">
              <a:buFont typeface="Arial" panose="020B0604020202020204" pitchFamily="34" charset="0"/>
              <a:buNone/>
            </a:pPr>
            <a:r>
              <a:rPr lang="en-US" sz="1600" dirty="0" smtClean="0"/>
              <a:t>Slang meaning: The pants was amazing or pants have design depicting fire</a:t>
            </a:r>
          </a:p>
          <a:p>
            <a:pPr marL="0" indent="0">
              <a:buNone/>
            </a:pPr>
            <a:r>
              <a:rPr lang="en-US" sz="1600" b="1" dirty="0"/>
              <a:t>6. Sarcasm </a:t>
            </a:r>
            <a:r>
              <a:rPr lang="en-US" sz="1600" b="1" dirty="0" smtClean="0"/>
              <a:t>Ambiguity</a:t>
            </a:r>
          </a:p>
          <a:p>
            <a:pPr marL="0" indent="0">
              <a:buNone/>
            </a:pPr>
            <a:r>
              <a:rPr lang="en-US" sz="1600" i="1" dirty="0"/>
              <a:t>"Oh great, another Monday. I’m so excited."</a:t>
            </a:r>
            <a:endParaRPr lang="en-US" sz="1600" dirty="0"/>
          </a:p>
          <a:p>
            <a:pPr marL="0" indent="0">
              <a:buNone/>
            </a:pPr>
            <a:r>
              <a:rPr lang="en-US" sz="1600" dirty="0"/>
              <a:t>Literal meaning: The speaker is excited.</a:t>
            </a:r>
          </a:p>
          <a:p>
            <a:pPr marL="0" indent="0">
              <a:buNone/>
            </a:pPr>
            <a:r>
              <a:rPr lang="en-US" sz="1600" dirty="0"/>
              <a:t>Actual (sarcastic) meaning: The speaker dreads it.</a:t>
            </a:r>
          </a:p>
          <a:p>
            <a:pPr marL="0" indent="0">
              <a:buNone/>
            </a:pPr>
            <a:r>
              <a:rPr lang="en-US" sz="1600" b="1" dirty="0" smtClean="0"/>
              <a:t>7. Spelling mistake:</a:t>
            </a:r>
          </a:p>
          <a:p>
            <a:pPr marL="0" indent="0">
              <a:buNone/>
            </a:pPr>
            <a:r>
              <a:rPr lang="en-US" sz="1600" dirty="0"/>
              <a:t>"I cleaned the horse all morning</a:t>
            </a:r>
            <a:r>
              <a:rPr lang="en-US" sz="1600" dirty="0" smtClean="0"/>
              <a:t>.“….meant house</a:t>
            </a:r>
          </a:p>
          <a:p>
            <a:pPr marL="0" indent="0">
              <a:buFont typeface="Arial" panose="020B0604020202020204" pitchFamily="34" charset="0"/>
              <a:buNone/>
            </a:pPr>
            <a:endParaRPr lang="en-US" sz="1600" dirty="0" smtClean="0"/>
          </a:p>
          <a:p>
            <a:pPr marL="0" indent="0">
              <a:buFont typeface="Arial" panose="020B0604020202020204" pitchFamily="34" charset="0"/>
              <a:buNone/>
            </a:pPr>
            <a:r>
              <a:rPr lang="en-US" sz="1600" b="1" dirty="0" smtClean="0"/>
              <a:t>Solution: </a:t>
            </a:r>
            <a:r>
              <a:rPr lang="en-US" sz="1600" dirty="0" smtClean="0"/>
              <a:t>Developing models that can accurately discern context and resolve ambiguities. </a:t>
            </a:r>
          </a:p>
          <a:p>
            <a:pPr marL="0" indent="0">
              <a:buFont typeface="Arial" panose="020B0604020202020204" pitchFamily="34" charset="0"/>
              <a:buNone/>
            </a:pPr>
            <a:endParaRPr lang="en-US" sz="1600" dirty="0"/>
          </a:p>
        </p:txBody>
      </p:sp>
    </p:spTree>
    <p:extLst>
      <p:ext uri="{BB962C8B-B14F-4D97-AF65-F5344CB8AC3E}">
        <p14:creationId xmlns:p14="http://schemas.microsoft.com/office/powerpoint/2010/main" val="989389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5319319" cy="675110"/>
          </a:xfrm>
        </p:spPr>
        <p:txBody>
          <a:bodyPr>
            <a:normAutofit fontScale="90000"/>
          </a:bodyPr>
          <a:lstStyle/>
          <a:p>
            <a:r>
              <a:rPr lang="en-US" dirty="0" smtClean="0"/>
              <a:t>NLP challenges(p2)</a:t>
            </a:r>
            <a:endParaRPr lang="en-US" dirty="0"/>
          </a:p>
        </p:txBody>
      </p:sp>
      <p:sp>
        <p:nvSpPr>
          <p:cNvPr id="3" name="Content Placeholder 2"/>
          <p:cNvSpPr>
            <a:spLocks noGrp="1"/>
          </p:cNvSpPr>
          <p:nvPr>
            <p:ph idx="1"/>
          </p:nvPr>
        </p:nvSpPr>
        <p:spPr>
          <a:xfrm>
            <a:off x="318781" y="1481676"/>
            <a:ext cx="11610363" cy="4351338"/>
          </a:xfrm>
        </p:spPr>
        <p:txBody>
          <a:bodyPr>
            <a:normAutofit fontScale="55000" lnSpcReduction="20000"/>
          </a:bodyPr>
          <a:lstStyle/>
          <a:p>
            <a:pPr marL="0" indent="0">
              <a:buNone/>
            </a:pPr>
            <a:r>
              <a:rPr lang="en-US" dirty="0"/>
              <a:t>2. Data Quality and Availability:</a:t>
            </a:r>
          </a:p>
          <a:p>
            <a:pPr marL="0" indent="0">
              <a:buNone/>
            </a:pPr>
            <a:r>
              <a:rPr lang="en-US" b="1" dirty="0" smtClean="0"/>
              <a:t>Issue: </a:t>
            </a:r>
            <a:r>
              <a:rPr lang="en-US" dirty="0" smtClean="0"/>
              <a:t>NLP </a:t>
            </a:r>
            <a:r>
              <a:rPr lang="en-US" dirty="0"/>
              <a:t>models rely on large amounts of training data, and the quality of this data significantly impacts performance. </a:t>
            </a:r>
            <a:r>
              <a:rPr lang="en-US" b="1" dirty="0"/>
              <a:t>Noisy, incomplete, or biased data</a:t>
            </a:r>
            <a:r>
              <a:rPr lang="en-US" dirty="0"/>
              <a:t> can lead to inaccurate results. </a:t>
            </a:r>
          </a:p>
          <a:p>
            <a:pPr marL="0" indent="0">
              <a:buNone/>
            </a:pPr>
            <a:r>
              <a:rPr lang="en-US" b="1" dirty="0" smtClean="0"/>
              <a:t>Example: </a:t>
            </a:r>
            <a:r>
              <a:rPr lang="en-US" dirty="0" smtClean="0"/>
              <a:t>Training </a:t>
            </a:r>
            <a:r>
              <a:rPr lang="en-US" dirty="0"/>
              <a:t>data with gendered stereotypes can result in NLP models perpetuating biases. </a:t>
            </a:r>
            <a:endParaRPr lang="en-US" dirty="0" smtClean="0"/>
          </a:p>
          <a:p>
            <a:pPr marL="0" indent="0">
              <a:buNone/>
            </a:pPr>
            <a:r>
              <a:rPr lang="en-US" b="1" dirty="0"/>
              <a:t>Training Data Example (Biased)</a:t>
            </a:r>
          </a:p>
          <a:p>
            <a:pPr marL="0" indent="0">
              <a:buNone/>
            </a:pPr>
            <a:r>
              <a:rPr lang="en-US" dirty="0"/>
              <a:t>Suppose a language model is trained on large-scale web data (like Common Crawl) that includes sentences like:</a:t>
            </a:r>
          </a:p>
          <a:p>
            <a:pPr marL="0" indent="0">
              <a:buNone/>
            </a:pPr>
            <a:r>
              <a:rPr lang="en-US" b="1" dirty="0"/>
              <a:t>"Women are nurses. Men are doctors."</a:t>
            </a:r>
            <a:endParaRPr lang="en-US" dirty="0"/>
          </a:p>
          <a:p>
            <a:pPr marL="0" indent="0">
              <a:buNone/>
            </a:pPr>
            <a:r>
              <a:rPr lang="en-US" b="1" dirty="0"/>
              <a:t>"He is a brilliant scientist." / "She is a beautiful actress."</a:t>
            </a:r>
            <a:endParaRPr lang="en-US" dirty="0"/>
          </a:p>
          <a:p>
            <a:pPr marL="0" indent="0">
              <a:buNone/>
            </a:pPr>
            <a:r>
              <a:rPr lang="en-US" b="1" dirty="0"/>
              <a:t>"The secretary scheduled his meeting." / "The boss signed the contract."</a:t>
            </a:r>
            <a:endParaRPr lang="en-US" dirty="0"/>
          </a:p>
          <a:p>
            <a:pPr marL="0" indent="0">
              <a:buNone/>
            </a:pPr>
            <a:r>
              <a:rPr lang="en-US" dirty="0"/>
              <a:t>These examples reinforce </a:t>
            </a:r>
            <a:r>
              <a:rPr lang="en-US" b="1" dirty="0"/>
              <a:t>stereotypical gender roles</a:t>
            </a:r>
            <a:r>
              <a:rPr lang="en-US" dirty="0"/>
              <a:t> (e.g., associating women with appearance or support roles, and men with intelligence or leadership).</a:t>
            </a:r>
          </a:p>
          <a:p>
            <a:pPr marL="0" indent="0">
              <a:buNone/>
            </a:pPr>
            <a:r>
              <a:rPr lang="en-US" dirty="0"/>
              <a:t>You ask a model</a:t>
            </a:r>
            <a:r>
              <a:rPr lang="en-US" dirty="0" smtClean="0"/>
              <a:t>: "</a:t>
            </a:r>
            <a:r>
              <a:rPr lang="en-US" dirty="0"/>
              <a:t>The doctor went to the hospital because __ was needed."</a:t>
            </a:r>
          </a:p>
          <a:p>
            <a:pPr marL="0" indent="0">
              <a:buNone/>
            </a:pPr>
            <a:r>
              <a:rPr lang="en-US" dirty="0" smtClean="0"/>
              <a:t>It </a:t>
            </a:r>
            <a:r>
              <a:rPr lang="en-US" dirty="0"/>
              <a:t>may respond</a:t>
            </a:r>
            <a:r>
              <a:rPr lang="en-US" dirty="0" smtClean="0"/>
              <a:t>: "</a:t>
            </a:r>
            <a:r>
              <a:rPr lang="en-US" dirty="0"/>
              <a:t>he" — even if gender wasn’t specified in the question.</a:t>
            </a:r>
          </a:p>
          <a:p>
            <a:pPr marL="0" indent="0">
              <a:buNone/>
            </a:pPr>
            <a:endParaRPr lang="en-US" dirty="0"/>
          </a:p>
          <a:p>
            <a:pPr marL="0" indent="0">
              <a:buNone/>
            </a:pPr>
            <a:r>
              <a:rPr lang="en-US" b="1" dirty="0" smtClean="0"/>
              <a:t>Solution: </a:t>
            </a:r>
            <a:r>
              <a:rPr lang="en-US" dirty="0" smtClean="0"/>
              <a:t>Carefully </a:t>
            </a:r>
            <a:r>
              <a:rPr lang="en-US" dirty="0"/>
              <a:t>selecting and cleaning training data, and developing techniques to mitigate biases. </a:t>
            </a:r>
          </a:p>
        </p:txBody>
      </p:sp>
    </p:spTree>
    <p:extLst>
      <p:ext uri="{BB962C8B-B14F-4D97-AF65-F5344CB8AC3E}">
        <p14:creationId xmlns:p14="http://schemas.microsoft.com/office/powerpoint/2010/main" val="658181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5319319" cy="675110"/>
          </a:xfrm>
        </p:spPr>
        <p:txBody>
          <a:bodyPr>
            <a:normAutofit fontScale="90000"/>
          </a:bodyPr>
          <a:lstStyle/>
          <a:p>
            <a:r>
              <a:rPr lang="en-US" dirty="0" smtClean="0"/>
              <a:t>NLP challenges(p4)</a:t>
            </a:r>
            <a:endParaRPr lang="en-US" dirty="0"/>
          </a:p>
        </p:txBody>
      </p:sp>
      <p:sp>
        <p:nvSpPr>
          <p:cNvPr id="3" name="Content Placeholder 2"/>
          <p:cNvSpPr>
            <a:spLocks noGrp="1"/>
          </p:cNvSpPr>
          <p:nvPr>
            <p:ph idx="1"/>
          </p:nvPr>
        </p:nvSpPr>
        <p:spPr>
          <a:xfrm>
            <a:off x="318781" y="1481676"/>
            <a:ext cx="11610363" cy="4351338"/>
          </a:xfrm>
        </p:spPr>
        <p:txBody>
          <a:bodyPr>
            <a:normAutofit fontScale="85000" lnSpcReduction="10000"/>
          </a:bodyPr>
          <a:lstStyle/>
          <a:p>
            <a:pPr marL="0" indent="0">
              <a:buNone/>
            </a:pPr>
            <a:r>
              <a:rPr lang="en-US" dirty="0"/>
              <a:t>3</a:t>
            </a:r>
            <a:r>
              <a:rPr lang="en-US" dirty="0" smtClean="0"/>
              <a:t>. </a:t>
            </a:r>
            <a:r>
              <a:rPr lang="en-US" dirty="0"/>
              <a:t>Evolving Language:</a:t>
            </a:r>
          </a:p>
          <a:p>
            <a:pPr marL="0" indent="0">
              <a:buNone/>
            </a:pPr>
            <a:r>
              <a:rPr lang="en-US" b="1" dirty="0"/>
              <a:t>Issue:</a:t>
            </a:r>
            <a:r>
              <a:rPr lang="en-US" dirty="0"/>
              <a:t> Languages are constantly evolving, with new words, idioms, and slang emerging. NLP systems need to adapt to these changes.</a:t>
            </a:r>
          </a:p>
          <a:p>
            <a:pPr marL="0" indent="0">
              <a:buNone/>
            </a:pPr>
            <a:r>
              <a:rPr lang="en-US" b="1" dirty="0"/>
              <a:t>Example:</a:t>
            </a:r>
            <a:r>
              <a:rPr lang="en-US" dirty="0"/>
              <a:t> New slang terms and internet memes need to be understood by NLP systems</a:t>
            </a:r>
            <a:r>
              <a:rPr lang="en-US" dirty="0" smtClean="0"/>
              <a:t>.</a:t>
            </a:r>
          </a:p>
          <a:p>
            <a:pPr marL="0" indent="0">
              <a:buNone/>
            </a:pPr>
            <a:r>
              <a:rPr lang="en-US" dirty="0"/>
              <a:t>“Flex</a:t>
            </a:r>
            <a:r>
              <a:rPr lang="en-US" dirty="0" smtClean="0"/>
              <a:t>”:</a:t>
            </a:r>
          </a:p>
          <a:p>
            <a:pPr marL="0" indent="0">
              <a:buNone/>
            </a:pPr>
            <a:r>
              <a:rPr lang="en-US" dirty="0"/>
              <a:t>Old meaning: To "flex" meant to bend a muscle.</a:t>
            </a:r>
          </a:p>
          <a:p>
            <a:pPr marL="0" indent="0">
              <a:buNone/>
            </a:pPr>
            <a:r>
              <a:rPr lang="en-US" dirty="0" smtClean="0"/>
              <a:t>New </a:t>
            </a:r>
            <a:r>
              <a:rPr lang="en-US" dirty="0"/>
              <a:t>meaning: "Flex" in modern slang refers to showing off or boasting (e.g., "He’s flexing his new car.").</a:t>
            </a:r>
          </a:p>
          <a:p>
            <a:pPr marL="0" indent="0">
              <a:buNone/>
            </a:pPr>
            <a:r>
              <a:rPr lang="en-US" b="1" dirty="0"/>
              <a:t>Solution:</a:t>
            </a:r>
            <a:r>
              <a:rPr lang="en-US" dirty="0"/>
              <a:t> Developing NLP techniques that can adapt to evolving language and incorporating knowledge from online resources. </a:t>
            </a:r>
            <a:r>
              <a:rPr lang="en-US" b="1" dirty="0"/>
              <a:t> </a:t>
            </a:r>
            <a:r>
              <a:rPr lang="en-US" dirty="0" smtClean="0"/>
              <a:t>For example </a:t>
            </a:r>
            <a:r>
              <a:rPr lang="en-US" b="1" dirty="0" smtClean="0"/>
              <a:t>regularly </a:t>
            </a:r>
            <a:r>
              <a:rPr lang="en-US" b="1" dirty="0"/>
              <a:t>update models</a:t>
            </a:r>
            <a:r>
              <a:rPr lang="en-US" dirty="0"/>
              <a:t> with new language data, particularly from social media, forums, and new books.</a:t>
            </a:r>
          </a:p>
        </p:txBody>
      </p:sp>
    </p:spTree>
    <p:extLst>
      <p:ext uri="{BB962C8B-B14F-4D97-AF65-F5344CB8AC3E}">
        <p14:creationId xmlns:p14="http://schemas.microsoft.com/office/powerpoint/2010/main" val="232603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5319319" cy="675110"/>
          </a:xfrm>
        </p:spPr>
        <p:txBody>
          <a:bodyPr>
            <a:normAutofit fontScale="90000"/>
          </a:bodyPr>
          <a:lstStyle/>
          <a:p>
            <a:r>
              <a:rPr lang="en-US" dirty="0" smtClean="0"/>
              <a:t>NLP challenges(p3)</a:t>
            </a:r>
            <a:endParaRPr lang="en-US" dirty="0"/>
          </a:p>
        </p:txBody>
      </p:sp>
      <p:sp>
        <p:nvSpPr>
          <p:cNvPr id="3" name="Content Placeholder 2"/>
          <p:cNvSpPr>
            <a:spLocks noGrp="1"/>
          </p:cNvSpPr>
          <p:nvPr>
            <p:ph idx="1"/>
          </p:nvPr>
        </p:nvSpPr>
        <p:spPr>
          <a:xfrm>
            <a:off x="318781" y="1481676"/>
            <a:ext cx="11610363" cy="4351338"/>
          </a:xfrm>
        </p:spPr>
        <p:txBody>
          <a:bodyPr>
            <a:normAutofit/>
          </a:bodyPr>
          <a:lstStyle/>
          <a:p>
            <a:pPr marL="0" indent="0">
              <a:buNone/>
            </a:pPr>
            <a:r>
              <a:rPr lang="en-US" dirty="0"/>
              <a:t>4</a:t>
            </a:r>
            <a:r>
              <a:rPr lang="en-US" dirty="0" smtClean="0"/>
              <a:t>. </a:t>
            </a:r>
            <a:r>
              <a:rPr lang="en-US" dirty="0"/>
              <a:t>Language Complexity and Diversity:</a:t>
            </a:r>
          </a:p>
          <a:p>
            <a:pPr marL="0" indent="0" fontAlgn="ctr">
              <a:buNone/>
            </a:pPr>
            <a:r>
              <a:rPr lang="en-US" b="1" dirty="0"/>
              <a:t>Issue:</a:t>
            </a:r>
            <a:r>
              <a:rPr lang="en-US" dirty="0"/>
              <a:t> Languages have varying structures, grammars, and vocabularies. NLP systems need to be able to handle diverse languages and dialects. </a:t>
            </a:r>
          </a:p>
          <a:p>
            <a:pPr marL="0" indent="0" fontAlgn="ctr">
              <a:buNone/>
            </a:pPr>
            <a:r>
              <a:rPr lang="en-US" b="1" dirty="0"/>
              <a:t>Example:</a:t>
            </a:r>
            <a:r>
              <a:rPr lang="en-US" dirty="0"/>
              <a:t> Languages with complex grammatical structures can be challenging to model. </a:t>
            </a:r>
          </a:p>
          <a:p>
            <a:pPr marL="0" indent="0">
              <a:buNone/>
            </a:pPr>
            <a:r>
              <a:rPr lang="en-US" b="1" dirty="0"/>
              <a:t>Solution:</a:t>
            </a:r>
            <a:r>
              <a:rPr lang="en-US" dirty="0"/>
              <a:t> Developing models that can generalize across different languages and dialects, and utilizing cross-lingual transfer learning. </a:t>
            </a:r>
          </a:p>
        </p:txBody>
      </p:sp>
    </p:spTree>
    <p:extLst>
      <p:ext uri="{BB962C8B-B14F-4D97-AF65-F5344CB8AC3E}">
        <p14:creationId xmlns:p14="http://schemas.microsoft.com/office/powerpoint/2010/main" val="18348845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680</TotalTime>
  <Words>443</Words>
  <Application>Microsoft Office PowerPoint</Application>
  <PresentationFormat>Widescreen</PresentationFormat>
  <Paragraphs>105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GenAI Module7 – NLP- applications-challenges</vt:lpstr>
      <vt:lpstr>PowerPoint Presentation</vt:lpstr>
      <vt:lpstr>What is NLP ?</vt:lpstr>
      <vt:lpstr>NLP : Applications(p1)</vt:lpstr>
      <vt:lpstr>NLP : Applications(p2)</vt:lpstr>
      <vt:lpstr>NLP : Applications(p3)</vt:lpstr>
      <vt:lpstr>NLP : Applications(p4)</vt:lpstr>
      <vt:lpstr>NLP : Applications(p5)</vt:lpstr>
      <vt:lpstr>NLP : Applications(p6)</vt:lpstr>
      <vt:lpstr>NLP : Applications(p6)</vt:lpstr>
      <vt:lpstr>NLP : Applications(p7)</vt:lpstr>
      <vt:lpstr>NLP challenges(p1)</vt:lpstr>
      <vt:lpstr>NLP challenges(p2)</vt:lpstr>
      <vt:lpstr>NLP challenges(p4)</vt:lpstr>
      <vt:lpstr>NLP challenges(p3)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 Module7 - NLP</dc:title>
  <dc:creator>Windows User</dc:creator>
  <cp:lastModifiedBy>hi</cp:lastModifiedBy>
  <cp:revision>119</cp:revision>
  <dcterms:created xsi:type="dcterms:W3CDTF">2025-01-16T06:16:23Z</dcterms:created>
  <dcterms:modified xsi:type="dcterms:W3CDTF">2025-05-05T19:04:41Z</dcterms:modified>
</cp:coreProperties>
</file>