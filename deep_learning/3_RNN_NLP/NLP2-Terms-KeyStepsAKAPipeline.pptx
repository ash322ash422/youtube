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5" r:id="rId4"/>
    <p:sldId id="260" r:id="rId5"/>
    <p:sldId id="258" r:id="rId6"/>
    <p:sldId id="281" r:id="rId7"/>
    <p:sldId id="282" r:id="rId8"/>
    <p:sldId id="286" r:id="rId9"/>
    <p:sldId id="280" r:id="rId10"/>
    <p:sldId id="259" r:id="rId11"/>
    <p:sldId id="262" r:id="rId12"/>
    <p:sldId id="263" r:id="rId13"/>
    <p:sldId id="287" r:id="rId14"/>
    <p:sldId id="261" r:id="rId15"/>
    <p:sldId id="265" r:id="rId16"/>
    <p:sldId id="266" r:id="rId17"/>
    <p:sldId id="267" r:id="rId18"/>
    <p:sldId id="268" r:id="rId19"/>
    <p:sldId id="264" r:id="rId20"/>
    <p:sldId id="283" r:id="rId21"/>
    <p:sldId id="284" r:id="rId22"/>
    <p:sldId id="270" r:id="rId23"/>
    <p:sldId id="279" r:id="rId24"/>
    <p:sldId id="269" r:id="rId25"/>
    <p:sldId id="271" r:id="rId26"/>
    <p:sldId id="272" r:id="rId27"/>
    <p:sldId id="288" r:id="rId28"/>
    <p:sldId id="273" r:id="rId29"/>
    <p:sldId id="275" r:id="rId30"/>
    <p:sldId id="274" r:id="rId31"/>
    <p:sldId id="276" r:id="rId32"/>
    <p:sldId id="277" r:id="rId33"/>
    <p:sldId id="27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69" autoAdjust="0"/>
    <p:restoredTop sz="94660"/>
  </p:normalViewPr>
  <p:slideViewPr>
    <p:cSldViewPr snapToGrid="0">
      <p:cViewPr varScale="1">
        <p:scale>
          <a:sx n="82" d="100"/>
          <a:sy n="82" d="100"/>
        </p:scale>
        <p:origin x="48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3B8E4F-2E9D-4396-9403-566070FEAAB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CA52D65C-C524-4C1F-8047-728773BB3F03}">
      <dgm:prSet phldrT="[Text]"/>
      <dgm:spPr/>
      <dgm:t>
        <a:bodyPr/>
        <a:lstStyle/>
        <a:p>
          <a:r>
            <a:rPr lang="en-US" b="1" dirty="0"/>
            <a:t>1. Text Acquisition</a:t>
          </a:r>
        </a:p>
        <a:p>
          <a:r>
            <a:rPr lang="en-US" dirty="0"/>
            <a:t>Collect or load raw text data.</a:t>
          </a:r>
        </a:p>
        <a:p>
          <a:r>
            <a:rPr lang="fr-FR" dirty="0"/>
            <a:t>Sources: files, </a:t>
          </a:r>
          <a:r>
            <a:rPr lang="fr-FR" dirty="0" err="1"/>
            <a:t>databases</a:t>
          </a:r>
          <a:r>
            <a:rPr lang="fr-FR" dirty="0"/>
            <a:t>, APIs (</a:t>
          </a:r>
          <a:r>
            <a:rPr lang="fr-FR" dirty="0" err="1"/>
            <a:t>e.g</a:t>
          </a:r>
          <a:r>
            <a:rPr lang="fr-FR" dirty="0"/>
            <a:t>., Twitter API), web </a:t>
          </a:r>
          <a:r>
            <a:rPr lang="fr-FR" dirty="0" err="1"/>
            <a:t>scraping</a:t>
          </a:r>
          <a:r>
            <a:rPr lang="fr-FR" dirty="0"/>
            <a:t>, etc.</a:t>
          </a:r>
          <a:endParaRPr lang="en-US" dirty="0"/>
        </a:p>
      </dgm:t>
    </dgm:pt>
    <dgm:pt modelId="{2C790ECE-496E-4FC8-A7D5-989EF509FBA7}" type="parTrans" cxnId="{7DA3AC6E-7FEA-42BF-B023-238C071B9E2E}">
      <dgm:prSet/>
      <dgm:spPr/>
      <dgm:t>
        <a:bodyPr/>
        <a:lstStyle/>
        <a:p>
          <a:endParaRPr lang="en-US"/>
        </a:p>
      </dgm:t>
    </dgm:pt>
    <dgm:pt modelId="{761CBF07-9D9B-49AF-B85F-059F41968DC0}" type="sibTrans" cxnId="{7DA3AC6E-7FEA-42BF-B023-238C071B9E2E}">
      <dgm:prSet/>
      <dgm:spPr/>
      <dgm:t>
        <a:bodyPr/>
        <a:lstStyle/>
        <a:p>
          <a:endParaRPr lang="en-US"/>
        </a:p>
      </dgm:t>
    </dgm:pt>
    <dgm:pt modelId="{243C6970-D0C0-4D9F-A4FF-9D3D975D4E10}">
      <dgm:prSet phldrT="[Text]"/>
      <dgm:spPr/>
      <dgm:t>
        <a:bodyPr/>
        <a:lstStyle/>
        <a:p>
          <a:r>
            <a:rPr lang="en-US" b="1" dirty="0"/>
            <a:t>2. Text Cleaning (Preprocessing)</a:t>
          </a:r>
        </a:p>
        <a:p>
          <a:r>
            <a:rPr lang="en-US" dirty="0"/>
            <a:t>Lowercasing</a:t>
          </a:r>
        </a:p>
        <a:p>
          <a:r>
            <a:rPr lang="en-US" dirty="0"/>
            <a:t>Remove unwanted parts:</a:t>
          </a:r>
        </a:p>
        <a:p>
          <a:r>
            <a:rPr lang="en-US" dirty="0"/>
            <a:t>like punctuation, special characters, numbers, HTML tags, URLs, mentions (@username)</a:t>
          </a:r>
        </a:p>
        <a:p>
          <a:r>
            <a:rPr lang="en-US" dirty="0"/>
            <a:t>Remove </a:t>
          </a:r>
          <a:r>
            <a:rPr lang="en-US" dirty="0" err="1"/>
            <a:t>emojis</a:t>
          </a:r>
          <a:r>
            <a:rPr lang="en-US" dirty="0"/>
            <a:t> (optional)</a:t>
          </a:r>
        </a:p>
      </dgm:t>
    </dgm:pt>
    <dgm:pt modelId="{F74791AA-33B4-44BE-9B3D-6195F889148D}" type="parTrans" cxnId="{109F66A3-1D91-41D3-96CC-EAD2A901BF88}">
      <dgm:prSet/>
      <dgm:spPr/>
      <dgm:t>
        <a:bodyPr/>
        <a:lstStyle/>
        <a:p>
          <a:endParaRPr lang="en-US"/>
        </a:p>
      </dgm:t>
    </dgm:pt>
    <dgm:pt modelId="{91A00A64-9B39-49F1-88C6-9A07EB2B6463}" type="sibTrans" cxnId="{109F66A3-1D91-41D3-96CC-EAD2A901BF88}">
      <dgm:prSet/>
      <dgm:spPr/>
      <dgm:t>
        <a:bodyPr/>
        <a:lstStyle/>
        <a:p>
          <a:endParaRPr lang="en-US"/>
        </a:p>
      </dgm:t>
    </dgm:pt>
    <dgm:pt modelId="{A284574E-85C1-4D29-AE7A-E9FD2E547DAB}">
      <dgm:prSet phldrT="[Text]"/>
      <dgm:spPr/>
      <dgm:t>
        <a:bodyPr/>
        <a:lstStyle/>
        <a:p>
          <a:r>
            <a:rPr lang="en-US" dirty="0"/>
            <a:t>3. Tokenization</a:t>
          </a:r>
        </a:p>
        <a:p>
          <a:r>
            <a:rPr lang="en-US" dirty="0"/>
            <a:t>Split text into individual words or </a:t>
          </a:r>
          <a:r>
            <a:rPr lang="en-US" dirty="0" err="1"/>
            <a:t>subwords</a:t>
          </a:r>
          <a:r>
            <a:rPr lang="en-US" dirty="0"/>
            <a:t>.</a:t>
          </a:r>
        </a:p>
        <a:p>
          <a:r>
            <a:rPr lang="en-US" dirty="0"/>
            <a:t>Example: "Virgin America is great" → ["Virgin", "America", "is", "great"]</a:t>
          </a:r>
        </a:p>
        <a:p>
          <a:r>
            <a:rPr lang="en-US" dirty="0"/>
            <a:t>Libraries: </a:t>
          </a:r>
          <a:r>
            <a:rPr lang="en-US" dirty="0" err="1"/>
            <a:t>nltk</a:t>
          </a:r>
          <a:r>
            <a:rPr lang="en-US" dirty="0"/>
            <a:t>, </a:t>
          </a:r>
          <a:r>
            <a:rPr lang="en-US" dirty="0" err="1"/>
            <a:t>spaCy</a:t>
          </a:r>
          <a:r>
            <a:rPr lang="en-US" dirty="0"/>
            <a:t>, transformers.</a:t>
          </a:r>
        </a:p>
      </dgm:t>
    </dgm:pt>
    <dgm:pt modelId="{58B6568E-AF7E-47E4-AC4C-3E35C7E5B43F}" type="parTrans" cxnId="{1B2CECB2-0DFA-4A2E-B0D8-C84428A5C4D5}">
      <dgm:prSet/>
      <dgm:spPr/>
      <dgm:t>
        <a:bodyPr/>
        <a:lstStyle/>
        <a:p>
          <a:endParaRPr lang="en-US"/>
        </a:p>
      </dgm:t>
    </dgm:pt>
    <dgm:pt modelId="{E8F7E40B-621D-4943-B37E-A97B839557A5}" type="sibTrans" cxnId="{1B2CECB2-0DFA-4A2E-B0D8-C84428A5C4D5}">
      <dgm:prSet/>
      <dgm:spPr/>
      <dgm:t>
        <a:bodyPr/>
        <a:lstStyle/>
        <a:p>
          <a:endParaRPr lang="en-US"/>
        </a:p>
      </dgm:t>
    </dgm:pt>
    <dgm:pt modelId="{FCB03A75-110F-4703-85E9-D18F2E2978F4}">
      <dgm:prSet phldrT="[Text]"/>
      <dgm:spPr/>
      <dgm:t>
        <a:bodyPr/>
        <a:lstStyle/>
        <a:p>
          <a:r>
            <a:rPr lang="en-US" b="1" dirty="0"/>
            <a:t>4. POS tagging &amp; Normalization</a:t>
          </a:r>
        </a:p>
        <a:p>
          <a:r>
            <a:rPr lang="en-US" b="0" dirty="0"/>
            <a:t>4.0) POS tagging improves normalization </a:t>
          </a:r>
        </a:p>
        <a:p>
          <a:r>
            <a:rPr lang="en-US" dirty="0"/>
            <a:t>4.1)Norm. makes words more uniform:</a:t>
          </a:r>
        </a:p>
        <a:p>
          <a:r>
            <a:rPr lang="en-US" b="1" dirty="0"/>
            <a:t>Stemming</a:t>
          </a:r>
          <a:r>
            <a:rPr lang="en-US" dirty="0"/>
            <a:t> (cut to root form): "running" → "run"</a:t>
          </a:r>
        </a:p>
        <a:p>
          <a:r>
            <a:rPr lang="en-US" b="1" dirty="0"/>
            <a:t>Lemmatization</a:t>
          </a:r>
          <a:r>
            <a:rPr lang="en-US" dirty="0"/>
            <a:t> (dictionary form): "better" → "good"</a:t>
          </a:r>
        </a:p>
        <a:p>
          <a:r>
            <a:rPr lang="en-US" dirty="0"/>
            <a:t>4.2) Norm. removes </a:t>
          </a:r>
          <a:r>
            <a:rPr lang="en-US" dirty="0" err="1"/>
            <a:t>stopwords</a:t>
          </a:r>
          <a:r>
            <a:rPr lang="en-US" dirty="0"/>
            <a:t> (common words like "is", "the").</a:t>
          </a:r>
        </a:p>
      </dgm:t>
    </dgm:pt>
    <dgm:pt modelId="{F2B88FAB-C68D-4438-AF55-D7732EA8ABE5}" type="parTrans" cxnId="{CFB0D465-5467-469F-8D00-8605B004C192}">
      <dgm:prSet/>
      <dgm:spPr/>
      <dgm:t>
        <a:bodyPr/>
        <a:lstStyle/>
        <a:p>
          <a:endParaRPr lang="en-US"/>
        </a:p>
      </dgm:t>
    </dgm:pt>
    <dgm:pt modelId="{83A3C336-922D-4448-9D89-52E473ECDD39}" type="sibTrans" cxnId="{CFB0D465-5467-469F-8D00-8605B004C192}">
      <dgm:prSet/>
      <dgm:spPr/>
      <dgm:t>
        <a:bodyPr/>
        <a:lstStyle/>
        <a:p>
          <a:endParaRPr lang="en-US"/>
        </a:p>
      </dgm:t>
    </dgm:pt>
    <dgm:pt modelId="{813FB44E-7D16-4ED4-BA68-A6E0652D47B0}" type="pres">
      <dgm:prSet presAssocID="{303B8E4F-2E9D-4396-9403-566070FEAAB6}" presName="Name0" presStyleCnt="0">
        <dgm:presLayoutVars>
          <dgm:dir/>
          <dgm:resizeHandles val="exact"/>
        </dgm:presLayoutVars>
      </dgm:prSet>
      <dgm:spPr/>
    </dgm:pt>
    <dgm:pt modelId="{C35A75CD-558B-4038-B5ED-FE94802087E2}" type="pres">
      <dgm:prSet presAssocID="{CA52D65C-C524-4C1F-8047-728773BB3F03}" presName="node" presStyleLbl="node1" presStyleIdx="0" presStyleCnt="4">
        <dgm:presLayoutVars>
          <dgm:bulletEnabled val="1"/>
        </dgm:presLayoutVars>
      </dgm:prSet>
      <dgm:spPr/>
    </dgm:pt>
    <dgm:pt modelId="{D89F832D-E3ED-4E37-854E-BD18B3B3376F}" type="pres">
      <dgm:prSet presAssocID="{761CBF07-9D9B-49AF-B85F-059F41968DC0}" presName="sibTrans" presStyleLbl="sibTrans2D1" presStyleIdx="0" presStyleCnt="3"/>
      <dgm:spPr/>
    </dgm:pt>
    <dgm:pt modelId="{B53021F2-D7F0-4FAF-BB2B-D8D0962C06F8}" type="pres">
      <dgm:prSet presAssocID="{761CBF07-9D9B-49AF-B85F-059F41968DC0}" presName="connectorText" presStyleLbl="sibTrans2D1" presStyleIdx="0" presStyleCnt="3"/>
      <dgm:spPr/>
    </dgm:pt>
    <dgm:pt modelId="{4FAD35A4-61F3-418D-BE87-E52A64AFAABF}" type="pres">
      <dgm:prSet presAssocID="{243C6970-D0C0-4D9F-A4FF-9D3D975D4E10}" presName="node" presStyleLbl="node1" presStyleIdx="1" presStyleCnt="4">
        <dgm:presLayoutVars>
          <dgm:bulletEnabled val="1"/>
        </dgm:presLayoutVars>
      </dgm:prSet>
      <dgm:spPr/>
    </dgm:pt>
    <dgm:pt modelId="{7115A0E0-D94C-4BEC-8C6E-8F6E167A80FC}" type="pres">
      <dgm:prSet presAssocID="{91A00A64-9B39-49F1-88C6-9A07EB2B6463}" presName="sibTrans" presStyleLbl="sibTrans2D1" presStyleIdx="1" presStyleCnt="3"/>
      <dgm:spPr/>
    </dgm:pt>
    <dgm:pt modelId="{1D714562-FF97-4782-ADA8-BC212F1AD835}" type="pres">
      <dgm:prSet presAssocID="{91A00A64-9B39-49F1-88C6-9A07EB2B6463}" presName="connectorText" presStyleLbl="sibTrans2D1" presStyleIdx="1" presStyleCnt="3"/>
      <dgm:spPr/>
    </dgm:pt>
    <dgm:pt modelId="{0BED751A-81B5-4F78-8ACE-26CD8123C9DA}" type="pres">
      <dgm:prSet presAssocID="{A284574E-85C1-4D29-AE7A-E9FD2E547DAB}" presName="node" presStyleLbl="node1" presStyleIdx="2" presStyleCnt="4">
        <dgm:presLayoutVars>
          <dgm:bulletEnabled val="1"/>
        </dgm:presLayoutVars>
      </dgm:prSet>
      <dgm:spPr/>
    </dgm:pt>
    <dgm:pt modelId="{21319410-2170-4FC1-80BC-A15C57440B7B}" type="pres">
      <dgm:prSet presAssocID="{E8F7E40B-621D-4943-B37E-A97B839557A5}" presName="sibTrans" presStyleLbl="sibTrans2D1" presStyleIdx="2" presStyleCnt="3"/>
      <dgm:spPr/>
    </dgm:pt>
    <dgm:pt modelId="{4EC31E27-4C19-47B0-A3B0-14A554CA0D12}" type="pres">
      <dgm:prSet presAssocID="{E8F7E40B-621D-4943-B37E-A97B839557A5}" presName="connectorText" presStyleLbl="sibTrans2D1" presStyleIdx="2" presStyleCnt="3"/>
      <dgm:spPr/>
    </dgm:pt>
    <dgm:pt modelId="{E8DD1799-27EF-49F2-854E-787D75467B88}" type="pres">
      <dgm:prSet presAssocID="{FCB03A75-110F-4703-85E9-D18F2E2978F4}" presName="node" presStyleLbl="node1" presStyleIdx="3" presStyleCnt="4">
        <dgm:presLayoutVars>
          <dgm:bulletEnabled val="1"/>
        </dgm:presLayoutVars>
      </dgm:prSet>
      <dgm:spPr/>
    </dgm:pt>
  </dgm:ptLst>
  <dgm:cxnLst>
    <dgm:cxn modelId="{8E293F29-74BC-465D-A32F-02868DC32EC7}" type="presOf" srcId="{303B8E4F-2E9D-4396-9403-566070FEAAB6}" destId="{813FB44E-7D16-4ED4-BA68-A6E0652D47B0}" srcOrd="0" destOrd="0" presId="urn:microsoft.com/office/officeart/2005/8/layout/process1"/>
    <dgm:cxn modelId="{165CAC63-999B-4346-9064-E83259F67CD4}" type="presOf" srcId="{E8F7E40B-621D-4943-B37E-A97B839557A5}" destId="{4EC31E27-4C19-47B0-A3B0-14A554CA0D12}" srcOrd="1" destOrd="0" presId="urn:microsoft.com/office/officeart/2005/8/layout/process1"/>
    <dgm:cxn modelId="{CFB0D465-5467-469F-8D00-8605B004C192}" srcId="{303B8E4F-2E9D-4396-9403-566070FEAAB6}" destId="{FCB03A75-110F-4703-85E9-D18F2E2978F4}" srcOrd="3" destOrd="0" parTransId="{F2B88FAB-C68D-4438-AF55-D7732EA8ABE5}" sibTransId="{83A3C336-922D-4448-9D89-52E473ECDD39}"/>
    <dgm:cxn modelId="{7DA3AC6E-7FEA-42BF-B023-238C071B9E2E}" srcId="{303B8E4F-2E9D-4396-9403-566070FEAAB6}" destId="{CA52D65C-C524-4C1F-8047-728773BB3F03}" srcOrd="0" destOrd="0" parTransId="{2C790ECE-496E-4FC8-A7D5-989EF509FBA7}" sibTransId="{761CBF07-9D9B-49AF-B85F-059F41968DC0}"/>
    <dgm:cxn modelId="{C8E3BA7A-6993-45FC-BE8F-61A3D1D7B760}" type="presOf" srcId="{FCB03A75-110F-4703-85E9-D18F2E2978F4}" destId="{E8DD1799-27EF-49F2-854E-787D75467B88}" srcOrd="0" destOrd="0" presId="urn:microsoft.com/office/officeart/2005/8/layout/process1"/>
    <dgm:cxn modelId="{D8C08C94-83B6-4F0E-900E-AA5579126D40}" type="presOf" srcId="{91A00A64-9B39-49F1-88C6-9A07EB2B6463}" destId="{1D714562-FF97-4782-ADA8-BC212F1AD835}" srcOrd="1" destOrd="0" presId="urn:microsoft.com/office/officeart/2005/8/layout/process1"/>
    <dgm:cxn modelId="{109F66A3-1D91-41D3-96CC-EAD2A901BF88}" srcId="{303B8E4F-2E9D-4396-9403-566070FEAAB6}" destId="{243C6970-D0C0-4D9F-A4FF-9D3D975D4E10}" srcOrd="1" destOrd="0" parTransId="{F74791AA-33B4-44BE-9B3D-6195F889148D}" sibTransId="{91A00A64-9B39-49F1-88C6-9A07EB2B6463}"/>
    <dgm:cxn modelId="{867472AD-F19E-4C5F-9894-6362DFA3FFF9}" type="presOf" srcId="{761CBF07-9D9B-49AF-B85F-059F41968DC0}" destId="{B53021F2-D7F0-4FAF-BB2B-D8D0962C06F8}" srcOrd="1" destOrd="0" presId="urn:microsoft.com/office/officeart/2005/8/layout/process1"/>
    <dgm:cxn modelId="{1B2CECB2-0DFA-4A2E-B0D8-C84428A5C4D5}" srcId="{303B8E4F-2E9D-4396-9403-566070FEAAB6}" destId="{A284574E-85C1-4D29-AE7A-E9FD2E547DAB}" srcOrd="2" destOrd="0" parTransId="{58B6568E-AF7E-47E4-AC4C-3E35C7E5B43F}" sibTransId="{E8F7E40B-621D-4943-B37E-A97B839557A5}"/>
    <dgm:cxn modelId="{C789C5CF-907B-4CA4-9EDA-39AC3999069D}" type="presOf" srcId="{761CBF07-9D9B-49AF-B85F-059F41968DC0}" destId="{D89F832D-E3ED-4E37-854E-BD18B3B3376F}" srcOrd="0" destOrd="0" presId="urn:microsoft.com/office/officeart/2005/8/layout/process1"/>
    <dgm:cxn modelId="{D1C0B5D8-E219-4EE0-BD99-014ECF4E0676}" type="presOf" srcId="{CA52D65C-C524-4C1F-8047-728773BB3F03}" destId="{C35A75CD-558B-4038-B5ED-FE94802087E2}" srcOrd="0" destOrd="0" presId="urn:microsoft.com/office/officeart/2005/8/layout/process1"/>
    <dgm:cxn modelId="{5A983ED9-1B6C-41D2-B736-17C569C91084}" type="presOf" srcId="{E8F7E40B-621D-4943-B37E-A97B839557A5}" destId="{21319410-2170-4FC1-80BC-A15C57440B7B}" srcOrd="0" destOrd="0" presId="urn:microsoft.com/office/officeart/2005/8/layout/process1"/>
    <dgm:cxn modelId="{8892CCD9-FB57-4BA0-9882-890C0BAAE3AF}" type="presOf" srcId="{A284574E-85C1-4D29-AE7A-E9FD2E547DAB}" destId="{0BED751A-81B5-4F78-8ACE-26CD8123C9DA}" srcOrd="0" destOrd="0" presId="urn:microsoft.com/office/officeart/2005/8/layout/process1"/>
    <dgm:cxn modelId="{3BE46FE4-F88D-4603-87A7-DF7B0B14C4AF}" type="presOf" srcId="{243C6970-D0C0-4D9F-A4FF-9D3D975D4E10}" destId="{4FAD35A4-61F3-418D-BE87-E52A64AFAABF}" srcOrd="0" destOrd="0" presId="urn:microsoft.com/office/officeart/2005/8/layout/process1"/>
    <dgm:cxn modelId="{D4CD53F1-72FA-4E6A-886C-1DFC88FDAB1C}" type="presOf" srcId="{91A00A64-9B39-49F1-88C6-9A07EB2B6463}" destId="{7115A0E0-D94C-4BEC-8C6E-8F6E167A80FC}" srcOrd="0" destOrd="0" presId="urn:microsoft.com/office/officeart/2005/8/layout/process1"/>
    <dgm:cxn modelId="{571E9E73-905F-48EF-8A0A-91B4640E04D0}" type="presParOf" srcId="{813FB44E-7D16-4ED4-BA68-A6E0652D47B0}" destId="{C35A75CD-558B-4038-B5ED-FE94802087E2}" srcOrd="0" destOrd="0" presId="urn:microsoft.com/office/officeart/2005/8/layout/process1"/>
    <dgm:cxn modelId="{C042B741-9C1D-40E6-AE97-A8679568A1AC}" type="presParOf" srcId="{813FB44E-7D16-4ED4-BA68-A6E0652D47B0}" destId="{D89F832D-E3ED-4E37-854E-BD18B3B3376F}" srcOrd="1" destOrd="0" presId="urn:microsoft.com/office/officeart/2005/8/layout/process1"/>
    <dgm:cxn modelId="{A64FAC06-6D93-46A9-98B0-4E8FDF46F7D0}" type="presParOf" srcId="{D89F832D-E3ED-4E37-854E-BD18B3B3376F}" destId="{B53021F2-D7F0-4FAF-BB2B-D8D0962C06F8}" srcOrd="0" destOrd="0" presId="urn:microsoft.com/office/officeart/2005/8/layout/process1"/>
    <dgm:cxn modelId="{3E843724-0BA0-47BB-BCCA-FC510E3E5271}" type="presParOf" srcId="{813FB44E-7D16-4ED4-BA68-A6E0652D47B0}" destId="{4FAD35A4-61F3-418D-BE87-E52A64AFAABF}" srcOrd="2" destOrd="0" presId="urn:microsoft.com/office/officeart/2005/8/layout/process1"/>
    <dgm:cxn modelId="{68C55085-B310-475B-B63E-0FDA5D6F5DC0}" type="presParOf" srcId="{813FB44E-7D16-4ED4-BA68-A6E0652D47B0}" destId="{7115A0E0-D94C-4BEC-8C6E-8F6E167A80FC}" srcOrd="3" destOrd="0" presId="urn:microsoft.com/office/officeart/2005/8/layout/process1"/>
    <dgm:cxn modelId="{71F4183D-ACA5-4E30-8C60-618680740E33}" type="presParOf" srcId="{7115A0E0-D94C-4BEC-8C6E-8F6E167A80FC}" destId="{1D714562-FF97-4782-ADA8-BC212F1AD835}" srcOrd="0" destOrd="0" presId="urn:microsoft.com/office/officeart/2005/8/layout/process1"/>
    <dgm:cxn modelId="{735AF7A8-0F19-43AF-A84E-E586F1524B8F}" type="presParOf" srcId="{813FB44E-7D16-4ED4-BA68-A6E0652D47B0}" destId="{0BED751A-81B5-4F78-8ACE-26CD8123C9DA}" srcOrd="4" destOrd="0" presId="urn:microsoft.com/office/officeart/2005/8/layout/process1"/>
    <dgm:cxn modelId="{BF372B0E-472B-4935-965A-03756BAA5904}" type="presParOf" srcId="{813FB44E-7D16-4ED4-BA68-A6E0652D47B0}" destId="{21319410-2170-4FC1-80BC-A15C57440B7B}" srcOrd="5" destOrd="0" presId="urn:microsoft.com/office/officeart/2005/8/layout/process1"/>
    <dgm:cxn modelId="{5EB149C6-B7DB-4304-8416-8128E1FF71EB}" type="presParOf" srcId="{21319410-2170-4FC1-80BC-A15C57440B7B}" destId="{4EC31E27-4C19-47B0-A3B0-14A554CA0D12}" srcOrd="0" destOrd="0" presId="urn:microsoft.com/office/officeart/2005/8/layout/process1"/>
    <dgm:cxn modelId="{53C854FF-5D69-450A-ABE9-5416472965FE}" type="presParOf" srcId="{813FB44E-7D16-4ED4-BA68-A6E0652D47B0}" destId="{E8DD1799-27EF-49F2-854E-787D75467B88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3B8E4F-2E9D-4396-9403-566070FEAAB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CA52D65C-C524-4C1F-8047-728773BB3F03}">
      <dgm:prSet phldrT="[Text]"/>
      <dgm:spPr/>
      <dgm:t>
        <a:bodyPr/>
        <a:lstStyle/>
        <a:p>
          <a:r>
            <a:rPr lang="en-US" b="1" dirty="0"/>
            <a:t>5. Text Representation</a:t>
          </a:r>
        </a:p>
        <a:p>
          <a:r>
            <a:rPr lang="en-US" dirty="0"/>
            <a:t>Convert text into </a:t>
          </a:r>
          <a:r>
            <a:rPr lang="en-US" b="1" dirty="0"/>
            <a:t>numerical format</a:t>
          </a:r>
          <a:r>
            <a:rPr lang="en-US" dirty="0"/>
            <a:t> (models can't read raw text).</a:t>
          </a:r>
        </a:p>
        <a:p>
          <a:r>
            <a:rPr lang="en-US" dirty="0"/>
            <a:t>Methods:</a:t>
          </a:r>
        </a:p>
        <a:p>
          <a:r>
            <a:rPr lang="en-US" b="0" dirty="0"/>
            <a:t>a) N-gram</a:t>
          </a:r>
        </a:p>
        <a:p>
          <a:r>
            <a:rPr lang="en-US" b="0" dirty="0"/>
            <a:t>b) Bag of Words (</a:t>
          </a:r>
          <a:r>
            <a:rPr lang="en-US" b="0" dirty="0" err="1"/>
            <a:t>BoW</a:t>
          </a:r>
          <a:r>
            <a:rPr lang="en-US" b="0" dirty="0"/>
            <a:t>)</a:t>
          </a:r>
        </a:p>
        <a:p>
          <a:r>
            <a:rPr lang="en-US" b="0" dirty="0"/>
            <a:t>c) TF-IDF (Term Frequency - Inverse Document Frequency)</a:t>
          </a:r>
        </a:p>
        <a:p>
          <a:r>
            <a:rPr lang="en-US" b="0" dirty="0"/>
            <a:t>d) Word </a:t>
          </a:r>
          <a:r>
            <a:rPr lang="en-US" b="0" dirty="0" err="1"/>
            <a:t>Embeddings</a:t>
          </a:r>
          <a:r>
            <a:rPr lang="en-US" b="0" dirty="0"/>
            <a:t> (Word2Vec, </a:t>
          </a:r>
          <a:r>
            <a:rPr lang="en-US" b="0" dirty="0" err="1"/>
            <a:t>GloVe</a:t>
          </a:r>
          <a:r>
            <a:rPr lang="en-US" b="0" dirty="0"/>
            <a:t>, </a:t>
          </a:r>
          <a:r>
            <a:rPr lang="en-US" b="0" dirty="0" err="1"/>
            <a:t>FastText</a:t>
          </a:r>
          <a:r>
            <a:rPr lang="en-US" b="0" dirty="0"/>
            <a:t>)</a:t>
          </a:r>
        </a:p>
        <a:p>
          <a:r>
            <a:rPr lang="en-US" b="0" dirty="0"/>
            <a:t>d) Transformer </a:t>
          </a:r>
          <a:r>
            <a:rPr lang="en-US" b="0" dirty="0" err="1"/>
            <a:t>Embeddings</a:t>
          </a:r>
          <a:r>
            <a:rPr lang="en-US" b="0" dirty="0"/>
            <a:t> (BERT, </a:t>
          </a:r>
          <a:r>
            <a:rPr lang="en-US" b="0" dirty="0" err="1"/>
            <a:t>RoBERTa</a:t>
          </a:r>
          <a:r>
            <a:rPr lang="en-US" b="0" dirty="0"/>
            <a:t>, etc.)</a:t>
          </a:r>
        </a:p>
      </dgm:t>
    </dgm:pt>
    <dgm:pt modelId="{2C790ECE-496E-4FC8-A7D5-989EF509FBA7}" type="parTrans" cxnId="{7DA3AC6E-7FEA-42BF-B023-238C071B9E2E}">
      <dgm:prSet/>
      <dgm:spPr/>
      <dgm:t>
        <a:bodyPr/>
        <a:lstStyle/>
        <a:p>
          <a:endParaRPr lang="en-US"/>
        </a:p>
      </dgm:t>
    </dgm:pt>
    <dgm:pt modelId="{761CBF07-9D9B-49AF-B85F-059F41968DC0}" type="sibTrans" cxnId="{7DA3AC6E-7FEA-42BF-B023-238C071B9E2E}">
      <dgm:prSet/>
      <dgm:spPr/>
      <dgm:t>
        <a:bodyPr/>
        <a:lstStyle/>
        <a:p>
          <a:endParaRPr lang="en-US"/>
        </a:p>
      </dgm:t>
    </dgm:pt>
    <dgm:pt modelId="{243C6970-D0C0-4D9F-A4FF-9D3D975D4E10}">
      <dgm:prSet phldrT="[Text]"/>
      <dgm:spPr/>
      <dgm:t>
        <a:bodyPr/>
        <a:lstStyle/>
        <a:p>
          <a:r>
            <a:rPr lang="en-US" b="1" dirty="0"/>
            <a:t>6. Model Building</a:t>
          </a:r>
        </a:p>
        <a:p>
          <a:r>
            <a:rPr lang="en-US" dirty="0"/>
            <a:t>Choose and train models:</a:t>
          </a:r>
        </a:p>
        <a:p>
          <a:r>
            <a:rPr lang="en-US" dirty="0"/>
            <a:t>Classical ML: Logistic Regression, SVM, Random Forest</a:t>
          </a:r>
        </a:p>
        <a:p>
          <a:r>
            <a:rPr lang="en-US" dirty="0"/>
            <a:t>Deep Learning: RNN, LSTM, GRU, Transformer</a:t>
          </a:r>
        </a:p>
        <a:p>
          <a:r>
            <a:rPr lang="en-US" dirty="0" err="1"/>
            <a:t>Pretrained</a:t>
          </a:r>
          <a:r>
            <a:rPr lang="en-US" dirty="0"/>
            <a:t> Models: BERT, GPT, etc.</a:t>
          </a:r>
        </a:p>
      </dgm:t>
    </dgm:pt>
    <dgm:pt modelId="{F74791AA-33B4-44BE-9B3D-6195F889148D}" type="parTrans" cxnId="{109F66A3-1D91-41D3-96CC-EAD2A901BF88}">
      <dgm:prSet/>
      <dgm:spPr/>
      <dgm:t>
        <a:bodyPr/>
        <a:lstStyle/>
        <a:p>
          <a:endParaRPr lang="en-US"/>
        </a:p>
      </dgm:t>
    </dgm:pt>
    <dgm:pt modelId="{91A00A64-9B39-49F1-88C6-9A07EB2B6463}" type="sibTrans" cxnId="{109F66A3-1D91-41D3-96CC-EAD2A901BF88}">
      <dgm:prSet/>
      <dgm:spPr/>
      <dgm:t>
        <a:bodyPr/>
        <a:lstStyle/>
        <a:p>
          <a:endParaRPr lang="en-US"/>
        </a:p>
      </dgm:t>
    </dgm:pt>
    <dgm:pt modelId="{A284574E-85C1-4D29-AE7A-E9FD2E547DAB}">
      <dgm:prSet phldrT="[Text]"/>
      <dgm:spPr/>
      <dgm:t>
        <a:bodyPr/>
        <a:lstStyle/>
        <a:p>
          <a:r>
            <a:rPr lang="en-US" b="1" dirty="0"/>
            <a:t>7. Evaluation</a:t>
          </a:r>
        </a:p>
        <a:p>
          <a:r>
            <a:rPr lang="en-US" dirty="0"/>
            <a:t>Evaluate model performance using metrics:</a:t>
          </a:r>
        </a:p>
        <a:p>
          <a:r>
            <a:rPr lang="en-US" dirty="0"/>
            <a:t>Accuracy</a:t>
          </a:r>
        </a:p>
        <a:p>
          <a:r>
            <a:rPr lang="en-US" dirty="0"/>
            <a:t>Precision, Recall, F1-Score</a:t>
          </a:r>
        </a:p>
        <a:p>
          <a:r>
            <a:rPr lang="en-US" dirty="0"/>
            <a:t>Confusion Matrix</a:t>
          </a:r>
        </a:p>
        <a:p>
          <a:r>
            <a:rPr lang="en-US" dirty="0"/>
            <a:t>Especially important if </a:t>
          </a:r>
          <a:r>
            <a:rPr lang="en-US" b="1" dirty="0"/>
            <a:t>imbalanced data</a:t>
          </a:r>
          <a:r>
            <a:rPr lang="en-US" dirty="0"/>
            <a:t> (e.g., more negative tweets than positive).</a:t>
          </a:r>
        </a:p>
      </dgm:t>
    </dgm:pt>
    <dgm:pt modelId="{58B6568E-AF7E-47E4-AC4C-3E35C7E5B43F}" type="parTrans" cxnId="{1B2CECB2-0DFA-4A2E-B0D8-C84428A5C4D5}">
      <dgm:prSet/>
      <dgm:spPr/>
      <dgm:t>
        <a:bodyPr/>
        <a:lstStyle/>
        <a:p>
          <a:endParaRPr lang="en-US"/>
        </a:p>
      </dgm:t>
    </dgm:pt>
    <dgm:pt modelId="{E8F7E40B-621D-4943-B37E-A97B839557A5}" type="sibTrans" cxnId="{1B2CECB2-0DFA-4A2E-B0D8-C84428A5C4D5}">
      <dgm:prSet/>
      <dgm:spPr/>
      <dgm:t>
        <a:bodyPr/>
        <a:lstStyle/>
        <a:p>
          <a:endParaRPr lang="en-US"/>
        </a:p>
      </dgm:t>
    </dgm:pt>
    <dgm:pt modelId="{FCB03A75-110F-4703-85E9-D18F2E2978F4}">
      <dgm:prSet phldrT="[Text]"/>
      <dgm:spPr/>
      <dgm:t>
        <a:bodyPr/>
        <a:lstStyle/>
        <a:p>
          <a:r>
            <a:rPr lang="en-US" b="1" dirty="0"/>
            <a:t>8. </a:t>
          </a:r>
          <a:r>
            <a:rPr lang="en-US" b="1" dirty="0" err="1"/>
            <a:t>Postprocessing</a:t>
          </a:r>
          <a:endParaRPr lang="en-US" b="1" dirty="0"/>
        </a:p>
        <a:p>
          <a:r>
            <a:rPr lang="en-US" dirty="0"/>
            <a:t>Interpret model outputs.</a:t>
          </a:r>
        </a:p>
        <a:p>
          <a:r>
            <a:rPr lang="en-US" dirty="0"/>
            <a:t>Decode token IDs back to words if needed (in generation tasks).</a:t>
          </a:r>
        </a:p>
        <a:p>
          <a:r>
            <a:rPr lang="en-US" dirty="0"/>
            <a:t>Aggregate results or produce final labels (for classification tasks).</a:t>
          </a:r>
        </a:p>
      </dgm:t>
    </dgm:pt>
    <dgm:pt modelId="{F2B88FAB-C68D-4438-AF55-D7732EA8ABE5}" type="parTrans" cxnId="{CFB0D465-5467-469F-8D00-8605B004C192}">
      <dgm:prSet/>
      <dgm:spPr/>
      <dgm:t>
        <a:bodyPr/>
        <a:lstStyle/>
        <a:p>
          <a:endParaRPr lang="en-US"/>
        </a:p>
      </dgm:t>
    </dgm:pt>
    <dgm:pt modelId="{83A3C336-922D-4448-9D89-52E473ECDD39}" type="sibTrans" cxnId="{CFB0D465-5467-469F-8D00-8605B004C192}">
      <dgm:prSet/>
      <dgm:spPr/>
      <dgm:t>
        <a:bodyPr/>
        <a:lstStyle/>
        <a:p>
          <a:endParaRPr lang="en-US"/>
        </a:p>
      </dgm:t>
    </dgm:pt>
    <dgm:pt modelId="{813FB44E-7D16-4ED4-BA68-A6E0652D47B0}" type="pres">
      <dgm:prSet presAssocID="{303B8E4F-2E9D-4396-9403-566070FEAAB6}" presName="Name0" presStyleCnt="0">
        <dgm:presLayoutVars>
          <dgm:dir/>
          <dgm:resizeHandles val="exact"/>
        </dgm:presLayoutVars>
      </dgm:prSet>
      <dgm:spPr/>
    </dgm:pt>
    <dgm:pt modelId="{C35A75CD-558B-4038-B5ED-FE94802087E2}" type="pres">
      <dgm:prSet presAssocID="{CA52D65C-C524-4C1F-8047-728773BB3F03}" presName="node" presStyleLbl="node1" presStyleIdx="0" presStyleCnt="4" custLinFactNeighborY="-3093">
        <dgm:presLayoutVars>
          <dgm:bulletEnabled val="1"/>
        </dgm:presLayoutVars>
      </dgm:prSet>
      <dgm:spPr/>
    </dgm:pt>
    <dgm:pt modelId="{D89F832D-E3ED-4E37-854E-BD18B3B3376F}" type="pres">
      <dgm:prSet presAssocID="{761CBF07-9D9B-49AF-B85F-059F41968DC0}" presName="sibTrans" presStyleLbl="sibTrans2D1" presStyleIdx="0" presStyleCnt="3"/>
      <dgm:spPr/>
    </dgm:pt>
    <dgm:pt modelId="{B53021F2-D7F0-4FAF-BB2B-D8D0962C06F8}" type="pres">
      <dgm:prSet presAssocID="{761CBF07-9D9B-49AF-B85F-059F41968DC0}" presName="connectorText" presStyleLbl="sibTrans2D1" presStyleIdx="0" presStyleCnt="3"/>
      <dgm:spPr/>
    </dgm:pt>
    <dgm:pt modelId="{4FAD35A4-61F3-418D-BE87-E52A64AFAABF}" type="pres">
      <dgm:prSet presAssocID="{243C6970-D0C0-4D9F-A4FF-9D3D975D4E10}" presName="node" presStyleLbl="node1" presStyleIdx="1" presStyleCnt="4">
        <dgm:presLayoutVars>
          <dgm:bulletEnabled val="1"/>
        </dgm:presLayoutVars>
      </dgm:prSet>
      <dgm:spPr/>
    </dgm:pt>
    <dgm:pt modelId="{7115A0E0-D94C-4BEC-8C6E-8F6E167A80FC}" type="pres">
      <dgm:prSet presAssocID="{91A00A64-9B39-49F1-88C6-9A07EB2B6463}" presName="sibTrans" presStyleLbl="sibTrans2D1" presStyleIdx="1" presStyleCnt="3"/>
      <dgm:spPr/>
    </dgm:pt>
    <dgm:pt modelId="{1D714562-FF97-4782-ADA8-BC212F1AD835}" type="pres">
      <dgm:prSet presAssocID="{91A00A64-9B39-49F1-88C6-9A07EB2B6463}" presName="connectorText" presStyleLbl="sibTrans2D1" presStyleIdx="1" presStyleCnt="3"/>
      <dgm:spPr/>
    </dgm:pt>
    <dgm:pt modelId="{0BED751A-81B5-4F78-8ACE-26CD8123C9DA}" type="pres">
      <dgm:prSet presAssocID="{A284574E-85C1-4D29-AE7A-E9FD2E547DAB}" presName="node" presStyleLbl="node1" presStyleIdx="2" presStyleCnt="4">
        <dgm:presLayoutVars>
          <dgm:bulletEnabled val="1"/>
        </dgm:presLayoutVars>
      </dgm:prSet>
      <dgm:spPr/>
    </dgm:pt>
    <dgm:pt modelId="{21319410-2170-4FC1-80BC-A15C57440B7B}" type="pres">
      <dgm:prSet presAssocID="{E8F7E40B-621D-4943-B37E-A97B839557A5}" presName="sibTrans" presStyleLbl="sibTrans2D1" presStyleIdx="2" presStyleCnt="3"/>
      <dgm:spPr/>
    </dgm:pt>
    <dgm:pt modelId="{4EC31E27-4C19-47B0-A3B0-14A554CA0D12}" type="pres">
      <dgm:prSet presAssocID="{E8F7E40B-621D-4943-B37E-A97B839557A5}" presName="connectorText" presStyleLbl="sibTrans2D1" presStyleIdx="2" presStyleCnt="3"/>
      <dgm:spPr/>
    </dgm:pt>
    <dgm:pt modelId="{E8DD1799-27EF-49F2-854E-787D75467B88}" type="pres">
      <dgm:prSet presAssocID="{FCB03A75-110F-4703-85E9-D18F2E2978F4}" presName="node" presStyleLbl="node1" presStyleIdx="3" presStyleCnt="4">
        <dgm:presLayoutVars>
          <dgm:bulletEnabled val="1"/>
        </dgm:presLayoutVars>
      </dgm:prSet>
      <dgm:spPr/>
    </dgm:pt>
  </dgm:ptLst>
  <dgm:cxnLst>
    <dgm:cxn modelId="{8E293F29-74BC-465D-A32F-02868DC32EC7}" type="presOf" srcId="{303B8E4F-2E9D-4396-9403-566070FEAAB6}" destId="{813FB44E-7D16-4ED4-BA68-A6E0652D47B0}" srcOrd="0" destOrd="0" presId="urn:microsoft.com/office/officeart/2005/8/layout/process1"/>
    <dgm:cxn modelId="{165CAC63-999B-4346-9064-E83259F67CD4}" type="presOf" srcId="{E8F7E40B-621D-4943-B37E-A97B839557A5}" destId="{4EC31E27-4C19-47B0-A3B0-14A554CA0D12}" srcOrd="1" destOrd="0" presId="urn:microsoft.com/office/officeart/2005/8/layout/process1"/>
    <dgm:cxn modelId="{CFB0D465-5467-469F-8D00-8605B004C192}" srcId="{303B8E4F-2E9D-4396-9403-566070FEAAB6}" destId="{FCB03A75-110F-4703-85E9-D18F2E2978F4}" srcOrd="3" destOrd="0" parTransId="{F2B88FAB-C68D-4438-AF55-D7732EA8ABE5}" sibTransId="{83A3C336-922D-4448-9D89-52E473ECDD39}"/>
    <dgm:cxn modelId="{7DA3AC6E-7FEA-42BF-B023-238C071B9E2E}" srcId="{303B8E4F-2E9D-4396-9403-566070FEAAB6}" destId="{CA52D65C-C524-4C1F-8047-728773BB3F03}" srcOrd="0" destOrd="0" parTransId="{2C790ECE-496E-4FC8-A7D5-989EF509FBA7}" sibTransId="{761CBF07-9D9B-49AF-B85F-059F41968DC0}"/>
    <dgm:cxn modelId="{C8E3BA7A-6993-45FC-BE8F-61A3D1D7B760}" type="presOf" srcId="{FCB03A75-110F-4703-85E9-D18F2E2978F4}" destId="{E8DD1799-27EF-49F2-854E-787D75467B88}" srcOrd="0" destOrd="0" presId="urn:microsoft.com/office/officeart/2005/8/layout/process1"/>
    <dgm:cxn modelId="{D8C08C94-83B6-4F0E-900E-AA5579126D40}" type="presOf" srcId="{91A00A64-9B39-49F1-88C6-9A07EB2B6463}" destId="{1D714562-FF97-4782-ADA8-BC212F1AD835}" srcOrd="1" destOrd="0" presId="urn:microsoft.com/office/officeart/2005/8/layout/process1"/>
    <dgm:cxn modelId="{109F66A3-1D91-41D3-96CC-EAD2A901BF88}" srcId="{303B8E4F-2E9D-4396-9403-566070FEAAB6}" destId="{243C6970-D0C0-4D9F-A4FF-9D3D975D4E10}" srcOrd="1" destOrd="0" parTransId="{F74791AA-33B4-44BE-9B3D-6195F889148D}" sibTransId="{91A00A64-9B39-49F1-88C6-9A07EB2B6463}"/>
    <dgm:cxn modelId="{867472AD-F19E-4C5F-9894-6362DFA3FFF9}" type="presOf" srcId="{761CBF07-9D9B-49AF-B85F-059F41968DC0}" destId="{B53021F2-D7F0-4FAF-BB2B-D8D0962C06F8}" srcOrd="1" destOrd="0" presId="urn:microsoft.com/office/officeart/2005/8/layout/process1"/>
    <dgm:cxn modelId="{1B2CECB2-0DFA-4A2E-B0D8-C84428A5C4D5}" srcId="{303B8E4F-2E9D-4396-9403-566070FEAAB6}" destId="{A284574E-85C1-4D29-AE7A-E9FD2E547DAB}" srcOrd="2" destOrd="0" parTransId="{58B6568E-AF7E-47E4-AC4C-3E35C7E5B43F}" sibTransId="{E8F7E40B-621D-4943-B37E-A97B839557A5}"/>
    <dgm:cxn modelId="{C789C5CF-907B-4CA4-9EDA-39AC3999069D}" type="presOf" srcId="{761CBF07-9D9B-49AF-B85F-059F41968DC0}" destId="{D89F832D-E3ED-4E37-854E-BD18B3B3376F}" srcOrd="0" destOrd="0" presId="urn:microsoft.com/office/officeart/2005/8/layout/process1"/>
    <dgm:cxn modelId="{D1C0B5D8-E219-4EE0-BD99-014ECF4E0676}" type="presOf" srcId="{CA52D65C-C524-4C1F-8047-728773BB3F03}" destId="{C35A75CD-558B-4038-B5ED-FE94802087E2}" srcOrd="0" destOrd="0" presId="urn:microsoft.com/office/officeart/2005/8/layout/process1"/>
    <dgm:cxn modelId="{5A983ED9-1B6C-41D2-B736-17C569C91084}" type="presOf" srcId="{E8F7E40B-621D-4943-B37E-A97B839557A5}" destId="{21319410-2170-4FC1-80BC-A15C57440B7B}" srcOrd="0" destOrd="0" presId="urn:microsoft.com/office/officeart/2005/8/layout/process1"/>
    <dgm:cxn modelId="{8892CCD9-FB57-4BA0-9882-890C0BAAE3AF}" type="presOf" srcId="{A284574E-85C1-4D29-AE7A-E9FD2E547DAB}" destId="{0BED751A-81B5-4F78-8ACE-26CD8123C9DA}" srcOrd="0" destOrd="0" presId="urn:microsoft.com/office/officeart/2005/8/layout/process1"/>
    <dgm:cxn modelId="{3BE46FE4-F88D-4603-87A7-DF7B0B14C4AF}" type="presOf" srcId="{243C6970-D0C0-4D9F-A4FF-9D3D975D4E10}" destId="{4FAD35A4-61F3-418D-BE87-E52A64AFAABF}" srcOrd="0" destOrd="0" presId="urn:microsoft.com/office/officeart/2005/8/layout/process1"/>
    <dgm:cxn modelId="{D4CD53F1-72FA-4E6A-886C-1DFC88FDAB1C}" type="presOf" srcId="{91A00A64-9B39-49F1-88C6-9A07EB2B6463}" destId="{7115A0E0-D94C-4BEC-8C6E-8F6E167A80FC}" srcOrd="0" destOrd="0" presId="urn:microsoft.com/office/officeart/2005/8/layout/process1"/>
    <dgm:cxn modelId="{571E9E73-905F-48EF-8A0A-91B4640E04D0}" type="presParOf" srcId="{813FB44E-7D16-4ED4-BA68-A6E0652D47B0}" destId="{C35A75CD-558B-4038-B5ED-FE94802087E2}" srcOrd="0" destOrd="0" presId="urn:microsoft.com/office/officeart/2005/8/layout/process1"/>
    <dgm:cxn modelId="{C042B741-9C1D-40E6-AE97-A8679568A1AC}" type="presParOf" srcId="{813FB44E-7D16-4ED4-BA68-A6E0652D47B0}" destId="{D89F832D-E3ED-4E37-854E-BD18B3B3376F}" srcOrd="1" destOrd="0" presId="urn:microsoft.com/office/officeart/2005/8/layout/process1"/>
    <dgm:cxn modelId="{A64FAC06-6D93-46A9-98B0-4E8FDF46F7D0}" type="presParOf" srcId="{D89F832D-E3ED-4E37-854E-BD18B3B3376F}" destId="{B53021F2-D7F0-4FAF-BB2B-D8D0962C06F8}" srcOrd="0" destOrd="0" presId="urn:microsoft.com/office/officeart/2005/8/layout/process1"/>
    <dgm:cxn modelId="{3E843724-0BA0-47BB-BCCA-FC510E3E5271}" type="presParOf" srcId="{813FB44E-7D16-4ED4-BA68-A6E0652D47B0}" destId="{4FAD35A4-61F3-418D-BE87-E52A64AFAABF}" srcOrd="2" destOrd="0" presId="urn:microsoft.com/office/officeart/2005/8/layout/process1"/>
    <dgm:cxn modelId="{68C55085-B310-475B-B63E-0FDA5D6F5DC0}" type="presParOf" srcId="{813FB44E-7D16-4ED4-BA68-A6E0652D47B0}" destId="{7115A0E0-D94C-4BEC-8C6E-8F6E167A80FC}" srcOrd="3" destOrd="0" presId="urn:microsoft.com/office/officeart/2005/8/layout/process1"/>
    <dgm:cxn modelId="{71F4183D-ACA5-4E30-8C60-618680740E33}" type="presParOf" srcId="{7115A0E0-D94C-4BEC-8C6E-8F6E167A80FC}" destId="{1D714562-FF97-4782-ADA8-BC212F1AD835}" srcOrd="0" destOrd="0" presId="urn:microsoft.com/office/officeart/2005/8/layout/process1"/>
    <dgm:cxn modelId="{735AF7A8-0F19-43AF-A84E-E586F1524B8F}" type="presParOf" srcId="{813FB44E-7D16-4ED4-BA68-A6E0652D47B0}" destId="{0BED751A-81B5-4F78-8ACE-26CD8123C9DA}" srcOrd="4" destOrd="0" presId="urn:microsoft.com/office/officeart/2005/8/layout/process1"/>
    <dgm:cxn modelId="{BF372B0E-472B-4935-965A-03756BAA5904}" type="presParOf" srcId="{813FB44E-7D16-4ED4-BA68-A6E0652D47B0}" destId="{21319410-2170-4FC1-80BC-A15C57440B7B}" srcOrd="5" destOrd="0" presId="urn:microsoft.com/office/officeart/2005/8/layout/process1"/>
    <dgm:cxn modelId="{5EB149C6-B7DB-4304-8416-8128E1FF71EB}" type="presParOf" srcId="{21319410-2170-4FC1-80BC-A15C57440B7B}" destId="{4EC31E27-4C19-47B0-A3B0-14A554CA0D12}" srcOrd="0" destOrd="0" presId="urn:microsoft.com/office/officeart/2005/8/layout/process1"/>
    <dgm:cxn modelId="{53C854FF-5D69-450A-ABE9-5416472965FE}" type="presParOf" srcId="{813FB44E-7D16-4ED4-BA68-A6E0652D47B0}" destId="{E8DD1799-27EF-49F2-854E-787D75467B88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5A75CD-558B-4038-B5ED-FE94802087E2}">
      <dsp:nvSpPr>
        <dsp:cNvPr id="0" name=""/>
        <dsp:cNvSpPr/>
      </dsp:nvSpPr>
      <dsp:spPr>
        <a:xfrm>
          <a:off x="5071" y="19276"/>
          <a:ext cx="2217497" cy="29559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1. Text Acquisition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Collect or load raw text data.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/>
            <a:t>Sources: files, </a:t>
          </a:r>
          <a:r>
            <a:rPr lang="fr-FR" sz="1300" kern="1200" dirty="0" err="1"/>
            <a:t>databases</a:t>
          </a:r>
          <a:r>
            <a:rPr lang="fr-FR" sz="1300" kern="1200" dirty="0"/>
            <a:t>, APIs (</a:t>
          </a:r>
          <a:r>
            <a:rPr lang="fr-FR" sz="1300" kern="1200" dirty="0" err="1"/>
            <a:t>e.g</a:t>
          </a:r>
          <a:r>
            <a:rPr lang="fr-FR" sz="1300" kern="1200" dirty="0"/>
            <a:t>., Twitter API), web </a:t>
          </a:r>
          <a:r>
            <a:rPr lang="fr-FR" sz="1300" kern="1200" dirty="0" err="1"/>
            <a:t>scraping</a:t>
          </a:r>
          <a:r>
            <a:rPr lang="fr-FR" sz="1300" kern="1200" dirty="0"/>
            <a:t>, etc.</a:t>
          </a:r>
          <a:endParaRPr lang="en-US" sz="1300" kern="1200" dirty="0"/>
        </a:p>
      </dsp:txBody>
      <dsp:txXfrm>
        <a:off x="70019" y="84224"/>
        <a:ext cx="2087601" cy="2826045"/>
      </dsp:txXfrm>
    </dsp:sp>
    <dsp:sp modelId="{D89F832D-E3ED-4E37-854E-BD18B3B3376F}">
      <dsp:nvSpPr>
        <dsp:cNvPr id="0" name=""/>
        <dsp:cNvSpPr/>
      </dsp:nvSpPr>
      <dsp:spPr>
        <a:xfrm>
          <a:off x="2444318" y="1222277"/>
          <a:ext cx="470109" cy="5499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444318" y="1332265"/>
        <a:ext cx="329076" cy="329963"/>
      </dsp:txXfrm>
    </dsp:sp>
    <dsp:sp modelId="{4FAD35A4-61F3-418D-BE87-E52A64AFAABF}">
      <dsp:nvSpPr>
        <dsp:cNvPr id="0" name=""/>
        <dsp:cNvSpPr/>
      </dsp:nvSpPr>
      <dsp:spPr>
        <a:xfrm>
          <a:off x="3109567" y="19276"/>
          <a:ext cx="2217497" cy="29559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2. Text Cleaning (Preprocessing)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Lowercasing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Remove unwanted parts: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like punctuation, special characters, numbers, HTML tags, URLs, mentions (@username)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Remove </a:t>
          </a:r>
          <a:r>
            <a:rPr lang="en-US" sz="1300" kern="1200" dirty="0" err="1"/>
            <a:t>emojis</a:t>
          </a:r>
          <a:r>
            <a:rPr lang="en-US" sz="1300" kern="1200" dirty="0"/>
            <a:t> (optional)</a:t>
          </a:r>
        </a:p>
      </dsp:txBody>
      <dsp:txXfrm>
        <a:off x="3174515" y="84224"/>
        <a:ext cx="2087601" cy="2826045"/>
      </dsp:txXfrm>
    </dsp:sp>
    <dsp:sp modelId="{7115A0E0-D94C-4BEC-8C6E-8F6E167A80FC}">
      <dsp:nvSpPr>
        <dsp:cNvPr id="0" name=""/>
        <dsp:cNvSpPr/>
      </dsp:nvSpPr>
      <dsp:spPr>
        <a:xfrm>
          <a:off x="5548814" y="1222277"/>
          <a:ext cx="470109" cy="5499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5548814" y="1332265"/>
        <a:ext cx="329076" cy="329963"/>
      </dsp:txXfrm>
    </dsp:sp>
    <dsp:sp modelId="{0BED751A-81B5-4F78-8ACE-26CD8123C9DA}">
      <dsp:nvSpPr>
        <dsp:cNvPr id="0" name=""/>
        <dsp:cNvSpPr/>
      </dsp:nvSpPr>
      <dsp:spPr>
        <a:xfrm>
          <a:off x="6214063" y="19276"/>
          <a:ext cx="2217497" cy="29559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3. Tokenization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Split text into individual words or </a:t>
          </a:r>
          <a:r>
            <a:rPr lang="en-US" sz="1300" kern="1200" dirty="0" err="1"/>
            <a:t>subwords</a:t>
          </a:r>
          <a:r>
            <a:rPr lang="en-US" sz="1300" kern="1200" dirty="0"/>
            <a:t>.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Example: "Virgin America is great" → ["Virgin", "America", "is", "great"]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Libraries: </a:t>
          </a:r>
          <a:r>
            <a:rPr lang="en-US" sz="1300" kern="1200" dirty="0" err="1"/>
            <a:t>nltk</a:t>
          </a:r>
          <a:r>
            <a:rPr lang="en-US" sz="1300" kern="1200" dirty="0"/>
            <a:t>, </a:t>
          </a:r>
          <a:r>
            <a:rPr lang="en-US" sz="1300" kern="1200" dirty="0" err="1"/>
            <a:t>spaCy</a:t>
          </a:r>
          <a:r>
            <a:rPr lang="en-US" sz="1300" kern="1200" dirty="0"/>
            <a:t>, transformers.</a:t>
          </a:r>
        </a:p>
      </dsp:txBody>
      <dsp:txXfrm>
        <a:off x="6279011" y="84224"/>
        <a:ext cx="2087601" cy="2826045"/>
      </dsp:txXfrm>
    </dsp:sp>
    <dsp:sp modelId="{21319410-2170-4FC1-80BC-A15C57440B7B}">
      <dsp:nvSpPr>
        <dsp:cNvPr id="0" name=""/>
        <dsp:cNvSpPr/>
      </dsp:nvSpPr>
      <dsp:spPr>
        <a:xfrm>
          <a:off x="8653310" y="1222277"/>
          <a:ext cx="470109" cy="5499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8653310" y="1332265"/>
        <a:ext cx="329076" cy="329963"/>
      </dsp:txXfrm>
    </dsp:sp>
    <dsp:sp modelId="{E8DD1799-27EF-49F2-854E-787D75467B88}">
      <dsp:nvSpPr>
        <dsp:cNvPr id="0" name=""/>
        <dsp:cNvSpPr/>
      </dsp:nvSpPr>
      <dsp:spPr>
        <a:xfrm>
          <a:off x="9318560" y="19276"/>
          <a:ext cx="2217497" cy="29559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4. POS tagging &amp; Normalization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kern="1200" dirty="0"/>
            <a:t>4.0) POS tagging improves normalization 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4.1)Norm. makes words more uniform: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Stemming</a:t>
          </a:r>
          <a:r>
            <a:rPr lang="en-US" sz="1300" kern="1200" dirty="0"/>
            <a:t> (cut to root form): "running" → "run"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Lemmatization</a:t>
          </a:r>
          <a:r>
            <a:rPr lang="en-US" sz="1300" kern="1200" dirty="0"/>
            <a:t> (dictionary form): "better" → "good"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4.2) Norm. removes </a:t>
          </a:r>
          <a:r>
            <a:rPr lang="en-US" sz="1300" kern="1200" dirty="0" err="1"/>
            <a:t>stopwords</a:t>
          </a:r>
          <a:r>
            <a:rPr lang="en-US" sz="1300" kern="1200" dirty="0"/>
            <a:t> (common words like "is", "the").</a:t>
          </a:r>
        </a:p>
      </dsp:txBody>
      <dsp:txXfrm>
        <a:off x="9383508" y="84224"/>
        <a:ext cx="2087601" cy="28260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5A75CD-558B-4038-B5ED-FE94802087E2}">
      <dsp:nvSpPr>
        <dsp:cNvPr id="0" name=""/>
        <dsp:cNvSpPr/>
      </dsp:nvSpPr>
      <dsp:spPr>
        <a:xfrm>
          <a:off x="5168" y="0"/>
          <a:ext cx="2259673" cy="28764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5. Text Representation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Convert text into </a:t>
          </a:r>
          <a:r>
            <a:rPr lang="en-US" sz="1200" b="1" kern="1200" dirty="0"/>
            <a:t>numerical format</a:t>
          </a:r>
          <a:r>
            <a:rPr lang="en-US" sz="1200" kern="1200" dirty="0"/>
            <a:t> (models can't read raw text).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Methods: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/>
            <a:t>a) N-gram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/>
            <a:t>b) Bag of Words (</a:t>
          </a:r>
          <a:r>
            <a:rPr lang="en-US" sz="1200" b="0" kern="1200" dirty="0" err="1"/>
            <a:t>BoW</a:t>
          </a:r>
          <a:r>
            <a:rPr lang="en-US" sz="1200" b="0" kern="1200" dirty="0"/>
            <a:t>)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/>
            <a:t>c) TF-IDF (Term Frequency - Inverse Document Frequency)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/>
            <a:t>d) Word </a:t>
          </a:r>
          <a:r>
            <a:rPr lang="en-US" sz="1200" b="0" kern="1200" dirty="0" err="1"/>
            <a:t>Embeddings</a:t>
          </a:r>
          <a:r>
            <a:rPr lang="en-US" sz="1200" b="0" kern="1200" dirty="0"/>
            <a:t> (Word2Vec, </a:t>
          </a:r>
          <a:r>
            <a:rPr lang="en-US" sz="1200" b="0" kern="1200" dirty="0" err="1"/>
            <a:t>GloVe</a:t>
          </a:r>
          <a:r>
            <a:rPr lang="en-US" sz="1200" b="0" kern="1200" dirty="0"/>
            <a:t>, </a:t>
          </a:r>
          <a:r>
            <a:rPr lang="en-US" sz="1200" b="0" kern="1200" dirty="0" err="1"/>
            <a:t>FastText</a:t>
          </a:r>
          <a:r>
            <a:rPr lang="en-US" sz="1200" b="0" kern="1200" dirty="0"/>
            <a:t>)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/>
            <a:t>d) Transformer </a:t>
          </a:r>
          <a:r>
            <a:rPr lang="en-US" sz="1200" b="0" kern="1200" dirty="0" err="1"/>
            <a:t>Embeddings</a:t>
          </a:r>
          <a:r>
            <a:rPr lang="en-US" sz="1200" b="0" kern="1200" dirty="0"/>
            <a:t> (BERT, </a:t>
          </a:r>
          <a:r>
            <a:rPr lang="en-US" sz="1200" b="0" kern="1200" dirty="0" err="1"/>
            <a:t>RoBERTa</a:t>
          </a:r>
          <a:r>
            <a:rPr lang="en-US" sz="1200" b="0" kern="1200" dirty="0"/>
            <a:t>, etc.)</a:t>
          </a:r>
        </a:p>
      </dsp:txBody>
      <dsp:txXfrm>
        <a:off x="71352" y="66184"/>
        <a:ext cx="2127305" cy="2744045"/>
      </dsp:txXfrm>
    </dsp:sp>
    <dsp:sp modelId="{D89F832D-E3ED-4E37-854E-BD18B3B3376F}">
      <dsp:nvSpPr>
        <dsp:cNvPr id="0" name=""/>
        <dsp:cNvSpPr/>
      </dsp:nvSpPr>
      <dsp:spPr>
        <a:xfrm>
          <a:off x="2490809" y="1158006"/>
          <a:ext cx="479050" cy="5603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490809" y="1270086"/>
        <a:ext cx="335335" cy="336239"/>
      </dsp:txXfrm>
    </dsp:sp>
    <dsp:sp modelId="{4FAD35A4-61F3-418D-BE87-E52A64AFAABF}">
      <dsp:nvSpPr>
        <dsp:cNvPr id="0" name=""/>
        <dsp:cNvSpPr/>
      </dsp:nvSpPr>
      <dsp:spPr>
        <a:xfrm>
          <a:off x="3168711" y="0"/>
          <a:ext cx="2259673" cy="28764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6. Model Building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Choose and train models: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Classical ML: Logistic Regression, SVM, Random Forest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Deep Learning: RNN, LSTM, GRU, Transformer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Pretrained</a:t>
          </a:r>
          <a:r>
            <a:rPr lang="en-US" sz="1200" kern="1200" dirty="0"/>
            <a:t> Models: BERT, GPT, etc.</a:t>
          </a:r>
        </a:p>
      </dsp:txBody>
      <dsp:txXfrm>
        <a:off x="3234895" y="66184"/>
        <a:ext cx="2127305" cy="2744045"/>
      </dsp:txXfrm>
    </dsp:sp>
    <dsp:sp modelId="{7115A0E0-D94C-4BEC-8C6E-8F6E167A80FC}">
      <dsp:nvSpPr>
        <dsp:cNvPr id="0" name=""/>
        <dsp:cNvSpPr/>
      </dsp:nvSpPr>
      <dsp:spPr>
        <a:xfrm>
          <a:off x="5654353" y="1158006"/>
          <a:ext cx="479050" cy="5603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5654353" y="1270086"/>
        <a:ext cx="335335" cy="336239"/>
      </dsp:txXfrm>
    </dsp:sp>
    <dsp:sp modelId="{0BED751A-81B5-4F78-8ACE-26CD8123C9DA}">
      <dsp:nvSpPr>
        <dsp:cNvPr id="0" name=""/>
        <dsp:cNvSpPr/>
      </dsp:nvSpPr>
      <dsp:spPr>
        <a:xfrm>
          <a:off x="6332255" y="0"/>
          <a:ext cx="2259673" cy="28764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7. Evaluation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Evaluate model performance using metrics: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Accuracy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Precision, Recall, F1-Score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Confusion Matrix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Especially important if </a:t>
          </a:r>
          <a:r>
            <a:rPr lang="en-US" sz="1200" b="1" kern="1200" dirty="0"/>
            <a:t>imbalanced data</a:t>
          </a:r>
          <a:r>
            <a:rPr lang="en-US" sz="1200" kern="1200" dirty="0"/>
            <a:t> (e.g., more negative tweets than positive).</a:t>
          </a:r>
        </a:p>
      </dsp:txBody>
      <dsp:txXfrm>
        <a:off x="6398439" y="66184"/>
        <a:ext cx="2127305" cy="2744045"/>
      </dsp:txXfrm>
    </dsp:sp>
    <dsp:sp modelId="{21319410-2170-4FC1-80BC-A15C57440B7B}">
      <dsp:nvSpPr>
        <dsp:cNvPr id="0" name=""/>
        <dsp:cNvSpPr/>
      </dsp:nvSpPr>
      <dsp:spPr>
        <a:xfrm>
          <a:off x="8817896" y="1158006"/>
          <a:ext cx="479050" cy="5603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8817896" y="1270086"/>
        <a:ext cx="335335" cy="336239"/>
      </dsp:txXfrm>
    </dsp:sp>
    <dsp:sp modelId="{E8DD1799-27EF-49F2-854E-787D75467B88}">
      <dsp:nvSpPr>
        <dsp:cNvPr id="0" name=""/>
        <dsp:cNvSpPr/>
      </dsp:nvSpPr>
      <dsp:spPr>
        <a:xfrm>
          <a:off x="9495798" y="0"/>
          <a:ext cx="2259673" cy="28764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8. </a:t>
          </a:r>
          <a:r>
            <a:rPr lang="en-US" sz="1200" b="1" kern="1200" dirty="0" err="1"/>
            <a:t>Postprocessing</a:t>
          </a:r>
          <a:endParaRPr lang="en-US" sz="1200" b="1" kern="1200" dirty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Interpret model outputs.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Decode token IDs back to words if needed (in generation tasks).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Aggregate results or produce final labels (for classification tasks).</a:t>
          </a:r>
        </a:p>
      </dsp:txBody>
      <dsp:txXfrm>
        <a:off x="9561982" y="66184"/>
        <a:ext cx="2127305" cy="27440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9F3E5-9A8D-4E6D-9702-4B92AE7BFC4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835EA-F59B-49B2-AAAD-BCB4B28F0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190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9F3E5-9A8D-4E6D-9702-4B92AE7BFC4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835EA-F59B-49B2-AAAD-BCB4B28F0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924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9F3E5-9A8D-4E6D-9702-4B92AE7BFC4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835EA-F59B-49B2-AAAD-BCB4B28F0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01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9F3E5-9A8D-4E6D-9702-4B92AE7BFC4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835EA-F59B-49B2-AAAD-BCB4B28F0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324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9F3E5-9A8D-4E6D-9702-4B92AE7BFC4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835EA-F59B-49B2-AAAD-BCB4B28F0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870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9F3E5-9A8D-4E6D-9702-4B92AE7BFC4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835EA-F59B-49B2-AAAD-BCB4B28F0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121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9F3E5-9A8D-4E6D-9702-4B92AE7BFC4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835EA-F59B-49B2-AAAD-BCB4B28F0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227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9F3E5-9A8D-4E6D-9702-4B92AE7BFC4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835EA-F59B-49B2-AAAD-BCB4B28F0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838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9F3E5-9A8D-4E6D-9702-4B92AE7BFC4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835EA-F59B-49B2-AAAD-BCB4B28F0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750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9F3E5-9A8D-4E6D-9702-4B92AE7BFC4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835EA-F59B-49B2-AAAD-BCB4B28F0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147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9F3E5-9A8D-4E6D-9702-4B92AE7BFC4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835EA-F59B-49B2-AAAD-BCB4B28F0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342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69F3E5-9A8D-4E6D-9702-4B92AE7BFC47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0835EA-F59B-49B2-AAAD-BCB4B28F0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99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GenAI</a:t>
            </a:r>
            <a:r>
              <a:rPr lang="en-US" dirty="0"/>
              <a:t> Module7 </a:t>
            </a:r>
            <a:r>
              <a:rPr lang="en-US"/>
              <a:t>– Terms-Key </a:t>
            </a:r>
            <a:r>
              <a:rPr lang="en-US" dirty="0"/>
              <a:t>Steps AKA Pipeline</a:t>
            </a:r>
          </a:p>
        </p:txBody>
      </p:sp>
    </p:spTree>
    <p:extLst>
      <p:ext uri="{BB962C8B-B14F-4D97-AF65-F5344CB8AC3E}">
        <p14:creationId xmlns:p14="http://schemas.microsoft.com/office/powerpoint/2010/main" val="3248632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779" y="1288321"/>
            <a:ext cx="9925517" cy="26182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6169" y="4639112"/>
            <a:ext cx="8012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Good Source: https://www.deeplearning.ai/resources/natural-language-processing/</a:t>
            </a:r>
          </a:p>
        </p:txBody>
      </p:sp>
    </p:spTree>
    <p:extLst>
      <p:ext uri="{BB962C8B-B14F-4D97-AF65-F5344CB8AC3E}">
        <p14:creationId xmlns:p14="http://schemas.microsoft.com/office/powerpoint/2010/main" val="2556961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2179"/>
            <a:ext cx="2601286" cy="675110"/>
          </a:xfrm>
        </p:spPr>
        <p:txBody>
          <a:bodyPr>
            <a:normAutofit fontScale="90000"/>
          </a:bodyPr>
          <a:lstStyle/>
          <a:p>
            <a:r>
              <a:rPr lang="en-US" dirty="0"/>
              <a:t>Key terms: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169" y="1230006"/>
            <a:ext cx="11803310" cy="2444372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Corpus: </a:t>
            </a:r>
            <a:r>
              <a:rPr lang="en-US" dirty="0"/>
              <a:t>A corpus is a structured collection of text data, often used as a dataset for training NLP models. It can include various types of text, such as books, articles, and social media posts. </a:t>
            </a:r>
          </a:p>
          <a:p>
            <a:r>
              <a:rPr lang="en-US" b="1" dirty="0"/>
              <a:t>Document: </a:t>
            </a:r>
            <a:r>
              <a:rPr lang="en-US" dirty="0"/>
              <a:t>In NLP, a document can refer to a single text unit, such as a sentence, paragraph, or entire article. The definition of a document can be flexible depending on the specific NLP task. </a:t>
            </a:r>
          </a:p>
          <a:p>
            <a:r>
              <a:rPr lang="en-US" b="1" dirty="0"/>
              <a:t>Sentence</a:t>
            </a:r>
            <a:r>
              <a:rPr lang="en-US" dirty="0"/>
              <a:t>: A grammatically complete idea within that document.</a:t>
            </a:r>
          </a:p>
          <a:p>
            <a:r>
              <a:rPr lang="en-US" b="1" dirty="0"/>
              <a:t>Vocabulary / dictionary: </a:t>
            </a:r>
            <a:r>
              <a:rPr lang="en-US" dirty="0"/>
              <a:t>The vocabulary is a list of all the unique words that appear in the corpus. It's essentially a set of distinct tokens within the text data. </a:t>
            </a:r>
          </a:p>
          <a:p>
            <a:r>
              <a:rPr lang="en-US" b="1" dirty="0"/>
              <a:t>Words: </a:t>
            </a:r>
            <a:r>
              <a:rPr lang="en-US" dirty="0"/>
              <a:t>Words (or tokens) are the individual units of text within the corpus, including repeated instances of the same word. 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27839" y="3926048"/>
            <a:ext cx="594836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Review 1: "The delivery was fast. The product arrived intact. "</a:t>
            </a:r>
          </a:p>
          <a:p>
            <a:r>
              <a:rPr lang="en-US" dirty="0"/>
              <a:t>Review 2: “Awesome service, but the product was old."</a:t>
            </a:r>
          </a:p>
          <a:p>
            <a:r>
              <a:rPr lang="en-US" dirty="0"/>
              <a:t>Review 3: “Timely response. Excellent customer support."</a:t>
            </a:r>
          </a:p>
          <a:p>
            <a:r>
              <a:rPr lang="en-US" dirty="0"/>
              <a:t>Review 4: “I liked the book. It was brand new as described."</a:t>
            </a:r>
          </a:p>
          <a:p>
            <a:endParaRPr lang="en-US" dirty="0"/>
          </a:p>
          <a:p>
            <a:r>
              <a:rPr lang="en-US" b="1" dirty="0"/>
              <a:t>Corpus</a:t>
            </a:r>
            <a:r>
              <a:rPr lang="en-US" dirty="0"/>
              <a:t> = {Review 1, Review 2, Review 3, Review 4 }</a:t>
            </a:r>
          </a:p>
          <a:p>
            <a:r>
              <a:rPr lang="en-US" b="1" dirty="0"/>
              <a:t>Documents</a:t>
            </a:r>
            <a:r>
              <a:rPr lang="en-US" dirty="0"/>
              <a:t> = 4 customer reviews. So there are 4 documents</a:t>
            </a:r>
          </a:p>
          <a:p>
            <a:r>
              <a:rPr lang="en-US" b="1" dirty="0"/>
              <a:t>Sentence: </a:t>
            </a:r>
            <a:r>
              <a:rPr lang="en-US" dirty="0"/>
              <a:t>Document1 has 2 sentence in it.</a:t>
            </a:r>
            <a:endParaRPr lang="en-US" b="1" dirty="0"/>
          </a:p>
          <a:p>
            <a:r>
              <a:rPr lang="en-US" b="1" dirty="0"/>
              <a:t>Vocabulary</a:t>
            </a:r>
            <a:r>
              <a:rPr lang="en-US" dirty="0"/>
              <a:t> = Unique set of words across all corpus</a:t>
            </a:r>
          </a:p>
          <a:p>
            <a:r>
              <a:rPr lang="en-US" b="1" dirty="0"/>
              <a:t>Words (Tokens)</a:t>
            </a:r>
            <a:r>
              <a:rPr lang="en-US" dirty="0"/>
              <a:t> = all lowercase words extracted from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50053" y="4118994"/>
            <a:ext cx="422005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You determine </a:t>
            </a:r>
            <a:r>
              <a:rPr lang="en-US" sz="1400" b="1" dirty="0"/>
              <a:t>corpus size</a:t>
            </a:r>
            <a:r>
              <a:rPr lang="en-US" sz="1400" dirty="0"/>
              <a:t> based on any1  of following: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How many documents it has,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How many </a:t>
            </a:r>
            <a:r>
              <a:rPr lang="en-US" sz="1400" b="1" dirty="0"/>
              <a:t>total</a:t>
            </a:r>
            <a:r>
              <a:rPr lang="en-US" sz="1400" dirty="0"/>
              <a:t> words (tokens), &lt;- common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How many </a:t>
            </a:r>
            <a:r>
              <a:rPr lang="en-US" sz="1400" b="1" dirty="0"/>
              <a:t>unique</a:t>
            </a:r>
            <a:r>
              <a:rPr lang="en-US" sz="1400" dirty="0"/>
              <a:t> words (vocabulary size).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30915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581" y="109057"/>
            <a:ext cx="3750578" cy="369491"/>
          </a:xfrm>
        </p:spPr>
        <p:txBody>
          <a:bodyPr>
            <a:normAutofit fontScale="90000"/>
          </a:bodyPr>
          <a:lstStyle/>
          <a:p>
            <a:r>
              <a:rPr lang="en-US" dirty="0"/>
              <a:t>Key steps in NLP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81061" y="251667"/>
            <a:ext cx="6756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Text -&gt; Clean -&gt; Tokenize -&gt; </a:t>
            </a:r>
            <a:r>
              <a:rPr lang="en-US" sz="1200" dirty="0" err="1"/>
              <a:t>PartOfSpeechTagging+Normalize</a:t>
            </a:r>
            <a:r>
              <a:rPr lang="en-US" sz="1200" dirty="0"/>
              <a:t> -&gt; </a:t>
            </a:r>
            <a:r>
              <a:rPr lang="en-US" sz="1200" dirty="0" err="1"/>
              <a:t>Vectorize</a:t>
            </a:r>
            <a:r>
              <a:rPr lang="en-US" sz="1200" dirty="0"/>
              <a:t> -&gt; Model -&gt; Evaluate -&gt; (Deploy)</a:t>
            </a: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808060615"/>
              </p:ext>
            </p:extLst>
          </p:nvPr>
        </p:nvGraphicFramePr>
        <p:xfrm>
          <a:off x="176169" y="478548"/>
          <a:ext cx="11541129" cy="299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617344857"/>
              </p:ext>
            </p:extLst>
          </p:nvPr>
        </p:nvGraphicFramePr>
        <p:xfrm>
          <a:off x="109057" y="3808602"/>
          <a:ext cx="11760641" cy="2876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408606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471" y="172179"/>
            <a:ext cx="10515600" cy="574442"/>
          </a:xfrm>
        </p:spPr>
        <p:txBody>
          <a:bodyPr>
            <a:noAutofit/>
          </a:bodyPr>
          <a:lstStyle/>
          <a:p>
            <a:r>
              <a:rPr lang="en-US" sz="2800" dirty="0"/>
              <a:t>1. Text acquisitions (p1)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283" y="3506601"/>
            <a:ext cx="11249637" cy="2810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1. File-Based Extraction:</a:t>
            </a:r>
          </a:p>
          <a:p>
            <a:pPr marL="0" indent="0">
              <a:buNone/>
            </a:pPr>
            <a:r>
              <a:rPr lang="en-US" b="1" dirty="0"/>
              <a:t>PDF and HTML:</a:t>
            </a:r>
            <a:r>
              <a:rPr lang="en-US" dirty="0"/>
              <a:t> Text can be extracted from these file formats using specialized libraries and tools.</a:t>
            </a:r>
          </a:p>
          <a:p>
            <a:pPr marL="0" indent="0">
              <a:buNone/>
            </a:pPr>
            <a:r>
              <a:rPr lang="en-US" b="1" dirty="0"/>
              <a:t>Text Files:</a:t>
            </a:r>
            <a:r>
              <a:rPr lang="en-US" dirty="0"/>
              <a:t> Text files can be directly imported and processed for analysis.</a:t>
            </a:r>
          </a:p>
          <a:p>
            <a:pPr marL="0" indent="0">
              <a:buNone/>
            </a:pPr>
            <a:r>
              <a:rPr lang="en-US" b="1" dirty="0" err="1"/>
              <a:t>DataFrames</a:t>
            </a:r>
            <a:r>
              <a:rPr lang="en-US" b="1" dirty="0"/>
              <a:t>:</a:t>
            </a:r>
            <a:r>
              <a:rPr lang="en-US" dirty="0"/>
              <a:t> Text files can be imported into </a:t>
            </a:r>
            <a:r>
              <a:rPr lang="en-US" dirty="0" err="1"/>
              <a:t>DataFrames</a:t>
            </a:r>
            <a:r>
              <a:rPr lang="en-US" dirty="0"/>
              <a:t>, a common format for data manipulation and analysis in Python. 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45283" y="1400961"/>
            <a:ext cx="60558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Websites for NLP datasets: </a:t>
            </a:r>
          </a:p>
          <a:p>
            <a:r>
              <a:rPr lang="en-US" dirty="0"/>
              <a:t>https://ics.uci.edu/~smyth/courses/cs175/text_data_sets.html</a:t>
            </a:r>
          </a:p>
          <a:p>
            <a:r>
              <a:rPr lang="en-US" dirty="0"/>
              <a:t>https://github.com/niderhoff/nlp-datasets</a:t>
            </a:r>
          </a:p>
        </p:txBody>
      </p:sp>
    </p:spTree>
    <p:extLst>
      <p:ext uri="{BB962C8B-B14F-4D97-AF65-F5344CB8AC3E}">
        <p14:creationId xmlns:p14="http://schemas.microsoft.com/office/powerpoint/2010/main" val="2777341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471" y="172179"/>
            <a:ext cx="10515600" cy="574442"/>
          </a:xfrm>
        </p:spPr>
        <p:txBody>
          <a:bodyPr>
            <a:noAutofit/>
          </a:bodyPr>
          <a:lstStyle/>
          <a:p>
            <a:r>
              <a:rPr lang="en-US" sz="2800" dirty="0"/>
              <a:t>1. Text acquisitions (p2)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283" y="1275127"/>
            <a:ext cx="11249637" cy="52515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2. Web Scraping:</a:t>
            </a:r>
          </a:p>
          <a:p>
            <a:pPr marL="0" indent="0">
              <a:buNone/>
            </a:pPr>
            <a:r>
              <a:rPr lang="en-US" b="1" dirty="0"/>
              <a:t>Web Scraping Tools: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Libraries like Beautiful Soup and </a:t>
            </a:r>
            <a:r>
              <a:rPr lang="en-US" dirty="0" err="1"/>
              <a:t>Scrapy</a:t>
            </a:r>
            <a:r>
              <a:rPr lang="en-US" dirty="0"/>
              <a:t> can be used to extract text from websites.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 API Integration:</a:t>
            </a:r>
          </a:p>
          <a:p>
            <a:pPr marL="0" indent="0">
              <a:buNone/>
            </a:pPr>
            <a:r>
              <a:rPr lang="en-US" b="1" dirty="0"/>
              <a:t>Structured Data: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APIs can provide access to structured text data, such as news articles, social media posts, or product reviews.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904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472" y="172179"/>
            <a:ext cx="4304252" cy="440217"/>
          </a:xfrm>
        </p:spPr>
        <p:txBody>
          <a:bodyPr>
            <a:noAutofit/>
          </a:bodyPr>
          <a:lstStyle/>
          <a:p>
            <a:r>
              <a:rPr lang="en-US" sz="2800" dirty="0"/>
              <a:t>1. Text acquisitions (p3)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283" y="671118"/>
            <a:ext cx="4907561" cy="47901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4. Data Augmentation(see </a:t>
            </a:r>
            <a:r>
              <a:rPr lang="en-US" sz="1400" b="1" dirty="0" err="1"/>
              <a:t>jupyter</a:t>
            </a:r>
            <a:r>
              <a:rPr lang="en-US" sz="1400" b="1" dirty="0"/>
              <a:t> n/b):</a:t>
            </a:r>
          </a:p>
          <a:p>
            <a:pPr marL="0" indent="0">
              <a:buNone/>
            </a:pPr>
            <a:r>
              <a:rPr lang="en-US" sz="1400" dirty="0"/>
              <a:t>Let’s say you have data (X, Y), where X is a sentence(e.g. product review) and Y(e.g. sentiment) is its corresponding label. </a:t>
            </a:r>
          </a:p>
          <a:p>
            <a:pPr marL="0" indent="0">
              <a:buNone/>
            </a:pPr>
            <a:r>
              <a:rPr lang="en-US" sz="1400" dirty="0"/>
              <a:t>In data augmentation, we transform this X and create X’ out of it, while still preserving the label Y.</a:t>
            </a:r>
          </a:p>
          <a:p>
            <a:pPr marL="0" indent="0">
              <a:buNone/>
            </a:pPr>
            <a:r>
              <a:rPr lang="en-US" sz="1400" dirty="0"/>
              <a:t>(X, Y) ——T——&gt; (X’, Y)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4.1) Synonym Replacement:</a:t>
            </a:r>
            <a:r>
              <a:rPr lang="en-US" sz="1400" dirty="0"/>
              <a:t> Replace words with synonyms to create variations in the dataset.</a:t>
            </a:r>
          </a:p>
          <a:p>
            <a:pPr marL="0" indent="0">
              <a:buNone/>
            </a:pPr>
            <a:r>
              <a:rPr lang="en-US" sz="1400" dirty="0"/>
              <a:t>" cheap smartphones.“ -&gt; "affordable mobile phones"</a:t>
            </a:r>
          </a:p>
          <a:p>
            <a:pPr marL="0" indent="0">
              <a:buNone/>
            </a:pPr>
            <a:r>
              <a:rPr lang="en-US" sz="1400" dirty="0"/>
              <a:t>Note: We can also do antonym replacement, but it would make sense in sentiment analysis: </a:t>
            </a:r>
          </a:p>
          <a:p>
            <a:pPr marL="0" indent="0">
              <a:buNone/>
            </a:pPr>
            <a:r>
              <a:rPr lang="en-US" sz="1400" dirty="0"/>
              <a:t>(I liked the spoons, +) -&gt; (I hated the spoons, -)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284757" y="486561"/>
            <a:ext cx="4907561" cy="58065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4.2) Back Translation:</a:t>
            </a:r>
            <a:r>
              <a:rPr lang="en-US" sz="1600" dirty="0"/>
              <a:t> Translate text to another language and then back to the original, introducing diverse phrasing.</a:t>
            </a:r>
          </a:p>
          <a:p>
            <a:pPr marL="0" indent="0">
              <a:buNone/>
            </a:pPr>
            <a:r>
              <a:rPr lang="en-US" sz="1600" dirty="0"/>
              <a:t>e.g.: English → French → English</a:t>
            </a:r>
          </a:p>
          <a:p>
            <a:pPr marL="0" indent="0">
              <a:buNone/>
            </a:pPr>
            <a:r>
              <a:rPr lang="en-US" sz="1600" dirty="0"/>
              <a:t>English → German → French → English</a:t>
            </a:r>
          </a:p>
          <a:p>
            <a:pPr marL="0" indent="0">
              <a:buNone/>
            </a:pPr>
            <a:r>
              <a:rPr lang="en-US" sz="1600" dirty="0"/>
              <a:t>Original Sentence (English): "The weather is nice today, and I feel like going for a walk."</a:t>
            </a:r>
          </a:p>
          <a:p>
            <a:pPr marL="0" indent="0">
              <a:buNone/>
            </a:pPr>
            <a:r>
              <a:rPr lang="en-US" sz="1600" dirty="0"/>
              <a:t>→ Translate to French: "Il fait beau </a:t>
            </a:r>
            <a:r>
              <a:rPr lang="en-US" sz="1600" dirty="0" err="1"/>
              <a:t>aujourd'hui</a:t>
            </a:r>
            <a:r>
              <a:rPr lang="en-US" sz="1600" dirty="0"/>
              <a:t> et </a:t>
            </a:r>
            <a:r>
              <a:rPr lang="en-US" sz="1600" dirty="0" err="1"/>
              <a:t>j'ai</a:t>
            </a:r>
            <a:r>
              <a:rPr lang="en-US" sz="1600" dirty="0"/>
              <a:t> </a:t>
            </a:r>
            <a:r>
              <a:rPr lang="en-US" sz="1600" dirty="0" err="1"/>
              <a:t>envie</a:t>
            </a:r>
            <a:r>
              <a:rPr lang="en-US" sz="1600" dirty="0"/>
              <a:t> de me </a:t>
            </a:r>
            <a:r>
              <a:rPr lang="en-US" sz="1600" dirty="0" err="1"/>
              <a:t>promener</a:t>
            </a:r>
            <a:r>
              <a:rPr lang="en-US" sz="1600" dirty="0"/>
              <a:t>."</a:t>
            </a:r>
          </a:p>
          <a:p>
            <a:pPr marL="0" indent="0">
              <a:buNone/>
            </a:pPr>
            <a:r>
              <a:rPr lang="en-US" sz="1600" dirty="0"/>
              <a:t>→ Translate back to English: "It is beautiful today and I want to go for a walk."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4.3) Paraphrasing:</a:t>
            </a:r>
            <a:r>
              <a:rPr lang="en-US" sz="1600" dirty="0"/>
              <a:t> Rephrasing sentences while maintaining the original intent can also be used for data augmentation.</a:t>
            </a:r>
          </a:p>
          <a:p>
            <a:pPr marL="0" indent="0">
              <a:buNone/>
            </a:pPr>
            <a:r>
              <a:rPr lang="en-US" sz="1600" dirty="0"/>
              <a:t>Original Sentence: "She completed the project before the deadline."</a:t>
            </a:r>
          </a:p>
          <a:p>
            <a:pPr marL="0" indent="0">
              <a:buNone/>
            </a:pPr>
            <a:r>
              <a:rPr lang="en-US" sz="1600" dirty="0"/>
              <a:t>Paraphrased Versions: </a:t>
            </a:r>
          </a:p>
          <a:p>
            <a:pPr marL="0" indent="0">
              <a:buNone/>
            </a:pPr>
            <a:r>
              <a:rPr lang="en-US" sz="1600" dirty="0"/>
              <a:t>"The project was finished by her ahead of the deadline."</a:t>
            </a:r>
          </a:p>
          <a:p>
            <a:pPr marL="0" indent="0">
              <a:buNone/>
            </a:pPr>
            <a:r>
              <a:rPr lang="en-US" sz="1600" dirty="0"/>
              <a:t>"She wrapped up the project on time."</a:t>
            </a:r>
          </a:p>
          <a:p>
            <a:pPr marL="0" indent="0">
              <a:buNone/>
            </a:pPr>
            <a:r>
              <a:rPr lang="en-US" sz="1600" dirty="0"/>
              <a:t>"Before the deadline, she managed to complete the project."</a:t>
            </a:r>
          </a:p>
          <a:p>
            <a:pPr marL="0" indent="0">
              <a:buNone/>
            </a:pPr>
            <a:r>
              <a:rPr lang="en-US" sz="1600" dirty="0"/>
              <a:t>"Her project was done prior to the due date.“</a:t>
            </a:r>
          </a:p>
          <a:p>
            <a:pPr marL="0" indent="0">
              <a:buNone/>
            </a:pPr>
            <a:r>
              <a:rPr lang="en-US" sz="1600" dirty="0"/>
              <a:t>USE tools like </a:t>
            </a:r>
            <a:r>
              <a:rPr lang="en-US" sz="1600" dirty="0" err="1"/>
              <a:t>QuillBot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88956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471" y="12788"/>
            <a:ext cx="5134762" cy="574442"/>
          </a:xfrm>
        </p:spPr>
        <p:txBody>
          <a:bodyPr>
            <a:noAutofit/>
          </a:bodyPr>
          <a:lstStyle/>
          <a:p>
            <a:r>
              <a:rPr lang="en-US" sz="2800" dirty="0"/>
              <a:t>1. Text acquisitions (p4)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33243" y="638960"/>
            <a:ext cx="10300284" cy="57282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/>
              <a:t>4.4) Adding Noise:</a:t>
            </a:r>
            <a:r>
              <a:rPr lang="en-US" sz="1400" dirty="0"/>
              <a:t> Introduce random noise or perturbations to augment data. 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Original Sentence: "The manager approved the new policy yesterday."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Noisy Paraphrased Versions: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Character Swap (common typo): "The </a:t>
            </a:r>
            <a:r>
              <a:rPr lang="en-US" sz="1400" dirty="0" err="1"/>
              <a:t>mnaager</a:t>
            </a:r>
            <a:r>
              <a:rPr lang="en-US" sz="1400" dirty="0"/>
              <a:t> approved the new policy yesterday."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(“manager” → “</a:t>
            </a:r>
            <a:r>
              <a:rPr lang="en-US" sz="1400" dirty="0" err="1"/>
              <a:t>mnaager</a:t>
            </a:r>
            <a:r>
              <a:rPr lang="en-US" sz="1400" dirty="0"/>
              <a:t>”)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Character Deletion: "The manger approved the new policy yesterday."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(“manager” → “manger” — which also creates a valid but incorrect word)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Missing Word: "Manager approved new policy yesterday."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(Dropped “The” and “the” — still understandable, often found in informal text)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Homophone Confusion: "The manager approved the knew policy yesterday."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(“new” → “knew” — valid word, wrong context)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Keyboard Proximity Error: "The manager </a:t>
            </a:r>
            <a:r>
              <a:rPr lang="en-US" sz="1400" dirty="0" err="1"/>
              <a:t>approvdd</a:t>
            </a:r>
            <a:r>
              <a:rPr lang="en-US" sz="1400" dirty="0"/>
              <a:t> the new policy yesterday."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(Double 'd' for '</a:t>
            </a:r>
            <a:r>
              <a:rPr lang="en-US" sz="1400" dirty="0" err="1"/>
              <a:t>ed</a:t>
            </a:r>
            <a:r>
              <a:rPr lang="en-US" sz="1400" dirty="0"/>
              <a:t>' — a common fast-typing error)</a:t>
            </a:r>
          </a:p>
        </p:txBody>
      </p:sp>
    </p:spTree>
    <p:extLst>
      <p:ext uri="{BB962C8B-B14F-4D97-AF65-F5344CB8AC3E}">
        <p14:creationId xmlns:p14="http://schemas.microsoft.com/office/powerpoint/2010/main" val="1457429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471" y="172179"/>
            <a:ext cx="10515600" cy="574442"/>
          </a:xfrm>
        </p:spPr>
        <p:txBody>
          <a:bodyPr>
            <a:noAutofit/>
          </a:bodyPr>
          <a:lstStyle/>
          <a:p>
            <a:r>
              <a:rPr lang="en-US" sz="2400" dirty="0"/>
              <a:t>2. Text cleaning(preprocessing): Why we need it in NLP sequential data? (p1)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283" y="1275127"/>
            <a:ext cx="11249637" cy="5251508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Raw text is messy</a:t>
            </a:r>
            <a:r>
              <a:rPr lang="en-US" dirty="0"/>
              <a:t>: Tweets, customer reviews, comments, etc. often have typos, </a:t>
            </a:r>
            <a:r>
              <a:rPr lang="en-US" dirty="0" err="1"/>
              <a:t>emojis</a:t>
            </a:r>
            <a:r>
              <a:rPr lang="en-US" dirty="0"/>
              <a:t>, hashtags, URLs, user mentions, extra spaces, casing differences, etc.</a:t>
            </a:r>
          </a:p>
          <a:p>
            <a:r>
              <a:rPr lang="en-US" b="1" dirty="0"/>
              <a:t>Consistency</a:t>
            </a:r>
            <a:r>
              <a:rPr lang="en-US" dirty="0"/>
              <a:t>: Different variations like happy, Happy, and HAPPY should mean the same thing, but without cleaning, the model sees them as completely different words.</a:t>
            </a:r>
          </a:p>
          <a:p>
            <a:r>
              <a:rPr lang="en-US" b="1" dirty="0"/>
              <a:t>Efficiency</a:t>
            </a:r>
            <a:r>
              <a:rPr lang="en-US" dirty="0"/>
              <a:t>: Smaller, cleaner vocabularies lead to faster training and better generalization.</a:t>
            </a:r>
          </a:p>
          <a:p>
            <a:r>
              <a:rPr lang="en-US" b="1" dirty="0"/>
              <a:t>Noise removal</a:t>
            </a:r>
            <a:r>
              <a:rPr lang="en-US" dirty="0"/>
              <a:t>: Removes unnecessary data that could confuse the model (like HTML tags, random symbols).</a:t>
            </a:r>
          </a:p>
          <a:p>
            <a:r>
              <a:rPr lang="en-US" dirty="0"/>
              <a:t>Sequential models learn based on token order: If your text is full of garbage (like @username or random links), the model will waste time learning meaningless patterns.</a:t>
            </a:r>
          </a:p>
          <a:p>
            <a:pPr marL="0" indent="0">
              <a:buNone/>
            </a:pPr>
            <a:r>
              <a:rPr lang="en-US" dirty="0"/>
              <a:t>In Sequential Models (like RNN), cleaning is even more important because:</a:t>
            </a:r>
          </a:p>
          <a:p>
            <a:r>
              <a:rPr lang="en-US" dirty="0"/>
              <a:t>Sequence matters (order of tokens is critical).</a:t>
            </a:r>
          </a:p>
          <a:p>
            <a:r>
              <a:rPr lang="en-US" dirty="0"/>
              <a:t>Input size needs to be limited (you often fix input length; you want it full of meaningful words).</a:t>
            </a:r>
          </a:p>
          <a:p>
            <a:r>
              <a:rPr lang="en-US" dirty="0"/>
              <a:t>Garbage in → garbage out (noisy inputs = bad outputs).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Bottom line: Clean text helps the model focus on real patterns (like grammar, sentiment, or meaning) rather than noise.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58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153336"/>
              </p:ext>
            </p:extLst>
          </p:nvPr>
        </p:nvGraphicFramePr>
        <p:xfrm>
          <a:off x="880844" y="855677"/>
          <a:ext cx="11090245" cy="5123935"/>
        </p:xfrm>
        <a:graphic>
          <a:graphicData uri="http://schemas.openxmlformats.org/drawingml/2006/table">
            <a:tbl>
              <a:tblPr/>
              <a:tblGrid>
                <a:gridCol w="3029236">
                  <a:extLst>
                    <a:ext uri="{9D8B030D-6E8A-4147-A177-3AD203B41FA5}">
                      <a16:colId xmlns:a16="http://schemas.microsoft.com/office/drawing/2014/main" val="2616763590"/>
                    </a:ext>
                  </a:extLst>
                </a:gridCol>
                <a:gridCol w="3778885">
                  <a:extLst>
                    <a:ext uri="{9D8B030D-6E8A-4147-A177-3AD203B41FA5}">
                      <a16:colId xmlns:a16="http://schemas.microsoft.com/office/drawing/2014/main" val="3884659483"/>
                    </a:ext>
                  </a:extLst>
                </a:gridCol>
                <a:gridCol w="4282124">
                  <a:extLst>
                    <a:ext uri="{9D8B030D-6E8A-4147-A177-3AD203B41FA5}">
                      <a16:colId xmlns:a16="http://schemas.microsoft.com/office/drawing/2014/main" val="4226176823"/>
                    </a:ext>
                  </a:extLst>
                </a:gridCol>
              </a:tblGrid>
              <a:tr h="354167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effectLst/>
                        </a:rPr>
                        <a:t>Cleaning Step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effectLst/>
                        </a:rPr>
                        <a:t>Purpose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effectLst/>
                        </a:rPr>
                        <a:t>Example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8636113"/>
                  </a:ext>
                </a:extLst>
              </a:tr>
              <a:tr h="354167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effectLst/>
                        </a:rPr>
                        <a:t>Lowercasing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effectLst/>
                        </a:rPr>
                        <a:t>Make text uniform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effectLst/>
                        </a:rPr>
                        <a:t>"Happy" → "happy"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499538"/>
                  </a:ext>
                </a:extLst>
              </a:tr>
              <a:tr h="354167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effectLst/>
                        </a:rPr>
                        <a:t>Removing user mentions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effectLst/>
                        </a:rPr>
                        <a:t>Remove noise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effectLst/>
                        </a:rPr>
                        <a:t>"@user123" → ""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9733282"/>
                  </a:ext>
                </a:extLst>
              </a:tr>
              <a:tr h="354167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effectLst/>
                        </a:rPr>
                        <a:t>Removing URLs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effectLst/>
                        </a:rPr>
                        <a:t>Remove web links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effectLst/>
                        </a:rPr>
                        <a:t>"Visit http://..." → ""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6037838"/>
                  </a:ext>
                </a:extLst>
              </a:tr>
              <a:tr h="354167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effectLst/>
                        </a:rPr>
                        <a:t>Removing HTML tags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effectLst/>
                        </a:rPr>
                        <a:t>Tags</a:t>
                      </a:r>
                      <a:r>
                        <a:rPr lang="en-US" sz="1600" b="0" baseline="0" dirty="0">
                          <a:effectLst/>
                        </a:rPr>
                        <a:t> do not hold important info..(but heading may)</a:t>
                      </a:r>
                      <a:endParaRPr lang="en-US" sz="1600" b="0" dirty="0">
                        <a:effectLst/>
                      </a:endParaRP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effectLst/>
                        </a:rPr>
                        <a:t>&lt;p&gt;This is good movie&lt;/p&gt;</a:t>
                      </a:r>
                      <a:r>
                        <a:rPr lang="en-US" sz="1600" b="0" baseline="0" dirty="0">
                          <a:effectLst/>
                        </a:rPr>
                        <a:t> -&gt;</a:t>
                      </a:r>
                      <a:r>
                        <a:rPr lang="en-US" sz="1600" b="0" dirty="0">
                          <a:effectLst/>
                        </a:rPr>
                        <a:t>This is good movie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 dirty="0">
                        <a:effectLst/>
                      </a:endParaRP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060785"/>
                  </a:ext>
                </a:extLst>
              </a:tr>
              <a:tr h="354167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effectLst/>
                        </a:rPr>
                        <a:t>Removing punctuation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effectLst/>
                        </a:rPr>
                        <a:t>Reduce unnecessary tokens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effectLst/>
                        </a:rPr>
                        <a:t>"Wow!!!" → "Wow"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1765656"/>
                  </a:ext>
                </a:extLst>
              </a:tr>
              <a:tr h="619791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effectLst/>
                        </a:rPr>
                        <a:t>Removing numbers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effectLst/>
                        </a:rPr>
                        <a:t>Optional, depends on task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effectLst/>
                        </a:rPr>
                        <a:t>"I am 20 years old" → "I am years old"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759040"/>
                  </a:ext>
                </a:extLst>
              </a:tr>
              <a:tr h="354167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effectLst/>
                        </a:rPr>
                        <a:t>Removing extra whitespace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effectLst/>
                        </a:rPr>
                        <a:t>Make text neat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effectLst/>
                        </a:rPr>
                        <a:t>"Hello    world" → "Hello world"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8874173"/>
                  </a:ext>
                </a:extLst>
              </a:tr>
              <a:tr h="619791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effectLst/>
                        </a:rPr>
                        <a:t>Removing stop words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effectLst/>
                        </a:rPr>
                        <a:t>(Optional) Remove very common words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effectLst/>
                        </a:rPr>
                        <a:t>"the", "is", "in"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2879349"/>
                  </a:ext>
                </a:extLst>
              </a:tr>
              <a:tr h="354167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effectLst/>
                        </a:rPr>
                        <a:t>Spelling correction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effectLst/>
                        </a:rPr>
                        <a:t>(Optional, heavy) Correct typos, library-&gt; </a:t>
                      </a:r>
                      <a:r>
                        <a:rPr lang="en-US" sz="1600" b="0" dirty="0" err="1">
                          <a:effectLst/>
                        </a:rPr>
                        <a:t>pyspellchecker</a:t>
                      </a:r>
                      <a:endParaRPr lang="en-US" sz="1600" b="0" dirty="0">
                        <a:effectLst/>
                      </a:endParaRP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effectLst/>
                        </a:rPr>
                        <a:t>"recieve" → "receive"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7451009"/>
                  </a:ext>
                </a:extLst>
              </a:tr>
              <a:tr h="619791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effectLst/>
                        </a:rPr>
                        <a:t>Removing or replacing </a:t>
                      </a:r>
                      <a:r>
                        <a:rPr lang="en-US" sz="1600" b="0" dirty="0" err="1">
                          <a:effectLst/>
                        </a:rPr>
                        <a:t>emojis</a:t>
                      </a:r>
                      <a:r>
                        <a:rPr lang="en-US" sz="1600" b="0" dirty="0">
                          <a:effectLst/>
                        </a:rPr>
                        <a:t>/special chars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effectLst/>
                        </a:rPr>
                        <a:t>(Optional) Clean text for simple models or replace </a:t>
                      </a:r>
                      <a:r>
                        <a:rPr lang="en-US" sz="1600" b="0" dirty="0" err="1">
                          <a:effectLst/>
                        </a:rPr>
                        <a:t>emojis</a:t>
                      </a:r>
                      <a:r>
                        <a:rPr lang="en-US" sz="1600" b="0" dirty="0">
                          <a:effectLst/>
                        </a:rPr>
                        <a:t> with actual words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effectLst/>
                        </a:rPr>
                        <a:t>"I ❤️ AI" → "I AI“ or “I love AI”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914356"/>
                  </a:ext>
                </a:extLst>
              </a:tr>
            </a:tbl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>
          <a:xfrm>
            <a:off x="326471" y="172179"/>
            <a:ext cx="10515600" cy="5744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2. Text cleaning(preprocessing): Why we need it in NLP sequential data? (p2)</a:t>
            </a:r>
          </a:p>
        </p:txBody>
      </p:sp>
    </p:spTree>
    <p:extLst>
      <p:ext uri="{BB962C8B-B14F-4D97-AF65-F5344CB8AC3E}">
        <p14:creationId xmlns:p14="http://schemas.microsoft.com/office/powerpoint/2010/main" val="3350773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638" y="281236"/>
            <a:ext cx="6997118" cy="574442"/>
          </a:xfrm>
        </p:spPr>
        <p:txBody>
          <a:bodyPr>
            <a:normAutofit fontScale="90000"/>
          </a:bodyPr>
          <a:lstStyle/>
          <a:p>
            <a:r>
              <a:rPr lang="en-US" dirty="0"/>
              <a:t>3. Tokenization: Examples(p1)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3949" y="1174458"/>
            <a:ext cx="11026480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Example 1</a:t>
            </a:r>
            <a:r>
              <a:rPr lang="en-US" dirty="0"/>
              <a:t>: Simple Word Tokenization</a:t>
            </a:r>
          </a:p>
          <a:p>
            <a:r>
              <a:rPr lang="en-US" dirty="0"/>
              <a:t>Input Sentence: "Virgin America is my favorite airline!" </a:t>
            </a:r>
          </a:p>
          <a:p>
            <a:r>
              <a:rPr lang="en-US" dirty="0"/>
              <a:t>['Virgin', 'America', 'is', 'my', 'favorite', 'airline', '!']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Example 2:</a:t>
            </a:r>
            <a:r>
              <a:rPr lang="en-US" dirty="0"/>
              <a:t> Sentence Tokenization: Here, the text is split into separate sentences.</a:t>
            </a:r>
          </a:p>
          <a:p>
            <a:r>
              <a:rPr lang="en-US" dirty="0"/>
              <a:t>Suppose you have a paragraph:</a:t>
            </a:r>
          </a:p>
          <a:p>
            <a:r>
              <a:rPr lang="en-US" dirty="0"/>
              <a:t>"Virgin America is great. I had a wonderful experience! Highly recommended."</a:t>
            </a:r>
          </a:p>
          <a:p>
            <a:endParaRPr lang="en-US" dirty="0"/>
          </a:p>
          <a:p>
            <a:r>
              <a:rPr lang="en-US" dirty="0"/>
              <a:t>Sentence tokens: </a:t>
            </a:r>
          </a:p>
          <a:p>
            <a:r>
              <a:rPr lang="en-US" dirty="0"/>
              <a:t>['Virgin America is great.', </a:t>
            </a:r>
          </a:p>
          <a:p>
            <a:r>
              <a:rPr lang="en-US" dirty="0"/>
              <a:t> 'I had a wonderful experience!', </a:t>
            </a:r>
          </a:p>
          <a:p>
            <a:r>
              <a:rPr lang="en-US" dirty="0"/>
              <a:t> 'Highly recommended.']</a:t>
            </a:r>
          </a:p>
          <a:p>
            <a:endParaRPr lang="en-US" dirty="0"/>
          </a:p>
          <a:p>
            <a:r>
              <a:rPr lang="en-US" b="1" dirty="0"/>
              <a:t>Example 3:</a:t>
            </a:r>
            <a:r>
              <a:rPr lang="en-US" dirty="0"/>
              <a:t> </a:t>
            </a:r>
            <a:r>
              <a:rPr lang="en-US" dirty="0" err="1"/>
              <a:t>Subword</a:t>
            </a:r>
            <a:r>
              <a:rPr lang="en-US" dirty="0"/>
              <a:t> Tokenization (using BERT tokenizer)</a:t>
            </a:r>
          </a:p>
          <a:p>
            <a:r>
              <a:rPr lang="en-US" dirty="0"/>
              <a:t>Input Sentence: "Unbelievable service!"</a:t>
            </a:r>
          </a:p>
          <a:p>
            <a:r>
              <a:rPr lang="en-US" dirty="0" err="1"/>
              <a:t>Subword</a:t>
            </a:r>
            <a:r>
              <a:rPr lang="en-US" dirty="0"/>
              <a:t> Tokens: ['un', '##believable', 'service', '!']</a:t>
            </a:r>
          </a:p>
          <a:p>
            <a:endParaRPr lang="en-US" dirty="0"/>
          </a:p>
          <a:p>
            <a:r>
              <a:rPr lang="en-US" dirty="0"/>
              <a:t>Notice: un and believable are split because BERT uses </a:t>
            </a:r>
            <a:r>
              <a:rPr lang="en-US" dirty="0" err="1"/>
              <a:t>WordPiece</a:t>
            </a:r>
            <a:r>
              <a:rPr lang="en-US" dirty="0"/>
              <a:t> tokenization, handling rare words more efficiently.</a:t>
            </a:r>
          </a:p>
        </p:txBody>
      </p:sp>
    </p:spTree>
    <p:extLst>
      <p:ext uri="{BB962C8B-B14F-4D97-AF65-F5344CB8AC3E}">
        <p14:creationId xmlns:p14="http://schemas.microsoft.com/office/powerpoint/2010/main" val="2389308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638" y="281236"/>
            <a:ext cx="7005507" cy="574442"/>
          </a:xfrm>
        </p:spPr>
        <p:txBody>
          <a:bodyPr>
            <a:normAutofit fontScale="90000"/>
          </a:bodyPr>
          <a:lstStyle/>
          <a:p>
            <a:r>
              <a:rPr lang="en-US" dirty="0"/>
              <a:t>3. Tokenization: Examples(p2)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3949" y="1770077"/>
            <a:ext cx="807522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Example 4:</a:t>
            </a:r>
            <a:r>
              <a:rPr lang="en-US" dirty="0"/>
              <a:t> Character-level Tokenization</a:t>
            </a:r>
          </a:p>
          <a:p>
            <a:r>
              <a:rPr lang="en-US" dirty="0"/>
              <a:t>Input Sentence: "Airline"</a:t>
            </a:r>
          </a:p>
          <a:p>
            <a:endParaRPr lang="en-US" dirty="0"/>
          </a:p>
          <a:p>
            <a:r>
              <a:rPr lang="en-US" dirty="0"/>
              <a:t>Character Tokens: ['A', '</a:t>
            </a:r>
            <a:r>
              <a:rPr lang="en-US" dirty="0" err="1"/>
              <a:t>i</a:t>
            </a:r>
            <a:r>
              <a:rPr lang="en-US" dirty="0"/>
              <a:t>', 'r', 'l', '</a:t>
            </a:r>
            <a:r>
              <a:rPr lang="en-US" dirty="0" err="1"/>
              <a:t>i</a:t>
            </a:r>
            <a:r>
              <a:rPr lang="en-US" dirty="0"/>
              <a:t>', 'n', 'e']</a:t>
            </a:r>
          </a:p>
          <a:p>
            <a:endParaRPr lang="en-US" dirty="0"/>
          </a:p>
          <a:p>
            <a:r>
              <a:rPr lang="en-US" b="1" dirty="0"/>
              <a:t>Example 5:</a:t>
            </a:r>
            <a:r>
              <a:rPr lang="en-US" dirty="0"/>
              <a:t> Tokenization preserving hashtags, mentions, etc. (Twitter data)</a:t>
            </a:r>
          </a:p>
          <a:p>
            <a:r>
              <a:rPr lang="en-US" dirty="0"/>
              <a:t>Input Sentence: "Thanks @</a:t>
            </a:r>
            <a:r>
              <a:rPr lang="en-US" dirty="0" err="1"/>
              <a:t>VirginAmerica</a:t>
            </a:r>
            <a:r>
              <a:rPr lang="en-US" dirty="0"/>
              <a:t> for the amazing service! #</a:t>
            </a:r>
            <a:r>
              <a:rPr lang="en-US" dirty="0" err="1"/>
              <a:t>happycustomer</a:t>
            </a:r>
            <a:r>
              <a:rPr lang="en-US" dirty="0"/>
              <a:t>"</a:t>
            </a:r>
          </a:p>
          <a:p>
            <a:r>
              <a:rPr lang="en-US" dirty="0"/>
              <a:t>['Thanks', '@</a:t>
            </a:r>
            <a:r>
              <a:rPr lang="en-US" dirty="0" err="1"/>
              <a:t>VirginAmerica</a:t>
            </a:r>
            <a:r>
              <a:rPr lang="en-US" dirty="0"/>
              <a:t>', 'for', 'the', 'amazing', 'service', '!', '#</a:t>
            </a:r>
            <a:r>
              <a:rPr lang="en-US" dirty="0" err="1"/>
              <a:t>happycustomer</a:t>
            </a:r>
            <a:r>
              <a:rPr lang="en-US" dirty="0"/>
              <a:t>']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675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638" y="281236"/>
            <a:ext cx="7894740" cy="574442"/>
          </a:xfrm>
        </p:spPr>
        <p:txBody>
          <a:bodyPr>
            <a:noAutofit/>
          </a:bodyPr>
          <a:lstStyle/>
          <a:p>
            <a:r>
              <a:rPr lang="en-US" sz="3200" dirty="0"/>
              <a:t>3. Tokenization: Why do we need it ?(p1)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3949" y="1426128"/>
            <a:ext cx="1086813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Without tokenization, it would be hard to understand: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Which words occur most frequently?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is the sentence sentiment?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Which words are meaningful (e.g., named entities)?</a:t>
            </a:r>
          </a:p>
          <a:p>
            <a:endParaRPr lang="en-US" dirty="0"/>
          </a:p>
          <a:p>
            <a:r>
              <a:rPr lang="en-US" dirty="0"/>
              <a:t>Tokenization is essential because </a:t>
            </a:r>
            <a:r>
              <a:rPr lang="en-US" b="1" dirty="0"/>
              <a:t>computers cannot directly understand or process unstructured human language</a:t>
            </a:r>
            <a:r>
              <a:rPr lang="en-US" dirty="0"/>
              <a:t>. By breaking text into tokens, we convert it into a </a:t>
            </a:r>
            <a:r>
              <a:rPr lang="en-US" b="1" dirty="0"/>
              <a:t>structured format</a:t>
            </a:r>
            <a:r>
              <a:rPr lang="en-US" dirty="0"/>
              <a:t> that can be analyzed, modeled, or used as input to NLP algorithms.</a:t>
            </a:r>
            <a:endParaRPr lang="en-US" b="1" dirty="0"/>
          </a:p>
          <a:p>
            <a:endParaRPr lang="en-US" b="1" dirty="0"/>
          </a:p>
          <a:p>
            <a:r>
              <a:rPr lang="en-US" dirty="0"/>
              <a:t>Advantages of tokenization:</a:t>
            </a:r>
          </a:p>
          <a:p>
            <a:r>
              <a:rPr lang="en-US" b="1" dirty="0"/>
              <a:t>Makes text data manageable: </a:t>
            </a:r>
            <a:r>
              <a:rPr lang="en-US" dirty="0"/>
              <a:t>Tokenization breaks down large text into smaller, more easily processed chunks, making it easier for NLP models to work with. </a:t>
            </a:r>
          </a:p>
          <a:p>
            <a:r>
              <a:rPr lang="en-US" b="1" dirty="0"/>
              <a:t>Facilitates analysis and understanding: </a:t>
            </a:r>
            <a:r>
              <a:rPr lang="en-US" dirty="0"/>
              <a:t>By isolating individual units (tokens), NLP models can analyze the meaning and relationships between them, leading to a deeper understanding of the text. </a:t>
            </a:r>
          </a:p>
          <a:p>
            <a:r>
              <a:rPr lang="en-US" b="1" dirty="0"/>
              <a:t>Lays the foundation for other NLP tasks: </a:t>
            </a:r>
            <a:r>
              <a:rPr lang="en-US" dirty="0"/>
              <a:t>Tokenization is a fundamental step that enables various other NLP tasks, such as text classification, sentiment analysis, machine translation, and language modeling. </a:t>
            </a:r>
          </a:p>
          <a:p>
            <a:r>
              <a:rPr lang="en-US" b="1" dirty="0"/>
              <a:t>Enables text-to-numerical conversion: </a:t>
            </a:r>
            <a:r>
              <a:rPr lang="en-US" dirty="0"/>
              <a:t>Tokenization is crucial for converting raw text into a numerical format that machine learning models can process, as they typically work with numbers rather than raw text. </a:t>
            </a:r>
          </a:p>
        </p:txBody>
      </p:sp>
    </p:spTree>
    <p:extLst>
      <p:ext uri="{BB962C8B-B14F-4D97-AF65-F5344CB8AC3E}">
        <p14:creationId xmlns:p14="http://schemas.microsoft.com/office/powerpoint/2010/main" val="630834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637" y="281236"/>
            <a:ext cx="7173287" cy="574442"/>
          </a:xfrm>
        </p:spPr>
        <p:txBody>
          <a:bodyPr>
            <a:normAutofit fontScale="90000"/>
          </a:bodyPr>
          <a:lstStyle/>
          <a:p>
            <a:r>
              <a:rPr lang="en-US" dirty="0"/>
              <a:t>3. Tokenization: Libraries used(p3)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112246"/>
              </p:ext>
            </p:extLst>
          </p:nvPr>
        </p:nvGraphicFramePr>
        <p:xfrm>
          <a:off x="838200" y="1625950"/>
          <a:ext cx="10515600" cy="2194560"/>
        </p:xfrm>
        <a:graphic>
          <a:graphicData uri="http://schemas.openxmlformats.org/drawingml/2006/table">
            <a:tbl>
              <a:tblPr/>
              <a:tblGrid>
                <a:gridCol w="2081169">
                  <a:extLst>
                    <a:ext uri="{9D8B030D-6E8A-4147-A177-3AD203B41FA5}">
                      <a16:colId xmlns:a16="http://schemas.microsoft.com/office/drawing/2014/main" val="3717618253"/>
                    </a:ext>
                  </a:extLst>
                </a:gridCol>
                <a:gridCol w="3176631">
                  <a:extLst>
                    <a:ext uri="{9D8B030D-6E8A-4147-A177-3AD203B41FA5}">
                      <a16:colId xmlns:a16="http://schemas.microsoft.com/office/drawing/2014/main" val="134306161"/>
                    </a:ext>
                  </a:extLst>
                </a:gridCol>
                <a:gridCol w="1697372">
                  <a:extLst>
                    <a:ext uri="{9D8B030D-6E8A-4147-A177-3AD203B41FA5}">
                      <a16:colId xmlns:a16="http://schemas.microsoft.com/office/drawing/2014/main" val="2652345858"/>
                    </a:ext>
                  </a:extLst>
                </a:gridCol>
                <a:gridCol w="3560428">
                  <a:extLst>
                    <a:ext uri="{9D8B030D-6E8A-4147-A177-3AD203B41FA5}">
                      <a16:colId xmlns:a16="http://schemas.microsoft.com/office/drawing/2014/main" val="39886598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</a:rPr>
                        <a:t>Library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</a:rPr>
                        <a:t>Use-case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</a:rPr>
                        <a:t>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</a:rPr>
                        <a:t>Deep Learning Ready?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2223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NLTK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Classical NLP, education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0442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 err="1">
                          <a:effectLst/>
                        </a:rPr>
                        <a:t>spaCy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Industrial, fast 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Very 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No (but </a:t>
                      </a:r>
                      <a:r>
                        <a:rPr lang="en-US" dirty="0" err="1">
                          <a:effectLst/>
                        </a:rPr>
                        <a:t>embeddings</a:t>
                      </a:r>
                      <a:r>
                        <a:rPr lang="en-US" dirty="0">
                          <a:effectLst/>
                        </a:rPr>
                        <a:t> possible)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4748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transformers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Deep learning 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8670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 err="1">
                          <a:effectLst/>
                        </a:rPr>
                        <a:t>TextBlob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Easy NLP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4748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 err="1">
                          <a:effectLst/>
                        </a:rPr>
                        <a:t>SentencePiece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Pretraining tokenizers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352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7453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460" y="185661"/>
            <a:ext cx="3682525" cy="515092"/>
          </a:xfrm>
        </p:spPr>
        <p:txBody>
          <a:bodyPr>
            <a:noAutofit/>
          </a:bodyPr>
          <a:lstStyle/>
          <a:p>
            <a:r>
              <a:rPr lang="en-US" sz="2000" dirty="0"/>
              <a:t>4.1) POS Tagging(p1)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9116" y="956344"/>
            <a:ext cx="1143262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Why POS tagging?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 tags can help in better normalization (e.g., you might lemmatize differently based on the word's part of speech: "running" → "run" if it's a verb).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 tags can become extra features fed into a model (especially in more advanced NLP tasks).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downstream models (like Named Entity Recognition, Question Answering, etc.) perform better with POS information.</a:t>
            </a:r>
          </a:p>
          <a:p>
            <a:endParaRPr lang="en-US" dirty="0"/>
          </a:p>
          <a:p>
            <a:r>
              <a:rPr lang="en-US" dirty="0"/>
              <a:t>Simple Example:</a:t>
            </a:r>
          </a:p>
          <a:p>
            <a:r>
              <a:rPr lang="en-US" dirty="0"/>
              <a:t>Suppose after tokenization, you get:  ["dogs", "are", "running"]</a:t>
            </a:r>
          </a:p>
          <a:p>
            <a:r>
              <a:rPr lang="en-US" dirty="0"/>
              <a:t>POS tagging assigns: [("dogs", "NOUN"), ("are", "VERB"), ("running", "VERB")]</a:t>
            </a:r>
          </a:p>
          <a:p>
            <a:endParaRPr lang="en-US" dirty="0"/>
          </a:p>
          <a:p>
            <a:r>
              <a:rPr lang="en-US" dirty="0"/>
              <a:t>Later during normalization, you lemmatize "running" to "run" because you know it's a verb (instead of wrongly guessing).</a:t>
            </a:r>
          </a:p>
        </p:txBody>
      </p:sp>
    </p:spTree>
    <p:extLst>
      <p:ext uri="{BB962C8B-B14F-4D97-AF65-F5344CB8AC3E}">
        <p14:creationId xmlns:p14="http://schemas.microsoft.com/office/powerpoint/2010/main" val="4282109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461" y="118549"/>
            <a:ext cx="6122231" cy="515092"/>
          </a:xfrm>
        </p:spPr>
        <p:txBody>
          <a:bodyPr>
            <a:noAutofit/>
          </a:bodyPr>
          <a:lstStyle/>
          <a:p>
            <a:r>
              <a:rPr lang="en-US" sz="2000" dirty="0"/>
              <a:t>4.1) POS Tagging: Realistic Examples + How It's Used(p2)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281" y="738231"/>
            <a:ext cx="510889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1. </a:t>
            </a:r>
            <a:r>
              <a:rPr lang="en-US" sz="1400" b="1" dirty="0" err="1"/>
              <a:t>Chatbots</a:t>
            </a:r>
            <a:r>
              <a:rPr lang="en-US" sz="1400" b="1" dirty="0"/>
              <a:t> / Virtual Assistants</a:t>
            </a:r>
          </a:p>
          <a:p>
            <a:r>
              <a:rPr lang="en-US" sz="1400" dirty="0"/>
              <a:t>Example Input: "Book a flight to Paris."</a:t>
            </a:r>
          </a:p>
          <a:p>
            <a:r>
              <a:rPr lang="en-US" sz="1400" b="1" dirty="0"/>
              <a:t>POS Tags:</a:t>
            </a:r>
          </a:p>
          <a:p>
            <a:r>
              <a:rPr lang="en-US" sz="1400" dirty="0"/>
              <a:t>Book (Verb)</a:t>
            </a:r>
          </a:p>
          <a:p>
            <a:r>
              <a:rPr lang="en-US" sz="1400" dirty="0"/>
              <a:t>a (Determiner)</a:t>
            </a:r>
          </a:p>
          <a:p>
            <a:r>
              <a:rPr lang="en-US" sz="1400" dirty="0"/>
              <a:t>flight (Noun)</a:t>
            </a:r>
          </a:p>
          <a:p>
            <a:r>
              <a:rPr lang="en-US" sz="1400" dirty="0"/>
              <a:t>to (Preposition)</a:t>
            </a:r>
          </a:p>
          <a:p>
            <a:r>
              <a:rPr lang="en-US" sz="1400" dirty="0"/>
              <a:t>Paris (Proper Noun)</a:t>
            </a:r>
          </a:p>
          <a:p>
            <a:endParaRPr lang="en-US" sz="1400" dirty="0"/>
          </a:p>
          <a:p>
            <a:r>
              <a:rPr lang="en-US" sz="1400" b="1" dirty="0"/>
              <a:t>Usage:</a:t>
            </a:r>
          </a:p>
          <a:p>
            <a:r>
              <a:rPr lang="en-US" sz="1400" dirty="0"/>
              <a:t>The </a:t>
            </a:r>
            <a:r>
              <a:rPr lang="en-US" sz="1400" dirty="0" err="1"/>
              <a:t>chatbot</a:t>
            </a:r>
            <a:r>
              <a:rPr lang="en-US" sz="1400" dirty="0"/>
              <a:t> needs to know that "Book" is a verb (an action), and "flight" is the object. This helps the </a:t>
            </a:r>
            <a:r>
              <a:rPr lang="en-US" sz="1400" dirty="0" err="1"/>
              <a:t>chatbot</a:t>
            </a:r>
            <a:r>
              <a:rPr lang="en-US" sz="1400" dirty="0"/>
              <a:t> understand the user's intent: booking something rather than asking about books.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8114" y="4253218"/>
            <a:ext cx="571290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2. Voice Assistants Understanding Commands (Alexa, Siri)</a:t>
            </a:r>
          </a:p>
          <a:p>
            <a:r>
              <a:rPr lang="en-US" sz="1400" dirty="0"/>
              <a:t>Example Input: "Play relaxing music."</a:t>
            </a:r>
          </a:p>
          <a:p>
            <a:r>
              <a:rPr lang="en-US" sz="1400" b="1" dirty="0"/>
              <a:t>POS Tags:</a:t>
            </a:r>
          </a:p>
          <a:p>
            <a:r>
              <a:rPr lang="en-US" sz="1400" dirty="0"/>
              <a:t>Play (Verb)</a:t>
            </a:r>
          </a:p>
          <a:p>
            <a:r>
              <a:rPr lang="en-US" sz="1400" dirty="0"/>
              <a:t>relaxing (Adjective)</a:t>
            </a:r>
          </a:p>
          <a:p>
            <a:r>
              <a:rPr lang="en-US" sz="1400" dirty="0"/>
              <a:t>music (Noun)</a:t>
            </a:r>
          </a:p>
          <a:p>
            <a:endParaRPr lang="en-US" sz="1400" dirty="0"/>
          </a:p>
          <a:p>
            <a:r>
              <a:rPr lang="en-US" sz="1400" b="1" dirty="0"/>
              <a:t>Usage:</a:t>
            </a:r>
          </a:p>
          <a:p>
            <a:r>
              <a:rPr lang="en-US" sz="1400" dirty="0"/>
              <a:t>Helps distinguish between commands (verbs like "play", "call", "set") and objects (nouns like "music", "alarm").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80016" y="771787"/>
            <a:ext cx="618268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3. Text Summarization Tools</a:t>
            </a:r>
          </a:p>
          <a:p>
            <a:r>
              <a:rPr lang="en-US" sz="1400" dirty="0"/>
              <a:t>Example Input: "The stock market rose sharply due to the new policy announcements."</a:t>
            </a:r>
          </a:p>
          <a:p>
            <a:r>
              <a:rPr lang="en-US" sz="1400" b="1" dirty="0"/>
              <a:t>POS Tags:</a:t>
            </a:r>
          </a:p>
          <a:p>
            <a:r>
              <a:rPr lang="en-US" sz="1400" dirty="0"/>
              <a:t>stock (Noun)</a:t>
            </a:r>
          </a:p>
          <a:p>
            <a:r>
              <a:rPr lang="en-US" sz="1400" dirty="0"/>
              <a:t>market (Noun)</a:t>
            </a:r>
          </a:p>
          <a:p>
            <a:r>
              <a:rPr lang="en-US" sz="1400" dirty="0"/>
              <a:t>rose (Verb)</a:t>
            </a:r>
          </a:p>
          <a:p>
            <a:r>
              <a:rPr lang="en-US" sz="1400" dirty="0"/>
              <a:t>sharply (Adverb)</a:t>
            </a:r>
          </a:p>
          <a:p>
            <a:r>
              <a:rPr lang="en-US" sz="1400" dirty="0"/>
              <a:t>due (Preposition)</a:t>
            </a:r>
          </a:p>
          <a:p>
            <a:r>
              <a:rPr lang="en-US" sz="1400" dirty="0"/>
              <a:t>new (Adjective)</a:t>
            </a:r>
          </a:p>
          <a:p>
            <a:r>
              <a:rPr lang="en-US" sz="1400" dirty="0"/>
              <a:t>policy (Noun)</a:t>
            </a:r>
          </a:p>
          <a:p>
            <a:r>
              <a:rPr lang="en-US" sz="1400" dirty="0"/>
              <a:t>announcements (Noun)</a:t>
            </a:r>
          </a:p>
          <a:p>
            <a:endParaRPr lang="en-US" sz="1400" dirty="0"/>
          </a:p>
          <a:p>
            <a:r>
              <a:rPr lang="en-US" sz="1400" b="1" dirty="0"/>
              <a:t>Usage:</a:t>
            </a:r>
          </a:p>
          <a:p>
            <a:r>
              <a:rPr lang="en-US" sz="1400" dirty="0"/>
              <a:t>Nouns and verbs are prioritized to extract key points.</a:t>
            </a:r>
          </a:p>
          <a:p>
            <a:r>
              <a:rPr lang="en-US" sz="1400" dirty="0"/>
              <a:t>Adjectives/adverbs like "sharply" might be selectively used for richer summaries.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38738" y="4655890"/>
            <a:ext cx="612396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4. Grammar Checkers ( </a:t>
            </a:r>
            <a:r>
              <a:rPr lang="en-US" sz="1400" b="1" dirty="0" err="1"/>
              <a:t>Grammarly</a:t>
            </a:r>
            <a:r>
              <a:rPr lang="en-US" sz="1400" b="1" dirty="0"/>
              <a:t>, MS Word)</a:t>
            </a:r>
          </a:p>
          <a:p>
            <a:r>
              <a:rPr lang="en-US" sz="1400" dirty="0"/>
              <a:t>Example Input: "He run fast.“ &lt;- TODO: Try this in </a:t>
            </a:r>
            <a:r>
              <a:rPr lang="en-US" sz="1400" dirty="0" err="1"/>
              <a:t>grammarly</a:t>
            </a:r>
            <a:endParaRPr lang="en-US" sz="1400" dirty="0"/>
          </a:p>
          <a:p>
            <a:r>
              <a:rPr lang="en-US" sz="1400" b="1" dirty="0"/>
              <a:t>POS Tags:</a:t>
            </a:r>
          </a:p>
          <a:p>
            <a:r>
              <a:rPr lang="en-US" sz="1400" dirty="0"/>
              <a:t>He (Pronoun)</a:t>
            </a:r>
          </a:p>
          <a:p>
            <a:r>
              <a:rPr lang="en-US" sz="1400" dirty="0"/>
              <a:t>run (Verb)</a:t>
            </a:r>
          </a:p>
          <a:p>
            <a:r>
              <a:rPr lang="en-US" sz="1400" dirty="0"/>
              <a:t>fast (Adverb)</a:t>
            </a:r>
          </a:p>
          <a:p>
            <a:endParaRPr lang="en-US" sz="1400" dirty="0"/>
          </a:p>
          <a:p>
            <a:r>
              <a:rPr lang="en-US" sz="1400" b="1" dirty="0"/>
              <a:t>Usage:</a:t>
            </a:r>
          </a:p>
          <a:p>
            <a:r>
              <a:rPr lang="en-US" sz="1400" dirty="0"/>
              <a:t>System realizes "He" is singular, but "run" is plural — catches subject-verb disagreement error.</a:t>
            </a:r>
          </a:p>
        </p:txBody>
      </p:sp>
    </p:spTree>
    <p:extLst>
      <p:ext uri="{BB962C8B-B14F-4D97-AF65-F5344CB8AC3E}">
        <p14:creationId xmlns:p14="http://schemas.microsoft.com/office/powerpoint/2010/main" val="1478735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461" y="118549"/>
            <a:ext cx="6088675" cy="515092"/>
          </a:xfrm>
        </p:spPr>
        <p:txBody>
          <a:bodyPr>
            <a:noAutofit/>
          </a:bodyPr>
          <a:lstStyle/>
          <a:p>
            <a:r>
              <a:rPr lang="en-US" sz="2000" dirty="0"/>
              <a:t>4.1) POS Tagging: Realistic Examples + How It's Used(p3)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281" y="738231"/>
            <a:ext cx="510889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5. Named Entity Recognition (NER)</a:t>
            </a:r>
          </a:p>
          <a:p>
            <a:r>
              <a:rPr lang="en-US" sz="1400" dirty="0"/>
              <a:t>Example Input: "Apple is looking at buying a startup in the UK."</a:t>
            </a:r>
          </a:p>
          <a:p>
            <a:r>
              <a:rPr lang="en-US" sz="1400" b="1" dirty="0"/>
              <a:t>POS Tags:</a:t>
            </a:r>
          </a:p>
          <a:p>
            <a:r>
              <a:rPr lang="en-US" sz="1400" dirty="0"/>
              <a:t>Apple (Proper Noun)</a:t>
            </a:r>
          </a:p>
          <a:p>
            <a:r>
              <a:rPr lang="en-US" sz="1400" dirty="0"/>
              <a:t>is (Verb)</a:t>
            </a:r>
          </a:p>
          <a:p>
            <a:r>
              <a:rPr lang="en-US" sz="1400" dirty="0"/>
              <a:t>looking (Verb)</a:t>
            </a:r>
          </a:p>
          <a:p>
            <a:r>
              <a:rPr lang="en-US" sz="1400" dirty="0"/>
              <a:t>buying (Verb)</a:t>
            </a:r>
          </a:p>
          <a:p>
            <a:r>
              <a:rPr lang="en-US" sz="1400" dirty="0"/>
              <a:t>startup (Noun)</a:t>
            </a:r>
          </a:p>
          <a:p>
            <a:r>
              <a:rPr lang="en-US" sz="1400" dirty="0"/>
              <a:t>UK (Proper Noun)</a:t>
            </a:r>
          </a:p>
          <a:p>
            <a:endParaRPr lang="en-US" sz="1400" dirty="0"/>
          </a:p>
          <a:p>
            <a:r>
              <a:rPr lang="en-US" sz="1400" b="1" dirty="0"/>
              <a:t>Usage:</a:t>
            </a:r>
          </a:p>
          <a:p>
            <a:r>
              <a:rPr lang="en-US" sz="1400" dirty="0"/>
              <a:t>Helps distinguish "Apple" as a company (not a fruit!) based on context.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8114" y="3716322"/>
            <a:ext cx="571290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6. Search Engines Understanding Queries</a:t>
            </a:r>
          </a:p>
          <a:p>
            <a:r>
              <a:rPr lang="en-US" sz="1400" dirty="0"/>
              <a:t>Example Input: "best places to visit near me"</a:t>
            </a:r>
          </a:p>
          <a:p>
            <a:r>
              <a:rPr lang="en-US" sz="1400" b="1" dirty="0"/>
              <a:t>POS Tags:</a:t>
            </a:r>
          </a:p>
          <a:p>
            <a:r>
              <a:rPr lang="en-US" sz="1400" dirty="0"/>
              <a:t>best (Adjective)</a:t>
            </a:r>
          </a:p>
          <a:p>
            <a:r>
              <a:rPr lang="en-US" sz="1400" dirty="0"/>
              <a:t>places (Noun)</a:t>
            </a:r>
          </a:p>
          <a:p>
            <a:r>
              <a:rPr lang="en-US" sz="1400" dirty="0"/>
              <a:t>to (Preposition)</a:t>
            </a:r>
          </a:p>
          <a:p>
            <a:r>
              <a:rPr lang="en-US" sz="1400" dirty="0"/>
              <a:t>visit (Verb)</a:t>
            </a:r>
          </a:p>
          <a:p>
            <a:r>
              <a:rPr lang="en-US" sz="1400" dirty="0"/>
              <a:t>near (Preposition)</a:t>
            </a:r>
          </a:p>
          <a:p>
            <a:r>
              <a:rPr lang="en-US" sz="1400" dirty="0"/>
              <a:t>me (Pronoun)</a:t>
            </a:r>
          </a:p>
          <a:p>
            <a:endParaRPr lang="en-US" sz="1400" dirty="0"/>
          </a:p>
          <a:p>
            <a:r>
              <a:rPr lang="en-US" sz="1400" b="1" dirty="0"/>
              <a:t>Usage:</a:t>
            </a:r>
          </a:p>
          <a:p>
            <a:r>
              <a:rPr lang="en-US" sz="1400" dirty="0"/>
              <a:t>Recognizes "places" as the core noun and "visit" as the action — tailors better location-based search results.</a:t>
            </a:r>
          </a:p>
        </p:txBody>
      </p:sp>
    </p:spTree>
    <p:extLst>
      <p:ext uri="{BB962C8B-B14F-4D97-AF65-F5344CB8AC3E}">
        <p14:creationId xmlns:p14="http://schemas.microsoft.com/office/powerpoint/2010/main" val="2574660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461" y="118549"/>
            <a:ext cx="6155787" cy="515092"/>
          </a:xfrm>
        </p:spPr>
        <p:txBody>
          <a:bodyPr>
            <a:noAutofit/>
          </a:bodyPr>
          <a:lstStyle/>
          <a:p>
            <a:r>
              <a:rPr lang="en-US" sz="3200" dirty="0"/>
              <a:t>4.1) POS Tagging: Libraries used(p4)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762031"/>
              </p:ext>
            </p:extLst>
          </p:nvPr>
        </p:nvGraphicFramePr>
        <p:xfrm>
          <a:off x="838200" y="2218214"/>
          <a:ext cx="10515600" cy="3017520"/>
        </p:xfrm>
        <a:graphic>
          <a:graphicData uri="http://schemas.openxmlformats.org/drawingml/2006/table">
            <a:tbl>
              <a:tblPr/>
              <a:tblGrid>
                <a:gridCol w="1502328">
                  <a:extLst>
                    <a:ext uri="{9D8B030D-6E8A-4147-A177-3AD203B41FA5}">
                      <a16:colId xmlns:a16="http://schemas.microsoft.com/office/drawing/2014/main" val="802596431"/>
                    </a:ext>
                  </a:extLst>
                </a:gridCol>
                <a:gridCol w="2703912">
                  <a:extLst>
                    <a:ext uri="{9D8B030D-6E8A-4147-A177-3AD203B41FA5}">
                      <a16:colId xmlns:a16="http://schemas.microsoft.com/office/drawing/2014/main" val="309012284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0899649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10885230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872754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Library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Strength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Best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398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NLTK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Education, quick prototyping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Learning NLP basics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188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spaCy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Production NLP pipelines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Real-world applications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874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TextBlob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Simplicity, quick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Beginners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185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Stanza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Deep learning, multi-lingual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Academic or robust NLP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223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Flair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Contextual embeddings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⚡⚡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Advanced NLP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6733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15262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971" y="188957"/>
            <a:ext cx="6057552" cy="482162"/>
          </a:xfrm>
        </p:spPr>
        <p:txBody>
          <a:bodyPr>
            <a:noAutofit/>
          </a:bodyPr>
          <a:lstStyle/>
          <a:p>
            <a:r>
              <a:rPr lang="en-US" sz="2000" dirty="0"/>
              <a:t>4.2) Normalization: Lemmatization(p1)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971" y="978336"/>
            <a:ext cx="11166447" cy="28050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Lemmatization</a:t>
            </a:r>
          </a:p>
          <a:p>
            <a:pPr marL="0" indent="0">
              <a:buNone/>
            </a:pPr>
            <a:r>
              <a:rPr lang="en-US" sz="1600" dirty="0"/>
              <a:t>Convert words to their base dictionary form.</a:t>
            </a:r>
          </a:p>
          <a:p>
            <a:pPr marL="0" indent="0">
              <a:buNone/>
            </a:pPr>
            <a:r>
              <a:rPr lang="en-US" sz="1600" dirty="0"/>
              <a:t>"The passengers are flying to New York" -&gt; "The passenger be fly to New York“</a:t>
            </a:r>
          </a:p>
          <a:p>
            <a:pPr marL="0" indent="0">
              <a:buNone/>
            </a:pPr>
            <a:r>
              <a:rPr lang="en-US" sz="1600" dirty="0"/>
              <a:t>Keep in mind that the actual lemmatization result may depend on </a:t>
            </a:r>
            <a:r>
              <a:rPr lang="en-US" sz="1600" b="1" dirty="0"/>
              <a:t>part of speech (POS)</a:t>
            </a:r>
            <a:r>
              <a:rPr lang="en-US" sz="1600" dirty="0"/>
              <a:t> tagging — so these are grouped accordingly</a:t>
            </a:r>
          </a:p>
          <a:p>
            <a:pPr marL="0" indent="0">
              <a:buNone/>
            </a:pPr>
            <a:endParaRPr lang="en-US" sz="16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388190"/>
              </p:ext>
            </p:extLst>
          </p:nvPr>
        </p:nvGraphicFramePr>
        <p:xfrm>
          <a:off x="4513278" y="3856064"/>
          <a:ext cx="6840522" cy="2830748"/>
        </p:xfrm>
        <a:graphic>
          <a:graphicData uri="http://schemas.openxmlformats.org/drawingml/2006/table">
            <a:tbl>
              <a:tblPr/>
              <a:tblGrid>
                <a:gridCol w="2280174">
                  <a:extLst>
                    <a:ext uri="{9D8B030D-6E8A-4147-A177-3AD203B41FA5}">
                      <a16:colId xmlns:a16="http://schemas.microsoft.com/office/drawing/2014/main" val="921962802"/>
                    </a:ext>
                  </a:extLst>
                </a:gridCol>
                <a:gridCol w="2280174">
                  <a:extLst>
                    <a:ext uri="{9D8B030D-6E8A-4147-A177-3AD203B41FA5}">
                      <a16:colId xmlns:a16="http://schemas.microsoft.com/office/drawing/2014/main" val="2700664409"/>
                    </a:ext>
                  </a:extLst>
                </a:gridCol>
                <a:gridCol w="2280174">
                  <a:extLst>
                    <a:ext uri="{9D8B030D-6E8A-4147-A177-3AD203B41FA5}">
                      <a16:colId xmlns:a16="http://schemas.microsoft.com/office/drawing/2014/main" val="2297029622"/>
                    </a:ext>
                  </a:extLst>
                </a:gridCol>
              </a:tblGrid>
              <a:tr h="392348">
                <a:tc>
                  <a:txBody>
                    <a:bodyPr/>
                    <a:lstStyle/>
                    <a:p>
                      <a:r>
                        <a:rPr lang="en-US" sz="1400" b="1" dirty="0"/>
                        <a:t>Original 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Part of Speech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Lemmatized 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461006"/>
                  </a:ext>
                </a:extLst>
              </a:tr>
              <a:tr h="230443">
                <a:tc>
                  <a:txBody>
                    <a:bodyPr/>
                    <a:lstStyle/>
                    <a:p>
                      <a:r>
                        <a:rPr lang="en-US" sz="1400" b="0" dirty="0"/>
                        <a:t>Running, ran,</a:t>
                      </a:r>
                      <a:r>
                        <a:rPr lang="en-US" sz="1400" b="0" baseline="0" dirty="0"/>
                        <a:t> r</a:t>
                      </a:r>
                      <a:r>
                        <a:rPr lang="en-US" sz="1400" b="0" dirty="0"/>
                        <a:t>uns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verb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run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0825751"/>
                  </a:ext>
                </a:extLst>
              </a:tr>
              <a:tr h="230443">
                <a:tc>
                  <a:txBody>
                    <a:bodyPr/>
                    <a:lstStyle/>
                    <a:p>
                      <a:r>
                        <a:rPr lang="en-US" sz="1400" b="0" dirty="0"/>
                        <a:t>Better, best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adjective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good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0814240"/>
                  </a:ext>
                </a:extLst>
              </a:tr>
              <a:tr h="230443">
                <a:tc>
                  <a:txBody>
                    <a:bodyPr/>
                    <a:lstStyle/>
                    <a:p>
                      <a:r>
                        <a:rPr lang="en-US" sz="1400" b="0" dirty="0"/>
                        <a:t>was, were, being, been,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verb (past)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be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8109336"/>
                  </a:ext>
                </a:extLst>
              </a:tr>
              <a:tr h="230443">
                <a:tc>
                  <a:txBody>
                    <a:bodyPr/>
                    <a:lstStyle/>
                    <a:p>
                      <a:r>
                        <a:rPr lang="en-US" sz="1400" b="0" dirty="0"/>
                        <a:t>cars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noun (plural)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car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9659070"/>
                  </a:ext>
                </a:extLst>
              </a:tr>
              <a:tr h="230443">
                <a:tc>
                  <a:txBody>
                    <a:bodyPr/>
                    <a:lstStyle/>
                    <a:p>
                      <a:r>
                        <a:rPr lang="en-US" sz="1400" b="0" dirty="0"/>
                        <a:t>geese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noun (plural)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goose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5028633"/>
                  </a:ext>
                </a:extLst>
              </a:tr>
              <a:tr h="230443">
                <a:tc>
                  <a:txBody>
                    <a:bodyPr/>
                    <a:lstStyle/>
                    <a:p>
                      <a:r>
                        <a:rPr lang="en-US" sz="1400" b="0" dirty="0"/>
                        <a:t>Studies, reads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verb/noun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study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0427722"/>
                  </a:ext>
                </a:extLst>
              </a:tr>
              <a:tr h="230443">
                <a:tc>
                  <a:txBody>
                    <a:bodyPr/>
                    <a:lstStyle/>
                    <a:p>
                      <a:r>
                        <a:rPr lang="en-US" sz="1400" b="0" dirty="0"/>
                        <a:t>Go, going, gone, goes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verb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go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2430951"/>
                  </a:ext>
                </a:extLst>
              </a:tr>
              <a:tr h="230443">
                <a:tc>
                  <a:txBody>
                    <a:bodyPr/>
                    <a:lstStyle/>
                    <a:p>
                      <a:r>
                        <a:rPr lang="en-US" sz="1400" b="0" dirty="0"/>
                        <a:t>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verb (past)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eat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2012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40665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972" y="230902"/>
            <a:ext cx="4857926" cy="423439"/>
          </a:xfrm>
        </p:spPr>
        <p:txBody>
          <a:bodyPr>
            <a:noAutofit/>
          </a:bodyPr>
          <a:lstStyle/>
          <a:p>
            <a:r>
              <a:rPr lang="en-US" sz="2000" dirty="0"/>
              <a:t>4.2) Normalization: Stemming(p2)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171" y="743445"/>
            <a:ext cx="11476139" cy="23185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Stemming</a:t>
            </a:r>
          </a:p>
          <a:p>
            <a:r>
              <a:rPr lang="en-US" sz="1800" dirty="0"/>
              <a:t>Chop off word endings to their root form. This Reduce dimensionality of the vocabulary. </a:t>
            </a:r>
          </a:p>
          <a:p>
            <a:pPr marL="0" indent="0">
              <a:buNone/>
            </a:pPr>
            <a:r>
              <a:rPr lang="en-US" sz="1800" dirty="0"/>
              <a:t>E.g. (connect, connects, connected, connecting, connection, connections, connectivity, connective) -&gt; connect</a:t>
            </a:r>
          </a:p>
          <a:p>
            <a:r>
              <a:rPr lang="en-US" sz="1800" dirty="0"/>
              <a:t>Unlike lemmatization, stemming is rule-based and typically faster but less accurate.</a:t>
            </a:r>
          </a:p>
          <a:p>
            <a:r>
              <a:rPr lang="en-US" sz="1800" dirty="0"/>
              <a:t>The stemmed output isn't always a valid English word (</a:t>
            </a:r>
            <a:r>
              <a:rPr lang="en-US" sz="1800" dirty="0" err="1"/>
              <a:t>happili</a:t>
            </a:r>
            <a:r>
              <a:rPr lang="en-US" sz="1800" dirty="0"/>
              <a:t>, </a:t>
            </a:r>
            <a:r>
              <a:rPr lang="en-US" sz="1800" dirty="0" err="1"/>
              <a:t>studi</a:t>
            </a:r>
            <a:r>
              <a:rPr lang="en-US" sz="1800" dirty="0"/>
              <a:t>, </a:t>
            </a:r>
            <a:r>
              <a:rPr lang="en-US" sz="1800" dirty="0" err="1"/>
              <a:t>relat</a:t>
            </a:r>
            <a:r>
              <a:rPr lang="en-US" sz="1800" dirty="0"/>
              <a:t>).</a:t>
            </a:r>
          </a:p>
          <a:p>
            <a:pPr marL="0" indent="0">
              <a:buNone/>
            </a:pPr>
            <a:r>
              <a:rPr lang="en-US" sz="1800" dirty="0"/>
              <a:t>"Passengers loved the amazing services" -&gt; "</a:t>
            </a:r>
            <a:r>
              <a:rPr lang="en-US" sz="1800" dirty="0" err="1"/>
              <a:t>passeng</a:t>
            </a:r>
            <a:r>
              <a:rPr lang="en-US" sz="1800" dirty="0"/>
              <a:t> love the </a:t>
            </a:r>
            <a:r>
              <a:rPr lang="en-US" sz="1800" dirty="0" err="1"/>
              <a:t>amaz</a:t>
            </a:r>
            <a:r>
              <a:rPr lang="en-US" sz="1800" dirty="0"/>
              <a:t> </a:t>
            </a:r>
            <a:r>
              <a:rPr lang="en-US" sz="1800" dirty="0" err="1"/>
              <a:t>servic</a:t>
            </a:r>
            <a:r>
              <a:rPr lang="en-US" sz="1800" dirty="0"/>
              <a:t>"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842138"/>
              </p:ext>
            </p:extLst>
          </p:nvPr>
        </p:nvGraphicFramePr>
        <p:xfrm>
          <a:off x="4655890" y="3800211"/>
          <a:ext cx="5771626" cy="2851699"/>
        </p:xfrm>
        <a:graphic>
          <a:graphicData uri="http://schemas.openxmlformats.org/drawingml/2006/table">
            <a:tbl>
              <a:tblPr/>
              <a:tblGrid>
                <a:gridCol w="1626464">
                  <a:extLst>
                    <a:ext uri="{9D8B030D-6E8A-4147-A177-3AD203B41FA5}">
                      <a16:colId xmlns:a16="http://schemas.microsoft.com/office/drawing/2014/main" val="3643671938"/>
                    </a:ext>
                  </a:extLst>
                </a:gridCol>
                <a:gridCol w="4145162">
                  <a:extLst>
                    <a:ext uri="{9D8B030D-6E8A-4147-A177-3AD203B41FA5}">
                      <a16:colId xmlns:a16="http://schemas.microsoft.com/office/drawing/2014/main" val="160745686"/>
                    </a:ext>
                  </a:extLst>
                </a:gridCol>
              </a:tblGrid>
              <a:tr h="486875">
                <a:tc>
                  <a:txBody>
                    <a:bodyPr/>
                    <a:lstStyle/>
                    <a:p>
                      <a:r>
                        <a:rPr lang="en-US" sz="1100" b="1" dirty="0"/>
                        <a:t>Original 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Stemmed Form(</a:t>
                      </a:r>
                      <a:r>
                        <a:rPr lang="en-US" sz="1100" dirty="0"/>
                        <a:t>Using the </a:t>
                      </a:r>
                      <a:r>
                        <a:rPr lang="en-US" sz="1100" b="1" dirty="0"/>
                        <a:t>Porter Stemmer</a:t>
                      </a:r>
                      <a:r>
                        <a:rPr lang="en-US" sz="1100" b="0" baseline="0" dirty="0"/>
                        <a:t> - </a:t>
                      </a:r>
                      <a:r>
                        <a:rPr lang="en-US" sz="1100" dirty="0"/>
                        <a:t>one of the most common stemmers)</a:t>
                      </a:r>
                      <a:endParaRPr 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932745"/>
                  </a:ext>
                </a:extLst>
              </a:tr>
              <a:tr h="295603">
                <a:tc>
                  <a:txBody>
                    <a:bodyPr/>
                    <a:lstStyle/>
                    <a:p>
                      <a:r>
                        <a:rPr lang="en-US" sz="1100" b="0" dirty="0"/>
                        <a:t>running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/>
                        <a:t>run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3949464"/>
                  </a:ext>
                </a:extLst>
              </a:tr>
              <a:tr h="295603">
                <a:tc>
                  <a:txBody>
                    <a:bodyPr/>
                    <a:lstStyle/>
                    <a:p>
                      <a:r>
                        <a:rPr lang="en-US" sz="1100" b="0"/>
                        <a:t>happily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 err="1"/>
                        <a:t>happili</a:t>
                      </a:r>
                      <a:endParaRPr lang="en-US" sz="11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0723421"/>
                  </a:ext>
                </a:extLst>
              </a:tr>
              <a:tr h="295603">
                <a:tc>
                  <a:txBody>
                    <a:bodyPr/>
                    <a:lstStyle/>
                    <a:p>
                      <a:r>
                        <a:rPr lang="en-US" sz="1100" b="0"/>
                        <a:t>studies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 err="1"/>
                        <a:t>studi</a:t>
                      </a:r>
                      <a:endParaRPr lang="en-US" sz="11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2374464"/>
                  </a:ext>
                </a:extLst>
              </a:tr>
              <a:tr h="295603">
                <a:tc>
                  <a:txBody>
                    <a:bodyPr/>
                    <a:lstStyle/>
                    <a:p>
                      <a:r>
                        <a:rPr lang="en-US" sz="1100" b="0" dirty="0"/>
                        <a:t>studying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 err="1"/>
                        <a:t>studi</a:t>
                      </a:r>
                      <a:endParaRPr lang="en-US" sz="11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8869009"/>
                  </a:ext>
                </a:extLst>
              </a:tr>
              <a:tr h="295603">
                <a:tc>
                  <a:txBody>
                    <a:bodyPr/>
                    <a:lstStyle/>
                    <a:p>
                      <a:r>
                        <a:rPr lang="en-US" sz="1100" b="0"/>
                        <a:t>bigger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/>
                        <a:t>big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289221"/>
                  </a:ext>
                </a:extLst>
              </a:tr>
              <a:tr h="295603">
                <a:tc>
                  <a:txBody>
                    <a:bodyPr/>
                    <a:lstStyle/>
                    <a:p>
                      <a:r>
                        <a:rPr lang="en-US" sz="1100" b="0"/>
                        <a:t>fishing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/>
                        <a:t>fish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0595046"/>
                  </a:ext>
                </a:extLst>
              </a:tr>
              <a:tr h="295603">
                <a:tc>
                  <a:txBody>
                    <a:bodyPr/>
                    <a:lstStyle/>
                    <a:p>
                      <a:r>
                        <a:rPr lang="en-US" sz="1100" b="0"/>
                        <a:t>agreement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/>
                        <a:t>agree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8457712"/>
                  </a:ext>
                </a:extLst>
              </a:tr>
              <a:tr h="295603">
                <a:tc>
                  <a:txBody>
                    <a:bodyPr/>
                    <a:lstStyle/>
                    <a:p>
                      <a:r>
                        <a:rPr lang="en-US" sz="1100" b="0"/>
                        <a:t>relational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 err="1"/>
                        <a:t>relat</a:t>
                      </a:r>
                      <a:endParaRPr lang="en-US" sz="11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2506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92957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971" y="230902"/>
            <a:ext cx="7164899" cy="658332"/>
          </a:xfrm>
        </p:spPr>
        <p:txBody>
          <a:bodyPr>
            <a:noAutofit/>
          </a:bodyPr>
          <a:lstStyle/>
          <a:p>
            <a:r>
              <a:rPr lang="en-US" sz="2800" dirty="0"/>
              <a:t>4.2) Normalization: Expanding Contractions(p3)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9398"/>
            <a:ext cx="10515600" cy="17984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Expanding Contractions</a:t>
            </a:r>
          </a:p>
          <a:p>
            <a:pPr marL="0" indent="0">
              <a:buNone/>
            </a:pPr>
            <a:r>
              <a:rPr lang="en-US" sz="2000" dirty="0"/>
              <a:t>Expand things like "don't" into "do not".</a:t>
            </a:r>
          </a:p>
          <a:p>
            <a:pPr marL="0" indent="0">
              <a:buNone/>
            </a:pPr>
            <a:r>
              <a:rPr lang="en-US" sz="2000" dirty="0"/>
              <a:t>"I can't believe it!" -&gt; "I can not believe it!"</a:t>
            </a:r>
          </a:p>
          <a:p>
            <a:pPr marL="0" indent="0">
              <a:buNone/>
            </a:pPr>
            <a:r>
              <a:rPr lang="en-US" sz="2000" dirty="0"/>
              <a:t>Models understand "can" and "not" separately, improving meaning capture.</a:t>
            </a:r>
          </a:p>
        </p:txBody>
      </p:sp>
    </p:spTree>
    <p:extLst>
      <p:ext uri="{BB962C8B-B14F-4D97-AF65-F5344CB8AC3E}">
        <p14:creationId xmlns:p14="http://schemas.microsoft.com/office/powerpoint/2010/main" val="10743650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251" y="205734"/>
            <a:ext cx="10666556" cy="683499"/>
          </a:xfrm>
        </p:spPr>
        <p:txBody>
          <a:bodyPr>
            <a:noAutofit/>
          </a:bodyPr>
          <a:lstStyle/>
          <a:p>
            <a:r>
              <a:rPr lang="en-US" sz="2800" dirty="0"/>
              <a:t>5. Text Representation: N-gram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251" y="1224793"/>
            <a:ext cx="1162368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N-grams</a:t>
            </a:r>
            <a:r>
              <a:rPr lang="en-US" dirty="0"/>
              <a:t> are used to capture </a:t>
            </a:r>
            <a:r>
              <a:rPr lang="en-US" b="1" dirty="0"/>
              <a:t>word sequences</a:t>
            </a:r>
            <a:r>
              <a:rPr lang="en-US" dirty="0"/>
              <a:t> and </a:t>
            </a:r>
            <a:r>
              <a:rPr lang="en-US" b="1" dirty="0"/>
              <a:t>contextual patterns</a:t>
            </a:r>
            <a:r>
              <a:rPr lang="en-US" dirty="0"/>
              <a:t> in text data.</a:t>
            </a:r>
          </a:p>
          <a:p>
            <a:endParaRPr lang="en-US" dirty="0"/>
          </a:p>
          <a:p>
            <a:r>
              <a:rPr lang="en-US" b="1" dirty="0"/>
              <a:t>What is an N-gram?</a:t>
            </a:r>
          </a:p>
          <a:p>
            <a:r>
              <a:rPr lang="en-US" dirty="0"/>
              <a:t>An </a:t>
            </a:r>
            <a:r>
              <a:rPr lang="en-US" b="1" dirty="0"/>
              <a:t>N-gram</a:t>
            </a:r>
            <a:r>
              <a:rPr lang="en-US" dirty="0"/>
              <a:t> is a contiguous sequence of </a:t>
            </a:r>
            <a:r>
              <a:rPr lang="en-US" b="1" dirty="0"/>
              <a:t>N items</a:t>
            </a:r>
            <a:r>
              <a:rPr lang="en-US" dirty="0"/>
              <a:t> (usually words or characters) from a given text. It helps preserve context and word order to a limited extent.</a:t>
            </a:r>
          </a:p>
          <a:p>
            <a:r>
              <a:rPr lang="en-US" b="1" dirty="0"/>
              <a:t>Unigram (1-gram):</a:t>
            </a:r>
            <a:r>
              <a:rPr lang="en-US" dirty="0"/>
              <a:t> "I", "love", "pizza"</a:t>
            </a:r>
          </a:p>
          <a:p>
            <a:r>
              <a:rPr lang="en-US" b="1" dirty="0"/>
              <a:t>Bigram (2-gram):</a:t>
            </a:r>
            <a:r>
              <a:rPr lang="en-US" dirty="0"/>
              <a:t> "I love", "love pizza"</a:t>
            </a:r>
          </a:p>
          <a:p>
            <a:r>
              <a:rPr lang="en-US" b="1" dirty="0"/>
              <a:t>Trigram (3-gram):</a:t>
            </a:r>
            <a:r>
              <a:rPr lang="en-US" dirty="0"/>
              <a:t> "I love pizza"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Why is it used?</a:t>
            </a:r>
          </a:p>
          <a:p>
            <a:r>
              <a:rPr lang="en-US" dirty="0"/>
              <a:t>While single words (unigrams) ignore order and context, </a:t>
            </a:r>
            <a:r>
              <a:rPr lang="en-US" b="1" dirty="0"/>
              <a:t>N-grams</a:t>
            </a:r>
            <a:r>
              <a:rPr lang="en-US" dirty="0"/>
              <a:t> let you: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Capture </a:t>
            </a:r>
            <a:r>
              <a:rPr lang="en-US" b="1" dirty="0"/>
              <a:t>phrases or collocations</a:t>
            </a:r>
            <a:r>
              <a:rPr lang="en-US" dirty="0"/>
              <a:t> like "New York" or "machine learning"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 models in </a:t>
            </a:r>
            <a:r>
              <a:rPr lang="en-US" b="1" dirty="0"/>
              <a:t>sentiment analysis</a:t>
            </a:r>
            <a:r>
              <a:rPr lang="en-US" dirty="0"/>
              <a:t>, </a:t>
            </a:r>
            <a:r>
              <a:rPr lang="en-US" b="1" dirty="0"/>
              <a:t>text classification</a:t>
            </a:r>
            <a:r>
              <a:rPr lang="en-US" dirty="0"/>
              <a:t>, and </a:t>
            </a:r>
            <a:r>
              <a:rPr lang="en-US" b="1" dirty="0"/>
              <a:t>autocorrect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Enhance predictive performance by using common word pairings or triplets</a:t>
            </a:r>
          </a:p>
        </p:txBody>
      </p:sp>
    </p:spTree>
    <p:extLst>
      <p:ext uri="{BB962C8B-B14F-4D97-AF65-F5344CB8AC3E}">
        <p14:creationId xmlns:p14="http://schemas.microsoft.com/office/powerpoint/2010/main" val="12043437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251" y="205734"/>
            <a:ext cx="10666556" cy="683499"/>
          </a:xfrm>
        </p:spPr>
        <p:txBody>
          <a:bodyPr>
            <a:noAutofit/>
          </a:bodyPr>
          <a:lstStyle/>
          <a:p>
            <a:r>
              <a:rPr lang="en-US" sz="2800" dirty="0"/>
              <a:t>5. Text Representation: How does </a:t>
            </a:r>
            <a:r>
              <a:rPr lang="en-US" sz="2800" dirty="0" err="1"/>
              <a:t>BoW</a:t>
            </a:r>
            <a:r>
              <a:rPr lang="en-US" sz="2800" dirty="0"/>
              <a:t> work? (Step-by-Step Example)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6755" y="857713"/>
            <a:ext cx="1177814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Suppose you have two sentences:</a:t>
            </a:r>
          </a:p>
          <a:p>
            <a:r>
              <a:rPr lang="en-US" dirty="0"/>
              <a:t>"I love, love flying with Delta Airlines."</a:t>
            </a:r>
          </a:p>
          <a:p>
            <a:r>
              <a:rPr lang="en-US" dirty="0"/>
              <a:t>"Delta Airlines has great service."</a:t>
            </a:r>
          </a:p>
          <a:p>
            <a:endParaRPr lang="en-US" dirty="0"/>
          </a:p>
          <a:p>
            <a:r>
              <a:rPr lang="en-US" dirty="0"/>
              <a:t>Step 1: Build a Vocabulary (list of unique words)</a:t>
            </a:r>
          </a:p>
          <a:p>
            <a:r>
              <a:rPr lang="en-US" dirty="0"/>
              <a:t>All the words from both sentences:["I", "love", "flying", "with", "Delta", "Airlines", "has", "great", "service"]</a:t>
            </a:r>
          </a:p>
          <a:p>
            <a:endParaRPr lang="en-US" dirty="0"/>
          </a:p>
          <a:p>
            <a:r>
              <a:rPr lang="en-US" dirty="0"/>
              <a:t>Step 2: Represent each sentence as a Vector</a:t>
            </a:r>
          </a:p>
          <a:p>
            <a:r>
              <a:rPr lang="en-US" dirty="0"/>
              <a:t>Each sentence becomes a vector showing whether a word appears (and </a:t>
            </a:r>
            <a:r>
              <a:rPr lang="en-US" b="1" dirty="0"/>
              <a:t>sometimes how many times</a:t>
            </a:r>
            <a:r>
              <a:rPr lang="en-US" dirty="0"/>
              <a:t>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763219"/>
              </p:ext>
            </p:extLst>
          </p:nvPr>
        </p:nvGraphicFramePr>
        <p:xfrm>
          <a:off x="675829" y="3836361"/>
          <a:ext cx="10515600" cy="109728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426737202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00765064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17917150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18662436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04042618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8833086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76491887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20579517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53768115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5426532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love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flying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with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Delta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Airlines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has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great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2872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Sent 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532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Sent 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154448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22191" y="5964964"/>
            <a:ext cx="7121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Now machine learning models can understand the sentences numerically!</a:t>
            </a:r>
          </a:p>
        </p:txBody>
      </p:sp>
    </p:spTree>
    <p:extLst>
      <p:ext uri="{BB962C8B-B14F-4D97-AF65-F5344CB8AC3E}">
        <p14:creationId xmlns:p14="http://schemas.microsoft.com/office/powerpoint/2010/main" val="12374231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7998"/>
          </a:xfrm>
        </p:spPr>
        <p:txBody>
          <a:bodyPr>
            <a:normAutofit fontScale="90000"/>
          </a:bodyPr>
          <a:lstStyle/>
          <a:p>
            <a:r>
              <a:rPr lang="en-US" dirty="0"/>
              <a:t>5. Text Representation: BOW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3932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Principles of Bag of Words (</a:t>
            </a:r>
            <a:r>
              <a:rPr lang="en-US" dirty="0" err="1"/>
              <a:t>BoW</a:t>
            </a:r>
            <a:r>
              <a:rPr lang="en-US" dirty="0"/>
              <a:t>):</a:t>
            </a:r>
          </a:p>
          <a:p>
            <a:r>
              <a:rPr lang="en-US" dirty="0"/>
              <a:t>We convert text into numbers (vectors) for modeling.</a:t>
            </a:r>
          </a:p>
          <a:p>
            <a:r>
              <a:rPr lang="en-US" dirty="0"/>
              <a:t>We ignore grammar and word order.</a:t>
            </a:r>
          </a:p>
          <a:p>
            <a:r>
              <a:rPr lang="en-US" dirty="0"/>
              <a:t>We only care about whether a word occurs (and sometimes how often).</a:t>
            </a:r>
          </a:p>
          <a:p>
            <a:r>
              <a:rPr lang="en-US" dirty="0"/>
              <a:t>It's simple, fast, and a great starting point for text-based models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It’s called "Bag" because we only care about the words and their counts — like putting words into a "bag" and shaking them — order doesn't matter.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468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082" y="188956"/>
            <a:ext cx="10515600" cy="582831"/>
          </a:xfrm>
        </p:spPr>
        <p:txBody>
          <a:bodyPr>
            <a:normAutofit/>
          </a:bodyPr>
          <a:lstStyle/>
          <a:p>
            <a:r>
              <a:rPr lang="en-US" sz="3200" dirty="0"/>
              <a:t>5. Text Representation: Where is </a:t>
            </a:r>
            <a:r>
              <a:rPr lang="en-US" sz="3200" dirty="0" err="1"/>
              <a:t>BoW</a:t>
            </a:r>
            <a:r>
              <a:rPr lang="en-US" sz="3200" dirty="0"/>
              <a:t> used in NLP tasks?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3932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Spam Detection </a:t>
            </a:r>
          </a:p>
          <a:p>
            <a:pPr marL="0" indent="0">
              <a:buNone/>
            </a:pPr>
            <a:r>
              <a:rPr lang="en-US" dirty="0"/>
              <a:t>→ "free", "winner", "offer" appear? =&gt; Spam!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Sentiment Analysis</a:t>
            </a:r>
          </a:p>
          <a:p>
            <a:pPr marL="0" indent="0">
              <a:buNone/>
            </a:pPr>
            <a:r>
              <a:rPr lang="en-US" dirty="0"/>
              <a:t>→ "love", "hate", "awesome", "bad" words are critical.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Topic Classification</a:t>
            </a:r>
          </a:p>
          <a:p>
            <a:pPr marL="0" indent="0">
              <a:buNone/>
            </a:pPr>
            <a:r>
              <a:rPr lang="en-US" dirty="0"/>
              <a:t>→ "flight", "hotel", "restaurant" words hint about travel vs food.</a:t>
            </a:r>
          </a:p>
        </p:txBody>
      </p:sp>
    </p:spTree>
    <p:extLst>
      <p:ext uri="{BB962C8B-B14F-4D97-AF65-F5344CB8AC3E}">
        <p14:creationId xmlns:p14="http://schemas.microsoft.com/office/powerpoint/2010/main" val="9336826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082" y="120588"/>
            <a:ext cx="10515600" cy="582831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5. Text Representation: TF-IDF(see </a:t>
            </a:r>
            <a:r>
              <a:rPr lang="en-US" sz="3200" dirty="0" err="1"/>
              <a:t>jupyter</a:t>
            </a:r>
            <a:r>
              <a:rPr lang="en-US" sz="3200" dirty="0"/>
              <a:t> n/b for </a:t>
            </a:r>
            <a:r>
              <a:rPr lang="en-US" sz="3200" dirty="0" err="1"/>
              <a:t>implementaion</a:t>
            </a:r>
            <a:r>
              <a:rPr lang="en-US" sz="32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082" y="735056"/>
            <a:ext cx="11661397" cy="1728842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TF-IDF stands for TF – Term Frequency, IDF – Inverse Document Frequency</a:t>
            </a:r>
          </a:p>
          <a:p>
            <a:pPr marL="0" indent="0">
              <a:buNone/>
            </a:pPr>
            <a:r>
              <a:rPr lang="en-US" dirty="0"/>
              <a:t>It’s a technique used to evaluate how important a word is in a specific document relative to a collection of documents (corpus).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When analyzing text, some words like </a:t>
            </a:r>
            <a:r>
              <a:rPr lang="en-US" b="1" dirty="0"/>
              <a:t>"the", "is", "and"</a:t>
            </a:r>
            <a:r>
              <a:rPr lang="en-US" dirty="0"/>
              <a:t> appear everywhere, but they’re not very informative.</a:t>
            </a:r>
            <a:br>
              <a:rPr lang="en-US" dirty="0"/>
            </a:br>
            <a:r>
              <a:rPr lang="en-US" b="1" dirty="0"/>
              <a:t>TF-IDF helps filter out common words</a:t>
            </a:r>
            <a:r>
              <a:rPr lang="en-US" dirty="0"/>
              <a:t> and highlights </a:t>
            </a:r>
            <a:r>
              <a:rPr lang="en-US" b="1" dirty="0"/>
              <a:t>keywords</a:t>
            </a:r>
            <a:r>
              <a:rPr lang="en-US" dirty="0"/>
              <a:t> that are more meaningful to a specific document.</a:t>
            </a:r>
          </a:p>
          <a:p>
            <a:pPr marL="0" indent="0">
              <a:buNone/>
            </a:pPr>
            <a:r>
              <a:rPr lang="en-US" dirty="0"/>
              <a:t>It’s a smarter alternative to Bag of Words — where word frequency alone might mislead the model.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76" y="5807981"/>
            <a:ext cx="4886325" cy="762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78016" y="5061188"/>
                <a:ext cx="4970754" cy="4840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IDF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𝑇𝑜𝑡𝑎𝑙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𝑛𝑢𝑚𝑏𝑒𝑟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𝑑𝑜𝑐𝑢𝑚𝑒𝑛𝑡𝑠</m:t>
                                  </m:r>
                                </m:num>
                                <m:den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𝑁𝑢𝑚𝑏𝑒𝑟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𝑑𝑜𝑐𝑢𝑚𝑒𝑛𝑡𝑠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𝑐𝑜𝑛𝑡𝑎𝑖𝑛𝑖𝑛𝑔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func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016" y="5061188"/>
                <a:ext cx="4970754" cy="484043"/>
              </a:xfrm>
              <a:prstGeom prst="rect">
                <a:avLst/>
              </a:prstGeom>
              <a:blipFill>
                <a:blip r:embed="rId3"/>
                <a:stretch>
                  <a:fillRect b="-1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204245" y="5136021"/>
            <a:ext cx="46585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Measures how </a:t>
            </a:r>
            <a:r>
              <a:rPr lang="en-US" sz="1400" dirty="0" err="1"/>
              <a:t>uniques</a:t>
            </a:r>
            <a:r>
              <a:rPr lang="en-US" sz="1400" dirty="0"/>
              <a:t>/rare the word is across all 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9912" y="3093542"/>
            <a:ext cx="39913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Measures how often a term appears in a documents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67394" y="3081673"/>
                <a:ext cx="5203669" cy="4840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d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/>
                        <m:e>
                          <m:d>
                            <m:d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𝑁𝑢𝑚𝑏𝑒𝑟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𝑡𝑖𝑚𝑒𝑠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𝑡𝑒𝑟𝑚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𝑎𝑝𝑝𝑒𝑎𝑟𝑠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𝑑𝑜𝑐𝑢𝑚𝑒𝑛𝑡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num>
                                <m:den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𝑇𝑜𝑡𝑎𝑙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𝑛𝑢𝑚𝑏𝑒𝑟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𝑡𝑒𝑟𝑚𝑠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94" y="3081673"/>
                <a:ext cx="5203669" cy="484043"/>
              </a:xfrm>
              <a:prstGeom prst="rect">
                <a:avLst/>
              </a:prstGeom>
              <a:blipFill>
                <a:blip r:embed="rId4"/>
                <a:stretch>
                  <a:fillRect b="-113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585737" y="2439054"/>
            <a:ext cx="18189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NOTE: log is to the base 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CB1912-5139-D9EC-C2EE-773774314035}"/>
                  </a:ext>
                </a:extLst>
              </p:cNvPr>
              <p:cNvSpPr txBox="1"/>
              <p:nvPr/>
            </p:nvSpPr>
            <p:spPr>
              <a:xfrm>
                <a:off x="489169" y="3887220"/>
                <a:ext cx="5203669" cy="4840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d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𝑁𝑢𝑚𝑏𝑒𝑟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𝑡𝑖𝑚𝑒𝑠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𝑡𝑒𝑟𝑚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𝑎𝑝𝑝𝑒𝑎𝑟𝑠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𝑑𝑜𝑐𝑢𝑚𝑒𝑛𝑡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num>
                                <m:den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𝑇𝑜𝑡𝑎𝑙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𝑛𝑢𝑚𝑏𝑒𝑟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𝑡𝑒𝑟𝑚𝑠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CB1912-5139-D9EC-C2EE-773774314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169" y="3887220"/>
                <a:ext cx="5203669" cy="484043"/>
              </a:xfrm>
              <a:prstGeom prst="rect">
                <a:avLst/>
              </a:prstGeom>
              <a:blipFill>
                <a:blip r:embed="rId5"/>
                <a:stretch>
                  <a:fillRect l="-351" b="-113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6B8FD0D1-FA37-2C67-1C6B-E9E6FA272132}"/>
              </a:ext>
            </a:extLst>
          </p:cNvPr>
          <p:cNvSpPr txBox="1"/>
          <p:nvPr/>
        </p:nvSpPr>
        <p:spPr>
          <a:xfrm>
            <a:off x="451624" y="3494629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or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8266846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38069-A49E-B36C-FB5C-5F10836BE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040" y="75874"/>
            <a:ext cx="5310674" cy="502621"/>
          </a:xfrm>
        </p:spPr>
        <p:txBody>
          <a:bodyPr>
            <a:noAutofit/>
          </a:bodyPr>
          <a:lstStyle/>
          <a:p>
            <a:r>
              <a:rPr lang="en-US" sz="3200" dirty="0"/>
              <a:t>5. Text Representation: TF-IDF</a:t>
            </a: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F5AE08-3FF6-D8EE-51EF-AD97C872C4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890" y="1323754"/>
            <a:ext cx="9090783" cy="52916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99A332-ECD5-5E14-0162-C5717C2706BD}"/>
              </a:ext>
            </a:extLst>
          </p:cNvPr>
          <p:cNvSpPr txBox="1"/>
          <p:nvPr/>
        </p:nvSpPr>
        <p:spPr>
          <a:xfrm>
            <a:off x="783771" y="774441"/>
            <a:ext cx="2775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Variants of Term frequency: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815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082" y="188957"/>
            <a:ext cx="5604546" cy="456996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5. Text Representation: TF-IDF 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083" y="735055"/>
            <a:ext cx="5671656" cy="2939322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Example</a:t>
            </a:r>
          </a:p>
          <a:p>
            <a:pPr marL="0" indent="0">
              <a:buNone/>
            </a:pPr>
            <a:r>
              <a:rPr lang="en-US" dirty="0"/>
              <a:t>Let’s say you have 3 documents:</a:t>
            </a:r>
          </a:p>
          <a:p>
            <a:pPr marL="0" indent="0">
              <a:buNone/>
            </a:pPr>
            <a:r>
              <a:rPr lang="en-US" dirty="0"/>
              <a:t>d1: "Delta provides great service“</a:t>
            </a:r>
          </a:p>
          <a:p>
            <a:pPr marL="0" indent="0">
              <a:buNone/>
            </a:pPr>
            <a:r>
              <a:rPr lang="en-US" dirty="0"/>
              <a:t>d2: "United offers great food“</a:t>
            </a:r>
          </a:p>
          <a:p>
            <a:pPr marL="0" indent="0">
              <a:buNone/>
            </a:pPr>
            <a:r>
              <a:rPr lang="en-US" dirty="0"/>
              <a:t>d3: "Great airlines offer comfort"</a:t>
            </a:r>
          </a:p>
          <a:p>
            <a:pPr marL="0" indent="0">
              <a:buNone/>
            </a:pPr>
            <a:r>
              <a:rPr lang="en-US" dirty="0"/>
              <a:t>The word "great" appears in 3 documents — so its IDF will be low(0.71) (not unique).</a:t>
            </a:r>
          </a:p>
          <a:p>
            <a:pPr marL="0" indent="0">
              <a:buNone/>
            </a:pPr>
            <a:r>
              <a:rPr lang="en-US" dirty="0"/>
              <a:t>But the word "comfort" appears only once — so it has a high IDF(1.4).</a:t>
            </a:r>
          </a:p>
          <a:p>
            <a:pPr marL="0" indent="0">
              <a:buNone/>
            </a:pPr>
            <a:r>
              <a:rPr lang="en-US" dirty="0"/>
              <a:t>TF-IDF will highlight "comfort" over "great", since "great" is common and not very informative.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8" y="4487362"/>
            <a:ext cx="6680925" cy="187718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150322" y="-435895"/>
            <a:ext cx="4144797" cy="55263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6985" y="4093503"/>
            <a:ext cx="148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TF-IDF values:</a:t>
            </a:r>
          </a:p>
        </p:txBody>
      </p:sp>
    </p:spTree>
    <p:extLst>
      <p:ext uri="{BB962C8B-B14F-4D97-AF65-F5344CB8AC3E}">
        <p14:creationId xmlns:p14="http://schemas.microsoft.com/office/powerpoint/2010/main" val="30263256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0277"/>
          </a:xfrm>
        </p:spPr>
        <p:txBody>
          <a:bodyPr>
            <a:normAutofit/>
          </a:bodyPr>
          <a:lstStyle/>
          <a:p>
            <a:r>
              <a:rPr lang="en-US" sz="3200" dirty="0"/>
              <a:t>5. Text Representation: What is document in TF-IDF?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234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practice:</a:t>
            </a:r>
          </a:p>
          <a:p>
            <a:r>
              <a:rPr lang="en-US" dirty="0"/>
              <a:t>If you’re analyzing tweets, each </a:t>
            </a:r>
            <a:r>
              <a:rPr lang="en-US" b="1" dirty="0"/>
              <a:t>tweet</a:t>
            </a:r>
            <a:r>
              <a:rPr lang="en-US" dirty="0"/>
              <a:t> is a “document.”</a:t>
            </a:r>
          </a:p>
          <a:p>
            <a:r>
              <a:rPr lang="en-US" dirty="0"/>
              <a:t>For news classification, each </a:t>
            </a:r>
            <a:r>
              <a:rPr lang="en-US" b="1" dirty="0"/>
              <a:t>article</a:t>
            </a:r>
            <a:r>
              <a:rPr lang="en-US" dirty="0"/>
              <a:t> is a “document.”</a:t>
            </a:r>
          </a:p>
          <a:p>
            <a:r>
              <a:rPr lang="en-US" dirty="0"/>
              <a:t>For summarization, each </a:t>
            </a:r>
            <a:r>
              <a:rPr lang="en-US" b="1" dirty="0"/>
              <a:t>paragraph or longer text</a:t>
            </a:r>
            <a:r>
              <a:rPr lang="en-US" dirty="0"/>
              <a:t> is treated as a “document.”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554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082" y="188956"/>
            <a:ext cx="10515600" cy="582831"/>
          </a:xfrm>
        </p:spPr>
        <p:txBody>
          <a:bodyPr>
            <a:normAutofit/>
          </a:bodyPr>
          <a:lstStyle/>
          <a:p>
            <a:r>
              <a:rPr lang="en-US" sz="3200" dirty="0"/>
              <a:t>5. Text Representation: TF-IDF, how does it help?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082" y="735055"/>
            <a:ext cx="11661397" cy="293932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Filters out common, less informative words</a:t>
            </a:r>
          </a:p>
          <a:p>
            <a:r>
              <a:rPr lang="en-US" dirty="0"/>
              <a:t>Keeps meaningful, rare keywords</a:t>
            </a:r>
          </a:p>
          <a:p>
            <a:r>
              <a:rPr lang="en-US" dirty="0"/>
              <a:t>Improves performance in:</a:t>
            </a:r>
          </a:p>
          <a:p>
            <a:pPr lvl="1"/>
            <a:r>
              <a:rPr lang="en-US" dirty="0"/>
              <a:t>Text classification</a:t>
            </a:r>
          </a:p>
          <a:p>
            <a:pPr lvl="1"/>
            <a:r>
              <a:rPr lang="en-US" dirty="0"/>
              <a:t>Search engines (e.g., Google ranking)</a:t>
            </a:r>
          </a:p>
          <a:p>
            <a:pPr lvl="1"/>
            <a:r>
              <a:rPr lang="en-US" dirty="0"/>
              <a:t>Document similarity</a:t>
            </a:r>
          </a:p>
          <a:p>
            <a:pPr lvl="1"/>
            <a:r>
              <a:rPr lang="en-US" dirty="0"/>
              <a:t>Keyword extraction</a:t>
            </a:r>
          </a:p>
        </p:txBody>
      </p:sp>
    </p:spTree>
    <p:extLst>
      <p:ext uri="{BB962C8B-B14F-4D97-AF65-F5344CB8AC3E}">
        <p14:creationId xmlns:p14="http://schemas.microsoft.com/office/powerpoint/2010/main" val="29297806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082" y="188956"/>
            <a:ext cx="10515600" cy="582831"/>
          </a:xfrm>
        </p:spPr>
        <p:txBody>
          <a:bodyPr>
            <a:normAutofit/>
          </a:bodyPr>
          <a:lstStyle/>
          <a:p>
            <a:r>
              <a:rPr lang="en-US" sz="3200" dirty="0"/>
              <a:t>5. Text Representation: Word </a:t>
            </a:r>
            <a:r>
              <a:rPr lang="en-US" sz="3200" dirty="0" err="1"/>
              <a:t>embeddings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082" y="735055"/>
            <a:ext cx="11661397" cy="179842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Word2Vec</a:t>
            </a:r>
            <a:r>
              <a:rPr lang="en-US" dirty="0"/>
              <a:t> is a powerful method developed by Google to create these </a:t>
            </a:r>
            <a:r>
              <a:rPr lang="en-US" dirty="0" err="1"/>
              <a:t>embeddings</a:t>
            </a:r>
            <a:r>
              <a:rPr lang="en-US" dirty="0"/>
              <a:t> using a neural network. It converts each word into a </a:t>
            </a:r>
            <a:r>
              <a:rPr lang="en-US" b="1" dirty="0"/>
              <a:t>fixed-size vector</a:t>
            </a:r>
            <a:r>
              <a:rPr lang="en-US" dirty="0"/>
              <a:t> (e.g., 100-300 dimensions), and </a:t>
            </a:r>
            <a:r>
              <a:rPr lang="en-US" b="1" dirty="0"/>
              <a:t>captures context</a:t>
            </a:r>
            <a:r>
              <a:rPr lang="en-US" dirty="0"/>
              <a:t> by training on large corpora.</a:t>
            </a:r>
          </a:p>
          <a:p>
            <a:r>
              <a:rPr lang="en-US" dirty="0"/>
              <a:t>It represents words in a continuous vector space where semantically similar words are mapped to nearby points</a:t>
            </a:r>
          </a:p>
        </p:txBody>
      </p:sp>
    </p:spTree>
    <p:extLst>
      <p:ext uri="{BB962C8B-B14F-4D97-AF65-F5344CB8AC3E}">
        <p14:creationId xmlns:p14="http://schemas.microsoft.com/office/powerpoint/2010/main" val="16557280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082" y="188956"/>
            <a:ext cx="10515600" cy="582831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5. Text Representation: Word </a:t>
            </a:r>
            <a:r>
              <a:rPr lang="en-US" sz="3200" dirty="0" err="1"/>
              <a:t>embeddings</a:t>
            </a:r>
            <a:r>
              <a:rPr lang="en-US" sz="3200" dirty="0"/>
              <a:t>, Word2Vec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082" y="735054"/>
            <a:ext cx="11661397" cy="375305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How Word2Vec Works (High Level)</a:t>
            </a:r>
          </a:p>
          <a:p>
            <a:pPr marL="0" indent="0">
              <a:buNone/>
            </a:pPr>
            <a:r>
              <a:rPr lang="en-US" dirty="0"/>
              <a:t>It has two main architectures: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1. CBOW (Continuous Bag of Words):</a:t>
            </a:r>
          </a:p>
          <a:p>
            <a:pPr marL="0" indent="0">
              <a:buNone/>
            </a:pPr>
            <a:r>
              <a:rPr lang="en-US" dirty="0"/>
              <a:t>Predicts the </a:t>
            </a:r>
            <a:r>
              <a:rPr lang="en-US" b="1" dirty="0"/>
              <a:t>target</a:t>
            </a:r>
            <a:r>
              <a:rPr lang="en-US" dirty="0"/>
              <a:t> word from its </a:t>
            </a:r>
            <a:r>
              <a:rPr lang="en-US" b="1" dirty="0"/>
              <a:t>context</a:t>
            </a:r>
            <a:r>
              <a:rPr lang="en-US" dirty="0"/>
              <a:t> words.</a:t>
            </a:r>
          </a:p>
          <a:p>
            <a:pPr marL="0" indent="0">
              <a:buNone/>
            </a:pPr>
            <a:r>
              <a:rPr lang="en-US" dirty="0"/>
              <a:t>Example: "The cat sat on the ___" → Predict: "mat"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Skip-Gram:</a:t>
            </a:r>
          </a:p>
          <a:p>
            <a:pPr marL="0" indent="0">
              <a:buNone/>
            </a:pPr>
            <a:r>
              <a:rPr lang="en-US" dirty="0"/>
              <a:t>Predicts </a:t>
            </a:r>
            <a:r>
              <a:rPr lang="en-US" b="1" dirty="0"/>
              <a:t>context</a:t>
            </a:r>
            <a:r>
              <a:rPr lang="en-US" dirty="0"/>
              <a:t> words from a </a:t>
            </a:r>
            <a:r>
              <a:rPr lang="en-US" b="1" dirty="0"/>
              <a:t>target</a:t>
            </a:r>
            <a:r>
              <a:rPr lang="en-US" dirty="0"/>
              <a:t> word.</a:t>
            </a:r>
          </a:p>
          <a:p>
            <a:pPr marL="0" indent="0">
              <a:buNone/>
            </a:pPr>
            <a:r>
              <a:rPr lang="en-US" dirty="0"/>
              <a:t>Example: Given "sat" → Predict words like "cat", "on", "the"</a:t>
            </a:r>
          </a:p>
        </p:txBody>
      </p:sp>
    </p:spTree>
    <p:extLst>
      <p:ext uri="{BB962C8B-B14F-4D97-AF65-F5344CB8AC3E}">
        <p14:creationId xmlns:p14="http://schemas.microsoft.com/office/powerpoint/2010/main" val="35142771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082" y="188956"/>
            <a:ext cx="10515600" cy="582831"/>
          </a:xfrm>
        </p:spPr>
        <p:txBody>
          <a:bodyPr>
            <a:normAutofit/>
          </a:bodyPr>
          <a:lstStyle/>
          <a:p>
            <a:r>
              <a:rPr lang="en-US" sz="3200" dirty="0"/>
              <a:t>5. Text Representation: Word </a:t>
            </a:r>
            <a:r>
              <a:rPr lang="en-US" sz="3200" dirty="0" err="1"/>
              <a:t>embeddings</a:t>
            </a:r>
            <a:r>
              <a:rPr lang="en-US" sz="3200"/>
              <a:t> (</a:t>
            </a:r>
            <a:r>
              <a:rPr lang="en-US" sz="3200" b="1" dirty="0"/>
              <a:t>Word2Vec)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082" y="735054"/>
            <a:ext cx="11661397" cy="310710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Why is Word2Vec powerful?</a:t>
            </a:r>
          </a:p>
          <a:p>
            <a:pPr marL="0" indent="0">
              <a:buNone/>
            </a:pPr>
            <a:r>
              <a:rPr lang="en-US" dirty="0"/>
              <a:t>Because it learns relationships like:</a:t>
            </a:r>
          </a:p>
          <a:p>
            <a:r>
              <a:rPr lang="en-US" b="1" dirty="0" err="1"/>
              <a:t>vec</a:t>
            </a:r>
            <a:r>
              <a:rPr lang="en-US" b="1" dirty="0"/>
              <a:t>("King") - </a:t>
            </a:r>
            <a:r>
              <a:rPr lang="en-US" b="1" dirty="0" err="1"/>
              <a:t>vec</a:t>
            </a:r>
            <a:r>
              <a:rPr lang="en-US" b="1" dirty="0"/>
              <a:t>("Man") + </a:t>
            </a:r>
            <a:r>
              <a:rPr lang="en-US" b="1" dirty="0" err="1"/>
              <a:t>vec</a:t>
            </a:r>
            <a:r>
              <a:rPr lang="en-US" b="1" dirty="0"/>
              <a:t>("Woman") ≈ </a:t>
            </a:r>
            <a:r>
              <a:rPr lang="en-US" b="1" dirty="0" err="1"/>
              <a:t>vec</a:t>
            </a:r>
            <a:r>
              <a:rPr lang="en-US" b="1" dirty="0"/>
              <a:t>("Queen")</a:t>
            </a:r>
            <a:endParaRPr lang="en-US" dirty="0"/>
          </a:p>
          <a:p>
            <a:r>
              <a:rPr lang="en-US" dirty="0"/>
              <a:t>Words like </a:t>
            </a:r>
            <a:r>
              <a:rPr lang="en-US" b="1" dirty="0"/>
              <a:t>["apple", "banana", "mango"]</a:t>
            </a:r>
            <a:r>
              <a:rPr lang="en-US" dirty="0"/>
              <a:t> end up near each other in vector space.</a:t>
            </a:r>
          </a:p>
          <a:p>
            <a:r>
              <a:rPr lang="en-US" dirty="0"/>
              <a:t>Captures </a:t>
            </a:r>
            <a:r>
              <a:rPr lang="en-US" b="1" dirty="0"/>
              <a:t>synonyms</a:t>
            </a:r>
            <a:r>
              <a:rPr lang="en-US" dirty="0"/>
              <a:t>, </a:t>
            </a:r>
            <a:r>
              <a:rPr lang="en-US" b="1" dirty="0"/>
              <a:t>analogies</a:t>
            </a:r>
            <a:r>
              <a:rPr lang="en-US" dirty="0"/>
              <a:t>, and even </a:t>
            </a:r>
            <a:r>
              <a:rPr lang="en-US" b="1" dirty="0"/>
              <a:t>grammatical similarities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Library used: </a:t>
            </a:r>
            <a:r>
              <a:rPr lang="en-US" dirty="0" err="1"/>
              <a:t>gensim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379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1780</TotalTime>
  <Words>4293</Words>
  <Application>Microsoft Office PowerPoint</Application>
  <PresentationFormat>Widescreen</PresentationFormat>
  <Paragraphs>545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Cambria Math</vt:lpstr>
      <vt:lpstr>Office Theme</vt:lpstr>
      <vt:lpstr>GenAI Module7 – Terms-Key Steps AKA Pipeline</vt:lpstr>
      <vt:lpstr>PowerPoint Presentation</vt:lpstr>
      <vt:lpstr>Key terms:</vt:lpstr>
      <vt:lpstr>Key steps in NLP</vt:lpstr>
      <vt:lpstr>1. Text acquisitions (p1)</vt:lpstr>
      <vt:lpstr>1. Text acquisitions (p2)</vt:lpstr>
      <vt:lpstr>1. Text acquisitions (p3)</vt:lpstr>
      <vt:lpstr>1. Text acquisitions (p4)</vt:lpstr>
      <vt:lpstr>2. Text cleaning(preprocessing): Why we need it in NLP sequential data? (p1)</vt:lpstr>
      <vt:lpstr>PowerPoint Presentation</vt:lpstr>
      <vt:lpstr>3. Tokenization: Examples(p1)</vt:lpstr>
      <vt:lpstr>3. Tokenization: Examples(p2)</vt:lpstr>
      <vt:lpstr>3. Tokenization: Why do we need it ?(p1)</vt:lpstr>
      <vt:lpstr>3. Tokenization: Libraries used(p3)</vt:lpstr>
      <vt:lpstr>4.1) POS Tagging(p1)</vt:lpstr>
      <vt:lpstr>4.1) POS Tagging: Realistic Examples + How It's Used(p2)</vt:lpstr>
      <vt:lpstr>4.1) POS Tagging: Realistic Examples + How It's Used(p3)</vt:lpstr>
      <vt:lpstr>4.1) POS Tagging: Libraries used(p4)</vt:lpstr>
      <vt:lpstr>4.2) Normalization: Lemmatization(p1)</vt:lpstr>
      <vt:lpstr>4.2) Normalization: Stemming(p2)</vt:lpstr>
      <vt:lpstr>4.2) Normalization: Expanding Contractions(p3)</vt:lpstr>
      <vt:lpstr>5. Text Representation: N-gram</vt:lpstr>
      <vt:lpstr>5. Text Representation: How does BoW work? (Step-by-Step Example)</vt:lpstr>
      <vt:lpstr>5. Text Representation: BOW</vt:lpstr>
      <vt:lpstr>5. Text Representation: Where is BoW used in NLP tasks?</vt:lpstr>
      <vt:lpstr>5. Text Representation: TF-IDF(see jupyter n/b for implementaion)</vt:lpstr>
      <vt:lpstr>5. Text Representation: TF-IDF</vt:lpstr>
      <vt:lpstr>5. Text Representation: TF-IDF (Example)</vt:lpstr>
      <vt:lpstr>5. Text Representation: What is document in TF-IDF?</vt:lpstr>
      <vt:lpstr>5. Text Representation: TF-IDF, how does it help?</vt:lpstr>
      <vt:lpstr>5. Text Representation: Word embeddings</vt:lpstr>
      <vt:lpstr>5. Text Representation: Word embeddings, Word2Vec Architecture</vt:lpstr>
      <vt:lpstr>5. Text Representation: Word embeddings (Word2Vec)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GenAI Module7 - NLP</dc:title>
  <dc:creator>Windows User</dc:creator>
  <cp:lastModifiedBy>ash322.ash422@gmail.com</cp:lastModifiedBy>
  <cp:revision>176</cp:revision>
  <dcterms:created xsi:type="dcterms:W3CDTF">2025-01-16T06:16:23Z</dcterms:created>
  <dcterms:modified xsi:type="dcterms:W3CDTF">2025-05-16T09:03:14Z</dcterms:modified>
</cp:coreProperties>
</file>