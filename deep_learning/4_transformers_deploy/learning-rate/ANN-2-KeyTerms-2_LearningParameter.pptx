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7" r:id="rId3"/>
    <p:sldId id="278" r:id="rId4"/>
    <p:sldId id="279" r:id="rId5"/>
    <p:sldId id="283" r:id="rId6"/>
    <p:sldId id="284" r:id="rId7"/>
    <p:sldId id="285" r:id="rId8"/>
    <p:sldId id="286" r:id="rId9"/>
    <p:sldId id="280" r:id="rId10"/>
    <p:sldId id="287" r:id="rId11"/>
    <p:sldId id="281"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39" autoAdjust="0"/>
    <p:restoredTop sz="94660"/>
  </p:normalViewPr>
  <p:slideViewPr>
    <p:cSldViewPr snapToGrid="0">
      <p:cViewPr varScale="1">
        <p:scale>
          <a:sx n="111" d="100"/>
          <a:sy n="111" d="100"/>
        </p:scale>
        <p:origin x="58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tx1">
            <a:lumMod val="85000"/>
            <a:lumOff val="1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solidFill>
                  <a:schemeClr val="accent6">
                    <a:lumMod val="40000"/>
                    <a:lumOff val="60000"/>
                  </a:schemeClr>
                </a:solidFill>
              </a:defRPr>
            </a:lvl1pPr>
          </a:lstStyle>
          <a:p>
            <a:r>
              <a:rPr lang="en-US" dirty="0"/>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solidFill>
                  <a:schemeClr val="accent6">
                    <a:lumMod val="40000"/>
                    <a:lumOff val="6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a:solidFill>
                  <a:schemeClr val="accent6">
                    <a:lumMod val="40000"/>
                    <a:lumOff val="60000"/>
                  </a:schemeClr>
                </a:solidFill>
              </a:defRPr>
            </a:lvl1pPr>
          </a:lstStyle>
          <a:p>
            <a:fld id="{598C49C6-5F15-4DD3-B364-B2DE57A5B88F}" type="datetimeFigureOut">
              <a:rPr lang="en-US" smtClean="0"/>
              <a:pPr/>
              <a:t>3/9/2026</a:t>
            </a:fld>
            <a:endParaRPr lang="en-US"/>
          </a:p>
        </p:txBody>
      </p:sp>
      <p:sp>
        <p:nvSpPr>
          <p:cNvPr id="5" name="Footer Placeholder 4"/>
          <p:cNvSpPr>
            <a:spLocks noGrp="1"/>
          </p:cNvSpPr>
          <p:nvPr>
            <p:ph type="ftr" sz="quarter" idx="11"/>
          </p:nvPr>
        </p:nvSpPr>
        <p:spPr/>
        <p:txBody>
          <a:bodyPr/>
          <a:lstStyle>
            <a:lvl1pPr>
              <a:defRPr>
                <a:solidFill>
                  <a:schemeClr val="accent6">
                    <a:lumMod val="40000"/>
                    <a:lumOff val="60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accent6">
                    <a:lumMod val="40000"/>
                    <a:lumOff val="60000"/>
                  </a:schemeClr>
                </a:solidFill>
              </a:defRPr>
            </a:lvl1pPr>
          </a:lstStyle>
          <a:p>
            <a:fld id="{2E30D265-8AE4-4D83-9D5E-333CB7475336}" type="slidenum">
              <a:rPr lang="en-US" smtClean="0"/>
              <a:pPr/>
              <a:t>‹#›</a:t>
            </a:fld>
            <a:endParaRPr lang="en-US"/>
          </a:p>
        </p:txBody>
      </p:sp>
    </p:spTree>
    <p:extLst>
      <p:ext uri="{BB962C8B-B14F-4D97-AF65-F5344CB8AC3E}">
        <p14:creationId xmlns:p14="http://schemas.microsoft.com/office/powerpoint/2010/main" val="31058362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tx1">
            <a:lumMod val="85000"/>
            <a:lumOff val="15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98C49C6-5F15-4DD3-B364-B2DE57A5B88F}" type="datetimeFigureOut">
              <a:rPr lang="en-US" smtClean="0"/>
              <a:t>3/9/2026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E30D265-8AE4-4D83-9D5E-333CB7475336}" type="slidenum">
              <a:rPr lang="en-US" smtClean="0"/>
              <a:t>‹#›</a:t>
            </a:fld>
            <a:endParaRPr lang="en-US"/>
          </a:p>
        </p:txBody>
      </p:sp>
    </p:spTree>
    <p:extLst>
      <p:ext uri="{BB962C8B-B14F-4D97-AF65-F5344CB8AC3E}">
        <p14:creationId xmlns:p14="http://schemas.microsoft.com/office/powerpoint/2010/main" val="30776009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tx1">
            <a:lumMod val="85000"/>
            <a:lumOff val="15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8C49C6-5F15-4DD3-B364-B2DE57A5B88F}" type="datetimeFigureOut">
              <a:rPr lang="en-US" smtClean="0"/>
              <a:t>3/9/2026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E30D265-8AE4-4D83-9D5E-333CB7475336}" type="slidenum">
              <a:rPr lang="en-US" smtClean="0"/>
              <a:t>‹#›</a:t>
            </a:fld>
            <a:endParaRPr lang="en-US"/>
          </a:p>
        </p:txBody>
      </p:sp>
    </p:spTree>
    <p:extLst>
      <p:ext uri="{BB962C8B-B14F-4D97-AF65-F5344CB8AC3E}">
        <p14:creationId xmlns:p14="http://schemas.microsoft.com/office/powerpoint/2010/main" val="40033712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Pr>
        <a:solidFill>
          <a:schemeClr val="tx1">
            <a:lumMod val="85000"/>
            <a:lumOff val="15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98C49C6-5F15-4DD3-B364-B2DE57A5B88F}" type="datetimeFigureOut">
              <a:rPr lang="en-US" smtClean="0"/>
              <a:t>3/9/2026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E30D265-8AE4-4D83-9D5E-333CB7475336}" type="slidenum">
              <a:rPr lang="en-US" smtClean="0"/>
              <a:t>‹#›</a:t>
            </a:fld>
            <a:endParaRPr lang="en-US"/>
          </a:p>
        </p:txBody>
      </p:sp>
    </p:spTree>
    <p:extLst>
      <p:ext uri="{BB962C8B-B14F-4D97-AF65-F5344CB8AC3E}">
        <p14:creationId xmlns:p14="http://schemas.microsoft.com/office/powerpoint/2010/main" val="42653077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bg>
      <p:bgPr>
        <a:solidFill>
          <a:schemeClr val="tx1">
            <a:lumMod val="85000"/>
            <a:lumOff val="15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98C49C6-5F15-4DD3-B364-B2DE57A5B88F}" type="datetimeFigureOut">
              <a:rPr lang="en-US" smtClean="0"/>
              <a:t>3/9/2026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E30D265-8AE4-4D83-9D5E-333CB7475336}" type="slidenum">
              <a:rPr lang="en-US" smtClean="0"/>
              <a:t>‹#›</a:t>
            </a:fld>
            <a:endParaRPr lang="en-US"/>
          </a:p>
        </p:txBody>
      </p:sp>
    </p:spTree>
    <p:extLst>
      <p:ext uri="{BB962C8B-B14F-4D97-AF65-F5344CB8AC3E}">
        <p14:creationId xmlns:p14="http://schemas.microsoft.com/office/powerpoint/2010/main" val="38390298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chemeClr val="tx1">
            <a:lumMod val="85000"/>
            <a:lumOff val="15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98C49C6-5F15-4DD3-B364-B2DE57A5B88F}" type="datetimeFigureOut">
              <a:rPr lang="en-US" smtClean="0"/>
              <a:t>3/9/2026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E30D265-8AE4-4D83-9D5E-333CB7475336}" type="slidenum">
              <a:rPr lang="en-US" smtClean="0"/>
              <a:t>‹#›</a:t>
            </a:fld>
            <a:endParaRPr lang="en-US"/>
          </a:p>
        </p:txBody>
      </p:sp>
    </p:spTree>
    <p:extLst>
      <p:ext uri="{BB962C8B-B14F-4D97-AF65-F5344CB8AC3E}">
        <p14:creationId xmlns:p14="http://schemas.microsoft.com/office/powerpoint/2010/main" val="30895548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tx1">
            <a:lumMod val="85000"/>
            <a:lumOff val="15000"/>
          </a:schemeClr>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98C49C6-5F15-4DD3-B364-B2DE57A5B88F}" type="datetimeFigureOut">
              <a:rPr lang="en-US" smtClean="0"/>
              <a:t>3/9/2026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E30D265-8AE4-4D83-9D5E-333CB7475336}" type="slidenum">
              <a:rPr lang="en-US" smtClean="0"/>
              <a:t>‹#›</a:t>
            </a:fld>
            <a:endParaRPr lang="en-US"/>
          </a:p>
        </p:txBody>
      </p:sp>
    </p:spTree>
    <p:extLst>
      <p:ext uri="{BB962C8B-B14F-4D97-AF65-F5344CB8AC3E}">
        <p14:creationId xmlns:p14="http://schemas.microsoft.com/office/powerpoint/2010/main" val="41344953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bg>
      <p:bgPr>
        <a:solidFill>
          <a:schemeClr val="tx1">
            <a:lumMod val="85000"/>
            <a:lumOff val="15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598C49C6-5F15-4DD3-B364-B2DE57A5B88F}" type="datetimeFigureOut">
              <a:rPr lang="en-US" smtClean="0"/>
              <a:t>3/9/2026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E30D265-8AE4-4D83-9D5E-333CB7475336}" type="slidenum">
              <a:rPr lang="en-US" smtClean="0"/>
              <a:t>‹#›</a:t>
            </a:fld>
            <a:endParaRPr lang="en-US"/>
          </a:p>
        </p:txBody>
      </p:sp>
    </p:spTree>
    <p:extLst>
      <p:ext uri="{BB962C8B-B14F-4D97-AF65-F5344CB8AC3E}">
        <p14:creationId xmlns:p14="http://schemas.microsoft.com/office/powerpoint/2010/main" val="5353322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bg>
      <p:bgPr>
        <a:solidFill>
          <a:schemeClr val="tx1">
            <a:lumMod val="85000"/>
            <a:lumOff val="15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598C49C6-5F15-4DD3-B364-B2DE57A5B88F}" type="datetimeFigureOut">
              <a:rPr lang="en-US" smtClean="0"/>
              <a:t>3/9/2026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E30D265-8AE4-4D83-9D5E-333CB7475336}" type="slidenum">
              <a:rPr lang="en-US" smtClean="0"/>
              <a:t>‹#›</a:t>
            </a:fld>
            <a:endParaRPr lang="en-US"/>
          </a:p>
        </p:txBody>
      </p:sp>
    </p:spTree>
    <p:extLst>
      <p:ext uri="{BB962C8B-B14F-4D97-AF65-F5344CB8AC3E}">
        <p14:creationId xmlns:p14="http://schemas.microsoft.com/office/powerpoint/2010/main" val="14156777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bg>
      <p:bgPr>
        <a:solidFill>
          <a:schemeClr val="tx1">
            <a:lumMod val="85000"/>
            <a:lumOff val="15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98C49C6-5F15-4DD3-B364-B2DE57A5B88F}" type="datetimeFigureOut">
              <a:rPr lang="en-US" smtClean="0"/>
              <a:t>3/9/2026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E30D265-8AE4-4D83-9D5E-333CB7475336}" type="slidenum">
              <a:rPr lang="en-US" smtClean="0"/>
              <a:t>‹#›</a:t>
            </a:fld>
            <a:endParaRPr lang="en-US"/>
          </a:p>
        </p:txBody>
      </p:sp>
    </p:spTree>
    <p:extLst>
      <p:ext uri="{BB962C8B-B14F-4D97-AF65-F5344CB8AC3E}">
        <p14:creationId xmlns:p14="http://schemas.microsoft.com/office/powerpoint/2010/main" val="15514018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bg>
      <p:bgPr>
        <a:solidFill>
          <a:schemeClr val="tx1">
            <a:lumMod val="85000"/>
            <a:lumOff val="15000"/>
          </a:schemeClr>
        </a:solidFill>
        <a:effectLst/>
      </p:bgPr>
    </p:b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98C49C6-5F15-4DD3-B364-B2DE57A5B88F}" type="datetimeFigureOut">
              <a:rPr lang="en-US" smtClean="0"/>
              <a:t>3/9/2026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E30D265-8AE4-4D83-9D5E-333CB7475336}" type="slidenum">
              <a:rPr lang="en-US" smtClean="0"/>
              <a:t>‹#›</a:t>
            </a:fld>
            <a:endParaRPr lang="en-US"/>
          </a:p>
        </p:txBody>
      </p:sp>
    </p:spTree>
    <p:extLst>
      <p:ext uri="{BB962C8B-B14F-4D97-AF65-F5344CB8AC3E}">
        <p14:creationId xmlns:p14="http://schemas.microsoft.com/office/powerpoint/2010/main" val="37721913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98C49C6-5F15-4DD3-B364-B2DE57A5B88F}" type="datetimeFigureOut">
              <a:rPr lang="en-US" smtClean="0"/>
              <a:t>3/9/2026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E30D265-8AE4-4D83-9D5E-333CB7475336}" type="slidenum">
              <a:rPr lang="en-US" smtClean="0"/>
              <a:t>‹#›</a:t>
            </a:fld>
            <a:endParaRPr lang="en-US"/>
          </a:p>
        </p:txBody>
      </p:sp>
    </p:spTree>
    <p:extLst>
      <p:ext uri="{BB962C8B-B14F-4D97-AF65-F5344CB8AC3E}">
        <p14:creationId xmlns:p14="http://schemas.microsoft.com/office/powerpoint/2010/main" val="41790760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990110"/>
            <a:ext cx="9144000" cy="2387600"/>
          </a:xfrm>
        </p:spPr>
        <p:txBody>
          <a:bodyPr>
            <a:normAutofit/>
          </a:bodyPr>
          <a:lstStyle/>
          <a:p>
            <a:r>
              <a:rPr lang="en-US" dirty="0"/>
              <a:t>ANN Key Terms: </a:t>
            </a:r>
            <a:r>
              <a:rPr lang="en-US"/>
              <a:t>LearningRate-LossFunction</a:t>
            </a:r>
            <a:endParaRPr lang="en-US" dirty="0"/>
          </a:p>
        </p:txBody>
      </p:sp>
      <p:sp>
        <p:nvSpPr>
          <p:cNvPr id="3" name="Subtitle 2"/>
          <p:cNvSpPr>
            <a:spLocks noGrp="1"/>
          </p:cNvSpPr>
          <p:nvPr>
            <p:ph type="subTitle" idx="1"/>
          </p:nvPr>
        </p:nvSpPr>
        <p:spPr>
          <a:xfrm>
            <a:off x="1524000" y="187035"/>
            <a:ext cx="9144000" cy="960631"/>
          </a:xfrm>
        </p:spPr>
        <p:txBody>
          <a:bodyPr>
            <a:normAutofit fontScale="77500" lnSpcReduction="20000"/>
          </a:bodyPr>
          <a:lstStyle/>
          <a:p>
            <a:r>
              <a:rPr lang="en-US" sz="6000" dirty="0"/>
              <a:t>(On Dev) Artificial Neural Network</a:t>
            </a:r>
          </a:p>
        </p:txBody>
      </p:sp>
    </p:spTree>
    <p:extLst>
      <p:ext uri="{BB962C8B-B14F-4D97-AF65-F5344CB8AC3E}">
        <p14:creationId xmlns:p14="http://schemas.microsoft.com/office/powerpoint/2010/main" val="5267006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5420F8-86A8-0FEC-7A68-C9DD0B1973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A49412-5482-1A0A-6B98-AAB92F0F8DD0}"/>
              </a:ext>
            </a:extLst>
          </p:cNvPr>
          <p:cNvSpPr>
            <a:spLocks noGrp="1"/>
          </p:cNvSpPr>
          <p:nvPr>
            <p:ph type="title"/>
          </p:nvPr>
        </p:nvSpPr>
        <p:spPr>
          <a:xfrm>
            <a:off x="838200" y="244805"/>
            <a:ext cx="10515600" cy="609433"/>
          </a:xfrm>
        </p:spPr>
        <p:txBody>
          <a:bodyPr>
            <a:normAutofit fontScale="90000"/>
          </a:bodyPr>
          <a:lstStyle/>
          <a:p>
            <a:r>
              <a:rPr lang="en-US" dirty="0">
                <a:solidFill>
                  <a:schemeClr val="accent6">
                    <a:lumMod val="40000"/>
                    <a:lumOff val="60000"/>
                  </a:schemeClr>
                </a:solidFill>
              </a:rPr>
              <a:t>Some key terms: Learning rate(p6)</a:t>
            </a:r>
            <a:endParaRPr lang="en-IN" dirty="0">
              <a:solidFill>
                <a:schemeClr val="accent6">
                  <a:lumMod val="40000"/>
                  <a:lumOff val="60000"/>
                </a:schemeClr>
              </a:solidFill>
            </a:endParaRPr>
          </a:p>
        </p:txBody>
      </p:sp>
      <p:sp>
        <p:nvSpPr>
          <p:cNvPr id="3" name="Content Placeholder 2">
            <a:extLst>
              <a:ext uri="{FF2B5EF4-FFF2-40B4-BE49-F238E27FC236}">
                <a16:creationId xmlns:a16="http://schemas.microsoft.com/office/drawing/2014/main" id="{D11F3440-C1FA-6908-54B1-641DA285549D}"/>
              </a:ext>
            </a:extLst>
          </p:cNvPr>
          <p:cNvSpPr>
            <a:spLocks noGrp="1"/>
          </p:cNvSpPr>
          <p:nvPr>
            <p:ph idx="1"/>
          </p:nvPr>
        </p:nvSpPr>
        <p:spPr>
          <a:xfrm>
            <a:off x="246489" y="854238"/>
            <a:ext cx="11847443" cy="3428758"/>
          </a:xfrm>
        </p:spPr>
        <p:txBody>
          <a:bodyPr>
            <a:noAutofit/>
          </a:bodyPr>
          <a:lstStyle/>
          <a:p>
            <a:pPr marL="0" indent="0">
              <a:buNone/>
            </a:pPr>
            <a:r>
              <a:rPr lang="en-US" sz="1800" b="1" dirty="0">
                <a:solidFill>
                  <a:schemeClr val="accent6">
                    <a:lumMod val="40000"/>
                    <a:lumOff val="60000"/>
                  </a:schemeClr>
                </a:solidFill>
              </a:rPr>
              <a:t>Learning rate, α,</a:t>
            </a:r>
            <a:r>
              <a:rPr lang="en-US" sz="1800" dirty="0">
                <a:solidFill>
                  <a:schemeClr val="accent6">
                    <a:lumMod val="40000"/>
                    <a:lumOff val="60000"/>
                  </a:schemeClr>
                </a:solidFill>
              </a:rPr>
              <a:t> is a hyperparameter that controls how much a model adjusts its parameters, weights and biases, during each training iteration </a:t>
            </a:r>
          </a:p>
          <a:p>
            <a:pPr marL="0" indent="0">
              <a:buNone/>
            </a:pPr>
            <a:r>
              <a:rPr lang="en-US" sz="1800" dirty="0">
                <a:solidFill>
                  <a:schemeClr val="accent6">
                    <a:lumMod val="40000"/>
                    <a:lumOff val="60000"/>
                  </a:schemeClr>
                </a:solidFill>
              </a:rPr>
              <a:t>It controls how much parameter should change in response to the estimated error each time the model weights are updated. It determines the size of the steps taken towards a minimum of the loss function during optimization.</a:t>
            </a:r>
          </a:p>
          <a:p>
            <a:pPr marL="0" indent="0">
              <a:buNone/>
            </a:pPr>
            <a:r>
              <a:rPr lang="en-US" sz="1800" dirty="0">
                <a:solidFill>
                  <a:schemeClr val="accent6">
                    <a:lumMod val="40000"/>
                    <a:lumOff val="60000"/>
                  </a:schemeClr>
                </a:solidFill>
              </a:rPr>
              <a:t>If </a:t>
            </a:r>
            <a:r>
              <a:rPr lang="en-US" sz="1800" b="1" dirty="0">
                <a:solidFill>
                  <a:schemeClr val="accent6">
                    <a:lumMod val="40000"/>
                    <a:lumOff val="60000"/>
                  </a:schemeClr>
                </a:solidFill>
              </a:rPr>
              <a:t>α is too low</a:t>
            </a:r>
            <a:r>
              <a:rPr lang="en-US" sz="1800" dirty="0">
                <a:solidFill>
                  <a:schemeClr val="accent6">
                    <a:lumMod val="40000"/>
                    <a:lumOff val="60000"/>
                  </a:schemeClr>
                </a:solidFill>
              </a:rPr>
              <a:t>, the model converges slowly, requiring many epochs and leading to inefficient resource use. </a:t>
            </a:r>
          </a:p>
          <a:p>
            <a:pPr marL="0" indent="0">
              <a:buNone/>
            </a:pPr>
            <a:r>
              <a:rPr lang="en-US" sz="1800" dirty="0">
                <a:solidFill>
                  <a:schemeClr val="accent6">
                    <a:lumMod val="40000"/>
                    <a:lumOff val="60000"/>
                  </a:schemeClr>
                </a:solidFill>
              </a:rPr>
              <a:t>If </a:t>
            </a:r>
            <a:r>
              <a:rPr lang="en-US" sz="1800" b="1" dirty="0">
                <a:solidFill>
                  <a:schemeClr val="accent6">
                    <a:lumMod val="40000"/>
                    <a:lumOff val="60000"/>
                  </a:schemeClr>
                </a:solidFill>
              </a:rPr>
              <a:t>α is too high</a:t>
            </a:r>
            <a:r>
              <a:rPr lang="en-US" sz="1800" dirty="0">
                <a:solidFill>
                  <a:schemeClr val="accent6">
                    <a:lumMod val="40000"/>
                    <a:lumOff val="60000"/>
                  </a:schemeClr>
                </a:solidFill>
              </a:rPr>
              <a:t>, it can cause the model to overshoot optimal weights, resulting in instability and divergence of the loss function. </a:t>
            </a:r>
          </a:p>
          <a:p>
            <a:pPr marL="0" indent="0">
              <a:buNone/>
            </a:pPr>
            <a:r>
              <a:rPr lang="en-US" sz="1800" dirty="0">
                <a:solidFill>
                  <a:schemeClr val="accent6">
                    <a:lumMod val="40000"/>
                    <a:lumOff val="60000"/>
                  </a:schemeClr>
                </a:solidFill>
              </a:rPr>
              <a:t>An </a:t>
            </a:r>
            <a:r>
              <a:rPr lang="en-US" sz="1800" b="1" dirty="0">
                <a:solidFill>
                  <a:schemeClr val="accent6">
                    <a:lumMod val="40000"/>
                    <a:lumOff val="60000"/>
                  </a:schemeClr>
                </a:solidFill>
              </a:rPr>
              <a:t>optimal α</a:t>
            </a:r>
            <a:r>
              <a:rPr lang="en-US" sz="1800" dirty="0">
                <a:solidFill>
                  <a:schemeClr val="accent6">
                    <a:lumMod val="40000"/>
                    <a:lumOff val="60000"/>
                  </a:schemeClr>
                </a:solidFill>
              </a:rPr>
              <a:t> should be low enough for accurate convergence while high enough for reasonable training time. Smaller rates require more epochs, potentially yielding better final weights, whereas larger rates can cause fluctuations around the optimal solution.</a:t>
            </a:r>
          </a:p>
          <a:p>
            <a:pPr marL="0" indent="0">
              <a:buNone/>
            </a:pPr>
            <a:r>
              <a:rPr lang="en-US" sz="1800" dirty="0">
                <a:solidFill>
                  <a:schemeClr val="accent6">
                    <a:lumMod val="40000"/>
                    <a:lumOff val="60000"/>
                  </a:schemeClr>
                </a:solidFill>
              </a:rPr>
              <a:t>In general, a good starting point is to use a learning rate of 0.01.  </a:t>
            </a:r>
          </a:p>
          <a:p>
            <a:pPr marL="0" indent="0">
              <a:buNone/>
            </a:pPr>
            <a:endParaRPr lang="en-US" sz="1800" dirty="0">
              <a:solidFill>
                <a:schemeClr val="accent6">
                  <a:lumMod val="40000"/>
                  <a:lumOff val="60000"/>
                </a:schemeClr>
              </a:solidFill>
            </a:endParaRPr>
          </a:p>
        </p:txBody>
      </p:sp>
      <p:pic>
        <p:nvPicPr>
          <p:cNvPr id="6" name="Picture 5">
            <a:extLst>
              <a:ext uri="{FF2B5EF4-FFF2-40B4-BE49-F238E27FC236}">
                <a16:creationId xmlns:a16="http://schemas.microsoft.com/office/drawing/2014/main" id="{0086C0A6-4C8B-47FE-0F8F-F66B2319913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24730" y="4349364"/>
            <a:ext cx="9026247" cy="2104344"/>
          </a:xfrm>
          <a:prstGeom prst="rect">
            <a:avLst/>
          </a:prstGeom>
        </p:spPr>
      </p:pic>
      <p:sp>
        <p:nvSpPr>
          <p:cNvPr id="7" name="TextBox 6">
            <a:extLst>
              <a:ext uri="{FF2B5EF4-FFF2-40B4-BE49-F238E27FC236}">
                <a16:creationId xmlns:a16="http://schemas.microsoft.com/office/drawing/2014/main" id="{5DC3E89D-7103-D410-ADAC-0EE48B582457}"/>
              </a:ext>
            </a:extLst>
          </p:cNvPr>
          <p:cNvSpPr txBox="1"/>
          <p:nvPr/>
        </p:nvSpPr>
        <p:spPr>
          <a:xfrm>
            <a:off x="4579950" y="6520076"/>
            <a:ext cx="794000" cy="307777"/>
          </a:xfrm>
          <a:prstGeom prst="rect">
            <a:avLst/>
          </a:prstGeom>
          <a:noFill/>
        </p:spPr>
        <p:txBody>
          <a:bodyPr wrap="none" rtlCol="0">
            <a:spAutoFit/>
          </a:bodyPr>
          <a:lstStyle/>
          <a:p>
            <a:r>
              <a:rPr lang="en-US" sz="1400" b="1" dirty="0">
                <a:solidFill>
                  <a:schemeClr val="accent6">
                    <a:lumMod val="40000"/>
                    <a:lumOff val="60000"/>
                  </a:schemeClr>
                </a:solidFill>
              </a:rPr>
              <a:t>Too Low</a:t>
            </a:r>
            <a:endParaRPr lang="en-IN" sz="1400" b="1" dirty="0">
              <a:solidFill>
                <a:schemeClr val="accent6">
                  <a:lumMod val="40000"/>
                  <a:lumOff val="60000"/>
                </a:schemeClr>
              </a:solidFill>
            </a:endParaRPr>
          </a:p>
        </p:txBody>
      </p:sp>
      <p:sp>
        <p:nvSpPr>
          <p:cNvPr id="8" name="TextBox 7">
            <a:extLst>
              <a:ext uri="{FF2B5EF4-FFF2-40B4-BE49-F238E27FC236}">
                <a16:creationId xmlns:a16="http://schemas.microsoft.com/office/drawing/2014/main" id="{0F5C3499-2014-B26A-1B5E-DA589DCA88E0}"/>
              </a:ext>
            </a:extLst>
          </p:cNvPr>
          <p:cNvSpPr txBox="1"/>
          <p:nvPr/>
        </p:nvSpPr>
        <p:spPr>
          <a:xfrm>
            <a:off x="7388086" y="6449840"/>
            <a:ext cx="900759" cy="307777"/>
          </a:xfrm>
          <a:prstGeom prst="rect">
            <a:avLst/>
          </a:prstGeom>
          <a:noFill/>
        </p:spPr>
        <p:txBody>
          <a:bodyPr wrap="none" rtlCol="0">
            <a:spAutoFit/>
          </a:bodyPr>
          <a:lstStyle/>
          <a:p>
            <a:r>
              <a:rPr lang="en-US" sz="1400" b="1" dirty="0">
                <a:solidFill>
                  <a:schemeClr val="accent6">
                    <a:lumMod val="40000"/>
                    <a:lumOff val="60000"/>
                  </a:schemeClr>
                </a:solidFill>
              </a:rPr>
              <a:t>Just Right</a:t>
            </a:r>
            <a:endParaRPr lang="en-IN" sz="1400" b="1" dirty="0">
              <a:solidFill>
                <a:schemeClr val="accent6">
                  <a:lumMod val="40000"/>
                  <a:lumOff val="60000"/>
                </a:schemeClr>
              </a:solidFill>
            </a:endParaRPr>
          </a:p>
        </p:txBody>
      </p:sp>
      <p:sp>
        <p:nvSpPr>
          <p:cNvPr id="9" name="TextBox 8">
            <a:extLst>
              <a:ext uri="{FF2B5EF4-FFF2-40B4-BE49-F238E27FC236}">
                <a16:creationId xmlns:a16="http://schemas.microsoft.com/office/drawing/2014/main" id="{6D0E8BD1-2578-7568-5979-03054D742FC0}"/>
              </a:ext>
            </a:extLst>
          </p:cNvPr>
          <p:cNvSpPr txBox="1"/>
          <p:nvPr/>
        </p:nvSpPr>
        <p:spPr>
          <a:xfrm>
            <a:off x="10067676" y="6418034"/>
            <a:ext cx="829586" cy="307777"/>
          </a:xfrm>
          <a:prstGeom prst="rect">
            <a:avLst/>
          </a:prstGeom>
          <a:noFill/>
        </p:spPr>
        <p:txBody>
          <a:bodyPr wrap="none" rtlCol="0">
            <a:spAutoFit/>
          </a:bodyPr>
          <a:lstStyle/>
          <a:p>
            <a:r>
              <a:rPr lang="en-US" sz="1400" b="1" dirty="0">
                <a:solidFill>
                  <a:schemeClr val="accent6">
                    <a:lumMod val="40000"/>
                    <a:lumOff val="60000"/>
                  </a:schemeClr>
                </a:solidFill>
              </a:rPr>
              <a:t>Too High</a:t>
            </a:r>
            <a:endParaRPr lang="en-IN" sz="1400" b="1" dirty="0">
              <a:solidFill>
                <a:schemeClr val="accent6">
                  <a:lumMod val="40000"/>
                  <a:lumOff val="60000"/>
                </a:schemeClr>
              </a:solidFill>
            </a:endParaRPr>
          </a:p>
        </p:txBody>
      </p:sp>
    </p:spTree>
    <p:extLst>
      <p:ext uri="{BB962C8B-B14F-4D97-AF65-F5344CB8AC3E}">
        <p14:creationId xmlns:p14="http://schemas.microsoft.com/office/powerpoint/2010/main" val="11684061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960916-6598-7E37-C241-AE9D545D00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0E1335-410D-766C-25F4-E5F6B4BCE09C}"/>
              </a:ext>
            </a:extLst>
          </p:cNvPr>
          <p:cNvSpPr>
            <a:spLocks noGrp="1"/>
          </p:cNvSpPr>
          <p:nvPr>
            <p:ph type="title"/>
          </p:nvPr>
        </p:nvSpPr>
        <p:spPr>
          <a:xfrm>
            <a:off x="838200" y="244805"/>
            <a:ext cx="10515600" cy="609433"/>
          </a:xfrm>
        </p:spPr>
        <p:txBody>
          <a:bodyPr>
            <a:normAutofit fontScale="90000"/>
          </a:bodyPr>
          <a:lstStyle/>
          <a:p>
            <a:r>
              <a:rPr lang="en-US" dirty="0">
                <a:solidFill>
                  <a:schemeClr val="accent6">
                    <a:lumMod val="40000"/>
                    <a:lumOff val="60000"/>
                  </a:schemeClr>
                </a:solidFill>
              </a:rPr>
              <a:t>Some key terms: Learning rate(p6)</a:t>
            </a:r>
            <a:endParaRPr lang="en-IN" dirty="0">
              <a:solidFill>
                <a:schemeClr val="accent6">
                  <a:lumMod val="40000"/>
                  <a:lumOff val="60000"/>
                </a:schemeClr>
              </a:solidFill>
            </a:endParaRPr>
          </a:p>
        </p:txBody>
      </p:sp>
      <p:pic>
        <p:nvPicPr>
          <p:cNvPr id="6" name="Picture 5">
            <a:extLst>
              <a:ext uri="{FF2B5EF4-FFF2-40B4-BE49-F238E27FC236}">
                <a16:creationId xmlns:a16="http://schemas.microsoft.com/office/drawing/2014/main" id="{3F6FC2DB-C43F-CFEB-CB25-5B3C6A0F9EA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58852" y="4301656"/>
            <a:ext cx="8992125" cy="2096389"/>
          </a:xfrm>
          <a:prstGeom prst="rect">
            <a:avLst/>
          </a:prstGeom>
        </p:spPr>
      </p:pic>
      <p:sp>
        <p:nvSpPr>
          <p:cNvPr id="7" name="TextBox 6">
            <a:extLst>
              <a:ext uri="{FF2B5EF4-FFF2-40B4-BE49-F238E27FC236}">
                <a16:creationId xmlns:a16="http://schemas.microsoft.com/office/drawing/2014/main" id="{195ADFA2-B09F-BBAC-D2F6-B6C0B8132DB7}"/>
              </a:ext>
            </a:extLst>
          </p:cNvPr>
          <p:cNvSpPr txBox="1"/>
          <p:nvPr/>
        </p:nvSpPr>
        <p:spPr>
          <a:xfrm>
            <a:off x="5255812" y="6520076"/>
            <a:ext cx="794000" cy="307777"/>
          </a:xfrm>
          <a:prstGeom prst="rect">
            <a:avLst/>
          </a:prstGeom>
          <a:noFill/>
        </p:spPr>
        <p:txBody>
          <a:bodyPr wrap="none" rtlCol="0">
            <a:spAutoFit/>
          </a:bodyPr>
          <a:lstStyle/>
          <a:p>
            <a:r>
              <a:rPr lang="en-US" sz="1400" b="1" dirty="0">
                <a:solidFill>
                  <a:schemeClr val="accent6">
                    <a:lumMod val="40000"/>
                    <a:lumOff val="60000"/>
                  </a:schemeClr>
                </a:solidFill>
              </a:rPr>
              <a:t>Too Low</a:t>
            </a:r>
            <a:endParaRPr lang="en-IN" sz="1400" b="1" dirty="0">
              <a:solidFill>
                <a:schemeClr val="accent6">
                  <a:lumMod val="40000"/>
                  <a:lumOff val="60000"/>
                </a:schemeClr>
              </a:solidFill>
            </a:endParaRPr>
          </a:p>
        </p:txBody>
      </p:sp>
      <p:sp>
        <p:nvSpPr>
          <p:cNvPr id="8" name="TextBox 7">
            <a:extLst>
              <a:ext uri="{FF2B5EF4-FFF2-40B4-BE49-F238E27FC236}">
                <a16:creationId xmlns:a16="http://schemas.microsoft.com/office/drawing/2014/main" id="{D585B316-7594-7B20-A77A-BAD3B699CB90}"/>
              </a:ext>
            </a:extLst>
          </p:cNvPr>
          <p:cNvSpPr txBox="1"/>
          <p:nvPr/>
        </p:nvSpPr>
        <p:spPr>
          <a:xfrm>
            <a:off x="7753847" y="6449840"/>
            <a:ext cx="900759" cy="307777"/>
          </a:xfrm>
          <a:prstGeom prst="rect">
            <a:avLst/>
          </a:prstGeom>
          <a:noFill/>
        </p:spPr>
        <p:txBody>
          <a:bodyPr wrap="none" rtlCol="0">
            <a:spAutoFit/>
          </a:bodyPr>
          <a:lstStyle/>
          <a:p>
            <a:r>
              <a:rPr lang="en-US" sz="1400" b="1" dirty="0">
                <a:solidFill>
                  <a:schemeClr val="accent6">
                    <a:lumMod val="40000"/>
                    <a:lumOff val="60000"/>
                  </a:schemeClr>
                </a:solidFill>
              </a:rPr>
              <a:t>Just Right</a:t>
            </a:r>
            <a:endParaRPr lang="en-IN" sz="1400" b="1" dirty="0">
              <a:solidFill>
                <a:schemeClr val="accent6">
                  <a:lumMod val="40000"/>
                  <a:lumOff val="60000"/>
                </a:schemeClr>
              </a:solidFill>
            </a:endParaRPr>
          </a:p>
        </p:txBody>
      </p:sp>
      <p:sp>
        <p:nvSpPr>
          <p:cNvPr id="9" name="TextBox 8">
            <a:extLst>
              <a:ext uri="{FF2B5EF4-FFF2-40B4-BE49-F238E27FC236}">
                <a16:creationId xmlns:a16="http://schemas.microsoft.com/office/drawing/2014/main" id="{A5D6C5E2-F088-1F72-EF73-14781CF84322}"/>
              </a:ext>
            </a:extLst>
          </p:cNvPr>
          <p:cNvSpPr txBox="1"/>
          <p:nvPr/>
        </p:nvSpPr>
        <p:spPr>
          <a:xfrm>
            <a:off x="10067676" y="6418034"/>
            <a:ext cx="829586" cy="307777"/>
          </a:xfrm>
          <a:prstGeom prst="rect">
            <a:avLst/>
          </a:prstGeom>
          <a:noFill/>
        </p:spPr>
        <p:txBody>
          <a:bodyPr wrap="none" rtlCol="0">
            <a:spAutoFit/>
          </a:bodyPr>
          <a:lstStyle/>
          <a:p>
            <a:r>
              <a:rPr lang="en-US" sz="1400" b="1" dirty="0">
                <a:solidFill>
                  <a:schemeClr val="accent6">
                    <a:lumMod val="40000"/>
                    <a:lumOff val="60000"/>
                  </a:schemeClr>
                </a:solidFill>
              </a:rPr>
              <a:t>Too High</a:t>
            </a:r>
            <a:endParaRPr lang="en-IN" sz="1400" b="1" dirty="0">
              <a:solidFill>
                <a:schemeClr val="accent6">
                  <a:lumMod val="40000"/>
                  <a:lumOff val="60000"/>
                </a:schemeClr>
              </a:solidFill>
            </a:endParaRPr>
          </a:p>
        </p:txBody>
      </p:sp>
      <p:sp>
        <p:nvSpPr>
          <p:cNvPr id="5" name="Content Placeholder 4">
            <a:extLst>
              <a:ext uri="{FF2B5EF4-FFF2-40B4-BE49-F238E27FC236}">
                <a16:creationId xmlns:a16="http://schemas.microsoft.com/office/drawing/2014/main" id="{5393484E-B0E6-73E8-CB27-41E15D6C5347}"/>
              </a:ext>
            </a:extLst>
          </p:cNvPr>
          <p:cNvSpPr>
            <a:spLocks noGrp="1"/>
          </p:cNvSpPr>
          <p:nvPr>
            <p:ph idx="1"/>
          </p:nvPr>
        </p:nvSpPr>
        <p:spPr>
          <a:xfrm>
            <a:off x="838200" y="2167523"/>
            <a:ext cx="10515600" cy="2293150"/>
          </a:xfrm>
        </p:spPr>
        <p:txBody>
          <a:bodyPr>
            <a:normAutofit fontScale="55000" lnSpcReduction="20000"/>
          </a:bodyPr>
          <a:lstStyle/>
          <a:p>
            <a:pPr marL="0" indent="0" algn="l" fontAlgn="ctr">
              <a:spcBef>
                <a:spcPts val="1500"/>
              </a:spcBef>
              <a:spcAft>
                <a:spcPts val="750"/>
              </a:spcAft>
              <a:buNone/>
            </a:pPr>
            <a:r>
              <a:rPr lang="en-US" b="1" dirty="0">
                <a:solidFill>
                  <a:schemeClr val="accent6">
                    <a:lumMod val="40000"/>
                    <a:lumOff val="60000"/>
                  </a:schemeClr>
                </a:solidFill>
                <a:latin typeface="Google Sans"/>
              </a:rPr>
              <a:t>Another definition common in literature: </a:t>
            </a:r>
          </a:p>
          <a:p>
            <a:pPr marL="0" indent="0" algn="l" fontAlgn="ctr">
              <a:spcBef>
                <a:spcPts val="1500"/>
              </a:spcBef>
              <a:spcAft>
                <a:spcPts val="750"/>
              </a:spcAft>
              <a:buNone/>
            </a:pPr>
            <a:r>
              <a:rPr lang="en-US" b="0" i="0" dirty="0">
                <a:solidFill>
                  <a:schemeClr val="accent6">
                    <a:lumMod val="40000"/>
                    <a:lumOff val="60000"/>
                  </a:schemeClr>
                </a:solidFill>
                <a:effectLst/>
                <a:latin typeface="Google Sans"/>
              </a:rPr>
              <a:t>Learning rate for updating model weights in Stochastic Gradient Descent (SGD):</a:t>
            </a:r>
          </a:p>
          <a:p>
            <a:pPr marL="0" indent="0" algn="l">
              <a:spcBef>
                <a:spcPts val="750"/>
              </a:spcBef>
              <a:spcAft>
                <a:spcPts val="600"/>
              </a:spcAft>
              <a:buNone/>
            </a:pPr>
            <a:r>
              <a:rPr lang="en-US" b="1" i="0" dirty="0" err="1">
                <a:solidFill>
                  <a:schemeClr val="accent6">
                    <a:lumMod val="40000"/>
                    <a:lumOff val="60000"/>
                  </a:schemeClr>
                </a:solidFill>
                <a:effectLst/>
                <a:latin typeface="Google Sans"/>
              </a:rPr>
              <a:t>new_weight</a:t>
            </a:r>
            <a:r>
              <a:rPr lang="en-US" b="1" i="0" dirty="0">
                <a:solidFill>
                  <a:schemeClr val="accent6">
                    <a:lumMod val="40000"/>
                    <a:lumOff val="60000"/>
                  </a:schemeClr>
                </a:solidFill>
                <a:effectLst/>
                <a:latin typeface="Google Sans"/>
              </a:rPr>
              <a:t> &lt;- </a:t>
            </a:r>
            <a:r>
              <a:rPr lang="en-US" b="1" i="0" dirty="0" err="1">
                <a:solidFill>
                  <a:schemeClr val="accent6">
                    <a:lumMod val="40000"/>
                    <a:lumOff val="60000"/>
                  </a:schemeClr>
                </a:solidFill>
                <a:effectLst/>
                <a:latin typeface="Google Sans"/>
              </a:rPr>
              <a:t>old_weight</a:t>
            </a:r>
            <a:r>
              <a:rPr lang="en-US" b="1" i="0" dirty="0">
                <a:solidFill>
                  <a:schemeClr val="accent6">
                    <a:lumMod val="40000"/>
                    <a:lumOff val="60000"/>
                  </a:schemeClr>
                </a:solidFill>
                <a:effectLst/>
                <a:latin typeface="Google Sans"/>
              </a:rPr>
              <a:t> — (</a:t>
            </a:r>
            <a:r>
              <a:rPr lang="en-US" b="1" i="0" dirty="0" err="1">
                <a:solidFill>
                  <a:schemeClr val="accent6">
                    <a:lumMod val="40000"/>
                    <a:lumOff val="60000"/>
                  </a:schemeClr>
                </a:solidFill>
                <a:effectLst/>
                <a:latin typeface="Google Sans"/>
              </a:rPr>
              <a:t>learning_rate</a:t>
            </a:r>
            <a:r>
              <a:rPr lang="en-US" b="1" i="0" dirty="0">
                <a:solidFill>
                  <a:schemeClr val="accent6">
                    <a:lumMod val="40000"/>
                    <a:lumOff val="60000"/>
                  </a:schemeClr>
                </a:solidFill>
                <a:effectLst/>
                <a:latin typeface="Google Sans"/>
              </a:rPr>
              <a:t> * gradient)</a:t>
            </a:r>
          </a:p>
          <a:p>
            <a:pPr marL="0" indent="0" algn="l">
              <a:spcBef>
                <a:spcPts val="750"/>
              </a:spcBef>
              <a:spcAft>
                <a:spcPts val="600"/>
              </a:spcAft>
              <a:buNone/>
            </a:pPr>
            <a:r>
              <a:rPr lang="en-US" dirty="0">
                <a:solidFill>
                  <a:schemeClr val="accent6">
                    <a:lumMod val="40000"/>
                    <a:lumOff val="60000"/>
                  </a:schemeClr>
                </a:solidFill>
                <a:latin typeface="Google Sans"/>
              </a:rPr>
              <a:t>w &lt;- w – α * </a:t>
            </a:r>
            <a:r>
              <a:rPr lang="en-IN" b="0" i="0" dirty="0">
                <a:solidFill>
                  <a:schemeClr val="accent6">
                    <a:lumMod val="40000"/>
                    <a:lumOff val="60000"/>
                  </a:schemeClr>
                </a:solidFill>
                <a:effectLst/>
                <a:latin typeface="Google Sans"/>
              </a:rPr>
              <a:t>∇</a:t>
            </a:r>
            <a:r>
              <a:rPr lang="en-US" dirty="0">
                <a:solidFill>
                  <a:schemeClr val="accent6">
                    <a:lumMod val="40000"/>
                    <a:lumOff val="60000"/>
                  </a:schemeClr>
                </a:solidFill>
                <a:latin typeface="Google Sans"/>
              </a:rPr>
              <a:t>J(</a:t>
            </a:r>
            <a:r>
              <a:rPr lang="el-GR" dirty="0">
                <a:solidFill>
                  <a:schemeClr val="accent6">
                    <a:lumMod val="40000"/>
                    <a:lumOff val="60000"/>
                  </a:schemeClr>
                </a:solidFill>
                <a:latin typeface="Times New Roman" panose="02020603050405020304" pitchFamily="18" charset="0"/>
                <a:cs typeface="Times New Roman" panose="02020603050405020304" pitchFamily="18" charset="0"/>
              </a:rPr>
              <a:t>θ</a:t>
            </a:r>
            <a:r>
              <a:rPr lang="en-US" dirty="0">
                <a:solidFill>
                  <a:schemeClr val="accent6">
                    <a:lumMod val="40000"/>
                    <a:lumOff val="60000"/>
                  </a:schemeClr>
                </a:solidFill>
                <a:latin typeface="Times New Roman" panose="02020603050405020304" pitchFamily="18" charset="0"/>
                <a:cs typeface="Times New Roman" panose="02020603050405020304" pitchFamily="18" charset="0"/>
              </a:rPr>
              <a:t>)</a:t>
            </a:r>
            <a:endParaRPr lang="en-US" b="0" i="0" dirty="0">
              <a:solidFill>
                <a:schemeClr val="accent6">
                  <a:lumMod val="40000"/>
                  <a:lumOff val="60000"/>
                </a:schemeClr>
              </a:solidFill>
              <a:effectLst/>
              <a:latin typeface="Google Sans"/>
            </a:endParaRPr>
          </a:p>
          <a:p>
            <a:pPr algn="l">
              <a:spcBef>
                <a:spcPts val="750"/>
              </a:spcBef>
              <a:spcAft>
                <a:spcPts val="600"/>
              </a:spcAft>
              <a:buFont typeface="Arial" panose="020B0604020202020204" pitchFamily="34" charset="0"/>
              <a:buChar char="•"/>
            </a:pPr>
            <a:r>
              <a:rPr lang="en-US" b="1" i="0" dirty="0">
                <a:solidFill>
                  <a:schemeClr val="accent6">
                    <a:lumMod val="40000"/>
                    <a:lumOff val="60000"/>
                  </a:schemeClr>
                </a:solidFill>
                <a:effectLst/>
                <a:latin typeface="Google Sans"/>
              </a:rPr>
              <a:t>Learning rate </a:t>
            </a:r>
            <a:r>
              <a:rPr lang="en-US" dirty="0">
                <a:solidFill>
                  <a:schemeClr val="accent6">
                    <a:lumMod val="40000"/>
                    <a:lumOff val="60000"/>
                  </a:schemeClr>
                </a:solidFill>
                <a:latin typeface="Google Sans"/>
              </a:rPr>
              <a:t>α </a:t>
            </a:r>
            <a:r>
              <a:rPr lang="en-US" b="0" i="0" dirty="0">
                <a:solidFill>
                  <a:schemeClr val="accent6">
                    <a:lumMod val="40000"/>
                    <a:lumOff val="60000"/>
                  </a:schemeClr>
                </a:solidFill>
                <a:effectLst/>
                <a:latin typeface="Google Sans"/>
              </a:rPr>
              <a:t>: A hyperparameter that controls the size of steps taken to update model </a:t>
            </a:r>
            <a:r>
              <a:rPr lang="en-US" b="0" i="0" dirty="0" err="1">
                <a:solidFill>
                  <a:schemeClr val="accent6">
                    <a:lumMod val="40000"/>
                    <a:lumOff val="60000"/>
                  </a:schemeClr>
                </a:solidFill>
                <a:effectLst/>
                <a:latin typeface="Google Sans"/>
              </a:rPr>
              <a:t>weights,w</a:t>
            </a:r>
            <a:r>
              <a:rPr lang="en-US" b="0" i="0" dirty="0">
                <a:solidFill>
                  <a:schemeClr val="accent6">
                    <a:lumMod val="40000"/>
                    <a:lumOff val="60000"/>
                  </a:schemeClr>
                </a:solidFill>
                <a:effectLst/>
                <a:latin typeface="Google Sans"/>
              </a:rPr>
              <a:t>.</a:t>
            </a:r>
          </a:p>
          <a:p>
            <a:pPr algn="l">
              <a:spcBef>
                <a:spcPts val="750"/>
              </a:spcBef>
              <a:spcAft>
                <a:spcPts val="1500"/>
              </a:spcAft>
              <a:buFont typeface="Arial" panose="020B0604020202020204" pitchFamily="34" charset="0"/>
              <a:buChar char="•"/>
            </a:pPr>
            <a:r>
              <a:rPr lang="en-US" b="1" i="0" dirty="0">
                <a:solidFill>
                  <a:schemeClr val="accent6">
                    <a:lumMod val="40000"/>
                    <a:lumOff val="60000"/>
                  </a:schemeClr>
                </a:solidFill>
                <a:effectLst/>
                <a:latin typeface="Google Sans"/>
              </a:rPr>
              <a:t>Gradient </a:t>
            </a:r>
            <a:r>
              <a:rPr lang="en-IN" b="0" i="0" dirty="0">
                <a:solidFill>
                  <a:schemeClr val="accent6">
                    <a:lumMod val="40000"/>
                    <a:lumOff val="60000"/>
                  </a:schemeClr>
                </a:solidFill>
                <a:effectLst/>
                <a:latin typeface="Google Sans"/>
              </a:rPr>
              <a:t>∇</a:t>
            </a:r>
            <a:r>
              <a:rPr lang="en-US" dirty="0">
                <a:solidFill>
                  <a:schemeClr val="accent6">
                    <a:lumMod val="40000"/>
                    <a:lumOff val="60000"/>
                  </a:schemeClr>
                </a:solidFill>
                <a:latin typeface="Google Sans"/>
              </a:rPr>
              <a:t>J(</a:t>
            </a:r>
            <a:r>
              <a:rPr lang="el-GR" dirty="0">
                <a:solidFill>
                  <a:schemeClr val="accent6">
                    <a:lumMod val="40000"/>
                    <a:lumOff val="60000"/>
                  </a:schemeClr>
                </a:solidFill>
                <a:latin typeface="Times New Roman" panose="02020603050405020304" pitchFamily="18" charset="0"/>
                <a:cs typeface="Times New Roman" panose="02020603050405020304" pitchFamily="18" charset="0"/>
              </a:rPr>
              <a:t>θ</a:t>
            </a:r>
            <a:r>
              <a:rPr lang="en-US" dirty="0">
                <a:solidFill>
                  <a:schemeClr val="accent6">
                    <a:lumMod val="40000"/>
                    <a:lumOff val="60000"/>
                  </a:schemeClr>
                </a:solidFill>
                <a:latin typeface="Times New Roman" panose="02020603050405020304" pitchFamily="18" charset="0"/>
                <a:cs typeface="Times New Roman" panose="02020603050405020304" pitchFamily="18" charset="0"/>
              </a:rPr>
              <a:t>) </a:t>
            </a:r>
            <a:r>
              <a:rPr lang="en-US" b="0" i="0" dirty="0">
                <a:solidFill>
                  <a:schemeClr val="accent6">
                    <a:lumMod val="40000"/>
                    <a:lumOff val="60000"/>
                  </a:schemeClr>
                </a:solidFill>
                <a:effectLst/>
                <a:latin typeface="Google Sans"/>
              </a:rPr>
              <a:t>: The derivative of the loss function with respect to the model's weights</a:t>
            </a:r>
          </a:p>
          <a:p>
            <a:endParaRPr lang="en-IN" dirty="0">
              <a:solidFill>
                <a:schemeClr val="accent6">
                  <a:lumMod val="40000"/>
                  <a:lumOff val="60000"/>
                </a:schemeClr>
              </a:solidFill>
            </a:endParaRPr>
          </a:p>
          <a:p>
            <a:endParaRPr lang="en-IN" dirty="0">
              <a:solidFill>
                <a:schemeClr val="accent6">
                  <a:lumMod val="40000"/>
                  <a:lumOff val="60000"/>
                </a:schemeClr>
              </a:solidFill>
            </a:endParaRPr>
          </a:p>
        </p:txBody>
      </p:sp>
      <p:pic>
        <p:nvPicPr>
          <p:cNvPr id="4" name="Picture 3">
            <a:extLst>
              <a:ext uri="{FF2B5EF4-FFF2-40B4-BE49-F238E27FC236}">
                <a16:creationId xmlns:a16="http://schemas.microsoft.com/office/drawing/2014/main" id="{ACD93012-E4DB-FB71-3D90-5E3945E0B35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62439" y="814296"/>
            <a:ext cx="4701947" cy="1158340"/>
          </a:xfrm>
          <a:prstGeom prst="rect">
            <a:avLst/>
          </a:prstGeom>
        </p:spPr>
      </p:pic>
      <p:sp>
        <p:nvSpPr>
          <p:cNvPr id="10" name="TextBox 9">
            <a:extLst>
              <a:ext uri="{FF2B5EF4-FFF2-40B4-BE49-F238E27FC236}">
                <a16:creationId xmlns:a16="http://schemas.microsoft.com/office/drawing/2014/main" id="{76EB7155-97A0-3E9A-4E0D-E9B1F2903E7A}"/>
              </a:ext>
            </a:extLst>
          </p:cNvPr>
          <p:cNvSpPr txBox="1"/>
          <p:nvPr/>
        </p:nvSpPr>
        <p:spPr>
          <a:xfrm>
            <a:off x="1208600" y="1176793"/>
            <a:ext cx="1840119" cy="369332"/>
          </a:xfrm>
          <a:prstGeom prst="rect">
            <a:avLst/>
          </a:prstGeom>
          <a:noFill/>
        </p:spPr>
        <p:txBody>
          <a:bodyPr wrap="none" rtlCol="0">
            <a:spAutoFit/>
          </a:bodyPr>
          <a:lstStyle/>
          <a:p>
            <a:r>
              <a:rPr lang="en-US" dirty="0">
                <a:solidFill>
                  <a:schemeClr val="accent6">
                    <a:lumMod val="40000"/>
                    <a:lumOff val="60000"/>
                  </a:schemeClr>
                </a:solidFill>
              </a:rPr>
              <a:t>Simple definition:</a:t>
            </a:r>
            <a:endParaRPr lang="en-IN" dirty="0">
              <a:solidFill>
                <a:schemeClr val="accent6">
                  <a:lumMod val="40000"/>
                  <a:lumOff val="60000"/>
                </a:schemeClr>
              </a:solidFill>
            </a:endParaRPr>
          </a:p>
        </p:txBody>
      </p:sp>
    </p:spTree>
    <p:extLst>
      <p:ext uri="{BB962C8B-B14F-4D97-AF65-F5344CB8AC3E}">
        <p14:creationId xmlns:p14="http://schemas.microsoft.com/office/powerpoint/2010/main" val="22646679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086756-F99C-6B40-B458-90995E015B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0452AE-451D-0B3A-4759-AA02BFCF206A}"/>
              </a:ext>
            </a:extLst>
          </p:cNvPr>
          <p:cNvSpPr>
            <a:spLocks noGrp="1"/>
          </p:cNvSpPr>
          <p:nvPr>
            <p:ph type="title"/>
          </p:nvPr>
        </p:nvSpPr>
        <p:spPr>
          <a:xfrm>
            <a:off x="838199" y="172618"/>
            <a:ext cx="11181347" cy="657559"/>
          </a:xfrm>
        </p:spPr>
        <p:txBody>
          <a:bodyPr>
            <a:normAutofit/>
          </a:bodyPr>
          <a:lstStyle/>
          <a:p>
            <a:r>
              <a:rPr lang="en-US" sz="3200" b="1" dirty="0">
                <a:solidFill>
                  <a:schemeClr val="accent6">
                    <a:lumMod val="40000"/>
                    <a:lumOff val="60000"/>
                  </a:schemeClr>
                </a:solidFill>
              </a:rPr>
              <a:t>Techniques for Adjusting the Learning Rate in Neural Networks(p1)</a:t>
            </a:r>
            <a:endParaRPr lang="en-IN" sz="3200" b="1" dirty="0">
              <a:solidFill>
                <a:schemeClr val="accent6">
                  <a:lumMod val="40000"/>
                  <a:lumOff val="60000"/>
                </a:schemeClr>
              </a:solidFill>
            </a:endParaRPr>
          </a:p>
        </p:txBody>
      </p:sp>
      <p:sp>
        <p:nvSpPr>
          <p:cNvPr id="3" name="Content Placeholder 2">
            <a:extLst>
              <a:ext uri="{FF2B5EF4-FFF2-40B4-BE49-F238E27FC236}">
                <a16:creationId xmlns:a16="http://schemas.microsoft.com/office/drawing/2014/main" id="{5AAA4657-DCD6-D47B-E5F5-AAB445906E04}"/>
              </a:ext>
            </a:extLst>
          </p:cNvPr>
          <p:cNvSpPr>
            <a:spLocks noGrp="1"/>
          </p:cNvSpPr>
          <p:nvPr>
            <p:ph idx="1"/>
          </p:nvPr>
        </p:nvSpPr>
        <p:spPr>
          <a:xfrm>
            <a:off x="838200" y="1199982"/>
            <a:ext cx="10515600" cy="4351338"/>
          </a:xfrm>
        </p:spPr>
        <p:txBody>
          <a:bodyPr/>
          <a:lstStyle/>
          <a:p>
            <a:pPr marL="514350" indent="-514350">
              <a:buAutoNum type="arabicPeriod"/>
            </a:pPr>
            <a:r>
              <a:rPr lang="en-US" b="1" dirty="0">
                <a:solidFill>
                  <a:schemeClr val="accent6">
                    <a:lumMod val="40000"/>
                    <a:lumOff val="60000"/>
                  </a:schemeClr>
                </a:solidFill>
              </a:rPr>
              <a:t>Fixed Learning Rate (</a:t>
            </a:r>
            <a:r>
              <a:rPr lang="en-US" dirty="0">
                <a:solidFill>
                  <a:schemeClr val="accent6">
                    <a:lumMod val="40000"/>
                    <a:lumOff val="60000"/>
                  </a:schemeClr>
                </a:solidFill>
                <a:latin typeface="Google Sans"/>
              </a:rPr>
              <a:t>α</a:t>
            </a:r>
            <a:r>
              <a:rPr lang="en-US" b="1" dirty="0">
                <a:solidFill>
                  <a:schemeClr val="accent6">
                    <a:lumMod val="40000"/>
                    <a:lumOff val="60000"/>
                  </a:schemeClr>
                </a:solidFill>
              </a:rPr>
              <a:t>)</a:t>
            </a:r>
            <a:r>
              <a:rPr lang="en-US" dirty="0">
                <a:solidFill>
                  <a:schemeClr val="accent6">
                    <a:lumMod val="40000"/>
                    <a:lumOff val="60000"/>
                  </a:schemeClr>
                </a:solidFill>
              </a:rPr>
              <a:t>: It is a common optimization approach where a </a:t>
            </a:r>
            <a:r>
              <a:rPr lang="en-US" b="1" dirty="0">
                <a:solidFill>
                  <a:schemeClr val="accent6">
                    <a:lumMod val="40000"/>
                    <a:lumOff val="60000"/>
                  </a:schemeClr>
                </a:solidFill>
              </a:rPr>
              <a:t>constant learning rate</a:t>
            </a:r>
            <a:r>
              <a:rPr lang="en-US" dirty="0">
                <a:solidFill>
                  <a:schemeClr val="accent6">
                    <a:lumMod val="40000"/>
                    <a:lumOff val="60000"/>
                  </a:schemeClr>
                </a:solidFill>
              </a:rPr>
              <a:t> is selected and maintained throughout the training process. Initially, parameters are assigned random values, and a cost function is generated based on these initial values. The algorithm then iteratively improves the parameter estimations to </a:t>
            </a:r>
            <a:r>
              <a:rPr lang="en-US" b="1" dirty="0">
                <a:solidFill>
                  <a:schemeClr val="accent6">
                    <a:lumMod val="40000"/>
                    <a:lumOff val="60000"/>
                  </a:schemeClr>
                </a:solidFill>
              </a:rPr>
              <a:t>minimize the cost function</a:t>
            </a:r>
            <a:r>
              <a:rPr lang="en-US" dirty="0">
                <a:solidFill>
                  <a:schemeClr val="accent6">
                    <a:lumMod val="40000"/>
                    <a:lumOff val="60000"/>
                  </a:schemeClr>
                </a:solidFill>
              </a:rPr>
              <a:t>. </a:t>
            </a:r>
          </a:p>
          <a:p>
            <a:pPr marL="0" indent="0">
              <a:buNone/>
            </a:pPr>
            <a:r>
              <a:rPr lang="en-US" b="0" i="0" dirty="0">
                <a:solidFill>
                  <a:schemeClr val="accent6">
                    <a:lumMod val="40000"/>
                    <a:lumOff val="60000"/>
                  </a:schemeClr>
                </a:solidFill>
                <a:effectLst/>
              </a:rPr>
              <a:t>- Used in small datasets or linear models with straightforward optimization goals.</a:t>
            </a:r>
          </a:p>
        </p:txBody>
      </p:sp>
    </p:spTree>
    <p:extLst>
      <p:ext uri="{BB962C8B-B14F-4D97-AF65-F5344CB8AC3E}">
        <p14:creationId xmlns:p14="http://schemas.microsoft.com/office/powerpoint/2010/main" val="33792643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C91CB3-AE3F-7F64-B28F-D9D28FFDC7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E118F0-ACA3-B6F1-DAD1-93C15367BF5F}"/>
              </a:ext>
            </a:extLst>
          </p:cNvPr>
          <p:cNvSpPr>
            <a:spLocks noGrp="1"/>
          </p:cNvSpPr>
          <p:nvPr>
            <p:ph type="title"/>
          </p:nvPr>
        </p:nvSpPr>
        <p:spPr>
          <a:xfrm>
            <a:off x="204537" y="124491"/>
            <a:ext cx="11149263" cy="657559"/>
          </a:xfrm>
        </p:spPr>
        <p:txBody>
          <a:bodyPr>
            <a:normAutofit/>
          </a:bodyPr>
          <a:lstStyle/>
          <a:p>
            <a:r>
              <a:rPr lang="en-US" sz="3200" b="1" dirty="0">
                <a:solidFill>
                  <a:schemeClr val="accent6">
                    <a:lumMod val="40000"/>
                    <a:lumOff val="60000"/>
                  </a:schemeClr>
                </a:solidFill>
              </a:rPr>
              <a:t>Techniques for Adjusting the Learning Rate in Neural Networks(p1)</a:t>
            </a:r>
            <a:endParaRPr lang="en-IN" sz="3200" b="1" dirty="0">
              <a:solidFill>
                <a:schemeClr val="accent6">
                  <a:lumMod val="40000"/>
                  <a:lumOff val="60000"/>
                </a:schemeClr>
              </a:solidFill>
            </a:endParaRPr>
          </a:p>
        </p:txBody>
      </p:sp>
      <p:sp>
        <p:nvSpPr>
          <p:cNvPr id="3" name="Content Placeholder 2">
            <a:extLst>
              <a:ext uri="{FF2B5EF4-FFF2-40B4-BE49-F238E27FC236}">
                <a16:creationId xmlns:a16="http://schemas.microsoft.com/office/drawing/2014/main" id="{5B48E564-C41A-B832-4174-0114A882E9C8}"/>
              </a:ext>
            </a:extLst>
          </p:cNvPr>
          <p:cNvSpPr>
            <a:spLocks noGrp="1"/>
          </p:cNvSpPr>
          <p:nvPr>
            <p:ph idx="1"/>
          </p:nvPr>
        </p:nvSpPr>
        <p:spPr>
          <a:xfrm>
            <a:off x="204537" y="802937"/>
            <a:ext cx="11778915" cy="2854663"/>
          </a:xfrm>
        </p:spPr>
        <p:txBody>
          <a:bodyPr>
            <a:normAutofit fontScale="92500" lnSpcReduction="20000"/>
          </a:bodyPr>
          <a:lstStyle/>
          <a:p>
            <a:pPr marL="0" indent="0">
              <a:buNone/>
            </a:pPr>
            <a:r>
              <a:rPr lang="en-US" dirty="0">
                <a:solidFill>
                  <a:schemeClr val="accent6">
                    <a:lumMod val="40000"/>
                    <a:lumOff val="60000"/>
                  </a:schemeClr>
                </a:solidFill>
              </a:rPr>
              <a:t>2. </a:t>
            </a:r>
            <a:r>
              <a:rPr lang="en-US" b="1" dirty="0">
                <a:solidFill>
                  <a:schemeClr val="accent6">
                    <a:lumMod val="40000"/>
                    <a:lumOff val="60000"/>
                  </a:schemeClr>
                </a:solidFill>
              </a:rPr>
              <a:t>Learning Rate Schedules:</a:t>
            </a:r>
            <a:r>
              <a:rPr lang="en-US" dirty="0">
                <a:solidFill>
                  <a:schemeClr val="accent6">
                    <a:lumMod val="40000"/>
                    <a:lumOff val="60000"/>
                  </a:schemeClr>
                </a:solidFill>
              </a:rPr>
              <a:t> It adjust the learning rate based on predefined rules or functions, enhancing convergence and performance. Some common methods include:</a:t>
            </a:r>
          </a:p>
          <a:p>
            <a:pPr marL="0" indent="0">
              <a:buNone/>
            </a:pPr>
            <a:r>
              <a:rPr lang="en-US" dirty="0">
                <a:solidFill>
                  <a:schemeClr val="accent6">
                    <a:lumMod val="40000"/>
                    <a:lumOff val="60000"/>
                  </a:schemeClr>
                </a:solidFill>
              </a:rPr>
              <a:t>a) Step Decay: The learning rate decreases by a specific factor at designated epochs or after a fixed number of iterations.</a:t>
            </a:r>
          </a:p>
          <a:p>
            <a:pPr marL="0" indent="0">
              <a:buNone/>
            </a:pPr>
            <a:r>
              <a:rPr lang="en-US" dirty="0">
                <a:solidFill>
                  <a:schemeClr val="accent6">
                    <a:lumMod val="40000"/>
                    <a:lumOff val="60000"/>
                  </a:schemeClr>
                </a:solidFill>
              </a:rPr>
              <a:t>b) Exponential Decay: The learning rate is reduced exponentially over time, allowing for a rapid decrease in the initial phases of training.</a:t>
            </a:r>
          </a:p>
          <a:p>
            <a:pPr marL="0" indent="0">
              <a:buNone/>
            </a:pPr>
            <a:r>
              <a:rPr lang="en-US" dirty="0">
                <a:solidFill>
                  <a:schemeClr val="accent6">
                    <a:lumMod val="40000"/>
                    <a:lumOff val="60000"/>
                  </a:schemeClr>
                </a:solidFill>
              </a:rPr>
              <a:t>c) Polynomial Decay: The learning rate decreases </a:t>
            </a:r>
            <a:r>
              <a:rPr lang="en-US" dirty="0" err="1">
                <a:solidFill>
                  <a:schemeClr val="accent6">
                    <a:lumMod val="40000"/>
                    <a:lumOff val="60000"/>
                  </a:schemeClr>
                </a:solidFill>
              </a:rPr>
              <a:t>polynomially</a:t>
            </a:r>
            <a:r>
              <a:rPr lang="en-US" dirty="0">
                <a:solidFill>
                  <a:schemeClr val="accent6">
                    <a:lumMod val="40000"/>
                    <a:lumOff val="60000"/>
                  </a:schemeClr>
                </a:solidFill>
              </a:rPr>
              <a:t> over time, providing a smoother reduction.</a:t>
            </a:r>
          </a:p>
          <a:p>
            <a:endParaRPr lang="en-IN" dirty="0">
              <a:solidFill>
                <a:schemeClr val="accent6">
                  <a:lumMod val="40000"/>
                  <a:lumOff val="60000"/>
                </a:schemeClr>
              </a:solidFill>
            </a:endParaRPr>
          </a:p>
        </p:txBody>
      </p:sp>
      <p:pic>
        <p:nvPicPr>
          <p:cNvPr id="6" name="Picture 5">
            <a:extLst>
              <a:ext uri="{FF2B5EF4-FFF2-40B4-BE49-F238E27FC236}">
                <a16:creationId xmlns:a16="http://schemas.microsoft.com/office/drawing/2014/main" id="{B4AE9AF8-D97D-5256-3F7C-C8E1259229F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76722" y="3545869"/>
            <a:ext cx="4485778" cy="2940774"/>
          </a:xfrm>
          <a:prstGeom prst="rect">
            <a:avLst/>
          </a:prstGeom>
        </p:spPr>
      </p:pic>
      <p:sp>
        <p:nvSpPr>
          <p:cNvPr id="8" name="TextBox 7">
            <a:extLst>
              <a:ext uri="{FF2B5EF4-FFF2-40B4-BE49-F238E27FC236}">
                <a16:creationId xmlns:a16="http://schemas.microsoft.com/office/drawing/2014/main" id="{9C64D296-DA37-4BA6-8398-5F7730E74AC0}"/>
              </a:ext>
            </a:extLst>
          </p:cNvPr>
          <p:cNvSpPr txBox="1"/>
          <p:nvPr/>
        </p:nvSpPr>
        <p:spPr>
          <a:xfrm>
            <a:off x="1179095" y="6516933"/>
            <a:ext cx="1198661" cy="369332"/>
          </a:xfrm>
          <a:prstGeom prst="rect">
            <a:avLst/>
          </a:prstGeom>
          <a:noFill/>
        </p:spPr>
        <p:txBody>
          <a:bodyPr wrap="none" rtlCol="0">
            <a:spAutoFit/>
          </a:bodyPr>
          <a:lstStyle/>
          <a:p>
            <a:r>
              <a:rPr lang="en-US" dirty="0">
                <a:solidFill>
                  <a:schemeClr val="accent6">
                    <a:lumMod val="40000"/>
                    <a:lumOff val="60000"/>
                  </a:schemeClr>
                </a:solidFill>
              </a:rPr>
              <a:t>Step decay</a:t>
            </a:r>
            <a:endParaRPr lang="en-IN" dirty="0">
              <a:solidFill>
                <a:schemeClr val="accent6">
                  <a:lumMod val="40000"/>
                  <a:lumOff val="60000"/>
                </a:schemeClr>
              </a:solidFill>
            </a:endParaRPr>
          </a:p>
        </p:txBody>
      </p:sp>
      <p:pic>
        <p:nvPicPr>
          <p:cNvPr id="11" name="Picture 10">
            <a:extLst>
              <a:ext uri="{FF2B5EF4-FFF2-40B4-BE49-F238E27FC236}">
                <a16:creationId xmlns:a16="http://schemas.microsoft.com/office/drawing/2014/main" id="{0EAD85B8-B9EA-59B4-3966-3E7581ABEEB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411699" y="3497754"/>
            <a:ext cx="4332376" cy="3078163"/>
          </a:xfrm>
          <a:prstGeom prst="rect">
            <a:avLst/>
          </a:prstGeom>
        </p:spPr>
      </p:pic>
      <p:sp>
        <p:nvSpPr>
          <p:cNvPr id="4" name="TextBox 3">
            <a:extLst>
              <a:ext uri="{FF2B5EF4-FFF2-40B4-BE49-F238E27FC236}">
                <a16:creationId xmlns:a16="http://schemas.microsoft.com/office/drawing/2014/main" id="{D7BED533-0F42-EC17-BBA9-070F9FA2004C}"/>
              </a:ext>
            </a:extLst>
          </p:cNvPr>
          <p:cNvSpPr txBox="1"/>
          <p:nvPr/>
        </p:nvSpPr>
        <p:spPr>
          <a:xfrm>
            <a:off x="6309010" y="6542113"/>
            <a:ext cx="1886735" cy="369332"/>
          </a:xfrm>
          <a:prstGeom prst="rect">
            <a:avLst/>
          </a:prstGeom>
          <a:noFill/>
        </p:spPr>
        <p:txBody>
          <a:bodyPr wrap="none" rtlCol="0">
            <a:spAutoFit/>
          </a:bodyPr>
          <a:lstStyle/>
          <a:p>
            <a:r>
              <a:rPr lang="en-US" dirty="0">
                <a:solidFill>
                  <a:schemeClr val="accent6">
                    <a:lumMod val="40000"/>
                    <a:lumOff val="60000"/>
                  </a:schemeClr>
                </a:solidFill>
              </a:rPr>
              <a:t>Exponential decay</a:t>
            </a:r>
            <a:endParaRPr lang="en-IN" dirty="0">
              <a:solidFill>
                <a:schemeClr val="accent6">
                  <a:lumMod val="40000"/>
                  <a:lumOff val="60000"/>
                </a:schemeClr>
              </a:solidFill>
            </a:endParaRPr>
          </a:p>
        </p:txBody>
      </p:sp>
    </p:spTree>
    <p:extLst>
      <p:ext uri="{BB962C8B-B14F-4D97-AF65-F5344CB8AC3E}">
        <p14:creationId xmlns:p14="http://schemas.microsoft.com/office/powerpoint/2010/main" val="21258908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140598-D0CC-34FA-5AB9-7576B2282B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2A7FDA-0E6E-2B53-216B-8B97F53860AA}"/>
              </a:ext>
            </a:extLst>
          </p:cNvPr>
          <p:cNvSpPr>
            <a:spLocks noGrp="1"/>
          </p:cNvSpPr>
          <p:nvPr>
            <p:ph type="title"/>
          </p:nvPr>
        </p:nvSpPr>
        <p:spPr>
          <a:xfrm>
            <a:off x="204537" y="124491"/>
            <a:ext cx="11149263" cy="657559"/>
          </a:xfrm>
        </p:spPr>
        <p:txBody>
          <a:bodyPr>
            <a:normAutofit/>
          </a:bodyPr>
          <a:lstStyle/>
          <a:p>
            <a:r>
              <a:rPr lang="en-US" sz="3200" b="1" dirty="0">
                <a:solidFill>
                  <a:schemeClr val="accent6">
                    <a:lumMod val="40000"/>
                    <a:lumOff val="60000"/>
                  </a:schemeClr>
                </a:solidFill>
              </a:rPr>
              <a:t>Techniques for Adjusting the Learning Rate in Neural Networks(p1)</a:t>
            </a:r>
            <a:endParaRPr lang="en-IN" sz="3200" b="1" dirty="0">
              <a:solidFill>
                <a:schemeClr val="accent6">
                  <a:lumMod val="40000"/>
                  <a:lumOff val="60000"/>
                </a:schemeClr>
              </a:solidFill>
            </a:endParaRPr>
          </a:p>
        </p:txBody>
      </p:sp>
      <p:sp>
        <p:nvSpPr>
          <p:cNvPr id="3" name="Content Placeholder 2">
            <a:extLst>
              <a:ext uri="{FF2B5EF4-FFF2-40B4-BE49-F238E27FC236}">
                <a16:creationId xmlns:a16="http://schemas.microsoft.com/office/drawing/2014/main" id="{E6BB9D63-B026-1262-16BF-F722C1E519BB}"/>
              </a:ext>
            </a:extLst>
          </p:cNvPr>
          <p:cNvSpPr>
            <a:spLocks noGrp="1"/>
          </p:cNvSpPr>
          <p:nvPr>
            <p:ph idx="1"/>
          </p:nvPr>
        </p:nvSpPr>
        <p:spPr>
          <a:xfrm>
            <a:off x="204537" y="802937"/>
            <a:ext cx="11778915" cy="657559"/>
          </a:xfrm>
        </p:spPr>
        <p:txBody>
          <a:bodyPr>
            <a:normAutofit/>
          </a:bodyPr>
          <a:lstStyle/>
          <a:p>
            <a:pPr marL="0" indent="0">
              <a:buNone/>
            </a:pPr>
            <a:r>
              <a:rPr lang="en-US" dirty="0">
                <a:solidFill>
                  <a:schemeClr val="accent6">
                    <a:lumMod val="40000"/>
                    <a:lumOff val="60000"/>
                  </a:schemeClr>
                </a:solidFill>
              </a:rPr>
              <a:t>a) </a:t>
            </a:r>
            <a:r>
              <a:rPr lang="en-US" b="1" dirty="0">
                <a:solidFill>
                  <a:schemeClr val="accent6">
                    <a:lumMod val="40000"/>
                    <a:lumOff val="60000"/>
                  </a:schemeClr>
                </a:solidFill>
              </a:rPr>
              <a:t>Step Decay</a:t>
            </a:r>
            <a:r>
              <a:rPr lang="en-US" dirty="0">
                <a:solidFill>
                  <a:schemeClr val="accent6">
                    <a:lumMod val="40000"/>
                    <a:lumOff val="60000"/>
                  </a:schemeClr>
                </a:solidFill>
              </a:rPr>
              <a:t>:</a:t>
            </a:r>
          </a:p>
        </p:txBody>
      </p:sp>
      <p:pic>
        <p:nvPicPr>
          <p:cNvPr id="6" name="Picture 5">
            <a:extLst>
              <a:ext uri="{FF2B5EF4-FFF2-40B4-BE49-F238E27FC236}">
                <a16:creationId xmlns:a16="http://schemas.microsoft.com/office/drawing/2014/main" id="{BBA2EC17-2FBE-5C99-8690-15046BF35A8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04537" y="1512738"/>
            <a:ext cx="5009077" cy="3283836"/>
          </a:xfrm>
          <a:prstGeom prst="rect">
            <a:avLst/>
          </a:prstGeom>
        </p:spPr>
      </p:pic>
      <p:sp>
        <p:nvSpPr>
          <p:cNvPr id="7" name="TextBox 6">
            <a:extLst>
              <a:ext uri="{FF2B5EF4-FFF2-40B4-BE49-F238E27FC236}">
                <a16:creationId xmlns:a16="http://schemas.microsoft.com/office/drawing/2014/main" id="{BF065B0F-99C9-ABEF-1E42-B9B0A8F36A2D}"/>
              </a:ext>
            </a:extLst>
          </p:cNvPr>
          <p:cNvSpPr txBox="1"/>
          <p:nvPr/>
        </p:nvSpPr>
        <p:spPr>
          <a:xfrm>
            <a:off x="372977" y="4969036"/>
            <a:ext cx="10748217" cy="1938992"/>
          </a:xfrm>
          <a:prstGeom prst="rect">
            <a:avLst/>
          </a:prstGeom>
          <a:noFill/>
        </p:spPr>
        <p:txBody>
          <a:bodyPr wrap="square" rtlCol="0">
            <a:spAutoFit/>
          </a:bodyPr>
          <a:lstStyle/>
          <a:p>
            <a:r>
              <a:rPr lang="en-US" sz="2000" dirty="0">
                <a:solidFill>
                  <a:schemeClr val="accent6">
                    <a:lumMod val="40000"/>
                    <a:lumOff val="60000"/>
                  </a:schemeClr>
                </a:solidFill>
              </a:rPr>
              <a:t>STEP DECAY</a:t>
            </a:r>
          </a:p>
          <a:p>
            <a:r>
              <a:rPr lang="en-US" sz="2000" dirty="0" err="1">
                <a:solidFill>
                  <a:schemeClr val="accent6">
                    <a:lumMod val="40000"/>
                    <a:lumOff val="60000"/>
                  </a:schemeClr>
                </a:solidFill>
              </a:rPr>
              <a:t>new_lr</a:t>
            </a:r>
            <a:r>
              <a:rPr lang="en-US" sz="2000" dirty="0">
                <a:solidFill>
                  <a:schemeClr val="accent6">
                    <a:lumMod val="40000"/>
                    <a:lumOff val="60000"/>
                  </a:schemeClr>
                </a:solidFill>
              </a:rPr>
              <a:t> = </a:t>
            </a:r>
            <a:r>
              <a:rPr lang="en-US" sz="2000" dirty="0" err="1">
                <a:solidFill>
                  <a:schemeClr val="accent6">
                    <a:lumMod val="40000"/>
                    <a:lumOff val="60000"/>
                  </a:schemeClr>
                </a:solidFill>
              </a:rPr>
              <a:t>initial_lr</a:t>
            </a:r>
            <a:r>
              <a:rPr lang="en-US" sz="2000" dirty="0">
                <a:solidFill>
                  <a:schemeClr val="accent6">
                    <a:lumMod val="40000"/>
                    <a:lumOff val="60000"/>
                  </a:schemeClr>
                </a:solidFill>
              </a:rPr>
              <a:t> * (</a:t>
            </a:r>
            <a:r>
              <a:rPr lang="en-US" sz="2000" dirty="0" err="1">
                <a:solidFill>
                  <a:schemeClr val="accent6">
                    <a:lumMod val="40000"/>
                    <a:lumOff val="60000"/>
                  </a:schemeClr>
                </a:solidFill>
              </a:rPr>
              <a:t>decay_factor</a:t>
            </a:r>
            <a:r>
              <a:rPr lang="en-US" sz="2000" dirty="0">
                <a:solidFill>
                  <a:schemeClr val="accent6">
                    <a:lumMod val="40000"/>
                    <a:lumOff val="60000"/>
                  </a:schemeClr>
                </a:solidFill>
              </a:rPr>
              <a:t>) ^ (floor(epoch / </a:t>
            </a:r>
            <a:r>
              <a:rPr lang="en-US" sz="2000" dirty="0" err="1">
                <a:solidFill>
                  <a:schemeClr val="accent6">
                    <a:lumMod val="40000"/>
                    <a:lumOff val="60000"/>
                  </a:schemeClr>
                </a:solidFill>
              </a:rPr>
              <a:t>step_size</a:t>
            </a:r>
            <a:r>
              <a:rPr lang="en-US" sz="2000" dirty="0">
                <a:solidFill>
                  <a:schemeClr val="accent6">
                    <a:lumMod val="40000"/>
                    <a:lumOff val="60000"/>
                  </a:schemeClr>
                </a:solidFill>
              </a:rPr>
              <a:t>))</a:t>
            </a:r>
          </a:p>
          <a:p>
            <a:endParaRPr lang="en-US" sz="2000" dirty="0">
              <a:solidFill>
                <a:schemeClr val="accent6">
                  <a:lumMod val="40000"/>
                  <a:lumOff val="60000"/>
                </a:schemeClr>
              </a:solidFill>
            </a:endParaRPr>
          </a:p>
          <a:p>
            <a:r>
              <a:rPr lang="en-US" sz="2000" dirty="0" err="1">
                <a:solidFill>
                  <a:schemeClr val="accent6">
                    <a:lumMod val="40000"/>
                    <a:lumOff val="60000"/>
                  </a:schemeClr>
                </a:solidFill>
              </a:rPr>
              <a:t>initial_lr</a:t>
            </a:r>
            <a:r>
              <a:rPr lang="en-US" sz="2000" dirty="0">
                <a:solidFill>
                  <a:schemeClr val="accent6">
                    <a:lumMod val="40000"/>
                    <a:lumOff val="60000"/>
                  </a:schemeClr>
                </a:solidFill>
              </a:rPr>
              <a:t>: is the starting learning rate</a:t>
            </a:r>
          </a:p>
          <a:p>
            <a:r>
              <a:rPr lang="en-US" sz="2000" dirty="0" err="1">
                <a:solidFill>
                  <a:schemeClr val="accent6">
                    <a:lumMod val="40000"/>
                    <a:lumOff val="60000"/>
                  </a:schemeClr>
                </a:solidFill>
              </a:rPr>
              <a:t>decay_factor</a:t>
            </a:r>
            <a:r>
              <a:rPr lang="en-US" sz="2000" dirty="0">
                <a:solidFill>
                  <a:schemeClr val="accent6">
                    <a:lumMod val="40000"/>
                    <a:lumOff val="60000"/>
                  </a:schemeClr>
                </a:solidFill>
              </a:rPr>
              <a:t>: amount by which the learning rate is reduced at each step</a:t>
            </a:r>
          </a:p>
          <a:p>
            <a:r>
              <a:rPr lang="en-US" sz="2000" dirty="0" err="1">
                <a:solidFill>
                  <a:schemeClr val="accent6">
                    <a:lumMod val="40000"/>
                    <a:lumOff val="60000"/>
                  </a:schemeClr>
                </a:solidFill>
              </a:rPr>
              <a:t>step_size</a:t>
            </a:r>
            <a:r>
              <a:rPr lang="en-US" sz="2000" dirty="0">
                <a:solidFill>
                  <a:schemeClr val="accent6">
                    <a:lumMod val="40000"/>
                    <a:lumOff val="60000"/>
                  </a:schemeClr>
                </a:solidFill>
              </a:rPr>
              <a:t>: number of epochs after which the learning rate is reduced by the decay factor. </a:t>
            </a:r>
            <a:endParaRPr lang="en-IN" sz="2000" dirty="0">
              <a:solidFill>
                <a:schemeClr val="accent6">
                  <a:lumMod val="40000"/>
                  <a:lumOff val="60000"/>
                </a:schemeClr>
              </a:solidFill>
            </a:endParaRPr>
          </a:p>
        </p:txBody>
      </p:sp>
      <p:pic>
        <p:nvPicPr>
          <p:cNvPr id="5" name="Picture 4">
            <a:extLst>
              <a:ext uri="{FF2B5EF4-FFF2-40B4-BE49-F238E27FC236}">
                <a16:creationId xmlns:a16="http://schemas.microsoft.com/office/drawing/2014/main" id="{C20C8681-DA71-54AF-413E-A895995DC8A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2512" y="2716731"/>
            <a:ext cx="4198611" cy="765629"/>
          </a:xfrm>
          <a:prstGeom prst="rect">
            <a:avLst/>
          </a:prstGeom>
        </p:spPr>
      </p:pic>
    </p:spTree>
    <p:extLst>
      <p:ext uri="{BB962C8B-B14F-4D97-AF65-F5344CB8AC3E}">
        <p14:creationId xmlns:p14="http://schemas.microsoft.com/office/powerpoint/2010/main" val="478785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C47488-D86F-D463-FC5D-94AC5C9AF6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F537B8-4DB4-9FE6-6DA0-72BC75B0C560}"/>
              </a:ext>
            </a:extLst>
          </p:cNvPr>
          <p:cNvSpPr>
            <a:spLocks noGrp="1"/>
          </p:cNvSpPr>
          <p:nvPr>
            <p:ph type="title"/>
          </p:nvPr>
        </p:nvSpPr>
        <p:spPr>
          <a:xfrm>
            <a:off x="204537" y="124491"/>
            <a:ext cx="11149263" cy="657559"/>
          </a:xfrm>
        </p:spPr>
        <p:txBody>
          <a:bodyPr>
            <a:normAutofit/>
          </a:bodyPr>
          <a:lstStyle/>
          <a:p>
            <a:r>
              <a:rPr lang="en-US" sz="3200" b="1" dirty="0">
                <a:solidFill>
                  <a:schemeClr val="accent6">
                    <a:lumMod val="40000"/>
                    <a:lumOff val="60000"/>
                  </a:schemeClr>
                </a:solidFill>
              </a:rPr>
              <a:t>Techniques for Adjusting the Learning Rate in Neural Networks(p1)</a:t>
            </a:r>
            <a:endParaRPr lang="en-IN" sz="3200" b="1" dirty="0">
              <a:solidFill>
                <a:schemeClr val="accent6">
                  <a:lumMod val="40000"/>
                  <a:lumOff val="60000"/>
                </a:schemeClr>
              </a:solidFill>
            </a:endParaRPr>
          </a:p>
        </p:txBody>
      </p:sp>
      <p:sp>
        <p:nvSpPr>
          <p:cNvPr id="3" name="Content Placeholder 2">
            <a:extLst>
              <a:ext uri="{FF2B5EF4-FFF2-40B4-BE49-F238E27FC236}">
                <a16:creationId xmlns:a16="http://schemas.microsoft.com/office/drawing/2014/main" id="{494E022D-FA19-5921-411D-A37704DC0287}"/>
              </a:ext>
            </a:extLst>
          </p:cNvPr>
          <p:cNvSpPr>
            <a:spLocks noGrp="1"/>
          </p:cNvSpPr>
          <p:nvPr>
            <p:ph idx="1"/>
          </p:nvPr>
        </p:nvSpPr>
        <p:spPr>
          <a:xfrm>
            <a:off x="204537" y="802937"/>
            <a:ext cx="11778915" cy="1025863"/>
          </a:xfrm>
        </p:spPr>
        <p:txBody>
          <a:bodyPr>
            <a:normAutofit/>
          </a:bodyPr>
          <a:lstStyle/>
          <a:p>
            <a:pPr marL="0" indent="0">
              <a:buNone/>
            </a:pPr>
            <a:r>
              <a:rPr lang="en-US" dirty="0">
                <a:solidFill>
                  <a:schemeClr val="accent6">
                    <a:lumMod val="40000"/>
                    <a:lumOff val="60000"/>
                  </a:schemeClr>
                </a:solidFill>
              </a:rPr>
              <a:t>b) </a:t>
            </a:r>
            <a:r>
              <a:rPr lang="en-US" b="1" dirty="0">
                <a:solidFill>
                  <a:schemeClr val="accent6">
                    <a:lumMod val="40000"/>
                    <a:lumOff val="60000"/>
                  </a:schemeClr>
                </a:solidFill>
              </a:rPr>
              <a:t>Exponential Decay:</a:t>
            </a:r>
          </a:p>
        </p:txBody>
      </p:sp>
      <p:pic>
        <p:nvPicPr>
          <p:cNvPr id="5" name="Picture 4">
            <a:extLst>
              <a:ext uri="{FF2B5EF4-FFF2-40B4-BE49-F238E27FC236}">
                <a16:creationId xmlns:a16="http://schemas.microsoft.com/office/drawing/2014/main" id="{9EB7AFD9-78E2-F594-6704-A63706905B5F}"/>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092512" y="2919433"/>
            <a:ext cx="4198611" cy="725985"/>
          </a:xfrm>
          <a:prstGeom prst="rect">
            <a:avLst/>
          </a:prstGeom>
        </p:spPr>
      </p:pic>
      <p:pic>
        <p:nvPicPr>
          <p:cNvPr id="9" name="Picture 8">
            <a:extLst>
              <a:ext uri="{FF2B5EF4-FFF2-40B4-BE49-F238E27FC236}">
                <a16:creationId xmlns:a16="http://schemas.microsoft.com/office/drawing/2014/main" id="{D4EF8737-26D4-98D8-4251-CE5A35848FF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5155" y="1407694"/>
            <a:ext cx="4993119" cy="3547622"/>
          </a:xfrm>
          <a:prstGeom prst="rect">
            <a:avLst/>
          </a:prstGeom>
        </p:spPr>
      </p:pic>
    </p:spTree>
    <p:extLst>
      <p:ext uri="{BB962C8B-B14F-4D97-AF65-F5344CB8AC3E}">
        <p14:creationId xmlns:p14="http://schemas.microsoft.com/office/powerpoint/2010/main" val="2106169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936CE5-153B-883F-4B79-6BE4B30B84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F9AA23-48F2-7A69-F6F3-83511C1270C3}"/>
              </a:ext>
            </a:extLst>
          </p:cNvPr>
          <p:cNvSpPr>
            <a:spLocks noGrp="1"/>
          </p:cNvSpPr>
          <p:nvPr>
            <p:ph type="title"/>
          </p:nvPr>
        </p:nvSpPr>
        <p:spPr>
          <a:xfrm>
            <a:off x="204537" y="124491"/>
            <a:ext cx="11149263" cy="657559"/>
          </a:xfrm>
        </p:spPr>
        <p:txBody>
          <a:bodyPr>
            <a:normAutofit/>
          </a:bodyPr>
          <a:lstStyle/>
          <a:p>
            <a:r>
              <a:rPr lang="en-US" sz="3200" b="1" dirty="0">
                <a:solidFill>
                  <a:schemeClr val="accent6">
                    <a:lumMod val="40000"/>
                    <a:lumOff val="60000"/>
                  </a:schemeClr>
                </a:solidFill>
              </a:rPr>
              <a:t>Techniques for Adjusting the Learning Rate in Neural Networks(p1)</a:t>
            </a:r>
            <a:endParaRPr lang="en-IN" sz="3200" b="1" dirty="0">
              <a:solidFill>
                <a:schemeClr val="accent6">
                  <a:lumMod val="40000"/>
                  <a:lumOff val="60000"/>
                </a:schemeClr>
              </a:solidFill>
            </a:endParaRPr>
          </a:p>
        </p:txBody>
      </p:sp>
      <p:sp>
        <p:nvSpPr>
          <p:cNvPr id="3" name="Content Placeholder 2">
            <a:extLst>
              <a:ext uri="{FF2B5EF4-FFF2-40B4-BE49-F238E27FC236}">
                <a16:creationId xmlns:a16="http://schemas.microsoft.com/office/drawing/2014/main" id="{D49BD0ED-1FC6-C1B8-2F11-DF8C51263FA5}"/>
              </a:ext>
            </a:extLst>
          </p:cNvPr>
          <p:cNvSpPr>
            <a:spLocks noGrp="1"/>
          </p:cNvSpPr>
          <p:nvPr>
            <p:ph idx="1"/>
          </p:nvPr>
        </p:nvSpPr>
        <p:spPr>
          <a:xfrm>
            <a:off x="204537" y="802937"/>
            <a:ext cx="11778915" cy="657559"/>
          </a:xfrm>
        </p:spPr>
        <p:txBody>
          <a:bodyPr>
            <a:normAutofit/>
          </a:bodyPr>
          <a:lstStyle/>
          <a:p>
            <a:pPr marL="0" indent="0">
              <a:buNone/>
            </a:pPr>
            <a:r>
              <a:rPr lang="en-US" dirty="0">
                <a:solidFill>
                  <a:schemeClr val="accent6">
                    <a:lumMod val="40000"/>
                    <a:lumOff val="60000"/>
                  </a:schemeClr>
                </a:solidFill>
              </a:rPr>
              <a:t>c) </a:t>
            </a:r>
            <a:r>
              <a:rPr lang="en-US" b="1" dirty="0">
                <a:solidFill>
                  <a:schemeClr val="accent6">
                    <a:lumMod val="40000"/>
                    <a:lumOff val="60000"/>
                  </a:schemeClr>
                </a:solidFill>
              </a:rPr>
              <a:t>Polynomial Decay:</a:t>
            </a:r>
          </a:p>
        </p:txBody>
      </p:sp>
      <p:pic>
        <p:nvPicPr>
          <p:cNvPr id="5" name="Picture 4">
            <a:extLst>
              <a:ext uri="{FF2B5EF4-FFF2-40B4-BE49-F238E27FC236}">
                <a16:creationId xmlns:a16="http://schemas.microsoft.com/office/drawing/2014/main" id="{CEFD92DD-8242-1003-DE18-5634BD500820}"/>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2546231" y="1620761"/>
            <a:ext cx="4198611" cy="683495"/>
          </a:xfrm>
          <a:prstGeom prst="rect">
            <a:avLst/>
          </a:prstGeom>
        </p:spPr>
      </p:pic>
    </p:spTree>
    <p:extLst>
      <p:ext uri="{BB962C8B-B14F-4D97-AF65-F5344CB8AC3E}">
        <p14:creationId xmlns:p14="http://schemas.microsoft.com/office/powerpoint/2010/main" val="32597532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8DDF9A-4503-6E15-C116-37BC99E27C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9BE0AD-156D-592A-80CB-8013CC9F2B1D}"/>
              </a:ext>
            </a:extLst>
          </p:cNvPr>
          <p:cNvSpPr>
            <a:spLocks noGrp="1"/>
          </p:cNvSpPr>
          <p:nvPr>
            <p:ph type="title"/>
          </p:nvPr>
        </p:nvSpPr>
        <p:spPr>
          <a:xfrm>
            <a:off x="838200" y="39121"/>
            <a:ext cx="10937682" cy="1002499"/>
          </a:xfrm>
        </p:spPr>
        <p:txBody>
          <a:bodyPr>
            <a:normAutofit/>
          </a:bodyPr>
          <a:lstStyle/>
          <a:p>
            <a:r>
              <a:rPr lang="en-US" sz="3200" b="1" dirty="0">
                <a:solidFill>
                  <a:schemeClr val="accent6">
                    <a:lumMod val="40000"/>
                    <a:lumOff val="60000"/>
                  </a:schemeClr>
                </a:solidFill>
              </a:rPr>
              <a:t>Techniques for Adjusting the Learning Rate in Neural Networks(p2)</a:t>
            </a:r>
            <a:endParaRPr lang="en-IN" sz="3200" b="1" dirty="0">
              <a:solidFill>
                <a:schemeClr val="accent6">
                  <a:lumMod val="40000"/>
                  <a:lumOff val="60000"/>
                </a:schemeClr>
              </a:solidFill>
            </a:endParaRPr>
          </a:p>
        </p:txBody>
      </p:sp>
      <p:sp>
        <p:nvSpPr>
          <p:cNvPr id="5" name="Content Placeholder 4">
            <a:extLst>
              <a:ext uri="{FF2B5EF4-FFF2-40B4-BE49-F238E27FC236}">
                <a16:creationId xmlns:a16="http://schemas.microsoft.com/office/drawing/2014/main" id="{1746D46C-4DF4-B9DD-0051-69E9B480FFF8}"/>
              </a:ext>
            </a:extLst>
          </p:cNvPr>
          <p:cNvSpPr>
            <a:spLocks noGrp="1"/>
          </p:cNvSpPr>
          <p:nvPr>
            <p:ph idx="1"/>
          </p:nvPr>
        </p:nvSpPr>
        <p:spPr>
          <a:xfrm>
            <a:off x="838200" y="1086153"/>
            <a:ext cx="10515600" cy="3295016"/>
          </a:xfrm>
        </p:spPr>
        <p:txBody>
          <a:bodyPr>
            <a:noAutofit/>
          </a:bodyPr>
          <a:lstStyle/>
          <a:p>
            <a:pPr marL="0" indent="0">
              <a:buNone/>
            </a:pPr>
            <a:r>
              <a:rPr lang="en-US" sz="2000" dirty="0">
                <a:solidFill>
                  <a:schemeClr val="accent6">
                    <a:lumMod val="40000"/>
                    <a:lumOff val="60000"/>
                  </a:schemeClr>
                </a:solidFill>
              </a:rPr>
              <a:t>3. </a:t>
            </a:r>
            <a:r>
              <a:rPr lang="en-US" sz="2000" b="1" dirty="0">
                <a:solidFill>
                  <a:schemeClr val="accent6">
                    <a:lumMod val="40000"/>
                    <a:lumOff val="60000"/>
                  </a:schemeClr>
                </a:solidFill>
              </a:rPr>
              <a:t>Adaptive Learning Rate</a:t>
            </a:r>
            <a:r>
              <a:rPr lang="en-US" sz="2000" dirty="0">
                <a:solidFill>
                  <a:schemeClr val="accent6">
                    <a:lumMod val="40000"/>
                    <a:lumOff val="60000"/>
                  </a:schemeClr>
                </a:solidFill>
              </a:rPr>
              <a:t>: It dynamically adjust the learning rate based on the model’s performance and the gradient of the cost function. This approach can lead to optimal results by adapting the learning rate depending on the steepness of the cost function curve:</a:t>
            </a:r>
          </a:p>
          <a:p>
            <a:pPr marL="0" indent="0">
              <a:buNone/>
            </a:pPr>
            <a:r>
              <a:rPr lang="en-US" sz="2000" dirty="0">
                <a:solidFill>
                  <a:schemeClr val="accent6">
                    <a:lumMod val="40000"/>
                    <a:lumOff val="60000"/>
                  </a:schemeClr>
                </a:solidFill>
              </a:rPr>
              <a:t>3.1) </a:t>
            </a:r>
            <a:r>
              <a:rPr lang="en-US" sz="2000" dirty="0" err="1">
                <a:solidFill>
                  <a:schemeClr val="accent6">
                    <a:lumMod val="40000"/>
                    <a:lumOff val="60000"/>
                  </a:schemeClr>
                </a:solidFill>
              </a:rPr>
              <a:t>AdaGrad</a:t>
            </a:r>
            <a:r>
              <a:rPr lang="en-US" sz="2000" dirty="0">
                <a:solidFill>
                  <a:schemeClr val="accent6">
                    <a:lumMod val="40000"/>
                    <a:lumOff val="60000"/>
                  </a:schemeClr>
                </a:solidFill>
              </a:rPr>
              <a:t>: </a:t>
            </a:r>
            <a:r>
              <a:rPr lang="en-IN" sz="2000" b="0" i="0" dirty="0">
                <a:solidFill>
                  <a:schemeClr val="accent6">
                    <a:lumMod val="40000"/>
                    <a:lumOff val="60000"/>
                  </a:schemeClr>
                </a:solidFill>
                <a:effectLst/>
                <a:latin typeface="Nunito" pitchFamily="2" charset="0"/>
              </a:rPr>
              <a:t>Adaptive Gradient</a:t>
            </a:r>
            <a:r>
              <a:rPr lang="en-US" sz="2000" dirty="0">
                <a:solidFill>
                  <a:schemeClr val="accent6">
                    <a:lumMod val="40000"/>
                    <a:lumOff val="60000"/>
                  </a:schemeClr>
                </a:solidFill>
              </a:rPr>
              <a:t> method adjusts the learning rate for each parameter individually based on historical gradient information, reducing the learning rate for frequently updated parameters.</a:t>
            </a:r>
          </a:p>
          <a:p>
            <a:pPr marL="0" indent="0">
              <a:buNone/>
            </a:pPr>
            <a:r>
              <a:rPr lang="en-US" sz="2000" dirty="0">
                <a:solidFill>
                  <a:schemeClr val="accent6">
                    <a:lumMod val="40000"/>
                    <a:lumOff val="60000"/>
                  </a:schemeClr>
                </a:solidFill>
              </a:rPr>
              <a:t>3.2) RMSprop: A variation of </a:t>
            </a:r>
            <a:r>
              <a:rPr lang="en-US" sz="2000" dirty="0" err="1">
                <a:solidFill>
                  <a:schemeClr val="accent6">
                    <a:lumMod val="40000"/>
                    <a:lumOff val="60000"/>
                  </a:schemeClr>
                </a:solidFill>
              </a:rPr>
              <a:t>AdaGrad</a:t>
            </a:r>
            <a:r>
              <a:rPr lang="en-US" sz="2000" dirty="0">
                <a:solidFill>
                  <a:schemeClr val="accent6">
                    <a:lumMod val="40000"/>
                    <a:lumOff val="60000"/>
                  </a:schemeClr>
                </a:solidFill>
              </a:rPr>
              <a:t>, RMSprop addresses overly aggressive learning rate decay by maintaining a moving average of squared gradients to adapt the learning rate effectively.</a:t>
            </a:r>
          </a:p>
          <a:p>
            <a:pPr marL="0" indent="0">
              <a:buNone/>
            </a:pPr>
            <a:r>
              <a:rPr lang="en-US" sz="2000" dirty="0">
                <a:solidFill>
                  <a:schemeClr val="accent6">
                    <a:lumMod val="40000"/>
                    <a:lumOff val="60000"/>
                  </a:schemeClr>
                </a:solidFill>
              </a:rPr>
              <a:t>3.3) Adam: Combining concepts from both </a:t>
            </a:r>
            <a:r>
              <a:rPr lang="en-US" sz="2000" dirty="0" err="1">
                <a:solidFill>
                  <a:schemeClr val="accent6">
                    <a:lumMod val="40000"/>
                    <a:lumOff val="60000"/>
                  </a:schemeClr>
                </a:solidFill>
              </a:rPr>
              <a:t>AdaGrad</a:t>
            </a:r>
            <a:r>
              <a:rPr lang="en-US" sz="2000" dirty="0">
                <a:solidFill>
                  <a:schemeClr val="accent6">
                    <a:lumMod val="40000"/>
                    <a:lumOff val="60000"/>
                  </a:schemeClr>
                </a:solidFill>
              </a:rPr>
              <a:t> and RMSprop, Adam incorporates adaptive learning rates and momentum to accelerate convergence.</a:t>
            </a:r>
          </a:p>
        </p:txBody>
      </p:sp>
    </p:spTree>
    <p:extLst>
      <p:ext uri="{BB962C8B-B14F-4D97-AF65-F5344CB8AC3E}">
        <p14:creationId xmlns:p14="http://schemas.microsoft.com/office/powerpoint/2010/main" val="18639298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1D11D2-C59D-C49C-1531-DAFB06A784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CDE2AC-D4B7-CA38-93D8-410B2FC5FBD9}"/>
              </a:ext>
            </a:extLst>
          </p:cNvPr>
          <p:cNvSpPr>
            <a:spLocks noGrp="1"/>
          </p:cNvSpPr>
          <p:nvPr>
            <p:ph type="title"/>
          </p:nvPr>
        </p:nvSpPr>
        <p:spPr>
          <a:xfrm>
            <a:off x="838200" y="244805"/>
            <a:ext cx="10515600" cy="609433"/>
          </a:xfrm>
        </p:spPr>
        <p:txBody>
          <a:bodyPr>
            <a:normAutofit fontScale="90000"/>
          </a:bodyPr>
          <a:lstStyle/>
          <a:p>
            <a:r>
              <a:rPr lang="en-US" sz="3200" b="1" dirty="0">
                <a:solidFill>
                  <a:schemeClr val="accent6">
                    <a:lumMod val="40000"/>
                    <a:lumOff val="60000"/>
                  </a:schemeClr>
                </a:solidFill>
              </a:rPr>
              <a:t>Techniques for Adjusting the Learning Rate in Neural Networks(p2)</a:t>
            </a:r>
            <a:endParaRPr lang="en-IN" sz="3200" b="1" dirty="0">
              <a:solidFill>
                <a:schemeClr val="accent6">
                  <a:lumMod val="40000"/>
                  <a:lumOff val="60000"/>
                </a:schemeClr>
              </a:solidFill>
            </a:endParaRPr>
          </a:p>
        </p:txBody>
      </p:sp>
      <p:sp>
        <p:nvSpPr>
          <p:cNvPr id="5" name="Content Placeholder 4">
            <a:extLst>
              <a:ext uri="{FF2B5EF4-FFF2-40B4-BE49-F238E27FC236}">
                <a16:creationId xmlns:a16="http://schemas.microsoft.com/office/drawing/2014/main" id="{4BC2025C-801D-A30D-A035-4D436AF292D0}"/>
              </a:ext>
            </a:extLst>
          </p:cNvPr>
          <p:cNvSpPr>
            <a:spLocks noGrp="1"/>
          </p:cNvSpPr>
          <p:nvPr>
            <p:ph idx="1"/>
          </p:nvPr>
        </p:nvSpPr>
        <p:spPr>
          <a:xfrm>
            <a:off x="838200" y="958932"/>
            <a:ext cx="10515600" cy="5569089"/>
          </a:xfrm>
        </p:spPr>
        <p:txBody>
          <a:bodyPr>
            <a:noAutofit/>
          </a:bodyPr>
          <a:lstStyle/>
          <a:p>
            <a:pPr marL="0" indent="0">
              <a:buNone/>
            </a:pPr>
            <a:r>
              <a:rPr lang="en-US" sz="2000" dirty="0">
                <a:solidFill>
                  <a:schemeClr val="accent6">
                    <a:lumMod val="40000"/>
                    <a:lumOff val="60000"/>
                  </a:schemeClr>
                </a:solidFill>
              </a:rPr>
              <a:t>4. </a:t>
            </a:r>
            <a:r>
              <a:rPr lang="en-US" sz="2000" b="1" dirty="0">
                <a:solidFill>
                  <a:schemeClr val="accent6">
                    <a:lumMod val="40000"/>
                    <a:lumOff val="60000"/>
                  </a:schemeClr>
                </a:solidFill>
              </a:rPr>
              <a:t>Scheduled Drop Learning Rate</a:t>
            </a:r>
            <a:r>
              <a:rPr lang="en-US" sz="2000" dirty="0">
                <a:solidFill>
                  <a:schemeClr val="accent6">
                    <a:lumMod val="40000"/>
                    <a:lumOff val="60000"/>
                  </a:schemeClr>
                </a:solidFill>
              </a:rPr>
              <a:t>: Learning rate is decreased by a specified proportion at set intervals, contrasting with decay techniques where the learning rate continuously diminishes. This allows for more controlled adjustments during training.</a:t>
            </a:r>
          </a:p>
        </p:txBody>
      </p:sp>
    </p:spTree>
    <p:extLst>
      <p:ext uri="{BB962C8B-B14F-4D97-AF65-F5344CB8AC3E}">
        <p14:creationId xmlns:p14="http://schemas.microsoft.com/office/powerpoint/2010/main" val="19314612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3E6A1A-5CC4-5F59-05D5-9E02DE52EB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71BA6D-A367-2F12-7AFA-E20CA1AEA9E2}"/>
              </a:ext>
            </a:extLst>
          </p:cNvPr>
          <p:cNvSpPr>
            <a:spLocks noGrp="1"/>
          </p:cNvSpPr>
          <p:nvPr>
            <p:ph type="title"/>
          </p:nvPr>
        </p:nvSpPr>
        <p:spPr>
          <a:xfrm>
            <a:off x="838200" y="244805"/>
            <a:ext cx="10515600" cy="609433"/>
          </a:xfrm>
        </p:spPr>
        <p:txBody>
          <a:bodyPr>
            <a:normAutofit fontScale="90000"/>
          </a:bodyPr>
          <a:lstStyle/>
          <a:p>
            <a:r>
              <a:rPr lang="en-US" sz="3200" b="1" dirty="0">
                <a:solidFill>
                  <a:schemeClr val="accent6">
                    <a:lumMod val="40000"/>
                    <a:lumOff val="60000"/>
                  </a:schemeClr>
                </a:solidFill>
              </a:rPr>
              <a:t>Techniques for Adjusting the Learning Rate in Neural Networks(p3)</a:t>
            </a:r>
            <a:endParaRPr lang="en-IN" sz="3200" b="1" dirty="0">
              <a:solidFill>
                <a:schemeClr val="accent6">
                  <a:lumMod val="40000"/>
                  <a:lumOff val="60000"/>
                </a:schemeClr>
              </a:solidFill>
            </a:endParaRPr>
          </a:p>
        </p:txBody>
      </p:sp>
      <p:sp>
        <p:nvSpPr>
          <p:cNvPr id="5" name="Content Placeholder 4">
            <a:extLst>
              <a:ext uri="{FF2B5EF4-FFF2-40B4-BE49-F238E27FC236}">
                <a16:creationId xmlns:a16="http://schemas.microsoft.com/office/drawing/2014/main" id="{6620CE64-14DF-2B6B-5BD1-A15A2E3F6CF8}"/>
              </a:ext>
            </a:extLst>
          </p:cNvPr>
          <p:cNvSpPr>
            <a:spLocks noGrp="1"/>
          </p:cNvSpPr>
          <p:nvPr>
            <p:ph idx="1"/>
          </p:nvPr>
        </p:nvSpPr>
        <p:spPr>
          <a:xfrm>
            <a:off x="838200" y="958932"/>
            <a:ext cx="10515600" cy="5569089"/>
          </a:xfrm>
        </p:spPr>
        <p:txBody>
          <a:bodyPr>
            <a:noAutofit/>
          </a:bodyPr>
          <a:lstStyle/>
          <a:p>
            <a:pPr marL="0" indent="0">
              <a:buNone/>
            </a:pPr>
            <a:r>
              <a:rPr lang="en-US" sz="2000" dirty="0">
                <a:solidFill>
                  <a:schemeClr val="accent6">
                    <a:lumMod val="40000"/>
                    <a:lumOff val="60000"/>
                  </a:schemeClr>
                </a:solidFill>
              </a:rPr>
              <a:t>5. </a:t>
            </a:r>
            <a:r>
              <a:rPr lang="en-US" sz="2000" b="1" dirty="0">
                <a:solidFill>
                  <a:schemeClr val="accent6">
                    <a:lumMod val="40000"/>
                    <a:lumOff val="60000"/>
                  </a:schemeClr>
                </a:solidFill>
              </a:rPr>
              <a:t>Cycling Learning Rate</a:t>
            </a:r>
            <a:r>
              <a:rPr lang="en-US" sz="2000" dirty="0">
                <a:solidFill>
                  <a:schemeClr val="accent6">
                    <a:lumMod val="40000"/>
                    <a:lumOff val="60000"/>
                  </a:schemeClr>
                </a:solidFill>
              </a:rPr>
              <a:t>: It involve cyclically varying the learning rate within a predefined range throughout the training process. The learning rate fluctuates in a triangular shape between minimum and maximum values, maintaining a constant frequency. One popular strategy is the triangular learning rate policy, where the learning rate is linearly increased and then decreased within a cycle. This method aims to explore various learning rates during training, helping the model escape poor local minima and speeding up convergence.</a:t>
            </a:r>
          </a:p>
          <a:p>
            <a:pPr marL="0" indent="0">
              <a:buNone/>
            </a:pPr>
            <a:r>
              <a:rPr lang="en-US" sz="2000" dirty="0">
                <a:solidFill>
                  <a:schemeClr val="accent6">
                    <a:lumMod val="40000"/>
                    <a:lumOff val="60000"/>
                  </a:schemeClr>
                </a:solidFill>
              </a:rPr>
              <a:t>6. </a:t>
            </a:r>
            <a:r>
              <a:rPr lang="en-US" sz="2000" b="1" dirty="0">
                <a:solidFill>
                  <a:schemeClr val="accent6">
                    <a:lumMod val="40000"/>
                    <a:lumOff val="60000"/>
                  </a:schemeClr>
                </a:solidFill>
              </a:rPr>
              <a:t>Decaying Learning Rate</a:t>
            </a:r>
            <a:r>
              <a:rPr lang="en-US" sz="2000" dirty="0">
                <a:solidFill>
                  <a:schemeClr val="accent6">
                    <a:lumMod val="40000"/>
                    <a:lumOff val="60000"/>
                  </a:schemeClr>
                </a:solidFill>
              </a:rPr>
              <a:t>: Learning rate decreases as the number of epochs or iterations increases. This gradual reduction helps stabilize the training process as the model converges to a minimum.</a:t>
            </a:r>
            <a:endParaRPr lang="en-IN" sz="2000" dirty="0">
              <a:solidFill>
                <a:schemeClr val="accent6">
                  <a:lumMod val="40000"/>
                  <a:lumOff val="60000"/>
                </a:schemeClr>
              </a:solidFill>
            </a:endParaRPr>
          </a:p>
        </p:txBody>
      </p:sp>
    </p:spTree>
    <p:extLst>
      <p:ext uri="{BB962C8B-B14F-4D97-AF65-F5344CB8AC3E}">
        <p14:creationId xmlns:p14="http://schemas.microsoft.com/office/powerpoint/2010/main" val="250594108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1087</TotalTime>
  <Words>942</Words>
  <Application>Microsoft Office PowerPoint</Application>
  <PresentationFormat>Widescreen</PresentationFormat>
  <Paragraphs>55</Paragraphs>
  <Slides>11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Arial</vt:lpstr>
      <vt:lpstr>Calibri</vt:lpstr>
      <vt:lpstr>Calibri Light</vt:lpstr>
      <vt:lpstr>Google Sans</vt:lpstr>
      <vt:lpstr>Nunito</vt:lpstr>
      <vt:lpstr>Times New Roman</vt:lpstr>
      <vt:lpstr>Office Theme</vt:lpstr>
      <vt:lpstr>ANN Key Terms: LearningRate-LossFunction</vt:lpstr>
      <vt:lpstr>Some key terms: Learning rate(p6)</vt:lpstr>
      <vt:lpstr>Some key terms: Learning rate(p6)</vt:lpstr>
      <vt:lpstr>Techniques for Adjusting the Learning Rate in Neural Networks(p1)</vt:lpstr>
      <vt:lpstr>Techniques for Adjusting the Learning Rate in Neural Networks(p1)</vt:lpstr>
      <vt:lpstr>Techniques for Adjusting the Learning Rate in Neural Networks(p1)</vt:lpstr>
      <vt:lpstr>Techniques for Adjusting the Learning Rate in Neural Networks(p1)</vt:lpstr>
      <vt:lpstr>Techniques for Adjusting the Learning Rate in Neural Networks(p1)</vt:lpstr>
      <vt:lpstr>Techniques for Adjusting the Learning Rate in Neural Networks(p2)</vt:lpstr>
      <vt:lpstr>Techniques for Adjusting the Learning Rate in Neural Networks(p2)</vt:lpstr>
      <vt:lpstr>Techniques for Adjusting the Learning Rate in Neural Networks(p3)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ANN</dc:title>
  <dc:creator>Windows User</dc:creator>
  <cp:lastModifiedBy>Ashwani Kumar</cp:lastModifiedBy>
  <cp:revision>140</cp:revision>
  <dcterms:created xsi:type="dcterms:W3CDTF">2025-01-15T13:24:26Z</dcterms:created>
  <dcterms:modified xsi:type="dcterms:W3CDTF">2026-03-09T15:23:16Z</dcterms:modified>
</cp:coreProperties>
</file>