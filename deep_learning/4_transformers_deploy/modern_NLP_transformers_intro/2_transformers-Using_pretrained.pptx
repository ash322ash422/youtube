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0400b1c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0400b1c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8910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65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508000" y="444500"/>
            <a:ext cx="11176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3467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training a Transformer from scratch is not preferred?</a:t>
            </a:r>
            <a:endParaRPr sz="3467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5" name="Google Shape;75;p16"/>
          <p:cNvGrpSpPr/>
          <p:nvPr/>
        </p:nvGrpSpPr>
        <p:grpSpPr>
          <a:xfrm>
            <a:off x="508000" y="1397000"/>
            <a:ext cx="7112200" cy="4635400"/>
            <a:chOff x="381000" y="1047750"/>
            <a:chExt cx="5334150" cy="3476550"/>
          </a:xfrm>
        </p:grpSpPr>
        <p:grpSp>
          <p:nvGrpSpPr>
            <p:cNvPr id="76" name="Google Shape;76;p16"/>
            <p:cNvGrpSpPr/>
            <p:nvPr/>
          </p:nvGrpSpPr>
          <p:grpSpPr>
            <a:xfrm>
              <a:off x="381000" y="1047750"/>
              <a:ext cx="2571900" cy="1666800"/>
              <a:chOff x="0" y="0"/>
              <a:chExt cx="2571900" cy="1666800"/>
            </a:xfrm>
          </p:grpSpPr>
          <p:sp>
            <p:nvSpPr>
              <p:cNvPr id="77" name="Google Shape;77;p16"/>
              <p:cNvSpPr/>
              <p:nvPr/>
            </p:nvSpPr>
            <p:spPr>
              <a:xfrm>
                <a:off x="0" y="0"/>
                <a:ext cx="2571900" cy="1666800"/>
              </a:xfrm>
              <a:prstGeom prst="roundRect">
                <a:avLst>
                  <a:gd name="adj" fmla="val 6857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 sz="240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78" name="Google Shape;78;p16"/>
              <p:cNvSpPr txBox="1"/>
              <p:nvPr/>
            </p:nvSpPr>
            <p:spPr>
              <a:xfrm>
                <a:off x="0" y="0"/>
                <a:ext cx="25719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0" tIns="254000" rIns="254000" bIns="254000" anchor="t" anchorCtr="0">
                <a:noAutofit/>
              </a:bodyPr>
              <a:lstStyle/>
              <a:p>
                <a:r>
                  <a:rPr lang="en" sz="1333" b="1" dirty="0">
                    <a:latin typeface="Inter"/>
                    <a:ea typeface="Inter"/>
                    <a:cs typeface="Inter"/>
                    <a:sym typeface="Inter"/>
                  </a:rPr>
                  <a:t>01. Computational Cost</a:t>
                </a:r>
                <a:endParaRPr sz="2400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r>
                  <a:rPr lang="en" sz="1733" b="1" dirty="0">
                    <a:latin typeface="Inter"/>
                    <a:ea typeface="Inter"/>
                    <a:cs typeface="Inter"/>
                    <a:sym typeface="Inter"/>
                  </a:rPr>
                  <a:t>High GPU Demand</a:t>
                </a:r>
                <a:endParaRPr sz="1733" b="1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" sz="1400" dirty="0">
                    <a:latin typeface="Inter"/>
                    <a:ea typeface="Inter"/>
                    <a:cs typeface="Inter"/>
                    <a:sym typeface="Inter"/>
                  </a:rPr>
                  <a:t>Requires massive GPU resources, long runtimes, and extensive hyperparameter tuning.</a:t>
                </a:r>
                <a:endParaRPr sz="140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9" name="Google Shape;79;p16"/>
            <p:cNvGrpSpPr/>
            <p:nvPr/>
          </p:nvGrpSpPr>
          <p:grpSpPr>
            <a:xfrm>
              <a:off x="3143250" y="1047750"/>
              <a:ext cx="2571900" cy="1666800"/>
              <a:chOff x="0" y="0"/>
              <a:chExt cx="2571900" cy="1666800"/>
            </a:xfrm>
          </p:grpSpPr>
          <p:sp>
            <p:nvSpPr>
              <p:cNvPr id="80" name="Google Shape;80;p16"/>
              <p:cNvSpPr/>
              <p:nvPr/>
            </p:nvSpPr>
            <p:spPr>
              <a:xfrm>
                <a:off x="0" y="0"/>
                <a:ext cx="2571900" cy="1666800"/>
              </a:xfrm>
              <a:prstGeom prst="roundRect">
                <a:avLst>
                  <a:gd name="adj" fmla="val 6857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 sz="240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81" name="Google Shape;81;p16"/>
              <p:cNvSpPr txBox="1"/>
              <p:nvPr/>
            </p:nvSpPr>
            <p:spPr>
              <a:xfrm>
                <a:off x="0" y="0"/>
                <a:ext cx="25719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0" tIns="254000" rIns="254000" bIns="254000" anchor="t" anchorCtr="0">
                <a:noAutofit/>
              </a:bodyPr>
              <a:lstStyle/>
              <a:p>
                <a:r>
                  <a:rPr lang="en" sz="1333" b="1" dirty="0">
                    <a:latin typeface="Inter"/>
                    <a:ea typeface="Inter"/>
                    <a:cs typeface="Inter"/>
                    <a:sym typeface="Inter"/>
                  </a:rPr>
                  <a:t>02. Data Inefficiency</a:t>
                </a:r>
                <a:endParaRPr sz="2400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r>
                  <a:rPr lang="en" sz="1733" b="1" dirty="0">
                    <a:latin typeface="Inter"/>
                    <a:ea typeface="Inter"/>
                    <a:cs typeface="Inter"/>
                    <a:sym typeface="Inter"/>
                  </a:rPr>
                  <a:t>Sparse Labeled Data</a:t>
                </a:r>
                <a:endParaRPr sz="1733" b="1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" sz="1400" dirty="0">
                    <a:latin typeface="Inter"/>
                    <a:ea typeface="Inter"/>
                    <a:cs typeface="Inter"/>
                    <a:sym typeface="Inter"/>
                  </a:rPr>
                  <a:t>Downstream tasks have limited data; training from scratch leads to poor generalization.</a:t>
                </a:r>
                <a:endParaRPr sz="140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2" name="Google Shape;82;p16"/>
            <p:cNvGrpSpPr/>
            <p:nvPr/>
          </p:nvGrpSpPr>
          <p:grpSpPr>
            <a:xfrm>
              <a:off x="381000" y="2857500"/>
              <a:ext cx="2571900" cy="1666800"/>
              <a:chOff x="0" y="0"/>
              <a:chExt cx="2571900" cy="1666800"/>
            </a:xfrm>
          </p:grpSpPr>
          <p:sp>
            <p:nvSpPr>
              <p:cNvPr id="83" name="Google Shape;83;p16"/>
              <p:cNvSpPr/>
              <p:nvPr/>
            </p:nvSpPr>
            <p:spPr>
              <a:xfrm>
                <a:off x="0" y="0"/>
                <a:ext cx="2571900" cy="1666800"/>
              </a:xfrm>
              <a:prstGeom prst="roundRect">
                <a:avLst>
                  <a:gd name="adj" fmla="val 6857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 sz="240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84" name="Google Shape;84;p16"/>
              <p:cNvSpPr txBox="1"/>
              <p:nvPr/>
            </p:nvSpPr>
            <p:spPr>
              <a:xfrm>
                <a:off x="0" y="0"/>
                <a:ext cx="25719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0" tIns="254000" rIns="254000" bIns="254000" anchor="t" anchorCtr="0">
                <a:noAutofit/>
              </a:bodyPr>
              <a:lstStyle/>
              <a:p>
                <a:r>
                  <a:rPr lang="en" sz="1333" b="1" dirty="0">
                    <a:latin typeface="Inter"/>
                    <a:ea typeface="Inter"/>
                    <a:cs typeface="Inter"/>
                    <a:sym typeface="Inter"/>
                  </a:rPr>
                  <a:t>03. Information Loss</a:t>
                </a:r>
                <a:endParaRPr sz="2400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r>
                  <a:rPr lang="en" sz="1733" b="1" dirty="0">
                    <a:latin typeface="Inter"/>
                    <a:ea typeface="Inter"/>
                    <a:cs typeface="Inter"/>
                    <a:sym typeface="Inter"/>
                  </a:rPr>
                  <a:t>Representation Discard</a:t>
                </a:r>
                <a:endParaRPr sz="1733" b="1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" sz="1400" dirty="0">
                    <a:latin typeface="Inter"/>
                    <a:ea typeface="Inter"/>
                    <a:cs typeface="Inter"/>
                    <a:sym typeface="Inter"/>
                  </a:rPr>
                  <a:t>Training anew completely discards rich linguistic or visual features already learned.</a:t>
                </a:r>
                <a:endParaRPr sz="140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5" name="Google Shape;85;p16"/>
            <p:cNvGrpSpPr/>
            <p:nvPr/>
          </p:nvGrpSpPr>
          <p:grpSpPr>
            <a:xfrm>
              <a:off x="3143250" y="2857500"/>
              <a:ext cx="2571900" cy="1666800"/>
              <a:chOff x="0" y="0"/>
              <a:chExt cx="2571900" cy="1666800"/>
            </a:xfrm>
          </p:grpSpPr>
          <p:sp>
            <p:nvSpPr>
              <p:cNvPr id="86" name="Google Shape;86;p16"/>
              <p:cNvSpPr/>
              <p:nvPr/>
            </p:nvSpPr>
            <p:spPr>
              <a:xfrm>
                <a:off x="0" y="0"/>
                <a:ext cx="2571900" cy="1666800"/>
              </a:xfrm>
              <a:prstGeom prst="roundRect">
                <a:avLst>
                  <a:gd name="adj" fmla="val 6857"/>
                </a:avLst>
              </a:prstGeom>
              <a:solidFill>
                <a:srgbClr val="FFFFFF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endParaRPr sz="240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87" name="Google Shape;87;p16"/>
              <p:cNvSpPr txBox="1"/>
              <p:nvPr/>
            </p:nvSpPr>
            <p:spPr>
              <a:xfrm>
                <a:off x="0" y="0"/>
                <a:ext cx="2571900" cy="16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0" tIns="254000" rIns="254000" bIns="254000" anchor="t" anchorCtr="0">
                <a:noAutofit/>
              </a:bodyPr>
              <a:lstStyle/>
              <a:p>
                <a:r>
                  <a:rPr lang="en" sz="1333" b="1" dirty="0">
                    <a:latin typeface="Inter"/>
                    <a:ea typeface="Inter"/>
                    <a:cs typeface="Inter"/>
                    <a:sym typeface="Inter"/>
                  </a:rPr>
                  <a:t>04. Constraints</a:t>
                </a:r>
                <a:endParaRPr sz="2400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r>
                  <a:rPr lang="en" sz="1733" b="1" dirty="0">
                    <a:latin typeface="Inter"/>
                    <a:ea typeface="Inter"/>
                    <a:cs typeface="Inter"/>
                    <a:sym typeface="Inter"/>
                  </a:rPr>
                  <a:t>Resource &amp; Time</a:t>
                </a:r>
                <a:endParaRPr sz="1733" b="1" dirty="0">
                  <a:latin typeface="Inter"/>
                  <a:ea typeface="Inter"/>
                  <a:cs typeface="Inter"/>
                  <a:sym typeface="Inter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" sz="1400" dirty="0">
                    <a:latin typeface="Inter"/>
                    <a:ea typeface="Inter"/>
                    <a:cs typeface="Inter"/>
                    <a:sym typeface="Inter"/>
                  </a:rPr>
                  <a:t>Fails to leverage existing weights, demanding excessive cost and budget investments.</a:t>
                </a:r>
                <a:endParaRPr sz="1400" dirty="0"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8" name="Google Shape;88;p16"/>
          <p:cNvGrpSpPr/>
          <p:nvPr/>
        </p:nvGrpSpPr>
        <p:grpSpPr>
          <a:xfrm>
            <a:off x="7874000" y="1397000"/>
            <a:ext cx="3810000" cy="4635600"/>
            <a:chOff x="0" y="0"/>
            <a:chExt cx="2857500" cy="3476700"/>
          </a:xfrm>
        </p:grpSpPr>
        <p:sp>
          <p:nvSpPr>
            <p:cNvPr id="89" name="Google Shape;89;p16"/>
            <p:cNvSpPr/>
            <p:nvPr/>
          </p:nvSpPr>
          <p:spPr>
            <a:xfrm>
              <a:off x="0" y="0"/>
              <a:ext cx="2857500" cy="3476700"/>
            </a:xfrm>
            <a:prstGeom prst="roundRect">
              <a:avLst>
                <a:gd name="adj" fmla="val 5333"/>
              </a:avLst>
            </a:prstGeom>
            <a:solidFill>
              <a:srgbClr val="FFFBEB"/>
            </a:solidFill>
            <a:ln w="14300" cap="flat" cmpd="sng">
              <a:solidFill>
                <a:srgbClr val="FDE68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endParaRPr sz="240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0" y="0"/>
              <a:ext cx="2857500" cy="347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800" tIns="304800" rIns="304800" bIns="304800" anchor="ctr" anchorCtr="0">
              <a:noAutofit/>
            </a:bodyPr>
            <a:lstStyle/>
            <a:p>
              <a:r>
                <a:rPr lang="en" sz="1333" dirty="0">
                  <a:latin typeface="Inter ExtraBold"/>
                  <a:ea typeface="Inter ExtraBold"/>
                  <a:cs typeface="Inter ExtraBold"/>
                  <a:sym typeface="Inter ExtraBold"/>
                </a:rPr>
                <a:t>The Ideal Solution</a:t>
              </a:r>
              <a:endParaRPr sz="2400" dirty="0">
                <a:latin typeface="Inter"/>
                <a:ea typeface="Inter"/>
                <a:cs typeface="Inter"/>
                <a:sym typeface="Inter"/>
              </a:endParaRPr>
            </a:p>
            <a:p>
              <a:r>
                <a:rPr lang="en" sz="2667" dirty="0">
                  <a:latin typeface="Inter ExtraBold"/>
                  <a:ea typeface="Inter ExtraBold"/>
                  <a:cs typeface="Inter ExtraBold"/>
                  <a:sym typeface="Inter ExtraBold"/>
                </a:rPr>
                <a:t>Pre-trained Transformers</a:t>
              </a:r>
              <a:endParaRPr sz="2667" dirty="0"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>
                <a:spcBef>
                  <a:spcPts val="1200"/>
                </a:spcBef>
              </a:pPr>
              <a:r>
                <a:rPr lang="en" sz="1467" dirty="0">
                  <a:latin typeface="Inter"/>
                  <a:ea typeface="Inter"/>
                  <a:cs typeface="Inter"/>
                  <a:sym typeface="Inter"/>
                </a:rPr>
                <a:t>Fine-tuning leverages existing weights efficiently to achieve comparable or better performance.</a:t>
              </a:r>
              <a:endParaRPr sz="1467" dirty="0">
                <a:latin typeface="Inter"/>
                <a:ea typeface="Inter"/>
                <a:cs typeface="Inter"/>
                <a:sym typeface="Inter"/>
              </a:endParaRPr>
            </a:p>
            <a:p>
              <a:pPr>
                <a:spcBef>
                  <a:spcPts val="2000"/>
                </a:spcBef>
              </a:pPr>
              <a:r>
                <a:rPr lang="en" sz="1400" u="sng" dirty="0">
                  <a:latin typeface="Inter SemiBold"/>
                  <a:ea typeface="Inter SemiBold"/>
                  <a:cs typeface="Inter SemiBold"/>
                  <a:sym typeface="Inter SemiBold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huggingface.co</a:t>
              </a:r>
              <a:endParaRPr sz="2400" dirty="0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91" name="Google Shape;91;p16"/>
          <p:cNvPicPr preferRelativeResize="0"/>
          <p:nvPr/>
        </p:nvPicPr>
        <p:blipFill rotWithShape="1">
          <a:blip r:embed="rId4">
            <a:alphaModFix/>
          </a:blip>
          <a:srcRect l="10" r="20"/>
          <a:stretch/>
        </p:blipFill>
        <p:spPr>
          <a:xfrm>
            <a:off x="8382000" y="5165167"/>
            <a:ext cx="2794000" cy="7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1987</TotalTime>
  <Words>108</Words>
  <Application>Microsoft Office PowerPoint</Application>
  <PresentationFormat>Widescreen</PresentationFormat>
  <Paragraphs>17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Inter</vt:lpstr>
      <vt:lpstr>Inter ExtraBold</vt:lpstr>
      <vt:lpstr>Inter SemiBold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230</cp:revision>
  <dcterms:created xsi:type="dcterms:W3CDTF">2025-09-22T02:44:38Z</dcterms:created>
  <dcterms:modified xsi:type="dcterms:W3CDTF">2026-07-02T16:06:26Z</dcterms:modified>
</cp:coreProperties>
</file>