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57" r:id="rId3"/>
    <p:sldId id="277" r:id="rId4"/>
    <p:sldId id="278" r:id="rId5"/>
    <p:sldId id="279" r:id="rId6"/>
    <p:sldId id="281" r:id="rId7"/>
    <p:sldId id="280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r>
              <a:rPr lang="en-US" b="1" dirty="0"/>
              <a:t>Transfer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128295"/>
            <a:ext cx="100289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Transfer Learning?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Simple Idea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training a model from scratch: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pre-trained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(trained on large datasets like ImageNet)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 it to your task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model trained to detect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1000 objects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help you classify: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Cats vs Dogs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Handwritten digits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F038-A440-1383-788C-B4B41B99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69C1C9-5262-2D33-E5A8-689B9D6ADA62}"/>
              </a:ext>
            </a:extLst>
          </p:cNvPr>
          <p:cNvSpPr txBox="1"/>
          <p:nvPr/>
        </p:nvSpPr>
        <p:spPr>
          <a:xfrm>
            <a:off x="383458" y="128295"/>
            <a:ext cx="100289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Pretrained Models (Core Concept)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models available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MobileNet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Fast, lightweight (good for real-time/mobile)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Deep, very accurate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VGG16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Simple but heavy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InceptionV3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Efficient and powerful </a:t>
            </a:r>
          </a:p>
        </p:txBody>
      </p:sp>
    </p:spTree>
    <p:extLst>
      <p:ext uri="{BB962C8B-B14F-4D97-AF65-F5344CB8AC3E}">
        <p14:creationId xmlns:p14="http://schemas.microsoft.com/office/powerpoint/2010/main" val="178859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96E1-3D15-D6B1-936C-DDAD7E19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773AAD-A1D0-03C7-5A2B-5927057E334A}"/>
              </a:ext>
            </a:extLst>
          </p:cNvPr>
          <p:cNvSpPr txBox="1"/>
          <p:nvPr/>
        </p:nvSpPr>
        <p:spPr>
          <a:xfrm>
            <a:off x="383458" y="128295"/>
            <a:ext cx="100289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Two Approaches in Transfer Learning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1. Feature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Freeze pretrained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train final layer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Fast + needs less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2. Fine-Tuning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Unfreeze some layers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part of the model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Better accuracy, needs more data</a:t>
            </a:r>
          </a:p>
        </p:txBody>
      </p:sp>
    </p:spTree>
    <p:extLst>
      <p:ext uri="{BB962C8B-B14F-4D97-AF65-F5344CB8AC3E}">
        <p14:creationId xmlns:p14="http://schemas.microsoft.com/office/powerpoint/2010/main" val="289785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2E480-4F74-6383-8245-916BFC07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2669AC-671D-1091-C1EE-1F911E1F7EBC}"/>
              </a:ext>
            </a:extLst>
          </p:cNvPr>
          <p:cNvSpPr txBox="1"/>
          <p:nvPr/>
        </p:nvSpPr>
        <p:spPr>
          <a:xfrm>
            <a:off x="383458" y="128295"/>
            <a:ext cx="100289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Workflow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Load pretrained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Remove top layers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Freeze base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Add custom classifier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Train on your dataset</a:t>
            </a:r>
          </a:p>
        </p:txBody>
      </p:sp>
    </p:spTree>
    <p:extLst>
      <p:ext uri="{BB962C8B-B14F-4D97-AF65-F5344CB8AC3E}">
        <p14:creationId xmlns:p14="http://schemas.microsoft.com/office/powerpoint/2010/main" val="150684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21DC-ADDC-B60A-A917-FE4CC948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53EA5E-6747-14BF-181D-C1F86E78628C}"/>
              </a:ext>
            </a:extLst>
          </p:cNvPr>
          <p:cNvSpPr txBox="1"/>
          <p:nvPr/>
        </p:nvSpPr>
        <p:spPr>
          <a:xfrm>
            <a:off x="383458" y="128295"/>
            <a:ext cx="100289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When to Use Transfer Learning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Small dataset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Limited compute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Need fast results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Avoid when: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is very large and different from ImageNet</a:t>
            </a:r>
          </a:p>
        </p:txBody>
      </p:sp>
    </p:spTree>
    <p:extLst>
      <p:ext uri="{BB962C8B-B14F-4D97-AF65-F5344CB8AC3E}">
        <p14:creationId xmlns:p14="http://schemas.microsoft.com/office/powerpoint/2010/main" val="15059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BDA2-E342-455B-2CAD-C5B8E2C0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34D58-4594-C4D7-D95E-71B4B03AFF12}"/>
              </a:ext>
            </a:extLst>
          </p:cNvPr>
          <p:cNvSpPr txBox="1"/>
          <p:nvPr/>
        </p:nvSpPr>
        <p:spPr>
          <a:xfrm>
            <a:off x="3012948" y="53771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MobileNet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ResNet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54873E-221E-A3BF-E155-1D0A2603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62530"/>
              </p:ext>
            </p:extLst>
          </p:nvPr>
        </p:nvGraphicFramePr>
        <p:xfrm>
          <a:off x="682752" y="1788446"/>
          <a:ext cx="9019032" cy="2286000"/>
        </p:xfrm>
        <a:graphic>
          <a:graphicData uri="http://schemas.openxmlformats.org/drawingml/2006/table">
            <a:tbl>
              <a:tblPr/>
              <a:tblGrid>
                <a:gridCol w="2453640">
                  <a:extLst>
                    <a:ext uri="{9D8B030D-6E8A-4147-A177-3AD203B41FA5}">
                      <a16:colId xmlns:a16="http://schemas.microsoft.com/office/drawing/2014/main" val="1927351396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845700331"/>
                    </a:ext>
                  </a:extLst>
                </a:gridCol>
                <a:gridCol w="3986784">
                  <a:extLst>
                    <a:ext uri="{9D8B030D-6E8A-4147-A177-3AD203B41FA5}">
                      <a16:colId xmlns:a16="http://schemas.microsoft.com/office/drawing/2014/main" val="278838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MobileNet</a:t>
                      </a:r>
                      <a:endParaRPr lang="en-US" sz="2400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ResNet</a:t>
                      </a:r>
                      <a:endParaRPr lang="en-US" sz="2400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79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16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813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Research / high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6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35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1114</TotalTime>
  <Words>231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Transfer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175</cp:revision>
  <dcterms:created xsi:type="dcterms:W3CDTF">2025-09-22T02:44:38Z</dcterms:created>
  <dcterms:modified xsi:type="dcterms:W3CDTF">2026-04-11T12:24:05Z</dcterms:modified>
</cp:coreProperties>
</file>