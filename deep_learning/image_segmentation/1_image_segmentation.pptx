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76" r:id="rId2"/>
    <p:sldId id="257" r:id="rId3"/>
    <p:sldId id="278" r:id="rId4"/>
    <p:sldId id="279" r:id="rId5"/>
    <p:sldId id="280" r:id="rId6"/>
    <p:sldId id="283" r:id="rId7"/>
    <p:sldId id="284" r:id="rId8"/>
    <p:sldId id="285" r:id="rId9"/>
    <p:sldId id="277" r:id="rId10"/>
    <p:sldId id="282" r:id="rId11"/>
    <p:sldId id="275" r:id="rId12"/>
    <p:sldId id="28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4/23/2026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4/23/2026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0A7A65-DF3C-648B-97DB-CF445E53DF10}"/>
              </a:ext>
            </a:extLst>
          </p:cNvPr>
          <p:cNvSpPr txBox="1"/>
          <p:nvPr/>
        </p:nvSpPr>
        <p:spPr>
          <a:xfrm>
            <a:off x="164592" y="118194"/>
            <a:ext cx="10680192" cy="2677656"/>
          </a:xfrm>
          <a:prstGeom prst="rect">
            <a:avLst/>
          </a:prstGeom>
          <a:noFill/>
        </p:spPr>
        <p:txBody>
          <a:bodyPr wrap="square">
            <a:spAutoFit/>
          </a:bodyPr>
          <a:lstStyle/>
          <a:p>
            <a:pPr>
              <a:buNone/>
            </a:pPr>
            <a:r>
              <a:rPr lang="en-US" sz="2400" b="1" dirty="0">
                <a:solidFill>
                  <a:schemeClr val="accent6">
                    <a:lumMod val="60000"/>
                    <a:lumOff val="40000"/>
                  </a:schemeClr>
                </a:solidFill>
              </a:rPr>
              <a:t>🧠 1. What is Image Segmentation?</a:t>
            </a:r>
          </a:p>
          <a:p>
            <a:pPr>
              <a:buNone/>
            </a:pPr>
            <a:r>
              <a:rPr lang="en-US" sz="2400" dirty="0">
                <a:solidFill>
                  <a:schemeClr val="accent6">
                    <a:lumMod val="60000"/>
                    <a:lumOff val="40000"/>
                  </a:schemeClr>
                </a:solidFill>
              </a:rPr>
              <a:t>Unlike object detection (boxes), segmentation gives </a:t>
            </a:r>
            <a:r>
              <a:rPr lang="en-US" sz="2400" b="1" dirty="0">
                <a:solidFill>
                  <a:schemeClr val="accent6">
                    <a:lumMod val="60000"/>
                    <a:lumOff val="40000"/>
                  </a:schemeClr>
                </a:solidFill>
              </a:rPr>
              <a:t>pixel-level output</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Types:</a:t>
            </a:r>
          </a:p>
          <a:p>
            <a:pPr marL="342900" indent="-342900">
              <a:buFont typeface="Arial" panose="020B0604020202020204" pitchFamily="34" charset="0"/>
              <a:buChar char="•"/>
            </a:pPr>
            <a:r>
              <a:rPr lang="en-US" sz="2400" dirty="0">
                <a:solidFill>
                  <a:schemeClr val="accent6">
                    <a:lumMod val="60000"/>
                    <a:lumOff val="40000"/>
                  </a:schemeClr>
                </a:solidFill>
              </a:rPr>
              <a:t>Semantic Segmentation </a:t>
            </a:r>
          </a:p>
          <a:p>
            <a:pPr marL="342900" indent="-342900">
              <a:buFont typeface="Arial" panose="020B0604020202020204" pitchFamily="34" charset="0"/>
              <a:buChar char="•"/>
            </a:pPr>
            <a:r>
              <a:rPr lang="en-US" sz="2400" dirty="0">
                <a:solidFill>
                  <a:schemeClr val="accent6">
                    <a:lumMod val="60000"/>
                    <a:lumOff val="40000"/>
                  </a:schemeClr>
                </a:solidFill>
              </a:rPr>
              <a:t>Instance Segmentation </a:t>
            </a:r>
          </a:p>
          <a:p>
            <a:pPr marL="342900" indent="-342900">
              <a:buFont typeface="Arial" panose="020B0604020202020204" pitchFamily="34" charset="0"/>
              <a:buChar char="•"/>
            </a:pPr>
            <a:r>
              <a:rPr lang="en-US" sz="2400" dirty="0">
                <a:solidFill>
                  <a:schemeClr val="accent6">
                    <a:lumMod val="60000"/>
                    <a:lumOff val="40000"/>
                  </a:schemeClr>
                </a:solidFill>
              </a:rPr>
              <a:t>Panoptic segmentation</a:t>
            </a:r>
          </a:p>
        </p:txBody>
      </p:sp>
      <p:pic>
        <p:nvPicPr>
          <p:cNvPr id="6" name="Picture 5">
            <a:extLst>
              <a:ext uri="{FF2B5EF4-FFF2-40B4-BE49-F238E27FC236}">
                <a16:creationId xmlns:a16="http://schemas.microsoft.com/office/drawing/2014/main" id="{292BDAF5-DFB7-3BA6-05DA-1FB87C525ED4}"/>
              </a:ext>
            </a:extLst>
          </p:cNvPr>
          <p:cNvPicPr>
            <a:picLocks noChangeAspect="1"/>
          </p:cNvPicPr>
          <p:nvPr/>
        </p:nvPicPr>
        <p:blipFill>
          <a:blip r:embed="rId2"/>
          <a:stretch>
            <a:fillRect/>
          </a:stretch>
        </p:blipFill>
        <p:spPr>
          <a:xfrm>
            <a:off x="164592" y="3175002"/>
            <a:ext cx="5813843" cy="3564804"/>
          </a:xfrm>
          <a:prstGeom prst="rect">
            <a:avLst/>
          </a:prstGeom>
        </p:spPr>
      </p:pic>
      <p:pic>
        <p:nvPicPr>
          <p:cNvPr id="8" name="Picture 7">
            <a:extLst>
              <a:ext uri="{FF2B5EF4-FFF2-40B4-BE49-F238E27FC236}">
                <a16:creationId xmlns:a16="http://schemas.microsoft.com/office/drawing/2014/main" id="{8C8B2B53-62C7-BCA0-DC22-0EF29C738767}"/>
              </a:ext>
            </a:extLst>
          </p:cNvPr>
          <p:cNvPicPr>
            <a:picLocks noChangeAspect="1"/>
          </p:cNvPicPr>
          <p:nvPr/>
        </p:nvPicPr>
        <p:blipFill>
          <a:blip r:embed="rId3"/>
          <a:stretch>
            <a:fillRect/>
          </a:stretch>
        </p:blipFill>
        <p:spPr>
          <a:xfrm>
            <a:off x="6213567" y="3175002"/>
            <a:ext cx="5896433" cy="3547194"/>
          </a:xfrm>
          <a:prstGeom prst="rect">
            <a:avLst/>
          </a:prstGeom>
        </p:spPr>
      </p:pic>
      <p:sp>
        <p:nvSpPr>
          <p:cNvPr id="9" name="TextBox 8">
            <a:extLst>
              <a:ext uri="{FF2B5EF4-FFF2-40B4-BE49-F238E27FC236}">
                <a16:creationId xmlns:a16="http://schemas.microsoft.com/office/drawing/2014/main" id="{E5B636D8-A5D4-2B62-CF9B-2FA570E4EF52}"/>
              </a:ext>
            </a:extLst>
          </p:cNvPr>
          <p:cNvSpPr txBox="1"/>
          <p:nvPr/>
        </p:nvSpPr>
        <p:spPr>
          <a:xfrm>
            <a:off x="4844537" y="280567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422119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EF69-3D8D-70CD-4281-939CAD701A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69541A-A305-6DDA-8918-7EF3C68D5DBC}"/>
              </a:ext>
            </a:extLst>
          </p:cNvPr>
          <p:cNvSpPr txBox="1"/>
          <p:nvPr/>
        </p:nvSpPr>
        <p:spPr>
          <a:xfrm>
            <a:off x="164592" y="118194"/>
            <a:ext cx="5321808" cy="4154984"/>
          </a:xfrm>
          <a:prstGeom prst="rect">
            <a:avLst/>
          </a:prstGeom>
          <a:noFill/>
        </p:spPr>
        <p:txBody>
          <a:bodyPr wrap="square">
            <a:spAutoFit/>
          </a:bodyPr>
          <a:lstStyle/>
          <a:p>
            <a:r>
              <a:rPr lang="en-US" sz="2400" b="1" dirty="0">
                <a:solidFill>
                  <a:schemeClr val="accent6">
                    <a:lumMod val="60000"/>
                    <a:lumOff val="40000"/>
                  </a:schemeClr>
                </a:solidFill>
              </a:rPr>
              <a:t>Semantic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Label every pixel (no distinction between instances)</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 </a:t>
            </a:r>
            <a:r>
              <a:rPr lang="en-US" sz="2400" dirty="0">
                <a:solidFill>
                  <a:schemeClr val="accent6">
                    <a:lumMod val="60000"/>
                    <a:lumOff val="40000"/>
                  </a:schemeClr>
                </a:solidFill>
              </a:rPr>
              <a:t>In an image with multiple trees all pixels corresponding to any tree would be labelled as "tree" regardless of how many trees appear in the image.</a:t>
            </a:r>
          </a:p>
          <a:p>
            <a:r>
              <a:rPr lang="en-US" sz="2400" dirty="0">
                <a:solidFill>
                  <a:schemeClr val="accent6">
                    <a:lumMod val="60000"/>
                    <a:lumOff val="40000"/>
                  </a:schemeClr>
                </a:solidFill>
              </a:rPr>
              <a:t> </a:t>
            </a:r>
          </a:p>
        </p:txBody>
      </p:sp>
      <p:pic>
        <p:nvPicPr>
          <p:cNvPr id="6" name="Picture 5">
            <a:extLst>
              <a:ext uri="{FF2B5EF4-FFF2-40B4-BE49-F238E27FC236}">
                <a16:creationId xmlns:a16="http://schemas.microsoft.com/office/drawing/2014/main" id="{92DC853B-06BF-4586-9FD3-9292A469B14F}"/>
              </a:ext>
            </a:extLst>
          </p:cNvPr>
          <p:cNvPicPr>
            <a:picLocks noChangeAspect="1"/>
          </p:cNvPicPr>
          <p:nvPr/>
        </p:nvPicPr>
        <p:blipFill>
          <a:blip r:embed="rId2"/>
          <a:stretch>
            <a:fillRect/>
          </a:stretch>
        </p:blipFill>
        <p:spPr>
          <a:xfrm>
            <a:off x="5459322" y="1684531"/>
            <a:ext cx="6663882" cy="4086012"/>
          </a:xfrm>
          <a:prstGeom prst="rect">
            <a:avLst/>
          </a:prstGeom>
        </p:spPr>
      </p:pic>
      <p:sp>
        <p:nvSpPr>
          <p:cNvPr id="9" name="TextBox 8">
            <a:extLst>
              <a:ext uri="{FF2B5EF4-FFF2-40B4-BE49-F238E27FC236}">
                <a16:creationId xmlns:a16="http://schemas.microsoft.com/office/drawing/2014/main" id="{023019A8-B193-B363-C830-11D426148BE8}"/>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378874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D604D-DE47-0CF2-DB1C-086E1517BD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68A153-DF92-853C-7962-9217FA04ED8D}"/>
              </a:ext>
            </a:extLst>
          </p:cNvPr>
          <p:cNvSpPr txBox="1"/>
          <p:nvPr/>
        </p:nvSpPr>
        <p:spPr>
          <a:xfrm>
            <a:off x="164592" y="118194"/>
            <a:ext cx="5084064" cy="3416320"/>
          </a:xfrm>
          <a:prstGeom prst="rect">
            <a:avLst/>
          </a:prstGeom>
          <a:noFill/>
        </p:spPr>
        <p:txBody>
          <a:bodyPr wrap="square">
            <a:spAutoFit/>
          </a:bodyPr>
          <a:lstStyle/>
          <a:p>
            <a:r>
              <a:rPr lang="en-US" sz="2400" b="1" dirty="0">
                <a:solidFill>
                  <a:schemeClr val="accent6">
                    <a:lumMod val="60000"/>
                    <a:lumOff val="40000"/>
                  </a:schemeClr>
                </a:solidFill>
              </a:rPr>
              <a:t>Instance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Separate each object individually</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a:t>
            </a:r>
            <a:r>
              <a:rPr lang="en-US" sz="2400" dirty="0">
                <a:solidFill>
                  <a:schemeClr val="accent6">
                    <a:lumMod val="60000"/>
                    <a:lumOff val="40000"/>
                  </a:schemeClr>
                </a:solidFill>
              </a:rPr>
              <a:t> If there are multiple trees in an image it will differentiate each tree and treat them as separate entities despite them all being labelled as “trees." </a:t>
            </a:r>
          </a:p>
        </p:txBody>
      </p:sp>
      <p:pic>
        <p:nvPicPr>
          <p:cNvPr id="8" name="Picture 7">
            <a:extLst>
              <a:ext uri="{FF2B5EF4-FFF2-40B4-BE49-F238E27FC236}">
                <a16:creationId xmlns:a16="http://schemas.microsoft.com/office/drawing/2014/main" id="{55AEE1CC-DDBF-29B6-FD9E-E0DECD941B2A}"/>
              </a:ext>
            </a:extLst>
          </p:cNvPr>
          <p:cNvPicPr>
            <a:picLocks noChangeAspect="1"/>
          </p:cNvPicPr>
          <p:nvPr/>
        </p:nvPicPr>
        <p:blipFill>
          <a:blip r:embed="rId2"/>
          <a:stretch>
            <a:fillRect/>
          </a:stretch>
        </p:blipFill>
        <p:spPr>
          <a:xfrm>
            <a:off x="5361046" y="1828800"/>
            <a:ext cx="6830954" cy="4109386"/>
          </a:xfrm>
          <a:prstGeom prst="rect">
            <a:avLst/>
          </a:prstGeom>
        </p:spPr>
      </p:pic>
      <p:sp>
        <p:nvSpPr>
          <p:cNvPr id="2" name="TextBox 1">
            <a:extLst>
              <a:ext uri="{FF2B5EF4-FFF2-40B4-BE49-F238E27FC236}">
                <a16:creationId xmlns:a16="http://schemas.microsoft.com/office/drawing/2014/main" id="{599834AA-D504-B827-6F26-C38E650053BD}"/>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spTree>
    <p:extLst>
      <p:ext uri="{BB962C8B-B14F-4D97-AF65-F5344CB8AC3E}">
        <p14:creationId xmlns:p14="http://schemas.microsoft.com/office/powerpoint/2010/main" val="359042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8B6F6-CB26-6943-C9EA-A715F9B483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D18D3D-70F0-5900-DC26-E9B19701DD73}"/>
              </a:ext>
            </a:extLst>
          </p:cNvPr>
          <p:cNvSpPr txBox="1"/>
          <p:nvPr/>
        </p:nvSpPr>
        <p:spPr>
          <a:xfrm>
            <a:off x="164592" y="118194"/>
            <a:ext cx="5084064" cy="4524315"/>
          </a:xfrm>
          <a:prstGeom prst="rect">
            <a:avLst/>
          </a:prstGeom>
          <a:noFill/>
        </p:spPr>
        <p:txBody>
          <a:bodyPr wrap="square">
            <a:spAutoFit/>
          </a:bodyPr>
          <a:lstStyle/>
          <a:p>
            <a:r>
              <a:rPr lang="en-US" sz="2400" b="1" dirty="0">
                <a:solidFill>
                  <a:schemeClr val="accent6">
                    <a:lumMod val="60000"/>
                    <a:lumOff val="40000"/>
                  </a:schemeClr>
                </a:solidFill>
              </a:rPr>
              <a:t>Panoptic Segmentation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Combines both semantic and instance segmentation</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Example:</a:t>
            </a:r>
            <a:r>
              <a:rPr lang="en-US" sz="2400" dirty="0">
                <a:solidFill>
                  <a:schemeClr val="accent6">
                    <a:lumMod val="60000"/>
                    <a:lumOff val="40000"/>
                  </a:schemeClr>
                </a:solidFill>
              </a:rPr>
              <a:t> In a traffic scene it would label all pedestrians and cars which is semantic segmentation while also outlining the location of each individual person and car which is instance segmentation.</a:t>
            </a:r>
          </a:p>
          <a:p>
            <a:pPr marL="342900" indent="-342900">
              <a:buFont typeface="Arial" panose="020B0604020202020204" pitchFamily="34" charset="0"/>
              <a:buChar char="•"/>
            </a:pPr>
            <a:endParaRPr lang="en-US" sz="2400" dirty="0">
              <a:solidFill>
                <a:schemeClr val="accent6">
                  <a:lumMod val="60000"/>
                  <a:lumOff val="40000"/>
                </a:schemeClr>
              </a:solidFill>
            </a:endParaRPr>
          </a:p>
        </p:txBody>
      </p:sp>
      <p:sp>
        <p:nvSpPr>
          <p:cNvPr id="2" name="TextBox 1">
            <a:extLst>
              <a:ext uri="{FF2B5EF4-FFF2-40B4-BE49-F238E27FC236}">
                <a16:creationId xmlns:a16="http://schemas.microsoft.com/office/drawing/2014/main" id="{C058C679-D8A3-4FF0-F284-C2ECE773572C}"/>
              </a:ext>
            </a:extLst>
          </p:cNvPr>
          <p:cNvSpPr txBox="1"/>
          <p:nvPr/>
        </p:nvSpPr>
        <p:spPr>
          <a:xfrm>
            <a:off x="9453113" y="1251190"/>
            <a:ext cx="2502929" cy="369332"/>
          </a:xfrm>
          <a:prstGeom prst="rect">
            <a:avLst/>
          </a:prstGeom>
          <a:noFill/>
        </p:spPr>
        <p:txBody>
          <a:bodyPr wrap="none" rtlCol="0">
            <a:spAutoFit/>
          </a:bodyPr>
          <a:lstStyle/>
          <a:p>
            <a:r>
              <a:rPr lang="en-US" dirty="0">
                <a:solidFill>
                  <a:schemeClr val="accent6">
                    <a:lumMod val="60000"/>
                    <a:lumOff val="40000"/>
                  </a:schemeClr>
                </a:solidFill>
              </a:rPr>
              <a:t>Source: Geeks for Geeks </a:t>
            </a:r>
          </a:p>
        </p:txBody>
      </p:sp>
      <p:pic>
        <p:nvPicPr>
          <p:cNvPr id="5" name="Picture 4">
            <a:extLst>
              <a:ext uri="{FF2B5EF4-FFF2-40B4-BE49-F238E27FC236}">
                <a16:creationId xmlns:a16="http://schemas.microsoft.com/office/drawing/2014/main" id="{03DAFACE-A9A2-A9A7-9AAB-82A02D3E2FCC}"/>
              </a:ext>
            </a:extLst>
          </p:cNvPr>
          <p:cNvPicPr>
            <a:picLocks noChangeAspect="1"/>
          </p:cNvPicPr>
          <p:nvPr/>
        </p:nvPicPr>
        <p:blipFill>
          <a:blip r:embed="rId2"/>
          <a:stretch>
            <a:fillRect/>
          </a:stretch>
        </p:blipFill>
        <p:spPr>
          <a:xfrm>
            <a:off x="5326358" y="1911096"/>
            <a:ext cx="6792448" cy="4079228"/>
          </a:xfrm>
          <a:prstGeom prst="rect">
            <a:avLst/>
          </a:prstGeom>
        </p:spPr>
      </p:pic>
    </p:spTree>
    <p:extLst>
      <p:ext uri="{BB962C8B-B14F-4D97-AF65-F5344CB8AC3E}">
        <p14:creationId xmlns:p14="http://schemas.microsoft.com/office/powerpoint/2010/main" val="651660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D3C6-DF66-CEAC-C696-BA6B3C5063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B3CCE7-2AB4-C0A3-CD7F-577FBBA38074}"/>
              </a:ext>
            </a:extLst>
          </p:cNvPr>
          <p:cNvSpPr txBox="1"/>
          <p:nvPr/>
        </p:nvSpPr>
        <p:spPr>
          <a:xfrm>
            <a:off x="164592" y="118194"/>
            <a:ext cx="9921240" cy="2308324"/>
          </a:xfrm>
          <a:prstGeom prst="rect">
            <a:avLst/>
          </a:prstGeom>
          <a:noFill/>
        </p:spPr>
        <p:txBody>
          <a:bodyPr wrap="square">
            <a:spAutoFit/>
          </a:bodyPr>
          <a:lstStyle/>
          <a:p>
            <a:r>
              <a:rPr lang="en-US" sz="2400" b="1" dirty="0">
                <a:solidFill>
                  <a:schemeClr val="accent6">
                    <a:lumMod val="60000"/>
                    <a:lumOff val="40000"/>
                  </a:schemeClr>
                </a:solidFill>
              </a:rPr>
              <a:t>Why do we need image segmentation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1) Self-Driving Cars</a:t>
            </a:r>
            <a:r>
              <a:rPr lang="en-US" sz="2400" dirty="0">
                <a:solidFill>
                  <a:schemeClr val="accent6">
                    <a:lumMod val="60000"/>
                    <a:lumOff val="40000"/>
                  </a:schemeClr>
                </a:solidFill>
              </a:rPr>
              <a:t>: </a:t>
            </a:r>
          </a:p>
          <a:p>
            <a:r>
              <a:rPr lang="en-US" sz="2400" dirty="0">
                <a:solidFill>
                  <a:schemeClr val="accent6">
                    <a:lumMod val="60000"/>
                    <a:lumOff val="40000"/>
                  </a:schemeClr>
                </a:solidFill>
              </a:rPr>
              <a:t>A car's computer needs to know exactly where the drivable road ends and the sidewalk begins. It segments the scene into categories like "road," "pedestrians," "cars," and "traffic signs" to navigate safely and avoid obstacles.</a:t>
            </a:r>
          </a:p>
        </p:txBody>
      </p:sp>
      <p:pic>
        <p:nvPicPr>
          <p:cNvPr id="6" name="Picture 5">
            <a:extLst>
              <a:ext uri="{FF2B5EF4-FFF2-40B4-BE49-F238E27FC236}">
                <a16:creationId xmlns:a16="http://schemas.microsoft.com/office/drawing/2014/main" id="{8366FF8F-F30D-E681-49C6-4C45B695AA03}"/>
              </a:ext>
            </a:extLst>
          </p:cNvPr>
          <p:cNvPicPr>
            <a:picLocks noChangeAspect="1"/>
          </p:cNvPicPr>
          <p:nvPr/>
        </p:nvPicPr>
        <p:blipFill>
          <a:blip r:embed="rId2"/>
          <a:stretch>
            <a:fillRect/>
          </a:stretch>
        </p:blipFill>
        <p:spPr>
          <a:xfrm>
            <a:off x="606254" y="3149725"/>
            <a:ext cx="4267796" cy="2753109"/>
          </a:xfrm>
          <a:prstGeom prst="rect">
            <a:avLst/>
          </a:prstGeom>
        </p:spPr>
      </p:pic>
      <p:pic>
        <p:nvPicPr>
          <p:cNvPr id="8" name="Picture 7">
            <a:extLst>
              <a:ext uri="{FF2B5EF4-FFF2-40B4-BE49-F238E27FC236}">
                <a16:creationId xmlns:a16="http://schemas.microsoft.com/office/drawing/2014/main" id="{821A8666-4F1D-AE2F-8201-D6EFBB517BB7}"/>
              </a:ext>
            </a:extLst>
          </p:cNvPr>
          <p:cNvPicPr>
            <a:picLocks noChangeAspect="1"/>
          </p:cNvPicPr>
          <p:nvPr/>
        </p:nvPicPr>
        <p:blipFill>
          <a:blip r:embed="rId3"/>
          <a:stretch>
            <a:fillRect/>
          </a:stretch>
        </p:blipFill>
        <p:spPr>
          <a:xfrm>
            <a:off x="5631504" y="3149725"/>
            <a:ext cx="4255760" cy="2753109"/>
          </a:xfrm>
          <a:prstGeom prst="rect">
            <a:avLst/>
          </a:prstGeom>
        </p:spPr>
      </p:pic>
      <p:sp>
        <p:nvSpPr>
          <p:cNvPr id="9" name="TextBox 8">
            <a:extLst>
              <a:ext uri="{FF2B5EF4-FFF2-40B4-BE49-F238E27FC236}">
                <a16:creationId xmlns:a16="http://schemas.microsoft.com/office/drawing/2014/main" id="{BC3990EE-7A2B-0E68-5E93-F11962D1C9B7}"/>
              </a:ext>
            </a:extLst>
          </p:cNvPr>
          <p:cNvSpPr txBox="1"/>
          <p:nvPr/>
        </p:nvSpPr>
        <p:spPr>
          <a:xfrm>
            <a:off x="4078224" y="6473952"/>
            <a:ext cx="2190536" cy="369332"/>
          </a:xfrm>
          <a:prstGeom prst="rect">
            <a:avLst/>
          </a:prstGeom>
          <a:noFill/>
        </p:spPr>
        <p:txBody>
          <a:bodyPr wrap="none" rtlCol="0">
            <a:spAutoFit/>
          </a:bodyPr>
          <a:lstStyle/>
          <a:p>
            <a:r>
              <a:rPr lang="en-US" dirty="0">
                <a:solidFill>
                  <a:schemeClr val="accent6">
                    <a:lumMod val="60000"/>
                    <a:lumOff val="40000"/>
                  </a:schemeClr>
                </a:solidFill>
              </a:rPr>
              <a:t>Source: IBM Website </a:t>
            </a:r>
          </a:p>
        </p:txBody>
      </p:sp>
    </p:spTree>
    <p:extLst>
      <p:ext uri="{BB962C8B-B14F-4D97-AF65-F5344CB8AC3E}">
        <p14:creationId xmlns:p14="http://schemas.microsoft.com/office/powerpoint/2010/main" val="676849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F636-80D1-FBBD-13CA-D9873819E5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65DCB5-D397-FFD7-3DFE-1E05A1AC3B9B}"/>
              </a:ext>
            </a:extLst>
          </p:cNvPr>
          <p:cNvSpPr txBox="1"/>
          <p:nvPr/>
        </p:nvSpPr>
        <p:spPr>
          <a:xfrm>
            <a:off x="164592" y="118194"/>
            <a:ext cx="9921240" cy="1938992"/>
          </a:xfrm>
          <a:prstGeom prst="rect">
            <a:avLst/>
          </a:prstGeom>
          <a:noFill/>
        </p:spPr>
        <p:txBody>
          <a:bodyPr wrap="square">
            <a:spAutoFit/>
          </a:bodyPr>
          <a:lstStyle/>
          <a:p>
            <a:r>
              <a:rPr lang="en-US" sz="2400" b="1" dirty="0">
                <a:solidFill>
                  <a:schemeClr val="accent6">
                    <a:lumMod val="60000"/>
                    <a:lumOff val="40000"/>
                  </a:schemeClr>
                </a:solidFill>
              </a:rPr>
              <a:t>Why do we need image segmentation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2) Filter image</a:t>
            </a:r>
            <a:endParaRPr lang="en-US" sz="2400" dirty="0">
              <a:solidFill>
                <a:schemeClr val="accent6">
                  <a:lumMod val="60000"/>
                  <a:lumOff val="40000"/>
                </a:schemeClr>
              </a:solidFill>
            </a:endParaRPr>
          </a:p>
          <a:p>
            <a:r>
              <a:rPr lang="en-US" sz="2400" dirty="0">
                <a:solidFill>
                  <a:schemeClr val="accent6">
                    <a:lumMod val="60000"/>
                    <a:lumOff val="40000"/>
                  </a:schemeClr>
                </a:solidFill>
              </a:rPr>
              <a:t>Filter on </a:t>
            </a:r>
            <a:r>
              <a:rPr lang="en-US" sz="2400" b="1" dirty="0">
                <a:solidFill>
                  <a:schemeClr val="accent6">
                    <a:lumMod val="60000"/>
                    <a:lumOff val="40000"/>
                  </a:schemeClr>
                </a:solidFill>
              </a:rPr>
              <a:t>Instagram</a:t>
            </a:r>
            <a:r>
              <a:rPr lang="en-US" sz="2400" dirty="0">
                <a:solidFill>
                  <a:schemeClr val="accent6">
                    <a:lumMod val="60000"/>
                    <a:lumOff val="40000"/>
                  </a:schemeClr>
                </a:solidFill>
              </a:rPr>
              <a:t> or </a:t>
            </a:r>
            <a:r>
              <a:rPr lang="en-US" sz="2400" b="1" dirty="0">
                <a:solidFill>
                  <a:schemeClr val="accent6">
                    <a:lumMod val="60000"/>
                    <a:lumOff val="40000"/>
                  </a:schemeClr>
                </a:solidFill>
              </a:rPr>
              <a:t>TikTok</a:t>
            </a:r>
            <a:r>
              <a:rPr lang="en-US" sz="2400" dirty="0">
                <a:solidFill>
                  <a:schemeClr val="accent6">
                    <a:lumMod val="60000"/>
                    <a:lumOff val="40000"/>
                  </a:schemeClr>
                </a:solidFill>
              </a:rPr>
              <a:t>,  uses segmentation to separate you from your background. This allows the software to blur the background</a:t>
            </a:r>
          </a:p>
        </p:txBody>
      </p:sp>
      <p:sp>
        <p:nvSpPr>
          <p:cNvPr id="9" name="TextBox 8">
            <a:extLst>
              <a:ext uri="{FF2B5EF4-FFF2-40B4-BE49-F238E27FC236}">
                <a16:creationId xmlns:a16="http://schemas.microsoft.com/office/drawing/2014/main" id="{7EE9B0BE-9333-35B4-83D6-0DAF541AE8D1}"/>
              </a:ext>
            </a:extLst>
          </p:cNvPr>
          <p:cNvSpPr txBox="1"/>
          <p:nvPr/>
        </p:nvSpPr>
        <p:spPr>
          <a:xfrm>
            <a:off x="4078224" y="6473952"/>
            <a:ext cx="1752788" cy="369332"/>
          </a:xfrm>
          <a:prstGeom prst="rect">
            <a:avLst/>
          </a:prstGeom>
          <a:noFill/>
        </p:spPr>
        <p:txBody>
          <a:bodyPr wrap="none" rtlCol="0">
            <a:spAutoFit/>
          </a:bodyPr>
          <a:lstStyle/>
          <a:p>
            <a:r>
              <a:rPr lang="en-US" dirty="0">
                <a:solidFill>
                  <a:schemeClr val="accent6">
                    <a:lumMod val="60000"/>
                    <a:lumOff val="40000"/>
                  </a:schemeClr>
                </a:solidFill>
              </a:rPr>
              <a:t>Source: Internet </a:t>
            </a:r>
          </a:p>
        </p:txBody>
      </p:sp>
      <p:pic>
        <p:nvPicPr>
          <p:cNvPr id="3" name="Picture 2">
            <a:extLst>
              <a:ext uri="{FF2B5EF4-FFF2-40B4-BE49-F238E27FC236}">
                <a16:creationId xmlns:a16="http://schemas.microsoft.com/office/drawing/2014/main" id="{AD6758CB-1C48-E4B4-CD12-B0A8A61B2B15}"/>
              </a:ext>
            </a:extLst>
          </p:cNvPr>
          <p:cNvPicPr>
            <a:picLocks noChangeAspect="1"/>
          </p:cNvPicPr>
          <p:nvPr/>
        </p:nvPicPr>
        <p:blipFill>
          <a:blip r:embed="rId2"/>
          <a:stretch>
            <a:fillRect/>
          </a:stretch>
        </p:blipFill>
        <p:spPr>
          <a:xfrm>
            <a:off x="2432264" y="2157436"/>
            <a:ext cx="6188515" cy="4116823"/>
          </a:xfrm>
          <a:prstGeom prst="rect">
            <a:avLst/>
          </a:prstGeom>
        </p:spPr>
      </p:pic>
    </p:spTree>
    <p:extLst>
      <p:ext uri="{BB962C8B-B14F-4D97-AF65-F5344CB8AC3E}">
        <p14:creationId xmlns:p14="http://schemas.microsoft.com/office/powerpoint/2010/main" val="2520726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88E3-95BD-ECF2-5045-371E66B95F6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6FB631-9C28-B45C-8A82-1B12F5B05BED}"/>
              </a:ext>
            </a:extLst>
          </p:cNvPr>
          <p:cNvSpPr txBox="1"/>
          <p:nvPr/>
        </p:nvSpPr>
        <p:spPr>
          <a:xfrm>
            <a:off x="164592" y="118194"/>
            <a:ext cx="9921240" cy="1938992"/>
          </a:xfrm>
          <a:prstGeom prst="rect">
            <a:avLst/>
          </a:prstGeom>
          <a:noFill/>
        </p:spPr>
        <p:txBody>
          <a:bodyPr wrap="square">
            <a:spAutoFit/>
          </a:bodyPr>
          <a:lstStyle/>
          <a:p>
            <a:r>
              <a:rPr lang="en-US" sz="2400" b="1" dirty="0">
                <a:solidFill>
                  <a:schemeClr val="accent6">
                    <a:lumMod val="60000"/>
                    <a:lumOff val="40000"/>
                  </a:schemeClr>
                </a:solidFill>
              </a:rPr>
              <a:t>Why do we need image segmentation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3) Smart Agriculture</a:t>
            </a:r>
            <a:endParaRPr lang="en-US" sz="2400" dirty="0">
              <a:solidFill>
                <a:schemeClr val="accent6">
                  <a:lumMod val="60000"/>
                  <a:lumOff val="40000"/>
                </a:schemeClr>
              </a:solidFill>
            </a:endParaRPr>
          </a:p>
          <a:p>
            <a:r>
              <a:rPr lang="en-US" sz="2400" dirty="0">
                <a:solidFill>
                  <a:schemeClr val="accent6">
                    <a:lumMod val="60000"/>
                    <a:lumOff val="40000"/>
                  </a:schemeClr>
                </a:solidFill>
              </a:rPr>
              <a:t>Drones fly over fields and segment images to differentiate between </a:t>
            </a:r>
            <a:r>
              <a:rPr lang="en-US" sz="2400" b="1" dirty="0">
                <a:solidFill>
                  <a:schemeClr val="accent6">
                    <a:lumMod val="60000"/>
                    <a:lumOff val="40000"/>
                  </a:schemeClr>
                </a:solidFill>
              </a:rPr>
              <a:t>healthy crops and weeds</a:t>
            </a:r>
            <a:endParaRPr lang="en-US" sz="2400" dirty="0">
              <a:solidFill>
                <a:schemeClr val="accent6">
                  <a:lumMod val="60000"/>
                  <a:lumOff val="40000"/>
                </a:schemeClr>
              </a:solidFill>
            </a:endParaRPr>
          </a:p>
        </p:txBody>
      </p:sp>
      <p:sp>
        <p:nvSpPr>
          <p:cNvPr id="9" name="TextBox 8">
            <a:extLst>
              <a:ext uri="{FF2B5EF4-FFF2-40B4-BE49-F238E27FC236}">
                <a16:creationId xmlns:a16="http://schemas.microsoft.com/office/drawing/2014/main" id="{AE597CFE-2B7A-AC62-FA59-EB3A040F2C7B}"/>
              </a:ext>
            </a:extLst>
          </p:cNvPr>
          <p:cNvSpPr txBox="1"/>
          <p:nvPr/>
        </p:nvSpPr>
        <p:spPr>
          <a:xfrm>
            <a:off x="4078224" y="6473952"/>
            <a:ext cx="5405967" cy="369332"/>
          </a:xfrm>
          <a:prstGeom prst="rect">
            <a:avLst/>
          </a:prstGeom>
          <a:noFill/>
        </p:spPr>
        <p:txBody>
          <a:bodyPr wrap="none" rtlCol="0">
            <a:spAutoFit/>
          </a:bodyPr>
          <a:lstStyle/>
          <a:p>
            <a:r>
              <a:rPr lang="en-US" dirty="0">
                <a:solidFill>
                  <a:schemeClr val="accent6">
                    <a:lumMod val="60000"/>
                    <a:lumOff val="40000"/>
                  </a:schemeClr>
                </a:solidFill>
              </a:rPr>
              <a:t>Source: www.ipb.uni-bonn.de/data/sugarbeets2016/ </a:t>
            </a:r>
          </a:p>
        </p:txBody>
      </p:sp>
      <p:pic>
        <p:nvPicPr>
          <p:cNvPr id="5" name="Picture 4">
            <a:extLst>
              <a:ext uri="{FF2B5EF4-FFF2-40B4-BE49-F238E27FC236}">
                <a16:creationId xmlns:a16="http://schemas.microsoft.com/office/drawing/2014/main" id="{8322F622-4146-0B51-F26A-26C613C5BDB2}"/>
              </a:ext>
            </a:extLst>
          </p:cNvPr>
          <p:cNvPicPr>
            <a:picLocks noChangeAspect="1"/>
          </p:cNvPicPr>
          <p:nvPr/>
        </p:nvPicPr>
        <p:blipFill>
          <a:blip r:embed="rId2"/>
          <a:stretch>
            <a:fillRect/>
          </a:stretch>
        </p:blipFill>
        <p:spPr>
          <a:xfrm>
            <a:off x="1444137" y="2666415"/>
            <a:ext cx="8773749" cy="2915057"/>
          </a:xfrm>
          <a:prstGeom prst="rect">
            <a:avLst/>
          </a:prstGeom>
        </p:spPr>
      </p:pic>
    </p:spTree>
    <p:extLst>
      <p:ext uri="{BB962C8B-B14F-4D97-AF65-F5344CB8AC3E}">
        <p14:creationId xmlns:p14="http://schemas.microsoft.com/office/powerpoint/2010/main" val="2680138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318C-05A5-7EFB-30F5-32AB6A8624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375A26-49CB-0056-00C2-8F91436CD4DD}"/>
              </a:ext>
            </a:extLst>
          </p:cNvPr>
          <p:cNvSpPr txBox="1"/>
          <p:nvPr/>
        </p:nvSpPr>
        <p:spPr>
          <a:xfrm>
            <a:off x="265176" y="346794"/>
            <a:ext cx="11283696" cy="5632311"/>
          </a:xfrm>
          <a:prstGeom prst="rect">
            <a:avLst/>
          </a:prstGeom>
          <a:noFill/>
        </p:spPr>
        <p:txBody>
          <a:bodyPr wrap="square">
            <a:spAutoFit/>
          </a:bodyPr>
          <a:lstStyle/>
          <a:p>
            <a:r>
              <a:rPr lang="en-US" sz="2400" dirty="0">
                <a:solidFill>
                  <a:schemeClr val="accent6">
                    <a:lumMod val="60000"/>
                    <a:lumOff val="40000"/>
                  </a:schemeClr>
                </a:solidFill>
              </a:rPr>
              <a:t>2. Evolution of Segmentation Models</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1: Classical CNN Era (2014–2017)</a:t>
            </a:r>
          </a:p>
          <a:p>
            <a:pPr marL="342900" indent="-342900">
              <a:buFont typeface="Arial" panose="020B0604020202020204" pitchFamily="34" charset="0"/>
              <a:buChar char="•"/>
            </a:pPr>
            <a:r>
              <a:rPr lang="en-US" sz="2400" dirty="0">
                <a:solidFill>
                  <a:schemeClr val="accent6">
                    <a:lumMod val="60000"/>
                    <a:lumOff val="40000"/>
                  </a:schemeClr>
                </a:solidFill>
              </a:rPr>
              <a:t>Fully Convolutional Networks (FCN) → first breakthrough </a:t>
            </a:r>
          </a:p>
          <a:p>
            <a:pPr marL="342900" indent="-342900">
              <a:buFont typeface="Arial" panose="020B0604020202020204" pitchFamily="34" charset="0"/>
              <a:buChar char="•"/>
            </a:pPr>
            <a:r>
              <a:rPr lang="en-US" sz="2400" dirty="0">
                <a:solidFill>
                  <a:schemeClr val="accent6">
                    <a:lumMod val="60000"/>
                    <a:lumOff val="40000"/>
                  </a:schemeClr>
                </a:solidFill>
              </a:rPr>
              <a:t>Then came: </a:t>
            </a:r>
          </a:p>
          <a:p>
            <a:pPr lvl="1"/>
            <a:r>
              <a:rPr lang="en-US" sz="2400" dirty="0">
                <a:solidFill>
                  <a:schemeClr val="accent6">
                    <a:lumMod val="60000"/>
                    <a:lumOff val="40000"/>
                  </a:schemeClr>
                </a:solidFill>
              </a:rPr>
              <a:t>U-Net </a:t>
            </a:r>
          </a:p>
          <a:p>
            <a:pPr lvl="1"/>
            <a:r>
              <a:rPr lang="en-US" sz="2400" dirty="0" err="1">
                <a:solidFill>
                  <a:schemeClr val="accent6">
                    <a:lumMod val="60000"/>
                    <a:lumOff val="40000"/>
                  </a:schemeClr>
                </a:solidFill>
              </a:rPr>
              <a:t>SegNet</a:t>
            </a:r>
            <a:r>
              <a:rPr lang="en-US" sz="2400" dirty="0">
                <a:solidFill>
                  <a:schemeClr val="accent6">
                    <a:lumMod val="60000"/>
                    <a:lumOff val="40000"/>
                  </a:schemeClr>
                </a:solidFill>
              </a:rPr>
              <a:t> </a:t>
            </a:r>
          </a:p>
          <a:p>
            <a:pPr lvl="1"/>
            <a:r>
              <a:rPr lang="en-US" sz="2400" dirty="0" err="1">
                <a:solidFill>
                  <a:schemeClr val="accent6">
                    <a:lumMod val="60000"/>
                    <a:lumOff val="40000"/>
                  </a:schemeClr>
                </a:solidFill>
              </a:rPr>
              <a:t>DeepLab</a:t>
            </a:r>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2: Detection + Segmentation (2017–2020)</a:t>
            </a:r>
          </a:p>
          <a:p>
            <a:pPr marL="342900" indent="-342900">
              <a:buFont typeface="Arial" panose="020B0604020202020204" pitchFamily="34" charset="0"/>
              <a:buChar char="•"/>
            </a:pPr>
            <a:r>
              <a:rPr lang="en-US" sz="2400" b="1" dirty="0">
                <a:solidFill>
                  <a:schemeClr val="accent6">
                    <a:lumMod val="60000"/>
                    <a:lumOff val="40000"/>
                  </a:schemeClr>
                </a:solidFill>
              </a:rPr>
              <a:t>Mask R-CNN</a:t>
            </a:r>
            <a:r>
              <a:rPr lang="en-US" sz="2400" dirty="0">
                <a:solidFill>
                  <a:schemeClr val="accent6">
                    <a:lumMod val="60000"/>
                    <a:lumOff val="40000"/>
                  </a:schemeClr>
                </a:solidFill>
              </a:rPr>
              <a:t> → instance segmentation breakthrough </a:t>
            </a:r>
          </a:p>
          <a:p>
            <a:pPr marL="342900" indent="-342900">
              <a:buFont typeface="Arial" panose="020B0604020202020204" pitchFamily="34" charset="0"/>
              <a:buChar char="•"/>
            </a:pPr>
            <a:r>
              <a:rPr lang="en-US" sz="2400" dirty="0">
                <a:solidFill>
                  <a:schemeClr val="accent6">
                    <a:lumMod val="60000"/>
                    <a:lumOff val="40000"/>
                  </a:schemeClr>
                </a:solidFill>
              </a:rPr>
              <a:t>Built on object detection pipelines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3: Advanced CNN Architectures</a:t>
            </a:r>
          </a:p>
          <a:p>
            <a:r>
              <a:rPr lang="en-US" sz="2400" dirty="0">
                <a:solidFill>
                  <a:schemeClr val="accent6">
                    <a:lumMod val="60000"/>
                    <a:lumOff val="40000"/>
                  </a:schemeClr>
                </a:solidFill>
              </a:rPr>
              <a:t>Variants of U-Net: </a:t>
            </a:r>
            <a:r>
              <a:rPr lang="en-US" sz="2400" dirty="0" err="1">
                <a:solidFill>
                  <a:schemeClr val="accent6">
                    <a:lumMod val="60000"/>
                    <a:lumOff val="40000"/>
                  </a:schemeClr>
                </a:solidFill>
              </a:rPr>
              <a:t>UNet</a:t>
            </a:r>
            <a:r>
              <a:rPr lang="en-US" sz="2400" dirty="0">
                <a:solidFill>
                  <a:schemeClr val="accent6">
                    <a:lumMod val="60000"/>
                    <a:lumOff val="40000"/>
                  </a:schemeClr>
                </a:solidFill>
              </a:rPr>
              <a:t>++ , Attention U-Net , </a:t>
            </a:r>
            <a:r>
              <a:rPr lang="en-US" sz="2400" dirty="0" err="1">
                <a:solidFill>
                  <a:schemeClr val="accent6">
                    <a:lumMod val="60000"/>
                    <a:lumOff val="40000"/>
                  </a:schemeClr>
                </a:solidFill>
              </a:rPr>
              <a:t>ResUNet</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202907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3726-E9D7-BAAC-A09C-46850EC0A3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7152EF-6592-51E0-5AF1-77C83C50856E}"/>
              </a:ext>
            </a:extLst>
          </p:cNvPr>
          <p:cNvSpPr txBox="1"/>
          <p:nvPr/>
        </p:nvSpPr>
        <p:spPr>
          <a:xfrm>
            <a:off x="265176" y="346794"/>
            <a:ext cx="11283696" cy="3416320"/>
          </a:xfrm>
          <a:prstGeom prst="rect">
            <a:avLst/>
          </a:prstGeom>
          <a:noFill/>
        </p:spPr>
        <p:txBody>
          <a:bodyPr wrap="square">
            <a:spAutoFit/>
          </a:bodyPr>
          <a:lstStyle/>
          <a:p>
            <a:r>
              <a:rPr lang="en-US" sz="2400" b="1" dirty="0">
                <a:solidFill>
                  <a:schemeClr val="accent6">
                    <a:lumMod val="60000"/>
                    <a:lumOff val="40000"/>
                  </a:schemeClr>
                </a:solidFill>
              </a:rPr>
              <a:t>Phase 4: Transformer Era (2020–Present)</a:t>
            </a:r>
          </a:p>
          <a:p>
            <a:r>
              <a:rPr lang="en-US" sz="2400" dirty="0">
                <a:solidFill>
                  <a:schemeClr val="accent6">
                    <a:lumMod val="60000"/>
                    <a:lumOff val="40000"/>
                  </a:schemeClr>
                </a:solidFill>
              </a:rPr>
              <a:t>Vision Transformers (</a:t>
            </a:r>
            <a:r>
              <a:rPr lang="en-US" sz="2400" dirty="0" err="1">
                <a:solidFill>
                  <a:schemeClr val="accent6">
                    <a:lumMod val="60000"/>
                    <a:lumOff val="40000"/>
                  </a:schemeClr>
                </a:solidFill>
              </a:rPr>
              <a:t>ViT</a:t>
            </a:r>
            <a:r>
              <a:rPr lang="en-US" sz="2400" dirty="0">
                <a:solidFill>
                  <a:schemeClr val="accent6">
                    <a:lumMod val="60000"/>
                    <a:lumOff val="40000"/>
                  </a:schemeClr>
                </a:solidFill>
              </a:rPr>
              <a:t>) , SAM (Segment Anything)</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Phase 5: Multimodal &amp; Foundation Models (Latest)</a:t>
            </a:r>
          </a:p>
          <a:p>
            <a:pPr marL="342900" indent="-342900">
              <a:buFont typeface="Arial" panose="020B0604020202020204" pitchFamily="34" charset="0"/>
              <a:buChar char="•"/>
            </a:pPr>
            <a:r>
              <a:rPr lang="en-US" sz="2400" dirty="0">
                <a:solidFill>
                  <a:schemeClr val="accent6">
                    <a:lumMod val="60000"/>
                    <a:lumOff val="40000"/>
                  </a:schemeClr>
                </a:solidFill>
              </a:rPr>
              <a:t>CLIP, SAM, DINO-based models </a:t>
            </a:r>
          </a:p>
          <a:p>
            <a:pPr marL="342900" indent="-342900">
              <a:buFont typeface="Arial" panose="020B0604020202020204" pitchFamily="34" charset="0"/>
              <a:buChar char="•"/>
            </a:pPr>
            <a:r>
              <a:rPr lang="en-US" sz="2400" dirty="0">
                <a:solidFill>
                  <a:schemeClr val="accent6">
                    <a:lumMod val="60000"/>
                    <a:lumOff val="40000"/>
                  </a:schemeClr>
                </a:solidFill>
              </a:rPr>
              <a:t>Zero-shot segmentation </a:t>
            </a:r>
          </a:p>
          <a:p>
            <a:pPr marL="342900" indent="-342900">
              <a:buFont typeface="Arial" panose="020B0604020202020204" pitchFamily="34" charset="0"/>
              <a:buChar char="•"/>
            </a:pPr>
            <a:r>
              <a:rPr lang="en-US" sz="2400" dirty="0">
                <a:solidFill>
                  <a:schemeClr val="accent6">
                    <a:lumMod val="60000"/>
                    <a:lumOff val="40000"/>
                  </a:schemeClr>
                </a:solidFill>
              </a:rPr>
              <a:t>Prompt-based segmentation</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459140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BD2A4-E6AA-53A8-B1A3-D9959A1822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7CCC81-5C6E-F1EE-DE10-D63BC8F86C3D}"/>
              </a:ext>
            </a:extLst>
          </p:cNvPr>
          <p:cNvSpPr txBox="1"/>
          <p:nvPr/>
        </p:nvSpPr>
        <p:spPr>
          <a:xfrm>
            <a:off x="265176" y="346794"/>
            <a:ext cx="11283696" cy="4154984"/>
          </a:xfrm>
          <a:prstGeom prst="rect">
            <a:avLst/>
          </a:prstGeom>
          <a:noFill/>
        </p:spPr>
        <p:txBody>
          <a:bodyPr wrap="square">
            <a:spAutoFit/>
          </a:bodyPr>
          <a:lstStyle/>
          <a:p>
            <a:pPr>
              <a:buNone/>
            </a:pPr>
            <a:r>
              <a:rPr lang="en-US" sz="2400" dirty="0">
                <a:solidFill>
                  <a:schemeClr val="accent6">
                    <a:lumMod val="60000"/>
                    <a:lumOff val="40000"/>
                  </a:schemeClr>
                </a:solidFill>
              </a:rPr>
              <a:t>Popular Models</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U-Net: Famous in medical imaging for its encoder-decoder structure that retains precise spatial information.</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Mask R-CNN: Extends Faster R-CNN by adding a mask branch for instance segmentation.</a:t>
            </a:r>
          </a:p>
          <a:p>
            <a:pPr>
              <a:buNone/>
            </a:pPr>
            <a:endParaRPr lang="en-US" sz="2400" dirty="0">
              <a:solidFill>
                <a:schemeClr val="accent6">
                  <a:lumMod val="60000"/>
                  <a:lumOff val="40000"/>
                </a:schemeClr>
              </a:solidFill>
            </a:endParaRPr>
          </a:p>
          <a:p>
            <a:pPr>
              <a:buNone/>
            </a:pPr>
            <a:r>
              <a:rPr lang="en-US" sz="2400" dirty="0" err="1">
                <a:solidFill>
                  <a:schemeClr val="accent6">
                    <a:lumMod val="60000"/>
                    <a:lumOff val="40000"/>
                  </a:schemeClr>
                </a:solidFill>
              </a:rPr>
              <a:t>DeepLab</a:t>
            </a:r>
            <a:r>
              <a:rPr lang="en-US" sz="2400" dirty="0">
                <a:solidFill>
                  <a:schemeClr val="accent6">
                    <a:lumMod val="60000"/>
                    <a:lumOff val="40000"/>
                  </a:schemeClr>
                </a:solidFill>
              </a:rPr>
              <a:t>: Uses </a:t>
            </a:r>
            <a:r>
              <a:rPr lang="en-US" sz="2400" dirty="0" err="1">
                <a:solidFill>
                  <a:schemeClr val="accent6">
                    <a:lumMod val="60000"/>
                    <a:lumOff val="40000"/>
                  </a:schemeClr>
                </a:solidFill>
              </a:rPr>
              <a:t>atrous</a:t>
            </a:r>
            <a:r>
              <a:rPr lang="en-US" sz="2400" dirty="0">
                <a:solidFill>
                  <a:schemeClr val="accent6">
                    <a:lumMod val="60000"/>
                    <a:lumOff val="40000"/>
                  </a:schemeClr>
                </a:solidFill>
              </a:rPr>
              <a:t> (dilated) convolutions to handle object multi-scale recognition.</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Segment Anything Model (SAM): A recent zero-shot model from Meta AI capable of segmenting any object without specific training</a:t>
            </a:r>
          </a:p>
        </p:txBody>
      </p:sp>
    </p:spTree>
    <p:extLst>
      <p:ext uri="{BB962C8B-B14F-4D97-AF65-F5344CB8AC3E}">
        <p14:creationId xmlns:p14="http://schemas.microsoft.com/office/powerpoint/2010/main" val="2128404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1123</TotalTime>
  <Words>479</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179</cp:revision>
  <dcterms:created xsi:type="dcterms:W3CDTF">2025-09-22T02:44:38Z</dcterms:created>
  <dcterms:modified xsi:type="dcterms:W3CDTF">2026-04-23T13:44:32Z</dcterms:modified>
</cp:coreProperties>
</file>