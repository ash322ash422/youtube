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9" r:id="rId3"/>
    <p:sldId id="290" r:id="rId4"/>
    <p:sldId id="291" r:id="rId5"/>
    <p:sldId id="292" r:id="rId6"/>
    <p:sldId id="293" r:id="rId7"/>
    <p:sldId id="27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9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8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36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6009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71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307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0298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554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495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32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6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018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9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8C49C6-5F15-4DD3-B364-B2DE57A5B88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30D265-8AE4-4D83-9D5E-333CB74753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076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90110"/>
            <a:ext cx="9144000" cy="2387600"/>
          </a:xfrm>
        </p:spPr>
        <p:txBody>
          <a:bodyPr>
            <a:normAutofit/>
          </a:bodyPr>
          <a:lstStyle/>
          <a:p>
            <a:r>
              <a:rPr lang="en-US" dirty="0"/>
              <a:t>ANN Key Terms</a:t>
            </a:r>
            <a:r>
              <a:rPr lang="en-US"/>
              <a:t>: Optimizer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87035"/>
            <a:ext cx="9144000" cy="960631"/>
          </a:xfrm>
        </p:spPr>
        <p:txBody>
          <a:bodyPr>
            <a:normAutofit fontScale="77500" lnSpcReduction="20000"/>
          </a:bodyPr>
          <a:lstStyle/>
          <a:p>
            <a:r>
              <a:rPr lang="en-US" sz="6000" dirty="0"/>
              <a:t>(On Dev) Artificial Neural Network</a:t>
            </a:r>
          </a:p>
        </p:txBody>
      </p:sp>
    </p:spTree>
    <p:extLst>
      <p:ext uri="{BB962C8B-B14F-4D97-AF65-F5344CB8AC3E}">
        <p14:creationId xmlns:p14="http://schemas.microsoft.com/office/powerpoint/2010/main" val="5267006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57E85B-C4A0-8FA6-2444-37D8BAD9BC72}"/>
              </a:ext>
            </a:extLst>
          </p:cNvPr>
          <p:cNvSpPr txBox="1"/>
          <p:nvPr/>
        </p:nvSpPr>
        <p:spPr>
          <a:xfrm>
            <a:off x="352229" y="536424"/>
            <a:ext cx="1094714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Most optimizers are variations of </a:t>
            </a:r>
            <a:r>
              <a:rPr lang="en-US" b="1" dirty="0"/>
              <a:t>Gradient Descent</a:t>
            </a:r>
            <a:r>
              <a:rPr lang="en-US" dirty="0"/>
              <a:t>. They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Compute the </a:t>
            </a:r>
            <a:r>
              <a:rPr lang="en-US" b="1" dirty="0"/>
              <a:t>gradient</a:t>
            </a:r>
            <a:r>
              <a:rPr lang="en-US" dirty="0"/>
              <a:t> (slope of loss function with respect to weights).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Update weights in the opposite direction of the gradient (because we want to minimize loss).</a:t>
            </a:r>
          </a:p>
          <a:p>
            <a:pPr>
              <a:buNone/>
            </a:pPr>
            <a:r>
              <a:rPr lang="en-US" dirty="0"/>
              <a:t>Formula: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A95B6B0-C5CD-51B5-8E89-43F38CC95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622" y="2027134"/>
            <a:ext cx="5319221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084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D91AC2A7-7DE7-1B99-9459-F3C5A5CD1BAA}"/>
              </a:ext>
            </a:extLst>
          </p:cNvPr>
          <p:cNvSpPr txBox="1"/>
          <p:nvPr/>
        </p:nvSpPr>
        <p:spPr>
          <a:xfrm>
            <a:off x="473529" y="20255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Types of Optimizers 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D4EA193A-87D9-E115-9566-7A67874B8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84012"/>
            <a:ext cx="686085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a) Batch Gradient Descent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entire dataset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to compute gradient before updating weights.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Accurate but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very slow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large datasets.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46275235-4CD5-76EA-F8CE-D4CD6D598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713920"/>
            <a:ext cx="6730432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(b) Stochastic Gradient Descent (SGD)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Uses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 sample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at a time to update weights.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Much faster but updates are noisy (loss jumps around).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Analogy: Batch = careful slow walk, SGD = fast but shaky run downhill.</a:t>
            </a:r>
          </a:p>
        </p:txBody>
      </p:sp>
    </p:spTree>
    <p:extLst>
      <p:ext uri="{BB962C8B-B14F-4D97-AF65-F5344CB8AC3E}">
        <p14:creationId xmlns:p14="http://schemas.microsoft.com/office/powerpoint/2010/main" val="3173264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004A9FF-C97B-BCED-F04C-54F251CC0B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61821"/>
            <a:ext cx="5834995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(c) Mini-Batch Gradient Descent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Middle ground: Uses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small batch of samples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(like 32, 64).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 common in practice.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Balances speed + stability.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Example: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Keras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model.fit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(...,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batch_size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=32).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4C6899-8787-8EAC-17ED-DBA7C5F1ADDD}"/>
              </a:ext>
            </a:extLst>
          </p:cNvPr>
          <p:cNvSpPr txBox="1"/>
          <p:nvPr/>
        </p:nvSpPr>
        <p:spPr>
          <a:xfrm>
            <a:off x="207605" y="4055527"/>
            <a:ext cx="612554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d) Momentum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Idea: Don’t just look at current gradient → also keep some memory of the past direction.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Helps smooth out noisy updates and speeds up downhill movement.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Analogy: Like a ball rolling down a hill — momentum carries it forward.</a:t>
            </a:r>
          </a:p>
        </p:txBody>
      </p:sp>
    </p:spTree>
    <p:extLst>
      <p:ext uri="{BB962C8B-B14F-4D97-AF65-F5344CB8AC3E}">
        <p14:creationId xmlns:p14="http://schemas.microsoft.com/office/powerpoint/2010/main" val="17079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33BC4A-87B3-1202-6C11-48268F4892A3}"/>
              </a:ext>
            </a:extLst>
          </p:cNvPr>
          <p:cNvSpPr txBox="1"/>
          <p:nvPr/>
        </p:nvSpPr>
        <p:spPr>
          <a:xfrm>
            <a:off x="370892" y="646934"/>
            <a:ext cx="609755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(e) </a:t>
            </a:r>
            <a:r>
              <a:rPr lang="en-US" b="1" dirty="0" err="1"/>
              <a:t>AdaGrad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Adjusts the learning rate for each parameter individually.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Parameters with frequent updates get smaller steps; rare ones get bigger steps.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Downside: Learning rate shrinks too much over time.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CA18C7-90CA-358F-F6A6-6B7392635C87}"/>
              </a:ext>
            </a:extLst>
          </p:cNvPr>
          <p:cNvSpPr txBox="1"/>
          <p:nvPr/>
        </p:nvSpPr>
        <p:spPr>
          <a:xfrm>
            <a:off x="286917" y="5355972"/>
            <a:ext cx="609755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(f) </a:t>
            </a:r>
            <a:r>
              <a:rPr lang="en-US" b="1" dirty="0" err="1"/>
              <a:t>RMSProp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Fixes </a:t>
            </a:r>
            <a:r>
              <a:rPr lang="en-US" dirty="0" err="1"/>
              <a:t>AdaGrad</a:t>
            </a:r>
            <a:r>
              <a:rPr lang="en-US" dirty="0"/>
              <a:t> by keeping learning rate steady.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Works well for recurrent networks.</a:t>
            </a:r>
          </a:p>
        </p:txBody>
      </p:sp>
    </p:spTree>
    <p:extLst>
      <p:ext uri="{BB962C8B-B14F-4D97-AF65-F5344CB8AC3E}">
        <p14:creationId xmlns:p14="http://schemas.microsoft.com/office/powerpoint/2010/main" val="390397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FDAEBB-3498-3903-1D73-0CD9A070CCC3}"/>
              </a:ext>
            </a:extLst>
          </p:cNvPr>
          <p:cNvSpPr txBox="1"/>
          <p:nvPr/>
        </p:nvSpPr>
        <p:spPr>
          <a:xfrm>
            <a:off x="510850" y="753947"/>
            <a:ext cx="609755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(g) Adam (Adaptive Moment Estimation)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popular today.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Combines </a:t>
            </a:r>
            <a:r>
              <a:rPr lang="en-US" b="1" dirty="0"/>
              <a:t>Momentum + </a:t>
            </a:r>
            <a:r>
              <a:rPr lang="en-US" b="1" dirty="0" err="1"/>
              <a:t>RMSProp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Maintains a running average of past gradients (momentum) and squared gradients (adaptive learning rate).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Fast, efficient, works well in many cases.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680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2B6726-8A15-B91A-5623-D8176F8B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911CFA-B54E-615E-3C0F-C464211B6F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Deep learning is used in </a:t>
            </a:r>
            <a:r>
              <a:rPr lang="en-US" b="1" dirty="0"/>
              <a:t>computer vision, natural language processing (NLP), speech recognition, autonomous vehicles, and many more AI applications</a:t>
            </a:r>
            <a:r>
              <a:rPr lang="en-US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96708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1082</TotalTime>
  <Words>345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ANN Key Terms: Optimizer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Applications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ANN</dc:title>
  <dc:creator>Windows User</dc:creator>
  <cp:lastModifiedBy>Ashwani Kumar</cp:lastModifiedBy>
  <cp:revision>137</cp:revision>
  <dcterms:created xsi:type="dcterms:W3CDTF">2025-01-15T13:24:26Z</dcterms:created>
  <dcterms:modified xsi:type="dcterms:W3CDTF">2025-09-29T18:41:56Z</dcterms:modified>
</cp:coreProperties>
</file>