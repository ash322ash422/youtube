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09" r:id="rId3"/>
    <p:sldId id="299" r:id="rId4"/>
    <p:sldId id="266" r:id="rId5"/>
    <p:sldId id="300" r:id="rId6"/>
    <p:sldId id="302" r:id="rId7"/>
    <p:sldId id="303" r:id="rId8"/>
    <p:sldId id="304" r:id="rId9"/>
    <p:sldId id="305" r:id="rId10"/>
    <p:sldId id="306" r:id="rId11"/>
    <p:sldId id="307" r:id="rId12"/>
    <p:sldId id="301" r:id="rId13"/>
    <p:sldId id="308" r:id="rId14"/>
    <p:sldId id="295" r:id="rId15"/>
    <p:sldId id="297" r:id="rId16"/>
    <p:sldId id="296" r:id="rId17"/>
    <p:sldId id="298" r:id="rId18"/>
    <p:sldId id="276" r:id="rId19"/>
    <p:sldId id="277" r:id="rId20"/>
    <p:sldId id="278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1634990"/>
            <a:ext cx="7310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4D9E-EDF9-625F-5AED-09807B31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268AFE6-579D-22EB-8BA6-DE59BF02F651}"/>
              </a:ext>
            </a:extLst>
          </p:cNvPr>
          <p:cNvSpPr txBox="1"/>
          <p:nvPr/>
        </p:nvSpPr>
        <p:spPr>
          <a:xfrm>
            <a:off x="1892808" y="1634990"/>
            <a:ext cx="73106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Logistic (Sigmoid)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ReLU (Rectified Linear Unit)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Hyperbolic Tangent (tanh)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</a:t>
            </a:r>
          </a:p>
        </p:txBody>
      </p:sp>
    </p:spTree>
    <p:extLst>
      <p:ext uri="{BB962C8B-B14F-4D97-AF65-F5344CB8AC3E}">
        <p14:creationId xmlns:p14="http://schemas.microsoft.com/office/powerpoint/2010/main" val="120585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C319-223B-CAAA-19B4-27C6BDA2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1C8304-5A05-AF24-965A-EDAA73EE321F}"/>
              </a:ext>
            </a:extLst>
          </p:cNvPr>
          <p:cNvSpPr txBox="1"/>
          <p:nvPr/>
        </p:nvSpPr>
        <p:spPr>
          <a:xfrm>
            <a:off x="201168" y="42838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 (Nodes)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layer contains multiple neurons that perform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5E543-B70E-79E1-DA0A-C6F52522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65" y="1302603"/>
            <a:ext cx="6665109" cy="2715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BFA693-1003-DE90-511D-2EB0815CE5AD}"/>
              </a:ext>
            </a:extLst>
          </p:cNvPr>
          <p:cNvSpPr txBox="1"/>
          <p:nvPr/>
        </p:nvSpPr>
        <p:spPr>
          <a:xfrm>
            <a:off x="137160" y="553102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7C93F-2CC8-998A-B014-C5E9995E1D90}"/>
              </a:ext>
            </a:extLst>
          </p:cNvPr>
          <p:cNvSpPr txBox="1"/>
          <p:nvPr/>
        </p:nvSpPr>
        <p:spPr>
          <a:xfrm>
            <a:off x="24384" y="2519596"/>
            <a:ext cx="166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Neuron -&gt;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7A3E62-6327-97B1-6508-645F55EB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4159767"/>
            <a:ext cx="4224777" cy="2574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5A458-BE35-18EF-5826-E655CCF29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537" y="2660487"/>
            <a:ext cx="3700463" cy="237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6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BA26C-B9C8-B0E3-0B7D-87BB1A29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423C2-904F-94FE-FF0F-129E7AF30390}"/>
              </a:ext>
            </a:extLst>
          </p:cNvPr>
          <p:cNvSpPr txBox="1"/>
          <p:nvPr/>
        </p:nvSpPr>
        <p:spPr>
          <a:xfrm>
            <a:off x="772668" y="269855"/>
            <a:ext cx="10581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 decide whether a neuron should be activated (fire) or not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D05968-8B4B-8ECB-E1A6-358004F15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416" y="1668673"/>
            <a:ext cx="6191184" cy="358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5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1C6C9-E003-E04D-E041-A656289E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DEFFA-01E5-AAE9-7567-AB9D46DC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CE818-A4C5-4543-7AE5-1A6FED6787DF}"/>
              </a:ext>
            </a:extLst>
          </p:cNvPr>
          <p:cNvSpPr txBox="1"/>
          <p:nvPr/>
        </p:nvSpPr>
        <p:spPr>
          <a:xfrm>
            <a:off x="219456" y="478828"/>
            <a:ext cx="9445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Logistic (Sigmoid) Activation Function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A76162-B439-D0D2-BE66-B3FA82984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23" y="2624771"/>
            <a:ext cx="4782217" cy="1343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B3156E-510D-AA0B-771A-4F78C25FB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81" y="1277092"/>
            <a:ext cx="2566469" cy="1093727"/>
          </a:xfrm>
          <a:prstGeom prst="rect">
            <a:avLst/>
          </a:prstGeom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D4907738-0806-38F2-3C36-FDE003CF5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" y="4721644"/>
            <a:ext cx="838504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The output is always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0 and 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 Because of this, it is often interpreted 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probability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Binary classification output layer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341311-BDEE-B86A-3C29-72187E6EE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753" y="1357769"/>
            <a:ext cx="4991797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0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29CE-345A-400D-32C8-3AA488D7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FCAE7-E8C4-1CE6-4CEE-616E9134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14950-C5E4-02DA-9EEC-3D4AE12AA8CA}"/>
              </a:ext>
            </a:extLst>
          </p:cNvPr>
          <p:cNvSpPr txBox="1"/>
          <p:nvPr/>
        </p:nvSpPr>
        <p:spPr>
          <a:xfrm>
            <a:off x="219456" y="478828"/>
            <a:ext cx="10332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ReLU (Rectified Linear Unit) Activation Function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widely used activation functions in modern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it is simple and computationally efficient.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7B0AE-E8C2-B4B2-85BF-F5A4B7CF9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01" y="1874382"/>
            <a:ext cx="2610214" cy="523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653EF9-02F3-65A8-9EA9-DCB80424B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32" y="1893435"/>
            <a:ext cx="2286319" cy="504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D9C7A3-6A00-24C4-DCD5-0FAFB009E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808" y="1486899"/>
            <a:ext cx="3050512" cy="207308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4D3B9D8D-7652-3094-401A-B382EAC9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" y="4906310"/>
            <a:ext cx="83850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The output is always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0 and infinity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by hidden layers, etc.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71181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2F66-A463-1736-2B99-817B6DF1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9778C-14AC-829F-0EC1-D58513E6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5C002-A35D-C652-859B-9471840820CE}"/>
              </a:ext>
            </a:extLst>
          </p:cNvPr>
          <p:cNvSpPr txBox="1"/>
          <p:nvPr/>
        </p:nvSpPr>
        <p:spPr>
          <a:xfrm>
            <a:off x="219456" y="478828"/>
            <a:ext cx="10332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Hyperbolic Tangent (tanh) Activation Function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similar to the logistic (sigmoid) function but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zero-centered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often helps neural networks train better.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74ADC-4FE6-B069-8479-06388FDD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613" y="2240248"/>
            <a:ext cx="2391109" cy="45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E73AC7-E4E3-3DA1-CFB6-06B955154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613" y="2889272"/>
            <a:ext cx="2476846" cy="933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FE3F40-4EDB-D816-B771-D6E509C71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074" y="3211659"/>
            <a:ext cx="2079649" cy="4346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5660BC-8666-C3E6-F181-5C16180FA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1823876"/>
            <a:ext cx="3756360" cy="24617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F700A4-89AC-7644-795C-FD61A1DF7976}"/>
              </a:ext>
            </a:extLst>
          </p:cNvPr>
          <p:cNvSpPr txBox="1"/>
          <p:nvPr/>
        </p:nvSpPr>
        <p:spPr>
          <a:xfrm>
            <a:off x="251460" y="5172379"/>
            <a:ext cx="8929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tanh outputs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negative and positive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Hidden layers in neural networks and Recurrent Neural Networks (RNNs)</a:t>
            </a:r>
          </a:p>
        </p:txBody>
      </p:sp>
    </p:spTree>
    <p:extLst>
      <p:ext uri="{BB962C8B-B14F-4D97-AF65-F5344CB8AC3E}">
        <p14:creationId xmlns:p14="http://schemas.microsoft.com/office/powerpoint/2010/main" val="210250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5999-69D5-A0FB-0EBF-7F2D1E6F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8CA22-70F9-E93D-AC03-66099F68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04F6DA-5D8C-E47F-73A3-766C4834AC35}"/>
              </a:ext>
            </a:extLst>
          </p:cNvPr>
          <p:cNvSpPr txBox="1"/>
          <p:nvPr/>
        </p:nvSpPr>
        <p:spPr>
          <a:xfrm>
            <a:off x="219456" y="478828"/>
            <a:ext cx="103327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Activation Function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Also called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identity function,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simply returns the input value without applying any transformation.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output can take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any real value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Generally used in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layer for regression problems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House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Temperature forecasting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81838F-5C48-0D8B-E9B9-7A700129D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23" y="2791364"/>
            <a:ext cx="1857857" cy="521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46AD63-FDFC-110E-918A-FF75254F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662" y="2788920"/>
            <a:ext cx="2676899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F9E3F-592F-348F-692E-22ED1A8DC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667" y="2039111"/>
            <a:ext cx="3215019" cy="21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1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C65A-58BB-8C06-381F-460D4184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769DE-7E94-DC18-7B03-AB88B241E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2371C0-305C-9FBA-25DD-63944367671B}"/>
              </a:ext>
            </a:extLst>
          </p:cNvPr>
          <p:cNvSpPr txBox="1"/>
          <p:nvPr/>
        </p:nvSpPr>
        <p:spPr>
          <a:xfrm>
            <a:off x="219456" y="478828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 Activation Function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used when a neural network needs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one class out of multiple classes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converts raw outputs (logits)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probabilities that sum to 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0F935-FC5C-01F7-1AF6-D702EC5F8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5" y="2194792"/>
            <a:ext cx="6563641" cy="1638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C776AD-61A6-2311-0219-C294A7B7A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62" y="4034489"/>
            <a:ext cx="4820323" cy="1819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90C31E-BF5B-2DA6-D9A8-1F82CCAB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835" y="3014056"/>
            <a:ext cx="218152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4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532F-C2DA-5B09-C63C-850BC35F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C8C0-BB10-982A-5F11-B0C4D86F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69669-46FD-F188-93A9-D85C683B8616}"/>
              </a:ext>
            </a:extLst>
          </p:cNvPr>
          <p:cNvSpPr txBox="1"/>
          <p:nvPr/>
        </p:nvSpPr>
        <p:spPr>
          <a:xfrm>
            <a:off x="219456" y="478828"/>
            <a:ext cx="93085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SoftMax operates on </a:t>
            </a:r>
            <a:r>
              <a:rPr lang="en-US" sz="2400" b="1" dirty="0">
                <a:solidFill>
                  <a:schemeClr val="bg1"/>
                </a:solidFill>
              </a:rPr>
              <a:t>an entire vector of inputs</a:t>
            </a:r>
            <a:r>
              <a:rPr lang="en-US" sz="2400" dirty="0">
                <a:solidFill>
                  <a:schemeClr val="bg1"/>
                </a:solidFill>
              </a:rPr>
              <a:t>, not just a single value.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 input:   z = [2, 1, 0.1] </a:t>
            </a:r>
          </a:p>
          <a:p>
            <a:pPr/>
            <a:endParaRPr lang="en-US" sz="2400" dirty="0">
              <a:solidFill>
                <a:schemeClr val="bg1"/>
              </a:solidFill>
            </a:endParaRPr>
          </a:p>
          <a:p>
            <a:pPr/>
            <a:endParaRPr lang="en-US" sz="2400" dirty="0">
              <a:solidFill>
                <a:schemeClr val="bg1"/>
              </a:solidFill>
            </a:endParaRPr>
          </a:p>
          <a:p>
            <a:pPr/>
            <a:endParaRPr lang="en-US" sz="2400" dirty="0">
              <a:solidFill>
                <a:schemeClr val="bg1"/>
              </a:solidFill>
            </a:endParaRPr>
          </a:p>
          <a:p>
            <a:pPr/>
            <a:r>
              <a:rPr lang="en-US" sz="2400" dirty="0">
                <a:solidFill>
                  <a:schemeClr val="bg1"/>
                </a:solidFill>
              </a:rPr>
              <a:t>SoftMax converts this into </a:t>
            </a:r>
            <a:r>
              <a:rPr lang="en-US" sz="2400" b="1" dirty="0">
                <a:solidFill>
                  <a:schemeClr val="bg1"/>
                </a:solidFill>
              </a:rPr>
              <a:t>probabilities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B9E549-C10C-5DFD-CE93-CEEE0861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6" y="3082632"/>
            <a:ext cx="4875048" cy="492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BE8A14-AE98-F87A-A5D3-8CE6C4EBE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982" y="3119394"/>
            <a:ext cx="2940021" cy="10108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47C49D-9C3A-4EDB-B40C-755505AC3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42" y="4362739"/>
            <a:ext cx="1997827" cy="11462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D997D7-D1AC-A4C1-F2F6-42A62B577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540" y="4275799"/>
            <a:ext cx="2033156" cy="12791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0B3973-A790-D4A7-88FD-5A67A101D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790" y="4275799"/>
            <a:ext cx="1891514" cy="12332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B45AEA-9804-23E9-FA24-87626C5AF8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814" y="4462533"/>
            <a:ext cx="4314467" cy="4664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B2BA69-584D-892E-1CE7-F1BB440E3A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1931" y="1029485"/>
            <a:ext cx="2131869" cy="9113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3B8F1F8-AA06-0D85-BDD8-C3D017BFAE0E}"/>
              </a:ext>
            </a:extLst>
          </p:cNvPr>
          <p:cNvSpPr txBox="1"/>
          <p:nvPr/>
        </p:nvSpPr>
        <p:spPr>
          <a:xfrm>
            <a:off x="7168896" y="5114036"/>
            <a:ext cx="473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Predicted class = 1 (high probability)</a:t>
            </a:r>
          </a:p>
        </p:txBody>
      </p:sp>
    </p:spTree>
    <p:extLst>
      <p:ext uri="{BB962C8B-B14F-4D97-AF65-F5344CB8AC3E}">
        <p14:creationId xmlns:p14="http://schemas.microsoft.com/office/powerpoint/2010/main" val="259059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C011-9EAA-C484-CE99-E6B6AB9C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F816E-CCC3-E1A4-342F-1EDEA6C0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E1714-B787-E10F-8BE1-2AEACD46108A}"/>
              </a:ext>
            </a:extLst>
          </p:cNvPr>
          <p:cNvSpPr txBox="1"/>
          <p:nvPr/>
        </p:nvSpPr>
        <p:spPr>
          <a:xfrm>
            <a:off x="219456" y="478828"/>
            <a:ext cx="70500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 Probabilities Sum to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layer of multi-class classification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 (word prediction)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Digit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90520-1792-76AD-2681-342B17B78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576" y="283894"/>
            <a:ext cx="196242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0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13E1B-5B37-3A87-FBE2-66AA7C48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AC7AD-AAF7-56CC-0782-6C92AAFE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6715B4-D327-22B0-88E3-698DAAFD13AD}"/>
              </a:ext>
            </a:extLst>
          </p:cNvPr>
          <p:cNvSpPr txBox="1"/>
          <p:nvPr/>
        </p:nvSpPr>
        <p:spPr>
          <a:xfrm>
            <a:off x="2752344" y="1325880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530901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1C427-8B82-A14D-9076-035BBEF71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63FE29-D645-0C86-BE5A-1CF165A15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855" y="627493"/>
            <a:ext cx="7179858" cy="620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BCAD1-7C74-B7BA-39A2-E5E0C752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7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C1FEDB0-2282-60F1-A0A6-6A3AC7B46492}"/>
              </a:ext>
            </a:extLst>
          </p:cNvPr>
          <p:cNvSpPr txBox="1"/>
          <p:nvPr/>
        </p:nvSpPr>
        <p:spPr>
          <a:xfrm>
            <a:off x="258924" y="224134"/>
            <a:ext cx="11478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activation unction should be used on output layer?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Choice of activation function in the output layer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depends directly on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of 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you’re solving with an Artificial Neural Network (ANN).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974F1F-30D0-5705-B630-8B553BA2C881}"/>
              </a:ext>
            </a:extLst>
          </p:cNvPr>
          <p:cNvSpPr txBox="1"/>
          <p:nvPr/>
        </p:nvSpPr>
        <p:spPr>
          <a:xfrm>
            <a:off x="286917" y="1511188"/>
            <a:ext cx="88753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Regression Problems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continuous values (e.g., house prices, temperature).</a:t>
            </a:r>
          </a:p>
          <a:p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(identity)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no activation, just raw output.      f(x)=x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 </a:t>
            </a:r>
            <a:r>
              <a:rPr lang="en-IN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the output can’t be negative (e.g., predicting age, distance).</a:t>
            </a:r>
          </a:p>
          <a:p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Mean Squared Error (MSE)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Mean Absolute Error (MAE)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you care more about absolute deviations.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house price in dollars.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4A4A6-BEC9-F97A-0502-88F7D4DF5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456" y="3732726"/>
            <a:ext cx="2644369" cy="58679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4F4F67-970D-538E-9C09-36379062CEB0}"/>
              </a:ext>
            </a:extLst>
          </p:cNvPr>
          <p:cNvCxnSpPr>
            <a:cxnSpLocks/>
          </p:cNvCxnSpPr>
          <p:nvPr/>
        </p:nvCxnSpPr>
        <p:spPr>
          <a:xfrm>
            <a:off x="4435027" y="4191501"/>
            <a:ext cx="38220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888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7CCC-509C-7088-3B6F-214C72B3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04ED676-2D28-CA7E-3D6A-B94611A56BBC}"/>
              </a:ext>
            </a:extLst>
          </p:cNvPr>
          <p:cNvSpPr txBox="1"/>
          <p:nvPr/>
        </p:nvSpPr>
        <p:spPr>
          <a:xfrm>
            <a:off x="100304" y="725960"/>
            <a:ext cx="70562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Binary Classification Problems</a:t>
            </a:r>
          </a:p>
          <a:p>
            <a:pPr>
              <a:buNone/>
            </a:pP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classes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(yes/no, spam/not spam).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Sigmoid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squashes output to [0,1], interpretable as probability.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Cross-Entropy (Log Loss)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if a </a:t>
            </a:r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tumor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malignant (1) or benign (0).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F679ED0-4915-3D25-E519-3AD39E03A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1610" y="1334016"/>
            <a:ext cx="1661304" cy="6629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5C8941-2330-24BC-0472-E903687A8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813" y="3093691"/>
            <a:ext cx="4427604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8F18-A555-F6A6-A772-C8B74BAD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272A3-61FF-EDFE-55F5-39C595FCA59A}"/>
              </a:ext>
            </a:extLst>
          </p:cNvPr>
          <p:cNvSpPr txBox="1"/>
          <p:nvPr/>
        </p:nvSpPr>
        <p:spPr>
          <a:xfrm>
            <a:off x="184278" y="222104"/>
            <a:ext cx="9174325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Multi-class Classification Problems (One-label)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class out of many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(mutually exclusive).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gives a probability distribution across classes, all adding up to 1.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Cross-Entropy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(when labels are one-hot encoded)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Sparse Categorical Cross-Entropy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(when labels are integers, not one-hot).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Example: Handwritten digit recognition (0–9).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7F26F-9BEE-1E04-EA99-257AEB190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571" y="847262"/>
            <a:ext cx="1752752" cy="815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E57198-8072-ED8B-D0D8-88871A2C1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133" y="1970833"/>
            <a:ext cx="2194750" cy="43437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3F6E83-6AA1-40FD-F250-706A32C65AD8}"/>
              </a:ext>
            </a:extLst>
          </p:cNvPr>
          <p:cNvCxnSpPr/>
          <p:nvPr/>
        </p:nvCxnSpPr>
        <p:spPr>
          <a:xfrm>
            <a:off x="6531429" y="1970833"/>
            <a:ext cx="2432704" cy="22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365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8F71-80E7-1A25-7B75-EBCA30E1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CCC2C7-C5C0-E699-9CE3-9BABBB39F9CF}"/>
              </a:ext>
            </a:extLst>
          </p:cNvPr>
          <p:cNvSpPr txBox="1"/>
          <p:nvPr/>
        </p:nvSpPr>
        <p:spPr>
          <a:xfrm>
            <a:off x="314909" y="680010"/>
            <a:ext cx="9454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Multi-label Classification Problems (Multiple labels possible)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Predict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independent labels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(not mutually exclusive).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activation: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Sigmoid (per output node)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each output is treated as independent probability.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used here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Cross-Entropy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applied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independently per label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1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Predicting which tags apply to a movie (action, comedy, romance — could be more than one).</a:t>
            </a:r>
          </a:p>
        </p:txBody>
      </p:sp>
    </p:spTree>
    <p:extLst>
      <p:ext uri="{BB962C8B-B14F-4D97-AF65-F5344CB8AC3E}">
        <p14:creationId xmlns:p14="http://schemas.microsoft.com/office/powerpoint/2010/main" val="150377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53BA-6310-651D-8039-948D2D39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D3FED-A032-33B8-E671-72A4051A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33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BDD9-F109-9712-F98E-3C7A40B3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08874-47FC-F37D-712E-E38E6DBD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77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E027-BD30-4147-CCD5-71315A3A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69C1-1C8C-9D4D-2429-D10937B2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83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1640</TotalTime>
  <Words>683</Words>
  <Application>Microsoft Office PowerPoint</Application>
  <PresentationFormat>Widescreen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227</cp:revision>
  <dcterms:created xsi:type="dcterms:W3CDTF">2025-09-22T02:44:38Z</dcterms:created>
  <dcterms:modified xsi:type="dcterms:W3CDTF">2026-03-09T11:06:37Z</dcterms:modified>
</cp:coreProperties>
</file>