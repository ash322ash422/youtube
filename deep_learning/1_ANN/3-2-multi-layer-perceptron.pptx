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76" r:id="rId3"/>
    <p:sldId id="287" r:id="rId4"/>
    <p:sldId id="288" r:id="rId5"/>
    <p:sldId id="296" r:id="rId6"/>
    <p:sldId id="297" r:id="rId7"/>
    <p:sldId id="277" r:id="rId8"/>
    <p:sldId id="278" r:id="rId9"/>
    <p:sldId id="279" r:id="rId10"/>
    <p:sldId id="292" r:id="rId11"/>
    <p:sldId id="290" r:id="rId12"/>
    <p:sldId id="293" r:id="rId13"/>
    <p:sldId id="285" r:id="rId14"/>
    <p:sldId id="280" r:id="rId15"/>
    <p:sldId id="284" r:id="rId16"/>
    <p:sldId id="282" r:id="rId17"/>
    <p:sldId id="269" r:id="rId18"/>
    <p:sldId id="294" r:id="rId19"/>
    <p:sldId id="298" r:id="rId20"/>
    <p:sldId id="286" r:id="rId21"/>
    <p:sldId id="295" r:id="rId22"/>
    <p:sldId id="283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45" y="1664207"/>
            <a:ext cx="10991273" cy="97748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Multi-Layer Perceptron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552A-70F8-CB4B-0929-BF5D12FB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AD4872-4647-476A-7845-F06D5ADEF29A}"/>
              </a:ext>
            </a:extLst>
          </p:cNvPr>
          <p:cNvSpPr txBox="1"/>
          <p:nvPr/>
        </p:nvSpPr>
        <p:spPr>
          <a:xfrm>
            <a:off x="502920" y="170854"/>
            <a:ext cx="10268712" cy="14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Multi-layer Feedforward Networks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Multi-layer feedforward networks, also called </a:t>
            </a: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Multi-Layer Perceptron’s (MLPs)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are a fundamental type of artificial neural network.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72049-52F8-B881-1887-56920E68A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925615"/>
            <a:ext cx="6191184" cy="358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5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BB6-F4F2-AF49-2074-367E3AAC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89EFED-3B40-4AFD-CCFC-D80675A8B59A}"/>
              </a:ext>
            </a:extLst>
          </p:cNvPr>
          <p:cNvSpPr txBox="1"/>
          <p:nvPr/>
        </p:nvSpPr>
        <p:spPr>
          <a:xfrm>
            <a:off x="502920" y="170854"/>
            <a:ext cx="10579608" cy="302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Structure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a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feedforward network: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Receives the raw data/features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Hidden Layer(s)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One or more layers that process information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Produces the final prediction or classification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 "multi-layer" means there's at least one hidden layer between input and output.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877D9D-BFB9-75B4-A547-AB0137651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925615"/>
            <a:ext cx="6191184" cy="358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9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F39A-A4B6-CE36-6E5D-1AACD7DD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0437A-FAA4-43D5-1D7B-4835741E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76" y="1261872"/>
            <a:ext cx="9449407" cy="5568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5E7519-9F73-F27F-6E3A-5C91B3F40C9E}"/>
              </a:ext>
            </a:extLst>
          </p:cNvPr>
          <p:cNvSpPr txBox="1"/>
          <p:nvPr/>
        </p:nvSpPr>
        <p:spPr>
          <a:xfrm>
            <a:off x="1655064" y="510278"/>
            <a:ext cx="7548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MLP are consists of multiple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fully connected layers.</a:t>
            </a:r>
          </a:p>
        </p:txBody>
      </p:sp>
    </p:spTree>
    <p:extLst>
      <p:ext uri="{BB962C8B-B14F-4D97-AF65-F5344CB8AC3E}">
        <p14:creationId xmlns:p14="http://schemas.microsoft.com/office/powerpoint/2010/main" val="364770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92EF-4837-52D3-1013-FCD6A27E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E9637-B14F-4DCA-7689-07255B598D36}"/>
              </a:ext>
            </a:extLst>
          </p:cNvPr>
          <p:cNvSpPr txBox="1"/>
          <p:nvPr/>
        </p:nvSpPr>
        <p:spPr>
          <a:xfrm>
            <a:off x="301752" y="245102"/>
            <a:ext cx="10405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neurons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layer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number of input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problem, output layer has 1 neuron.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output layer has 1 neuron: value -&gt; 0/1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D51115F-127F-B175-39AC-5AE44F10F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43424" y="997208"/>
            <a:ext cx="4252853" cy="567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71B65B-0673-07BF-CA74-815D3433C979}"/>
              </a:ext>
            </a:extLst>
          </p:cNvPr>
          <p:cNvSpPr txBox="1"/>
          <p:nvPr/>
        </p:nvSpPr>
        <p:spPr>
          <a:xfrm>
            <a:off x="128016" y="2670048"/>
            <a:ext cx="45079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features =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Experience, Skillset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Salary (Regression)</a:t>
            </a:r>
          </a:p>
        </p:txBody>
      </p:sp>
    </p:spTree>
    <p:extLst>
      <p:ext uri="{BB962C8B-B14F-4D97-AF65-F5344CB8AC3E}">
        <p14:creationId xmlns:p14="http://schemas.microsoft.com/office/powerpoint/2010/main" val="267402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AF92-D8D7-9A98-F31A-EF18D8A2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C03C33-BA2B-2DD8-F429-BFC9238DE8F6}"/>
              </a:ext>
            </a:extLst>
          </p:cNvPr>
          <p:cNvSpPr txBox="1"/>
          <p:nvPr/>
        </p:nvSpPr>
        <p:spPr>
          <a:xfrm>
            <a:off x="128016" y="-9144"/>
            <a:ext cx="115031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output layer has number of classes neurons.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 MLP predicts the size of shirt based on age and height of a customer: Here the number of features = 2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Height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Size of shirt -&gt; S, M or L                    Here,  S = [1, 0, 0]    M = [0, 1, 0]      L = [0, 0, 1]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EECB5-8157-6271-6667-8CFFEFB93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01" y="2825960"/>
            <a:ext cx="9316751" cy="398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8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BACD-845A-37CD-78E9-822FDCDD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75CF1E-B9B4-B4C3-D88A-B61649862C9F}"/>
              </a:ext>
            </a:extLst>
          </p:cNvPr>
          <p:cNvSpPr txBox="1"/>
          <p:nvPr/>
        </p:nvSpPr>
        <p:spPr>
          <a:xfrm>
            <a:off x="201168" y="97702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"Feedforward" Works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flows in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direction only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enters through the input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Passes through hidden layers sequentially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Exits through the output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cycles or loops (unlike recurrent networks)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it like a assembly line where each station processes the product and passes it forward — never backward.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10F71-6A3E-B501-97F0-CE65AB493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94" y="3316546"/>
            <a:ext cx="5463166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5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C319-223B-CAAA-19B4-27C6BDA2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1C8304-5A05-AF24-965A-EDAA73EE321F}"/>
              </a:ext>
            </a:extLst>
          </p:cNvPr>
          <p:cNvSpPr txBox="1"/>
          <p:nvPr/>
        </p:nvSpPr>
        <p:spPr>
          <a:xfrm>
            <a:off x="201168" y="42838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 (Nodes)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layer contains multiple neurons that perform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5E543-B70E-79E1-DA0A-C6F52522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65" y="1302603"/>
            <a:ext cx="6665109" cy="2715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BFA693-1003-DE90-511D-2EB0815CE5AD}"/>
              </a:ext>
            </a:extLst>
          </p:cNvPr>
          <p:cNvSpPr txBox="1"/>
          <p:nvPr/>
        </p:nvSpPr>
        <p:spPr>
          <a:xfrm>
            <a:off x="137160" y="553102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7C93F-2CC8-998A-B014-C5E9995E1D90}"/>
              </a:ext>
            </a:extLst>
          </p:cNvPr>
          <p:cNvSpPr txBox="1"/>
          <p:nvPr/>
        </p:nvSpPr>
        <p:spPr>
          <a:xfrm>
            <a:off x="24384" y="2519596"/>
            <a:ext cx="166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Neuron -&gt;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7A3E62-6327-97B1-6508-645F55EB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4159767"/>
            <a:ext cx="4224777" cy="2574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5A458-BE35-18EF-5826-E655CCF29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537" y="2660487"/>
            <a:ext cx="3700463" cy="237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6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7A8B-4B7C-9CB3-BEDC-B7194BAA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2F4960-A2C1-266F-5F11-F3F693A037F5}"/>
              </a:ext>
            </a:extLst>
          </p:cNvPr>
          <p:cNvSpPr txBox="1"/>
          <p:nvPr/>
        </p:nvSpPr>
        <p:spPr>
          <a:xfrm>
            <a:off x="201167" y="79414"/>
            <a:ext cx="118079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represent the importance of inputs: A higher absolute value = more influence.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weights amplify input; negative weights can invert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connection between two neurons has a weight.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can be (–inf to +inf).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learned during training.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A784CC-C654-E91F-D2FA-727EBBC15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9087"/>
            <a:ext cx="8044422" cy="380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0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1175-7605-424B-9EA9-F944575E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F016F4-F6D8-06AA-7234-8C34E6A69248}"/>
              </a:ext>
            </a:extLst>
          </p:cNvPr>
          <p:cNvSpPr txBox="1"/>
          <p:nvPr/>
        </p:nvSpPr>
        <p:spPr>
          <a:xfrm>
            <a:off x="201168" y="225718"/>
            <a:ext cx="1005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 allows the network to shift the activation function.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 bias, the neuron output would always pass through the origin (zero input = zero output).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39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355D-154C-8CFD-8B31-7A4AD26D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0E6FB7-3D30-4577-96A6-8ABFE08615AA}"/>
              </a:ext>
            </a:extLst>
          </p:cNvPr>
          <p:cNvSpPr txBox="1"/>
          <p:nvPr/>
        </p:nvSpPr>
        <p:spPr>
          <a:xfrm>
            <a:off x="201168" y="97702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neuron applies a non-linear function (like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sigmoid, or tanh) to enable the network to learn non-linear patterns.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2B3993-757F-90BF-BD22-ED1B2B6F4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75" y="2066544"/>
            <a:ext cx="4650084" cy="2886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C291DA-B3B3-4F92-006D-10FC2A6B5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1755647"/>
            <a:ext cx="5683260" cy="393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4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770C-8221-7C87-CB0F-85E5F4D1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698A5E-847D-1E67-5CBA-6ABC219A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190"/>
            <a:ext cx="8191147" cy="3870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DC717-CAF7-5028-0C64-F67B523C6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418" y="4597646"/>
            <a:ext cx="3306332" cy="2170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DADA06-EFD7-207B-C6E7-D8A43DF4D33B}"/>
              </a:ext>
            </a:extLst>
          </p:cNvPr>
          <p:cNvSpPr txBox="1"/>
          <p:nvPr/>
        </p:nvSpPr>
        <p:spPr>
          <a:xfrm>
            <a:off x="7968996" y="4597646"/>
            <a:ext cx="42230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neurons, i.e. next layer</a:t>
            </a:r>
          </a:p>
          <a:p>
            <a:pPr lvl="0"/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becomes input to next neuron</a:t>
            </a: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480B5D-B556-6C6A-C0FD-9FF73E6DCCB1}"/>
              </a:ext>
            </a:extLst>
          </p:cNvPr>
          <p:cNvSpPr txBox="1"/>
          <p:nvPr/>
        </p:nvSpPr>
        <p:spPr>
          <a:xfrm>
            <a:off x="201168" y="-12026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process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weighted sum of inputs and add a bias term,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 (next layer)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5D9F-2EBD-7061-6943-4561857F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461CB-DF24-BCB9-258A-679D5722A059}"/>
              </a:ext>
            </a:extLst>
          </p:cNvPr>
          <p:cNvSpPr txBox="1"/>
          <p:nvPr/>
        </p:nvSpPr>
        <p:spPr>
          <a:xfrm>
            <a:off x="192024" y="298870"/>
            <a:ext cx="107733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free parameters (bias + weights) of the neural network are changed as a result of training.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WHOLE GAME OF NEURAL NETWORK IS FINDING WEIGHTS, BIAS, etc.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68E837-29BE-2482-DC6C-BFC4269E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09" y="1740514"/>
            <a:ext cx="10170500" cy="511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22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DB19-DA99-847D-2765-CDAA738F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0F8E2B-25F6-757D-81D6-ECFE7577C940}"/>
              </a:ext>
            </a:extLst>
          </p:cNvPr>
          <p:cNvSpPr txBox="1"/>
          <p:nvPr/>
        </p:nvSpPr>
        <p:spPr>
          <a:xfrm>
            <a:off x="201168" y="15406"/>
            <a:ext cx="11576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"Multi-layer" Matters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layers allow the network to learn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hierarchical representations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layers detect simple patterns (edges, basic features)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Deeper layers combine these into complex patterns (shapes, objects, abstract concepts)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FEC73F-B8D0-B078-0C8D-9324F7B15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93" y="2139696"/>
            <a:ext cx="8913311" cy="4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B630-D9AC-25CE-2677-AF617768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BEDAEF-D167-F599-DE17-CBED55FFB6D8}"/>
              </a:ext>
            </a:extLst>
          </p:cNvPr>
          <p:cNvSpPr txBox="1"/>
          <p:nvPr/>
        </p:nvSpPr>
        <p:spPr>
          <a:xfrm>
            <a:off x="201168" y="570733"/>
            <a:ext cx="11228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perceptron and neuron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Perceptron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fundamental,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binary-output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artificial linear classifier.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(specifically an artificial neuron or node) is a more advanced,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continuous-output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unit used in modern deep learning. Neurons utilize non-linear activation functions. </a:t>
            </a:r>
          </a:p>
        </p:txBody>
      </p:sp>
    </p:spTree>
    <p:extLst>
      <p:ext uri="{BB962C8B-B14F-4D97-AF65-F5344CB8AC3E}">
        <p14:creationId xmlns:p14="http://schemas.microsoft.com/office/powerpoint/2010/main" val="372195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60DF-2FA3-6479-9DEE-2AAADBBB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B9739B-A25C-6C06-8C8F-6DDB97B1DB0E}"/>
              </a:ext>
            </a:extLst>
          </p:cNvPr>
          <p:cNvSpPr txBox="1"/>
          <p:nvPr/>
        </p:nvSpPr>
        <p:spPr>
          <a:xfrm>
            <a:off x="201168" y="2685454"/>
            <a:ext cx="1122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894445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04036" y="3241761"/>
            <a:ext cx="2181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340" y="5605113"/>
            <a:ext cx="1501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 target y</a:t>
            </a:r>
          </a:p>
        </p:txBody>
      </p:sp>
      <p:sp>
        <p:nvSpPr>
          <p:cNvPr id="7" name="Oval 6"/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7295" y="4830205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 flipV="1">
            <a:off x="2286000" y="5202883"/>
            <a:ext cx="2074111" cy="32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1429629" y="3611093"/>
            <a:ext cx="10797" cy="1006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150430" y="3028426"/>
            <a:ext cx="1542074" cy="251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 flipV="1">
            <a:off x="6265712" y="5577787"/>
            <a:ext cx="766795" cy="144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2830" y="465350"/>
            <a:ext cx="5748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defines the feedback signal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is used for learning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Algorithm that adjusts the attributes of the neural network, such as weights and learning rates.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6105665" y="2619552"/>
            <a:ext cx="1008675" cy="6951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48113" y="57660"/>
            <a:ext cx="3797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flow of info. when NN are 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38" y="5746654"/>
            <a:ext cx="3559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Gradient Descent, Stochastic 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75E66E-BEE3-2752-4B09-DF95BF639914}"/>
              </a:ext>
            </a:extLst>
          </p:cNvPr>
          <p:cNvCxnSpPr>
            <a:cxnSpLocks/>
          </p:cNvCxnSpPr>
          <p:nvPr/>
        </p:nvCxnSpPr>
        <p:spPr>
          <a:xfrm flipH="1">
            <a:off x="6265712" y="3713406"/>
            <a:ext cx="995058" cy="1231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FB20D79F-AC97-D0A9-9628-66D2AD793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7" y="57660"/>
            <a:ext cx="5966465" cy="34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48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275C-53AC-ECD2-2D44-8BBB70F6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E840EC-9949-F3A9-40B2-C1E53D5A5FE6}"/>
              </a:ext>
            </a:extLst>
          </p:cNvPr>
          <p:cNvSpPr txBox="1"/>
          <p:nvPr/>
        </p:nvSpPr>
        <p:spPr>
          <a:xfrm>
            <a:off x="7204036" y="3241761"/>
            <a:ext cx="2181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5D70-5EFD-BFFD-3E70-DF81B1DA62A3}"/>
              </a:ext>
            </a:extLst>
          </p:cNvPr>
          <p:cNvSpPr txBox="1"/>
          <p:nvPr/>
        </p:nvSpPr>
        <p:spPr>
          <a:xfrm>
            <a:off x="7114340" y="5605113"/>
            <a:ext cx="2254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True/Actual target 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FBCB8A-1C00-19B1-9257-94E1A96505D1}"/>
              </a:ext>
            </a:extLst>
          </p:cNvPr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DBE4B-1976-328B-759F-B5158880AF10}"/>
              </a:ext>
            </a:extLst>
          </p:cNvPr>
          <p:cNvSpPr txBox="1"/>
          <p:nvPr/>
        </p:nvSpPr>
        <p:spPr>
          <a:xfrm>
            <a:off x="3157295" y="4830205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F23F9-661E-6397-CCA3-4EB04F402A2E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202883"/>
            <a:ext cx="2074111" cy="32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46EF84F-B0D6-7197-7A91-78CB9C8E2C2C}"/>
              </a:ext>
            </a:extLst>
          </p:cNvPr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07F0AD-018A-8983-4A53-F4BED9B76188}"/>
              </a:ext>
            </a:extLst>
          </p:cNvPr>
          <p:cNvCxnSpPr>
            <a:cxnSpLocks/>
          </p:cNvCxnSpPr>
          <p:nvPr/>
        </p:nvCxnSpPr>
        <p:spPr>
          <a:xfrm flipV="1">
            <a:off x="1429629" y="3611093"/>
            <a:ext cx="10797" cy="1006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97C318-A27F-BF1B-2A7B-01A05E2C197A}"/>
              </a:ext>
            </a:extLst>
          </p:cNvPr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D7211A-F133-0F56-29BC-129D83088DE6}"/>
              </a:ext>
            </a:extLst>
          </p:cNvPr>
          <p:cNvCxnSpPr/>
          <p:nvPr/>
        </p:nvCxnSpPr>
        <p:spPr>
          <a:xfrm flipH="1">
            <a:off x="6150430" y="3028426"/>
            <a:ext cx="1542074" cy="251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AF5BA9-3577-0CF3-3DD9-04E77A243959}"/>
              </a:ext>
            </a:extLst>
          </p:cNvPr>
          <p:cNvCxnSpPr>
            <a:cxnSpLocks/>
          </p:cNvCxnSpPr>
          <p:nvPr/>
        </p:nvCxnSpPr>
        <p:spPr>
          <a:xfrm flipH="1" flipV="1">
            <a:off x="6265712" y="5577787"/>
            <a:ext cx="766795" cy="144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B75D07-9BAA-1018-2B16-FB8ADE3BDCB7}"/>
              </a:ext>
            </a:extLst>
          </p:cNvPr>
          <p:cNvSpPr txBox="1"/>
          <p:nvPr/>
        </p:nvSpPr>
        <p:spPr>
          <a:xfrm>
            <a:off x="6302829" y="218462"/>
            <a:ext cx="5889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networks typically learn through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predictions (forward pass)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error between predictions and actual values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Propagate error backward through the network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 using gradient descent to minimize error/loss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D0B032-D310-B216-94B5-01C414E92EF1}"/>
              </a:ext>
            </a:extLst>
          </p:cNvPr>
          <p:cNvCxnSpPr>
            <a:cxnSpLocks/>
          </p:cNvCxnSpPr>
          <p:nvPr/>
        </p:nvCxnSpPr>
        <p:spPr>
          <a:xfrm>
            <a:off x="6105665" y="2619552"/>
            <a:ext cx="1008675" cy="6951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59A3F3-4F8B-A8D6-0A54-9EAA9BA639DD}"/>
              </a:ext>
            </a:extLst>
          </p:cNvPr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3A733-B7FE-2C7C-5D21-6B9706987580}"/>
              </a:ext>
            </a:extLst>
          </p:cNvPr>
          <p:cNvSpPr txBox="1"/>
          <p:nvPr/>
        </p:nvSpPr>
        <p:spPr>
          <a:xfrm>
            <a:off x="70338" y="5746654"/>
            <a:ext cx="2928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SGD,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87751B-CB10-5AA3-61D1-3A6935DD58BC}"/>
              </a:ext>
            </a:extLst>
          </p:cNvPr>
          <p:cNvCxnSpPr>
            <a:cxnSpLocks/>
          </p:cNvCxnSpPr>
          <p:nvPr/>
        </p:nvCxnSpPr>
        <p:spPr>
          <a:xfrm flipH="1">
            <a:off x="6265712" y="3713406"/>
            <a:ext cx="995058" cy="1231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81C23037-F056-770F-3687-8F4DB740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7" y="57660"/>
            <a:ext cx="5966465" cy="34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29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A2CF-B50B-58C5-8AF8-940250EA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/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 example of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Loss Function: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=3</a:t>
                </a:r>
                <a:r>
                  <a:rPr lang="en-US" sz="2400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sample, if actual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4 and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9, then loss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 i="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US" sz="240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25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Cost Function: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(Mean Squared Error)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is the average of loss for all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NOTE: Some authors use the term Loss Function and Cost Function to mean the same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blipFill>
                <a:blip r:embed="rId2"/>
                <a:stretch>
                  <a:fillRect l="-933" t="-1175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4815A7-AB2C-D994-C9E1-C9C95A6D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841" y="1992356"/>
            <a:ext cx="3000794" cy="9240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E8D1C1-1DDF-EDAE-2DCB-D1690BB57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886" y="789710"/>
            <a:ext cx="1308727" cy="3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76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5B97-322F-46FF-4966-95020C30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76B968-B7AD-11F2-4945-F7CEB46503C5}"/>
              </a:ext>
            </a:extLst>
          </p:cNvPr>
          <p:cNvSpPr txBox="1"/>
          <p:nvPr/>
        </p:nvSpPr>
        <p:spPr>
          <a:xfrm>
            <a:off x="201168" y="595412"/>
            <a:ext cx="112288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Initializing weights and bias: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biases are usually initialized with small random values.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Weights: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Initialization: W∼U(−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a,a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where a is typically small (e.g., 0.01, or based on input size).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Initialization: W∼N(0,σ^2) with small standard deviation.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Biases are often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with small values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0.01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521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E2BD-8AE5-8200-9022-F037DC0D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0575E9-E616-F6A9-BFDB-A98F2B6FAE4B}"/>
              </a:ext>
            </a:extLst>
          </p:cNvPr>
          <p:cNvSpPr txBox="1"/>
          <p:nvPr/>
        </p:nvSpPr>
        <p:spPr>
          <a:xfrm>
            <a:off x="201168" y="1445804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weights and bias is computationally expensive.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Emergence of GPU(Graphical Processing Unit) and TPU(Tensor Processing unit) has helped.</a:t>
            </a:r>
          </a:p>
        </p:txBody>
      </p:sp>
    </p:spTree>
    <p:extLst>
      <p:ext uri="{BB962C8B-B14F-4D97-AF65-F5344CB8AC3E}">
        <p14:creationId xmlns:p14="http://schemas.microsoft.com/office/powerpoint/2010/main" val="2713072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EAA2-835E-1B4A-C4A2-86B19E65A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EE99C5-627B-C078-8326-A6BE04624C5F}"/>
              </a:ext>
            </a:extLst>
          </p:cNvPr>
          <p:cNvSpPr txBox="1"/>
          <p:nvPr/>
        </p:nvSpPr>
        <p:spPr>
          <a:xfrm>
            <a:off x="201168" y="344590"/>
            <a:ext cx="11228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Applications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classification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recognition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 problems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approximation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26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1891</TotalTime>
  <Words>940</Words>
  <Application>Microsoft Office PowerPoint</Application>
  <PresentationFormat>Widescreen</PresentationFormat>
  <Paragraphs>128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Multi-Layer Perceptron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216</cp:revision>
  <dcterms:created xsi:type="dcterms:W3CDTF">2025-09-22T02:44:38Z</dcterms:created>
  <dcterms:modified xsi:type="dcterms:W3CDTF">2026-03-09T08:52:32Z</dcterms:modified>
</cp:coreProperties>
</file>