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7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58" r:id="rId10"/>
    <p:sldId id="27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E215DA-3608-60AF-BA74-5CE165D36D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5639" y="666589"/>
            <a:ext cx="11700387" cy="4041648"/>
          </a:xfrm>
        </p:spPr>
        <p:txBody>
          <a:bodyPr>
            <a:normAutofit/>
          </a:bodyPr>
          <a:lstStyle/>
          <a:p>
            <a:pPr algn="ctr"/>
            <a:r>
              <a:rPr lang="en-US" b="1" dirty="0"/>
              <a:t>Training and classification</a:t>
            </a:r>
            <a:br>
              <a:rPr lang="en-US" b="1" dirty="0"/>
            </a:br>
            <a:r>
              <a:rPr lang="en-US" b="1" dirty="0"/>
              <a:t>using a discrete perceptron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with a </a:t>
            </a:r>
            <a:r>
              <a:rPr lang="en-US" b="1" dirty="0"/>
              <a:t>step-by-step example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737669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FFB1933-E5DA-968C-486B-4D7D8F10EA05}"/>
              </a:ext>
            </a:extLst>
          </p:cNvPr>
          <p:cNvSpPr txBox="1"/>
          <p:nvPr/>
        </p:nvSpPr>
        <p:spPr>
          <a:xfrm>
            <a:off x="594846" y="179121"/>
            <a:ext cx="618449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1.Quick Recap: Discrete Perceptron</a:t>
            </a:r>
            <a:endParaRPr lang="en-IN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D7B29AA-BDA4-83D9-F25A-D06FB0F10BAD}"/>
                  </a:ext>
                </a:extLst>
              </p:cNvPr>
              <p:cNvSpPr txBox="1"/>
              <p:nvPr/>
            </p:nvSpPr>
            <p:spPr>
              <a:xfrm>
                <a:off x="275303" y="1595443"/>
                <a:ext cx="10373032" cy="48652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It is a </a:t>
                </a:r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single-layer perceptron</a:t>
                </a: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that uses a </a:t>
                </a:r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step (threshold) activation function</a:t>
                </a: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ar-AE" sz="2400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ar-AE" sz="2400">
                                    <a:solidFill>
                                      <a:schemeClr val="accent6">
                                        <a:lumMod val="60000"/>
                                        <a:lumOff val="4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sz="2400" i="1">
                                    <a:solidFill>
                                      <a:schemeClr val="accent6">
                                        <a:lumMod val="60000"/>
                                        <a:lumOff val="40000"/>
                                      </a:schemeClr>
                                    </a:solidFill>
                                  </a:rPr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 lang="en-US" sz="2400" i="1">
                                    <a:solidFill>
                                      <a:schemeClr val="accent6">
                                        <a:lumMod val="60000"/>
                                        <a:lumOff val="40000"/>
                                      </a:schemeClr>
                                    </a:solidFill>
                                  </a:rPr>
                                  <m:t> </m:t>
                                </m:r>
                                <m:d>
                                  <m:dPr>
                                    <m:ctrlPr>
                                      <a:rPr lang="ar-AE" sz="2400" i="1">
                                        <a:solidFill>
                                          <a:schemeClr val="accent6">
                                            <a:lumMod val="60000"/>
                                            <a:lumOff val="4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ar-AE" sz="2400" i="1">
                                        <a:solidFill>
                                          <a:schemeClr val="accent6">
                                            <a:lumMod val="60000"/>
                                            <a:lumOff val="4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  <m:r>
                                      <a:rPr lang="ar-AE" sz="2400">
                                        <a:solidFill>
                                          <a:schemeClr val="accent6">
                                            <a:lumMod val="60000"/>
                                            <a:lumOff val="4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⋅</m:t>
                                    </m:r>
                                    <m:r>
                                      <a:rPr lang="ar-AE" sz="2400" i="1">
                                        <a:solidFill>
                                          <a:schemeClr val="accent6">
                                            <a:lumMod val="60000"/>
                                            <a:lumOff val="4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ar-AE" sz="2400">
                                        <a:solidFill>
                                          <a:schemeClr val="accent6">
                                            <a:lumMod val="60000"/>
                                            <a:lumOff val="4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ar-AE" sz="2400" i="1">
                                        <a:solidFill>
                                          <a:schemeClr val="accent6">
                                            <a:lumMod val="60000"/>
                                            <a:lumOff val="4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</m:d>
                                <m:r>
                                  <a:rPr lang="ar-AE" sz="2400">
                                    <a:solidFill>
                                      <a:schemeClr val="accent6">
                                        <a:lumMod val="60000"/>
                                        <a:lumOff val="4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&gt;</m:t>
                                </m:r>
                                <m:r>
                                  <a:rPr lang="ar-AE" sz="2400">
                                    <a:solidFill>
                                      <a:schemeClr val="accent6">
                                        <a:lumMod val="60000"/>
                                        <a:lumOff val="4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ar-AE" sz="2400">
                                    <a:solidFill>
                                      <a:schemeClr val="accent6">
                                        <a:lumMod val="60000"/>
                                        <a:lumOff val="4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sz="2400" i="1">
                                    <a:solidFill>
                                      <a:schemeClr val="accent6">
                                        <a:lumMod val="60000"/>
                                        <a:lumOff val="40000"/>
                                      </a:schemeClr>
                                    </a:solidFill>
                                  </a:rPr>
                                  <m:t>otherwise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ar-AE" sz="2400" b="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pPr marL="0" indent="0">
                  <a:buNone/>
                </a:pPr>
                <a:endParaRPr lang="en-US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pPr marL="0" indent="0">
                  <a:buNone/>
                </a:pP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It classifies inputs into </a:t>
                </a:r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two classes (0 or 1)</a:t>
                </a: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.</a:t>
                </a:r>
              </a:p>
              <a:p>
                <a:pPr marL="0" indent="0">
                  <a:buNone/>
                </a:pP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Training adjusts weights using the </a:t>
                </a:r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Perceptron Learning Rule</a:t>
                </a: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ar-AE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←</m:t>
                      </m:r>
                      <m:sSub>
                        <m:sSubPr>
                          <m:ctrlP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ar-AE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AE" sz="2400" i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𝜂</m:t>
                      </m:r>
                      <m:d>
                        <m:dPr>
                          <m:ctrlP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sz="2400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400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sz="2400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</a:rPr>
                                <m:t>true</m:t>
                              </m:r>
                            </m:sub>
                          </m:sSub>
                          <m:r>
                            <a:rPr lang="ar-AE" sz="240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ar-AE" sz="2400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400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sz="2400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</a:rPr>
                                <m:t>pred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ar-AE" sz="2400" b="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pPr marL="0" indent="0">
                  <a:buNone/>
                </a:pP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where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𝜂</m:t>
                    </m:r>
                  </m:oMath>
                </a14:m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= learning rate (often 1 for discrete perceptron)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sz="24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4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m:rPr>
                            <m:nor/>
                          </m:rPr>
                          <a:rPr lang="en-US" sz="24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</a:rPr>
                          <m:t>true</m:t>
                        </m:r>
                      </m:sub>
                    </m:sSub>
                  </m:oMath>
                </a14:m>
                <a:r>
                  <a:rPr lang="ar-AE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= </a:t>
                </a: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actual class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sz="24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4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m:rPr>
                            <m:nor/>
                          </m:rPr>
                          <a:rPr lang="en-US" sz="24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</a:rPr>
                          <m:t>pred</m:t>
                        </m:r>
                      </m:sub>
                    </m:sSub>
                  </m:oMath>
                </a14:m>
                <a:r>
                  <a:rPr lang="ar-AE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= </a:t>
                </a: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predicted class</a:t>
                </a:r>
              </a:p>
              <a:p>
                <a:pPr marL="0" indent="0">
                  <a:buNone/>
                </a:pPr>
                <a:endParaRPr lang="en-US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D7B29AA-BDA4-83D9-F25A-D06FB0F10B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303" y="1595443"/>
                <a:ext cx="10373032" cy="4865243"/>
              </a:xfrm>
              <a:prstGeom prst="rect">
                <a:avLst/>
              </a:prstGeom>
              <a:blipFill>
                <a:blip r:embed="rId2"/>
                <a:stretch>
                  <a:fillRect l="-881" t="-10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211933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7EF081-E4E5-3C38-0A87-B58880707A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7A021-CBC8-9CA3-15EA-EEE45128F4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1872" y="365760"/>
            <a:ext cx="4598154" cy="473740"/>
          </a:xfrm>
        </p:spPr>
        <p:txBody>
          <a:bodyPr>
            <a:normAutofit fontScale="90000"/>
          </a:bodyPr>
          <a:lstStyle/>
          <a:p>
            <a:r>
              <a:rPr lang="en-US" sz="2800" b="1" dirty="0"/>
              <a:t>2. Example Problem</a:t>
            </a:r>
            <a:endParaRPr lang="en-US" sz="28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65EB596-517F-60E0-BD65-B11EA8B9CD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291" y="2301143"/>
            <a:ext cx="7996599" cy="260495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258AFE9-4E08-B61F-742F-094A53A7DFCE}"/>
              </a:ext>
            </a:extLst>
          </p:cNvPr>
          <p:cNvSpPr txBox="1"/>
          <p:nvPr/>
        </p:nvSpPr>
        <p:spPr>
          <a:xfrm>
            <a:off x="201554" y="1100814"/>
            <a:ext cx="1037795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Let’s use a simple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OR gate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as our classification problem. Let's construct a perceptron that can classify output as 0 or 1 depending on the input.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8093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9EEAFD-C305-3E17-F67F-BD3347D5D2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3D9724-1D52-A9A6-4B19-DE5DAC65A6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1872" y="365760"/>
            <a:ext cx="5237251" cy="509311"/>
          </a:xfrm>
        </p:spPr>
        <p:txBody>
          <a:bodyPr>
            <a:normAutofit/>
          </a:bodyPr>
          <a:lstStyle/>
          <a:p>
            <a:r>
              <a:rPr lang="en-US" sz="2800" dirty="0"/>
              <a:t>3. Step-by-Step Training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B930CE9-4EB2-0867-51B9-4206E9E9FD32}"/>
                  </a:ext>
                </a:extLst>
              </p:cNvPr>
              <p:cNvSpPr txBox="1"/>
              <p:nvPr/>
            </p:nvSpPr>
            <p:spPr>
              <a:xfrm>
                <a:off x="29495" y="1134209"/>
                <a:ext cx="10058400" cy="427809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Initial setup:</a:t>
                </a:r>
              </a:p>
              <a:p>
                <a:pPr marL="0" indent="0">
                  <a:buNone/>
                </a:pP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Weights: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24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4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ar-AE" sz="240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ar-AE" sz="24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4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ar-AE" sz="240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ar-AE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ar-AE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pPr marL="0" indent="0">
                  <a:buNone/>
                </a:pP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Bias: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US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pPr marL="0" indent="0">
                  <a:buNone/>
                </a:pP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Learning rate: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𝜂</m:t>
                    </m:r>
                    <m:r>
                      <a:rPr lang="en-US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US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pPr marL="0" indent="0">
                  <a:buNone/>
                </a:pPr>
                <a:endParaRPr lang="en-US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Epoch 1</a:t>
                </a:r>
              </a:p>
              <a:p>
                <a:pPr marL="0" indent="0">
                  <a:buNone/>
                </a:pP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Go through each training example:</a:t>
                </a:r>
              </a:p>
              <a:p>
                <a:pPr marL="0" indent="0">
                  <a:buNone/>
                </a:pPr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Case 1: (0,0) → Expected = 0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40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ar-AE" sz="240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ar-AE" sz="240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ar-AE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40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ar-AE" sz="240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ar-AE" sz="240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ar-AE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AE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ar-AE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ar-AE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pPr marL="0" indent="0">
                  <a:buNone/>
                </a:pP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Predicted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→ </a:t>
                </a:r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Correct </a:t>
                </a: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✅ (no update).</a:t>
                </a:r>
              </a:p>
              <a:p>
                <a:pPr marL="0" indent="0">
                  <a:buNone/>
                </a:pPr>
                <a:endParaRPr lang="en-US" sz="32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B930CE9-4EB2-0867-51B9-4206E9E9FD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95" y="1134209"/>
                <a:ext cx="10058400" cy="4278094"/>
              </a:xfrm>
              <a:prstGeom prst="rect">
                <a:avLst/>
              </a:prstGeom>
              <a:blipFill>
                <a:blip r:embed="rId2"/>
                <a:stretch>
                  <a:fillRect l="-970" t="-114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047647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F1A6FC-C8E8-1372-EB2F-1BF9930856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7D6EF707-12D6-4AD5-9BC5-F96E32A4F3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1872" y="365760"/>
            <a:ext cx="5237251" cy="509311"/>
          </a:xfrm>
        </p:spPr>
        <p:txBody>
          <a:bodyPr>
            <a:normAutofit/>
          </a:bodyPr>
          <a:lstStyle/>
          <a:p>
            <a:r>
              <a:rPr lang="en-US" sz="2800" dirty="0"/>
              <a:t>3. Step-by-Step Training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769A848-511B-6C29-2098-28E805747C18}"/>
                  </a:ext>
                </a:extLst>
              </p:cNvPr>
              <p:cNvSpPr txBox="1"/>
              <p:nvPr/>
            </p:nvSpPr>
            <p:spPr>
              <a:xfrm>
                <a:off x="629264" y="1707024"/>
                <a:ext cx="10314039" cy="34163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Case 2: (0,1) → Expected = 1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40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ar-AE" sz="240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ar-AE" sz="240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ar-AE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40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ar-AE" sz="240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ar-AE" sz="240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ar-AE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AE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ar-AE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ar-AE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pPr marL="0" indent="0">
                  <a:buNone/>
                </a:pP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Predicted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, but actual = 1 → Wrong ❌</a:t>
                </a:r>
              </a:p>
              <a:p>
                <a:pPr marL="0" indent="0">
                  <a:buNone/>
                </a:pPr>
                <a:endParaRPr lang="en-US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pPr marL="0" indent="0">
                  <a:buNone/>
                </a:pP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Update weights: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ar-AE" sz="240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ar-AE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ar-AE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AE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ar-AE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40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ar-AE" sz="240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 sz="240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ar-AE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ar-AE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ar-AE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ar-AE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ar-AE" sz="240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ar-AE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ar-AE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AE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ar-AE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40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ar-AE" sz="240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 sz="240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ar-AE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ar-AE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ar-AE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ar-AE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sz="2400" i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ar-AE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ar-AE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AE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ar-AE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40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ar-AE" sz="240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 sz="240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ar-AE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ar-AE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pPr marL="0" indent="0">
                  <a:buNone/>
                </a:pP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Now: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24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4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ar-AE" sz="240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ar-AE" sz="24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4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ar-AE" sz="240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ar-AE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ar-AE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ar-AE" sz="2400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ar-AE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ar-AE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769A848-511B-6C29-2098-28E805747C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264" y="1707024"/>
                <a:ext cx="10314039" cy="3416320"/>
              </a:xfrm>
              <a:prstGeom prst="rect">
                <a:avLst/>
              </a:prstGeom>
              <a:blipFill>
                <a:blip r:embed="rId2"/>
                <a:stretch>
                  <a:fillRect l="-887" t="-1429" b="-321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535696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839329-9039-AFDD-4C20-6581AC3F8E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04111FA0-80D2-7D40-0AF9-BFAFE6D93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1872" y="365760"/>
            <a:ext cx="5237251" cy="509311"/>
          </a:xfrm>
        </p:spPr>
        <p:txBody>
          <a:bodyPr>
            <a:normAutofit/>
          </a:bodyPr>
          <a:lstStyle/>
          <a:p>
            <a:r>
              <a:rPr lang="en-US" sz="2800" dirty="0"/>
              <a:t>3. Step-by-Step Training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B2D0D89-F66D-7131-FC84-A1E2726F135F}"/>
                  </a:ext>
                </a:extLst>
              </p:cNvPr>
              <p:cNvSpPr txBox="1"/>
              <p:nvPr/>
            </p:nvSpPr>
            <p:spPr>
              <a:xfrm>
                <a:off x="245806" y="1723298"/>
                <a:ext cx="9507794" cy="46474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Case 3: (1,0) → Expected = 1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40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ar-AE" sz="240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ar-AE" sz="240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ar-AE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40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ar-AE" sz="240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ar-AE" sz="240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ar-AE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AE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ar-AE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pPr marL="0" indent="0">
                  <a:buNone/>
                </a:pPr>
                <a:endParaRPr lang="ar-AE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pPr marL="0" indent="0">
                  <a:buNone/>
                </a:pP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Predicted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→ Correct ✅</a:t>
                </a:r>
              </a:p>
              <a:p>
                <a:pPr marL="0" indent="0">
                  <a:buNone/>
                </a:pPr>
                <a:b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</a:br>
                <a:endParaRPr lang="en-US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pPr marL="0" indent="0">
                  <a:buNone/>
                </a:pPr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Case 4: (1,1) → Expected = 1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40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ar-AE" sz="240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ar-AE" sz="240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ar-AE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40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ar-AE" sz="240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ar-AE" sz="240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ar-AE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AE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ar-AE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ar-AE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pPr marL="0" indent="0">
                  <a:buNone/>
                </a:pP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Predicted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→ Correct ✅</a:t>
                </a:r>
              </a:p>
              <a:p>
                <a:pPr marL="0" indent="0">
                  <a:buNone/>
                </a:pPr>
                <a:endParaRPr lang="en-US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pPr marL="0" indent="0">
                  <a:buNone/>
                </a:pP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✅ After just </a:t>
                </a:r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1 epoch</a:t>
                </a: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, the perceptron has already learned the OR function.</a:t>
                </a:r>
              </a:p>
              <a:p>
                <a:pPr marL="0" indent="0">
                  <a:buNone/>
                </a:pPr>
                <a:endParaRPr lang="en-US" sz="32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B2D0D89-F66D-7131-FC84-A1E2726F13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806" y="1723298"/>
                <a:ext cx="9507794" cy="4647426"/>
              </a:xfrm>
              <a:prstGeom prst="rect">
                <a:avLst/>
              </a:prstGeom>
              <a:blipFill>
                <a:blip r:embed="rId2"/>
                <a:stretch>
                  <a:fillRect l="-962" t="-1050" r="-57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821220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0B2DEE-1CCA-CB70-54A3-0BBE298AC7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77F32E3-E892-4A72-177E-7F975444514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0364" y="1700980"/>
                <a:ext cx="11296072" cy="4351337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Now let’s test the perceptron with the learned weights: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sz="24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4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ar-AE" sz="240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ar-AE" sz="2400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rPr>
                      <m:t> </m:t>
                    </m:r>
                    <m:sSub>
                      <m:sSubPr>
                        <m:ctrlPr>
                          <a:rPr lang="ar-AE" sz="24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4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ar-AE" sz="240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ar-AE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ar-AE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ar-AE" sz="2400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rPr>
                      <m:t> </m:t>
                    </m:r>
                    <m:r>
                      <a:rPr lang="ar-AE" sz="2400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ar-AE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ar-AE" sz="2400" b="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Input (0,0):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US" sz="2400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❌ Wrong → small adjustment needed.</a:t>
                </a:r>
              </a:p>
              <a:p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Input (0,1):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US" sz="2400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✅</a:t>
                </a:r>
              </a:p>
              <a:p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Input (1,0):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US" sz="2400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✅</a:t>
                </a:r>
              </a:p>
              <a:p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Input (1,1):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US" sz="2400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✅</a:t>
                </a:r>
              </a:p>
              <a:p>
                <a:endParaRPr lang="en-US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A couple more training iterations will fix the (0,0) case. Eventually, the perceptron converges to correct weights, e.g.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sz="24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4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ar-AE" sz="240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ar-AE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ar-AE" sz="2400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rPr>
                      <m:t> </m:t>
                    </m:r>
                    <m:sSub>
                      <m:sSubPr>
                        <m:ctrlPr>
                          <a:rPr lang="ar-AE" sz="24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4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ar-AE" sz="240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ar-AE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ar-AE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ar-AE" sz="2400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rPr>
                      <m:t> </m:t>
                    </m:r>
                    <m:r>
                      <a:rPr lang="ar-AE" sz="2400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ar-AE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ar-AE" sz="2400" b="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sz="20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77F32E3-E892-4A72-177E-7F975444514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0364" y="1700980"/>
                <a:ext cx="11296072" cy="4351337"/>
              </a:xfrm>
              <a:blipFill>
                <a:blip r:embed="rId2"/>
                <a:stretch>
                  <a:fillRect l="-701" t="-266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836B8854-82F5-19DD-F483-EFE3382F9D8A}"/>
              </a:ext>
            </a:extLst>
          </p:cNvPr>
          <p:cNvSpPr txBox="1"/>
          <p:nvPr/>
        </p:nvSpPr>
        <p:spPr>
          <a:xfrm>
            <a:off x="1086461" y="375767"/>
            <a:ext cx="618449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4. Classification</a:t>
            </a:r>
            <a:endParaRPr lang="en-IN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2540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387333-FDD4-235F-B331-D71C5865A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>
            <a:extLst>
              <a:ext uri="{FF2B5EF4-FFF2-40B4-BE49-F238E27FC236}">
                <a16:creationId xmlns:a16="http://schemas.microsoft.com/office/drawing/2014/main" id="{39FB5406-480A-682D-618E-1B3030D2518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06477" y="1283771"/>
            <a:ext cx="11720052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Training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= adjust weights using perceptron rule until all training samples are classified correctly.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24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Classification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= compute weighted sum, apply step function, output 0 or 1.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24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Works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only for linearly separable problems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(like AND, OR).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24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Does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not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work for XOR (non-linear).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2F8133-D7F5-6961-927E-4EA1AE402AD0}"/>
              </a:ext>
            </a:extLst>
          </p:cNvPr>
          <p:cNvSpPr txBox="1"/>
          <p:nvPr/>
        </p:nvSpPr>
        <p:spPr>
          <a:xfrm>
            <a:off x="909478" y="365933"/>
            <a:ext cx="7010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5. Key Takeaways</a:t>
            </a:r>
            <a:endParaRPr lang="en-IN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58526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892582-9E8E-E266-2B2C-CFE9AA4D1E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A8EEDB-6FC0-7F26-CA5A-43C4F52B80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2946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E1B75-886E-0812-B2FD-DD250C225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36525"/>
            <a:ext cx="11466576" cy="832739"/>
          </a:xfrm>
        </p:spPr>
        <p:txBody>
          <a:bodyPr>
            <a:normAutofit/>
          </a:bodyPr>
          <a:lstStyle/>
          <a:p>
            <a:r>
              <a:rPr lang="en-US" sz="3600" dirty="0"/>
              <a:t>EXTRA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2F8BE4-9CEA-0DAD-0357-E0A8215F169D}"/>
              </a:ext>
            </a:extLst>
          </p:cNvPr>
          <p:cNvSpPr txBox="1"/>
          <p:nvPr/>
        </p:nvSpPr>
        <p:spPr>
          <a:xfrm>
            <a:off x="274320" y="933117"/>
            <a:ext cx="11658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Xxxxxxxxxxx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xxxxxxxxxxxx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1062</TotalTime>
  <Words>491</Words>
  <Application>Microsoft Office PowerPoint</Application>
  <PresentationFormat>Widescreen</PresentationFormat>
  <Paragraphs>67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Cambria Math</vt:lpstr>
      <vt:lpstr>Office Theme</vt:lpstr>
      <vt:lpstr>Training and classification using a discrete perceptron  with a step-by-step example.</vt:lpstr>
      <vt:lpstr>PowerPoint Presentation</vt:lpstr>
      <vt:lpstr>2. Example Problem</vt:lpstr>
      <vt:lpstr>3. Step-by-Step Training</vt:lpstr>
      <vt:lpstr>3. Step-by-Step Training</vt:lpstr>
      <vt:lpstr>3. Step-by-Step Training</vt:lpstr>
      <vt:lpstr>PowerPoint Presentation</vt:lpstr>
      <vt:lpstr>PowerPoint Presentation</vt:lpstr>
      <vt:lpstr>PowerPoint Presentation</vt:lpstr>
      <vt:lpstr>EXTRA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164</cp:revision>
  <dcterms:created xsi:type="dcterms:W3CDTF">2025-09-22T02:44:38Z</dcterms:created>
  <dcterms:modified xsi:type="dcterms:W3CDTF">2026-03-08T17:52:55Z</dcterms:modified>
</cp:coreProperties>
</file>