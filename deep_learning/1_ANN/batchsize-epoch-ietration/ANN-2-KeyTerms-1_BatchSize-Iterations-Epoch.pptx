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72" r:id="rId3"/>
    <p:sldId id="275" r:id="rId4"/>
    <p:sldId id="283" r:id="rId5"/>
    <p:sldId id="276" r:id="rId6"/>
    <p:sldId id="282" r:id="rId7"/>
    <p:sldId id="271" r:id="rId8"/>
    <p:sldId id="27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9" autoAdjust="0"/>
    <p:restoredTop sz="94660"/>
  </p:normalViewPr>
  <p:slideViewPr>
    <p:cSldViewPr snapToGrid="0">
      <p:cViewPr varScale="1">
        <p:scale>
          <a:sx n="111" d="100"/>
          <a:sy n="111" d="100"/>
        </p:scale>
        <p:origin x="58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D868-6BDF-B870-CCB1-3A38B04EB5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759FB6-6F3E-2486-64E6-258864B91E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A563F3-3B4A-7B04-0E7F-17D18B83EEC2}"/>
              </a:ext>
            </a:extLst>
          </p:cNvPr>
          <p:cNvSpPr>
            <a:spLocks noGrp="1"/>
          </p:cNvSpPr>
          <p:nvPr>
            <p:ph type="dt" sz="half" idx="10"/>
          </p:nvPr>
        </p:nvSpPr>
        <p:spPr/>
        <p:txBody>
          <a:bodyPr/>
          <a:lstStyle/>
          <a:p>
            <a:fld id="{598C49C6-5F15-4DD3-B364-B2DE57A5B88F}" type="datetimeFigureOut">
              <a:rPr lang="en-US" smtClean="0"/>
              <a:t>9/29/2025</a:t>
            </a:fld>
            <a:endParaRPr lang="en-US"/>
          </a:p>
        </p:txBody>
      </p:sp>
      <p:sp>
        <p:nvSpPr>
          <p:cNvPr id="5" name="Footer Placeholder 4">
            <a:extLst>
              <a:ext uri="{FF2B5EF4-FFF2-40B4-BE49-F238E27FC236}">
                <a16:creationId xmlns:a16="http://schemas.microsoft.com/office/drawing/2014/main" id="{851D2926-0DFE-E84D-785E-96C1E9748F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35E7BA-FDA7-3D16-C198-70EBBF07E834}"/>
              </a:ext>
            </a:extLst>
          </p:cNvPr>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3839126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83A7-BC67-FF5B-DED5-28679F4CE6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AD35CB-3C7D-D6F8-1828-972A7A0175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E5DFB7-2D89-4BAA-DEFE-35A51E2965DC}"/>
              </a:ext>
            </a:extLst>
          </p:cNvPr>
          <p:cNvSpPr>
            <a:spLocks noGrp="1"/>
          </p:cNvSpPr>
          <p:nvPr>
            <p:ph type="dt" sz="half" idx="10"/>
          </p:nvPr>
        </p:nvSpPr>
        <p:spPr/>
        <p:txBody>
          <a:bodyPr/>
          <a:lstStyle/>
          <a:p>
            <a:fld id="{598C49C6-5F15-4DD3-B364-B2DE57A5B88F}" type="datetimeFigureOut">
              <a:rPr lang="en-US" smtClean="0"/>
              <a:t>9/29/2025</a:t>
            </a:fld>
            <a:endParaRPr lang="en-US"/>
          </a:p>
        </p:txBody>
      </p:sp>
      <p:sp>
        <p:nvSpPr>
          <p:cNvPr id="5" name="Footer Placeholder 4">
            <a:extLst>
              <a:ext uri="{FF2B5EF4-FFF2-40B4-BE49-F238E27FC236}">
                <a16:creationId xmlns:a16="http://schemas.microsoft.com/office/drawing/2014/main" id="{1552CE8D-0ADA-6003-C310-96E3480B46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67214C-2BE1-F2D9-478F-5CB4C80BCF1B}"/>
              </a:ext>
            </a:extLst>
          </p:cNvPr>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1088121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81B5E-171F-A137-B8C1-B7F6E6DABD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7A518F-FAF5-9B78-13DC-3E3DECCA39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770C74-7454-881B-EE48-B6E48954D143}"/>
              </a:ext>
            </a:extLst>
          </p:cNvPr>
          <p:cNvSpPr>
            <a:spLocks noGrp="1"/>
          </p:cNvSpPr>
          <p:nvPr>
            <p:ph type="dt" sz="half" idx="10"/>
          </p:nvPr>
        </p:nvSpPr>
        <p:spPr/>
        <p:txBody>
          <a:bodyPr/>
          <a:lstStyle/>
          <a:p>
            <a:fld id="{598C49C6-5F15-4DD3-B364-B2DE57A5B88F}" type="datetimeFigureOut">
              <a:rPr lang="en-US" smtClean="0"/>
              <a:t>9/29/2025</a:t>
            </a:fld>
            <a:endParaRPr lang="en-US"/>
          </a:p>
        </p:txBody>
      </p:sp>
      <p:sp>
        <p:nvSpPr>
          <p:cNvPr id="5" name="Footer Placeholder 4">
            <a:extLst>
              <a:ext uri="{FF2B5EF4-FFF2-40B4-BE49-F238E27FC236}">
                <a16:creationId xmlns:a16="http://schemas.microsoft.com/office/drawing/2014/main" id="{12082F1C-C844-EBFB-6A2B-0AC8904A05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70EAF7-743A-7587-7EAD-1B5FE3C0B62F}"/>
              </a:ext>
            </a:extLst>
          </p:cNvPr>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4271838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FA8C1-9B9C-C572-19EB-4545F43E0D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B416D3-510F-9FEE-B2EF-C187A85507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873E46-2D14-2184-31A3-3C43E576D6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58B9DB-48C8-5DC8-7FAA-7AE0E0CC0C5B}"/>
              </a:ext>
            </a:extLst>
          </p:cNvPr>
          <p:cNvSpPr>
            <a:spLocks noGrp="1"/>
          </p:cNvSpPr>
          <p:nvPr>
            <p:ph type="dt" sz="half" idx="10"/>
          </p:nvPr>
        </p:nvSpPr>
        <p:spPr/>
        <p:txBody>
          <a:bodyPr/>
          <a:lstStyle/>
          <a:p>
            <a:fld id="{598C49C6-5F15-4DD3-B364-B2DE57A5B88F}" type="datetimeFigureOut">
              <a:rPr lang="en-US" smtClean="0"/>
              <a:t>9/29/2025</a:t>
            </a:fld>
            <a:endParaRPr lang="en-US"/>
          </a:p>
        </p:txBody>
      </p:sp>
      <p:sp>
        <p:nvSpPr>
          <p:cNvPr id="6" name="Footer Placeholder 5">
            <a:extLst>
              <a:ext uri="{FF2B5EF4-FFF2-40B4-BE49-F238E27FC236}">
                <a16:creationId xmlns:a16="http://schemas.microsoft.com/office/drawing/2014/main" id="{0EB4C995-94FC-2EFF-AFD1-C31E61E1D6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7757C1-132C-2857-B9E9-BF4E437C30C1}"/>
              </a:ext>
            </a:extLst>
          </p:cNvPr>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4258278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3796C-3933-CD4A-27BD-6A01352C54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41E88E-A933-8DA3-8ADD-5D3CC04ACF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C8BCB8-09D5-96C2-1B0B-14F441A3DA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614599-2D77-45C5-F3E2-1C8A34E7BF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FFB45E-76CD-4A22-1A71-9974F8376C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2AF28BC-E27B-FD49-D78D-D8F99AC2D341}"/>
              </a:ext>
            </a:extLst>
          </p:cNvPr>
          <p:cNvSpPr>
            <a:spLocks noGrp="1"/>
          </p:cNvSpPr>
          <p:nvPr>
            <p:ph type="dt" sz="half" idx="10"/>
          </p:nvPr>
        </p:nvSpPr>
        <p:spPr/>
        <p:txBody>
          <a:bodyPr/>
          <a:lstStyle/>
          <a:p>
            <a:fld id="{598C49C6-5F15-4DD3-B364-B2DE57A5B88F}" type="datetimeFigureOut">
              <a:rPr lang="en-US" smtClean="0"/>
              <a:t>9/29/2025</a:t>
            </a:fld>
            <a:endParaRPr lang="en-US"/>
          </a:p>
        </p:txBody>
      </p:sp>
      <p:sp>
        <p:nvSpPr>
          <p:cNvPr id="8" name="Footer Placeholder 7">
            <a:extLst>
              <a:ext uri="{FF2B5EF4-FFF2-40B4-BE49-F238E27FC236}">
                <a16:creationId xmlns:a16="http://schemas.microsoft.com/office/drawing/2014/main" id="{68810FF5-90C7-92D9-9DDB-7BB3D60CB3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A36AFD-5D0B-99A2-0D7A-3EFBDFD87245}"/>
              </a:ext>
            </a:extLst>
          </p:cNvPr>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3328269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03550-300B-84CA-0567-4A5865374E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4B0D9D-81CA-FC57-AB2F-F758D0B5208B}"/>
              </a:ext>
            </a:extLst>
          </p:cNvPr>
          <p:cNvSpPr>
            <a:spLocks noGrp="1"/>
          </p:cNvSpPr>
          <p:nvPr>
            <p:ph type="dt" sz="half" idx="10"/>
          </p:nvPr>
        </p:nvSpPr>
        <p:spPr/>
        <p:txBody>
          <a:bodyPr/>
          <a:lstStyle/>
          <a:p>
            <a:fld id="{598C49C6-5F15-4DD3-B364-B2DE57A5B88F}" type="datetimeFigureOut">
              <a:rPr lang="en-US" smtClean="0"/>
              <a:t>9/29/2025</a:t>
            </a:fld>
            <a:endParaRPr lang="en-US"/>
          </a:p>
        </p:txBody>
      </p:sp>
      <p:sp>
        <p:nvSpPr>
          <p:cNvPr id="4" name="Footer Placeholder 3">
            <a:extLst>
              <a:ext uri="{FF2B5EF4-FFF2-40B4-BE49-F238E27FC236}">
                <a16:creationId xmlns:a16="http://schemas.microsoft.com/office/drawing/2014/main" id="{E69BDFDE-AD3A-1F9B-AA40-5928658708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DAE477-7A34-224A-9E57-8585B9696E61}"/>
              </a:ext>
            </a:extLst>
          </p:cNvPr>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3598431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4FCA0D-554D-F3E3-954E-D6A32BDA6025}"/>
              </a:ext>
            </a:extLst>
          </p:cNvPr>
          <p:cNvSpPr>
            <a:spLocks noGrp="1"/>
          </p:cNvSpPr>
          <p:nvPr>
            <p:ph type="dt" sz="half" idx="10"/>
          </p:nvPr>
        </p:nvSpPr>
        <p:spPr/>
        <p:txBody>
          <a:bodyPr/>
          <a:lstStyle/>
          <a:p>
            <a:fld id="{598C49C6-5F15-4DD3-B364-B2DE57A5B88F}" type="datetimeFigureOut">
              <a:rPr lang="en-US" smtClean="0"/>
              <a:t>9/29/2025</a:t>
            </a:fld>
            <a:endParaRPr lang="en-US"/>
          </a:p>
        </p:txBody>
      </p:sp>
      <p:sp>
        <p:nvSpPr>
          <p:cNvPr id="3" name="Footer Placeholder 2">
            <a:extLst>
              <a:ext uri="{FF2B5EF4-FFF2-40B4-BE49-F238E27FC236}">
                <a16:creationId xmlns:a16="http://schemas.microsoft.com/office/drawing/2014/main" id="{541FC894-1F40-3494-FBC5-049FAA98A6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FA1149-1BDB-728A-98B4-864FF151584E}"/>
              </a:ext>
            </a:extLst>
          </p:cNvPr>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2648204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0A968-98D3-D9CA-98CD-C4BD1AC15B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E652C0-EDE2-731E-864C-3223631715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9A611D-CD81-0CD8-AD35-CACB53443D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DDCB47-C0D7-B248-80A5-D4EB147BC32D}"/>
              </a:ext>
            </a:extLst>
          </p:cNvPr>
          <p:cNvSpPr>
            <a:spLocks noGrp="1"/>
          </p:cNvSpPr>
          <p:nvPr>
            <p:ph type="dt" sz="half" idx="10"/>
          </p:nvPr>
        </p:nvSpPr>
        <p:spPr/>
        <p:txBody>
          <a:bodyPr/>
          <a:lstStyle/>
          <a:p>
            <a:fld id="{598C49C6-5F15-4DD3-B364-B2DE57A5B88F}" type="datetimeFigureOut">
              <a:rPr lang="en-US" smtClean="0"/>
              <a:t>9/29/2025</a:t>
            </a:fld>
            <a:endParaRPr lang="en-US"/>
          </a:p>
        </p:txBody>
      </p:sp>
      <p:sp>
        <p:nvSpPr>
          <p:cNvPr id="6" name="Footer Placeholder 5">
            <a:extLst>
              <a:ext uri="{FF2B5EF4-FFF2-40B4-BE49-F238E27FC236}">
                <a16:creationId xmlns:a16="http://schemas.microsoft.com/office/drawing/2014/main" id="{54311DB7-1AC1-29F7-F65B-8744690174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84562B-551B-A115-F171-8E80CFEF3A82}"/>
              </a:ext>
            </a:extLst>
          </p:cNvPr>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3999827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092D0-E6F0-F888-88BD-B11D1057D9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EDB5E0-78A1-12AA-2A3C-9D69F68705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8B5C10-A1DF-AA67-C7B2-740D880B29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C6393A-FA09-432C-8630-7A2249DF6032}"/>
              </a:ext>
            </a:extLst>
          </p:cNvPr>
          <p:cNvSpPr>
            <a:spLocks noGrp="1"/>
          </p:cNvSpPr>
          <p:nvPr>
            <p:ph type="dt" sz="half" idx="10"/>
          </p:nvPr>
        </p:nvSpPr>
        <p:spPr/>
        <p:txBody>
          <a:bodyPr/>
          <a:lstStyle/>
          <a:p>
            <a:fld id="{598C49C6-5F15-4DD3-B364-B2DE57A5B88F}" type="datetimeFigureOut">
              <a:rPr lang="en-US" smtClean="0"/>
              <a:t>9/29/2025</a:t>
            </a:fld>
            <a:endParaRPr lang="en-US"/>
          </a:p>
        </p:txBody>
      </p:sp>
      <p:sp>
        <p:nvSpPr>
          <p:cNvPr id="6" name="Footer Placeholder 5">
            <a:extLst>
              <a:ext uri="{FF2B5EF4-FFF2-40B4-BE49-F238E27FC236}">
                <a16:creationId xmlns:a16="http://schemas.microsoft.com/office/drawing/2014/main" id="{757FFE11-5E9C-5539-E001-8CA2CF94E8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3E91F1-4D16-31D3-BF8B-4187B53175B9}"/>
              </a:ext>
            </a:extLst>
          </p:cNvPr>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262424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474D5-B278-D81A-2BF7-281E8C7DE9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DC7810-2876-7915-1ED8-CBCD119A02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FAEFD6-1843-42E5-4EBF-30D3C5C57FFF}"/>
              </a:ext>
            </a:extLst>
          </p:cNvPr>
          <p:cNvSpPr>
            <a:spLocks noGrp="1"/>
          </p:cNvSpPr>
          <p:nvPr>
            <p:ph type="dt" sz="half" idx="10"/>
          </p:nvPr>
        </p:nvSpPr>
        <p:spPr/>
        <p:txBody>
          <a:bodyPr/>
          <a:lstStyle/>
          <a:p>
            <a:fld id="{598C49C6-5F15-4DD3-B364-B2DE57A5B88F}" type="datetimeFigureOut">
              <a:rPr lang="en-US" smtClean="0"/>
              <a:t>9/29/2025</a:t>
            </a:fld>
            <a:endParaRPr lang="en-US"/>
          </a:p>
        </p:txBody>
      </p:sp>
      <p:sp>
        <p:nvSpPr>
          <p:cNvPr id="5" name="Footer Placeholder 4">
            <a:extLst>
              <a:ext uri="{FF2B5EF4-FFF2-40B4-BE49-F238E27FC236}">
                <a16:creationId xmlns:a16="http://schemas.microsoft.com/office/drawing/2014/main" id="{B4EEAD6F-2A94-CC7E-7495-2A0441DD2A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63ECB7-90CD-A9AE-49BC-6EBE8F94BAB8}"/>
              </a:ext>
            </a:extLst>
          </p:cNvPr>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288647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EB98B6-312B-E47D-993D-888A9D340C8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2DE613-DA5E-AE62-6709-D0EAEF06E0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2976ED-49C2-AB86-E724-9A41B5C9A564}"/>
              </a:ext>
            </a:extLst>
          </p:cNvPr>
          <p:cNvSpPr>
            <a:spLocks noGrp="1"/>
          </p:cNvSpPr>
          <p:nvPr>
            <p:ph type="dt" sz="half" idx="10"/>
          </p:nvPr>
        </p:nvSpPr>
        <p:spPr/>
        <p:txBody>
          <a:bodyPr/>
          <a:lstStyle/>
          <a:p>
            <a:fld id="{598C49C6-5F15-4DD3-B364-B2DE57A5B88F}" type="datetimeFigureOut">
              <a:rPr lang="en-US" smtClean="0"/>
              <a:t>9/29/2025</a:t>
            </a:fld>
            <a:endParaRPr lang="en-US"/>
          </a:p>
        </p:txBody>
      </p:sp>
      <p:sp>
        <p:nvSpPr>
          <p:cNvPr id="5" name="Footer Placeholder 4">
            <a:extLst>
              <a:ext uri="{FF2B5EF4-FFF2-40B4-BE49-F238E27FC236}">
                <a16:creationId xmlns:a16="http://schemas.microsoft.com/office/drawing/2014/main" id="{734E82BE-3ACF-606C-98C8-A0BA244BCD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1EDAF5-EB6D-D6E8-C44E-2861A0EB0EE0}"/>
              </a:ext>
            </a:extLst>
          </p:cNvPr>
          <p:cNvSpPr>
            <a:spLocks noGrp="1"/>
          </p:cNvSpPr>
          <p:nvPr>
            <p:ph type="sldNum" sz="quarter" idx="12"/>
          </p:nvPr>
        </p:nvSpPr>
        <p:spPr/>
        <p:txBody>
          <a:bodyPr/>
          <a:lstStyle/>
          <a:p>
            <a:fld id="{2E30D265-8AE4-4D83-9D5E-333CB7475336}" type="slidenum">
              <a:rPr lang="en-US" smtClean="0"/>
              <a:t>‹#›</a:t>
            </a:fld>
            <a:endParaRPr lang="en-US"/>
          </a:p>
        </p:txBody>
      </p:sp>
    </p:spTree>
    <p:extLst>
      <p:ext uri="{BB962C8B-B14F-4D97-AF65-F5344CB8AC3E}">
        <p14:creationId xmlns:p14="http://schemas.microsoft.com/office/powerpoint/2010/main" val="1792823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40ECD3-E4C0-BF8E-97F6-032C47CCE7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957B19-0802-67DD-CF5B-5F334CE3D6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16877D-3DD5-D838-5DD4-DEDC17DBD3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8C49C6-5F15-4DD3-B364-B2DE57A5B88F}" type="datetimeFigureOut">
              <a:rPr lang="en-US" smtClean="0"/>
              <a:t>9/29/2025</a:t>
            </a:fld>
            <a:endParaRPr lang="en-US"/>
          </a:p>
        </p:txBody>
      </p:sp>
      <p:sp>
        <p:nvSpPr>
          <p:cNvPr id="5" name="Footer Placeholder 4">
            <a:extLst>
              <a:ext uri="{FF2B5EF4-FFF2-40B4-BE49-F238E27FC236}">
                <a16:creationId xmlns:a16="http://schemas.microsoft.com/office/drawing/2014/main" id="{C735F4B7-EBFF-3CE0-3CB5-E6776F2CE6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3E7D74F-0F2E-FCC3-6FBD-FECBC17628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30D265-8AE4-4D83-9D5E-333CB7475336}" type="slidenum">
              <a:rPr lang="en-US" smtClean="0"/>
              <a:t>‹#›</a:t>
            </a:fld>
            <a:endParaRPr lang="en-US"/>
          </a:p>
        </p:txBody>
      </p:sp>
    </p:spTree>
    <p:extLst>
      <p:ext uri="{BB962C8B-B14F-4D97-AF65-F5344CB8AC3E}">
        <p14:creationId xmlns:p14="http://schemas.microsoft.com/office/powerpoint/2010/main" val="10935823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90110"/>
            <a:ext cx="9144000" cy="2387600"/>
          </a:xfrm>
        </p:spPr>
        <p:txBody>
          <a:bodyPr>
            <a:normAutofit/>
          </a:bodyPr>
          <a:lstStyle/>
          <a:p>
            <a:r>
              <a:rPr lang="en-US" dirty="0">
                <a:solidFill>
                  <a:schemeClr val="accent6">
                    <a:lumMod val="60000"/>
                    <a:lumOff val="40000"/>
                  </a:schemeClr>
                </a:solidFill>
              </a:rPr>
              <a:t>ANN Key Terms: BatchSize-Iterations-Epoch</a:t>
            </a:r>
          </a:p>
        </p:txBody>
      </p:sp>
      <p:sp>
        <p:nvSpPr>
          <p:cNvPr id="3" name="Subtitle 2"/>
          <p:cNvSpPr>
            <a:spLocks noGrp="1"/>
          </p:cNvSpPr>
          <p:nvPr>
            <p:ph type="subTitle" idx="1"/>
          </p:nvPr>
        </p:nvSpPr>
        <p:spPr>
          <a:xfrm>
            <a:off x="1524000" y="187035"/>
            <a:ext cx="9144000" cy="960631"/>
          </a:xfrm>
        </p:spPr>
        <p:txBody>
          <a:bodyPr>
            <a:normAutofit fontScale="77500" lnSpcReduction="20000"/>
          </a:bodyPr>
          <a:lstStyle/>
          <a:p>
            <a:r>
              <a:rPr lang="en-US" sz="6000" dirty="0">
                <a:solidFill>
                  <a:schemeClr val="accent6">
                    <a:lumMod val="60000"/>
                    <a:lumOff val="40000"/>
                  </a:schemeClr>
                </a:solidFill>
              </a:rPr>
              <a:t>(On Dev) Artificial Neural Network</a:t>
            </a:r>
          </a:p>
        </p:txBody>
      </p:sp>
    </p:spTree>
    <p:extLst>
      <p:ext uri="{BB962C8B-B14F-4D97-AF65-F5344CB8AC3E}">
        <p14:creationId xmlns:p14="http://schemas.microsoft.com/office/powerpoint/2010/main" val="526700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95576-3433-51D1-8CFB-8FC2E0131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4E698-C8D5-8322-E397-469D5255BCB7}"/>
              </a:ext>
            </a:extLst>
          </p:cNvPr>
          <p:cNvSpPr>
            <a:spLocks noGrp="1"/>
          </p:cNvSpPr>
          <p:nvPr>
            <p:ph type="title"/>
          </p:nvPr>
        </p:nvSpPr>
        <p:spPr>
          <a:xfrm>
            <a:off x="838200" y="112453"/>
            <a:ext cx="10515600" cy="609433"/>
          </a:xfrm>
        </p:spPr>
        <p:txBody>
          <a:bodyPr>
            <a:normAutofit fontScale="90000"/>
          </a:bodyPr>
          <a:lstStyle/>
          <a:p>
            <a:r>
              <a:rPr lang="en-US" dirty="0">
                <a:solidFill>
                  <a:schemeClr val="accent6">
                    <a:lumMod val="60000"/>
                    <a:lumOff val="40000"/>
                  </a:schemeClr>
                </a:solidFill>
              </a:rPr>
              <a:t>Some key terms: Batch size(p1)</a:t>
            </a:r>
            <a:endParaRPr lang="en-IN" dirty="0">
              <a:solidFill>
                <a:schemeClr val="accent6">
                  <a:lumMod val="60000"/>
                  <a:lumOff val="40000"/>
                </a:schemeClr>
              </a:solidFill>
            </a:endParaRPr>
          </a:p>
        </p:txBody>
      </p:sp>
      <p:sp>
        <p:nvSpPr>
          <p:cNvPr id="3" name="Content Placeholder 2">
            <a:extLst>
              <a:ext uri="{FF2B5EF4-FFF2-40B4-BE49-F238E27FC236}">
                <a16:creationId xmlns:a16="http://schemas.microsoft.com/office/drawing/2014/main" id="{FA903883-C059-D1FF-574C-CB998804457A}"/>
              </a:ext>
            </a:extLst>
          </p:cNvPr>
          <p:cNvSpPr>
            <a:spLocks noGrp="1"/>
          </p:cNvSpPr>
          <p:nvPr>
            <p:ph idx="1"/>
          </p:nvPr>
        </p:nvSpPr>
        <p:spPr>
          <a:xfrm>
            <a:off x="240631" y="814969"/>
            <a:ext cx="11839073" cy="3492335"/>
          </a:xfrm>
        </p:spPr>
        <p:txBody>
          <a:bodyPr>
            <a:normAutofit/>
          </a:bodyPr>
          <a:lstStyle/>
          <a:p>
            <a:r>
              <a:rPr lang="en-US" sz="2400" b="1" dirty="0">
                <a:solidFill>
                  <a:schemeClr val="accent6">
                    <a:lumMod val="60000"/>
                    <a:lumOff val="40000"/>
                  </a:schemeClr>
                </a:solidFill>
              </a:rPr>
              <a:t>Batch size</a:t>
            </a:r>
            <a:r>
              <a:rPr lang="en-US" sz="2400" dirty="0">
                <a:solidFill>
                  <a:schemeClr val="accent6">
                    <a:lumMod val="60000"/>
                    <a:lumOff val="40000"/>
                  </a:schemeClr>
                </a:solidFill>
              </a:rPr>
              <a:t> refers to the number of training examples used in a single iteration of model training, meaning how many data points the model processes before updating its internal parameters like </a:t>
            </a:r>
            <a:r>
              <a:rPr lang="en-US" sz="2400" b="1" dirty="0">
                <a:solidFill>
                  <a:schemeClr val="accent6">
                    <a:lumMod val="60000"/>
                    <a:lumOff val="40000"/>
                  </a:schemeClr>
                </a:solidFill>
              </a:rPr>
              <a:t>weights and biases</a:t>
            </a:r>
            <a:r>
              <a:rPr lang="en-US" sz="2400" dirty="0">
                <a:solidFill>
                  <a:schemeClr val="accent6">
                    <a:lumMod val="60000"/>
                    <a:lumOff val="40000"/>
                  </a:schemeClr>
                </a:solidFill>
              </a:rPr>
              <a:t>. </a:t>
            </a:r>
          </a:p>
          <a:p>
            <a:r>
              <a:rPr lang="en-US" sz="2400" dirty="0">
                <a:solidFill>
                  <a:schemeClr val="accent6">
                    <a:lumMod val="60000"/>
                    <a:lumOff val="40000"/>
                  </a:schemeClr>
                </a:solidFill>
              </a:rPr>
              <a:t>Each batch of samples goes through one full forward and one full backward propagation.</a:t>
            </a:r>
          </a:p>
          <a:p>
            <a:pPr marL="0" indent="0">
              <a:buNone/>
            </a:pPr>
            <a:r>
              <a:rPr lang="en-US" sz="2400" b="1" dirty="0">
                <a:solidFill>
                  <a:schemeClr val="accent6">
                    <a:lumMod val="60000"/>
                    <a:lumOff val="40000"/>
                  </a:schemeClr>
                </a:solidFill>
              </a:rPr>
              <a:t>Idea:</a:t>
            </a:r>
          </a:p>
          <a:p>
            <a:pPr marL="0" indent="0">
              <a:buNone/>
            </a:pPr>
            <a:r>
              <a:rPr lang="en-US" sz="2400" dirty="0">
                <a:solidFill>
                  <a:schemeClr val="accent6">
                    <a:lumMod val="60000"/>
                    <a:lumOff val="40000"/>
                  </a:schemeClr>
                </a:solidFill>
              </a:rPr>
              <a:t>Suppose you have </a:t>
            </a:r>
            <a:r>
              <a:rPr lang="en-US" sz="2400" b="1" dirty="0">
                <a:solidFill>
                  <a:schemeClr val="accent6">
                    <a:lumMod val="60000"/>
                    <a:lumOff val="40000"/>
                  </a:schemeClr>
                </a:solidFill>
              </a:rPr>
              <a:t>500 training samples</a:t>
            </a:r>
            <a:r>
              <a:rPr lang="en-US" sz="2400" dirty="0">
                <a:solidFill>
                  <a:schemeClr val="accent6">
                    <a:lumMod val="60000"/>
                    <a:lumOff val="40000"/>
                  </a:schemeClr>
                </a:solidFill>
              </a:rPr>
              <a:t> and set the batch size to 100. The algorithm trains the network using the first 100 samples from the training dataset. The network is then trained again using the second 100 samples. It will repeat this process(5 times) until all samples have been propagated across the network.</a:t>
            </a:r>
          </a:p>
          <a:p>
            <a:pPr marL="0" indent="0">
              <a:buNone/>
            </a:pPr>
            <a:endParaRPr lang="en-US" sz="2400" dirty="0">
              <a:solidFill>
                <a:schemeClr val="accent6">
                  <a:lumMod val="60000"/>
                  <a:lumOff val="40000"/>
                </a:schemeClr>
              </a:solidFill>
            </a:endParaRPr>
          </a:p>
          <a:p>
            <a:endParaRPr lang="en-IN" sz="2400" dirty="0">
              <a:solidFill>
                <a:schemeClr val="accent6">
                  <a:lumMod val="60000"/>
                  <a:lumOff val="40000"/>
                </a:schemeClr>
              </a:solidFill>
            </a:endParaRPr>
          </a:p>
        </p:txBody>
      </p:sp>
      <p:pic>
        <p:nvPicPr>
          <p:cNvPr id="4" name="Picture 3">
            <a:extLst>
              <a:ext uri="{FF2B5EF4-FFF2-40B4-BE49-F238E27FC236}">
                <a16:creationId xmlns:a16="http://schemas.microsoft.com/office/drawing/2014/main" id="{AC92C9E7-3D74-EE57-101C-BC190391F5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7073" y="4012907"/>
            <a:ext cx="4812631" cy="2732639"/>
          </a:xfrm>
          <a:prstGeom prst="rect">
            <a:avLst/>
          </a:prstGeom>
        </p:spPr>
      </p:pic>
      <p:sp>
        <p:nvSpPr>
          <p:cNvPr id="5" name="TextBox 4">
            <a:extLst>
              <a:ext uri="{FF2B5EF4-FFF2-40B4-BE49-F238E27FC236}">
                <a16:creationId xmlns:a16="http://schemas.microsoft.com/office/drawing/2014/main" id="{4A74EC3B-D792-72B3-54C9-380C0ADD97F0}"/>
              </a:ext>
            </a:extLst>
          </p:cNvPr>
          <p:cNvSpPr txBox="1"/>
          <p:nvPr/>
        </p:nvSpPr>
        <p:spPr>
          <a:xfrm>
            <a:off x="3260553" y="5029200"/>
            <a:ext cx="3189019" cy="923330"/>
          </a:xfrm>
          <a:prstGeom prst="rect">
            <a:avLst/>
          </a:prstGeom>
          <a:noFill/>
        </p:spPr>
        <p:txBody>
          <a:bodyPr wrap="square" rtlCol="0">
            <a:spAutoFit/>
          </a:bodyPr>
          <a:lstStyle/>
          <a:p>
            <a:r>
              <a:rPr lang="en-US" b="1" dirty="0">
                <a:solidFill>
                  <a:schemeClr val="accent6">
                    <a:lumMod val="60000"/>
                    <a:lumOff val="40000"/>
                  </a:schemeClr>
                </a:solidFill>
                <a:latin typeface="Inter"/>
              </a:rPr>
              <a:t>The batch</a:t>
            </a:r>
            <a:r>
              <a:rPr lang="en-US" b="1" i="0" dirty="0">
                <a:solidFill>
                  <a:schemeClr val="accent6">
                    <a:lumMod val="60000"/>
                    <a:lumOff val="40000"/>
                  </a:schemeClr>
                </a:solidFill>
                <a:effectLst/>
                <a:latin typeface="Inter"/>
              </a:rPr>
              <a:t> is passed forward and backward via the neural network.</a:t>
            </a:r>
            <a:endParaRPr lang="en-IN" b="1" dirty="0">
              <a:solidFill>
                <a:schemeClr val="accent6">
                  <a:lumMod val="60000"/>
                  <a:lumOff val="40000"/>
                </a:schemeClr>
              </a:solidFill>
            </a:endParaRPr>
          </a:p>
        </p:txBody>
      </p:sp>
    </p:spTree>
    <p:extLst>
      <p:ext uri="{BB962C8B-B14F-4D97-AF65-F5344CB8AC3E}">
        <p14:creationId xmlns:p14="http://schemas.microsoft.com/office/powerpoint/2010/main" val="2468375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CC8D9-51A3-2AA6-1D5C-2103E0496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CAED3-F96F-ACB2-E7CA-F73C5222B81F}"/>
              </a:ext>
            </a:extLst>
          </p:cNvPr>
          <p:cNvSpPr>
            <a:spLocks noGrp="1"/>
          </p:cNvSpPr>
          <p:nvPr>
            <p:ph type="title"/>
          </p:nvPr>
        </p:nvSpPr>
        <p:spPr>
          <a:xfrm>
            <a:off x="838200" y="244805"/>
            <a:ext cx="10515600" cy="609433"/>
          </a:xfrm>
        </p:spPr>
        <p:txBody>
          <a:bodyPr>
            <a:normAutofit fontScale="90000"/>
          </a:bodyPr>
          <a:lstStyle/>
          <a:p>
            <a:r>
              <a:rPr lang="en-US" dirty="0">
                <a:solidFill>
                  <a:schemeClr val="accent6">
                    <a:lumMod val="60000"/>
                    <a:lumOff val="40000"/>
                  </a:schemeClr>
                </a:solidFill>
              </a:rPr>
              <a:t>Some key terms: Batch size(p2)</a:t>
            </a:r>
            <a:endParaRPr lang="en-IN" dirty="0">
              <a:solidFill>
                <a:schemeClr val="accent6">
                  <a:lumMod val="60000"/>
                  <a:lumOff val="40000"/>
                </a:schemeClr>
              </a:solidFill>
            </a:endParaRPr>
          </a:p>
        </p:txBody>
      </p:sp>
      <p:sp>
        <p:nvSpPr>
          <p:cNvPr id="3" name="Content Placeholder 2">
            <a:extLst>
              <a:ext uri="{FF2B5EF4-FFF2-40B4-BE49-F238E27FC236}">
                <a16:creationId xmlns:a16="http://schemas.microsoft.com/office/drawing/2014/main" id="{718BE31E-4624-46B2-22BD-8D1962F58161}"/>
              </a:ext>
            </a:extLst>
          </p:cNvPr>
          <p:cNvSpPr>
            <a:spLocks noGrp="1"/>
          </p:cNvSpPr>
          <p:nvPr>
            <p:ph idx="1"/>
          </p:nvPr>
        </p:nvSpPr>
        <p:spPr>
          <a:xfrm>
            <a:off x="240631" y="814969"/>
            <a:ext cx="11839073" cy="5501610"/>
          </a:xfrm>
        </p:spPr>
        <p:txBody>
          <a:bodyPr>
            <a:normAutofit/>
          </a:bodyPr>
          <a:lstStyle/>
          <a:p>
            <a:pPr marL="0" indent="0">
              <a:buNone/>
            </a:pPr>
            <a:r>
              <a:rPr lang="en-US" b="1" dirty="0">
                <a:solidFill>
                  <a:schemeClr val="accent6">
                    <a:lumMod val="60000"/>
                    <a:lumOff val="40000"/>
                  </a:schemeClr>
                </a:solidFill>
              </a:rPr>
              <a:t>Importance of batch size</a:t>
            </a:r>
            <a:r>
              <a:rPr lang="en-US" dirty="0">
                <a:solidFill>
                  <a:schemeClr val="accent6">
                    <a:lumMod val="60000"/>
                    <a:lumOff val="40000"/>
                  </a:schemeClr>
                </a:solidFill>
              </a:rPr>
              <a:t>: It has a direct impact on the accuracy and computational efficiency of the training process. The batch size can be understood as a trade-off between accuracy and speed. Large batch sizes can lead to faster training times but may result in lower accuracy and overfitting, while smaller batch sizes can provide better accuracy, but can be computationally expensive and time-consuming.</a:t>
            </a:r>
          </a:p>
          <a:p>
            <a:endParaRPr lang="en-US" dirty="0">
              <a:solidFill>
                <a:schemeClr val="accent6">
                  <a:lumMod val="60000"/>
                  <a:lumOff val="40000"/>
                </a:schemeClr>
              </a:solidFill>
            </a:endParaRPr>
          </a:p>
          <a:p>
            <a:pPr marL="0" indent="0">
              <a:buNone/>
            </a:pPr>
            <a:r>
              <a:rPr lang="en-US" dirty="0">
                <a:solidFill>
                  <a:schemeClr val="accent6">
                    <a:lumMod val="60000"/>
                    <a:lumOff val="40000"/>
                  </a:schemeClr>
                </a:solidFill>
              </a:rPr>
              <a:t>The batch size can also affect the convergence of the model, meaning that it can influence the optimization process and the speed at which the model learns. Small batch sizes can be more susceptible to random fluctuations in the training data, while larger batch sizes are more resistant to these fluctuations but may converge more slowly.</a:t>
            </a:r>
          </a:p>
        </p:txBody>
      </p:sp>
    </p:spTree>
    <p:extLst>
      <p:ext uri="{BB962C8B-B14F-4D97-AF65-F5344CB8AC3E}">
        <p14:creationId xmlns:p14="http://schemas.microsoft.com/office/powerpoint/2010/main" val="289892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AA479-08B2-87B2-F49C-7AC0512E29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EA21A-C599-2AC2-EE26-2074EB3BFF7A}"/>
              </a:ext>
            </a:extLst>
          </p:cNvPr>
          <p:cNvSpPr>
            <a:spLocks noGrp="1"/>
          </p:cNvSpPr>
          <p:nvPr>
            <p:ph type="title"/>
          </p:nvPr>
        </p:nvSpPr>
        <p:spPr>
          <a:xfrm>
            <a:off x="838200" y="244805"/>
            <a:ext cx="10515600" cy="609433"/>
          </a:xfrm>
        </p:spPr>
        <p:txBody>
          <a:bodyPr>
            <a:normAutofit fontScale="90000"/>
          </a:bodyPr>
          <a:lstStyle/>
          <a:p>
            <a:r>
              <a:rPr lang="en-US" dirty="0">
                <a:solidFill>
                  <a:schemeClr val="accent6">
                    <a:lumMod val="60000"/>
                    <a:lumOff val="40000"/>
                  </a:schemeClr>
                </a:solidFill>
              </a:rPr>
              <a:t>Some key terms: Batch size(p2)</a:t>
            </a:r>
            <a:endParaRPr lang="en-IN" dirty="0">
              <a:solidFill>
                <a:schemeClr val="accent6">
                  <a:lumMod val="60000"/>
                  <a:lumOff val="40000"/>
                </a:schemeClr>
              </a:solidFill>
            </a:endParaRPr>
          </a:p>
        </p:txBody>
      </p:sp>
      <p:sp>
        <p:nvSpPr>
          <p:cNvPr id="3" name="Content Placeholder 2">
            <a:extLst>
              <a:ext uri="{FF2B5EF4-FFF2-40B4-BE49-F238E27FC236}">
                <a16:creationId xmlns:a16="http://schemas.microsoft.com/office/drawing/2014/main" id="{EACE2A2A-1EEF-5AEC-3139-895C062186A2}"/>
              </a:ext>
            </a:extLst>
          </p:cNvPr>
          <p:cNvSpPr>
            <a:spLocks noGrp="1"/>
          </p:cNvSpPr>
          <p:nvPr>
            <p:ph idx="1"/>
          </p:nvPr>
        </p:nvSpPr>
        <p:spPr>
          <a:xfrm>
            <a:off x="240631" y="814969"/>
            <a:ext cx="11839073" cy="5501610"/>
          </a:xfrm>
        </p:spPr>
        <p:txBody>
          <a:bodyPr>
            <a:normAutofit/>
          </a:bodyPr>
          <a:lstStyle/>
          <a:p>
            <a:pPr marL="0" indent="0">
              <a:buNone/>
            </a:pPr>
            <a:r>
              <a:rPr lang="en-US" b="1" dirty="0">
                <a:solidFill>
                  <a:schemeClr val="accent6">
                    <a:lumMod val="60000"/>
                    <a:lumOff val="40000"/>
                  </a:schemeClr>
                </a:solidFill>
              </a:rPr>
              <a:t>How to choose right batch size: </a:t>
            </a:r>
            <a:r>
              <a:rPr lang="en-US" dirty="0">
                <a:solidFill>
                  <a:schemeClr val="accent6">
                    <a:lumMod val="60000"/>
                    <a:lumOff val="40000"/>
                  </a:schemeClr>
                </a:solidFill>
              </a:rPr>
              <a:t>There is no one-size-fits-all answer when it comes to choosing a batch size, as the ideal size will depend on several factors, including the size of the training dataset, the complexity of the model, and the computational resources available. </a:t>
            </a:r>
            <a:r>
              <a:rPr lang="en-US" b="1" dirty="0">
                <a:solidFill>
                  <a:schemeClr val="accent6">
                    <a:lumMod val="60000"/>
                    <a:lumOff val="40000"/>
                  </a:schemeClr>
                </a:solidFill>
              </a:rPr>
              <a:t>It is generally good practice to increase the batch size until you saturate your GPU consumption.</a:t>
            </a:r>
            <a:r>
              <a:rPr lang="en-US" dirty="0">
                <a:solidFill>
                  <a:schemeClr val="accent6">
                    <a:lumMod val="60000"/>
                    <a:lumOff val="40000"/>
                  </a:schemeClr>
                </a:solidFill>
              </a:rPr>
              <a:t> However, like everything, the batch size is merely a hyperparameter.</a:t>
            </a:r>
          </a:p>
          <a:p>
            <a:pPr marL="0" indent="0">
              <a:buNone/>
            </a:pPr>
            <a:endParaRPr lang="en-US" dirty="0">
              <a:solidFill>
                <a:schemeClr val="accent6">
                  <a:lumMod val="60000"/>
                  <a:lumOff val="40000"/>
                </a:schemeClr>
              </a:solidFill>
            </a:endParaRPr>
          </a:p>
          <a:p>
            <a:pPr marL="0" indent="0">
              <a:buNone/>
            </a:pPr>
            <a:r>
              <a:rPr lang="en-US" b="1" dirty="0">
                <a:solidFill>
                  <a:schemeClr val="accent6">
                    <a:lumMod val="60000"/>
                    <a:lumOff val="40000"/>
                  </a:schemeClr>
                </a:solidFill>
              </a:rPr>
              <a:t>For the most part, a batch size of 32 is a decent starting point</a:t>
            </a:r>
            <a:r>
              <a:rPr lang="en-US" dirty="0">
                <a:solidFill>
                  <a:schemeClr val="accent6">
                    <a:lumMod val="60000"/>
                    <a:lumOff val="40000"/>
                  </a:schemeClr>
                </a:solidFill>
              </a:rPr>
              <a:t>, but you can also experiment with 64, 128, and 256. Other values (lower or higher) may be appropriate for specific data sets. Again, it depends entirely on the problem, but picking something from this range is usually the best to begin experimenting.</a:t>
            </a: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3345973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C42B7-7D78-FEF5-A054-0AE583529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887A-CBF1-0850-643D-CDC6C16992E8}"/>
              </a:ext>
            </a:extLst>
          </p:cNvPr>
          <p:cNvSpPr>
            <a:spLocks noGrp="1"/>
          </p:cNvSpPr>
          <p:nvPr>
            <p:ph type="title"/>
          </p:nvPr>
        </p:nvSpPr>
        <p:spPr>
          <a:xfrm>
            <a:off x="838200" y="244805"/>
            <a:ext cx="10515600" cy="609433"/>
          </a:xfrm>
        </p:spPr>
        <p:txBody>
          <a:bodyPr>
            <a:normAutofit fontScale="90000"/>
          </a:bodyPr>
          <a:lstStyle/>
          <a:p>
            <a:r>
              <a:rPr lang="en-US" dirty="0">
                <a:solidFill>
                  <a:schemeClr val="accent6">
                    <a:lumMod val="60000"/>
                    <a:lumOff val="40000"/>
                  </a:schemeClr>
                </a:solidFill>
              </a:rPr>
              <a:t>Some key terms: Iterations(p3)</a:t>
            </a:r>
            <a:endParaRPr lang="en-IN" dirty="0">
              <a:solidFill>
                <a:schemeClr val="accent6">
                  <a:lumMod val="60000"/>
                  <a:lumOff val="40000"/>
                </a:schemeClr>
              </a:solidFill>
            </a:endParaRPr>
          </a:p>
        </p:txBody>
      </p:sp>
      <p:sp>
        <p:nvSpPr>
          <p:cNvPr id="3" name="Content Placeholder 2">
            <a:extLst>
              <a:ext uri="{FF2B5EF4-FFF2-40B4-BE49-F238E27FC236}">
                <a16:creationId xmlns:a16="http://schemas.microsoft.com/office/drawing/2014/main" id="{3E6E73E9-33B3-F85F-278C-603A83ADEE3A}"/>
              </a:ext>
            </a:extLst>
          </p:cNvPr>
          <p:cNvSpPr>
            <a:spLocks noGrp="1"/>
          </p:cNvSpPr>
          <p:nvPr>
            <p:ph idx="1"/>
          </p:nvPr>
        </p:nvSpPr>
        <p:spPr>
          <a:xfrm>
            <a:off x="240632" y="814969"/>
            <a:ext cx="9649326" cy="3273952"/>
          </a:xfrm>
        </p:spPr>
        <p:txBody>
          <a:bodyPr>
            <a:normAutofit lnSpcReduction="10000"/>
          </a:bodyPr>
          <a:lstStyle/>
          <a:p>
            <a:r>
              <a:rPr lang="en-US" b="1" i="0" dirty="0">
                <a:solidFill>
                  <a:schemeClr val="accent6">
                    <a:lumMod val="60000"/>
                    <a:lumOff val="40000"/>
                  </a:schemeClr>
                </a:solidFill>
                <a:effectLst/>
              </a:rPr>
              <a:t>Iterations</a:t>
            </a:r>
            <a:r>
              <a:rPr lang="en-US" b="0" i="0" dirty="0">
                <a:solidFill>
                  <a:schemeClr val="accent6">
                    <a:lumMod val="60000"/>
                    <a:lumOff val="40000"/>
                  </a:schemeClr>
                </a:solidFill>
                <a:effectLst/>
              </a:rPr>
              <a:t> are the number of steps through batches of the whole training data. It is </a:t>
            </a:r>
            <a:r>
              <a:rPr lang="en-US" b="1" i="0" dirty="0">
                <a:solidFill>
                  <a:schemeClr val="accent6">
                    <a:lumMod val="60000"/>
                    <a:lumOff val="40000"/>
                  </a:schemeClr>
                </a:solidFill>
                <a:effectLst/>
              </a:rPr>
              <a:t>Total_Number</a:t>
            </a:r>
            <a:r>
              <a:rPr lang="en-US" b="1" dirty="0">
                <a:solidFill>
                  <a:schemeClr val="accent6">
                    <a:lumMod val="60000"/>
                    <a:lumOff val="40000"/>
                  </a:schemeClr>
                </a:solidFill>
              </a:rPr>
              <a:t>_Of_</a:t>
            </a:r>
            <a:r>
              <a:rPr lang="en-US" b="1" i="0" dirty="0">
                <a:solidFill>
                  <a:schemeClr val="accent6">
                    <a:lumMod val="60000"/>
                    <a:lumOff val="40000"/>
                  </a:schemeClr>
                </a:solidFill>
                <a:effectLst/>
              </a:rPr>
              <a:t>Samples/</a:t>
            </a:r>
            <a:r>
              <a:rPr lang="en-US" b="1" i="0" dirty="0" err="1">
                <a:solidFill>
                  <a:schemeClr val="accent6">
                    <a:lumMod val="60000"/>
                    <a:lumOff val="40000"/>
                  </a:schemeClr>
                </a:solidFill>
                <a:effectLst/>
              </a:rPr>
              <a:t>Batch_Size</a:t>
            </a:r>
            <a:r>
              <a:rPr lang="en-US" b="1" i="0" dirty="0">
                <a:solidFill>
                  <a:schemeClr val="accent6">
                    <a:lumMod val="60000"/>
                    <a:lumOff val="40000"/>
                  </a:schemeClr>
                </a:solidFill>
                <a:effectLst/>
              </a:rPr>
              <a:t>.</a:t>
            </a:r>
          </a:p>
          <a:p>
            <a:pPr marL="0" indent="0">
              <a:buNone/>
            </a:pPr>
            <a:endParaRPr lang="en-US" b="1" i="0" dirty="0">
              <a:solidFill>
                <a:schemeClr val="accent6">
                  <a:lumMod val="60000"/>
                  <a:lumOff val="40000"/>
                </a:schemeClr>
              </a:solidFill>
              <a:effectLst/>
            </a:endParaRPr>
          </a:p>
          <a:p>
            <a:pPr marL="0" indent="0">
              <a:buNone/>
            </a:pPr>
            <a:endParaRPr lang="en-US" b="1" i="0" dirty="0">
              <a:solidFill>
                <a:schemeClr val="accent6">
                  <a:lumMod val="60000"/>
                  <a:lumOff val="40000"/>
                </a:schemeClr>
              </a:solidFill>
              <a:effectLst/>
            </a:endParaRPr>
          </a:p>
          <a:p>
            <a:r>
              <a:rPr lang="en-US" dirty="0">
                <a:solidFill>
                  <a:schemeClr val="accent6">
                    <a:lumMod val="60000"/>
                    <a:lumOff val="40000"/>
                  </a:schemeClr>
                </a:solidFill>
              </a:rPr>
              <a:t>Iterations</a:t>
            </a:r>
            <a:r>
              <a:rPr lang="en-US" b="0" i="0" dirty="0">
                <a:solidFill>
                  <a:schemeClr val="accent6">
                    <a:lumMod val="60000"/>
                    <a:lumOff val="40000"/>
                  </a:schemeClr>
                </a:solidFill>
                <a:effectLst/>
              </a:rPr>
              <a:t> determine the number of updates made to the model weights. More iterations, means that weight would get updated a greater number of times.</a:t>
            </a:r>
          </a:p>
          <a:p>
            <a:pPr marL="0" indent="0">
              <a:buNone/>
            </a:pPr>
            <a:endParaRPr lang="en-US" b="1" i="0" dirty="0">
              <a:solidFill>
                <a:schemeClr val="accent6">
                  <a:lumMod val="60000"/>
                  <a:lumOff val="40000"/>
                </a:schemeClr>
              </a:solidFill>
              <a:effectLst/>
            </a:endParaRPr>
          </a:p>
          <a:p>
            <a:pPr marL="0" indent="0">
              <a:buNone/>
            </a:pPr>
            <a:endParaRPr lang="en-US" dirty="0">
              <a:solidFill>
                <a:schemeClr val="accent6">
                  <a:lumMod val="60000"/>
                  <a:lumOff val="40000"/>
                </a:schemeClr>
              </a:solidFill>
            </a:endParaRPr>
          </a:p>
        </p:txBody>
      </p:sp>
      <p:sp>
        <p:nvSpPr>
          <p:cNvPr id="4" name="TextBox 3">
            <a:extLst>
              <a:ext uri="{FF2B5EF4-FFF2-40B4-BE49-F238E27FC236}">
                <a16:creationId xmlns:a16="http://schemas.microsoft.com/office/drawing/2014/main" id="{57EF999E-7671-8CD0-40F7-3EEEEB90F56F}"/>
              </a:ext>
            </a:extLst>
          </p:cNvPr>
          <p:cNvSpPr txBox="1"/>
          <p:nvPr/>
        </p:nvSpPr>
        <p:spPr>
          <a:xfrm>
            <a:off x="8121316" y="6232358"/>
            <a:ext cx="2245295" cy="369332"/>
          </a:xfrm>
          <a:prstGeom prst="rect">
            <a:avLst/>
          </a:prstGeom>
          <a:noFill/>
        </p:spPr>
        <p:txBody>
          <a:bodyPr wrap="none" rtlCol="0">
            <a:spAutoFit/>
          </a:bodyPr>
          <a:lstStyle/>
          <a:p>
            <a:r>
              <a:rPr lang="en-US" dirty="0">
                <a:solidFill>
                  <a:schemeClr val="accent6">
                    <a:lumMod val="60000"/>
                    <a:lumOff val="40000"/>
                  </a:schemeClr>
                </a:solidFill>
              </a:rPr>
              <a:t>Example on next page</a:t>
            </a:r>
            <a:endParaRPr lang="en-IN" dirty="0">
              <a:solidFill>
                <a:schemeClr val="accent6">
                  <a:lumMod val="60000"/>
                  <a:lumOff val="40000"/>
                </a:schemeClr>
              </a:solidFill>
            </a:endParaRPr>
          </a:p>
        </p:txBody>
      </p:sp>
    </p:spTree>
    <p:extLst>
      <p:ext uri="{BB962C8B-B14F-4D97-AF65-F5344CB8AC3E}">
        <p14:creationId xmlns:p14="http://schemas.microsoft.com/office/powerpoint/2010/main" val="1419630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99A92-F375-D0A4-7BBE-DF553CAAB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B67A0-3C94-D33C-B022-AA1453AB4C12}"/>
              </a:ext>
            </a:extLst>
          </p:cNvPr>
          <p:cNvSpPr>
            <a:spLocks noGrp="1"/>
          </p:cNvSpPr>
          <p:nvPr>
            <p:ph type="title"/>
          </p:nvPr>
        </p:nvSpPr>
        <p:spPr>
          <a:xfrm>
            <a:off x="838200" y="-80049"/>
            <a:ext cx="10515600" cy="609433"/>
          </a:xfrm>
        </p:spPr>
        <p:txBody>
          <a:bodyPr>
            <a:normAutofit fontScale="90000"/>
          </a:bodyPr>
          <a:lstStyle/>
          <a:p>
            <a:r>
              <a:rPr lang="en-US" dirty="0">
                <a:solidFill>
                  <a:schemeClr val="accent6">
                    <a:lumMod val="60000"/>
                    <a:lumOff val="40000"/>
                  </a:schemeClr>
                </a:solidFill>
              </a:rPr>
              <a:t>Some key terms: Iterations(p3)</a:t>
            </a:r>
            <a:endParaRPr lang="en-IN" dirty="0">
              <a:solidFill>
                <a:schemeClr val="accent6">
                  <a:lumMod val="60000"/>
                  <a:lumOff val="40000"/>
                </a:schemeClr>
              </a:solidFill>
            </a:endParaRPr>
          </a:p>
        </p:txBody>
      </p:sp>
      <p:sp>
        <p:nvSpPr>
          <p:cNvPr id="5" name="Content Placeholder 4">
            <a:extLst>
              <a:ext uri="{FF2B5EF4-FFF2-40B4-BE49-F238E27FC236}">
                <a16:creationId xmlns:a16="http://schemas.microsoft.com/office/drawing/2014/main" id="{F41A4B8E-378E-5E1D-F6E5-EA4CF72F6D5C}"/>
              </a:ext>
            </a:extLst>
          </p:cNvPr>
          <p:cNvSpPr>
            <a:spLocks noGrp="1"/>
          </p:cNvSpPr>
          <p:nvPr>
            <p:ph idx="1"/>
          </p:nvPr>
        </p:nvSpPr>
        <p:spPr>
          <a:xfrm>
            <a:off x="236617" y="646528"/>
            <a:ext cx="11229477" cy="3744997"/>
          </a:xfrm>
        </p:spPr>
        <p:txBody>
          <a:bodyPr>
            <a:normAutofit fontScale="92500" lnSpcReduction="20000"/>
          </a:bodyPr>
          <a:lstStyle/>
          <a:p>
            <a:r>
              <a:rPr lang="en-US" dirty="0">
                <a:solidFill>
                  <a:schemeClr val="accent6">
                    <a:lumMod val="60000"/>
                    <a:lumOff val="40000"/>
                  </a:schemeClr>
                </a:solidFill>
              </a:rPr>
              <a:t>Example: Suppose you are given total training set of 500 images and batch size of 100. How many iterations you this set will go through? </a:t>
            </a:r>
          </a:p>
          <a:p>
            <a:pPr marL="0" indent="0">
              <a:buNone/>
            </a:pPr>
            <a:r>
              <a:rPr lang="en-US" dirty="0">
                <a:solidFill>
                  <a:schemeClr val="accent6">
                    <a:lumMod val="60000"/>
                    <a:lumOff val="40000"/>
                  </a:schemeClr>
                </a:solidFill>
              </a:rPr>
              <a:t>From the above values, 100 samples will be taken each time through the neural network forward and backward. This constitutes one iteration.</a:t>
            </a:r>
          </a:p>
          <a:p>
            <a:pPr marL="0" indent="0">
              <a:buNone/>
            </a:pPr>
            <a:r>
              <a:rPr lang="en-US" dirty="0">
                <a:solidFill>
                  <a:schemeClr val="accent6">
                    <a:lumMod val="60000"/>
                    <a:lumOff val="40000"/>
                  </a:schemeClr>
                </a:solidFill>
              </a:rPr>
              <a:t>Therefore, if you are loading 100 images at a time (in one batch), to go through all 500 images, you will need 500 / 100 = about 5 iterations. So, when an entire training dataset passes through the NN, model weights would get updated 5 times.</a:t>
            </a:r>
          </a:p>
          <a:p>
            <a:pPr marL="0" indent="0">
              <a:buNone/>
            </a:pPr>
            <a:endParaRPr lang="en-US" dirty="0">
              <a:solidFill>
                <a:schemeClr val="accent6">
                  <a:lumMod val="60000"/>
                  <a:lumOff val="40000"/>
                </a:schemeClr>
              </a:solidFill>
            </a:endParaRPr>
          </a:p>
          <a:p>
            <a:pPr marL="0" indent="0">
              <a:buNone/>
            </a:pPr>
            <a:r>
              <a:rPr lang="en-US" dirty="0">
                <a:solidFill>
                  <a:schemeClr val="accent6">
                    <a:lumMod val="60000"/>
                    <a:lumOff val="40000"/>
                  </a:schemeClr>
                </a:solidFill>
              </a:rPr>
              <a:t>In above example, 5 iterations makes 1 </a:t>
            </a:r>
            <a:r>
              <a:rPr lang="en-US" b="1" dirty="0">
                <a:solidFill>
                  <a:schemeClr val="accent6">
                    <a:lumMod val="60000"/>
                    <a:lumOff val="40000"/>
                  </a:schemeClr>
                </a:solidFill>
              </a:rPr>
              <a:t>epoch.</a:t>
            </a:r>
          </a:p>
          <a:p>
            <a:pPr marL="0" indent="0">
              <a:buNone/>
            </a:pPr>
            <a:endParaRPr lang="en-US" dirty="0">
              <a:solidFill>
                <a:schemeClr val="accent6">
                  <a:lumMod val="60000"/>
                  <a:lumOff val="40000"/>
                </a:schemeClr>
              </a:solidFill>
            </a:endParaRPr>
          </a:p>
          <a:p>
            <a:endParaRPr lang="en-IN" dirty="0">
              <a:solidFill>
                <a:schemeClr val="accent6">
                  <a:lumMod val="60000"/>
                  <a:lumOff val="40000"/>
                </a:schemeClr>
              </a:solidFill>
            </a:endParaRPr>
          </a:p>
        </p:txBody>
      </p:sp>
      <p:graphicFrame>
        <p:nvGraphicFramePr>
          <p:cNvPr id="6" name="Table 5">
            <a:extLst>
              <a:ext uri="{FF2B5EF4-FFF2-40B4-BE49-F238E27FC236}">
                <a16:creationId xmlns:a16="http://schemas.microsoft.com/office/drawing/2014/main" id="{9602802E-BA2B-E3BB-2241-D6A7CBEC4C8E}"/>
              </a:ext>
            </a:extLst>
          </p:cNvPr>
          <p:cNvGraphicFramePr>
            <a:graphicFrameLocks noGrp="1"/>
          </p:cNvGraphicFramePr>
          <p:nvPr>
            <p:extLst>
              <p:ext uri="{D42A27DB-BD31-4B8C-83A1-F6EECF244321}">
                <p14:modId xmlns:p14="http://schemas.microsoft.com/office/powerpoint/2010/main" val="977541474"/>
              </p:ext>
            </p:extLst>
          </p:nvPr>
        </p:nvGraphicFramePr>
        <p:xfrm>
          <a:off x="6448924" y="4584035"/>
          <a:ext cx="733935" cy="1925055"/>
        </p:xfrm>
        <a:graphic>
          <a:graphicData uri="http://schemas.openxmlformats.org/drawingml/2006/table">
            <a:tbl>
              <a:tblPr firstRow="1" bandRow="1">
                <a:tableStyleId>{2D5ABB26-0587-4C30-8999-92F81FD0307C}</a:tableStyleId>
              </a:tblPr>
              <a:tblGrid>
                <a:gridCol w="733935">
                  <a:extLst>
                    <a:ext uri="{9D8B030D-6E8A-4147-A177-3AD203B41FA5}">
                      <a16:colId xmlns:a16="http://schemas.microsoft.com/office/drawing/2014/main" val="64565650"/>
                    </a:ext>
                  </a:extLst>
                </a:gridCol>
              </a:tblGrid>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467690"/>
                  </a:ext>
                </a:extLst>
              </a:tr>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904686"/>
                  </a:ext>
                </a:extLst>
              </a:tr>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838846"/>
                  </a:ext>
                </a:extLst>
              </a:tr>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8136534"/>
                  </a:ext>
                </a:extLst>
              </a:tr>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6461360"/>
                  </a:ext>
                </a:extLst>
              </a:tr>
            </a:tbl>
          </a:graphicData>
        </a:graphic>
      </p:graphicFrame>
      <p:pic>
        <p:nvPicPr>
          <p:cNvPr id="7" name="Picture 6">
            <a:extLst>
              <a:ext uri="{FF2B5EF4-FFF2-40B4-BE49-F238E27FC236}">
                <a16:creationId xmlns:a16="http://schemas.microsoft.com/office/drawing/2014/main" id="{E67C1F7E-D2C1-68B7-14EE-2652D4A794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7073" y="4012907"/>
            <a:ext cx="4812631" cy="2732639"/>
          </a:xfrm>
          <a:prstGeom prst="rect">
            <a:avLst/>
          </a:prstGeom>
        </p:spPr>
      </p:pic>
    </p:spTree>
    <p:extLst>
      <p:ext uri="{BB962C8B-B14F-4D97-AF65-F5344CB8AC3E}">
        <p14:creationId xmlns:p14="http://schemas.microsoft.com/office/powerpoint/2010/main" val="1293750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A8CC8-E007-B220-4DBF-D9924084E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10BA2D-ED4B-430C-9573-D9993647CE88}"/>
              </a:ext>
            </a:extLst>
          </p:cNvPr>
          <p:cNvSpPr>
            <a:spLocks noGrp="1"/>
          </p:cNvSpPr>
          <p:nvPr>
            <p:ph type="title"/>
          </p:nvPr>
        </p:nvSpPr>
        <p:spPr>
          <a:xfrm>
            <a:off x="838200" y="184645"/>
            <a:ext cx="10515600" cy="609433"/>
          </a:xfrm>
        </p:spPr>
        <p:txBody>
          <a:bodyPr>
            <a:normAutofit fontScale="90000"/>
          </a:bodyPr>
          <a:lstStyle/>
          <a:p>
            <a:r>
              <a:rPr lang="en-US" dirty="0">
                <a:solidFill>
                  <a:schemeClr val="accent6">
                    <a:lumMod val="60000"/>
                    <a:lumOff val="40000"/>
                  </a:schemeClr>
                </a:solidFill>
              </a:rPr>
              <a:t>Some key terms: Epoch(p4)</a:t>
            </a:r>
            <a:endParaRPr lang="en-IN" dirty="0">
              <a:solidFill>
                <a:schemeClr val="accent6">
                  <a:lumMod val="60000"/>
                  <a:lumOff val="40000"/>
                </a:schemeClr>
              </a:solidFill>
            </a:endParaRPr>
          </a:p>
        </p:txBody>
      </p:sp>
      <p:sp>
        <p:nvSpPr>
          <p:cNvPr id="3" name="Content Placeholder 2">
            <a:extLst>
              <a:ext uri="{FF2B5EF4-FFF2-40B4-BE49-F238E27FC236}">
                <a16:creationId xmlns:a16="http://schemas.microsoft.com/office/drawing/2014/main" id="{659E9432-04F9-B16F-4D83-5E3BC8BF7210}"/>
              </a:ext>
            </a:extLst>
          </p:cNvPr>
          <p:cNvSpPr>
            <a:spLocks noGrp="1"/>
          </p:cNvSpPr>
          <p:nvPr>
            <p:ph idx="1"/>
          </p:nvPr>
        </p:nvSpPr>
        <p:spPr>
          <a:xfrm>
            <a:off x="348916" y="935283"/>
            <a:ext cx="11586410" cy="2517777"/>
          </a:xfrm>
        </p:spPr>
        <p:txBody>
          <a:bodyPr>
            <a:normAutofit fontScale="77500" lnSpcReduction="20000"/>
          </a:bodyPr>
          <a:lstStyle/>
          <a:p>
            <a:pPr marL="0" indent="0">
              <a:buNone/>
            </a:pPr>
            <a:r>
              <a:rPr lang="en-US" b="1" dirty="0">
                <a:solidFill>
                  <a:schemeClr val="accent6">
                    <a:lumMod val="60000"/>
                    <a:lumOff val="40000"/>
                  </a:schemeClr>
                </a:solidFill>
                <a:latin typeface="Google Sans"/>
              </a:rPr>
              <a:t>E</a:t>
            </a:r>
            <a:r>
              <a:rPr lang="en-US" b="1" i="0" dirty="0">
                <a:solidFill>
                  <a:schemeClr val="accent6">
                    <a:lumMod val="60000"/>
                    <a:lumOff val="40000"/>
                  </a:schemeClr>
                </a:solidFill>
                <a:effectLst/>
                <a:latin typeface="Google Sans"/>
              </a:rPr>
              <a:t>poch</a:t>
            </a:r>
            <a:r>
              <a:rPr lang="en-US" b="0" i="0" dirty="0">
                <a:solidFill>
                  <a:schemeClr val="accent6">
                    <a:lumMod val="60000"/>
                    <a:lumOff val="40000"/>
                  </a:schemeClr>
                </a:solidFill>
                <a:effectLst/>
                <a:latin typeface="Google Sans"/>
              </a:rPr>
              <a:t> is </a:t>
            </a:r>
            <a:r>
              <a:rPr lang="en-US" dirty="0">
                <a:solidFill>
                  <a:schemeClr val="accent6">
                    <a:lumMod val="60000"/>
                    <a:lumOff val="40000"/>
                  </a:schemeClr>
                </a:solidFill>
              </a:rPr>
              <a:t>a </a:t>
            </a:r>
            <a:r>
              <a:rPr lang="en-US" b="1" dirty="0">
                <a:solidFill>
                  <a:schemeClr val="accent6">
                    <a:lumMod val="60000"/>
                    <a:lumOff val="40000"/>
                  </a:schemeClr>
                </a:solidFill>
              </a:rPr>
              <a:t>complete cycle</a:t>
            </a:r>
            <a:r>
              <a:rPr lang="en-US" dirty="0">
                <a:solidFill>
                  <a:schemeClr val="accent6">
                    <a:lumMod val="60000"/>
                    <a:lumOff val="40000"/>
                  </a:schemeClr>
                </a:solidFill>
              </a:rPr>
              <a:t> of training a machine learning model on </a:t>
            </a:r>
            <a:r>
              <a:rPr lang="en-US" b="1" dirty="0">
                <a:solidFill>
                  <a:schemeClr val="accent6">
                    <a:lumMod val="60000"/>
                    <a:lumOff val="40000"/>
                  </a:schemeClr>
                </a:solidFill>
              </a:rPr>
              <a:t>an entire dataset</a:t>
            </a:r>
          </a:p>
          <a:p>
            <a:pPr marL="0" indent="0">
              <a:buNone/>
            </a:pPr>
            <a:endParaRPr lang="en-US" dirty="0">
              <a:solidFill>
                <a:schemeClr val="accent6">
                  <a:lumMod val="60000"/>
                  <a:lumOff val="40000"/>
                </a:schemeClr>
              </a:solidFill>
              <a:latin typeface="Google Sans"/>
            </a:endParaRPr>
          </a:p>
          <a:p>
            <a:pPr marL="0" indent="0">
              <a:buNone/>
            </a:pPr>
            <a:r>
              <a:rPr lang="en-US" dirty="0">
                <a:solidFill>
                  <a:schemeClr val="accent6">
                    <a:lumMod val="60000"/>
                    <a:lumOff val="40000"/>
                  </a:schemeClr>
                </a:solidFill>
                <a:latin typeface="Google Sans"/>
              </a:rPr>
              <a:t>How does an epoch work?</a:t>
            </a:r>
          </a:p>
          <a:p>
            <a:pPr marL="514350" indent="-514350">
              <a:buFont typeface="+mj-lt"/>
              <a:buAutoNum type="arabicPeriod"/>
            </a:pPr>
            <a:r>
              <a:rPr lang="en-US" dirty="0">
                <a:solidFill>
                  <a:schemeClr val="accent6">
                    <a:lumMod val="60000"/>
                    <a:lumOff val="40000"/>
                  </a:schemeClr>
                </a:solidFill>
                <a:latin typeface="Google Sans"/>
              </a:rPr>
              <a:t>The model passes through the entire training dataset once. </a:t>
            </a:r>
          </a:p>
          <a:p>
            <a:pPr marL="514350" indent="-514350">
              <a:buFont typeface="+mj-lt"/>
              <a:buAutoNum type="arabicPeriod"/>
            </a:pPr>
            <a:r>
              <a:rPr lang="en-US" dirty="0">
                <a:solidFill>
                  <a:schemeClr val="accent6">
                    <a:lumMod val="60000"/>
                    <a:lumOff val="40000"/>
                  </a:schemeClr>
                </a:solidFill>
                <a:latin typeface="Google Sans"/>
              </a:rPr>
              <a:t>The model adjusts its internal parameters based on errors made in the previous pass. </a:t>
            </a:r>
          </a:p>
          <a:p>
            <a:pPr marL="514350" indent="-514350">
              <a:buFont typeface="+mj-lt"/>
              <a:buAutoNum type="arabicPeriod"/>
            </a:pPr>
            <a:r>
              <a:rPr lang="en-US" dirty="0">
                <a:solidFill>
                  <a:schemeClr val="accent6">
                    <a:lumMod val="60000"/>
                    <a:lumOff val="40000"/>
                  </a:schemeClr>
                </a:solidFill>
                <a:latin typeface="Google Sans"/>
              </a:rPr>
              <a:t>The model repeats this process multiple times, adjusting its parameters to best fit the training data. </a:t>
            </a:r>
          </a:p>
        </p:txBody>
      </p:sp>
      <p:pic>
        <p:nvPicPr>
          <p:cNvPr id="5" name="Picture 4">
            <a:extLst>
              <a:ext uri="{FF2B5EF4-FFF2-40B4-BE49-F238E27FC236}">
                <a16:creationId xmlns:a16="http://schemas.microsoft.com/office/drawing/2014/main" id="{D05D269C-179D-5543-DD84-E416BB1B40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356" y="3320716"/>
            <a:ext cx="5850396" cy="3321889"/>
          </a:xfrm>
          <a:prstGeom prst="rect">
            <a:avLst/>
          </a:prstGeom>
        </p:spPr>
      </p:pic>
      <p:sp>
        <p:nvSpPr>
          <p:cNvPr id="6" name="TextBox 5">
            <a:extLst>
              <a:ext uri="{FF2B5EF4-FFF2-40B4-BE49-F238E27FC236}">
                <a16:creationId xmlns:a16="http://schemas.microsoft.com/office/drawing/2014/main" id="{F52D15C6-00FB-E36E-D235-AFEDDA325522}"/>
              </a:ext>
            </a:extLst>
          </p:cNvPr>
          <p:cNvSpPr txBox="1"/>
          <p:nvPr/>
        </p:nvSpPr>
        <p:spPr>
          <a:xfrm>
            <a:off x="7808495" y="3934325"/>
            <a:ext cx="3189019" cy="1200329"/>
          </a:xfrm>
          <a:prstGeom prst="rect">
            <a:avLst/>
          </a:prstGeom>
          <a:noFill/>
        </p:spPr>
        <p:txBody>
          <a:bodyPr wrap="square" rtlCol="0">
            <a:spAutoFit/>
          </a:bodyPr>
          <a:lstStyle/>
          <a:p>
            <a:r>
              <a:rPr lang="en-US" b="1" i="0" dirty="0">
                <a:solidFill>
                  <a:schemeClr val="accent6">
                    <a:lumMod val="60000"/>
                    <a:lumOff val="40000"/>
                  </a:schemeClr>
                </a:solidFill>
                <a:effectLst/>
                <a:latin typeface="Inter"/>
              </a:rPr>
              <a:t>In one epoch, the entire training dataset is passed forward and backward via the neural network.</a:t>
            </a:r>
            <a:endParaRPr lang="en-IN" b="1" dirty="0">
              <a:solidFill>
                <a:schemeClr val="accent6">
                  <a:lumMod val="60000"/>
                  <a:lumOff val="40000"/>
                </a:schemeClr>
              </a:solidFill>
            </a:endParaRPr>
          </a:p>
        </p:txBody>
      </p:sp>
      <p:graphicFrame>
        <p:nvGraphicFramePr>
          <p:cNvPr id="4" name="Table 3">
            <a:extLst>
              <a:ext uri="{FF2B5EF4-FFF2-40B4-BE49-F238E27FC236}">
                <a16:creationId xmlns:a16="http://schemas.microsoft.com/office/drawing/2014/main" id="{60F3B8C5-9F9F-1840-4E18-390F6701824B}"/>
              </a:ext>
            </a:extLst>
          </p:cNvPr>
          <p:cNvGraphicFramePr>
            <a:graphicFrameLocks noGrp="1"/>
          </p:cNvGraphicFramePr>
          <p:nvPr>
            <p:extLst>
              <p:ext uri="{D42A27DB-BD31-4B8C-83A1-F6EECF244321}">
                <p14:modId xmlns:p14="http://schemas.microsoft.com/office/powerpoint/2010/main" val="989628788"/>
              </p:ext>
            </p:extLst>
          </p:nvPr>
        </p:nvGraphicFramePr>
        <p:xfrm>
          <a:off x="649695" y="4090739"/>
          <a:ext cx="733935" cy="1925055"/>
        </p:xfrm>
        <a:graphic>
          <a:graphicData uri="http://schemas.openxmlformats.org/drawingml/2006/table">
            <a:tbl>
              <a:tblPr firstRow="1" bandRow="1">
                <a:tableStyleId>{2D5ABB26-0587-4C30-8999-92F81FD0307C}</a:tableStyleId>
              </a:tblPr>
              <a:tblGrid>
                <a:gridCol w="733935">
                  <a:extLst>
                    <a:ext uri="{9D8B030D-6E8A-4147-A177-3AD203B41FA5}">
                      <a16:colId xmlns:a16="http://schemas.microsoft.com/office/drawing/2014/main" val="64565650"/>
                    </a:ext>
                  </a:extLst>
                </a:gridCol>
              </a:tblGrid>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467690"/>
                  </a:ext>
                </a:extLst>
              </a:tr>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904686"/>
                  </a:ext>
                </a:extLst>
              </a:tr>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838846"/>
                  </a:ext>
                </a:extLst>
              </a:tr>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8136534"/>
                  </a:ext>
                </a:extLst>
              </a:tr>
              <a:tr h="385011">
                <a:tc>
                  <a:txBody>
                    <a:bodyPr/>
                    <a:lstStyle/>
                    <a:p>
                      <a:r>
                        <a:rPr lang="en-US" b="1" baseline="0" dirty="0">
                          <a:solidFill>
                            <a:schemeClr val="accent6">
                              <a:lumMod val="60000"/>
                              <a:lumOff val="40000"/>
                            </a:schemeClr>
                          </a:solidFill>
                        </a:rPr>
                        <a:t>100</a:t>
                      </a:r>
                      <a:endParaRPr lang="en-IN" b="1" baseline="0" dirty="0">
                        <a:solidFill>
                          <a:schemeClr val="accent6">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6461360"/>
                  </a:ext>
                </a:extLst>
              </a:tr>
            </a:tbl>
          </a:graphicData>
        </a:graphic>
      </p:graphicFrame>
    </p:spTree>
    <p:extLst>
      <p:ext uri="{BB962C8B-B14F-4D97-AF65-F5344CB8AC3E}">
        <p14:creationId xmlns:p14="http://schemas.microsoft.com/office/powerpoint/2010/main" val="353911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9FFC-4BB8-1B6B-E641-82CA4812E24F}"/>
              </a:ext>
            </a:extLst>
          </p:cNvPr>
          <p:cNvSpPr>
            <a:spLocks noGrp="1"/>
          </p:cNvSpPr>
          <p:nvPr>
            <p:ph type="title"/>
          </p:nvPr>
        </p:nvSpPr>
        <p:spPr>
          <a:xfrm>
            <a:off x="838200" y="27231"/>
            <a:ext cx="6353175" cy="609433"/>
          </a:xfrm>
        </p:spPr>
        <p:txBody>
          <a:bodyPr>
            <a:normAutofit fontScale="90000"/>
          </a:bodyPr>
          <a:lstStyle/>
          <a:p>
            <a:r>
              <a:rPr lang="en-US" dirty="0"/>
              <a:t>Some key terms: Epoch(p5)</a:t>
            </a:r>
            <a:endParaRPr lang="en-IN" dirty="0"/>
          </a:p>
        </p:txBody>
      </p:sp>
      <p:sp>
        <p:nvSpPr>
          <p:cNvPr id="3" name="Content Placeholder 2">
            <a:extLst>
              <a:ext uri="{FF2B5EF4-FFF2-40B4-BE49-F238E27FC236}">
                <a16:creationId xmlns:a16="http://schemas.microsoft.com/office/drawing/2014/main" id="{7BDB11EC-2DFA-49B3-F889-4F8F6F8018E2}"/>
              </a:ext>
            </a:extLst>
          </p:cNvPr>
          <p:cNvSpPr>
            <a:spLocks noGrp="1"/>
          </p:cNvSpPr>
          <p:nvPr>
            <p:ph idx="1"/>
          </p:nvPr>
        </p:nvSpPr>
        <p:spPr>
          <a:xfrm>
            <a:off x="94089" y="635163"/>
            <a:ext cx="12002661" cy="3327237"/>
          </a:xfrm>
        </p:spPr>
        <p:txBody>
          <a:bodyPr>
            <a:normAutofit fontScale="62500" lnSpcReduction="20000"/>
          </a:bodyPr>
          <a:lstStyle/>
          <a:p>
            <a:pPr marL="0" indent="0">
              <a:buNone/>
            </a:pPr>
            <a:r>
              <a:rPr lang="en-US" b="1" dirty="0">
                <a:solidFill>
                  <a:schemeClr val="accent6">
                    <a:lumMod val="60000"/>
                    <a:lumOff val="40000"/>
                  </a:schemeClr>
                </a:solidFill>
              </a:rPr>
              <a:t>Why are epochs important?</a:t>
            </a:r>
          </a:p>
          <a:p>
            <a:pPr marL="0" indent="0">
              <a:buNone/>
            </a:pPr>
            <a:r>
              <a:rPr lang="en-US" dirty="0">
                <a:solidFill>
                  <a:schemeClr val="accent6">
                    <a:lumMod val="60000"/>
                    <a:lumOff val="40000"/>
                  </a:schemeClr>
                </a:solidFill>
              </a:rPr>
              <a:t>The </a:t>
            </a:r>
            <a:r>
              <a:rPr lang="en-US" b="1" dirty="0">
                <a:solidFill>
                  <a:schemeClr val="accent6">
                    <a:lumMod val="60000"/>
                    <a:lumOff val="40000"/>
                  </a:schemeClr>
                </a:solidFill>
              </a:rPr>
              <a:t>number of epochs</a:t>
            </a:r>
            <a:r>
              <a:rPr lang="en-US" dirty="0">
                <a:solidFill>
                  <a:schemeClr val="accent6">
                    <a:lumMod val="60000"/>
                    <a:lumOff val="40000"/>
                  </a:schemeClr>
                </a:solidFill>
              </a:rPr>
              <a:t> determines how many times the model will see the entire training data before completing training. The number of epochs is an important hyperparameter to set correctly, as it can affect both the accuracy and computational efficiency of the training process.</a:t>
            </a:r>
          </a:p>
          <a:p>
            <a:pPr marL="0" indent="0">
              <a:buNone/>
            </a:pPr>
            <a:r>
              <a:rPr lang="en-US" dirty="0">
                <a:solidFill>
                  <a:schemeClr val="accent6">
                    <a:lumMod val="60000"/>
                    <a:lumOff val="40000"/>
                  </a:schemeClr>
                </a:solidFill>
              </a:rPr>
              <a:t>If the </a:t>
            </a:r>
            <a:r>
              <a:rPr lang="en-US" b="1" dirty="0">
                <a:solidFill>
                  <a:schemeClr val="accent6">
                    <a:lumMod val="60000"/>
                    <a:lumOff val="40000"/>
                  </a:schemeClr>
                </a:solidFill>
              </a:rPr>
              <a:t>number of epochs is too small</a:t>
            </a:r>
            <a:r>
              <a:rPr lang="en-US" dirty="0">
                <a:solidFill>
                  <a:schemeClr val="accent6">
                    <a:lumMod val="60000"/>
                    <a:lumOff val="40000"/>
                  </a:schemeClr>
                </a:solidFill>
              </a:rPr>
              <a:t>, the model may not learn the underlying patterns in the data, resulting in </a:t>
            </a:r>
            <a:r>
              <a:rPr lang="en-US" b="1" dirty="0">
                <a:solidFill>
                  <a:schemeClr val="accent6">
                    <a:lumMod val="60000"/>
                    <a:lumOff val="40000"/>
                  </a:schemeClr>
                </a:solidFill>
              </a:rPr>
              <a:t>underfitting</a:t>
            </a:r>
            <a:r>
              <a:rPr lang="en-US" dirty="0">
                <a:solidFill>
                  <a:schemeClr val="accent6">
                    <a:lumMod val="60000"/>
                    <a:lumOff val="40000"/>
                  </a:schemeClr>
                </a:solidFill>
              </a:rPr>
              <a:t>.</a:t>
            </a:r>
          </a:p>
          <a:p>
            <a:pPr marL="0" indent="0">
              <a:buNone/>
            </a:pPr>
            <a:r>
              <a:rPr lang="en-US" dirty="0">
                <a:solidFill>
                  <a:schemeClr val="accent6">
                    <a:lumMod val="60000"/>
                    <a:lumOff val="40000"/>
                  </a:schemeClr>
                </a:solidFill>
              </a:rPr>
              <a:t>If the</a:t>
            </a:r>
            <a:r>
              <a:rPr lang="en-US" b="1" dirty="0">
                <a:solidFill>
                  <a:schemeClr val="accent6">
                    <a:lumMod val="60000"/>
                    <a:lumOff val="40000"/>
                  </a:schemeClr>
                </a:solidFill>
              </a:rPr>
              <a:t> number of epochs is too large</a:t>
            </a:r>
            <a:r>
              <a:rPr lang="en-US" dirty="0">
                <a:solidFill>
                  <a:schemeClr val="accent6">
                    <a:lumMod val="60000"/>
                    <a:lumOff val="40000"/>
                  </a:schemeClr>
                </a:solidFill>
              </a:rPr>
              <a:t>, the model may </a:t>
            </a:r>
            <a:r>
              <a:rPr lang="en-US" b="1" dirty="0">
                <a:solidFill>
                  <a:schemeClr val="accent6">
                    <a:lumMod val="60000"/>
                    <a:lumOff val="40000"/>
                  </a:schemeClr>
                </a:solidFill>
              </a:rPr>
              <a:t>overfit</a:t>
            </a:r>
            <a:r>
              <a:rPr lang="en-US" dirty="0">
                <a:solidFill>
                  <a:schemeClr val="accent6">
                    <a:lumMod val="60000"/>
                    <a:lumOff val="40000"/>
                  </a:schemeClr>
                </a:solidFill>
              </a:rPr>
              <a:t> the training data, leading to poor generalization performance on new, unseen data.</a:t>
            </a:r>
          </a:p>
          <a:p>
            <a:pPr marL="0" indent="0">
              <a:buNone/>
            </a:pPr>
            <a:endParaRPr lang="en-US" dirty="0">
              <a:solidFill>
                <a:schemeClr val="accent6">
                  <a:lumMod val="60000"/>
                  <a:lumOff val="40000"/>
                </a:schemeClr>
              </a:solidFill>
            </a:endParaRPr>
          </a:p>
          <a:p>
            <a:pPr marL="0" indent="0">
              <a:buNone/>
            </a:pPr>
            <a:r>
              <a:rPr lang="en-US" b="1" dirty="0">
                <a:solidFill>
                  <a:schemeClr val="accent6">
                    <a:lumMod val="60000"/>
                    <a:lumOff val="40000"/>
                  </a:schemeClr>
                </a:solidFill>
              </a:rPr>
              <a:t>How do I determine the right number of epochs?</a:t>
            </a:r>
            <a:r>
              <a:rPr lang="en-US" dirty="0">
                <a:solidFill>
                  <a:schemeClr val="accent6">
                    <a:lumMod val="60000"/>
                    <a:lumOff val="40000"/>
                  </a:schemeClr>
                </a:solidFill>
              </a:rPr>
              <a:t> </a:t>
            </a:r>
          </a:p>
          <a:p>
            <a:pPr marL="0" indent="0">
              <a:buNone/>
            </a:pPr>
            <a:r>
              <a:rPr lang="en-US" dirty="0">
                <a:solidFill>
                  <a:schemeClr val="accent6">
                    <a:lumMod val="60000"/>
                    <a:lumOff val="40000"/>
                  </a:schemeClr>
                </a:solidFill>
              </a:rPr>
              <a:t>The ideal number of epochs for a given training process can be determined through experimentation and monitoring the performance of the model on a validation set. </a:t>
            </a:r>
            <a:r>
              <a:rPr lang="en-US" b="1" dirty="0">
                <a:solidFill>
                  <a:schemeClr val="accent6">
                    <a:lumMod val="60000"/>
                    <a:lumOff val="40000"/>
                  </a:schemeClr>
                </a:solidFill>
              </a:rPr>
              <a:t>Once the model stops improving on the validation set, it is a good indication that the number of epochs has been reached.</a:t>
            </a:r>
          </a:p>
        </p:txBody>
      </p:sp>
      <p:pic>
        <p:nvPicPr>
          <p:cNvPr id="5" name="Picture 4">
            <a:extLst>
              <a:ext uri="{FF2B5EF4-FFF2-40B4-BE49-F238E27FC236}">
                <a16:creationId xmlns:a16="http://schemas.microsoft.com/office/drawing/2014/main" id="{75F524F8-407C-7712-AE45-8D7FE804BF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6233" y="3792772"/>
            <a:ext cx="6148946" cy="3038380"/>
          </a:xfrm>
          <a:prstGeom prst="rect">
            <a:avLst/>
          </a:prstGeom>
        </p:spPr>
      </p:pic>
    </p:spTree>
    <p:extLst>
      <p:ext uri="{BB962C8B-B14F-4D97-AF65-F5344CB8AC3E}">
        <p14:creationId xmlns:p14="http://schemas.microsoft.com/office/powerpoint/2010/main" val="229805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1093</TotalTime>
  <Words>908</Words>
  <Application>Microsoft Office PowerPoint</Application>
  <PresentationFormat>Widescreen</PresentationFormat>
  <Paragraphs>54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Google Sans</vt:lpstr>
      <vt:lpstr>Inter</vt:lpstr>
      <vt:lpstr>Office Theme</vt:lpstr>
      <vt:lpstr>ANN Key Terms: BatchSize-Iterations-Epoch</vt:lpstr>
      <vt:lpstr>Some key terms: Batch size(p1)</vt:lpstr>
      <vt:lpstr>Some key terms: Batch size(p2)</vt:lpstr>
      <vt:lpstr>Some key terms: Batch size(p2)</vt:lpstr>
      <vt:lpstr>Some key terms: Iterations(p3)</vt:lpstr>
      <vt:lpstr>Some key terms: Iterations(p3)</vt:lpstr>
      <vt:lpstr>Some key terms: Epoch(p4)</vt:lpstr>
      <vt:lpstr>Some key terms: Epoch(p5)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dc:title>
  <dc:creator>Windows User</dc:creator>
  <cp:lastModifiedBy>Ashwani Kumar</cp:lastModifiedBy>
  <cp:revision>144</cp:revision>
  <dcterms:created xsi:type="dcterms:W3CDTF">2025-01-15T13:24:26Z</dcterms:created>
  <dcterms:modified xsi:type="dcterms:W3CDTF">2025-09-29T18:32:26Z</dcterms:modified>
</cp:coreProperties>
</file>