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6" r:id="rId2"/>
    <p:sldId id="278" r:id="rId3"/>
    <p:sldId id="280" r:id="rId4"/>
    <p:sldId id="279" r:id="rId5"/>
    <p:sldId id="281" r:id="rId6"/>
    <p:sldId id="277" r:id="rId7"/>
    <p:sldId id="282" r:id="rId8"/>
    <p:sldId id="290" r:id="rId9"/>
    <p:sldId id="283" r:id="rId10"/>
    <p:sldId id="285" r:id="rId11"/>
    <p:sldId id="286" r:id="rId12"/>
    <p:sldId id="284" r:id="rId13"/>
    <p:sldId id="288" r:id="rId14"/>
    <p:sldId id="289" r:id="rId15"/>
    <p:sldId id="275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1ED0-2FE2-8A2B-7798-DACDDF0D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46C68A-9622-04FA-5CD7-F9C1B3D7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80" y="463935"/>
            <a:ext cx="8007040" cy="593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9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70A9-7A67-2334-E79A-04891FD9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572B9-DACE-CDFD-C4C3-B62EF8598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20" y="1170432"/>
            <a:ext cx="6790579" cy="502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98FE5D-ABCE-96C5-1480-1CE1CEA21CC0}"/>
              </a:ext>
            </a:extLst>
          </p:cNvPr>
          <p:cNvSpPr txBox="1"/>
          <p:nvPr/>
        </p:nvSpPr>
        <p:spPr>
          <a:xfrm>
            <a:off x="32004" y="615756"/>
            <a:ext cx="53694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Intelligence (AI)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field of computer science focused on creating machines that can perform tasks that normally require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intelligence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tasks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Recognizing images</a:t>
            </a:r>
          </a:p>
        </p:txBody>
      </p:sp>
    </p:spTree>
    <p:extLst>
      <p:ext uri="{BB962C8B-B14F-4D97-AF65-F5344CB8AC3E}">
        <p14:creationId xmlns:p14="http://schemas.microsoft.com/office/powerpoint/2010/main" val="377594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A08ED-5DA1-71AC-C0B3-A8106BD2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2654CC-64CD-7E28-C465-7865E62EE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520943"/>
              </p:ext>
            </p:extLst>
          </p:nvPr>
        </p:nvGraphicFramePr>
        <p:xfrm>
          <a:off x="1633728" y="590582"/>
          <a:ext cx="9540240" cy="2286000"/>
        </p:xfrm>
        <a:graphic>
          <a:graphicData uri="http://schemas.openxmlformats.org/drawingml/2006/table">
            <a:tbl>
              <a:tblPr/>
              <a:tblGrid>
                <a:gridCol w="3633216">
                  <a:extLst>
                    <a:ext uri="{9D8B030D-6E8A-4147-A177-3AD203B41FA5}">
                      <a16:colId xmlns:a16="http://schemas.microsoft.com/office/drawing/2014/main" val="1734573062"/>
                    </a:ext>
                  </a:extLst>
                </a:gridCol>
                <a:gridCol w="5907024">
                  <a:extLst>
                    <a:ext uri="{9D8B030D-6E8A-4147-A177-3AD203B41FA5}">
                      <a16:colId xmlns:a16="http://schemas.microsoft.com/office/drawing/2014/main" val="691669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What AI Does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626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Generates human-like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676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Self-driving cars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Detects objects and makes driving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78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Fraud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Identifies suspicious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914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Recommendation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Suggests movies/products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61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12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FA13-7FD4-8F7D-7046-2790096D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C9E33D-CA2C-2DFB-CA78-8EC9FC248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20" y="1170432"/>
            <a:ext cx="6790579" cy="502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40A978-3B5E-E4FA-DD8A-68302328FFB1}"/>
              </a:ext>
            </a:extLst>
          </p:cNvPr>
          <p:cNvSpPr txBox="1"/>
          <p:nvPr/>
        </p:nvSpPr>
        <p:spPr>
          <a:xfrm>
            <a:off x="132588" y="487972"/>
            <a:ext cx="51069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(ML)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subset of AI where computers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 patterns from data instead of being explicitly programmed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writing rules manually, we give the machine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it learns the rules.</a:t>
            </a:r>
          </a:p>
        </p:txBody>
      </p:sp>
    </p:spTree>
    <p:extLst>
      <p:ext uri="{BB962C8B-B14F-4D97-AF65-F5344CB8AC3E}">
        <p14:creationId xmlns:p14="http://schemas.microsoft.com/office/powerpoint/2010/main" val="162479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4A68-DAD7-67FD-24DC-60FA83B1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1DAFC9-0657-A22D-D26D-E87F37FCEEEC}"/>
              </a:ext>
            </a:extLst>
          </p:cNvPr>
          <p:cNvSpPr txBox="1"/>
          <p:nvPr/>
        </p:nvSpPr>
        <p:spPr>
          <a:xfrm>
            <a:off x="946404" y="274981"/>
            <a:ext cx="68625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Programming vs 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A16C0-821B-9E67-8198-652FA9F6E780}"/>
              </a:ext>
            </a:extLst>
          </p:cNvPr>
          <p:cNvSpPr txBox="1"/>
          <p:nvPr/>
        </p:nvSpPr>
        <p:spPr>
          <a:xfrm>
            <a:off x="306324" y="972372"/>
            <a:ext cx="50246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Programming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Data + Rules → Output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temperature = 76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if temperature &gt; 40: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print("Very Hot")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-&gt; temperature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-&gt; If logic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80332-1280-9595-F14A-DC3977A1B232}"/>
              </a:ext>
            </a:extLst>
          </p:cNvPr>
          <p:cNvSpPr txBox="1"/>
          <p:nvPr/>
        </p:nvSpPr>
        <p:spPr>
          <a:xfrm>
            <a:off x="5422392" y="945172"/>
            <a:ext cx="65882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Data + Output → Model learns Rules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give the model: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064B82-66F6-0E98-5262-56DBA6B40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594671"/>
              </p:ext>
            </p:extLst>
          </p:nvPr>
        </p:nvGraphicFramePr>
        <p:xfrm>
          <a:off x="5687568" y="3269774"/>
          <a:ext cx="5666232" cy="2377440"/>
        </p:xfrm>
        <a:graphic>
          <a:graphicData uri="http://schemas.openxmlformats.org/drawingml/2006/table">
            <a:tbl>
              <a:tblPr/>
              <a:tblGrid>
                <a:gridCol w="1888744">
                  <a:extLst>
                    <a:ext uri="{9D8B030D-6E8A-4147-A177-3AD203B41FA5}">
                      <a16:colId xmlns:a16="http://schemas.microsoft.com/office/drawing/2014/main" val="2911266312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1061588836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307326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530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344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67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17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957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12739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1B6281F-C864-9EE3-060B-59B4CC4424CE}"/>
              </a:ext>
            </a:extLst>
          </p:cNvPr>
          <p:cNvSpPr txBox="1"/>
          <p:nvPr/>
        </p:nvSpPr>
        <p:spPr>
          <a:xfrm>
            <a:off x="5353812" y="592352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learns the pattern automatically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126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C2D7-EB16-C5CC-7629-67ADDE74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E16EF3-52BC-DD56-A5D6-02BBD9B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20" y="1170432"/>
            <a:ext cx="6790579" cy="502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08655A-DC3E-A2FE-4DC9-A4324B5F9DB4}"/>
              </a:ext>
            </a:extLst>
          </p:cNvPr>
          <p:cNvSpPr txBox="1"/>
          <p:nvPr/>
        </p:nvSpPr>
        <p:spPr>
          <a:xfrm>
            <a:off x="32004" y="576733"/>
            <a:ext cx="53694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(DL)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DL is a subset of Machine Learning that uses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many layers to learn complex patterns 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data.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inspired by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brain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5088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63505-FE2F-C900-C3BE-563FDEF3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8DA38-A131-0A68-BE64-A6CBCFCC5E2E}"/>
              </a:ext>
            </a:extLst>
          </p:cNvPr>
          <p:cNvSpPr txBox="1"/>
          <p:nvPr/>
        </p:nvSpPr>
        <p:spPr>
          <a:xfrm>
            <a:off x="146304" y="359956"/>
            <a:ext cx="1196035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structure: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Input Layer → Hidden Layer1 → Hidden Layer2 → Hidden Layer3 → Output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more layers →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network.</a:t>
            </a:r>
          </a:p>
        </p:txBody>
      </p:sp>
    </p:spTree>
    <p:extLst>
      <p:ext uri="{BB962C8B-B14F-4D97-AF65-F5344CB8AC3E}">
        <p14:creationId xmlns:p14="http://schemas.microsoft.com/office/powerpoint/2010/main" val="2323594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C4DF-E932-E3E1-3B9E-5B6C5051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2418BA-2168-0909-8CDB-AAC3F2B30051}"/>
              </a:ext>
            </a:extLst>
          </p:cNvPr>
          <p:cNvSpPr txBox="1"/>
          <p:nvPr/>
        </p:nvSpPr>
        <p:spPr>
          <a:xfrm>
            <a:off x="146304" y="285464"/>
            <a:ext cx="11887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Image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Image → Edge Detection → Shape Detection → Parts of Object → Full Object Recognition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      (layer1)     (layer2)        (layer3)           (layer4)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layer learns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higher level features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180AD-8D00-FD5D-BFFC-7C74A91A0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93" y="2139696"/>
            <a:ext cx="8913311" cy="4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4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3589A-26D0-A134-AFBB-D8C5C5ED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2CC348-BB7E-80A9-AAA6-F621E35CDD06}"/>
              </a:ext>
            </a:extLst>
          </p:cNvPr>
          <p:cNvSpPr txBox="1"/>
          <p:nvPr/>
        </p:nvSpPr>
        <p:spPr>
          <a:xfrm>
            <a:off x="987552" y="226814"/>
            <a:ext cx="9921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Deep Learning Matters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became powerful because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major factors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5684F-6125-D1E9-E88E-0EA7B2A12DDC}"/>
              </a:ext>
            </a:extLst>
          </p:cNvPr>
          <p:cNvSpPr txBox="1"/>
          <p:nvPr/>
        </p:nvSpPr>
        <p:spPr>
          <a:xfrm>
            <a:off x="132588" y="1764114"/>
            <a:ext cx="33055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Big Data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Huge datasets are now available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YouTube videos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media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C6242-EE41-EFB5-449B-3489F2C72AEC}"/>
              </a:ext>
            </a:extLst>
          </p:cNvPr>
          <p:cNvSpPr txBox="1"/>
          <p:nvPr/>
        </p:nvSpPr>
        <p:spPr>
          <a:xfrm>
            <a:off x="3758184" y="1794224"/>
            <a:ext cx="35753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Powerful Hardware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GPUs and TPUs allow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massive 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hardware: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NVIDIA GPUs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TPUs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50768-10DE-74A4-DC29-81A315AE8740}"/>
              </a:ext>
            </a:extLst>
          </p:cNvPr>
          <p:cNvSpPr txBox="1"/>
          <p:nvPr/>
        </p:nvSpPr>
        <p:spPr>
          <a:xfrm>
            <a:off x="7996428" y="1794224"/>
            <a:ext cx="42473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Better Algorithms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neural networks like: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</a:t>
            </a:r>
          </a:p>
        </p:txBody>
      </p:sp>
    </p:spTree>
    <p:extLst>
      <p:ext uri="{BB962C8B-B14F-4D97-AF65-F5344CB8AC3E}">
        <p14:creationId xmlns:p14="http://schemas.microsoft.com/office/powerpoint/2010/main" val="50529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B692-769C-E332-38AF-BC07D6F9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7AE2DF-C0AF-41E8-AFB5-9560E39C832B}"/>
              </a:ext>
            </a:extLst>
          </p:cNvPr>
          <p:cNvSpPr txBox="1"/>
          <p:nvPr/>
        </p:nvSpPr>
        <p:spPr>
          <a:xfrm>
            <a:off x="64008" y="226814"/>
            <a:ext cx="992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Applications of Deep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06C6D-534E-CAA4-0277-2B30FE82FD87}"/>
              </a:ext>
            </a:extLst>
          </p:cNvPr>
          <p:cNvSpPr txBox="1"/>
          <p:nvPr/>
        </p:nvSpPr>
        <p:spPr>
          <a:xfrm>
            <a:off x="123444" y="838123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Image Recognition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Face Unlock on Smartphones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97F80-4E7B-2F7E-A20C-08289BD4E409}"/>
              </a:ext>
            </a:extLst>
          </p:cNvPr>
          <p:cNvSpPr txBox="1"/>
          <p:nvPr/>
        </p:nvSpPr>
        <p:spPr>
          <a:xfrm>
            <a:off x="123444" y="3018181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Self Driving Cars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helps detect: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pedestrians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traffic lights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vehicles</a:t>
            </a:r>
          </a:p>
        </p:txBody>
      </p:sp>
    </p:spTree>
    <p:extLst>
      <p:ext uri="{BB962C8B-B14F-4D97-AF65-F5344CB8AC3E}">
        <p14:creationId xmlns:p14="http://schemas.microsoft.com/office/powerpoint/2010/main" val="78701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61DB-37E3-9D71-02C6-DB101D05D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3B166-5F3C-19A6-561C-2E38F3FF951C}"/>
              </a:ext>
            </a:extLst>
          </p:cNvPr>
          <p:cNvSpPr txBox="1"/>
          <p:nvPr/>
        </p:nvSpPr>
        <p:spPr>
          <a:xfrm>
            <a:off x="64008" y="226814"/>
            <a:ext cx="992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Applications of 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9FD72-DBB5-571D-86EF-D42DEA03DDAD}"/>
              </a:ext>
            </a:extLst>
          </p:cNvPr>
          <p:cNvSpPr txBox="1"/>
          <p:nvPr/>
        </p:nvSpPr>
        <p:spPr>
          <a:xfrm>
            <a:off x="123444" y="907256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Speech Recognition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Alexa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Assistant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Siri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AB9A2-13FF-F4E1-243E-38DFD8402C86}"/>
              </a:ext>
            </a:extLst>
          </p:cNvPr>
          <p:cNvSpPr txBox="1"/>
          <p:nvPr/>
        </p:nvSpPr>
        <p:spPr>
          <a:xfrm>
            <a:off x="123444" y="3836015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Language Translation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Google Translate.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Chatbots and Generative AI: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953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2EA7-C32C-16CB-AD2A-0A283BC7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7BC7F-945E-83CF-63EB-078A1EC5BC8D}"/>
              </a:ext>
            </a:extLst>
          </p:cNvPr>
          <p:cNvSpPr txBox="1"/>
          <p:nvPr/>
        </p:nvSpPr>
        <p:spPr>
          <a:xfrm>
            <a:off x="1522476" y="80510"/>
            <a:ext cx="8407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Deep Learning vs Machine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5B4614-90EC-262A-D4A0-9C8B481AE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882145"/>
              </p:ext>
            </p:extLst>
          </p:nvPr>
        </p:nvGraphicFramePr>
        <p:xfrm>
          <a:off x="44958" y="1267238"/>
          <a:ext cx="5452872" cy="2743200"/>
        </p:xfrm>
        <a:graphic>
          <a:graphicData uri="http://schemas.openxmlformats.org/drawingml/2006/table">
            <a:tbl>
              <a:tblPr/>
              <a:tblGrid>
                <a:gridCol w="2526792">
                  <a:extLst>
                    <a:ext uri="{9D8B030D-6E8A-4147-A177-3AD203B41FA5}">
                      <a16:colId xmlns:a16="http://schemas.microsoft.com/office/drawing/2014/main" val="200987915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47103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Problem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945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72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Tabular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23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230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50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 (NLP)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8323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AA9336B-97DC-1952-6AE2-DB322C50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142" y="1618488"/>
            <a:ext cx="5802858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56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D79D-F68E-D045-C404-2F40D156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B3D893-AA6B-DDD9-0E69-5F5A7104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142" y="1618488"/>
            <a:ext cx="5802858" cy="4297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7B4486-E387-B496-D8B6-4F75EE7BFC7A}"/>
              </a:ext>
            </a:extLst>
          </p:cNvPr>
          <p:cNvSpPr txBox="1"/>
          <p:nvPr/>
        </p:nvSpPr>
        <p:spPr>
          <a:xfrm>
            <a:off x="205740" y="579180"/>
            <a:ext cx="50154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Artificial Intelligence (GenAI)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only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predicting or classifying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generative models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new content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learn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underlying distribution of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generate new samples similar to the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699718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BFB5-6DE3-4A37-57F3-4B7A1C23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E53309-4988-7A75-B34B-E49D8598F967}"/>
              </a:ext>
            </a:extLst>
          </p:cNvPr>
          <p:cNvSpPr txBox="1"/>
          <p:nvPr/>
        </p:nvSpPr>
        <p:spPr>
          <a:xfrm>
            <a:off x="205740" y="579180"/>
            <a:ext cx="37353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Music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Videos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4016381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AC78-F490-F797-1F4A-8A3A2F2D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96D44B-F7F4-9ABB-0F85-5F7623C40F66}"/>
              </a:ext>
            </a:extLst>
          </p:cNvPr>
          <p:cNvSpPr txBox="1"/>
          <p:nvPr/>
        </p:nvSpPr>
        <p:spPr>
          <a:xfrm>
            <a:off x="813816" y="473006"/>
            <a:ext cx="83896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sklearn.datasets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load_digits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sklearn.neural_network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load dataset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y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load_digits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return_X_y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split dataset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=0.2)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neural network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hidden_layer_sizes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=(100,50))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train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prediction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print("Accuracy:",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pred))</a:t>
            </a:r>
          </a:p>
        </p:txBody>
      </p:sp>
    </p:spTree>
    <p:extLst>
      <p:ext uri="{BB962C8B-B14F-4D97-AF65-F5344CB8AC3E}">
        <p14:creationId xmlns:p14="http://schemas.microsoft.com/office/powerpoint/2010/main" val="145448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1023</TotalTime>
  <Words>629</Words>
  <Application>Microsoft Office PowerPoint</Application>
  <PresentationFormat>Widescreen</PresentationFormat>
  <Paragraphs>176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142</cp:revision>
  <dcterms:created xsi:type="dcterms:W3CDTF">2025-09-22T02:44:38Z</dcterms:created>
  <dcterms:modified xsi:type="dcterms:W3CDTF">2026-03-08T11:12:09Z</dcterms:modified>
</cp:coreProperties>
</file>