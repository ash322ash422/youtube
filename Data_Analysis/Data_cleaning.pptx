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60" r:id="rId3"/>
    <p:sldId id="378" r:id="rId4"/>
    <p:sldId id="368" r:id="rId5"/>
    <p:sldId id="379" r:id="rId6"/>
    <p:sldId id="359" r:id="rId7"/>
    <p:sldId id="380" r:id="rId8"/>
    <p:sldId id="381" r:id="rId9"/>
    <p:sldId id="382" r:id="rId10"/>
    <p:sldId id="377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Fixing Data types 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Cleaning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Labelling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7211FF-B7F3-E222-14A5-5100BC14C902}"/>
              </a:ext>
            </a:extLst>
          </p:cNvPr>
          <p:cNvSpPr txBox="1"/>
          <p:nvPr/>
        </p:nvSpPr>
        <p:spPr>
          <a:xfrm>
            <a:off x="396814" y="723079"/>
            <a:ext cx="999801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it needed?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 is often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noisy, incomplete, and inconsistent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can negatively impact the accuracy and reliability of the insights derived from it.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E.g.: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tomatoo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tomato, etc.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are as good as the data itself: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Data + Good Model -&gt; Good Accuracy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may need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your dataset. Label it depending on your problem and requirements.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If you are building a male/female gender image recognition AI model, then you have to find many picture of both males and females and label them.</a:t>
            </a:r>
          </a:p>
        </p:txBody>
      </p:sp>
    </p:spTree>
    <p:extLst>
      <p:ext uri="{BB962C8B-B14F-4D97-AF65-F5344CB8AC3E}">
        <p14:creationId xmlns:p14="http://schemas.microsoft.com/office/powerpoint/2010/main" val="401140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A7A2-EDF9-F77E-C8A3-48D857EF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810043-9045-D8DA-4A2A-F15B386FD7B0}"/>
              </a:ext>
            </a:extLst>
          </p:cNvPr>
          <p:cNvSpPr txBox="1"/>
          <p:nvPr/>
        </p:nvSpPr>
        <p:spPr>
          <a:xfrm>
            <a:off x="177359" y="503623"/>
            <a:ext cx="77322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there any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records in your dataset?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any, remove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irrelevant columns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ID is generally irrelevant.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columns that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constant values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Example: If a column,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Over18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has all True then remove this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type conversion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convert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order_date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column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-&gt; Date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type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Suppose age is using int64 datatype, then convert this to int8 because age has small range of numbers 0 - 150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4D3746-FF08-96A0-F0B8-B7565A9CF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23551"/>
              </p:ext>
            </p:extLst>
          </p:nvPr>
        </p:nvGraphicFramePr>
        <p:xfrm>
          <a:off x="8156448" y="1387178"/>
          <a:ext cx="36118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200">
                  <a:extLst>
                    <a:ext uri="{9D8B030D-6E8A-4147-A177-3AD203B41FA5}">
                      <a16:colId xmlns:a16="http://schemas.microsoft.com/office/drawing/2014/main" val="3070031039"/>
                    </a:ext>
                  </a:extLst>
                </a:gridCol>
                <a:gridCol w="903029">
                  <a:extLst>
                    <a:ext uri="{9D8B030D-6E8A-4147-A177-3AD203B41FA5}">
                      <a16:colId xmlns:a16="http://schemas.microsoft.com/office/drawing/2014/main" val="3130475795"/>
                    </a:ext>
                  </a:extLst>
                </a:gridCol>
                <a:gridCol w="1523651">
                  <a:extLst>
                    <a:ext uri="{9D8B030D-6E8A-4147-A177-3AD203B41FA5}">
                      <a16:colId xmlns:a16="http://schemas.microsoft.com/office/drawing/2014/main" val="2585033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4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80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53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657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56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09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CC74-651C-9BD6-A7CD-DDFE4765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99FAA9-7FEE-6090-F673-120243188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252361"/>
              </p:ext>
            </p:extLst>
          </p:nvPr>
        </p:nvGraphicFramePr>
        <p:xfrm>
          <a:off x="502919" y="1474614"/>
          <a:ext cx="11237632" cy="4937760"/>
        </p:xfrm>
        <a:graphic>
          <a:graphicData uri="http://schemas.openxmlformats.org/drawingml/2006/table">
            <a:tbl>
              <a:tblPr/>
              <a:tblGrid>
                <a:gridCol w="4032505">
                  <a:extLst>
                    <a:ext uri="{9D8B030D-6E8A-4147-A177-3AD203B41FA5}">
                      <a16:colId xmlns:a16="http://schemas.microsoft.com/office/drawing/2014/main" val="465765348"/>
                    </a:ext>
                  </a:extLst>
                </a:gridCol>
                <a:gridCol w="7205127">
                  <a:extLst>
                    <a:ext uri="{9D8B030D-6E8A-4147-A177-3AD203B41FA5}">
                      <a16:colId xmlns:a16="http://schemas.microsoft.com/office/drawing/2014/main" val="2085875628"/>
                    </a:ext>
                  </a:extLst>
                </a:gridCol>
              </a:tblGrid>
              <a:tr h="280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It Matters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23433"/>
                  </a:ext>
                </a:extLst>
              </a:tr>
              <a:tr h="673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Numerical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(int / float)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Models perform mathematical operations → Scaling, distance calculation, gradient updates require numeric values.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87612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Categorical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 object / string)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Must be encoded → ML algorithms don't understand text labels, only numbers.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317886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Datetime</a:t>
                      </a:r>
                      <a:endParaRPr lang="en-US" sz="24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Needs conversion to extract meaningful features like </a:t>
                      </a:r>
                      <a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year, month, day, time difference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327802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Boolean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(True/False → 0/1)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Helps in simpler representation and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faster computation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62406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Incorrect types cause errors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e.g., string stored as int, numbers stored as object, missing values marked as text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6171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FFAB12-B671-5B0B-4EE5-0275AA141F3C}"/>
              </a:ext>
            </a:extLst>
          </p:cNvPr>
          <p:cNvSpPr txBox="1"/>
          <p:nvPr/>
        </p:nvSpPr>
        <p:spPr>
          <a:xfrm>
            <a:off x="337723" y="231939"/>
            <a:ext cx="115680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data types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fundamental step in Machine Learning preprocessing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ML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work properly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unless the input data is in the correct format. </a:t>
            </a:r>
          </a:p>
        </p:txBody>
      </p:sp>
    </p:spTree>
    <p:extLst>
      <p:ext uri="{BB962C8B-B14F-4D97-AF65-F5344CB8AC3E}">
        <p14:creationId xmlns:p14="http://schemas.microsoft.com/office/powerpoint/2010/main" val="68385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0C40-778E-8395-E79C-E5D9F5BE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C82E40-4FB9-BE83-4780-3B51EF0F870E}"/>
              </a:ext>
            </a:extLst>
          </p:cNvPr>
          <p:cNvSpPr txBox="1"/>
          <p:nvPr/>
        </p:nvSpPr>
        <p:spPr>
          <a:xfrm>
            <a:off x="586515" y="1120676"/>
            <a:ext cx="106224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if data types are wrong?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Meaningless results: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"45" is stored as a string instead of numeric → It cannot be used for mean, standard deviation, feature scaling, distance, etc.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may misinterpret values</a:t>
            </a:r>
          </a:p>
          <a:p>
            <a:pPr marL="285750" indent="-28575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Slower training and high memory usage: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“45.0”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float takes more memory than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45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integer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48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F18353-132A-FACE-042F-FD558DB22C25}"/>
              </a:ext>
            </a:extLst>
          </p:cNvPr>
          <p:cNvSpPr txBox="1"/>
          <p:nvPr/>
        </p:nvSpPr>
        <p:spPr>
          <a:xfrm>
            <a:off x="181355" y="108762"/>
            <a:ext cx="118292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Cleaning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Ensuring the data is clean and free from errors such as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Redundant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columns: Redundant columns like both 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TotalPrice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Qty,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UnitPrice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Here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TotalPrice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Qty x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UnitPrice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, is redundant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DateOfBirth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Keep Age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values</a:t>
            </a:r>
          </a:p>
          <a:p>
            <a:pPr>
              <a:buFontTx/>
              <a:buChar char="-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inconsistencies: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doesn't follow expected formats, rules, or logic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83DE68-7DB6-3659-9862-021390E70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82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485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6CF1-2EA2-A4F5-6265-92B1CAD4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71BB53-C2F0-DF45-9524-B2B71E829DB2}"/>
              </a:ext>
            </a:extLst>
          </p:cNvPr>
          <p:cNvSpPr txBox="1"/>
          <p:nvPr/>
        </p:nvSpPr>
        <p:spPr>
          <a:xfrm>
            <a:off x="301752" y="383370"/>
            <a:ext cx="118018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inconsistencies: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2.1. Text Inconsistencies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spellings or capitalization for the same value: "USA",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"Usa", "United States"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whitespace or invisible characters: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  New      York   " -&gt; "New York"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Typos: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Electonics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instead of "Electronics"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A21521-4524-F61D-B86A-B81065B7A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82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02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65C6-2F5B-9F38-77D7-E84EE30F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7E3E68-7433-EEDA-FA5C-32D6A9F4C6A3}"/>
              </a:ext>
            </a:extLst>
          </p:cNvPr>
          <p:cNvSpPr/>
          <p:nvPr/>
        </p:nvSpPr>
        <p:spPr>
          <a:xfrm>
            <a:off x="475489" y="141361"/>
            <a:ext cx="115089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2.2 Numeric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values where they don’t make sense: -5 in a Quantity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Extremely large or small values (outliers or data entry errors): 99999 in an Age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Commas or symbols in numbers:"1,000" or "$250.00" as strings instead of numeric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2.3. Date/Time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Mixed date formats: "2024-12-31" vs. "31/12/2024" vs. "Dec 31, 2024"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Impossible or inconsistent dates: "2024-02-30" or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OrderDate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later than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DeliveryDate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0E0BD4-3FC3-F478-CEAE-62CA1F770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3628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80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50C9-ADEA-D76F-6BA9-1973A3A2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019ABE-6347-6031-FDB3-85497C4D4E92}"/>
              </a:ext>
            </a:extLst>
          </p:cNvPr>
          <p:cNvSpPr/>
          <p:nvPr/>
        </p:nvSpPr>
        <p:spPr>
          <a:xfrm>
            <a:off x="237744" y="534553"/>
            <a:ext cx="1171651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2.4. Categorical Inconsistencies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representations of the same category: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"M", "Male", "male", "m" for male gender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Misspelled or invalid category names: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Retunred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instead of "Returned“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Nulls or "junk" values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required categorical fields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"N/A", "?", "Unknown"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248BFB-D87D-7A3B-D6AF-922D3E0E5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82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78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3D11-4395-637B-CA64-2A85B79D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600C07-7508-464A-1C95-6EC2287E82D4}"/>
              </a:ext>
            </a:extLst>
          </p:cNvPr>
          <p:cNvSpPr txBox="1"/>
          <p:nvPr/>
        </p:nvSpPr>
        <p:spPr>
          <a:xfrm>
            <a:off x="396814" y="723079"/>
            <a:ext cx="999801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Disadvantages of Data Cleaning in Machine Learning</a:t>
            </a:r>
          </a:p>
          <a:p>
            <a:pPr marL="0" indent="0" fontAlgn="base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Time-consuming: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Time-Consuming task, especially for large and complex datasets.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Error-prone: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cleaning can be error-prone, as it involves transforming and cleaning the data, which can result in the loss of important information or the introduction of new errors.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and resource-intensive: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Resource-intensive process that requires significant time, effort, and expertise. It can also require the use of specialized software tools, which can add to the cost and complexity of data cleaning.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Overfitting: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cleaning can inadvertently contribute to overfitting by removing too much data.</a:t>
            </a:r>
          </a:p>
        </p:txBody>
      </p:sp>
    </p:spTree>
    <p:extLst>
      <p:ext uri="{BB962C8B-B14F-4D97-AF65-F5344CB8AC3E}">
        <p14:creationId xmlns:p14="http://schemas.microsoft.com/office/powerpoint/2010/main" val="3388827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1147</TotalTime>
  <Words>1292</Words>
  <Application>Microsoft Office PowerPoint</Application>
  <PresentationFormat>Widescreen</PresentationFormat>
  <Paragraphs>537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200</cp:revision>
  <dcterms:created xsi:type="dcterms:W3CDTF">2025-09-22T02:44:38Z</dcterms:created>
  <dcterms:modified xsi:type="dcterms:W3CDTF">2026-06-02T06:30:17Z</dcterms:modified>
</cp:coreProperties>
</file>