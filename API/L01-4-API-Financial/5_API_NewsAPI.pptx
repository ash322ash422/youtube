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76" r:id="rId2"/>
    <p:sldId id="257" r:id="rId3"/>
    <p:sldId id="275" r:id="rId4"/>
    <p:sldId id="27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0T01:30:29.7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 24575,'1'1'0,"1"-1"0,-1 1 0,0 0 0,0-1 0,1 1 0,-1 0 0,0 0 0,0 0 0,0 0 0,0 0 0,0 0 0,0 1 0,0-1 0,0 0 0,0 0 0,-1 1 0,2 1 0,14 31 0,-13-26 0,12 26 0,-3 1 0,0 1 0,-3 0 0,6 39 0,-15-73 0,1 1 0,-1 0 0,1 0 0,-1 0 0,1 0 0,0 0 0,0-1 0,0 1 0,1 0 0,-1-1 0,1 1 0,-1-1 0,1 0 0,0 1 0,0-1 0,0 0 0,0 0 0,0 0 0,0 0 0,5 2 0,-2-2 0,1 0 0,0-1 0,0 1 0,0-1 0,0-1 0,1 1 0,-1-1 0,0 0 0,11-2 0,75-11 0,-1-5 0,159-51 0,-190 50 0,532-167 0,-528 164-1365,-18 3-5461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0T01:30:32.2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1 274 24575,'0'16'0,"0"0"0,2 0 0,0 0 0,0 0 0,2 0 0,0-1 0,1 0 0,0 0 0,1 0 0,1 0 0,0-1 0,18 25 0,-22-36 0,0 0 0,1-1 0,-1 1 0,1 0 0,0-1 0,-1 0 0,1 0 0,0 0 0,1-1 0,-1 1 0,0-1 0,0 0 0,1 0 0,-1-1 0,0 1 0,1-1 0,-1 0 0,0 0 0,1 0 0,-1-1 0,7-1 0,11-2 0,-1-2 0,0 0 0,22-10 0,-33 12 0,182-73-341,-2-9 0,-5-7-1,173-119 1,-329 193-6485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0T01:30:33.6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0 160 24575,'3'1'0,"0"-1"0,0 1 0,0 0 0,0 0 0,0 1 0,0-1 0,-1 1 0,1-1 0,0 1 0,-1 0 0,0 0 0,1 0 0,-1 0 0,0 0 0,0 0 0,0 1 0,0-1 0,0 1 0,-1 0 0,3 3 0,31 67 0,-27-54 0,2 8 0,-5-14 0,-1 0 0,2-1 0,9 17 0,-14-27 0,0 0 0,0 0 0,1 0 0,-1 0 0,0 0 0,1-1 0,0 1 0,-1-1 0,1 1 0,0-1 0,0 0 0,0 1 0,0-1 0,0 0 0,0 0 0,0 0 0,0-1 0,0 1 0,0 0 0,0-1 0,1 0 0,-1 1 0,0-1 0,0 0 0,1 0 0,2 0 0,15-6 0,0-1 0,-1-1 0,1-1 0,-2 0 0,1-2 0,-1 0 0,25-20 0,-5 4 0,319-226-1365,-294 209-5461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0T01:30:35.3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1 538 24575,'5'7'0,"1"1"0,-1 1 0,0-1 0,-1 1 0,0 0 0,-1 0 0,1 0 0,-2 0 0,1 0 0,1 19 0,8 22 0,-2-12 0,-7-23 0,1-1 0,0 0 0,1 0 0,1 0 0,10 18 0,-15-30 0,1 1 0,0 0 0,0-1 0,0 1 0,1-1 0,-1 0 0,0 0 0,1 0 0,0 0 0,-1 0 0,1 0 0,0-1 0,0 1 0,0-1 0,0 0 0,0 0 0,0 0 0,0 0 0,0-1 0,1 1 0,-1-1 0,0 0 0,0 0 0,1 0 0,-1 0 0,0 0 0,0-1 0,0 0 0,6-1 0,19-8 0,-2-2 0,1 0 0,-2-2 0,0 0 0,0-2 0,35-30 0,-7 7 0,748-523 0,-656 449-1365,-105 76-5461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0T01:30:37.2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0 377 24575,'6'7'0,"0"2"0,-1-1 0,-1 1 0,1 0 0,-1 0 0,-1 0 0,3 12 0,4 6 0,5 12 0,-2-3 0,1 0 0,3-1 0,36 60 0,-51-93 0,-1 0 0,1 0 0,0 0 0,0-1 0,0 1 0,0-1 0,0 1 0,0-1 0,0 0 0,0 0 0,1 0 0,-1 0 0,0 0 0,1 0 0,-1 0 0,1-1 0,-1 0 0,1 1 0,-1-1 0,1 0 0,-1 0 0,1 0 0,-1 0 0,4-1 0,8-2 0,-1-1 0,0 0 0,20-9 0,-27 11 0,300-137 0,-108 46 0,680-332 0,-807 387-1365,-28 11-5461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0T01:30:41.6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24575,'5'0'0,"5"0"0,1 9 0,-1 7 0,2 9 0,-1 5 0,-3 7 0,2-5 0,4-2 0,3-2 0,8-6 0,21-6 0,20-20 0,21-13 0,8-7 0,-8-5 0,-14-2 0,-20 5-8191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0T01:33:31.5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363890-37A6-8F81-5FA0-D813E23AB019}"/>
              </a:ext>
            </a:extLst>
          </p:cNvPr>
          <p:cNvSpPr txBox="1"/>
          <p:nvPr/>
        </p:nvSpPr>
        <p:spPr>
          <a:xfrm>
            <a:off x="644652" y="380923"/>
            <a:ext cx="1015441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NewsAPI.org provides a developer-friendly REST API that aggregates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live headlines 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historic articles 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uses 150,000 global news sources and blogs.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delivers this data in structured JSON format –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allows users to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filter,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Integrate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multilingual news feeds directly into their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12D8C9-0AA5-71C4-1D54-779CECF91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694062"/>
            <a:ext cx="11231880" cy="596115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F5EF766-FCF7-7EDA-A2CF-E2660ED6D7A4}"/>
                  </a:ext>
                </a:extLst>
              </p14:cNvPr>
              <p14:cNvContentPartPr/>
              <p14:nvPr/>
            </p14:nvContentPartPr>
            <p14:xfrm>
              <a:off x="1691424" y="848016"/>
              <a:ext cx="505080" cy="125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F5EF766-FCF7-7EDA-A2CF-E2660ED6D7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73784" y="830016"/>
                <a:ext cx="54072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5CFD5F9-46AB-9704-BA1A-5E82D1AFFFA7}"/>
                  </a:ext>
                </a:extLst>
              </p14:cNvPr>
              <p14:cNvContentPartPr/>
              <p14:nvPr/>
            </p14:nvContentPartPr>
            <p14:xfrm>
              <a:off x="1874304" y="4500576"/>
              <a:ext cx="444960" cy="190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5CFD5F9-46AB-9704-BA1A-5E82D1AFFFA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56664" y="4482936"/>
                <a:ext cx="48060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49FC481-3EB0-77A4-E7C1-E8AC425F7292}"/>
                  </a:ext>
                </a:extLst>
              </p14:cNvPr>
              <p14:cNvContentPartPr/>
              <p14:nvPr/>
            </p14:nvContentPartPr>
            <p14:xfrm>
              <a:off x="5093064" y="4550976"/>
              <a:ext cx="297000" cy="150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49FC481-3EB0-77A4-E7C1-E8AC425F729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75064" y="4532976"/>
                <a:ext cx="33264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CEA2091-E708-4F46-8CCB-02A80A49700F}"/>
                  </a:ext>
                </a:extLst>
              </p14:cNvPr>
              <p14:cNvContentPartPr/>
              <p14:nvPr/>
            </p14:nvContentPartPr>
            <p14:xfrm>
              <a:off x="10643544" y="4332816"/>
              <a:ext cx="522000" cy="3168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CEA2091-E708-4F46-8CCB-02A80A49700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625904" y="4314816"/>
                <a:ext cx="55764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99639C9-9FD0-1FD2-3D97-F4EF846E3CBF}"/>
                  </a:ext>
                </a:extLst>
              </p14:cNvPr>
              <p14:cNvContentPartPr/>
              <p14:nvPr/>
            </p14:nvContentPartPr>
            <p14:xfrm>
              <a:off x="6940224" y="3778056"/>
              <a:ext cx="646560" cy="2700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99639C9-9FD0-1FD2-3D97-F4EF846E3CB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922224" y="3760056"/>
                <a:ext cx="68220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0A44329-75B2-627E-8757-CBACDF103854}"/>
                  </a:ext>
                </a:extLst>
              </p14:cNvPr>
              <p14:cNvContentPartPr/>
              <p14:nvPr/>
            </p14:nvContentPartPr>
            <p14:xfrm>
              <a:off x="7699104" y="1764576"/>
              <a:ext cx="230400" cy="882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0A44329-75B2-627E-8757-CBACDF10385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681104" y="1746576"/>
                <a:ext cx="266040" cy="12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AEB2D4C-D4DC-AA8E-3F8E-CB8118950DEB}"/>
                  </a:ext>
                </a:extLst>
              </p14:cNvPr>
              <p14:cNvContentPartPr/>
              <p14:nvPr/>
            </p14:nvContentPartPr>
            <p14:xfrm>
              <a:off x="5595984" y="4599216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AEB2D4C-D4DC-AA8E-3F8E-CB8118950D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78344" y="458121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807CE3BE-505F-E2C7-7D73-62D1ECD519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23" y="1582294"/>
            <a:ext cx="10945753" cy="54490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B551E83-2062-1F43-DC2A-179EAF94FB33}"/>
              </a:ext>
            </a:extLst>
          </p:cNvPr>
          <p:cNvSpPr txBox="1"/>
          <p:nvPr/>
        </p:nvSpPr>
        <p:spPr>
          <a:xfrm>
            <a:off x="1956816" y="539496"/>
            <a:ext cx="41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sign in, you will get your free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api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key 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C2F12-A817-E514-B4E2-07D02B68F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D0BEF3-FCAB-F3E7-17AC-05A3630E174C}"/>
              </a:ext>
            </a:extLst>
          </p:cNvPr>
          <p:cNvSpPr txBox="1"/>
          <p:nvPr/>
        </p:nvSpPr>
        <p:spPr>
          <a:xfrm>
            <a:off x="210312" y="939857"/>
            <a:ext cx="11000232" cy="4516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3 core takeaways: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 Structured Data Extraction: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 </a:t>
            </a:r>
            <a:r>
              <a:rPr lang="en-US" sz="2400" b="0" u="none" strike="noStrike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NewsAPI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 simplifies raw web scraping by returning a clean, organized JSON dictionary containing specific fields like title, source, and description.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 Alternative Data in Finance: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N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ews feeds are considered "alternative data" in finance. Unlike traditional data (like stock charts or balance sheets), natural language tells us how human traders are feeling right </a:t>
            </a:r>
            <a:r>
              <a:rPr lang="en-US" sz="2400" b="0" i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now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.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 From Text to Trading Signals: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(Body)"/>
              </a:rPr>
              <a:t>M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athematical score generated by </a:t>
            </a:r>
            <a:r>
              <a:rPr lang="en-US" sz="2400" b="0" u="none" strike="noStrike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TextBlob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 converts qualitative sentences into quantitative data (+1.0 Up to -1.0 Down) that an automated trading algorithm can use to execute institutional buys or sells.</a:t>
            </a:r>
          </a:p>
        </p:txBody>
      </p:sp>
    </p:spTree>
    <p:extLst>
      <p:ext uri="{BB962C8B-B14F-4D97-AF65-F5344CB8AC3E}">
        <p14:creationId xmlns:p14="http://schemas.microsoft.com/office/powerpoint/2010/main" val="2788195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1148</TotalTime>
  <Words>179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(Body)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185</cp:revision>
  <dcterms:created xsi:type="dcterms:W3CDTF">2025-09-22T02:44:38Z</dcterms:created>
  <dcterms:modified xsi:type="dcterms:W3CDTF">2026-05-30T02:12:52Z</dcterms:modified>
</cp:coreProperties>
</file>