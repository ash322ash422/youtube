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271" r:id="rId3"/>
    <p:sldId id="270" r:id="rId4"/>
    <p:sldId id="283" r:id="rId5"/>
    <p:sldId id="272" r:id="rId6"/>
    <p:sldId id="273" r:id="rId7"/>
    <p:sldId id="284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6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22" autoAdjust="0"/>
    <p:restoredTop sz="90194" autoAdjust="0"/>
  </p:normalViewPr>
  <p:slideViewPr>
    <p:cSldViewPr snapToGrid="0">
      <p:cViewPr varScale="1">
        <p:scale>
          <a:sx n="100" d="100"/>
          <a:sy n="100" d="100"/>
        </p:scale>
        <p:origin x="120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1:35:00.95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2889 24575,'0'0'0,"1"0"0,-1 0 0,1 0 0,-1-1 0,0 1 0,1 0 0,-1 0 0,1 0 0,-1 0 0,1 0 0,-1 0 0,1 0 0,-1 0 0,1 0 0,-1 0 0,1 0 0,-1 0 0,1 1 0,-1-1 0,1 0 0,-1 0 0,1 0 0,-1 1 0,1-1 0,-1 0 0,0 0 0,1 1 0,-1-1 0,0 0 0,1 1 0,-1-1 0,0 1 0,1-1 0,-1 0 0,0 1 0,1-1 0,-1 1 0,14 22 0,-12-20 0,15 32 0,-1 1 0,-2 0 0,10 40 0,7 18 0,-30-91 0,-1-1 0,1 1 0,1-1 0,-1 0 0,0 1 0,1-1 0,-1 0 0,1 0 0,-1 0 0,1 0 0,0 0 0,0 0 0,0 0 0,0-1 0,0 1 0,1-1 0,-1 1 0,0-1 0,1 0 0,3 1 0,-2-1 0,1 0 0,-1 0 0,1-1 0,-1 0 0,1 0 0,-1 0 0,1-1 0,-1 0 0,1 1 0,-1-2 0,6-1 0,8-4 0,0-1 0,0-1 0,-1-1 0,29-22 0,21-23 0,-3-3 0,100-116 0,-98 101 0,-46 50 0,1012-1083-356,64 67 11,-816 806 630,113-99-1819,-309 256-4707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6:01:36.52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1 436 24575,'0'-1'0,"1"0"0,-1 0 0,1 0 0,-1-1 0,1 1 0,0 0 0,0 0 0,-1 0 0,1 0 0,0 0 0,0 0 0,0 1 0,0-1 0,0 0 0,0 0 0,0 1 0,0-1 0,1 0 0,-1 1 0,0-1 0,0 1 0,0 0 0,1-1 0,-1 1 0,0 0 0,1 0 0,-1 0 0,2 0 0,1-1 0,0 0 0,-1 1 0,1 0 0,0 0 0,0 0 0,0 0 0,-1 1 0,8 1 0,-6 1 0,1 1 0,-1 0 0,0 0 0,0 0 0,0 1 0,-1-1 0,0 1 0,1 0 0,4 9 0,29 55 0,-11 1 0,-17-44 0,22 46 0,-31-70 0,0 0 0,0 0 0,0-1 0,0 1 0,0 0 0,0 0 0,1-1 0,-1 1 0,1-1 0,-1 1 0,1-1 0,0 1 0,0-1 0,-1 0 0,1 0 0,0 0 0,0 0 0,0 0 0,0-1 0,0 1 0,0-1 0,0 1 0,0-1 0,1 1 0,-1-1 0,0 0 0,0 0 0,0 0 0,0-1 0,0 1 0,1 0 0,-1-1 0,0 1 0,0-1 0,0 0 0,3-1 0,5-4 0,0 0 0,0 0 0,0-2 0,0 1 0,12-14 0,126-115 0,260-183 0,-194 193 0,-87 53 0,-92 51-1365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6:01:38.72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1 540 24575,'1'5'0,"0"0"0,1 0 0,0 0 0,0-1 0,0 1 0,0-1 0,1 1 0,0-1 0,4 5 0,5 9 0,18 37 0,-8-14 0,42 59 0,-51-82 0,-7-9 0,1 1 0,0-2 0,15 15 0,-20-21 0,1 0 0,0 0 0,1 0 0,-1 0 0,0 0 0,0 0 0,1-1 0,-1 0 0,1 1 0,0-1 0,-1-1 0,1 1 0,0 0 0,-1-1 0,7 0 0,3-1 0,0-1 0,1 0 0,-2-1 0,1-1 0,0 0 0,-1-1 0,1 0 0,11-7 0,94-62 0,-107 67 0,460-382 0,-315 250 0,76-52 0,-154 135-1365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6:03:23.07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1 261 24575,'2'1'0,"0"-1"0,0 0 0,0 1 0,0 0 0,0-1 0,0 1 0,0 0 0,0 0 0,0 0 0,0 0 0,0 0 0,-1 1 0,1-1 0,0 0 0,-1 1 0,1 0 0,-1-1 0,0 1 0,2 2 0,21 38 0,-20-35 0,10 25 0,-2 1 0,-1 0 0,12 57 0,-8-26 0,-13-54 0,1 0 0,1 0 0,-1 0 0,2 0 0,-1 0 0,12 16 0,-14-23 0,1 0 0,0 1 0,0-1 0,0 0 0,1 0 0,-1-1 0,1 1 0,-1-1 0,1 0 0,0 0 0,0 0 0,0 0 0,0 0 0,0-1 0,0 0 0,0 0 0,1 0 0,-1 0 0,8-1 0,17-1 0,0-1 0,0-1 0,0-2 0,0 0 0,33-13 0,145-58 0,-149 52 0,1228-519-1365,-1209 507-5461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6:03:26.21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1 544 24575,'3'-8'0,"4"17"0,4 19 0,6 46 0,-9-33 0,2-2 0,28 70 0,-37-105 0,1 1 0,1-1 0,-1 0 0,0 0 0,1 0 0,0 0 0,0 0 0,0-1 0,0 1 0,1-1 0,-1 0 0,1 0 0,5 3 0,-6-5 0,0 0 0,0 0 0,0-1 0,0 1 0,0-1 0,0 1 0,0-1 0,0 0 0,0 0 0,0-1 0,0 1 0,-1-1 0,1 1 0,0-1 0,0 0 0,0 0 0,0 0 0,0 0 0,-1-1 0,1 1 0,-1-1 0,1 0 0,2-1 0,45-38 0,-1-1 0,-1-2 0,69-87 0,-44 50 0,-11 13-119,358-360-1127,-370 385-5580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6:12:21.41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1 752 24575,'11'39'0,"1"-1"0,18 37 0,-29-73 0,-1-1 0,1 1 0,0 0 0,0-1 0,0 1 0,0-1 0,0 1 0,0-1 0,0 1 0,0-1 0,1 1 0,-1-1 0,1 0 0,-1 0 0,1 0 0,-1 0 0,1 0 0,0 0 0,-1 0 0,1-1 0,0 1 0,0-1 0,-1 1 0,1-1 0,0 1 0,0-1 0,0 0 0,0 0 0,-1 0 0,1 0 0,2-1 0,6-1 0,-1-1 0,0 0 0,0 0 0,0-1 0,12-7 0,-21 10 0,145-75 0,225-110 0,1148-412-2128,-1384 552-3935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6:12:30.00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1 543 24575,'2'31'0,"1"0"0,2 0 0,1-1 0,19 55 0,5 25 0,-30-107 0,1-1 0,-1 1 0,1 0 0,-1 0 0,1 0 0,0 0 0,0-1 0,0 1 0,1 0 0,-1-1 0,1 1 0,-1-1 0,1 1 0,0-1 0,0 0 0,0 0 0,0 0 0,4 4 0,-3-6 0,-1 0 0,1 0 0,0 0 0,-1 0 0,1-1 0,0 1 0,-1-1 0,1 0 0,0 1 0,-1-1 0,1 0 0,-1 0 0,1-1 0,-1 1 0,0 0 0,0-1 0,1 0 0,-1 1 0,0-1 0,0 0 0,-1 0 0,3-3 0,190-195 0,-9 7 0,-54 76-455,5 6 0,186-116 0,-260 189-6371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6:12:32.08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1 183 24575,'0'0'0,"1"-1"0,0 0 0,0 0 0,-1 0 0,1 1 0,0-1 0,0 0 0,0 1 0,0-1 0,0 1 0,0-1 0,0 1 0,0-1 0,0 1 0,0 0 0,0 0 0,0-1 0,0 1 0,0 0 0,0 0 0,0 0 0,0 0 0,0 0 0,0 0 0,0 0 0,0 1 0,2-1 0,-1 1 0,-1 1 0,1-1 0,0 0 0,-1 1 0,1-1 0,-1 1 0,1-1 0,-1 1 0,0 0 0,1-1 0,-1 1 0,0 0 0,1 2 0,4 11 0,-1 0 0,0 0 0,2 18 0,-4-20 0,9 45 0,-8-39 0,0 1 0,12 33 0,-16-51 0,1-1 0,0 1 0,0-1 0,-1 0 0,1 0 0,0 1 0,0-1 0,1 0 0,-1 0 0,0 0 0,0 0 0,0 0 0,1 0 0,-1-1 0,1 1 0,-1 0 0,0-1 0,1 1 0,-1-1 0,1 1 0,0-1 0,-1 0 0,1 1 0,-1-1 0,1 0 0,-1 0 0,1 0 0,-1 0 0,1-1 0,0 1 0,-1 0 0,3-1 0,6-2 0,0 0 0,0-1 0,17-8 0,-17 7 0,650-361-856,-611 337 347,10-8-6317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6:14:41.99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1 283 24575,'1'1'0,"1"0"0,-1-1 0,0 1 0,0 0 0,1 0 0,-1 0 0,0 0 0,0 0 0,0 0 0,0 0 0,0 1 0,0-1 0,0 0 0,0 1 0,0-1 0,-1 0 0,1 1 0,-1-1 0,1 1 0,-1-1 0,1 3 0,11 38 0,-11-37 0,44 217 0,-44-220 0,-1 0 0,0-1 0,1 1 0,-1 0 0,1 0 0,-1-1 0,1 1 0,0 0 0,0-1 0,0 1 0,0-1 0,0 1 0,0-1 0,0 0 0,0 1 0,1-1 0,-1 0 0,0 0 0,1 0 0,-1 0 0,1 0 0,-1 0 0,1 0 0,0 0 0,-1-1 0,1 1 0,0-1 0,0 1 0,-1-1 0,1 0 0,0 1 0,0-1 0,0 0 0,1 0 0,5-1 0,0-1 0,0 1 0,0-1 0,0 0 0,0-1 0,12-6 0,63-34 0,-1-4 0,82-63 0,-95 62 0,365-282-955,-410 310 545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6:14:43.54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1 204 24575,'9'11'0,"-1"1"0,0-1 0,0 1 0,-1 1 0,-1-1 0,0 1 0,-1 0 0,6 24 0,11 22 0,-20-55 0,0 0 0,1 0 0,0 0 0,-1-1 0,1 1 0,0-1 0,1 0 0,-1 0 0,1 0 0,-1 0 0,1-1 0,0 1 0,0-1 0,0 0 0,0 0 0,0 0 0,1-1 0,-1 1 0,0-1 0,1 0 0,-1-1 0,1 1 0,-1-1 0,1 0 0,-1 0 0,6 0 0,12-2 0,-1 0 0,1-1 0,-1-2 0,27-8 0,72-29 0,221-114 0,-114 47 0,-39 21-1365,-128 54-5461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6:14:46.54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1 222 24575,'5'1'0,"0"0"0,0 0 0,0 1 0,0 0 0,0-1 0,0 1 0,0 1 0,-1-1 0,1 1 0,-1 0 0,0 0 0,5 4 0,46 44 0,-49-45 0,1 0 0,-1 0 0,1-1 0,1 0 0,-1-1 0,1 1 0,-1-1 0,1-1 0,0 0 0,16 5 0,-8-5 0,-1 0 0,1-1 0,0-1 0,-1-1 0,24-1 0,9-6 0,-1-1 0,87-29 0,-20-1-341,-2-5 0,-1-5-1,163-96 1,-210 102-6485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6:16:06.45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1 441 24575,'1'0'0,"-1"-1"0,1 0 0,0 0 0,0 1 0,0-1 0,0 1 0,1-1 0,-1 1 0,0-1 0,0 1 0,0 0 0,0-1 0,0 1 0,0 0 0,1 0 0,-1 0 0,0 0 0,0 0 0,0 0 0,1 0 0,-1 1 0,0-1 0,0 0 0,0 0 0,0 1 0,0-1 0,0 1 0,0-1 0,0 1 0,0 0 0,0-1 0,0 1 0,0 0 0,0 0 0,0-1 0,0 1 0,-1 0 0,1 0 0,1 2 0,26 39 0,-8 5 0,-2 0 0,-2 0 0,11 64 0,-15-65 0,-10-36 0,0-3 0,0 1 0,0 0 0,0-1 0,1 1 0,6 9 0,-8-15 0,0-1 0,0 1 0,0-1 0,0 1 0,0-1 0,0 0 0,1 0 0,-1 1 0,1-1 0,-1 0 0,1 0 0,-1 0 0,1-1 0,0 1 0,-1 0 0,1-1 0,0 1 0,0-1 0,-1 1 0,1-1 0,0 0 0,0 0 0,0 1 0,-1-1 0,1-1 0,0 1 0,0 0 0,0 0 0,2-2 0,14-4 0,-1-1 0,0-1 0,0 0 0,-1-2 0,18-12 0,-12 8 0,353-247 0,-42 27 0,40-15-1365,-295 196-5461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9:03:12.43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3627 320 24575,'-1'-1'0,"1"-1"0,0 0 0,-1 0 0,1 0 0,-1 1 0,0-1 0,1 0 0,-1 0 0,0 1 0,0-1 0,0 1 0,-1-1 0,1 1 0,0-1 0,0 1 0,-1 0 0,1 0 0,-1 0 0,1-1 0,-3 0 0,-35-18 0,33 17 0,-55-20 0,-111-27 0,5 2 0,132 38 0,0 2 0,0 0 0,-1 3 0,1 1 0,-47 0 0,19-1 0,-117-27 0,30 3 0,68 16 0,25 3 0,-108-4 0,-836 15 0,955 2 0,1 1 0,-69 16 0,62-9 0,-76 5 0,94-13 0,-1 1 0,1 1 0,0 2 0,1 2 0,-53 20 0,18-7 0,51-17 0,-1 0 0,2 1 0,-1 0 0,0 2 0,1 0 0,1 0 0,-19 15 0,1 2 0,2 2 0,0 2 0,3 0 0,0 2 0,2 1 0,1 1 0,1 2 0,3 0 0,-22 45 0,33-56 0,0 1 0,2 0 0,1 0 0,1 1 0,1-1 0,-2 38 0,6-45 0,1 0 0,1 0 0,1 0 0,1 0 0,0 0 0,1 0 0,1-1 0,1 0 0,0 0 0,11 19 0,-4-14 0,0-2 0,1 1 0,1-2 0,1 0 0,1-1 0,0-1 0,1 0 0,25 17 0,23 11 0,83 43 0,-112-67 0,22 9 0,1-2 0,2-3 0,0-2 0,2-4 0,94 18 0,333 22 0,-412-52 0,206 0 0,-44-4 0,-2 26 0,-81-7 0,496 13 0,-367-26 0,1032 3 0,-804-15 0,-470 3 0,130-1 0,318 39 0,-50 11 0,-89-14 0,976 63 0,-1187-92 0,334 29 0,-66 0 0,1-35 0,-197-3 0,644 17 0,-28 0 0,4242-16 0,-4562 35 0,-5 45 0,-173-29 0,123 23 0,-362-56 0,110 4 0,77 11 0,18 15 0,-298-46 0,186 36 0,-125-22 0,0-2 0,102 6 0,-113-14 0,-1 2 0,67 17 0,36 5 0,80-11 0,270-14 0,-240-7 0,1242 4 0,-983-29 0,-2-35 0,-138 15 0,37-17 0,-342 54 0,78-23 0,-81 17 0,97-12 0,240-3 0,298-37 0,-396 11 0,159-22 0,-338 68 0,122-16 0,-138 8 0,185-26 0,-192 39 0,51-5 0,-139 10 0,-1 0 0,0-2 0,0-1 0,0 0 0,-1-2 0,0 0 0,0-1 0,31-20 0,20-11 0,-53 31 0,1-1 0,-2-1 0,1-1 0,17-15 0,-31 23 0,-1-1 0,1 0 0,-1 0 0,0 0 0,0-1 0,0 1 0,-1-1 0,0 0 0,0 0 0,0 0 0,-1 0 0,0 0 0,0-1 0,-1 1 0,0-1 0,0 1 0,0-12 0,0 7 0,-1 1 0,0 0 0,-1-1 0,0 1 0,0 0 0,-1-1 0,-1 1 0,0 0 0,0 0 0,-1 1 0,0-1 0,0 1 0,-1 0 0,-1 0 0,0 0 0,0 1 0,0 0 0,-1 0 0,0 0 0,-1 1 0,0 0 0,0 1 0,0 0 0,-1 0 0,0 0 0,-15-6 0,-121-44 0,-176-43 0,140 47 0,95 25 0,0-4 0,-92-47 0,146 63 0,1 2 0,-2 2 0,0 1 0,-63-12 0,-141-4 0,203 23 0,-460-4 0,281 9 0,-1119-2 0,1130-10 0,-305-54 0,434 53 0,23 3 0,-59-10 0,-201-6 0,-1530 27 0,1180-4 0,371-15 0,169 6 0,-158-32 0,135 16 0,-58 9 0,146 15 0,0-2 0,0-3 0,-86-21 0,102 17 0,0 3 0,-1 1 0,-65-3 0,-124 10 0,49 2 0,-357-26 0,445 19 0,-527-65 0,311 29 0,48 7 0,29 2 0,-246-2 0,250 35 0,-502-24 0,200-9 0,-1 34 0,193 0 0,-45 1 0,-402-6 0,317-39 0,275 21 0,-585 2 0,519 22 0,-341-17 0,-12 1 0,-724 13 0,1244-4 0,-106-18 0,-43-4 0,-548 22 0,407 7 0,-3017-3 0,3375 2 0,-1 0 0,-32 8 0,-30 3 0,71-11 0,0 1 0,1 0 0,-1 1 0,-24 10 0,24-8 0,0-1 0,-1 0 0,1-1 0,-20 3 0,-102 11-1365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9:13:53.95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1 423 24575,'2'2'0,"1"0"0,-1-1 0,1 1 0,-1 0 0,0 0 0,0 0 0,0 1 0,0-1 0,0 0 0,-1 1 0,1 0 0,-1-1 0,3 6 0,-3-5 0,25 49 0,22 64 0,14 29 0,-61-143 0,0 0 0,0-1 0,0 1 0,1 0 0,-1 0 0,1-1 0,-1 1 0,1 0 0,-1-1 0,1 0 0,0 1 0,0-1 0,0 0 0,0 0 0,0 0 0,0 0 0,0 0 0,0-1 0,0 1 0,0-1 0,0 1 0,1-1 0,-1 0 0,0 0 0,0 0 0,0 0 0,1 0 0,-1 0 0,0 0 0,0-1 0,0 1 0,1-1 0,-1 0 0,0 0 0,3-1 0,9-5 0,-1 0 0,1 0 0,-1-1 0,13-12 0,-23 18 0,253-200 0,-132 100 0,250-158 0,-304 221-92,-17 12-333,-2-3 1,71-55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9:13:57.05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1 665 24575,'0'3'0,"0"0"0,0 0 0,1 0 0,-1-1 0,1 1 0,0 0 0,0-1 0,0 1 0,0-1 0,0 1 0,0-1 0,1 1 0,-1-1 0,1 0 0,0 1 0,0-1 0,0 0 0,0 0 0,0-1 0,0 1 0,0 0 0,1-1 0,-1 1 0,0-1 0,1 0 0,-1 0 0,1 0 0,0 0 0,-1 0 0,1 0 0,0-1 0,0 1 0,-1-1 0,1 0 0,0 0 0,0 0 0,0 0 0,-1 0 0,1-1 0,0 1 0,0-1 0,-1 0 0,5-1 0,24-16 0,0-1 0,-2-1 0,0-2 0,42-40 0,-17 15 0,619-457-1365,-629 473-5461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9:13:59.20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1 706 24575,'2'1'0,"1"-1"0,-1 1 0,1 0 0,-1 0 0,0 0 0,1 0 0,-1 0 0,0 1 0,0-1 0,0 0 0,0 1 0,0 0 0,0-1 0,0 1 0,0 0 0,-1 0 0,1 0 0,-1 0 0,1 1 0,-1-1 0,2 5 0,24 58 0,-23-52 0,0-1 0,-1-3 0,0 0 0,1-1 0,-1 1 0,2-1 0,-1 0 0,7 9 0,-9-15 0,0 0 0,0 0 0,0 0 0,0 0 0,1-1 0,-1 1 0,1-1 0,-1 1 0,1-1 0,0 0 0,-1 0 0,1 0 0,0 0 0,0 0 0,0-1 0,0 1 0,-1-1 0,1 0 0,0 0 0,0 0 0,0 0 0,0-1 0,0 1 0,3-2 0,7-1 0,0-1 0,0-1 0,-1 0 0,1-1 0,-1 0 0,-1 0 0,1-2 0,-1 1 0,13-13 0,94-96 0,-84 81 0,223-246 74,91-89-1513,-298 321-5387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9:14:00.34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1105 24575,'3'1'0,"1"0"0,-1 0 0,1 1 0,-1-1 0,0 1 0,0-1 0,0 1 0,0 0 0,0 0 0,0 1 0,0-1 0,0 0 0,-1 1 0,1 0 0,-1 0 0,0 0 0,0 0 0,0 0 0,0 0 0,-1 0 0,3 7 0,5 8 0,-1 2 0,7 26 0,11 81 0,-26-126 0,0 0 0,0 0 0,0 0 0,0 0 0,1 0 0,-1 0 0,0 0 0,0 0 0,1 0 0,-1 0 0,0 0 0,1 0 0,-1 0 0,1 0 0,-1 0 0,1 0 0,0 0 0,-1-1 0,1 1 0,0 0 0,0 0 0,-1-1 0,1 1 0,0-1 0,0 1 0,0 0 0,0-1 0,0 0 0,0 1 0,0-1 0,0 0 0,0 1 0,0-1 0,0 0 0,0 0 0,0 0 0,0 0 0,0 0 0,0 0 0,0 0 0,2 0 0,2-3 0,1 1 0,-1-1 0,0 0 0,0-1 0,0 1 0,0-1 0,5-5 0,257-236 0,33-29 0,670-496-1985,-862 693-4221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F4871E-3672-42BE-BBA1-0BAFEE555536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7EC57A-C70D-4C56-92FA-51F20B72E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093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console.aws.amazon.com/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customXml" Target="../ink/ink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customXml" Target="../ink/ink5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customXml" Target="../ink/ink6.xml"/><Relationship Id="rId7" Type="http://schemas.openxmlformats.org/officeDocument/2006/relationships/customXml" Target="../ink/ink8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customXml" Target="../ink/ink7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customXml" Target="../ink/ink9.xml"/><Relationship Id="rId7" Type="http://schemas.openxmlformats.org/officeDocument/2006/relationships/customXml" Target="../ink/ink11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customXml" Target="../ink/ink10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customXml" Target="../ink/ink14.xml"/><Relationship Id="rId7" Type="http://schemas.openxmlformats.org/officeDocument/2006/relationships/customXml" Target="../ink/ink16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customXml" Target="../ink/ink15.xml"/><Relationship Id="rId10" Type="http://schemas.openxmlformats.org/officeDocument/2006/relationships/image" Target="../media/image26.png"/><Relationship Id="rId4" Type="http://schemas.openxmlformats.org/officeDocument/2006/relationships/image" Target="../media/image23.png"/><Relationship Id="rId9" Type="http://schemas.openxmlformats.org/officeDocument/2006/relationships/customXml" Target="../ink/ink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91B81-F093-8D97-50DB-968B402FEA28}"/>
              </a:ext>
            </a:extLst>
          </p:cNvPr>
          <p:cNvSpPr txBox="1"/>
          <p:nvPr/>
        </p:nvSpPr>
        <p:spPr>
          <a:xfrm>
            <a:off x="1907605" y="1590675"/>
            <a:ext cx="755379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SQL Database on Cloud: </a:t>
            </a:r>
          </a:p>
          <a:p>
            <a:pPr algn="ctr"/>
            <a:r>
              <a:rPr lang="en-US" sz="3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AWS Relational Database Service (RDS)</a:t>
            </a:r>
          </a:p>
        </p:txBody>
      </p:sp>
    </p:spTree>
    <p:extLst>
      <p:ext uri="{BB962C8B-B14F-4D97-AF65-F5344CB8AC3E}">
        <p14:creationId xmlns:p14="http://schemas.microsoft.com/office/powerpoint/2010/main" val="3839010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F76B5-29EF-A29C-2A4B-219B66AB9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5EBF09E-7918-8A18-E3BD-B52D68F81689}"/>
              </a:ext>
            </a:extLst>
          </p:cNvPr>
          <p:cNvSpPr txBox="1"/>
          <p:nvPr/>
        </p:nvSpPr>
        <p:spPr>
          <a:xfrm>
            <a:off x="95250" y="142875"/>
            <a:ext cx="83534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Create MySQL Database on AWS RDS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 to: 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https://console.aws.amazon.com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Then navigate to: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AWS Console → Services → RDS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CC8527-19A5-1B2F-4953-A4EBDD7F1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428750"/>
            <a:ext cx="12217165" cy="524699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B4B7079-FB4A-725E-EF45-2E60BEDC3428}"/>
                  </a:ext>
                </a:extLst>
              </p14:cNvPr>
              <p14:cNvContentPartPr/>
              <p14:nvPr/>
            </p14:nvContentPartPr>
            <p14:xfrm>
              <a:off x="3257235" y="5036775"/>
              <a:ext cx="1302120" cy="11671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B4B7079-FB4A-725E-EF45-2E60BEDC342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39235" y="5018781"/>
                <a:ext cx="1337760" cy="120274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48472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9293E-E3D7-87F5-C320-DEA9C73F7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9B934DD-080E-0E6C-1A11-203879B67F43}"/>
              </a:ext>
            </a:extLst>
          </p:cNvPr>
          <p:cNvSpPr txBox="1"/>
          <p:nvPr/>
        </p:nvSpPr>
        <p:spPr>
          <a:xfrm>
            <a:off x="190500" y="180975"/>
            <a:ext cx="51339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1: Create Database</a:t>
            </a:r>
          </a:p>
          <a:p>
            <a:endParaRPr lang="en-US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database.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Choose following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D614ADA-3150-7E43-33F9-AA5D52E9F0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7274311"/>
              </p:ext>
            </p:extLst>
          </p:nvPr>
        </p:nvGraphicFramePr>
        <p:xfrm>
          <a:off x="4376739" y="97204"/>
          <a:ext cx="4981575" cy="2926080"/>
        </p:xfrm>
        <a:graphic>
          <a:graphicData uri="http://schemas.openxmlformats.org/drawingml/2006/table">
            <a:tbl>
              <a:tblPr/>
              <a:tblGrid>
                <a:gridCol w="2524125">
                  <a:extLst>
                    <a:ext uri="{9D8B030D-6E8A-4147-A177-3AD203B41FA5}">
                      <a16:colId xmlns:a16="http://schemas.microsoft.com/office/drawing/2014/main" val="2336355263"/>
                    </a:ext>
                  </a:extLst>
                </a:gridCol>
                <a:gridCol w="2457450">
                  <a:extLst>
                    <a:ext uri="{9D8B030D-6E8A-4147-A177-3AD203B41FA5}">
                      <a16:colId xmlns:a16="http://schemas.microsoft.com/office/drawing/2014/main" val="41559202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Setting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88299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DB creation 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Full config(default)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63759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Engine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MySQL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10584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Version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Latest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4268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Template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Free tier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846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DB instance identifier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my-first-</a:t>
                      </a:r>
                      <a:r>
                        <a:rPr lang="en-US" sz="1800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db</a:t>
                      </a:r>
                      <a:endParaRPr lang="en-US" sz="18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7720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Master username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admin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11058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Master password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gh45mod7=78%()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4345185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D98B8A2C-34B9-FD20-78C3-1793CFAE3A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635" y="2954655"/>
            <a:ext cx="9569303" cy="390334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9B7ED9D-2DCA-F5A1-D758-DAC65A22BB28}"/>
                  </a:ext>
                </a:extLst>
              </p14:cNvPr>
              <p14:cNvContentPartPr/>
              <p14:nvPr/>
            </p14:nvContentPartPr>
            <p14:xfrm>
              <a:off x="4009635" y="3738615"/>
              <a:ext cx="469800" cy="2653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9B7ED9D-2DCA-F5A1-D758-DAC65A22BB2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73995" y="3702975"/>
                <a:ext cx="541440" cy="33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7EE1716-2C8A-2D51-D7A2-CEDF546D60C1}"/>
                  </a:ext>
                </a:extLst>
              </p14:cNvPr>
              <p14:cNvContentPartPr/>
              <p14:nvPr/>
            </p14:nvContentPartPr>
            <p14:xfrm>
              <a:off x="6047955" y="4758495"/>
              <a:ext cx="526320" cy="3222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7EE1716-2C8A-2D51-D7A2-CEDF546D60C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12315" y="4722495"/>
                <a:ext cx="597960" cy="393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082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32C62-F2B3-62A9-6AD9-318E4F2BF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4628BC1-C663-D25F-8FF6-F0D473CA65F6}"/>
              </a:ext>
            </a:extLst>
          </p:cNvPr>
          <p:cNvSpPr txBox="1"/>
          <p:nvPr/>
        </p:nvSpPr>
        <p:spPr>
          <a:xfrm>
            <a:off x="190500" y="180975"/>
            <a:ext cx="51339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1: Create Database</a:t>
            </a:r>
          </a:p>
          <a:p>
            <a:endParaRPr lang="en-US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database.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Choose following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F00A392-EE10-0967-85C9-5E84756609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9432916"/>
              </p:ext>
            </p:extLst>
          </p:nvPr>
        </p:nvGraphicFramePr>
        <p:xfrm>
          <a:off x="4376739" y="97204"/>
          <a:ext cx="4981575" cy="2926080"/>
        </p:xfrm>
        <a:graphic>
          <a:graphicData uri="http://schemas.openxmlformats.org/drawingml/2006/table">
            <a:tbl>
              <a:tblPr/>
              <a:tblGrid>
                <a:gridCol w="2524125">
                  <a:extLst>
                    <a:ext uri="{9D8B030D-6E8A-4147-A177-3AD203B41FA5}">
                      <a16:colId xmlns:a16="http://schemas.microsoft.com/office/drawing/2014/main" val="2336355263"/>
                    </a:ext>
                  </a:extLst>
                </a:gridCol>
                <a:gridCol w="2457450">
                  <a:extLst>
                    <a:ext uri="{9D8B030D-6E8A-4147-A177-3AD203B41FA5}">
                      <a16:colId xmlns:a16="http://schemas.microsoft.com/office/drawing/2014/main" val="41559202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Setting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88299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DB creation 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Full config(default)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63759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Engine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MySQL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10584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Version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Latest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4268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Template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Free tier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846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DB instance identifier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my-first-</a:t>
                      </a:r>
                      <a:r>
                        <a:rPr lang="en-US" sz="1800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db</a:t>
                      </a:r>
                      <a:endParaRPr lang="en-US" sz="18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7720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Master username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admin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11058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Master password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gh45mod7=78%()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4345185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73119C74-D706-BBDB-8748-18EB4A58AD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3059430"/>
            <a:ext cx="11163300" cy="384663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0AF0AD3-0AFD-3640-F6A9-DE9B035DB75B}"/>
                  </a:ext>
                </a:extLst>
              </p14:cNvPr>
              <p14:cNvContentPartPr/>
              <p14:nvPr/>
            </p14:nvContentPartPr>
            <p14:xfrm>
              <a:off x="1399995" y="3344580"/>
              <a:ext cx="753840" cy="2570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0AF0AD3-0AFD-3640-F6A9-DE9B035DB75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64355" y="3308580"/>
                <a:ext cx="825480" cy="32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B766B35-EF48-72CF-A9B2-74D27F1B21CE}"/>
                  </a:ext>
                </a:extLst>
              </p14:cNvPr>
              <p14:cNvContentPartPr/>
              <p14:nvPr/>
            </p14:nvContentPartPr>
            <p14:xfrm>
              <a:off x="8629515" y="4652100"/>
              <a:ext cx="389160" cy="3225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B766B35-EF48-72CF-A9B2-74D27F1B21C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593875" y="4616460"/>
                <a:ext cx="460800" cy="394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47756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2395A-E737-C8D4-1AB8-9052AABE9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0DECEC4-E242-F0E6-3B40-C64112B1D605}"/>
              </a:ext>
            </a:extLst>
          </p:cNvPr>
          <p:cNvSpPr txBox="1"/>
          <p:nvPr/>
        </p:nvSpPr>
        <p:spPr>
          <a:xfrm>
            <a:off x="0" y="219075"/>
            <a:ext cx="513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2: Configure Instance</a:t>
            </a:r>
          </a:p>
          <a:p>
            <a:endParaRPr lang="en-US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Recommended (Free tier):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47C8647-CAAE-B18B-7256-7629CDEA55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0358727"/>
              </p:ext>
            </p:extLst>
          </p:nvPr>
        </p:nvGraphicFramePr>
        <p:xfrm>
          <a:off x="3971924" y="126524"/>
          <a:ext cx="5400675" cy="1463040"/>
        </p:xfrm>
        <a:graphic>
          <a:graphicData uri="http://schemas.openxmlformats.org/drawingml/2006/table">
            <a:tbl>
              <a:tblPr/>
              <a:tblGrid>
                <a:gridCol w="2847975">
                  <a:extLst>
                    <a:ext uri="{9D8B030D-6E8A-4147-A177-3AD203B41FA5}">
                      <a16:colId xmlns:a16="http://schemas.microsoft.com/office/drawing/2014/main" val="703716146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38914212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Setting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6301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DB instance 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db.t3.micro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7138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Storage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20 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41515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Storage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gp2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4225095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675426CF-5EA9-1C7B-899F-888470F70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335" y="1682115"/>
            <a:ext cx="9956569" cy="513152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7929F37-1F32-58A5-34DF-A79CAD8696C6}"/>
                  </a:ext>
                </a:extLst>
              </p14:cNvPr>
              <p14:cNvContentPartPr/>
              <p14:nvPr/>
            </p14:nvContentPartPr>
            <p14:xfrm>
              <a:off x="1828395" y="2081895"/>
              <a:ext cx="840960" cy="3366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7929F37-1F32-58A5-34DF-A79CAD8696C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92755" y="2045895"/>
                <a:ext cx="912600" cy="40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C49E420-7347-F853-CE68-B2AD07D5C884}"/>
                  </a:ext>
                </a:extLst>
              </p14:cNvPr>
              <p14:cNvContentPartPr/>
              <p14:nvPr/>
            </p14:nvContentPartPr>
            <p14:xfrm>
              <a:off x="3085875" y="3604695"/>
              <a:ext cx="427320" cy="3286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C49E420-7347-F853-CE68-B2AD07D5C88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50235" y="3569055"/>
                <a:ext cx="498960" cy="40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D0B8F99-F8AA-4915-5943-2D2C56DECC5F}"/>
                  </a:ext>
                </a:extLst>
              </p14:cNvPr>
              <p14:cNvContentPartPr/>
              <p14:nvPr/>
            </p14:nvContentPartPr>
            <p14:xfrm>
              <a:off x="2657115" y="4401375"/>
              <a:ext cx="357480" cy="1659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D0B8F99-F8AA-4915-5943-2D2C56DECC5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621475" y="4365375"/>
                <a:ext cx="429120" cy="237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37997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1132B-8D37-4CE4-A1DF-A9288336B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18908E5-06AE-9F4F-6FD7-2E469488C474}"/>
              </a:ext>
            </a:extLst>
          </p:cNvPr>
          <p:cNvSpPr txBox="1"/>
          <p:nvPr/>
        </p:nvSpPr>
        <p:spPr>
          <a:xfrm>
            <a:off x="0" y="219075"/>
            <a:ext cx="513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3: Connectivity</a:t>
            </a:r>
          </a:p>
          <a:p>
            <a:endParaRPr lang="en-US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Important settings: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D2FDC73-35A1-3206-6AE1-8BA4F7A507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3985366"/>
              </p:ext>
            </p:extLst>
          </p:nvPr>
        </p:nvGraphicFramePr>
        <p:xfrm>
          <a:off x="4033836" y="116917"/>
          <a:ext cx="4124325" cy="1463040"/>
        </p:xfrm>
        <a:graphic>
          <a:graphicData uri="http://schemas.openxmlformats.org/drawingml/2006/table">
            <a:tbl>
              <a:tblPr/>
              <a:tblGrid>
                <a:gridCol w="2438400">
                  <a:extLst>
                    <a:ext uri="{9D8B030D-6E8A-4147-A177-3AD203B41FA5}">
                      <a16:colId xmlns:a16="http://schemas.microsoft.com/office/drawing/2014/main" val="1201393504"/>
                    </a:ext>
                  </a:extLst>
                </a:gridCol>
                <a:gridCol w="1685925">
                  <a:extLst>
                    <a:ext uri="{9D8B030D-6E8A-4147-A177-3AD203B41FA5}">
                      <a16:colId xmlns:a16="http://schemas.microsoft.com/office/drawing/2014/main" val="24481349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Setting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80545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Public access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Yes</a:t>
                      </a:r>
                      <a:endPara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847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VPC security group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Default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41974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Database 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3306</a:t>
                      </a:r>
                      <a:endPara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5330976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F6240A94-79E5-C598-1F69-07FDA1053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29" y="2277474"/>
            <a:ext cx="11755491" cy="427732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95BBDF8-6455-1A13-4267-D2FE2FF8552F}"/>
                  </a:ext>
                </a:extLst>
              </p14:cNvPr>
              <p14:cNvContentPartPr/>
              <p14:nvPr/>
            </p14:nvContentPartPr>
            <p14:xfrm>
              <a:off x="2618955" y="4193655"/>
              <a:ext cx="377640" cy="2224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95BBDF8-6455-1A13-4267-D2FE2FF8552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83315" y="4157655"/>
                <a:ext cx="449280" cy="29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BD2A658-03EF-0FF3-584A-A46FB2B2017E}"/>
                  </a:ext>
                </a:extLst>
              </p14:cNvPr>
              <p14:cNvContentPartPr/>
              <p14:nvPr/>
            </p14:nvContentPartPr>
            <p14:xfrm>
              <a:off x="1676115" y="5469855"/>
              <a:ext cx="456120" cy="1638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BD2A658-03EF-0FF3-584A-A46FB2B2017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40475" y="5433855"/>
                <a:ext cx="527760" cy="23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4D7D063-BD76-5DC3-DDC9-0810DB7ADF9A}"/>
                  </a:ext>
                </a:extLst>
              </p14:cNvPr>
              <p14:cNvContentPartPr/>
              <p14:nvPr/>
            </p14:nvContentPartPr>
            <p14:xfrm>
              <a:off x="1066635" y="2634495"/>
              <a:ext cx="446040" cy="1328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4D7D063-BD76-5DC3-DDC9-0810DB7ADF9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30995" y="2598495"/>
                <a:ext cx="517680" cy="204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33479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5C624-DED0-3CEF-D83C-D40B4A111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21B7261-4601-BD22-4DC4-7F82E8F2AB65}"/>
              </a:ext>
            </a:extLst>
          </p:cNvPr>
          <p:cNvSpPr txBox="1"/>
          <p:nvPr/>
        </p:nvSpPr>
        <p:spPr>
          <a:xfrm>
            <a:off x="0" y="219075"/>
            <a:ext cx="513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3: Connectivity</a:t>
            </a:r>
          </a:p>
          <a:p>
            <a:endParaRPr lang="en-US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Important settings: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3B322B4-D3A7-EA33-2196-A2AF8DDF2962}"/>
              </a:ext>
            </a:extLst>
          </p:cNvPr>
          <p:cNvGraphicFramePr>
            <a:graphicFrameLocks noGrp="1"/>
          </p:cNvGraphicFramePr>
          <p:nvPr/>
        </p:nvGraphicFramePr>
        <p:xfrm>
          <a:off x="4033836" y="116917"/>
          <a:ext cx="4124325" cy="1463040"/>
        </p:xfrm>
        <a:graphic>
          <a:graphicData uri="http://schemas.openxmlformats.org/drawingml/2006/table">
            <a:tbl>
              <a:tblPr/>
              <a:tblGrid>
                <a:gridCol w="2438400">
                  <a:extLst>
                    <a:ext uri="{9D8B030D-6E8A-4147-A177-3AD203B41FA5}">
                      <a16:colId xmlns:a16="http://schemas.microsoft.com/office/drawing/2014/main" val="1201393504"/>
                    </a:ext>
                  </a:extLst>
                </a:gridCol>
                <a:gridCol w="1685925">
                  <a:extLst>
                    <a:ext uri="{9D8B030D-6E8A-4147-A177-3AD203B41FA5}">
                      <a16:colId xmlns:a16="http://schemas.microsoft.com/office/drawing/2014/main" val="24481349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Setting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80545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Public access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Yes</a:t>
                      </a:r>
                      <a:endPara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847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VPC security group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Default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41974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Database 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3306</a:t>
                      </a:r>
                      <a:endPara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5330976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91BC7D7F-F2E9-5326-6A90-22310B48F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477" y="3038315"/>
            <a:ext cx="8211696" cy="228631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3A5981D-A2BE-495D-C7F2-0248A26F9710}"/>
                  </a:ext>
                </a:extLst>
              </p14:cNvPr>
              <p14:cNvContentPartPr/>
              <p14:nvPr/>
            </p14:nvContentPartPr>
            <p14:xfrm>
              <a:off x="2790675" y="4098615"/>
              <a:ext cx="552600" cy="3150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3A5981D-A2BE-495D-C7F2-0248A26F971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55035" y="4062615"/>
                <a:ext cx="624240" cy="38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36679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987E0-AE13-07A5-7562-BC7BDDFA7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CC6E58C-AC4E-CD4B-81C6-69DB9B5219AA}"/>
              </a:ext>
            </a:extLst>
          </p:cNvPr>
          <p:cNvSpPr txBox="1"/>
          <p:nvPr/>
        </p:nvSpPr>
        <p:spPr>
          <a:xfrm>
            <a:off x="19050" y="219075"/>
            <a:ext cx="51339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4: Create Database</a:t>
            </a:r>
          </a:p>
          <a:p>
            <a:endParaRPr lang="en-US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database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will take about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3–5 minutes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56588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F91A5-F358-EB1E-89EB-2588BC3F0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5994DD3-5EC3-05F3-A6B0-6B12CB5749C3}"/>
              </a:ext>
            </a:extLst>
          </p:cNvPr>
          <p:cNvSpPr txBox="1"/>
          <p:nvPr/>
        </p:nvSpPr>
        <p:spPr>
          <a:xfrm>
            <a:off x="19050" y="219075"/>
            <a:ext cx="599122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Allow Your IP to Connect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 to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RDS → Databases → my-first-</a:t>
            </a:r>
            <a:r>
              <a:rPr lang="en-US" sz="20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db</a:t>
            </a:r>
            <a:endParaRPr lang="en-US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Open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Connectivity &amp; Security -&gt; 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Security Group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Add inbound rule: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0988F55-3EDA-DBAE-3DB5-49B8ADB613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2773832"/>
              </p:ext>
            </p:extLst>
          </p:nvPr>
        </p:nvGraphicFramePr>
        <p:xfrm>
          <a:off x="6638925" y="976581"/>
          <a:ext cx="5334000" cy="1005840"/>
        </p:xfrm>
        <a:graphic>
          <a:graphicData uri="http://schemas.openxmlformats.org/drawingml/2006/table">
            <a:tbl>
              <a:tblPr/>
              <a:tblGrid>
                <a:gridCol w="1857375">
                  <a:extLst>
                    <a:ext uri="{9D8B030D-6E8A-4147-A177-3AD203B41FA5}">
                      <a16:colId xmlns:a16="http://schemas.microsoft.com/office/drawing/2014/main" val="1129007718"/>
                    </a:ext>
                  </a:extLst>
                </a:gridCol>
                <a:gridCol w="1323975">
                  <a:extLst>
                    <a:ext uri="{9D8B030D-6E8A-4147-A177-3AD203B41FA5}">
                      <a16:colId xmlns:a16="http://schemas.microsoft.com/office/drawing/2014/main" val="291783101"/>
                    </a:ext>
                  </a:extLst>
                </a:gridCol>
                <a:gridCol w="2152650">
                  <a:extLst>
                    <a:ext uri="{9D8B030D-6E8A-4147-A177-3AD203B41FA5}">
                      <a16:colId xmlns:a16="http://schemas.microsoft.com/office/drawing/2014/main" val="39020826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Source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18165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MySQL/Aurora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3306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Your IP:</a:t>
                      </a:r>
                    </a:p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Or use </a:t>
                      </a:r>
                      <a:r>
                        <a:rPr lang="en-US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0.0.0.0/0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0232526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98431B80-800B-3A48-17F6-5A2EB4146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50" y="2114551"/>
            <a:ext cx="11908700" cy="420158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5F9CCA3-736A-F138-C2B1-4311C5CB3CE9}"/>
                  </a:ext>
                </a:extLst>
              </p14:cNvPr>
              <p14:cNvContentPartPr/>
              <p14:nvPr/>
            </p14:nvContentPartPr>
            <p14:xfrm>
              <a:off x="151875" y="4732935"/>
              <a:ext cx="10176120" cy="8974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5F9CCA3-736A-F138-C2B1-4311C5CB3CE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5875" y="4697295"/>
                <a:ext cx="10247760" cy="969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93265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39C19-F3F3-1A7D-01A7-E8628BE4A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79DB93A-11B7-A13D-B5E4-0EE6EBEC8493}"/>
              </a:ext>
            </a:extLst>
          </p:cNvPr>
          <p:cNvSpPr txBox="1"/>
          <p:nvPr/>
        </p:nvSpPr>
        <p:spPr>
          <a:xfrm>
            <a:off x="19050" y="219075"/>
            <a:ext cx="41148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Get code to connect to DB</a:t>
            </a:r>
          </a:p>
          <a:p>
            <a:endParaRPr lang="en-US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 on DB and from </a:t>
            </a: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Connect Using -&gt; Code snippet,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get python code and run it.</a:t>
            </a:r>
          </a:p>
          <a:p>
            <a:endParaRPr lang="en-US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will use this in Python code to create DB first.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C79260-AB41-E8F4-E6D9-05900EDAA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4990" y="104774"/>
            <a:ext cx="7827960" cy="621982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E850F97-90D7-2C01-7137-B5F88C6523C1}"/>
                  </a:ext>
                </a:extLst>
              </p14:cNvPr>
              <p14:cNvContentPartPr/>
              <p14:nvPr/>
            </p14:nvContentPartPr>
            <p14:xfrm>
              <a:off x="6209955" y="1219335"/>
              <a:ext cx="493920" cy="289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E850F97-90D7-2C01-7137-B5F88C6523C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74315" y="1183695"/>
                <a:ext cx="565560" cy="36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466DA8D-73B6-761D-E60F-87CFE28D902E}"/>
                  </a:ext>
                </a:extLst>
              </p14:cNvPr>
              <p14:cNvContentPartPr/>
              <p14:nvPr/>
            </p14:nvContentPartPr>
            <p14:xfrm>
              <a:off x="4429035" y="2675175"/>
              <a:ext cx="379080" cy="2628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466DA8D-73B6-761D-E60F-87CFE28D902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393395" y="2639535"/>
                <a:ext cx="450720" cy="33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6B66927-3956-A417-389C-D6571815B862}"/>
                  </a:ext>
                </a:extLst>
              </p14:cNvPr>
              <p14:cNvContentPartPr/>
              <p14:nvPr/>
            </p14:nvContentPartPr>
            <p14:xfrm>
              <a:off x="8038755" y="3812775"/>
              <a:ext cx="405000" cy="333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6B66927-3956-A417-389C-D6571815B86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003115" y="3777135"/>
                <a:ext cx="476640" cy="40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7BC8560-0B98-2021-AE37-811348268E1E}"/>
                  </a:ext>
                </a:extLst>
              </p14:cNvPr>
              <p14:cNvContentPartPr/>
              <p14:nvPr/>
            </p14:nvContentPartPr>
            <p14:xfrm>
              <a:off x="7600635" y="4850295"/>
              <a:ext cx="662760" cy="5036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7BC8560-0B98-2021-AE37-811348268E1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564995" y="4814655"/>
                <a:ext cx="734400" cy="575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331525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370CF-F2FF-B600-8EE9-FE70D294B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0234C44-4F0E-C170-30A6-96BAC1164B5F}"/>
              </a:ext>
            </a:extLst>
          </p:cNvPr>
          <p:cNvSpPr txBox="1"/>
          <p:nvPr/>
        </p:nvSpPr>
        <p:spPr>
          <a:xfrm>
            <a:off x="19050" y="219075"/>
            <a:ext cx="68008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4) On local Install Python MySQL Library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Use:</a:t>
            </a:r>
            <a:endParaRPr lang="en-US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pip install </a:t>
            </a:r>
            <a:r>
              <a:rPr lang="en-US" sz="20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mysql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-connector-python boto3</a:t>
            </a: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pip install </a:t>
            </a:r>
            <a:r>
              <a:rPr lang="en-US" sz="20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pymysql</a:t>
            </a:r>
            <a:endParaRPr lang="en-US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5456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B4265-A28E-0C94-063E-41C8D40D4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111D021-CF07-CE14-138B-60A4845163CE}"/>
              </a:ext>
            </a:extLst>
          </p:cNvPr>
          <p:cNvSpPr txBox="1"/>
          <p:nvPr/>
        </p:nvSpPr>
        <p:spPr>
          <a:xfrm>
            <a:off x="19050" y="219075"/>
            <a:ext cx="6467475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5) The python  code: Create table</a:t>
            </a:r>
          </a:p>
          <a:p>
            <a:endParaRPr lang="en-US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import 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pymysql</a:t>
            </a:r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connection = 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pymysql.connect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host="my-first-db.xxxxxx.us-east-1.rds.amazonaws.com",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user="admin",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password="gh45mod7=78%()",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database=“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student_db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",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port=3306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)</a:t>
            </a:r>
          </a:p>
          <a:p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cursor = 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connection.cursor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1EC7ED-1F1E-441F-1FF3-F8276E43908F}"/>
              </a:ext>
            </a:extLst>
          </p:cNvPr>
          <p:cNvSpPr txBox="1"/>
          <p:nvPr/>
        </p:nvSpPr>
        <p:spPr>
          <a:xfrm>
            <a:off x="5848350" y="6286500"/>
            <a:ext cx="799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Cont</a:t>
            </a: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0231979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AD606-05A8-8E0C-D6F9-FB30867B5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2630A43-F2F9-D5E3-E12D-4A0460AEFCA8}"/>
              </a:ext>
            </a:extLst>
          </p:cNvPr>
          <p:cNvSpPr txBox="1"/>
          <p:nvPr/>
        </p:nvSpPr>
        <p:spPr>
          <a:xfrm>
            <a:off x="66675" y="219075"/>
            <a:ext cx="49149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create_table_query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= """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CREATE TABLE IF NOT EXISTS students (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id INT AUTO_INCREMENT PRIMARY KEY,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name VARCHAR(100),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course VARCHAR(100)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)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"""</a:t>
            </a:r>
          </a:p>
          <a:p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cursor.execute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create_table_query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)</a:t>
            </a:r>
          </a:p>
          <a:p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connection.commit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()</a:t>
            </a:r>
          </a:p>
          <a:p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print("Table created successfully")</a:t>
            </a:r>
          </a:p>
          <a:p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cursor.close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()</a:t>
            </a:r>
          </a:p>
          <a:p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connection.close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()</a:t>
            </a:r>
          </a:p>
          <a:p>
            <a:endParaRPr lang="en-US" sz="24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44889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F758B-0189-7DD0-0209-F177DFE3E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211FA74-FBE7-A3D8-751D-54C39C3C4870}"/>
              </a:ext>
            </a:extLst>
          </p:cNvPr>
          <p:cNvSpPr txBox="1"/>
          <p:nvPr/>
        </p:nvSpPr>
        <p:spPr>
          <a:xfrm>
            <a:off x="19050" y="219075"/>
            <a:ext cx="6467475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6) The python  code: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</a:t>
            </a: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Insert Data</a:t>
            </a:r>
            <a:endParaRPr lang="en-US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import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pymysql</a:t>
            </a:r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connection =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pymysql.connect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host="my-first-db.xxxxxx.us-east-1.rds.amazonaws.com",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user="admin",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password="gh45mod7=78%()",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database="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company_db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)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cursor =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connection.cursor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()</a:t>
            </a: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query = """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INSERT INTO students (name, course)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VALUES (%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s,%s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)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"""</a:t>
            </a: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data = ("Alice", "Machine Learning")</a:t>
            </a:r>
          </a:p>
          <a:p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cursor.execute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(query, data)</a:t>
            </a:r>
          </a:p>
          <a:p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connection.commit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()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print("Data inserted")</a:t>
            </a: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cursor.close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()</a:t>
            </a:r>
          </a:p>
          <a:p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connection.close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D2850A-4B07-B401-77E7-57A12D50E6C2}"/>
              </a:ext>
            </a:extLst>
          </p:cNvPr>
          <p:cNvSpPr txBox="1"/>
          <p:nvPr/>
        </p:nvSpPr>
        <p:spPr>
          <a:xfrm>
            <a:off x="5848350" y="6286500"/>
            <a:ext cx="799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Cont</a:t>
            </a: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1330691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9F26D-6EEA-EB3E-3348-655CD573A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CB946CF-F153-3AB1-7189-B2CDC5C35B72}"/>
              </a:ext>
            </a:extLst>
          </p:cNvPr>
          <p:cNvSpPr txBox="1"/>
          <p:nvPr/>
        </p:nvSpPr>
        <p:spPr>
          <a:xfrm>
            <a:off x="19050" y="219075"/>
            <a:ext cx="6467475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6) The python  code: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Fetch</a:t>
            </a: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Data</a:t>
            </a:r>
          </a:p>
          <a:p>
            <a:endParaRPr lang="en-US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import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pymysql</a:t>
            </a:r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connection =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pymysql.connect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host="my-first-db.xxxxxx.us-east-1.rds.amazonaws.com",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user="admin",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password="gh45mod7=78%()",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database="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company_db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)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cursor =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connection.cursor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()</a:t>
            </a:r>
          </a:p>
          <a:p>
            <a:endParaRPr lang="en-US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cursor.execute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("SELECT * FROM students")</a:t>
            </a: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rows =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cursor.fetchall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()</a:t>
            </a: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for r in rows: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print(r)</a:t>
            </a: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cursor.close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()</a:t>
            </a:r>
          </a:p>
          <a:p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connection.close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()</a:t>
            </a: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8EC653-AE42-D412-FDDE-63B6BA0AC2C0}"/>
              </a:ext>
            </a:extLst>
          </p:cNvPr>
          <p:cNvSpPr txBox="1"/>
          <p:nvPr/>
        </p:nvSpPr>
        <p:spPr>
          <a:xfrm>
            <a:off x="5848350" y="6286500"/>
            <a:ext cx="799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Cont</a:t>
            </a: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3334876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E07B4-15E1-54FE-A60B-B76D9DD51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2D0834A-0159-859C-95EA-63ED7270F58C}"/>
              </a:ext>
            </a:extLst>
          </p:cNvPr>
          <p:cNvSpPr txBox="1"/>
          <p:nvPr/>
        </p:nvSpPr>
        <p:spPr>
          <a:xfrm>
            <a:off x="981075" y="657225"/>
            <a:ext cx="64674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Most ML pipelines use this pattern:</a:t>
            </a:r>
          </a:p>
          <a:p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Python ETL</a:t>
            </a:r>
          </a:p>
          <a:p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    ↓</a:t>
            </a:r>
          </a:p>
          <a:p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AWS RDS (MySQL/Postgres)</a:t>
            </a:r>
          </a:p>
          <a:p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    ↓</a:t>
            </a:r>
          </a:p>
          <a:p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Data warehouse / analytics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248C0D-5418-D38D-232A-D48739CABB70}"/>
              </a:ext>
            </a:extLst>
          </p:cNvPr>
          <p:cNvSpPr txBox="1"/>
          <p:nvPr/>
        </p:nvSpPr>
        <p:spPr>
          <a:xfrm>
            <a:off x="5848350" y="6286500"/>
            <a:ext cx="799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Cont</a:t>
            </a: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3345217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4C0A1-4C72-98C9-2DC7-815FCD5E8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33C28A-BA9E-5FE4-F6F2-7ED59DDE7E9A}"/>
              </a:ext>
            </a:extLst>
          </p:cNvPr>
          <p:cNvSpPr txBox="1"/>
          <p:nvPr/>
        </p:nvSpPr>
        <p:spPr>
          <a:xfrm>
            <a:off x="3371850" y="1590675"/>
            <a:ext cx="207435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Tect</a:t>
            </a:r>
            <a:r>
              <a:rPr lang="en-US" sz="4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box</a:t>
            </a:r>
          </a:p>
        </p:txBody>
      </p:sp>
    </p:spTree>
    <p:extLst>
      <p:ext uri="{BB962C8B-B14F-4D97-AF65-F5344CB8AC3E}">
        <p14:creationId xmlns:p14="http://schemas.microsoft.com/office/powerpoint/2010/main" val="2649866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434</TotalTime>
  <Words>648</Words>
  <Application>Microsoft Office PowerPoint</Application>
  <PresentationFormat>Widescreen</PresentationFormat>
  <Paragraphs>190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85</cp:revision>
  <dcterms:created xsi:type="dcterms:W3CDTF">2025-09-22T02:44:38Z</dcterms:created>
  <dcterms:modified xsi:type="dcterms:W3CDTF">2026-03-15T19:19:57Z</dcterms:modified>
</cp:coreProperties>
</file>