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301" r:id="rId4"/>
    <p:sldId id="306" r:id="rId5"/>
    <p:sldId id="307" r:id="rId6"/>
    <p:sldId id="308" r:id="rId7"/>
    <p:sldId id="315" r:id="rId8"/>
    <p:sldId id="309" r:id="rId9"/>
    <p:sldId id="311" r:id="rId10"/>
    <p:sldId id="310" r:id="rId11"/>
    <p:sldId id="312" r:id="rId12"/>
    <p:sldId id="313" r:id="rId13"/>
    <p:sldId id="314" r:id="rId14"/>
    <p:sldId id="261" r:id="rId15"/>
    <p:sldId id="303" r:id="rId16"/>
    <p:sldId id="262" r:id="rId17"/>
    <p:sldId id="304" r:id="rId18"/>
    <p:sldId id="263" r:id="rId19"/>
    <p:sldId id="298" r:id="rId20"/>
    <p:sldId id="258" r:id="rId21"/>
    <p:sldId id="305" r:id="rId22"/>
    <p:sldId id="299" r:id="rId23"/>
    <p:sldId id="259" r:id="rId24"/>
    <p:sldId id="300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6:37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64 1464 0 0,'0'-1'24'0'0,"1"0"-1"0"0,-1 1 1 0 0,0-1-1 0 0,0 0 1 0 0,0 0-1 0 0,0 0 1 0 0,0 0-1 0 0,0 0 1 0 0,0 0-1 0 0,0 1 1 0 0,0-1-1 0 0,0 0 1 0 0,0 0 0 0 0,0 0-1 0 0,0 0 1 0 0,-1 1-1 0 0,1-1 1 0 0,0 0-1 0 0,-1 0 1 0 0,1 0-1 0 0,-1 1 1 0 0,1-1-1 0 0,-1 0 1 0 0,1 1-1 0 0,-1-1 1 0 0,1 0-1 0 0,-1 1 1 0 0,0-1-1 0 0,0 0 1 0 0,-7-8 428 0 0,7 8-338 0 0,-22-20 1092 0 0,19 12-3452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6:47.0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41 1952 0 0,'-15'-30'168'0'0,"0"19"-699"0"0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7:14.4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7:33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0 0 1784 0 0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1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41 12 440 0 0</inkml:trace>
  <inkml:trace contextRef="#ctx0" brushRef="#br0" timeOffset="2">231 5 284 0 0,'16'-3'-100'0'0</inkml:trace>
  <inkml:trace contextRef="#ctx0" brushRef="#br0" timeOffset="3">299 0 228 0 0,'16'0'-80'0'0,"3"0"28"0"0</inkml:trace>
  <inkml:trace contextRef="#ctx0" brushRef="#br0" timeOffset="4">388 5 176 0 0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0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0 124 0 0,'24'0'-44'0'0</inkml:trace>
  <inkml:trace contextRef="#ctx0" brushRef="#br0" timeOffset="1">84 2 100 0 0</inkml:trace>
  <inkml:trace contextRef="#ctx0" brushRef="#br0" timeOffset="2">149 7 76 0 0</inkml:trace>
  <inkml:trace contextRef="#ctx0" brushRef="#br0" timeOffset="3">217 12 60 0 0,'22'0'-24'0'0</inkml:trace>
  <inkml:trace contextRef="#ctx0" brushRef="#br0" timeOffset="4">312 12 60 0 0,'27'0'0'0'0,"-5"0"0"0"0,3 2-8 0 0,-4-2 0 0 0</inkml:trace>
  <inkml:trace contextRef="#ctx0" brushRef="#br0" timeOffset="5">481 14 36 0 0</inkml:trace>
  <inkml:trace contextRef="#ctx0" brushRef="#br0" timeOffset="6">546 14 36 0 0,'24'3'4'0'0,"-2"-3"-4"0"0,-3 0 8 0 0,3 0 0 0 0,-6 0-28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41 60 0 0,'36'-2'0'0'0,"-1"2"-16"0"0</inkml:trace>
  <inkml:trace contextRef="#ctx0" brushRef="#br0" timeOffset="1">169 29 52 0 0,'40'-5'8'0'0,"-2"3"0"0"0,-2-1-20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3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133 0 12 0 0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1.1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3 271 3692 0 0,'-3'-42'-1704'0'0,"3"40"1648"0"0,2-4-275 0 0,0-2 183 0 0,1 7 71 0 0,17 107 333 0 0,-20-104-235 0 0,0 0-1 0 0,0 0 1 0 0,0 0-1 0 0,0 0 1 0 0,1 0-1 0 0,-1 0 1 0 0,1 0-1 0 0,-1 0 1 0 0,1-1-1 0 0,0 1 1 0 0,0 0-1 0 0,0 0 1 0 0,0-1-1 0 0,0 1 1 0 0,0-1-1 0 0,0 1 1 0 0,1-1-1 0 0,-1 1 1 0 0,0-1-1 0 0,1 0 1 0 0,-1 1-1 0 0,1-1 1 0 0,2 1-1 0 0,-2-2 33 0 0,2-2 11 0 0,103-66-420 0 0,-3-4 1 0 0,123-111-1 0 0,-191 149-66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6.5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0 0 1044 0 0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6.6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0 876 0 0,'0'0'-35'0'0,"10"0"67"0"0,314 0 165 0 0,-47 2-909 0 0,-214-4 582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46:45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0 392 0 0,'0'0'5248'0'0,"39"9"-5345"0"0,-23-8 108 0 0,-8 0-8 0 0,-7-1-3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70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CC70-B43F-E084-E64E-4A083CD5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2A9DC-A0EA-901C-DA70-87A95640D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B84D0-18EA-942D-C352-6746BA663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C2A34-828F-E338-12D5-77B806ACF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6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8" Type="http://schemas.openxmlformats.org/officeDocument/2006/relationships/customXml" Target="../ink/ink3.xml"/><Relationship Id="rId21" Type="http://schemas.openxmlformats.org/officeDocument/2006/relationships/image" Target="../media/image24.png"/><Relationship Id="rId17" Type="http://schemas.openxmlformats.org/officeDocument/2006/relationships/image" Target="../media/image460.png"/><Relationship Id="rId2" Type="http://schemas.openxmlformats.org/officeDocument/2006/relationships/customXml" Target="../ink/ink1.xml"/><Relationship Id="rId20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54.png"/><Relationship Id="rId23" Type="http://schemas.openxmlformats.org/officeDocument/2006/relationships/image" Target="../media/image26.png"/><Relationship Id="rId19" Type="http://schemas.openxmlformats.org/officeDocument/2006/relationships/image" Target="../media/image150.png"/><Relationship Id="rId22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9.xml"/><Relationship Id="rId3" Type="http://schemas.openxmlformats.org/officeDocument/2006/relationships/image" Target="../media/image29.png"/><Relationship Id="rId112" Type="http://schemas.openxmlformats.org/officeDocument/2006/relationships/image" Target="../media/image251.png"/><Relationship Id="rId7" Type="http://schemas.openxmlformats.org/officeDocument/2006/relationships/customXml" Target="../ink/ink6.xml"/><Relationship Id="rId12" Type="http://schemas.openxmlformats.org/officeDocument/2006/relationships/image" Target="../media/image150.png"/><Relationship Id="rId2" Type="http://schemas.openxmlformats.org/officeDocument/2006/relationships/image" Target="../media/image28.png"/><Relationship Id="rId107" Type="http://schemas.openxmlformats.org/officeDocument/2006/relationships/customXml" Target="../ink/ink10.xml"/><Relationship Id="rId111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customXml" Target="../ink/ink8.xml"/><Relationship Id="rId110" Type="http://schemas.openxmlformats.org/officeDocument/2006/relationships/image" Target="../media/image173.png"/><Relationship Id="rId5" Type="http://schemas.openxmlformats.org/officeDocument/2006/relationships/customXml" Target="../ink/ink5.xml"/><Relationship Id="rId106" Type="http://schemas.openxmlformats.org/officeDocument/2006/relationships/image" Target="../media/image249.png"/><Relationship Id="rId114" Type="http://schemas.openxmlformats.org/officeDocument/2006/relationships/image" Target="../media/image170.png"/><Relationship Id="rId10" Type="http://schemas.openxmlformats.org/officeDocument/2006/relationships/image" Target="../media/image140.png"/><Relationship Id="rId4" Type="http://schemas.openxmlformats.org/officeDocument/2006/relationships/image" Target="../media/image30.png"/><Relationship Id="rId9" Type="http://schemas.openxmlformats.org/officeDocument/2006/relationships/customXml" Target="../ink/ink7.xml"/><Relationship Id="rId113" Type="http://schemas.openxmlformats.org/officeDocument/2006/relationships/customXml" Target="../ink/ink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Matrix</a:t>
            </a:r>
            <a:br>
              <a:rPr lang="en-US" dirty="0"/>
            </a:br>
            <a:r>
              <a:rPr lang="en-US" dirty="0"/>
              <a:t>Addition</a:t>
            </a:r>
            <a:br>
              <a:rPr lang="en-US" dirty="0"/>
            </a:br>
            <a:r>
              <a:rPr lang="en-US" dirty="0"/>
              <a:t>Subtraction</a:t>
            </a:r>
            <a:br>
              <a:rPr lang="en-US" dirty="0"/>
            </a:br>
            <a:r>
              <a:rPr lang="en-US" dirty="0"/>
              <a:t>Multiplication</a:t>
            </a:r>
          </a:p>
        </p:txBody>
      </p:sp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77B805-F277-E4A5-3CBC-F027C923AB9D}"/>
              </a:ext>
            </a:extLst>
          </p:cNvPr>
          <p:cNvSpPr txBox="1"/>
          <p:nvPr/>
        </p:nvSpPr>
        <p:spPr>
          <a:xfrm>
            <a:off x="182880" y="925312"/>
            <a:ext cx="5843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matrix ?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grid of numbers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2D matrix, you have rows and columns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shape of matrix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x columns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2 x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6B470E-FC07-D11C-D269-1E367C53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05978"/>
            <a:ext cx="5282901" cy="167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8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794E-402F-EEC1-0D9E-4054CB94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1E9213-F456-DC55-62EF-CEFBA5D396BE}"/>
              </a:ext>
            </a:extLst>
          </p:cNvPr>
          <p:cNvSpPr txBox="1"/>
          <p:nvPr/>
        </p:nvSpPr>
        <p:spPr>
          <a:xfrm>
            <a:off x="512064" y="522976"/>
            <a:ext cx="12006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are used to: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 data (e.g., a dataset where rows = samples, columns = features).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3850E0-8A29-637A-C36E-3467BE7C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75048"/>
              </p:ext>
            </p:extLst>
          </p:nvPr>
        </p:nvGraphicFramePr>
        <p:xfrm>
          <a:off x="183341" y="2329010"/>
          <a:ext cx="411433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808">
                  <a:extLst>
                    <a:ext uri="{9D8B030D-6E8A-4147-A177-3AD203B41FA5}">
                      <a16:colId xmlns:a16="http://schemas.microsoft.com/office/drawing/2014/main" val="142965451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61445789"/>
                    </a:ext>
                  </a:extLst>
                </a:gridCol>
                <a:gridCol w="1647491">
                  <a:extLst>
                    <a:ext uri="{9D8B030D-6E8A-4147-A177-3AD203B41FA5}">
                      <a16:colId xmlns:a16="http://schemas.microsoft.com/office/drawing/2014/main" val="4118228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68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21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8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8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0281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E4CB5AF-67A0-BD42-1EA4-2CB785E9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97" y="1627632"/>
            <a:ext cx="7784203" cy="27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2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A2D0-192E-6D54-CC82-1E02C790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A31CBC-9515-F922-43CB-31D8FD6506EF}"/>
              </a:ext>
            </a:extLst>
          </p:cNvPr>
          <p:cNvSpPr txBox="1"/>
          <p:nvPr/>
        </p:nvSpPr>
        <p:spPr>
          <a:xfrm>
            <a:off x="512064" y="522976"/>
            <a:ext cx="12006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are used to images: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0 -&gt; black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255 -&gt; white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B44E012-926F-B061-3F0D-9992E1BF4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459977"/>
              </p:ext>
            </p:extLst>
          </p:nvPr>
        </p:nvGraphicFramePr>
        <p:xfrm>
          <a:off x="6096000" y="3622221"/>
          <a:ext cx="2495552" cy="166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231551842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306660826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48621761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1138623776"/>
                    </a:ext>
                  </a:extLst>
                </a:gridCol>
              </a:tblGrid>
              <a:tr h="417319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3474"/>
                  </a:ext>
                </a:extLst>
              </a:tr>
              <a:tr h="417319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8561"/>
                  </a:ext>
                </a:extLst>
              </a:tr>
              <a:tr h="417319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8482"/>
                  </a:ext>
                </a:extLst>
              </a:tr>
              <a:tr h="417319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118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15A0B1-E0EC-AD27-75E5-315BA5DDF4A2}"/>
              </a:ext>
            </a:extLst>
          </p:cNvPr>
          <p:cNvSpPr txBox="1"/>
          <p:nvPr/>
        </p:nvSpPr>
        <p:spPr>
          <a:xfrm>
            <a:off x="885453" y="5447838"/>
            <a:ext cx="171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4X4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A2474-C5E6-874D-0830-497139E375ED}"/>
              </a:ext>
            </a:extLst>
          </p:cNvPr>
          <p:cNvSpPr txBox="1"/>
          <p:nvPr/>
        </p:nvSpPr>
        <p:spPr>
          <a:xfrm>
            <a:off x="5013521" y="5566753"/>
            <a:ext cx="5260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representation in 2D (not normalized), Size = 4X4</a:t>
            </a:r>
          </a:p>
        </p:txBody>
      </p:sp>
      <p:sp>
        <p:nvSpPr>
          <p:cNvPr id="12" name="Right Arrow 26">
            <a:extLst>
              <a:ext uri="{FF2B5EF4-FFF2-40B4-BE49-F238E27FC236}">
                <a16:creationId xmlns:a16="http://schemas.microsoft.com/office/drawing/2014/main" id="{64ADE092-7F1F-CD8E-BD23-9045F5C89A2C}"/>
              </a:ext>
            </a:extLst>
          </p:cNvPr>
          <p:cNvSpPr/>
          <p:nvPr/>
        </p:nvSpPr>
        <p:spPr>
          <a:xfrm>
            <a:off x="3958010" y="4499448"/>
            <a:ext cx="885825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04E0BB-7B25-E3C2-716D-DDBCF92014FD}"/>
              </a:ext>
            </a:extLst>
          </p:cNvPr>
          <p:cNvSpPr/>
          <p:nvPr/>
        </p:nvSpPr>
        <p:spPr>
          <a:xfrm>
            <a:off x="1065475" y="3622221"/>
            <a:ext cx="2007249" cy="16692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8CD01-E385-A206-A986-A75E4C845B0E}"/>
              </a:ext>
            </a:extLst>
          </p:cNvPr>
          <p:cNvSpPr/>
          <p:nvPr/>
        </p:nvSpPr>
        <p:spPr>
          <a:xfrm>
            <a:off x="1091028" y="3647333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86C7B3-47F3-193C-3F96-E19FDB751DA7}"/>
              </a:ext>
            </a:extLst>
          </p:cNvPr>
          <p:cNvSpPr/>
          <p:nvPr/>
        </p:nvSpPr>
        <p:spPr>
          <a:xfrm>
            <a:off x="2577920" y="3655282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61E6D7-136A-8A61-D19E-9FD38508B654}"/>
              </a:ext>
            </a:extLst>
          </p:cNvPr>
          <p:cNvSpPr/>
          <p:nvPr/>
        </p:nvSpPr>
        <p:spPr>
          <a:xfrm>
            <a:off x="2068209" y="4059365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4CF4DF-31B6-1F32-A888-FB6DA264A7BD}"/>
              </a:ext>
            </a:extLst>
          </p:cNvPr>
          <p:cNvSpPr/>
          <p:nvPr/>
        </p:nvSpPr>
        <p:spPr>
          <a:xfrm>
            <a:off x="2585045" y="4878338"/>
            <a:ext cx="457200" cy="3857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DF42F2-A261-1F33-E9E6-2B8E52D0D37D}"/>
              </a:ext>
            </a:extLst>
          </p:cNvPr>
          <p:cNvSpPr/>
          <p:nvPr/>
        </p:nvSpPr>
        <p:spPr>
          <a:xfrm>
            <a:off x="1076449" y="4897014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C1DE61-8BB0-B710-2F62-0F41F476F062}"/>
              </a:ext>
            </a:extLst>
          </p:cNvPr>
          <p:cNvSpPr/>
          <p:nvPr/>
        </p:nvSpPr>
        <p:spPr>
          <a:xfrm>
            <a:off x="1560645" y="4474156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23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6FF9-2065-FDCC-0897-24871847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A88B10-8A09-82BE-D0F9-837346A33209}"/>
              </a:ext>
            </a:extLst>
          </p:cNvPr>
          <p:cNvSpPr txBox="1"/>
          <p:nvPr/>
        </p:nvSpPr>
        <p:spPr>
          <a:xfrm>
            <a:off x="3012948" y="324433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addition + multiplication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429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6A80-3B7D-F9D4-8858-13DB6FD8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4D7621-BE0D-337A-818A-8AA34CF7B2C2}"/>
              </a:ext>
            </a:extLst>
          </p:cNvPr>
          <p:cNvSpPr txBox="1"/>
          <p:nvPr/>
        </p:nvSpPr>
        <p:spPr>
          <a:xfrm>
            <a:off x="580644" y="437126"/>
            <a:ext cx="10136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addition / subtraction: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shape of 2 matrix should be same for addition or subtraction.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257AA-647B-EC20-8E6E-12072DD7C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98" y="2137799"/>
            <a:ext cx="9465702" cy="34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9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DA4E-0718-9984-1EC6-F5A0E7B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6B5344-FCDA-FDE0-21D0-FDF43EF0DF0B}"/>
              </a:ext>
            </a:extLst>
          </p:cNvPr>
          <p:cNvSpPr txBox="1"/>
          <p:nvPr/>
        </p:nvSpPr>
        <p:spPr>
          <a:xfrm>
            <a:off x="580644" y="437126"/>
            <a:ext cx="1013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subtraction: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1A6EC-DDC2-90C8-4E61-398575780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1557797"/>
            <a:ext cx="9951720" cy="18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1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7039-2C39-ECA2-9F72-DA30E079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E5E8C5-A6D3-ABB9-50FE-0DFB1D14C1CA}"/>
              </a:ext>
            </a:extLst>
          </p:cNvPr>
          <p:cNvSpPr txBox="1"/>
          <p:nvPr/>
        </p:nvSpPr>
        <p:spPr>
          <a:xfrm>
            <a:off x="580644" y="-38362"/>
            <a:ext cx="1013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20BBA-78F3-BD32-A6FB-EEDFD2FF5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40929"/>
            <a:ext cx="4561106" cy="2490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44754F-9CFF-ED78-B4AD-BE583ED7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2914811"/>
            <a:ext cx="7453343" cy="17868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8F18C5-98FC-589A-2467-3C7CD593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4" y="4810154"/>
            <a:ext cx="9165336" cy="195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87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55B1-28E3-312E-995D-F502524A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1864F9-633B-C78A-05FD-91BBCEDA9DC3}"/>
              </a:ext>
            </a:extLst>
          </p:cNvPr>
          <p:cNvSpPr txBox="1"/>
          <p:nvPr/>
        </p:nvSpPr>
        <p:spPr>
          <a:xfrm>
            <a:off x="580644" y="-38362"/>
            <a:ext cx="1013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4E097-B8C7-AD81-A92B-F0636192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40929"/>
            <a:ext cx="4561106" cy="2490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CBBCA7-7E9A-20DF-68D3-1DCBC172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3143251"/>
            <a:ext cx="8587199" cy="27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8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49B0D-107A-51A2-7382-5E0EF88A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E9F272-EA49-0A74-757A-3E0F18296731}"/>
              </a:ext>
            </a:extLst>
          </p:cNvPr>
          <p:cNvSpPr txBox="1"/>
          <p:nvPr/>
        </p:nvSpPr>
        <p:spPr>
          <a:xfrm>
            <a:off x="580644" y="-38362"/>
            <a:ext cx="1013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A8423-C556-CFE4-F209-0F34C799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" y="415452"/>
            <a:ext cx="7636398" cy="2082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4D44B-2002-1EA3-1C61-3B9717B9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64" y="2793293"/>
            <a:ext cx="7223118" cy="258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3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A7BD-D382-C537-B9C4-A60C688D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250D89-C8E7-A926-2FCA-F3C288E3016B}"/>
              </a:ext>
            </a:extLst>
          </p:cNvPr>
          <p:cNvSpPr txBox="1"/>
          <p:nvPr/>
        </p:nvSpPr>
        <p:spPr>
          <a:xfrm>
            <a:off x="580644" y="-38362"/>
            <a:ext cx="49789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have matrix A and B.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want C = 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B1476A-D476-6BA1-5B3B-38D463D49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464" y="646691"/>
            <a:ext cx="1467055" cy="809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D9AE8B-61AB-E223-D037-D6C784E94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026" y="618112"/>
            <a:ext cx="1438476" cy="866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999BD9-F94C-C9BC-B086-BE47A8B52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48" y="2414017"/>
            <a:ext cx="9626831" cy="306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73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D5AE-3A12-45B2-CF4E-4EFD6853E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26C56E-48F8-5ABE-979E-E418AA86D88E}"/>
              </a:ext>
            </a:extLst>
          </p:cNvPr>
          <p:cNvSpPr txBox="1"/>
          <p:nvPr/>
        </p:nvSpPr>
        <p:spPr>
          <a:xfrm>
            <a:off x="580644" y="-38362"/>
            <a:ext cx="60304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general formula for C: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row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column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multiply matching elements(i.e. dot product)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them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69C17-03BB-D018-91D8-24234349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40" y="2510350"/>
            <a:ext cx="2391008" cy="918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125AC0-1E5A-44A1-196F-D5C9E6FDC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99628"/>
            <a:ext cx="4561106" cy="2490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FCCB4-EE51-FA0D-3623-F7EB72034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620" y="3584449"/>
            <a:ext cx="3319205" cy="15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D2C3-750A-3D2E-EF49-346A2F1D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B8328D-8C95-1803-8429-97877EC15DB1}"/>
              </a:ext>
            </a:extLst>
          </p:cNvPr>
          <p:cNvSpPr txBox="1"/>
          <p:nvPr/>
        </p:nvSpPr>
        <p:spPr>
          <a:xfrm>
            <a:off x="580644" y="-1786"/>
            <a:ext cx="4978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A4183A-B052-B891-7D23-25A182EFF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" y="1211691"/>
            <a:ext cx="10849356" cy="237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89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AEF89C-CD8C-D127-2E41-377E04DFBCFD}"/>
              </a:ext>
            </a:extLst>
          </p:cNvPr>
          <p:cNvSpPr txBox="1"/>
          <p:nvPr/>
        </p:nvSpPr>
        <p:spPr>
          <a:xfrm>
            <a:off x="155448" y="267176"/>
            <a:ext cx="11082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multiplication are used to perform linear transformations: Scaling, rotation of images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Scaling Matrix: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D46A7-5730-4DCC-62A5-D921EB3C4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2862072"/>
            <a:ext cx="6264303" cy="274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4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D6E8-56CC-3C0B-E3FB-BE48B249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380E0-B14C-F48E-8268-3C073A38A273}"/>
              </a:ext>
            </a:extLst>
          </p:cNvPr>
          <p:cNvSpPr txBox="1"/>
          <p:nvPr/>
        </p:nvSpPr>
        <p:spPr>
          <a:xfrm>
            <a:off x="155448" y="267176"/>
            <a:ext cx="11082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are used to Perform linear transformations: Scaling, rotation of images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6E2967-EE6A-988A-2653-4813A406E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693535"/>
            <a:ext cx="7020276" cy="4739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2D268B-8E94-5A20-B70A-C6429C744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829" y="1995287"/>
            <a:ext cx="4077269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2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6" y="185057"/>
            <a:ext cx="6114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Rotation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rotates the vector.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not change the magnitude of the vector.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6C7A5-88B0-9B00-8108-49F48F69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650404"/>
            <a:ext cx="4645152" cy="39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01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434E-9E36-A579-3882-531CA11A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5849A4-EE49-1806-D18E-B708E2C1D908}"/>
              </a:ext>
            </a:extLst>
          </p:cNvPr>
          <p:cNvSpPr txBox="1"/>
          <p:nvPr/>
        </p:nvSpPr>
        <p:spPr>
          <a:xfrm>
            <a:off x="413656" y="185057"/>
            <a:ext cx="2286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Rotation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0C76-CD13-27A7-9FB5-8345BEE4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549" y="3182112"/>
            <a:ext cx="2646225" cy="2320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9806C-62CF-8682-3FC0-7ACF6C2CE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3928"/>
            <a:ext cx="6665616" cy="49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3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481" y="1181753"/>
            <a:ext cx="2219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Scaling + Rotation: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D2D271-0A26-685F-A8B9-701D8ACB5AB1}"/>
                  </a:ext>
                </a:extLst>
              </p14:cNvPr>
              <p14:cNvContentPartPr/>
              <p14:nvPr/>
            </p14:nvContentPartPr>
            <p14:xfrm>
              <a:off x="2826143" y="1169344"/>
              <a:ext cx="16560" cy="2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D2D271-0A26-685F-A8B9-701D8ACB5A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08503" y="1151344"/>
                <a:ext cx="522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D4733F-E614-AB03-5478-B4279AE6FBEF}"/>
                  </a:ext>
                </a:extLst>
              </p14:cNvPr>
              <p14:cNvContentPartPr/>
              <p14:nvPr/>
            </p14:nvContentPartPr>
            <p14:xfrm>
              <a:off x="4791023" y="1694584"/>
              <a:ext cx="11160" cy="15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D4733F-E614-AB03-5478-B4279AE6FBE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3383" y="1676944"/>
                <a:ext cx="46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47085B-5FDA-FF1A-5E0B-56F492E62C78}"/>
                  </a:ext>
                </a:extLst>
              </p14:cNvPr>
              <p14:cNvContentPartPr/>
              <p14:nvPr/>
            </p14:nvContentPartPr>
            <p14:xfrm>
              <a:off x="1940543" y="2752624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47085B-5FDA-FF1A-5E0B-56F492E62C7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4543" y="271662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3715162-E795-72D1-23C2-4AB5AD6E9336}"/>
                  </a:ext>
                </a:extLst>
              </p14:cNvPr>
              <p14:cNvContentPartPr/>
              <p14:nvPr/>
            </p14:nvContentPartPr>
            <p14:xfrm>
              <a:off x="9071063" y="6012424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3715162-E795-72D1-23C2-4AB5AD6E933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35063" y="5976424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06FA49E-B9E7-4901-CA4A-E0557A7D14B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75775" y="0"/>
            <a:ext cx="6383185" cy="399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566EC7-EDA9-8EB4-6702-78C2AFB243E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28209" y="3596930"/>
            <a:ext cx="4263791" cy="1696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5F94E7-A34D-D17E-B9DA-EE26492615B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75775" y="4230698"/>
            <a:ext cx="5367712" cy="253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57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5176" y="893322"/>
            <a:ext cx="114848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of matrix multiplication: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transform coordinates of points in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graphics or robotics, when you perform scaling, rotating, or transforming an image, you are doing matrix multiplication.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 when you perform scaling or transforming data , you are doing matrix multiplication.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rotate or zoom an image → matrix multiplication is happening!</a:t>
            </a:r>
          </a:p>
        </p:txBody>
      </p:sp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2142" y="559591"/>
            <a:ext cx="871641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Representing an image as a matrix and then blurring it: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have a grayscale image of size 3x3 pixels: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255,  0,   0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0,  255,  0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0,   0, 255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value represents brightness of a pixel (0=black, 255=white).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Applying a matrix operation — Blurring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apply a simple average blur filter (kernel):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1/9, 1/9, 1/9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1/9, 1/9, 1/9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1/9, 1/9, 1/9</a:t>
            </a:r>
          </a:p>
        </p:txBody>
      </p:sp>
    </p:spTree>
    <p:extLst>
      <p:ext uri="{BB962C8B-B14F-4D97-AF65-F5344CB8AC3E}">
        <p14:creationId xmlns:p14="http://schemas.microsoft.com/office/powerpoint/2010/main" val="583195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793A-668C-007E-5C65-47F42692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25EA02-766B-E4C4-DB21-0B274899FF2F}"/>
              </a:ext>
            </a:extLst>
          </p:cNvPr>
          <p:cNvSpPr/>
          <p:nvPr/>
        </p:nvSpPr>
        <p:spPr>
          <a:xfrm>
            <a:off x="265176" y="4363495"/>
            <a:ext cx="1154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just matrix multiplication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E109D-0957-3F32-155F-307DEC8D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26" y="529802"/>
            <a:ext cx="7520254" cy="31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5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78E9-22A0-AD7C-29FD-CBEA66CD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A3B37-623B-E7B3-BDBB-C677580F9888}"/>
              </a:ext>
            </a:extLst>
          </p:cNvPr>
          <p:cNvSpPr txBox="1"/>
          <p:nvPr/>
        </p:nvSpPr>
        <p:spPr>
          <a:xfrm>
            <a:off x="1280160" y="969264"/>
            <a:ext cx="82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38105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31940"/>
              </p:ext>
            </p:extLst>
          </p:nvPr>
        </p:nvGraphicFramePr>
        <p:xfrm>
          <a:off x="337456" y="4627004"/>
          <a:ext cx="4071258" cy="2194560"/>
        </p:xfrm>
        <a:graphic>
          <a:graphicData uri="http://schemas.openxmlformats.org/drawingml/2006/table">
            <a:tbl>
              <a:tblPr/>
              <a:tblGrid>
                <a:gridCol w="1357086">
                  <a:extLst>
                    <a:ext uri="{9D8B030D-6E8A-4147-A177-3AD203B41FA5}">
                      <a16:colId xmlns:a16="http://schemas.microsoft.com/office/drawing/2014/main" val="2926457252"/>
                    </a:ext>
                  </a:extLst>
                </a:gridCol>
                <a:gridCol w="936154">
                  <a:extLst>
                    <a:ext uri="{9D8B030D-6E8A-4147-A177-3AD203B41FA5}">
                      <a16:colId xmlns:a16="http://schemas.microsoft.com/office/drawing/2014/main" val="2413316413"/>
                    </a:ext>
                  </a:extLst>
                </a:gridCol>
                <a:gridCol w="1778018">
                  <a:extLst>
                    <a:ext uri="{9D8B030D-6E8A-4147-A177-3AD203B41FA5}">
                      <a16:colId xmlns:a16="http://schemas.microsoft.com/office/drawing/2014/main" val="1494836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 (</a:t>
                      </a:r>
                      <a:r>
                        <a:rPr lang="en-US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sqft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 (target)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05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077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44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20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0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01284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93915" y="163010"/>
            <a:ext cx="52577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Predicting house prices using matrix operations for linear regression ( 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 ) 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house prices using: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​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W*X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= feature matrix (house size, number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rooms,etc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 = weight matrix (parameters to learn)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predicted price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57" y="99376"/>
            <a:ext cx="4659086" cy="24625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134" y="3243159"/>
            <a:ext cx="3505732" cy="8238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6114" y="2873827"/>
            <a:ext cx="539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 is determined using following mathematical formula: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971" y="4190218"/>
            <a:ext cx="5018315" cy="254478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E5B9ED1-5A00-02B0-5EE2-0A265824C372}"/>
              </a:ext>
            </a:extLst>
          </p:cNvPr>
          <p:cNvGrpSpPr/>
          <p:nvPr/>
        </p:nvGrpSpPr>
        <p:grpSpPr>
          <a:xfrm>
            <a:off x="976463" y="2100304"/>
            <a:ext cx="820440" cy="24120"/>
            <a:chOff x="976463" y="2100304"/>
            <a:chExt cx="82044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8E3021-1044-7E18-C2F1-F2E1805CBCBF}"/>
                    </a:ext>
                  </a:extLst>
                </p14:cNvPr>
                <p14:cNvContentPartPr/>
                <p14:nvPr/>
              </p14:nvContentPartPr>
              <p14:xfrm>
                <a:off x="976463" y="2116144"/>
                <a:ext cx="125280" cy="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8E3021-1044-7E18-C2F1-F2E1805CBC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0463" y="2080144"/>
                  <a:ext cx="196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0C59C7-B7E1-D975-21C3-592891940D3A}"/>
                    </a:ext>
                  </a:extLst>
                </p14:cNvPr>
                <p14:cNvContentPartPr/>
                <p14:nvPr/>
              </p14:nvContentPartPr>
              <p14:xfrm>
                <a:off x="1120103" y="2117944"/>
                <a:ext cx="234000" cy="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0C59C7-B7E1-D975-21C3-592891940D3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4103" y="2081944"/>
                  <a:ext cx="305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CE098F3-AA88-3865-239C-B3BAB08DBD05}"/>
                    </a:ext>
                  </a:extLst>
                </p14:cNvPr>
                <p14:cNvContentPartPr/>
                <p14:nvPr/>
              </p14:nvContentPartPr>
              <p14:xfrm>
                <a:off x="1534463" y="2110744"/>
                <a:ext cx="102600" cy="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CE098F3-AA88-3865-239C-B3BAB08DBD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98336" y="2074744"/>
                  <a:ext cx="174492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F5D3381-2E45-BB5B-1605-4EFC32EEC139}"/>
                    </a:ext>
                  </a:extLst>
                </p14:cNvPr>
                <p14:cNvContentPartPr/>
                <p14:nvPr/>
              </p14:nvContentPartPr>
              <p14:xfrm>
                <a:off x="1796543" y="2100304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F5D3381-2E45-BB5B-1605-4EFC32EEC1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60543" y="206430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4DEF0EF-B6F1-3090-0493-E424ABDF69D1}"/>
                  </a:ext>
                </a:extLst>
              </p14:cNvPr>
              <p14:cNvContentPartPr/>
              <p14:nvPr/>
            </p14:nvContentPartPr>
            <p14:xfrm>
              <a:off x="8048303" y="5334904"/>
              <a:ext cx="191160" cy="129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4DEF0EF-B6F1-3090-0493-E424ABDF69D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012663" y="5298904"/>
                <a:ext cx="26280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256A586-FA24-600C-3DB6-9D79A7FEDABB}"/>
              </a:ext>
            </a:extLst>
          </p:cNvPr>
          <p:cNvGrpSpPr/>
          <p:nvPr/>
        </p:nvGrpSpPr>
        <p:grpSpPr>
          <a:xfrm>
            <a:off x="9778823" y="5524624"/>
            <a:ext cx="242640" cy="1080"/>
            <a:chOff x="9778823" y="5524624"/>
            <a:chExt cx="24264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54C0BD-D4C2-6F49-FE82-FB3F6D97D683}"/>
                    </a:ext>
                  </a:extLst>
                </p14:cNvPr>
                <p14:cNvContentPartPr/>
                <p14:nvPr/>
              </p14:nvContentPartPr>
              <p14:xfrm>
                <a:off x="9778823" y="5524984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54C0BD-D4C2-6F49-FE82-FB3F6D97D6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42823" y="548898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113424-FDC0-C77E-F79D-E6EEFFF4CDA0}"/>
                    </a:ext>
                  </a:extLst>
                </p14:cNvPr>
                <p14:cNvContentPartPr/>
                <p14:nvPr/>
              </p14:nvContentPartPr>
              <p14:xfrm>
                <a:off x="9778823" y="5524624"/>
                <a:ext cx="242640" cy="1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113424-FDC0-C77E-F79D-E6EEFFF4CDA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42823" y="5488984"/>
                  <a:ext cx="31428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704CEF-A820-A6C7-050D-8CB68679A131}"/>
                  </a:ext>
                </a:extLst>
              </p14:cNvPr>
              <p14:cNvContentPartPr/>
              <p14:nvPr/>
            </p14:nvContentPartPr>
            <p14:xfrm>
              <a:off x="3114503" y="1603144"/>
              <a:ext cx="23400" cy="4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704CEF-A820-A6C7-050D-8CB68679A13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078503" y="1567144"/>
                <a:ext cx="9504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044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8929"/>
            <a:ext cx="10515600" cy="665905"/>
          </a:xfrm>
        </p:spPr>
        <p:txBody>
          <a:bodyPr>
            <a:normAutofit/>
          </a:bodyPr>
          <a:lstStyle/>
          <a:p>
            <a:r>
              <a:rPr lang="en-US" dirty="0"/>
              <a:t>Explain how to find determinant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62730" y="2572567"/>
            <a:ext cx="3464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1],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[3, 5]])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2*5 - 1*3 = 7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1, 0],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1, -1],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2, 4]])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416942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2090</TotalTime>
  <Words>587</Words>
  <Application>Microsoft Office PowerPoint</Application>
  <PresentationFormat>Widescreen</PresentationFormat>
  <Paragraphs>153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Matrix Addition Subtraction Multiplication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2026-02-22T11:25:09Z</dcterms:modified>
</cp:coreProperties>
</file>