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301" r:id="rId4"/>
    <p:sldId id="302" r:id="rId5"/>
    <p:sldId id="298" r:id="rId6"/>
    <p:sldId id="259" r:id="rId7"/>
    <p:sldId id="261" r:id="rId8"/>
    <p:sldId id="262" r:id="rId9"/>
    <p:sldId id="263" r:id="rId10"/>
    <p:sldId id="258" r:id="rId11"/>
    <p:sldId id="260" r:id="rId12"/>
    <p:sldId id="300" r:id="rId13"/>
    <p:sldId id="270" r:id="rId14"/>
    <p:sldId id="2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1.9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41 12 440 0 0</inkml:trace>
  <inkml:trace contextRef="#ctx0" brushRef="#br0" timeOffset="2">231 5 284 0 0,'16'-3'-100'0'0</inkml:trace>
  <inkml:trace contextRef="#ctx0" brushRef="#br0" timeOffset="3">299 0 228 0 0,'16'0'-80'0'0,"3"0"28"0"0</inkml:trace>
  <inkml:trace contextRef="#ctx0" brushRef="#br0" timeOffset="4">388 5 176 0 0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2.0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0 124 0 0,'24'0'-44'0'0</inkml:trace>
  <inkml:trace contextRef="#ctx0" brushRef="#br0" timeOffset="1">84 2 100 0 0</inkml:trace>
  <inkml:trace contextRef="#ctx0" brushRef="#br0" timeOffset="2">149 7 76 0 0</inkml:trace>
  <inkml:trace contextRef="#ctx0" brushRef="#br0" timeOffset="3">217 12 60 0 0,'22'0'-24'0'0</inkml:trace>
  <inkml:trace contextRef="#ctx0" brushRef="#br0" timeOffset="4">312 12 60 0 0,'27'0'0'0'0,"-5"0"0"0"0,3 2-8 0 0,-4-2 0 0 0</inkml:trace>
  <inkml:trace contextRef="#ctx0" brushRef="#br0" timeOffset="5">481 14 36 0 0</inkml:trace>
  <inkml:trace contextRef="#ctx0" brushRef="#br0" timeOffset="6">546 14 36 0 0,'24'3'4'0'0,"-2"-3"-4"0"0,-3 0 8 0 0,3 0 0 0 0,-6 0-28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2.1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41 60 0 0,'36'-2'0'0'0,"-1"2"-16"0"0</inkml:trace>
  <inkml:trace contextRef="#ctx0" brushRef="#br0" timeOffset="1">169 29 52 0 0,'40'-5'8'0'0,"-2"3"0"0"0,-2-1-20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31:12.3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133 0 12 0 0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55:21.1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3 271 3692 0 0,'-3'-42'-1704'0'0,"3"40"1648"0"0,2-4-275 0 0,0-2 183 0 0,1 7 71 0 0,17 107 333 0 0,-20-104-235 0 0,0 0-1 0 0,0 0 1 0 0,0 0-1 0 0,0 0 1 0 0,1 0-1 0 0,-1 0 1 0 0,1 0-1 0 0,-1 0 1 0 0,1-1-1 0 0,0 1 1 0 0,0 0-1 0 0,0 0 1 0 0,0-1-1 0 0,0 1 1 0 0,0-1-1 0 0,0 1 1 0 0,1-1-1 0 0,-1 1 1 0 0,0-1-1 0 0,1 0 1 0 0,-1 1-1 0 0,1-1 1 0 0,2 1-1 0 0,-2-2 33 0 0,2-2 11 0 0,103-66-420 0 0,-3-4 1 0 0,123-111-1 0 0,-191 149-66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55:26.5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0 0 1044 0 0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55:26.6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0 876 0 0,'0'0'-35'0'0,"10"0"67"0"0,314 0 165 0 0,-47 2-909 0 0,-214-4 582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4:46:45.4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0 392 0 0,'0'0'5248'0'0,"39"9"-5345"0"0,-23-8 108 0 0,-8 0-8 0 0,-7-1-3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6:37.2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 64 1464 0 0,'0'-1'24'0'0,"1"0"-1"0"0,-1 1 1 0 0,0-1-1 0 0,0 0 1 0 0,0 0-1 0 0,0 0 1 0 0,0 0-1 0 0,0 0 1 0 0,0 0-1 0 0,0 1 1 0 0,0-1-1 0 0,0 0 1 0 0,0 0 0 0 0,0 0-1 0 0,0 0 1 0 0,-1 1-1 0 0,1-1 1 0 0,0 0-1 0 0,-1 0 1 0 0,1 0-1 0 0,-1 1 1 0 0,1-1-1 0 0,-1 0 1 0 0,1 1-1 0 0,-1-1 1 0 0,1 0-1 0 0,-1 1 1 0 0,0-1-1 0 0,0 0 1 0 0,-7-8 428 0 0,7 8-338 0 0,-22-20 1092 0 0,19 12-3452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6:47.0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41 1952 0 0,'-15'-30'168'0'0,"0"19"-699"0"0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7:14.4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5T15:07:33.1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0 0 1784 0 0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5.xml"/><Relationship Id="rId3" Type="http://schemas.openxmlformats.org/officeDocument/2006/relationships/image" Target="../media/image5.png"/><Relationship Id="rId112" Type="http://schemas.openxmlformats.org/officeDocument/2006/relationships/image" Target="../media/image251.png"/><Relationship Id="rId7" Type="http://schemas.openxmlformats.org/officeDocument/2006/relationships/customXml" Target="../ink/ink2.xml"/><Relationship Id="rId12" Type="http://schemas.openxmlformats.org/officeDocument/2006/relationships/image" Target="../media/image15.png"/><Relationship Id="rId2" Type="http://schemas.openxmlformats.org/officeDocument/2006/relationships/image" Target="../media/image4.png"/><Relationship Id="rId107" Type="http://schemas.openxmlformats.org/officeDocument/2006/relationships/customXml" Target="../ink/ink6.xml"/><Relationship Id="rId111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4.xml"/><Relationship Id="rId110" Type="http://schemas.openxmlformats.org/officeDocument/2006/relationships/image" Target="../media/image173.png"/><Relationship Id="rId5" Type="http://schemas.openxmlformats.org/officeDocument/2006/relationships/customXml" Target="../ink/ink1.xml"/><Relationship Id="rId106" Type="http://schemas.openxmlformats.org/officeDocument/2006/relationships/image" Target="../media/image249.png"/><Relationship Id="rId114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customXml" Target="../ink/ink3.xml"/><Relationship Id="rId113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1.xml"/><Relationship Id="rId3" Type="http://schemas.openxmlformats.org/officeDocument/2006/relationships/image" Target="../media/image16.png"/><Relationship Id="rId17" Type="http://schemas.openxmlformats.org/officeDocument/2006/relationships/image" Target="../media/image460.png"/><Relationship Id="rId2" Type="http://schemas.openxmlformats.org/officeDocument/2006/relationships/image" Target="../media/image11.png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454.png"/><Relationship Id="rId19" Type="http://schemas.openxmlformats.org/officeDocument/2006/relationships/image" Target="../media/image15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 Vector-Matrix</a:t>
            </a:r>
          </a:p>
        </p:txBody>
      </p:sp>
    </p:spTree>
    <p:extLst>
      <p:ext uri="{BB962C8B-B14F-4D97-AF65-F5344CB8AC3E}">
        <p14:creationId xmlns:p14="http://schemas.microsoft.com/office/powerpoint/2010/main" val="57672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77B805-F277-E4A5-3CBC-F027C923AB9D}"/>
              </a:ext>
            </a:extLst>
          </p:cNvPr>
          <p:cNvSpPr txBox="1"/>
          <p:nvPr/>
        </p:nvSpPr>
        <p:spPr>
          <a:xfrm>
            <a:off x="182880" y="925312"/>
            <a:ext cx="58430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matrix ?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a grid of numbers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2D matrix, you have rows and columns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shape of matrix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rows x columns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2 x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6B470E-FC07-D11C-D269-1E367C53F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005978"/>
            <a:ext cx="5282901" cy="167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84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794E-402F-EEC1-0D9E-4054CB94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1E9213-F456-DC55-62EF-CEFBA5D396BE}"/>
              </a:ext>
            </a:extLst>
          </p:cNvPr>
          <p:cNvSpPr txBox="1"/>
          <p:nvPr/>
        </p:nvSpPr>
        <p:spPr>
          <a:xfrm>
            <a:off x="512064" y="522976"/>
            <a:ext cx="12006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Matrices are used to: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 data (e.g., a dataset where rows = samples, columns = features).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3850E0-8A29-637A-C36E-3467BE7C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675048"/>
              </p:ext>
            </p:extLst>
          </p:nvPr>
        </p:nvGraphicFramePr>
        <p:xfrm>
          <a:off x="183341" y="2329010"/>
          <a:ext cx="411433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808">
                  <a:extLst>
                    <a:ext uri="{9D8B030D-6E8A-4147-A177-3AD203B41FA5}">
                      <a16:colId xmlns:a16="http://schemas.microsoft.com/office/drawing/2014/main" val="142965451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161445789"/>
                    </a:ext>
                  </a:extLst>
                </a:gridCol>
                <a:gridCol w="1647491">
                  <a:extLst>
                    <a:ext uri="{9D8B030D-6E8A-4147-A177-3AD203B41FA5}">
                      <a16:colId xmlns:a16="http://schemas.microsoft.com/office/drawing/2014/main" val="4118228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686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21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28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8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80281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E4CB5AF-67A0-BD42-1EA4-2CB785E9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797" y="1627632"/>
            <a:ext cx="7784203" cy="278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2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F6807-2618-A765-60CA-AB9269DA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042B-AB86-C34C-B486-7A01C9FF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1046"/>
          </a:xfrm>
        </p:spPr>
        <p:txBody>
          <a:bodyPr>
            <a:normAutofit fontScale="90000"/>
          </a:bodyPr>
          <a:lstStyle/>
          <a:p>
            <a:r>
              <a:rPr lang="en-US" dirty="0"/>
              <a:t>Where matrix appear in ML / AI?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A38B9-C6AB-0370-3298-C383FF67CB34}"/>
              </a:ext>
            </a:extLst>
          </p:cNvPr>
          <p:cNvSpPr txBox="1"/>
          <p:nvPr/>
        </p:nvSpPr>
        <p:spPr>
          <a:xfrm>
            <a:off x="512064" y="1300216"/>
            <a:ext cx="120060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Matrices are used to: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 data (e.g., a dataset where rows = samples, columns = features).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linear transformations (e.g., scaling, rotation of images, word embeddings).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 neural network operations (weights, activations, gradients are matrices).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 systems of equations in algorithms (e.g., linear regression).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Handle images, where each image is a matrix of pixel values.</a:t>
            </a:r>
          </a:p>
        </p:txBody>
      </p:sp>
    </p:spTree>
    <p:extLst>
      <p:ext uri="{BB962C8B-B14F-4D97-AF65-F5344CB8AC3E}">
        <p14:creationId xmlns:p14="http://schemas.microsoft.com/office/powerpoint/2010/main" val="399914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DE88-84DC-5A0F-3D5B-9DBB833B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56361-8EB5-B840-3BAB-344F457B26D3}"/>
              </a:ext>
            </a:extLst>
          </p:cNvPr>
          <p:cNvSpPr txBox="1"/>
          <p:nvPr/>
        </p:nvSpPr>
        <p:spPr>
          <a:xfrm>
            <a:off x="795528" y="1587931"/>
            <a:ext cx="84079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represent one data point.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represent many data points processed together.</a:t>
            </a:r>
          </a:p>
        </p:txBody>
      </p:sp>
    </p:spTree>
    <p:extLst>
      <p:ext uri="{BB962C8B-B14F-4D97-AF65-F5344CB8AC3E}">
        <p14:creationId xmlns:p14="http://schemas.microsoft.com/office/powerpoint/2010/main" val="262725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331940"/>
              </p:ext>
            </p:extLst>
          </p:nvPr>
        </p:nvGraphicFramePr>
        <p:xfrm>
          <a:off x="337456" y="4627004"/>
          <a:ext cx="4071258" cy="2194560"/>
        </p:xfrm>
        <a:graphic>
          <a:graphicData uri="http://schemas.openxmlformats.org/drawingml/2006/table">
            <a:tbl>
              <a:tblPr/>
              <a:tblGrid>
                <a:gridCol w="1357086">
                  <a:extLst>
                    <a:ext uri="{9D8B030D-6E8A-4147-A177-3AD203B41FA5}">
                      <a16:colId xmlns:a16="http://schemas.microsoft.com/office/drawing/2014/main" val="2926457252"/>
                    </a:ext>
                  </a:extLst>
                </a:gridCol>
                <a:gridCol w="936154">
                  <a:extLst>
                    <a:ext uri="{9D8B030D-6E8A-4147-A177-3AD203B41FA5}">
                      <a16:colId xmlns:a16="http://schemas.microsoft.com/office/drawing/2014/main" val="2413316413"/>
                    </a:ext>
                  </a:extLst>
                </a:gridCol>
                <a:gridCol w="1778018">
                  <a:extLst>
                    <a:ext uri="{9D8B030D-6E8A-4147-A177-3AD203B41FA5}">
                      <a16:colId xmlns:a16="http://schemas.microsoft.com/office/drawing/2014/main" val="1494836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Size (</a:t>
                      </a:r>
                      <a:r>
                        <a:rPr lang="en-US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sqft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Price (target)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054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077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44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20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40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01284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93915" y="163010"/>
            <a:ext cx="52577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Predicting house prices using matrix operations for linear regression ( see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 ) 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house prices using: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​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y_hat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W*X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= feature matrix (house size, number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rooms,etc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 = weight matrix (parameters to learn)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Y_hat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predicted price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57" y="99376"/>
            <a:ext cx="4659086" cy="24625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134" y="3243159"/>
            <a:ext cx="3505732" cy="8238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6114" y="2873827"/>
            <a:ext cx="539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 is determined using following mathematical formula: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971" y="4190218"/>
            <a:ext cx="5018315" cy="254478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E5B9ED1-5A00-02B0-5EE2-0A265824C372}"/>
              </a:ext>
            </a:extLst>
          </p:cNvPr>
          <p:cNvGrpSpPr/>
          <p:nvPr/>
        </p:nvGrpSpPr>
        <p:grpSpPr>
          <a:xfrm>
            <a:off x="976463" y="2100304"/>
            <a:ext cx="820440" cy="24120"/>
            <a:chOff x="976463" y="2100304"/>
            <a:chExt cx="820440" cy="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8E3021-1044-7E18-C2F1-F2E1805CBCBF}"/>
                    </a:ext>
                  </a:extLst>
                </p14:cNvPr>
                <p14:cNvContentPartPr/>
                <p14:nvPr/>
              </p14:nvContentPartPr>
              <p14:xfrm>
                <a:off x="976463" y="2116144"/>
                <a:ext cx="125280" cy="4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8E3021-1044-7E18-C2F1-F2E1805CBCB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0463" y="2080144"/>
                  <a:ext cx="196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0C59C7-B7E1-D975-21C3-592891940D3A}"/>
                    </a:ext>
                  </a:extLst>
                </p14:cNvPr>
                <p14:cNvContentPartPr/>
                <p14:nvPr/>
              </p14:nvContentPartPr>
              <p14:xfrm>
                <a:off x="1120103" y="2117944"/>
                <a:ext cx="234000" cy="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0C59C7-B7E1-D975-21C3-592891940D3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4103" y="2081944"/>
                  <a:ext cx="305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CE098F3-AA88-3865-239C-B3BAB08DBD05}"/>
                    </a:ext>
                  </a:extLst>
                </p14:cNvPr>
                <p14:cNvContentPartPr/>
                <p14:nvPr/>
              </p14:nvContentPartPr>
              <p14:xfrm>
                <a:off x="1534463" y="2110744"/>
                <a:ext cx="102600" cy="8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CE098F3-AA88-3865-239C-B3BAB08DBD0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98336" y="2074744"/>
                  <a:ext cx="174492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F5D3381-2E45-BB5B-1605-4EFC32EEC139}"/>
                    </a:ext>
                  </a:extLst>
                </p14:cNvPr>
                <p14:cNvContentPartPr/>
                <p14:nvPr/>
              </p14:nvContentPartPr>
              <p14:xfrm>
                <a:off x="1796543" y="2100304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F5D3381-2E45-BB5B-1605-4EFC32EEC1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60543" y="206430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4DEF0EF-B6F1-3090-0493-E424ABDF69D1}"/>
                  </a:ext>
                </a:extLst>
              </p14:cNvPr>
              <p14:cNvContentPartPr/>
              <p14:nvPr/>
            </p14:nvContentPartPr>
            <p14:xfrm>
              <a:off x="8048303" y="5334904"/>
              <a:ext cx="191160" cy="1296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4DEF0EF-B6F1-3090-0493-E424ABDF69D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012663" y="5298904"/>
                <a:ext cx="26280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256A586-FA24-600C-3DB6-9D79A7FEDABB}"/>
              </a:ext>
            </a:extLst>
          </p:cNvPr>
          <p:cNvGrpSpPr/>
          <p:nvPr/>
        </p:nvGrpSpPr>
        <p:grpSpPr>
          <a:xfrm>
            <a:off x="9778823" y="5524624"/>
            <a:ext cx="242640" cy="1080"/>
            <a:chOff x="9778823" y="5524624"/>
            <a:chExt cx="24264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54C0BD-D4C2-6F49-FE82-FB3F6D97D683}"/>
                    </a:ext>
                  </a:extLst>
                </p14:cNvPr>
                <p14:cNvContentPartPr/>
                <p14:nvPr/>
              </p14:nvContentPartPr>
              <p14:xfrm>
                <a:off x="9778823" y="5524984"/>
                <a:ext cx="36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54C0BD-D4C2-6F49-FE82-FB3F6D97D68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42823" y="548898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0113424-FDC0-C77E-F79D-E6EEFFF4CDA0}"/>
                    </a:ext>
                  </a:extLst>
                </p14:cNvPr>
                <p14:cNvContentPartPr/>
                <p14:nvPr/>
              </p14:nvContentPartPr>
              <p14:xfrm>
                <a:off x="9778823" y="5524624"/>
                <a:ext cx="242640" cy="1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0113424-FDC0-C77E-F79D-E6EEFFF4CDA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42823" y="5488984"/>
                  <a:ext cx="31428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2704CEF-A820-A6C7-050D-8CB68679A131}"/>
                  </a:ext>
                </a:extLst>
              </p14:cNvPr>
              <p14:cNvContentPartPr/>
              <p14:nvPr/>
            </p14:nvContentPartPr>
            <p14:xfrm>
              <a:off x="3114503" y="1603144"/>
              <a:ext cx="23400" cy="4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2704CEF-A820-A6C7-050D-8CB68679A13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078503" y="1567144"/>
                <a:ext cx="95040" cy="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804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04" y="1006302"/>
            <a:ext cx="4696480" cy="19624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4" y="3178954"/>
            <a:ext cx="5417444" cy="353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9714" y="334409"/>
            <a:ext cx="3245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Linear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98764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6" y="185057"/>
            <a:ext cx="3245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Linear Transformation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64" y="877477"/>
            <a:ext cx="5096586" cy="20100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64" y="3673900"/>
            <a:ext cx="5697175" cy="23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0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6" y="185057"/>
            <a:ext cx="3245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Linear Transformation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06" y="810221"/>
            <a:ext cx="4227380" cy="11115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5" y="2307636"/>
            <a:ext cx="6731977" cy="43217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45633" y="5117850"/>
            <a:ext cx="48286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Key </a:t>
            </a:r>
            <a:r>
              <a:rPr lang="en-US" sz="1400" dirty="0" err="1"/>
              <a:t>takeways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Matrices transform coordinates of points in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graphics, robotics, ML — scaling, rotating, and transforming data or images = matrix multiplication.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you rotate or zoom an image → matrix multiplication is happening!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D2D271-0A26-685F-A8B9-701D8ACB5AB1}"/>
                  </a:ext>
                </a:extLst>
              </p14:cNvPr>
              <p14:cNvContentPartPr/>
              <p14:nvPr/>
            </p14:nvContentPartPr>
            <p14:xfrm>
              <a:off x="2826143" y="1169344"/>
              <a:ext cx="16560" cy="23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D2D271-0A26-685F-A8B9-701D8ACB5A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08503" y="1151344"/>
                <a:ext cx="522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D4733F-E614-AB03-5478-B4279AE6FBEF}"/>
                  </a:ext>
                </a:extLst>
              </p14:cNvPr>
              <p14:cNvContentPartPr/>
              <p14:nvPr/>
            </p14:nvContentPartPr>
            <p14:xfrm>
              <a:off x="4791023" y="1694584"/>
              <a:ext cx="11160" cy="15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D4733F-E614-AB03-5478-B4279AE6FBE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73383" y="1676944"/>
                <a:ext cx="468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B47085B-5FDA-FF1A-5E0B-56F492E62C78}"/>
                  </a:ext>
                </a:extLst>
              </p14:cNvPr>
              <p14:cNvContentPartPr/>
              <p14:nvPr/>
            </p14:nvContentPartPr>
            <p14:xfrm>
              <a:off x="1940543" y="2752624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B47085B-5FDA-FF1A-5E0B-56F492E62C7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04543" y="271662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3715162-E795-72D1-23C2-4AB5AD6E9336}"/>
                  </a:ext>
                </a:extLst>
              </p14:cNvPr>
              <p14:cNvContentPartPr/>
              <p14:nvPr/>
            </p14:nvContentPartPr>
            <p14:xfrm>
              <a:off x="9071063" y="6012424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3715162-E795-72D1-23C2-4AB5AD6E933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35063" y="5976424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157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2142" y="559591"/>
            <a:ext cx="1132245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Representing an image as a matrix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have a grayscale image: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[255,  0,   0],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[ 0,  255,  0],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[ 0,   0, 255]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value represents brightness of a pixel (0=black, 255=white).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Applying a matrix operation — Blurring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apply a simple average blur filter (kernel):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[1/9, 1/9, 1/9],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[1/9, 1/9, 1/9],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[1/9, 1/9, 1/9]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The filtered pixel at the center = matrix multiplication (convolution) of filter and the 3×3 patch of the image.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This is just matrix multiplication + addition!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504" y="54822"/>
            <a:ext cx="5368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Image as matrix &amp; applying a filter (see 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77" y="1027353"/>
            <a:ext cx="5749355" cy="323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95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1258" y="358953"/>
            <a:ext cx="117783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In Natural Language Processing (NLP), we need to represent words numerically so machines can understand them.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like Word2Vec,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GloVe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fastText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represent each word as a vector — typically 50, 100, or 300-dimensional.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with similar meanings have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(vectors) that point in similar directions → we can compute their similarity using matrix operations (like dot product or cosine similarity).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982057"/>
              </p:ext>
            </p:extLst>
          </p:nvPr>
        </p:nvGraphicFramePr>
        <p:xfrm>
          <a:off x="304800" y="3237119"/>
          <a:ext cx="3276600" cy="1463040"/>
        </p:xfrm>
        <a:graphic>
          <a:graphicData uri="http://schemas.openxmlformats.org/drawingml/2006/table">
            <a:tbl>
              <a:tblPr/>
              <a:tblGrid>
                <a:gridCol w="874349">
                  <a:extLst>
                    <a:ext uri="{9D8B030D-6E8A-4147-A177-3AD203B41FA5}">
                      <a16:colId xmlns:a16="http://schemas.microsoft.com/office/drawing/2014/main" val="2266238694"/>
                    </a:ext>
                  </a:extLst>
                </a:gridCol>
                <a:gridCol w="2402251">
                  <a:extLst>
                    <a:ext uri="{9D8B030D-6E8A-4147-A177-3AD203B41FA5}">
                      <a16:colId xmlns:a16="http://schemas.microsoft.com/office/drawing/2014/main" val="2083374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Embedding (vector)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128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[0.8, 0.5, 0.9]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277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[0.9, 0.6, 0.8]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653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[0.1, 0.2, 0.0]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13753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4174" y="2158777"/>
            <a:ext cx="49312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Word 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vectors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our embedding space is just 3D (for easy illustration):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947504"/>
            <a:ext cx="4481891" cy="16687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17772" y="2191435"/>
            <a:ext cx="5932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performing computation,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king &amp; queen are semantically similar → cosine similarity ≈ 1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king &amp; apple are unrelated → low cosine similarity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078" y="4513277"/>
            <a:ext cx="4939387" cy="1876462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63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3734-4E9D-7B1D-675B-86030662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A2D0A5-ED60-32B6-E761-462459C0A0DD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33EA0BE-ECE8-32E3-E2A8-F21C117A7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2" y="1554480"/>
            <a:ext cx="4830155" cy="34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83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8929"/>
            <a:ext cx="10515600" cy="665905"/>
          </a:xfrm>
        </p:spPr>
        <p:txBody>
          <a:bodyPr>
            <a:normAutofit/>
          </a:bodyPr>
          <a:lstStyle/>
          <a:p>
            <a:r>
              <a:rPr lang="en-US" dirty="0"/>
              <a:t>Explain how to find determinant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62730" y="2572567"/>
            <a:ext cx="34646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np.array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([[2, 1],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[3, 5]])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det_A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2*5 - 1*3 = 7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np.array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([[2, 1, 0],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[0, 1, -1],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[0, 2, 4]])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det_A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12</a:t>
            </a:r>
          </a:p>
        </p:txBody>
      </p:sp>
    </p:spTree>
    <p:extLst>
      <p:ext uri="{BB962C8B-B14F-4D97-AF65-F5344CB8AC3E}">
        <p14:creationId xmlns:p14="http://schemas.microsoft.com/office/powerpoint/2010/main" val="4169426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78E9-22A0-AD7C-29FD-CBEA66CD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10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1848</TotalTime>
  <Words>693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ML Vector-Matrix</vt:lpstr>
      <vt:lpstr>PowerPoint Presentation</vt:lpstr>
      <vt:lpstr>PowerPoint Presentation</vt:lpstr>
      <vt:lpstr>Where matrix appear in ML / AI?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2026-02-21T18:26:04Z</dcterms:modified>
</cp:coreProperties>
</file>