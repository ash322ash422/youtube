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71" r:id="rId2"/>
    <p:sldId id="367" r:id="rId3"/>
    <p:sldId id="272" r:id="rId4"/>
    <p:sldId id="273" r:id="rId5"/>
    <p:sldId id="364" r:id="rId6"/>
    <p:sldId id="359" r:id="rId7"/>
    <p:sldId id="360" r:id="rId8"/>
    <p:sldId id="361" r:id="rId9"/>
    <p:sldId id="363" r:id="rId10"/>
    <p:sldId id="366" r:id="rId11"/>
    <p:sldId id="29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2975BD-8EB0-6B44-8280-F353B1CB14A3}"/>
                  </a:ext>
                </a:extLst>
              </p:cNvPr>
              <p:cNvSpPr txBox="1"/>
              <p:nvPr/>
            </p:nvSpPr>
            <p:spPr>
              <a:xfrm>
                <a:off x="347472" y="274749"/>
                <a:ext cx="11347704" cy="65892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Vector addition:</a:t>
                </a:r>
              </a:p>
              <a:p>
                <a:pPr marL="0" indent="0">
                  <a:buNone/>
                </a:pPr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sz="2400" i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2, 3, </m:t>
                          </m:r>
                          <m:r>
                            <a:rPr lang="en-US" sz="2400" b="0" i="1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sz="2400" i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3, 2, 5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(2+3, 3+2, 6+5) = (5, 5, 11)</a:t>
                </a:r>
              </a:p>
              <a:p>
                <a:pPr marL="0" indent="0">
                  <a:buNone/>
                </a:pPr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Example: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1)          basket1           +         basket2             =     </a:t>
                </a:r>
                <a:r>
                  <a:rPr lang="en-US" sz="240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basket_total</a:t>
                </a: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(2 apple, 4 banana, 1 Kiwi) + (3 apple, 2 banana, 4 Kiwi) = (5 apple, 6 banana, 5 Kiwi)</a:t>
                </a:r>
              </a:p>
              <a:p>
                <a:pPr marL="342900" indent="-342900">
                  <a:buFont typeface="Symbol" panose="05050102010706020507" pitchFamily="18" charset="2"/>
                  <a:buChar char="Þ"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(2,4,1)                      +            (3,2,4)                 =          (5, 6, 5)</a:t>
                </a:r>
              </a:p>
              <a:p>
                <a:pPr marL="342900" indent="-342900">
                  <a:buFont typeface="Symbol" panose="05050102010706020507" pitchFamily="18" charset="2"/>
                  <a:buChar char="Þ"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Condition: The size of vectors should be same</a:t>
                </a:r>
              </a:p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Example: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sz="2400" i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2, 3, </m:t>
                          </m:r>
                          <m: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sz="2400" i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3, 2, 5</m:t>
                          </m:r>
                          <m:r>
                            <a:rPr lang="en-US" sz="2400" b="0" i="1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7, 8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NOT possible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82975BD-8EB0-6B44-8280-F353B1CB1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472" y="274749"/>
                <a:ext cx="11347704" cy="6589240"/>
              </a:xfrm>
              <a:prstGeom prst="rect">
                <a:avLst/>
              </a:prstGeom>
              <a:blipFill>
                <a:blip r:embed="rId2"/>
                <a:stretch>
                  <a:fillRect l="-859" t="-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5FB18984-6BC8-FC2D-CDF2-56600650C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9499" y="405410"/>
            <a:ext cx="2543530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962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E4804-B009-A5A3-267C-03DD32A6B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E1FEED-225F-BE1B-7909-CBD6134F1056}"/>
                  </a:ext>
                </a:extLst>
              </p:cNvPr>
              <p:cNvSpPr txBox="1"/>
              <p:nvPr/>
            </p:nvSpPr>
            <p:spPr>
              <a:xfrm>
                <a:off x="347472" y="274749"/>
                <a:ext cx="11347704" cy="3156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Vector subtraction:</a:t>
                </a:r>
              </a:p>
              <a:p>
                <a:pPr marL="0" indent="0">
                  <a:buNone/>
                </a:pPr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sz="2400" i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2, 3, </m:t>
                          </m:r>
                          <m:r>
                            <a:rPr lang="en-US" sz="2400" b="0" i="1" dirty="0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sz="2400" i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3, 2, 5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-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(2 - 3, 3 - 2, 6 - 5) = (-1, 1, 1)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Condition: The size of vectors should be same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E1FEED-225F-BE1B-7909-CBD6134F10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472" y="274749"/>
                <a:ext cx="11347704" cy="3156120"/>
              </a:xfrm>
              <a:prstGeom prst="rect">
                <a:avLst/>
              </a:prstGeom>
              <a:blipFill>
                <a:blip r:embed="rId2"/>
                <a:stretch>
                  <a:fillRect l="-806" t="-1544" b="-3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BB2F1B3-F13B-A415-F954-DA580035A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626" y="1454469"/>
            <a:ext cx="4848902" cy="270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694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163B8-DDF8-6326-A976-A62A16587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9A2296-6879-47E8-A20B-7C88A7EDB611}"/>
                  </a:ext>
                </a:extLst>
              </p:cNvPr>
              <p:cNvSpPr txBox="1"/>
              <p:nvPr/>
            </p:nvSpPr>
            <p:spPr>
              <a:xfrm>
                <a:off x="283464" y="422624"/>
                <a:ext cx="5294376" cy="5632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Scalar multiplication: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Scalar x vector: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(2, 4, 7), then</a:t>
                </a: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b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5 x (2, 4, 7) 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(5x2, 5x4, 5x7)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(10, 20, 35)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Example: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basket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(2 apple, 4 banana) 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 x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basket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5 x (2 apple, 4 banana) 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5 x (2, 4) 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(10, 20)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(10 apple, 20 banana)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9A2296-6879-47E8-A20B-7C88A7EDB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64" y="422624"/>
                <a:ext cx="5294376" cy="5632311"/>
              </a:xfrm>
              <a:prstGeom prst="rect">
                <a:avLst/>
              </a:prstGeom>
              <a:blipFill>
                <a:blip r:embed="rId2"/>
                <a:stretch>
                  <a:fillRect l="-1843" t="-866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2C3B3798-95A9-9496-4667-852A576D8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210289"/>
            <a:ext cx="2372056" cy="17337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D95D80-9E29-91FE-BBD4-26CC34BD70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431" y="1210289"/>
            <a:ext cx="2915057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321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1823F-A260-44A1-0095-0C3B6D752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32784BC-FB0B-34D0-0D06-675AB549B054}"/>
              </a:ext>
            </a:extLst>
          </p:cNvPr>
          <p:cNvSpPr txBox="1"/>
          <p:nvPr/>
        </p:nvSpPr>
        <p:spPr>
          <a:xfrm>
            <a:off x="73152" y="500902"/>
            <a:ext cx="885139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Dot product of vectors: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2 vector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b: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dot product is 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Condition for dot product: The size of 2 vectors should be same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8968141-953E-BFF5-C2A8-A41E1C2B4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176" y="1650425"/>
            <a:ext cx="2363671" cy="10276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BC8DF12-7971-8BC3-856D-8E94A86D6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5176" y="3020257"/>
            <a:ext cx="3312557" cy="52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934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A3247-4ACD-57B1-38BE-C4167DDCA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1094F4D-9763-27F7-D24D-7479834828EE}"/>
              </a:ext>
            </a:extLst>
          </p:cNvPr>
          <p:cNvSpPr txBox="1"/>
          <p:nvPr/>
        </p:nvSpPr>
        <p:spPr>
          <a:xfrm>
            <a:off x="73152" y="500902"/>
            <a:ext cx="518464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1: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(3, 5, 1)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(2, 4, -7)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Then,</a:t>
            </a:r>
          </a:p>
          <a:p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a.b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( 3, 5, 1 ) . ( 2, 4, -7 )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3x2  +  5x4 + 1x-7 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 6 +  20 -7  = 19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Example2: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(3, 5, 1)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(2, 4, -7, 6)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Dot product not possible.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F6D7AC-EFD7-9013-7A5C-6968E8A15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9160" y="653729"/>
            <a:ext cx="2363671" cy="10276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FC460D-F8E4-B3AA-28A6-532E455BD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160" y="2214619"/>
            <a:ext cx="3312557" cy="52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5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847D6-8453-2ABE-A856-FD97D113E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81B88B-8C9C-972C-9E6F-2A2FF9666583}"/>
              </a:ext>
            </a:extLst>
          </p:cNvPr>
          <p:cNvSpPr txBox="1"/>
          <p:nvPr/>
        </p:nvSpPr>
        <p:spPr>
          <a:xfrm>
            <a:off x="73152" y="500902"/>
            <a:ext cx="7772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Geometric Meaning (Deep Intuition)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dot product measures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aligned two vectors are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384FDB-DA8C-7788-6D44-EC531DD07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9160" y="653729"/>
            <a:ext cx="2363671" cy="10276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03FC22B-00E0-1C0F-8789-0801C71A8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160" y="2214619"/>
            <a:ext cx="3312557" cy="5248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98A09B-AA17-7B5D-E7C6-142D221C4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" y="1991034"/>
            <a:ext cx="6344984" cy="22541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3A0413-5D58-D1BE-2CD5-B17C955CB3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1937" y="3118103"/>
            <a:ext cx="3833501" cy="3690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046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250AA-5214-95D5-EB2C-1887C987A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0A9DCC1-7915-9B1F-CC24-0D1F519DD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9160" y="1028633"/>
            <a:ext cx="2363671" cy="10276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60FA56-BC07-7B88-8129-6BD4957C1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160" y="2589523"/>
            <a:ext cx="3312557" cy="52487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18D672F-5AD8-C1DC-FA92-46ADA0226E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226301"/>
              </p:ext>
            </p:extLst>
          </p:nvPr>
        </p:nvGraphicFramePr>
        <p:xfrm>
          <a:off x="0" y="587511"/>
          <a:ext cx="8068056" cy="1828800"/>
        </p:xfrm>
        <a:graphic>
          <a:graphicData uri="http://schemas.openxmlformats.org/drawingml/2006/table">
            <a:tbl>
              <a:tblPr/>
              <a:tblGrid>
                <a:gridCol w="3194304">
                  <a:extLst>
                    <a:ext uri="{9D8B030D-6E8A-4147-A177-3AD203B41FA5}">
                      <a16:colId xmlns:a16="http://schemas.microsoft.com/office/drawing/2014/main" val="2683252356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6902943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Angle Between Vectors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Dot Product 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4161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0°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Very similar direction (large positive)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750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90°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Unrelated (0)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751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180°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Opposite meaning (negative)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68700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3D386F0-ADC1-23AE-288F-92148079D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26" y="3438143"/>
            <a:ext cx="2682993" cy="20983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E2F04F-F187-B79C-1D69-266DEA1C23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1224" y="3295854"/>
            <a:ext cx="2452811" cy="22406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F6F782-6B3C-8901-F8F6-F0A9DA408F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3907" y="3547022"/>
            <a:ext cx="3238924" cy="187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003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EAC37-94B9-F6FE-FF6A-F154E50B9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990456-B6B3-AB23-F604-5E1A113E2967}"/>
              </a:ext>
            </a:extLst>
          </p:cNvPr>
          <p:cNvSpPr txBox="1"/>
          <p:nvPr/>
        </p:nvSpPr>
        <p:spPr>
          <a:xfrm>
            <a:off x="118872" y="322040"/>
            <a:ext cx="696772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Dot Product in Machine Learning (Core Idea)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ML: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One vector =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(features)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Another vector =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parameters (weights)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Dot product =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decision score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[size of rooms, number of bedrooms, age of house]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[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size_weight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bedroom_weight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age_weight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]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Prediction on price =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w⋅x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BCCBB9-F552-AA6C-09A8-420F3A741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714" y="4162520"/>
            <a:ext cx="6020955" cy="2586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944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17968-282E-1F44-387B-9E58C4DAD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0454AF-343F-A702-2CFE-16C3176376C9}"/>
              </a:ext>
            </a:extLst>
          </p:cNvPr>
          <p:cNvSpPr txBox="1"/>
          <p:nvPr/>
        </p:nvSpPr>
        <p:spPr>
          <a:xfrm>
            <a:off x="118872" y="322040"/>
            <a:ext cx="6967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Dot Product to find similarity between 2 vectors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508EAF-8567-6C2A-36A7-C396263EC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184" y="1531933"/>
            <a:ext cx="8061838" cy="126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065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A4533-A9E4-C7FF-CA19-D57FAD6AD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84810E0-9A37-7DD6-9620-C74ED60E8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4554"/>
            <a:ext cx="10783824" cy="18851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F4AC8F7-44A3-27EE-8900-FDABB29EC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2330579"/>
            <a:ext cx="7028780" cy="429103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B6C0FA0-C5A6-4BF7-171F-1D4455C08EE4}"/>
              </a:ext>
            </a:extLst>
          </p:cNvPr>
          <p:cNvSpPr txBox="1"/>
          <p:nvPr/>
        </p:nvSpPr>
        <p:spPr>
          <a:xfrm>
            <a:off x="7498080" y="3941064"/>
            <a:ext cx="49773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Conclusion:</a:t>
            </a:r>
          </a:p>
          <a:p>
            <a:pPr marL="285750" indent="-285750">
              <a:buFontTx/>
              <a:buChar char="-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doc_a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doc_b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are similar.</a:t>
            </a:r>
          </a:p>
          <a:p>
            <a:pPr marL="285750" indent="-285750">
              <a:buFontTx/>
              <a:buChar char="-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doc_a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doc_c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are not similar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3191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EDE88-84DC-5A0F-3D5B-9DBB833BD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7259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2033</TotalTime>
  <Words>508</Words>
  <Application>Microsoft Office PowerPoint</Application>
  <PresentationFormat>Widescreen</PresentationFormat>
  <Paragraphs>92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221</cp:revision>
  <dcterms:created xsi:type="dcterms:W3CDTF">2025-09-22T02:44:38Z</dcterms:created>
  <dcterms:modified xsi:type="dcterms:W3CDTF">2026-02-22T04:55:26Z</dcterms:modified>
</cp:coreProperties>
</file>