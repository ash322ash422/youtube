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handoutMasterIdLst>
    <p:handoutMasterId r:id="rId13"/>
  </p:handoutMasterIdLst>
  <p:sldIdLst>
    <p:sldId id="271" r:id="rId2"/>
    <p:sldId id="272" r:id="rId3"/>
    <p:sldId id="273" r:id="rId4"/>
    <p:sldId id="364" r:id="rId5"/>
    <p:sldId id="359" r:id="rId6"/>
    <p:sldId id="360" r:id="rId7"/>
    <p:sldId id="361" r:id="rId8"/>
    <p:sldId id="363" r:id="rId9"/>
    <p:sldId id="366" r:id="rId10"/>
    <p:sldId id="298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054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ACA3A45-07AA-881E-EBAC-FAE1FFF9B3B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2C2385-62BD-1B9C-A617-554DDB21E0F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AEECA8-D063-486F-AE31-5020270C1449}" type="datetimeFigureOut">
              <a:rPr lang="en-US" smtClean="0"/>
              <a:t>2/22/2026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328A6F-7933-1F9C-E9F6-B4A61026FBA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F9A57F-3A38-6EDA-B76D-A3DB4F6978A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93F6CE-D1D9-4B7B-9040-C7CAC074A6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61335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233BD1-3BA8-448D-9D08-7846095EA517}" type="datetimeFigureOut">
              <a:rPr lang="en-US" smtClean="0"/>
              <a:t>2/22/2026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63499C-1FAC-4F66-96F8-6DA2CC28B7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753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EB0F26-247A-F2E0-8FBA-6EA7974D69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94F308-CEE8-92BC-D91A-4212DEA015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2794D3-11DF-A675-8D28-EC65EF275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2/22/2026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53FDAF-B83A-AE0A-B811-B7195D37F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9530BD-9515-D107-426C-B72742CBF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2826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E7E77-8771-0BA4-B1D5-7F1DE0138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43F30B-85C4-D934-2F30-179E3FCE94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EF7AF-5CE7-4387-31F9-79D356206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2/22/2026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FCCC03-E434-4684-B55E-3F2D399169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1F3B05-B983-07A3-4B58-9D2E18438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0364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23C21-D6A5-2D17-9BFA-70B3353D6A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2D89B8-191B-6AAD-5D5E-32B3572657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CC528A-1563-9376-E089-4DA80AD11D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2/22/2026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9A01D-6FDA-C269-FF95-3FDB205C8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980A21-61AC-4B39-D886-3A327DB73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1140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03C29-6DED-2A1F-5B4D-128B63652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494ECB-0FCA-1AD0-F19A-27A4C16DC0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7402C2-E657-5A54-9627-8C9CBCBBE0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01FADA-AE3E-B30F-6353-BF0478CF0E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2/22/2026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16B517-96D7-6416-0C24-B14942ADD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46F179-BF2F-393A-1AA6-C893B7B9F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8523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50483-A0C8-BF5B-61DE-39BC6FF9C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6DB55B-C040-F211-BC81-97628EA484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93EEAE-1CB3-AAC8-5818-D61E389EF1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ACE50F0-1141-D645-3892-2DA29633A3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2E976C-52C7-C22D-28F7-B21E29518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97D00B-0B76-5C50-686B-A01396FCD6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2/22/2026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842B8D-3B74-4B67-9462-6D2C7ED9A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992D4BE-CE8C-0250-FE7D-1F370E25F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750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DBE28-2732-66A2-163C-433854615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270F3D6-B4BC-015F-96FA-1720B040CC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2/22/2026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168A87-13A5-0A5A-4D74-C75E277755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D6D7CB-BD93-54BE-CB47-7FBA06B18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650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4114B-4550-9F52-0EF5-D1E9CF2FD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2/22/2026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F3136E-0C79-F4F5-F24E-D5FF71CDB5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2E2157-F670-A339-0CB7-7399568D5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5014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02A98-8738-1E16-A16E-D8858EEA76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FC67E5-1169-257D-D9E7-C7B952C213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B2CF6C-0F85-566A-86BC-CBFEB17E75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64F0FC-ECB8-638F-A224-98FFA8270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2/22/2026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095B89-4DC8-435E-3545-6187AD3E00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1B68CF-9592-FB7C-B517-0CC962C8B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3007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E2BC2-F728-2BA5-C848-31FA3458AD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57B909-12C3-703B-57E9-008076312F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AE4D7A-BC41-33D0-D36D-08BB5C2C59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17FB83-437D-9293-0B99-2DC89A047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2/22/2026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DF5674-4DC1-3171-8FEB-C280686D41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D431F6-5490-78BA-7028-0BD08BF1A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8603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002A-A21A-4F99-1BCE-F61C85D7B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E85D03-9A7F-4A9E-379E-2DEA86D21F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DEEFB4-95FB-FEDD-75E7-143E7ED29C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2/22/2026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BCE0D7-1712-FF0C-D965-BFD5AE1610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2632A1-4243-F65B-A2B0-3F2142C34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0797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293F13-2480-AB35-1A68-57A54CE6CD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DA286C-2521-2961-CABA-5684DF43FB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D5FF44-F63B-872A-DC8D-A873790A64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2/22/2026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653A11-7793-38C6-0506-A6FBE9A02A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0962C0-F018-7629-445C-DDCA8AE14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9988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3CEE1C2-DF65-6CAD-D1EF-2245084043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AFB6A6-8766-C849-1846-0F38750241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55176B-E136-1615-D0B5-186783ACB8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83FAE1-13DE-4511-8C1B-C8AFB720664C}" type="datetimeFigureOut">
              <a:rPr lang="en-US" smtClean="0"/>
              <a:t>2/22/2026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5AAAF6-4731-DB91-AB26-A07CEF1B9D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14165E-BEE7-F086-BE90-50642610F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F3932AB-6107-98C9-CEDA-32A7DF597298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212435" y="136524"/>
            <a:ext cx="1330037" cy="1025209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CA22C5A-FA6D-B699-950E-8D249A969331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10855909" y="185738"/>
            <a:ext cx="1123656" cy="866128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4999731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6">
              <a:lumMod val="60000"/>
              <a:lumOff val="40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82975BD-8EB0-6B44-8280-F353B1CB14A3}"/>
                  </a:ext>
                </a:extLst>
              </p:cNvPr>
              <p:cNvSpPr txBox="1"/>
              <p:nvPr/>
            </p:nvSpPr>
            <p:spPr>
              <a:xfrm>
                <a:off x="347472" y="274749"/>
                <a:ext cx="11347704" cy="658924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:r>
                  <a:rPr lang="en-US" sz="2400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Vector addition:</a:t>
                </a:r>
              </a:p>
              <a:p>
                <a:pPr marL="0" indent="0">
                  <a:buNone/>
                </a:pPr>
                <a:endParaRPr lang="en-US" sz="2400" b="1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sz="2400" i="1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400" i="1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acc>
                      <m:r>
                        <a:rPr lang="en-US" sz="2400" i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400" i="1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2, 3, </m:t>
                          </m:r>
                          <m:r>
                            <a:rPr lang="en-US" sz="2400" b="0" i="1" dirty="0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6</m:t>
                          </m:r>
                        </m:e>
                      </m:d>
                    </m:oMath>
                  </m:oMathPara>
                </a14:m>
                <a:endParaRPr lang="en-US" sz="24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sz="2400" i="1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400" i="1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acc>
                      <m:r>
                        <a:rPr lang="en-US" sz="2400" i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400" i="1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3, 2, 5</m:t>
                          </m:r>
                        </m:e>
                      </m:d>
                    </m:oMath>
                  </m:oMathPara>
                </a14:m>
                <a:endParaRPr lang="en-US" sz="24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sz="24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Here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sz="2400" i="1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i="1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acc>
                  </m:oMath>
                </a14:m>
                <a:r>
                  <a:rPr lang="en-US" sz="24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+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sz="2400" i="1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b="0" i="1" dirty="0" smtClean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acc>
                  </m:oMath>
                </a14:m>
                <a:r>
                  <a:rPr lang="en-US" sz="24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= (2+3, 3+2, 6+5) = (5, 5, 11)</a:t>
                </a:r>
              </a:p>
              <a:p>
                <a:pPr marL="0" indent="0">
                  <a:buNone/>
                </a:pPr>
                <a:endParaRPr lang="en-US" sz="2400" b="1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pPr marL="0" indent="0">
                  <a:buNone/>
                </a:pPr>
                <a:r>
                  <a:rPr lang="en-US" sz="2400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Example:</a:t>
                </a:r>
              </a:p>
              <a:p>
                <a:pPr marL="0" indent="0">
                  <a:buNone/>
                </a:pPr>
                <a:r>
                  <a:rPr lang="en-US" sz="24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1)          basket1           +         basket2             =     </a:t>
                </a:r>
                <a:r>
                  <a:rPr lang="en-US" sz="2400" dirty="0" err="1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basket_total</a:t>
                </a:r>
                <a:endParaRPr lang="en-US" sz="24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pPr marL="0" indent="0">
                  <a:buNone/>
                </a:pPr>
                <a:r>
                  <a:rPr lang="en-US" sz="24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(2 apple, 4 banana, 1 Kiwi) + (3 apple, 2 banana, 4 Kiwi) = (5 apple, 6 banana, 5 Kiwi)</a:t>
                </a:r>
              </a:p>
              <a:p>
                <a:pPr marL="342900" indent="-342900">
                  <a:buFont typeface="Symbol" panose="05050102010706020507" pitchFamily="18" charset="2"/>
                  <a:buChar char="Þ"/>
                </a:pPr>
                <a:r>
                  <a:rPr lang="en-US" sz="24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(2,4,1)                      +            (3,2,4)                 =          (5, 6, 5)</a:t>
                </a:r>
              </a:p>
              <a:p>
                <a:pPr marL="342900" indent="-342900">
                  <a:buFont typeface="Symbol" panose="05050102010706020507" pitchFamily="18" charset="2"/>
                  <a:buChar char="Þ"/>
                </a:pPr>
                <a:endParaRPr lang="en-US" sz="24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sz="24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Condition: The size of vectors should be same</a:t>
                </a:r>
              </a:p>
              <a:p>
                <a:r>
                  <a:rPr lang="en-US" sz="2400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Example: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sz="2400" i="1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400" i="1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acc>
                      <m:r>
                        <a:rPr lang="en-US" sz="2400" i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400" i="1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2, 3, </m:t>
                          </m:r>
                          <m:r>
                            <a:rPr lang="en-US" sz="2400" i="1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6</m:t>
                          </m:r>
                        </m:e>
                      </m:d>
                    </m:oMath>
                  </m:oMathPara>
                </a14:m>
                <a:endParaRPr lang="en-US" sz="24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sz="2400" i="1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400" i="1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acc>
                      <m:r>
                        <a:rPr lang="en-US" sz="2400" i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400" i="1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3, 2, 5</m:t>
                          </m:r>
                          <m:r>
                            <a:rPr lang="en-US" sz="2400" b="0" i="1" dirty="0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 7, 8</m:t>
                          </m:r>
                        </m:e>
                      </m:d>
                    </m:oMath>
                  </m:oMathPara>
                </a14:m>
                <a:endParaRPr lang="en-US" sz="24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sz="24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Here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sz="2400" i="1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i="1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acc>
                  </m:oMath>
                </a14:m>
                <a:r>
                  <a:rPr lang="en-US" sz="24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+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sz="2400" i="1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i="1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acc>
                  </m:oMath>
                </a14:m>
                <a:r>
                  <a:rPr lang="en-US" sz="24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= NOT possible</a:t>
                </a:r>
              </a:p>
              <a:p>
                <a:endParaRPr lang="en-US" sz="24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82975BD-8EB0-6B44-8280-F353B1CB14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7472" y="274749"/>
                <a:ext cx="11347704" cy="6589240"/>
              </a:xfrm>
              <a:prstGeom prst="rect">
                <a:avLst/>
              </a:prstGeom>
              <a:blipFill>
                <a:blip r:embed="rId2"/>
                <a:stretch>
                  <a:fillRect l="-859" t="-7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959629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6163B8-DDF8-6326-A976-A62A165872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09A2296-6879-47E8-A20B-7C88A7EDB611}"/>
                  </a:ext>
                </a:extLst>
              </p:cNvPr>
              <p:cNvSpPr txBox="1"/>
              <p:nvPr/>
            </p:nvSpPr>
            <p:spPr>
              <a:xfrm>
                <a:off x="283464" y="422624"/>
                <a:ext cx="5294376" cy="56323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:r>
                  <a:rPr lang="en-US" sz="2400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Scalar multiplication:</a:t>
                </a:r>
              </a:p>
              <a:p>
                <a:pPr marL="0" indent="0">
                  <a:buNone/>
                </a:pPr>
                <a:endParaRPr lang="en-US" sz="24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pPr marL="0" indent="0">
                  <a:buNone/>
                </a:pPr>
                <a:r>
                  <a:rPr lang="en-US" sz="24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Scalar x vector:</a:t>
                </a:r>
              </a:p>
              <a:p>
                <a:r>
                  <a:rPr lang="en-US" sz="24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If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sz="2400" b="1" i="1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b="1" i="1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acc>
                  </m:oMath>
                </a14:m>
                <a:r>
                  <a:rPr lang="en-US" sz="24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= (2, 4, 7), then</a:t>
                </a:r>
              </a:p>
              <a:p>
                <a:pPr marL="0" indent="0">
                  <a:buNone/>
                </a:pPr>
                <a:r>
                  <a:rPr lang="en-US" sz="2400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5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sz="2400" b="1" dirty="0" smtClean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b="1" i="1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acc>
                  </m:oMath>
                </a14:m>
                <a:endParaRPr lang="en-US" sz="2400" b="1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sz="24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= 5 x (2, 4, 7) </a:t>
                </a:r>
              </a:p>
              <a:p>
                <a:r>
                  <a:rPr lang="en-US" sz="24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= (5x2, 5x4, 5x7)</a:t>
                </a:r>
              </a:p>
              <a:p>
                <a:r>
                  <a:rPr lang="en-US" sz="24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= (10, 20, 35)</a:t>
                </a:r>
              </a:p>
              <a:p>
                <a:pPr marL="0" indent="0">
                  <a:buNone/>
                </a:pPr>
                <a:endParaRPr lang="en-US" sz="24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sz="24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Example: </a:t>
                </a:r>
                <a:r>
                  <a:rPr lang="en-US" sz="2400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basket</a:t>
                </a:r>
                <a:r>
                  <a:rPr lang="en-US" sz="24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= (2 apple, 4 banana) </a:t>
                </a:r>
              </a:p>
              <a:p>
                <a:pPr marL="0" indent="0">
                  <a:buNone/>
                </a:pPr>
                <a:r>
                  <a:rPr lang="en-US" sz="24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5 x </a:t>
                </a:r>
                <a:r>
                  <a:rPr lang="en-US" sz="2400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basket</a:t>
                </a:r>
              </a:p>
              <a:p>
                <a:pPr marL="0" indent="0">
                  <a:buNone/>
                </a:pPr>
                <a:r>
                  <a:rPr lang="en-US" sz="24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= 5 x (2 apple, 4 banana) </a:t>
                </a:r>
              </a:p>
              <a:p>
                <a:pPr marL="0" indent="0">
                  <a:buNone/>
                </a:pPr>
                <a:r>
                  <a:rPr lang="en-US" sz="24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= 5 x (2, 4) </a:t>
                </a:r>
              </a:p>
              <a:p>
                <a:r>
                  <a:rPr lang="en-US" sz="24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= (10, 20)</a:t>
                </a:r>
              </a:p>
              <a:p>
                <a:r>
                  <a:rPr lang="en-US" sz="24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= (10 apple, 20 banana)</a:t>
                </a: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09A2296-6879-47E8-A20B-7C88A7EDB6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3464" y="422624"/>
                <a:ext cx="5294376" cy="5632311"/>
              </a:xfrm>
              <a:prstGeom prst="rect">
                <a:avLst/>
              </a:prstGeom>
              <a:blipFill>
                <a:blip r:embed="rId2"/>
                <a:stretch>
                  <a:fillRect l="-1843" t="-866" b="-15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2C3B3798-95A9-9496-4667-852A576D8A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7840" y="1210289"/>
            <a:ext cx="2372056" cy="173379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FD95D80-9E29-91FE-BBD4-26CC34BD70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90431" y="1210289"/>
            <a:ext cx="2915057" cy="2114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13215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A1823F-A260-44A1-0095-0C3B6D752A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632784BC-FB0B-34D0-0D06-675AB549B054}"/>
              </a:ext>
            </a:extLst>
          </p:cNvPr>
          <p:cNvSpPr txBox="1"/>
          <p:nvPr/>
        </p:nvSpPr>
        <p:spPr>
          <a:xfrm>
            <a:off x="73152" y="500902"/>
            <a:ext cx="885139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Dot product of vectors:</a:t>
            </a:r>
          </a:p>
          <a:p>
            <a:pPr marL="0" indent="0"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For 2 vector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and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b:</a:t>
            </a:r>
          </a:p>
          <a:p>
            <a:pPr marL="0" indent="0"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dot product is </a:t>
            </a:r>
          </a:p>
          <a:p>
            <a:pPr marL="0" indent="0"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Condition for dot product: The size of 2 vectors should be same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98968141-953E-BFF5-C2A8-A41E1C2B42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5176" y="1650425"/>
            <a:ext cx="2363671" cy="1027684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BC8DF12-7971-8BC3-856D-8E94A86D65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5176" y="3020257"/>
            <a:ext cx="3312557" cy="524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19344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8A3247-4ACD-57B1-38BE-C4167DDCA2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51094F4D-9763-27F7-D24D-7479834828EE}"/>
              </a:ext>
            </a:extLst>
          </p:cNvPr>
          <p:cNvSpPr txBox="1"/>
          <p:nvPr/>
        </p:nvSpPr>
        <p:spPr>
          <a:xfrm>
            <a:off x="73152" y="500902"/>
            <a:ext cx="5184648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 1: </a:t>
            </a:r>
          </a:p>
          <a:p>
            <a:pPr marL="0" indent="0"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= (3, 5, 1)</a:t>
            </a:r>
          </a:p>
          <a:p>
            <a:pPr marL="0" indent="0"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= (2, 4, -7)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Then,</a:t>
            </a:r>
          </a:p>
          <a:p>
            <a:r>
              <a:rPr lang="en-US" sz="2400" b="1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a.b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= ( 3, 5, 1 ) . ( 2, 4, -7 )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= 3x2  +  5x4 + 1x-7  </a:t>
            </a:r>
          </a:p>
          <a:p>
            <a:r>
              <a:rPr lang="en-US" sz="2400">
                <a:solidFill>
                  <a:schemeClr val="accent6">
                    <a:lumMod val="60000"/>
                    <a:lumOff val="40000"/>
                  </a:schemeClr>
                </a:solidFill>
              </a:rPr>
              <a:t>=  6 +  20 -7  = 19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Example2: 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= (3, 5, 1)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= (2, 4, -7, 6)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Dot product not possible.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5F6D7AC-EFD7-9013-7A5C-6968E8A157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19160" y="653729"/>
            <a:ext cx="2363671" cy="102768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0FC460D-F8E4-B3AA-28A6-532E455BDD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9160" y="2214619"/>
            <a:ext cx="3312557" cy="524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9552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3847D6-8453-2ABE-A856-FD97D113E2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0481B88B-8C9C-972C-9E6F-2A2FF9666583}"/>
              </a:ext>
            </a:extLst>
          </p:cNvPr>
          <p:cNvSpPr txBox="1"/>
          <p:nvPr/>
        </p:nvSpPr>
        <p:spPr>
          <a:xfrm>
            <a:off x="73152" y="500902"/>
            <a:ext cx="77724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Geometric Meaning (Deep Intuition)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dot product measures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how aligned two vectors are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2384FDB-DA8C-7788-6D44-EC531DD074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19160" y="653729"/>
            <a:ext cx="2363671" cy="102768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03FC22B-00E0-1C0F-8789-0801C71A8E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9160" y="2214619"/>
            <a:ext cx="3312557" cy="52487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F98A09B-AA17-7B5D-E7C6-142D221C4A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" y="1991034"/>
            <a:ext cx="6344984" cy="225413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03A0413-5D58-D1BE-2CD5-B17C955CB30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41937" y="3118103"/>
            <a:ext cx="3833501" cy="36901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70469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C250AA-5214-95D5-EB2C-1887C987AA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70A9DCC1-7915-9B1F-CC24-0D1F519DD4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19160" y="1028633"/>
            <a:ext cx="2363671" cy="102768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F60FA56-BC07-7B88-8129-6BD4957C14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9160" y="2589523"/>
            <a:ext cx="3312557" cy="524877"/>
          </a:xfrm>
          <a:prstGeom prst="rect">
            <a:avLst/>
          </a:prstGeom>
        </p:spPr>
      </p:pic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B18D672F-5AD8-C1DC-FA92-46ADA0226E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3226301"/>
              </p:ext>
            </p:extLst>
          </p:nvPr>
        </p:nvGraphicFramePr>
        <p:xfrm>
          <a:off x="0" y="587511"/>
          <a:ext cx="8068056" cy="1828800"/>
        </p:xfrm>
        <a:graphic>
          <a:graphicData uri="http://schemas.openxmlformats.org/drawingml/2006/table">
            <a:tbl>
              <a:tblPr/>
              <a:tblGrid>
                <a:gridCol w="3194304">
                  <a:extLst>
                    <a:ext uri="{9D8B030D-6E8A-4147-A177-3AD203B41FA5}">
                      <a16:colId xmlns:a16="http://schemas.microsoft.com/office/drawing/2014/main" val="2683252356"/>
                    </a:ext>
                  </a:extLst>
                </a:gridCol>
                <a:gridCol w="4873752">
                  <a:extLst>
                    <a:ext uri="{9D8B030D-6E8A-4147-A177-3AD203B41FA5}">
                      <a16:colId xmlns:a16="http://schemas.microsoft.com/office/drawing/2014/main" val="269029431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 u="sng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Angle Between Vectors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 u="sng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Dot Product Meaning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41613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0°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Very similar direction (large positive)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675098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90°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Unrelated (0)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07518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180°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Opposite meaning (negative)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34687006"/>
                  </a:ext>
                </a:extLst>
              </a:tr>
            </a:tbl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53D386F0-ADC1-23AE-288F-92148079D5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626" y="3438143"/>
            <a:ext cx="2682993" cy="209834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1E2F04F-F187-B79C-1D69-266DEA1C231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81224" y="3295854"/>
            <a:ext cx="2452811" cy="224063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BF6F782-6B3C-8901-F8F6-F0A9DA408FC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43907" y="3547022"/>
            <a:ext cx="3238924" cy="1876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70036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8EAC37-94B9-F6FE-FF6A-F154E50B97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3990456-B6B3-AB23-F604-5E1A113E2967}"/>
              </a:ext>
            </a:extLst>
          </p:cNvPr>
          <p:cNvSpPr txBox="1"/>
          <p:nvPr/>
        </p:nvSpPr>
        <p:spPr>
          <a:xfrm>
            <a:off x="118872" y="322040"/>
            <a:ext cx="6967728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Dot Product in Machine Learning (Core Idea)</a:t>
            </a: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 ML: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One vector =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data (features)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Another vector =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model parameters (weights)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Dot product =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model decision score</a:t>
            </a:r>
          </a:p>
          <a:p>
            <a:pPr>
              <a:buNone/>
            </a:pPr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For example:</a:t>
            </a:r>
          </a:p>
          <a:p>
            <a:pPr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x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= [size of rooms, number of bedrooms, age of house]</a:t>
            </a:r>
          </a:p>
          <a:p>
            <a:pPr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= [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size_weight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, 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bedroom_weight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, 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age_weight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]</a:t>
            </a:r>
          </a:p>
          <a:p>
            <a:pPr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Prediction on price = 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w⋅x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1BCCBB9-F552-AA6C-09A8-420F3A741F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0714" y="4162520"/>
            <a:ext cx="6020955" cy="2586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79446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C17968-282E-1F44-387B-9E58C4DAD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B0454AF-343F-A702-2CFE-16C3176376C9}"/>
              </a:ext>
            </a:extLst>
          </p:cNvPr>
          <p:cNvSpPr txBox="1"/>
          <p:nvPr/>
        </p:nvSpPr>
        <p:spPr>
          <a:xfrm>
            <a:off x="118872" y="322040"/>
            <a:ext cx="696772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Dot Product to find similarity between 2 vectors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7508EAF-8567-6C2A-36A7-C396263EC6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2184" y="1531933"/>
            <a:ext cx="8061838" cy="1267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70651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5A4533-A9E4-C7FF-CA19-D57FAD6AD8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D84810E0-9A37-7DD6-9620-C74ED60E8B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34554"/>
            <a:ext cx="10783824" cy="188512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F4AC8F7-44A3-27EE-8900-FDABB29EC4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" y="2330579"/>
            <a:ext cx="7028780" cy="4291031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6B6C0FA0-C5A6-4BF7-171F-1D4455C08EE4}"/>
              </a:ext>
            </a:extLst>
          </p:cNvPr>
          <p:cNvSpPr txBox="1"/>
          <p:nvPr/>
        </p:nvSpPr>
        <p:spPr>
          <a:xfrm>
            <a:off x="7498080" y="3941064"/>
            <a:ext cx="497738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Conclusion:</a:t>
            </a:r>
          </a:p>
          <a:p>
            <a:pPr marL="285750" indent="-285750">
              <a:buFontTx/>
              <a:buChar char="-"/>
            </a:pP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doc_a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and 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doc_b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are similar.</a:t>
            </a:r>
          </a:p>
          <a:p>
            <a:pPr marL="285750" indent="-285750">
              <a:buFontTx/>
              <a:buChar char="-"/>
            </a:pP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doc_a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and 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doc_c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are not similar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031917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4EDE88-84DC-5A0F-3D5B-9DBB833BD8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272599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What is Statistics</Template>
  <TotalTime>1966</TotalTime>
  <Words>464</Words>
  <Application>Microsoft Office PowerPoint</Application>
  <PresentationFormat>Widescreen</PresentationFormat>
  <Paragraphs>84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Arial</vt:lpstr>
      <vt:lpstr>Calibri</vt:lpstr>
      <vt:lpstr>Calibri Light</vt:lpstr>
      <vt:lpstr>Cambria Math</vt:lpstr>
      <vt:lpstr>Symbol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Ashwani Kumar</dc:creator>
  <cp:lastModifiedBy>Ashwani Kumar</cp:lastModifiedBy>
  <cp:revision>220</cp:revision>
  <dcterms:created xsi:type="dcterms:W3CDTF">2025-09-22T02:44:38Z</dcterms:created>
  <dcterms:modified xsi:type="dcterms:W3CDTF">2026-02-22T03:48:23Z</dcterms:modified>
</cp:coreProperties>
</file>