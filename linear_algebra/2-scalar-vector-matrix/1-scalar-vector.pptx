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4" r:id="rId3"/>
    <p:sldId id="363" r:id="rId4"/>
    <p:sldId id="300" r:id="rId5"/>
    <p:sldId id="299" r:id="rId6"/>
    <p:sldId id="303" r:id="rId7"/>
    <p:sldId id="304" r:id="rId8"/>
    <p:sldId id="305" r:id="rId9"/>
    <p:sldId id="351" r:id="rId10"/>
    <p:sldId id="357" r:id="rId11"/>
    <p:sldId id="307" r:id="rId12"/>
    <p:sldId id="362" r:id="rId13"/>
    <p:sldId id="302" r:id="rId14"/>
    <p:sldId id="306" r:id="rId15"/>
    <p:sldId id="298" r:id="rId16"/>
    <p:sldId id="275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12:59.2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2640 0 0,'0'0'-107'0'0,"33"0"-2010"0"0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14:00.5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2912 0 0,'28'12'994'0'0,"-15"-7"-2598"0"0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4" Type="http://schemas.openxmlformats.org/officeDocument/2006/relationships/customXml" Target="../ink/ink2.xml"/><Relationship Id="rId33" Type="http://schemas.openxmlformats.org/officeDocument/2006/relationships/image" Target="../media/image16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3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F07E-D499-CDDC-3156-AA1062E9C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4599"/>
            <a:ext cx="9144000" cy="995363"/>
          </a:xfrm>
        </p:spPr>
        <p:txBody>
          <a:bodyPr>
            <a:normAutofit/>
          </a:bodyPr>
          <a:lstStyle/>
          <a:p>
            <a:r>
              <a:rPr lang="en-US" dirty="0"/>
              <a:t>Scalar + Vector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2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32BAE-DF75-9808-FD52-AF427C28EC8E}"/>
              </a:ext>
            </a:extLst>
          </p:cNvPr>
          <p:cNvSpPr txBox="1"/>
          <p:nvPr/>
        </p:nvSpPr>
        <p:spPr>
          <a:xfrm>
            <a:off x="320040" y="848374"/>
            <a:ext cx="103052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scalar is a quantity that has only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magnitude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(value) and NO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direction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 kilograms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25°C temperature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seconds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₹ 1000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$342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have size/value only — no direction.</a:t>
            </a:r>
          </a:p>
        </p:txBody>
      </p:sp>
    </p:spTree>
    <p:extLst>
      <p:ext uri="{BB962C8B-B14F-4D97-AF65-F5344CB8AC3E}">
        <p14:creationId xmlns:p14="http://schemas.microsoft.com/office/powerpoint/2010/main" val="37555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8BAF-FA9D-68D4-D04F-F1CCE0AD5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27DE20-9223-9B6C-676C-97191EE28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1" y="4745833"/>
            <a:ext cx="2162477" cy="1590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33DF9F-D897-6045-84C6-83042AAA5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007" y="4121530"/>
            <a:ext cx="1638529" cy="25625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EEF7BD-5529-C6DD-689A-23380B6F8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184" y="4410442"/>
            <a:ext cx="2391109" cy="2152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A79E77-DD1D-AA54-D7E8-66F4A97349D0}"/>
              </a:ext>
            </a:extLst>
          </p:cNvPr>
          <p:cNvSpPr txBox="1"/>
          <p:nvPr/>
        </p:nvSpPr>
        <p:spPr>
          <a:xfrm>
            <a:off x="420624" y="294608"/>
            <a:ext cx="62270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quantity that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Magnitude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how much (size or length)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Direction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where it is going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car moves: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60 km/h → magnitude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East → direction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direction matters.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3 vectors shown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6C8FA-0BEF-B854-FDE3-35F71CB79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1546">
            <a:off x="7447068" y="1747151"/>
            <a:ext cx="2162477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5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1C45E-B264-32D3-C2EF-4FE7C727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35A8C3-327E-22B3-6B21-7EAB945DC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1546">
            <a:off x="5984027" y="869326"/>
            <a:ext cx="2162477" cy="1590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7A32ED-E901-DD63-92E9-71B21615FAE4}"/>
                  </a:ext>
                </a:extLst>
              </p:cNvPr>
              <p:cNvSpPr txBox="1"/>
              <p:nvPr/>
            </p:nvSpPr>
            <p:spPr>
              <a:xfrm>
                <a:off x="283463" y="678722"/>
                <a:ext cx="6858001" cy="4893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Basic Idea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Scalar: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10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Vector: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10 meters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east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direction makes it a vector.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Mathematically, a vector is often written as: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(3,4)</a:t>
                </a: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Means move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 units in x-direction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then move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 units in y-direction.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7A32ED-E901-DD63-92E9-71B21615F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3" y="678722"/>
                <a:ext cx="6858001" cy="4893647"/>
              </a:xfrm>
              <a:prstGeom prst="rect">
                <a:avLst/>
              </a:prstGeom>
              <a:blipFill>
                <a:blip r:embed="rId3"/>
                <a:stretch>
                  <a:fillRect l="-1332" t="-996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9870C15-517A-15EE-7C86-EF963B30F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573" y="3317551"/>
            <a:ext cx="3115110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72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B750-AC9D-7910-7103-16BA8132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AF3952-448B-BC64-7425-59640B9D53DE}"/>
                  </a:ext>
                </a:extLst>
              </p:cNvPr>
              <p:cNvSpPr txBox="1"/>
              <p:nvPr/>
            </p:nvSpPr>
            <p:spPr>
              <a:xfrm>
                <a:off x="393192" y="889844"/>
                <a:ext cx="10917936" cy="5002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Machine Learning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vector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simply: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list (ordered collection) of numbers that represents data.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2, 3, 5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are different.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Vectors are used to represent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features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a data point.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2D vector: day data (temp=30C, humidity=40%) -&gt; [30, 40]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3D vector: Patient data(height=170cm, weight=65Kg, age=30 years) → [170, 65, 30]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3D vector: student data (age=17, study-hours=3, percentage=78%) -&gt; (17, 3, 78)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5D vector: ( glucose, BMI,  BP,  age, skin) –&gt; [13, 2, 12, 45, 0.3]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Word embeddings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in NLP (e.g., "king" → [0.21, -0.34, ..., 0.89])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AF3952-448B-BC64-7425-59640B9D5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89844"/>
                <a:ext cx="10917936" cy="5002780"/>
              </a:xfrm>
              <a:prstGeom prst="rect">
                <a:avLst/>
              </a:prstGeom>
              <a:blipFill>
                <a:blip r:embed="rId2"/>
                <a:stretch>
                  <a:fillRect l="-893" t="-974" b="-1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087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4E7E-6EC4-DFBF-B3FD-A87023CC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C0A621-0349-4380-99DC-D7B259C052B4}"/>
              </a:ext>
            </a:extLst>
          </p:cNvPr>
          <p:cNvSpPr txBox="1"/>
          <p:nvPr/>
        </p:nvSpPr>
        <p:spPr>
          <a:xfrm>
            <a:off x="393192" y="889844"/>
            <a:ext cx="109179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3D vector: student data (age=17, study-hours=3, percentage=78%) -&gt; (17, 3, 78)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vector describes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student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value =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features are age, study-hours, percentage.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So: 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Vector = Feature Representation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590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8C606-934F-FC76-6590-3466DD7E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D65FB3-96C8-592E-1218-29DD31DC30C3}"/>
              </a:ext>
            </a:extLst>
          </p:cNvPr>
          <p:cNvSpPr txBox="1"/>
          <p:nvPr/>
        </p:nvSpPr>
        <p:spPr>
          <a:xfrm>
            <a:off x="393192" y="889844"/>
            <a:ext cx="109179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Text → Vector (Very Important in ML)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Machines cannot read words like humans.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I understand data science.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Converted into vector: [0.2, 0.8, 0.6, 0.1, ...]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process is called: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encoding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Vectorization</a:t>
            </a:r>
          </a:p>
        </p:txBody>
      </p:sp>
    </p:spTree>
    <p:extLst>
      <p:ext uri="{BB962C8B-B14F-4D97-AF65-F5344CB8AC3E}">
        <p14:creationId xmlns:p14="http://schemas.microsoft.com/office/powerpoint/2010/main" val="265444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4828-3616-349C-F23B-78435AFD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A7BB90-A31F-5FC9-6C67-DDE7718AE282}"/>
              </a:ext>
            </a:extLst>
          </p:cNvPr>
          <p:cNvSpPr txBox="1"/>
          <p:nvPr/>
        </p:nvSpPr>
        <p:spPr>
          <a:xfrm>
            <a:off x="393192" y="889844"/>
            <a:ext cx="59161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Dataset = Collection of Vectors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 looks like: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representation 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[22, 30000, 1]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[35, 70000, 10]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[52, 56000, 9]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row = feature vector.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05A1DE-6E2F-7125-4DE5-BDCD900E9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650590"/>
              </p:ext>
            </p:extLst>
          </p:nvPr>
        </p:nvGraphicFramePr>
        <p:xfrm>
          <a:off x="4239768" y="2126774"/>
          <a:ext cx="4191000" cy="1828800"/>
        </p:xfrm>
        <a:graphic>
          <a:graphicData uri="http://schemas.openxmlformats.org/drawingml/2006/table">
            <a:tbl>
              <a:tblPr/>
              <a:tblGrid>
                <a:gridCol w="1027176">
                  <a:extLst>
                    <a:ext uri="{9D8B030D-6E8A-4147-A177-3AD203B41FA5}">
                      <a16:colId xmlns:a16="http://schemas.microsoft.com/office/drawing/2014/main" val="328668269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139924964"/>
                    </a:ext>
                  </a:extLst>
                </a:gridCol>
                <a:gridCol w="1837944">
                  <a:extLst>
                    <a:ext uri="{9D8B030D-6E8A-4147-A177-3AD203B41FA5}">
                      <a16:colId xmlns:a16="http://schemas.microsoft.com/office/drawing/2014/main" val="3375930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Experience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753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0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15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170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423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5758" y="576773"/>
            <a:ext cx="61438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Image as a Vector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image is just pixels.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Size of each image is 8x8 pixels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image is represented by 8x8= 64 pixels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values of pixel range from 0 – 16.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D6DD5-82A6-A9E9-FE53-C76CBF121F42}"/>
              </a:ext>
            </a:extLst>
          </p:cNvPr>
          <p:cNvSpPr txBox="1"/>
          <p:nvPr/>
        </p:nvSpPr>
        <p:spPr>
          <a:xfrm>
            <a:off x="148811" y="3581234"/>
            <a:ext cx="65539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menlo"/>
              </a:rPr>
              <a:t>Digit 0 would contain following pixel values:</a:t>
            </a:r>
          </a:p>
          <a:p>
            <a:pPr algn="l" latinLnBrk="1">
              <a:buNone/>
            </a:pP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menlo"/>
            </a:endParaRPr>
          </a:p>
          <a:p>
            <a:pPr latinLnBrk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menlo"/>
              </a:rPr>
              <a:t>[ 0,  0,  5, 13,  9,  1,  0,  0,  0,  0, 13, 15, 10, 15,  5,  0,  0,  3,  15,  2,  0, 11,  8,  0,  0,  4, 12,  0,  0,  8,  8,  0, 0,  5,  8,  0,  0,  9,  8,  0,  0,  4, 11,  0,  1, 12,  7,  0,  0,  2, 14,  5, 10, 12,   0,  0,  0,  0,  6, 13, 10,  0,  0,  0,]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9322CF-B96C-9DF3-F6AE-36598CC3A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725" y="1066404"/>
            <a:ext cx="5340464" cy="56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0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EA15-C4CC-956C-3697-A4F9269F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6F64089-2777-8F5B-418D-D067C41CA5D5}"/>
              </a:ext>
            </a:extLst>
          </p:cNvPr>
          <p:cNvSpPr txBox="1"/>
          <p:nvPr/>
        </p:nvSpPr>
        <p:spPr>
          <a:xfrm>
            <a:off x="148811" y="1798154"/>
            <a:ext cx="62611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menlo"/>
              </a:rPr>
              <a:t>Digit 4 would contain following pixel values:</a:t>
            </a:r>
          </a:p>
          <a:p>
            <a:pPr algn="l" latinLnBrk="1">
              <a:buNone/>
            </a:pP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menlo"/>
            </a:endParaRPr>
          </a:p>
          <a:p>
            <a:pPr latinLnBrk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[ 0,  0,  0,  1, 11,  0,  0,  0,  0,  0,  0,  7,  8,  0,  0,  0,  0,  0,  1, 13,  6,  2,  2,  0,  0,  0,  7, 15,  0,  9,  8,  0,  0,  5, 16, 10,  0, 16,  6,  0,  0,  4, 15, 16, 13, 16,  1,  0,  0,  0,  0,  3, 15, 10,  0,  0,  0,  0,  0,  2, 16,  4,  0,  0,]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612D7-D977-BB26-008E-5CEEB24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193" y="1152144"/>
            <a:ext cx="5343996" cy="561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72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4F01D-9AEC-FFBB-3905-D0CC3A41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79F1AC-6181-4D52-D487-6A0377E0998D}"/>
              </a:ext>
            </a:extLst>
          </p:cNvPr>
          <p:cNvSpPr txBox="1"/>
          <p:nvPr/>
        </p:nvSpPr>
        <p:spPr>
          <a:xfrm>
            <a:off x="475488" y="1071616"/>
            <a:ext cx="11622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each layer transforms an input vector into another vector using weights and activation functions.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97F721-BFE2-3A16-13C3-7AE6A0068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0" y="2203704"/>
            <a:ext cx="8184580" cy="392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88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8A8C1-8577-FF12-73FA-0F58E9AF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0A288E-14A3-52E2-E42D-3AD04E9F716A}"/>
              </a:ext>
            </a:extLst>
          </p:cNvPr>
          <p:cNvSpPr txBox="1"/>
          <p:nvPr/>
        </p:nvSpPr>
        <p:spPr>
          <a:xfrm>
            <a:off x="359123" y="792314"/>
            <a:ext cx="70840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enlo"/>
              </a:rPr>
              <a:t>Magnitude of vector:</a:t>
            </a:r>
          </a:p>
          <a:p>
            <a:pPr algn="l" latinLnBrk="1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menlo"/>
            </a:endParaRPr>
          </a:p>
          <a:p>
            <a:pPr algn="l" latinLnBrk="1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menlo"/>
            </a:endParaRPr>
          </a:p>
          <a:p>
            <a:pPr algn="l" latinLnBrk="1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menlo"/>
              </a:rPr>
              <a:t>In 2D -&gt;</a:t>
            </a:r>
          </a:p>
          <a:p>
            <a:pPr algn="l" latinLnBrk="1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menlo"/>
            </a:endParaRPr>
          </a:p>
          <a:p>
            <a:pPr algn="l" latinLnBrk="1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menlo"/>
            </a:endParaRPr>
          </a:p>
          <a:p>
            <a:pPr algn="l" latinLnBrk="1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menlo"/>
            </a:endParaRPr>
          </a:p>
          <a:p>
            <a:pPr algn="l" latinLnBrk="1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menlo"/>
            </a:endParaRPr>
          </a:p>
          <a:p>
            <a:pPr algn="l" latinLnBrk="1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menlo"/>
              </a:rPr>
              <a:t>This idea can be extended to higher dimension n-D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2382D3-723A-0119-28B8-30D678596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169" y="4557849"/>
            <a:ext cx="4562983" cy="1507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253D24-A288-7E67-0B85-9A673E019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469" y="1024128"/>
            <a:ext cx="4533408" cy="189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21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68BA-F4C5-032D-42DD-3C48B999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C3536A-66B5-0898-CBC9-3B650CBC7F83}"/>
              </a:ext>
            </a:extLst>
          </p:cNvPr>
          <p:cNvSpPr txBox="1"/>
          <p:nvPr/>
        </p:nvSpPr>
        <p:spPr>
          <a:xfrm>
            <a:off x="393192" y="889844"/>
            <a:ext cx="109179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Scalar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number that scales up or down the vector or any measurable quantity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2 * [170, 65, 30] = [340, 130, 60]    …..this scales up by factor of 2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0.5 * [170, 65, 30] = [85, 32.5, 15]   ….. This scales down the values by half</a:t>
            </a:r>
          </a:p>
        </p:txBody>
      </p:sp>
    </p:spTree>
    <p:extLst>
      <p:ext uri="{BB962C8B-B14F-4D97-AF65-F5344CB8AC3E}">
        <p14:creationId xmlns:p14="http://schemas.microsoft.com/office/powerpoint/2010/main" val="712051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22585-28B8-E5DF-53A9-83A1EC31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9EDAF4-7056-17F5-F332-4CE0F35898FE}"/>
              </a:ext>
            </a:extLst>
          </p:cNvPr>
          <p:cNvSpPr txBox="1"/>
          <p:nvPr/>
        </p:nvSpPr>
        <p:spPr>
          <a:xfrm>
            <a:off x="740664" y="615756"/>
            <a:ext cx="96834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Vectors Are Important in ML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works by comparing vectors.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 compute: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Distance between vectors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Angle between vectors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Similarity between vectors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Face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 embeddings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engines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F8943-3480-45A0-C5DC-33D249530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559" y="2066545"/>
            <a:ext cx="7036660" cy="219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DE88-84DC-5A0F-3D5B-9DBB833B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259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488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0831"/>
            <a:ext cx="10515600" cy="17145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Explain vectors and matrix are general form of numbers. Then explain dot product of vectors, matrix addition/subtraction, scalar multiplication (c*M), </a:t>
            </a:r>
          </a:p>
          <a:p>
            <a:pPr marL="0" indent="0">
              <a:buNone/>
            </a:pPr>
            <a:r>
              <a:rPr lang="en-US" dirty="0"/>
              <a:t>Explain how 2 matrix gets multiplied.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5952" y="2483916"/>
            <a:ext cx="965572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A = [[1, 2, 3],</a:t>
            </a:r>
          </a:p>
          <a:p>
            <a:r>
              <a:rPr lang="en-US" sz="1400" dirty="0"/>
              <a:t>     [4, 5, 6]]</a:t>
            </a:r>
          </a:p>
          <a:p>
            <a:r>
              <a:rPr lang="en-US" sz="1400" dirty="0"/>
              <a:t>A is 2×3</a:t>
            </a:r>
          </a:p>
          <a:p>
            <a:endParaRPr lang="en-US" sz="1400" dirty="0"/>
          </a:p>
          <a:p>
            <a:r>
              <a:rPr lang="en-US" sz="1400" dirty="0"/>
              <a:t>B = [[7, 8],</a:t>
            </a:r>
          </a:p>
          <a:p>
            <a:r>
              <a:rPr lang="en-US" sz="1400" dirty="0"/>
              <a:t>     [9, 10],</a:t>
            </a:r>
          </a:p>
          <a:p>
            <a:r>
              <a:rPr lang="en-US" sz="1400" dirty="0"/>
              <a:t>     [11, 12]]</a:t>
            </a:r>
          </a:p>
          <a:p>
            <a:r>
              <a:rPr lang="en-US" sz="1400" dirty="0"/>
              <a:t>B is 3×2</a:t>
            </a:r>
          </a:p>
          <a:p>
            <a:endParaRPr lang="en-US" sz="1400" dirty="0"/>
          </a:p>
          <a:p>
            <a:r>
              <a:rPr lang="en-US" sz="1400" dirty="0"/>
              <a:t>A @ B </a:t>
            </a:r>
          </a:p>
          <a:p>
            <a:r>
              <a:rPr lang="en-US" sz="1400" dirty="0"/>
              <a:t>= [ (1×7+2×9+3×11)   (1×8+2×10+3×12)</a:t>
            </a:r>
          </a:p>
          <a:p>
            <a:r>
              <a:rPr lang="en-US" sz="1400" dirty="0"/>
              <a:t>    (4×7+5×9+6×11)   (4×8+5×10+6×12)</a:t>
            </a:r>
          </a:p>
          <a:p>
            <a:r>
              <a:rPr lang="en-US" sz="1400" dirty="0"/>
              <a:t>  ]</a:t>
            </a:r>
          </a:p>
          <a:p>
            <a:r>
              <a:rPr lang="en-US" sz="1400" dirty="0"/>
              <a:t>= [ 58   64</a:t>
            </a:r>
          </a:p>
          <a:p>
            <a:r>
              <a:rPr lang="en-US" sz="1400" dirty="0"/>
              <a:t>    139  154</a:t>
            </a:r>
          </a:p>
          <a:p>
            <a:r>
              <a:rPr lang="en-US" sz="1400" dirty="0"/>
              <a:t>  ] </a:t>
            </a:r>
          </a:p>
        </p:txBody>
      </p:sp>
    </p:spTree>
    <p:extLst>
      <p:ext uri="{BB962C8B-B14F-4D97-AF65-F5344CB8AC3E}">
        <p14:creationId xmlns:p14="http://schemas.microsoft.com/office/powerpoint/2010/main" val="1821566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Matrices satisfy following few important properties which have similar counterpart in Q :</a:t>
            </a:r>
          </a:p>
          <a:p>
            <a:pPr marL="514350" indent="-514350">
              <a:buAutoNum type="arabicParenR"/>
            </a:pPr>
            <a:r>
              <a:rPr lang="en-US" dirty="0"/>
              <a:t>There is an element of V, denoted by 0, such that </a:t>
            </a:r>
          </a:p>
          <a:p>
            <a:pPr marL="0" indent="0">
              <a:buNone/>
            </a:pPr>
            <a:r>
              <a:rPr lang="en-US" dirty="0"/>
              <a:t> u + O = O + u = u</a:t>
            </a:r>
          </a:p>
          <a:p>
            <a:pPr marL="0" indent="0">
              <a:buNone/>
            </a:pPr>
            <a:r>
              <a:rPr lang="en-US" dirty="0"/>
              <a:t>for all elements u of V. </a:t>
            </a:r>
          </a:p>
          <a:p>
            <a:pPr marL="0" indent="0">
              <a:buNone/>
            </a:pPr>
            <a:r>
              <a:rPr lang="en-US" dirty="0"/>
              <a:t>2) Given an element u of V, there exists an element -u in V such that</a:t>
            </a:r>
          </a:p>
          <a:p>
            <a:pPr marL="0" indent="0">
              <a:buNone/>
            </a:pPr>
            <a:r>
              <a:rPr lang="en-US" dirty="0"/>
              <a:t> u+(-u)=O. </a:t>
            </a:r>
          </a:p>
          <a:p>
            <a:pPr marL="0" indent="0">
              <a:buNone/>
            </a:pPr>
            <a:r>
              <a:rPr lang="en-US" dirty="0"/>
              <a:t>3) For all elements u of V, there exists an element 1 in V such that</a:t>
            </a:r>
          </a:p>
          <a:p>
            <a:pPr marL="0" indent="0">
              <a:buNone/>
            </a:pPr>
            <a:r>
              <a:rPr lang="en-US" dirty="0"/>
              <a:t> 1· u = u </a:t>
            </a:r>
          </a:p>
          <a:p>
            <a:pPr marL="0" indent="0">
              <a:buNone/>
            </a:pPr>
            <a:r>
              <a:rPr lang="en-US" dirty="0"/>
              <a:t>4) There exist </a:t>
            </a:r>
            <a:r>
              <a:rPr lang="en-US" dirty="0" err="1"/>
              <a:t>u_inv</a:t>
            </a:r>
            <a:r>
              <a:rPr lang="en-US" dirty="0"/>
              <a:t> of u </a:t>
            </a:r>
            <a:r>
              <a:rPr lang="en-US" dirty="0" err="1"/>
              <a:t>s.t.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 * </a:t>
            </a:r>
            <a:r>
              <a:rPr lang="en-US" dirty="0" err="1"/>
              <a:t>u_inv</a:t>
            </a:r>
            <a:r>
              <a:rPr lang="en-US" dirty="0"/>
              <a:t> =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BAA35AB-41DF-A8E2-B5C3-553656D0DFBC}"/>
                  </a:ext>
                </a:extLst>
              </p14:cNvPr>
              <p14:cNvContentPartPr/>
              <p14:nvPr/>
            </p14:nvContentPartPr>
            <p14:xfrm>
              <a:off x="2276783" y="2847664"/>
              <a:ext cx="1224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BAA35AB-41DF-A8E2-B5C3-553656D0DFB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40783" y="2811664"/>
                <a:ext cx="83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52BE3A0-F7B2-91A6-7512-38392F396CA4}"/>
                  </a:ext>
                </a:extLst>
              </p14:cNvPr>
              <p14:cNvContentPartPr/>
              <p14:nvPr/>
            </p14:nvContentPartPr>
            <p14:xfrm>
              <a:off x="5659343" y="3149344"/>
              <a:ext cx="15120" cy="64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52BE3A0-F7B2-91A6-7512-38392F396CA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23343" y="3113344"/>
                <a:ext cx="86760" cy="7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7326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1949</TotalTime>
  <Words>1142</Words>
  <Application>Microsoft Office PowerPoint</Application>
  <PresentationFormat>Widescreen</PresentationFormat>
  <Paragraphs>164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menlo</vt:lpstr>
      <vt:lpstr>Office Theme</vt:lpstr>
      <vt:lpstr>Scalar + Vector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Vector Space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210</cp:revision>
  <dcterms:created xsi:type="dcterms:W3CDTF">2025-09-22T02:44:38Z</dcterms:created>
  <dcterms:modified xsi:type="dcterms:W3CDTF">2026-02-21T19:26:07Z</dcterms:modified>
</cp:coreProperties>
</file>