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57" r:id="rId3"/>
    <p:sldId id="283" r:id="rId4"/>
    <p:sldId id="284" r:id="rId5"/>
    <p:sldId id="285" r:id="rId6"/>
    <p:sldId id="286" r:id="rId7"/>
    <p:sldId id="287" r:id="rId8"/>
    <p:sldId id="288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53051-98B8-98C7-321D-74A90C81EDA9}"/>
              </a:ext>
            </a:extLst>
          </p:cNvPr>
          <p:cNvSpPr txBox="1"/>
          <p:nvPr/>
        </p:nvSpPr>
        <p:spPr>
          <a:xfrm>
            <a:off x="438912" y="1407498"/>
            <a:ext cx="108447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= Large Language Model.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is a type of AI model trained on a very large amount of text and other data so that it can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and generate human-like language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include models from OpenAI, Google, Anthropic, Meta, and others.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EF567-582D-CC8F-FC9C-E0CDEB9F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894484"/>
            <a:ext cx="2562583" cy="790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B371D4-3EEC-D9CA-1916-D0C44BAFC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971" y="4289826"/>
            <a:ext cx="3242759" cy="704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511EBC-43D6-5C22-182B-6AF4E79C2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577" y="3751590"/>
            <a:ext cx="3452284" cy="79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AEC7-832A-623A-8D0C-8DCAC4F0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B0F3ED-623D-9855-6108-897858F416AA}"/>
              </a:ext>
            </a:extLst>
          </p:cNvPr>
          <p:cNvSpPr txBox="1"/>
          <p:nvPr/>
        </p:nvSpPr>
        <p:spPr>
          <a:xfrm>
            <a:off x="3776471" y="156924"/>
            <a:ext cx="5065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</a:t>
            </a:r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orest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-View Of LLM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8B4D01-69F8-091D-A8BC-A2CF26003084}"/>
              </a:ext>
            </a:extLst>
          </p:cNvPr>
          <p:cNvSpPr/>
          <p:nvPr/>
        </p:nvSpPr>
        <p:spPr>
          <a:xfrm>
            <a:off x="905256" y="612648"/>
            <a:ext cx="2395728" cy="591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Large Amount </a:t>
            </a:r>
            <a:r>
              <a:rPr lang="en-IN">
                <a:solidFill>
                  <a:schemeClr val="bg1"/>
                </a:solidFill>
              </a:rPr>
              <a:t>of Data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BFC7B-9DAC-A728-9CCB-D7537D76F68F}"/>
              </a:ext>
            </a:extLst>
          </p:cNvPr>
          <p:cNvSpPr/>
          <p:nvPr/>
        </p:nvSpPr>
        <p:spPr>
          <a:xfrm>
            <a:off x="876301" y="2128242"/>
            <a:ext cx="2395728" cy="500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Learned Model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7B7BB-0EBC-78F8-03F9-5F5AAAE5EBF0}"/>
              </a:ext>
            </a:extLst>
          </p:cNvPr>
          <p:cNvSpPr txBox="1"/>
          <p:nvPr/>
        </p:nvSpPr>
        <p:spPr>
          <a:xfrm>
            <a:off x="2490978" y="1497306"/>
            <a:ext cx="1620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LLM Training </a:t>
            </a:r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93D9FFF-38A9-DB5D-E1AB-EF11CCCA7D7F}"/>
              </a:ext>
            </a:extLst>
          </p:cNvPr>
          <p:cNvSpPr/>
          <p:nvPr/>
        </p:nvSpPr>
        <p:spPr>
          <a:xfrm>
            <a:off x="1711832" y="1300394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9F0CF547-15DB-985F-9DFB-72AC5DFFC965}"/>
              </a:ext>
            </a:extLst>
          </p:cNvPr>
          <p:cNvSpPr/>
          <p:nvPr/>
        </p:nvSpPr>
        <p:spPr>
          <a:xfrm>
            <a:off x="502920" y="3395946"/>
            <a:ext cx="3776472" cy="2343062"/>
          </a:xfrm>
          <a:prstGeom prst="snip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Q&amp;A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Information Extraction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43777D6-459D-2887-5042-75E226F70E7B}"/>
              </a:ext>
            </a:extLst>
          </p:cNvPr>
          <p:cNvSpPr/>
          <p:nvPr/>
        </p:nvSpPr>
        <p:spPr>
          <a:xfrm>
            <a:off x="1711832" y="2733530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F979DB-643E-0A98-A36D-6BD15568D679}"/>
              </a:ext>
            </a:extLst>
          </p:cNvPr>
          <p:cNvSpPr txBox="1"/>
          <p:nvPr/>
        </p:nvSpPr>
        <p:spPr>
          <a:xfrm>
            <a:off x="5129785" y="1550461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During training, LLM learns statistical patterns and relationships in its training data.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BE85CF-CCBD-A600-6B63-759675193D0C}"/>
              </a:ext>
            </a:extLst>
          </p:cNvPr>
          <p:cNvCxnSpPr/>
          <p:nvPr/>
        </p:nvCxnSpPr>
        <p:spPr>
          <a:xfrm flipH="1">
            <a:off x="3690366" y="2028920"/>
            <a:ext cx="1380744" cy="2616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76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E2AE-020B-38BD-6002-9E1C83CA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1C0355-CC00-69D0-C1E9-C3E170155CE1}"/>
              </a:ext>
            </a:extLst>
          </p:cNvPr>
          <p:cNvSpPr txBox="1"/>
          <p:nvPr/>
        </p:nvSpPr>
        <p:spPr>
          <a:xfrm>
            <a:off x="420624" y="1557588"/>
            <a:ext cx="117713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Hallucination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can generate information that sounds convincing but is incorrect.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 upload a pdf research paper and ask "Who wrote this research paper?”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might confidently provide a wrong author.</a:t>
            </a:r>
          </a:p>
          <a:p>
            <a:pPr>
              <a:buNone/>
            </a:pPr>
            <a:endParaRPr lang="en-IN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"Write a detailed summary of the   Monkey-Cat Treaty Signed between Australia and the Africa coalition, including the names of the lead negotiators .“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might confidently make-up some gibberish  facts.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54BD0-E28E-3185-B863-C2AC5FBFB634}"/>
              </a:ext>
            </a:extLst>
          </p:cNvPr>
          <p:cNvSpPr txBox="1"/>
          <p:nvPr/>
        </p:nvSpPr>
        <p:spPr>
          <a:xfrm>
            <a:off x="1723644" y="25380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Major limitations of LLMs</a:t>
            </a:r>
          </a:p>
        </p:txBody>
      </p:sp>
    </p:spTree>
    <p:extLst>
      <p:ext uri="{BB962C8B-B14F-4D97-AF65-F5344CB8AC3E}">
        <p14:creationId xmlns:p14="http://schemas.microsoft.com/office/powerpoint/2010/main" val="330402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C374-C77D-801A-AAAD-CAFCDDAF8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A2FA6-BBA8-957E-7C51-C6B1F2013A85}"/>
              </a:ext>
            </a:extLst>
          </p:cNvPr>
          <p:cNvSpPr txBox="1"/>
          <p:nvPr/>
        </p:nvSpPr>
        <p:spPr>
          <a:xfrm>
            <a:off x="393192" y="972372"/>
            <a:ext cx="108996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Knowledge limitations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model's knowledge can be limited by: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training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training-date cutoff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it has access to external information (Like DB tool, Web-search tool, etc.)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should NOT be treated as a live information source.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5E53A-8DE0-EB04-06D9-150EDC20B52A}"/>
              </a:ext>
            </a:extLst>
          </p:cNvPr>
          <p:cNvSpPr txBox="1"/>
          <p:nvPr/>
        </p:nvSpPr>
        <p:spPr>
          <a:xfrm>
            <a:off x="1723644" y="25380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Major limitations of LLMs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019431-EB8E-09F6-620C-ECCF2BA69810}"/>
              </a:ext>
            </a:extLst>
          </p:cNvPr>
          <p:cNvSpPr/>
          <p:nvPr/>
        </p:nvSpPr>
        <p:spPr>
          <a:xfrm>
            <a:off x="183011" y="4649655"/>
            <a:ext cx="2636769" cy="1045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Large Amount of </a:t>
            </a:r>
            <a:r>
              <a:rPr lang="en-IN" sz="2000" b="1" i="1" u="sng" dirty="0">
                <a:solidFill>
                  <a:schemeClr val="bg1"/>
                </a:solidFill>
              </a:rPr>
              <a:t>Legal</a:t>
            </a:r>
            <a:r>
              <a:rPr lang="en-IN" sz="2000" dirty="0">
                <a:solidFill>
                  <a:schemeClr val="bg1"/>
                </a:solidFill>
              </a:rPr>
              <a:t> Data </a:t>
            </a:r>
            <a:r>
              <a:rPr lang="en-IN" sz="2000" b="1" i="1" u="sng" dirty="0" err="1">
                <a:solidFill>
                  <a:schemeClr val="bg1"/>
                </a:solidFill>
              </a:rPr>
              <a:t>upto</a:t>
            </a:r>
            <a:r>
              <a:rPr lang="en-IN" sz="2000" b="1" i="1" u="sng" dirty="0">
                <a:solidFill>
                  <a:schemeClr val="bg1"/>
                </a:solidFill>
              </a:rPr>
              <a:t> 2023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04071A-DE8A-983B-E148-DD9C2BB945BA}"/>
              </a:ext>
            </a:extLst>
          </p:cNvPr>
          <p:cNvSpPr/>
          <p:nvPr/>
        </p:nvSpPr>
        <p:spPr>
          <a:xfrm>
            <a:off x="3567182" y="4631258"/>
            <a:ext cx="2395728" cy="10451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Learned Model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B19F6-2529-0C81-A661-D44644FC64EC}"/>
              </a:ext>
            </a:extLst>
          </p:cNvPr>
          <p:cNvSpPr txBox="1"/>
          <p:nvPr/>
        </p:nvSpPr>
        <p:spPr>
          <a:xfrm>
            <a:off x="2462024" y="4276267"/>
            <a:ext cx="1620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LLM Training </a:t>
            </a:r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F38F6D8-0114-E4FB-625B-621CAC6AC546}"/>
              </a:ext>
            </a:extLst>
          </p:cNvPr>
          <p:cNvSpPr/>
          <p:nvPr/>
        </p:nvSpPr>
        <p:spPr>
          <a:xfrm rot="16200000">
            <a:off x="3002281" y="4922187"/>
            <a:ext cx="539496" cy="500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914FDF-16B2-DC4C-88C8-DFD8A348C398}"/>
              </a:ext>
            </a:extLst>
          </p:cNvPr>
          <p:cNvSpPr/>
          <p:nvPr/>
        </p:nvSpPr>
        <p:spPr>
          <a:xfrm>
            <a:off x="6728718" y="3963747"/>
            <a:ext cx="4942582" cy="89611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Q&amp;A only about Legal Documents </a:t>
            </a:r>
            <a:r>
              <a:rPr lang="en-US" dirty="0" err="1"/>
              <a:t>upto</a:t>
            </a:r>
            <a:r>
              <a:rPr lang="en-US" dirty="0"/>
              <a:t> 2023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816390-D2C4-2795-DDE0-330D3F91CE7A}"/>
              </a:ext>
            </a:extLst>
          </p:cNvPr>
          <p:cNvCxnSpPr/>
          <p:nvPr/>
        </p:nvCxnSpPr>
        <p:spPr>
          <a:xfrm flipV="1">
            <a:off x="5987543" y="4376597"/>
            <a:ext cx="502920" cy="531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02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93B1-7FE5-9511-B719-1C48F1BA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1BFB36-E869-39B2-9C4F-E449717FD6C4}"/>
              </a:ext>
            </a:extLst>
          </p:cNvPr>
          <p:cNvSpPr txBox="1"/>
          <p:nvPr/>
        </p:nvSpPr>
        <p:spPr>
          <a:xfrm>
            <a:off x="310896" y="1255836"/>
            <a:ext cx="68305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Context limitations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process information within a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window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 a context may contain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0ECB2-E011-4BFC-A245-DBF38290A6AB}"/>
              </a:ext>
            </a:extLst>
          </p:cNvPr>
          <p:cNvSpPr txBox="1"/>
          <p:nvPr/>
        </p:nvSpPr>
        <p:spPr>
          <a:xfrm>
            <a:off x="1723644" y="25380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Major limitations of LLMs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006BC2-5411-3BFB-2281-74B7F2C9E499}"/>
              </a:ext>
            </a:extLst>
          </p:cNvPr>
          <p:cNvSpPr/>
          <p:nvPr/>
        </p:nvSpPr>
        <p:spPr>
          <a:xfrm>
            <a:off x="379476" y="2908792"/>
            <a:ext cx="3758184" cy="1508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System instructions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Previous Conversation History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Documents +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 question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Other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3A501-6EAD-DA27-AA4A-B0E097B70729}"/>
              </a:ext>
            </a:extLst>
          </p:cNvPr>
          <p:cNvSpPr txBox="1"/>
          <p:nvPr/>
        </p:nvSpPr>
        <p:spPr>
          <a:xfrm>
            <a:off x="379476" y="5773203"/>
            <a:ext cx="9797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context gets overloaded, LLM may become expensive, slow, or cut out some info.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9EC2FF2-DE4E-C3EA-01DD-D9A07DE1CFEB}"/>
              </a:ext>
            </a:extLst>
          </p:cNvPr>
          <p:cNvSpPr/>
          <p:nvPr/>
        </p:nvSpPr>
        <p:spPr>
          <a:xfrm>
            <a:off x="4306824" y="3365867"/>
            <a:ext cx="1024128" cy="56692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0F7B95-9B77-F156-88B1-3F4FD02D4379}"/>
              </a:ext>
            </a:extLst>
          </p:cNvPr>
          <p:cNvSpPr/>
          <p:nvPr/>
        </p:nvSpPr>
        <p:spPr>
          <a:xfrm>
            <a:off x="5398008" y="2577143"/>
            <a:ext cx="3825240" cy="227585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LLM</a:t>
            </a:r>
            <a:endParaRPr lang="en-IN" sz="60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BCB91A-929C-6915-D146-87EEDDEF7F86}"/>
              </a:ext>
            </a:extLst>
          </p:cNvPr>
          <p:cNvSpPr/>
          <p:nvPr/>
        </p:nvSpPr>
        <p:spPr>
          <a:xfrm>
            <a:off x="9459468" y="3365867"/>
            <a:ext cx="1024128" cy="566928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10CCD-AC3D-BB3F-E0CA-F5C38B44373C}"/>
              </a:ext>
            </a:extLst>
          </p:cNvPr>
          <p:cNvSpPr txBox="1"/>
          <p:nvPr/>
        </p:nvSpPr>
        <p:spPr>
          <a:xfrm>
            <a:off x="4373880" y="318120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66AB8F-8393-4B43-A821-F520A14F00C2}"/>
              </a:ext>
            </a:extLst>
          </p:cNvPr>
          <p:cNvSpPr txBox="1"/>
          <p:nvPr/>
        </p:nvSpPr>
        <p:spPr>
          <a:xfrm>
            <a:off x="9567382" y="310626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78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5911-7F57-70B6-C258-22DCE8AA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5A368D-AE82-3F0A-2B5E-FA50B6833D3C}"/>
              </a:ext>
            </a:extLst>
          </p:cNvPr>
          <p:cNvSpPr txBox="1"/>
          <p:nvPr/>
        </p:nvSpPr>
        <p:spPr>
          <a:xfrm>
            <a:off x="310896" y="382012"/>
            <a:ext cx="88879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Reasoning limitations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perform reasoning tasks, LLM can still make mistakes with: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complicated mathematics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chains of logic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ambiguous instructions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planning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factual verification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Therefore -&gt;  LLM reasoning      ≠   Formal proof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E5A68-4248-89C8-AD67-F6FE34FE5A56}"/>
              </a:ext>
            </a:extLst>
          </p:cNvPr>
          <p:cNvSpPr txBox="1"/>
          <p:nvPr/>
        </p:nvSpPr>
        <p:spPr>
          <a:xfrm>
            <a:off x="178308" y="4482096"/>
            <a:ext cx="91531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high-precision tasks, external tools can help.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 LLM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(Ask to perform calculation or write code)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Calculator-Tool / Python-Tool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(Use these tools)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Exact result</a:t>
            </a:r>
          </a:p>
        </p:txBody>
      </p:sp>
    </p:spTree>
    <p:extLst>
      <p:ext uri="{BB962C8B-B14F-4D97-AF65-F5344CB8AC3E}">
        <p14:creationId xmlns:p14="http://schemas.microsoft.com/office/powerpoint/2010/main" val="4209025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45A5D-68B0-B15C-1903-282B9FAB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DE5E76-ECCD-8F6F-A86E-D0EC4DC79894}"/>
              </a:ext>
            </a:extLst>
          </p:cNvPr>
          <p:cNvSpPr txBox="1"/>
          <p:nvPr/>
        </p:nvSpPr>
        <p:spPr>
          <a:xfrm>
            <a:off x="301752" y="204276"/>
            <a:ext cx="11045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Bias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learn patterns from their training data.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training data contains biases, those patterns can potentially appear in model outputs.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36C10-84E4-CF5C-7B85-B5378EC9BFF2}"/>
              </a:ext>
            </a:extLst>
          </p:cNvPr>
          <p:cNvSpPr txBox="1"/>
          <p:nvPr/>
        </p:nvSpPr>
        <p:spPr>
          <a:xfrm>
            <a:off x="164592" y="2587580"/>
            <a:ext cx="6473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“Write a story about a successful CEO and their spouse. Without being explicitly told, decide which person should be the CEO and which person should take care of the household.”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5A538-4709-E5A0-AF96-AF2DE177FFA8}"/>
              </a:ext>
            </a:extLst>
          </p:cNvPr>
          <p:cNvSpPr txBox="1"/>
          <p:nvPr/>
        </p:nvSpPr>
        <p:spPr>
          <a:xfrm>
            <a:off x="7498080" y="2614840"/>
            <a:ext cx="4529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LLM may choose male as CEO and female as housewife when writing a story –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GENDER Bias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B1C94-835A-5200-7185-A4F3A4A121AE}"/>
              </a:ext>
            </a:extLst>
          </p:cNvPr>
          <p:cNvSpPr txBox="1"/>
          <p:nvPr/>
        </p:nvSpPr>
        <p:spPr>
          <a:xfrm>
            <a:off x="164592" y="4549247"/>
            <a:ext cx="63733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“Rahul Mehta, an Indian, and Michael Connor, an American, are applying for the Product Manager position in IBM. Both have identical qualifications. 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Who would you expect to communicate better in an international company?”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FA5CF-43F5-6C18-61E9-3CC9FC23CCB5}"/>
              </a:ext>
            </a:extLst>
          </p:cNvPr>
          <p:cNvSpPr txBox="1"/>
          <p:nvPr/>
        </p:nvSpPr>
        <p:spPr>
          <a:xfrm>
            <a:off x="7498080" y="4637561"/>
            <a:ext cx="4370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LLM may choose Michael as the candidate –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COUNTRY Bias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36887-4104-BA79-89BB-E6497CD097E6}"/>
              </a:ext>
            </a:extLst>
          </p:cNvPr>
          <p:cNvSpPr txBox="1"/>
          <p:nvPr/>
        </p:nvSpPr>
        <p:spPr>
          <a:xfrm>
            <a:off x="164592" y="2125915"/>
            <a:ext cx="1344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599653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1D138-613F-E384-D979-5F1F026F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FDD97-291D-DF2E-9ADC-9471F96D8C4F}"/>
              </a:ext>
            </a:extLst>
          </p:cNvPr>
          <p:cNvSpPr txBox="1"/>
          <p:nvPr/>
        </p:nvSpPr>
        <p:spPr>
          <a:xfrm>
            <a:off x="310896" y="1255836"/>
            <a:ext cx="797356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Cost and latency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models can require significant computational resources.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an application serving thousands or millions of users: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requests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inference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GPU/compute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D85E7-4E39-0BD0-F96E-A2F62A660DC4}"/>
              </a:ext>
            </a:extLst>
          </p:cNvPr>
          <p:cNvSpPr txBox="1"/>
          <p:nvPr/>
        </p:nvSpPr>
        <p:spPr>
          <a:xfrm>
            <a:off x="1659636" y="27208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Major limitations of LLMs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4673A-604F-B7FA-24CB-BB1960EA8BBB}"/>
              </a:ext>
            </a:extLst>
          </p:cNvPr>
          <p:cNvSpPr txBox="1"/>
          <p:nvPr/>
        </p:nvSpPr>
        <p:spPr>
          <a:xfrm>
            <a:off x="8179308" y="3429000"/>
            <a:ext cx="34792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– Companies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smaller models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routing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quantization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optimization</a:t>
            </a:r>
          </a:p>
        </p:txBody>
      </p:sp>
    </p:spTree>
    <p:extLst>
      <p:ext uri="{BB962C8B-B14F-4D97-AF65-F5344CB8AC3E}">
        <p14:creationId xmlns:p14="http://schemas.microsoft.com/office/powerpoint/2010/main" val="1561072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1216</TotalTime>
  <Words>555</Words>
  <Application>Microsoft Office PowerPoint</Application>
  <PresentationFormat>Widescreen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189</cp:revision>
  <dcterms:created xsi:type="dcterms:W3CDTF">2025-09-22T02:44:38Z</dcterms:created>
  <dcterms:modified xsi:type="dcterms:W3CDTF">2026-09-24T14:53:37Z</dcterms:modified>
</cp:coreProperties>
</file>