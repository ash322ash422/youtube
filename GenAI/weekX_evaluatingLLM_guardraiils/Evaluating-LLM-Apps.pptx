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76" r:id="rId2"/>
    <p:sldId id="277" r:id="rId3"/>
    <p:sldId id="278" r:id="rId4"/>
    <p:sldId id="279" r:id="rId5"/>
    <p:sldId id="280" r:id="rId6"/>
    <p:sldId id="285" r:id="rId7"/>
    <p:sldId id="281" r:id="rId8"/>
    <p:sldId id="282" r:id="rId9"/>
    <p:sldId id="283" r:id="rId10"/>
    <p:sldId id="284" r:id="rId11"/>
    <p:sldId id="27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ACB2831-3F9C-6EBC-2C93-6F66B5EB3785}"/>
              </a:ext>
            </a:extLst>
          </p:cNvPr>
          <p:cNvSpPr txBox="1"/>
          <p:nvPr/>
        </p:nvSpPr>
        <p:spPr>
          <a:xfrm>
            <a:off x="2118360" y="762293"/>
            <a:ext cx="7178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Evaluating your LLM Apps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65894-1626-170C-27C7-C108DD491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D95BD58-80E0-F450-02E7-1866125260EE}"/>
              </a:ext>
            </a:extLst>
          </p:cNvPr>
          <p:cNvSpPr txBox="1"/>
          <p:nvPr/>
        </p:nvSpPr>
        <p:spPr>
          <a:xfrm>
            <a:off x="585216" y="762293"/>
            <a:ext cx="871118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🤔 Why LLM Evaluation is Different</a:t>
            </a:r>
          </a:p>
          <a:p>
            <a:pPr marL="457200" indent="-457200">
              <a:buAutoNum type="arabicPeriod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Traditional ML: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Clear labels → accuracy, precision, recall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Open-ended outputs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Multiple correct answers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Subjective quality (tone, helpfulness, safety)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Example: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Question: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"Explain AI to a 10-year-old"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is no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single correct answer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evaluation becomes nuanced.</a:t>
            </a:r>
          </a:p>
        </p:txBody>
      </p:sp>
    </p:spTree>
    <p:extLst>
      <p:ext uri="{BB962C8B-B14F-4D97-AF65-F5344CB8AC3E}">
        <p14:creationId xmlns:p14="http://schemas.microsoft.com/office/powerpoint/2010/main" val="1395630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705BC-383A-AE57-36E6-85B7D3D70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B636E9F-C801-CF39-2FF0-761EC8ABDFD3}"/>
              </a:ext>
            </a:extLst>
          </p:cNvPr>
          <p:cNvSpPr txBox="1"/>
          <p:nvPr/>
        </p:nvSpPr>
        <p:spPr>
          <a:xfrm>
            <a:off x="256032" y="762293"/>
            <a:ext cx="6172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 startAt="2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Types of LLM Evaluation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1C3312-F7A7-F7DD-80B7-FB3A8958C6FE}"/>
              </a:ext>
            </a:extLst>
          </p:cNvPr>
          <p:cNvSpPr txBox="1"/>
          <p:nvPr/>
        </p:nvSpPr>
        <p:spPr>
          <a:xfrm>
            <a:off x="306324" y="1693640"/>
            <a:ext cx="528066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lphaUcPeriod"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Automatic Evaluation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String-based metrics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Semantic similarity</a:t>
            </a:r>
          </a:p>
          <a:p>
            <a:pPr marL="457200" indent="-457200">
              <a:buAutoNum type="arabicPeriod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LLM-as-a-Judge ( Important 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9A853A-AC16-9371-5AA0-14BCB41B534A}"/>
              </a:ext>
            </a:extLst>
          </p:cNvPr>
          <p:cNvSpPr txBox="1"/>
          <p:nvPr/>
        </p:nvSpPr>
        <p:spPr>
          <a:xfrm>
            <a:off x="5426964" y="1717286"/>
            <a:ext cx="22265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B. Human Evaluation (Gold Standard)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031E9D-BF38-D0E2-7A85-206A146424F6}"/>
              </a:ext>
            </a:extLst>
          </p:cNvPr>
          <p:cNvSpPr txBox="1"/>
          <p:nvPr/>
        </p:nvSpPr>
        <p:spPr>
          <a:xfrm>
            <a:off x="8869680" y="1662422"/>
            <a:ext cx="28163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C. Task-Based Evaluation (Best for Applications)</a:t>
            </a:r>
          </a:p>
        </p:txBody>
      </p:sp>
    </p:spTree>
    <p:extLst>
      <p:ext uri="{BB962C8B-B14F-4D97-AF65-F5344CB8AC3E}">
        <p14:creationId xmlns:p14="http://schemas.microsoft.com/office/powerpoint/2010/main" val="3213300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B35EE-D878-543C-969D-3B62804A1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93FF16B-3889-ABEF-1307-22D9918FE825}"/>
              </a:ext>
            </a:extLst>
          </p:cNvPr>
          <p:cNvSpPr txBox="1"/>
          <p:nvPr/>
        </p:nvSpPr>
        <p:spPr>
          <a:xfrm>
            <a:off x="338328" y="359957"/>
            <a:ext cx="8711184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 startAt="2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Types of LLM Evaluation</a:t>
            </a:r>
          </a:p>
          <a:p>
            <a:pPr marL="457200" indent="-457200">
              <a:buAutoNum type="arabicPeriod" startAt="2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A. Automatic Evaluation (Fast but Limited)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String-based metrics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BLEU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ROUGE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Used in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Machine translation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Summarization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⚠️ Problem: They measure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text overlap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not meaning.</a:t>
            </a:r>
          </a:p>
        </p:txBody>
      </p:sp>
    </p:spTree>
    <p:extLst>
      <p:ext uri="{BB962C8B-B14F-4D97-AF65-F5344CB8AC3E}">
        <p14:creationId xmlns:p14="http://schemas.microsoft.com/office/powerpoint/2010/main" val="283018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A98F0-CD90-F8B7-290B-2A4D52DC3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19469F0-4C23-1A7A-57F4-8510203B423C}"/>
              </a:ext>
            </a:extLst>
          </p:cNvPr>
          <p:cNvSpPr txBox="1"/>
          <p:nvPr/>
        </p:nvSpPr>
        <p:spPr>
          <a:xfrm>
            <a:off x="338328" y="350813"/>
            <a:ext cx="779983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Semantic similarity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Cosine similarity using embeddings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Example: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"AI is machine intelligence"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"Artificial intelligence is intelligence shown by machines“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Different words → same meaning → good score</a:t>
            </a:r>
          </a:p>
        </p:txBody>
      </p:sp>
    </p:spTree>
    <p:extLst>
      <p:ext uri="{BB962C8B-B14F-4D97-AF65-F5344CB8AC3E}">
        <p14:creationId xmlns:p14="http://schemas.microsoft.com/office/powerpoint/2010/main" val="3785535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2FE88-51DF-F103-BB1F-5358440D6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F65131A-BD0B-CC01-48B8-B391DA982820}"/>
              </a:ext>
            </a:extLst>
          </p:cNvPr>
          <p:cNvSpPr txBox="1"/>
          <p:nvPr/>
        </p:nvSpPr>
        <p:spPr>
          <a:xfrm>
            <a:off x="338328" y="350813"/>
            <a:ext cx="77998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Semantic similarity</a:t>
            </a:r>
          </a:p>
          <a:p>
            <a:r>
              <a:rPr lang="en-US" sz="240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of Cosine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similarity using embeddings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B13598-8115-1970-D75C-A15F404EF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13158"/>
            <a:ext cx="8062375" cy="519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668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9F351-97E6-99BC-3574-5624CF0BD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7BC9DE6-44C1-D42B-A1AB-DB42B34ECF59}"/>
              </a:ext>
            </a:extLst>
          </p:cNvPr>
          <p:cNvSpPr txBox="1"/>
          <p:nvPr/>
        </p:nvSpPr>
        <p:spPr>
          <a:xfrm>
            <a:off x="338328" y="359957"/>
            <a:ext cx="871118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LLM-as-a-Judge (Very Important Concept)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one LLM to evaluate another.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prompt: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Score the answer from 1–10 based on: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correctness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clarity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- completeness</a:t>
            </a:r>
          </a:p>
        </p:txBody>
      </p:sp>
    </p:spTree>
    <p:extLst>
      <p:ext uri="{BB962C8B-B14F-4D97-AF65-F5344CB8AC3E}">
        <p14:creationId xmlns:p14="http://schemas.microsoft.com/office/powerpoint/2010/main" val="698075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24533-D77A-1785-35A3-0E55C66CC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5E8481D-47C6-F2CE-702D-0ADA63226212}"/>
              </a:ext>
            </a:extLst>
          </p:cNvPr>
          <p:cNvSpPr txBox="1"/>
          <p:nvPr/>
        </p:nvSpPr>
        <p:spPr>
          <a:xfrm>
            <a:off x="338328" y="359957"/>
            <a:ext cx="871118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B. Human Evaluation (Gold Standard)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Humans rate outputs 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Correctness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Helpfulness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Tone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Safety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Scale 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 = Bad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 = Excellent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⚠️ Downsides: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Expensive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Slow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Subjective – Person A and Person B may have different evaluation</a:t>
            </a:r>
          </a:p>
        </p:txBody>
      </p:sp>
    </p:spTree>
    <p:extLst>
      <p:ext uri="{BB962C8B-B14F-4D97-AF65-F5344CB8AC3E}">
        <p14:creationId xmlns:p14="http://schemas.microsoft.com/office/powerpoint/2010/main" val="2694015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FE0C2-515A-1FB9-6E87-2332007B9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2A2EF94-E9B7-B103-0BFE-8AE5618DE19D}"/>
              </a:ext>
            </a:extLst>
          </p:cNvPr>
          <p:cNvSpPr txBox="1"/>
          <p:nvPr/>
        </p:nvSpPr>
        <p:spPr>
          <a:xfrm>
            <a:off x="338328" y="359957"/>
            <a:ext cx="871118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C. Task-Based Evaluation (Best for Applications)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Evaluate based 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 task success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Example: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CD03DD2-7896-A4EF-DC8D-985763A885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490255"/>
              </p:ext>
            </p:extLst>
          </p:nvPr>
        </p:nvGraphicFramePr>
        <p:xfrm>
          <a:off x="600456" y="2514600"/>
          <a:ext cx="6979920" cy="1828800"/>
        </p:xfrm>
        <a:graphic>
          <a:graphicData uri="http://schemas.openxmlformats.org/drawingml/2006/table">
            <a:tbl>
              <a:tblPr/>
              <a:tblGrid>
                <a:gridCol w="3121152">
                  <a:extLst>
                    <a:ext uri="{9D8B030D-6E8A-4147-A177-3AD203B41FA5}">
                      <a16:colId xmlns:a16="http://schemas.microsoft.com/office/drawing/2014/main" val="2187318101"/>
                    </a:ext>
                  </a:extLst>
                </a:gridCol>
                <a:gridCol w="3858768">
                  <a:extLst>
                    <a:ext uri="{9D8B030D-6E8A-4147-A177-3AD203B41FA5}">
                      <a16:colId xmlns:a16="http://schemas.microsoft.com/office/drawing/2014/main" val="36754896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Application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48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Chatbot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% of correct answers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68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RAG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Retrieval relevance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882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Code generator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Code runs successfully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13748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2234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D6BD6-2C39-49FE-9C58-E3E039118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1A4A1F4-41F3-B2C1-09EE-7E0C49E2D52F}"/>
              </a:ext>
            </a:extLst>
          </p:cNvPr>
          <p:cNvSpPr txBox="1"/>
          <p:nvPr/>
        </p:nvSpPr>
        <p:spPr>
          <a:xfrm>
            <a:off x="338328" y="359957"/>
            <a:ext cx="583387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📊 Key Metrics in Evaluation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1. Accuracy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Correct vs incorrect answers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Hallucination Rate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% of answers that are factually wrong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Relevance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Does the answer match the question?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91C09E-C0CF-D3E7-F215-1E848C302F01}"/>
              </a:ext>
            </a:extLst>
          </p:cNvPr>
          <p:cNvSpPr txBox="1"/>
          <p:nvPr/>
        </p:nvSpPr>
        <p:spPr>
          <a:xfrm>
            <a:off x="6067044" y="764739"/>
            <a:ext cx="600303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Faithfulness (Important for RAG)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Does the answer stick to provided context?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5. Latency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fast is the response?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Cost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 usage cost per request</a:t>
            </a:r>
          </a:p>
        </p:txBody>
      </p:sp>
    </p:spTree>
    <p:extLst>
      <p:ext uri="{BB962C8B-B14F-4D97-AF65-F5344CB8AC3E}">
        <p14:creationId xmlns:p14="http://schemas.microsoft.com/office/powerpoint/2010/main" val="1509985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1537</TotalTime>
  <Words>358</Words>
  <Application>Microsoft Office PowerPoint</Application>
  <PresentationFormat>Widescreen</PresentationFormat>
  <Paragraphs>102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294</cp:revision>
  <dcterms:created xsi:type="dcterms:W3CDTF">2025-09-22T02:44:38Z</dcterms:created>
  <dcterms:modified xsi:type="dcterms:W3CDTF">2026-03-26T10:52:24Z</dcterms:modified>
</cp:coreProperties>
</file>