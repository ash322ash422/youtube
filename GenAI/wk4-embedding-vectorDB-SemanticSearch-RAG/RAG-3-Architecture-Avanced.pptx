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7" r:id="rId2"/>
    <p:sldId id="276" r:id="rId3"/>
    <p:sldId id="277" r:id="rId4"/>
    <p:sldId id="278" r:id="rId5"/>
    <p:sldId id="287" r:id="rId6"/>
    <p:sldId id="280" r:id="rId7"/>
    <p:sldId id="279" r:id="rId8"/>
    <p:sldId id="281" r:id="rId9"/>
    <p:sldId id="282" r:id="rId10"/>
    <p:sldId id="283" r:id="rId11"/>
    <p:sldId id="284" r:id="rId12"/>
    <p:sldId id="285" r:id="rId13"/>
    <p:sldId id="288" r:id="rId14"/>
    <p:sldId id="298" r:id="rId15"/>
    <p:sldId id="299" r:id="rId16"/>
    <p:sldId id="301" r:id="rId17"/>
    <p:sldId id="300" r:id="rId18"/>
    <p:sldId id="303" r:id="rId19"/>
    <p:sldId id="302" r:id="rId20"/>
    <p:sldId id="305" r:id="rId21"/>
    <p:sldId id="306" r:id="rId22"/>
    <p:sldId id="307" r:id="rId23"/>
    <p:sldId id="308" r:id="rId24"/>
    <p:sldId id="304" r:id="rId25"/>
    <p:sldId id="309" r:id="rId26"/>
    <p:sldId id="286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75" r:id="rId37"/>
    <p:sldId id="311" r:id="rId38"/>
    <p:sldId id="312" r:id="rId39"/>
    <p:sldId id="313" r:id="rId40"/>
    <p:sldId id="314" r:id="rId41"/>
    <p:sldId id="315" r:id="rId42"/>
    <p:sldId id="316" r:id="rId43"/>
    <p:sldId id="310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6T01:25:13.80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6T01:25:13.80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6T01:26:49.4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106 79 2192 0 0,'-37'-30'2420'0'0,"33"25"-2304"0"0,1 3 1 0 0,1-3-1 0 0,-2 3 1 0 0,1 0-1 0 0,-1-3 1 0 0,-1 3-1 0 0,3-1 0 0 0,-3 1 1 0 0,1 0-1 0 0,-1-1 1 0 0,1 3-1 0 0,-8-4 729 0 0,1-8-43 0 0,236 117-745 0 0,257 77 1 0 0,-75-61-47 0 0,443 68 1 0 0,-691-164 14 0 0,548 106 91 0 0,-702-131-69 0 0,31 7 521 0 0,30 7 1979 0 0,-111-52-2511 0 0,2-1 0 0 0,2-3-1 0 0,-43-58 1 0 0,40 46-35 0 0,-1 3 1 0 0,-85-70-1 0 0,-68-38-63 0 0,196 157 57 0 0,32 27-311 0 0,72 71 317 0 0,7-3 1 0 0,3-7-1 0 0,1-4 0 0 0,131 69 0 0 0,-208-130-7 0 0,-20-4 2 0 0,-12-10 1 0 0,3-3 0 0 0,-2 3 0 0 0,2-2 0 0 0,-1 0 0 0 0,1-1 0 0 0,0 1 0 0 0,0 0 0 0 0,0-1 0 0 0,2-1 1 0 0,-2 1-1 0 0,8 1 0 0 0,-15-3 0 0 0,3-2 0 0 0,-3 0 0 0 0,0 0 0 0 0,0 3 0 0 0,2-3 0 0 0,-2 0 0 0 0,0 2-1 0 0,0-2 1 0 0,2 0 0 0 0,-2 2 0 0 0,0-2 0 0 0,0 0 0 0 0,0 3 0 0 0,0-3 0 0 0,3 2 0 0 0,-3-2 0 0 0,0 0 0 0 0,0 2 0 0 0,0-2 0 0 0,0 3 0 0 0,0-3 0 0 0,0 2 0 0 0,0-2 0 0 0,0 0 0 0 0,0 2 0 0 0,0-2 0 0 0,0 3 0 0 0,-3-3 0 0 0,3 0 0 0 0,0 2 0 0 0,0-2 0 0 0,0 0 0 0 0,0 2 0 0 0,-2-2 0 0 0,2 3 0 0 0,0-3 0 0 0,0 0 0 0 0,-2 0 0 0 0,2 2 0 0 0,0-2 0 0 0,0 0 0 0 0,-3 2 0 0 0,3-2 0 0 0,-2 0 0 0 0,2 0 0 0 0,0 0 0 0 0,-2 3 0 0 0,2-3 0 0 0,0 0 0 0 0,-2 0 0 0 0,-1 0-1 0 0,-40 30 7 0 0,-30 0 0 0 0,-4-2 1 0 0,2-2-1 0 0,-4-5 1 0 0,-85 9-1 0 0,27-2 5 0 0,-613 114 51 0 0,718-135-953 0 0,26-5 370 0 0,-1-2 1 0 0,0 3-1 0 0,0-1 1 0 0,0-2-1 0 0,0 0 1 0 0,-2 0-1 0 0,3 0 0 0 0,-1 0 1 0 0,-7 0-1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6T01:26:49.4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109 183 6397 0 0,'-79'-84'-508'0'0,"76"82"618"0"0,-24-94 2414 0 0,125 159-2025 0 0,181 84 0 0 0,335 102-467 0 0,-336-142 20 0 0,-147-56 415 0 0,-126-48-393 0 0,31 8 588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6T01:27:08.81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106 79 2192 0 0,'-37'-30'2420'0'0,"33"25"-2304"0"0,1 3 1 0 0,1-3-1 0 0,-2 3 1 0 0,1 0-1 0 0,-1-3 1 0 0,-1 3-1 0 0,3-1 0 0 0,-3 1 1 0 0,1 0-1 0 0,-1-1 1 0 0,1 3-1 0 0,-8-4 729 0 0,1-8-43 0 0,236 117-745 0 0,257 77 1 0 0,-75-61-47 0 0,443 68 1 0 0,-691-164 14 0 0,548 106 91 0 0,-702-131-69 0 0,31 7 521 0 0,30 7 1979 0 0,-111-52-2511 0 0,2-1 0 0 0,2-3-1 0 0,-43-58 1 0 0,40 46-35 0 0,-1 3 1 0 0,-85-70-1 0 0,-68-38-63 0 0,196 157 57 0 0,32 27-311 0 0,72 71 317 0 0,7-3 1 0 0,3-7-1 0 0,1-4 0 0 0,131 69 0 0 0,-208-130-7 0 0,-20-4 2 0 0,-12-10 1 0 0,3-3 0 0 0,-2 3 0 0 0,2-2 0 0 0,-1 0 0 0 0,1-1 0 0 0,0 1 0 0 0,0 0 0 0 0,0-1 0 0 0,2-1 1 0 0,-2 1-1 0 0,8 1 0 0 0,-15-3 0 0 0,3-2 0 0 0,-3 0 0 0 0,0 0 0 0 0,0 3 0 0 0,2-3 0 0 0,-2 0 0 0 0,0 2-1 0 0,0-2 1 0 0,2 0 0 0 0,-2 2 0 0 0,0-2 0 0 0,0 0 0 0 0,0 3 0 0 0,0-3 0 0 0,3 2 0 0 0,-3-2 0 0 0,0 0 0 0 0,0 2 0 0 0,0-2 0 0 0,0 3 0 0 0,0-3 0 0 0,0 2 0 0 0,0-2 0 0 0,0 0 0 0 0,0 2 0 0 0,0-2 0 0 0,0 3 0 0 0,-3-3 0 0 0,3 0 0 0 0,0 2 0 0 0,0-2 0 0 0,0 0 0 0 0,0 2 0 0 0,-2-2 0 0 0,2 3 0 0 0,0-3 0 0 0,0 0 0 0 0,-2 0 0 0 0,2 2 0 0 0,0-2 0 0 0,0 0 0 0 0,-3 2 0 0 0,3-2 0 0 0,-2 0 0 0 0,2 0 0 0 0,0 0 0 0 0,-2 3 0 0 0,2-3 0 0 0,0 0 0 0 0,-2 0 0 0 0,-1 0-1 0 0,-40 30 7 0 0,-30 0 0 0 0,-4-2 1 0 0,2-2-1 0 0,-4-5 1 0 0,-85 9-1 0 0,27-2 5 0 0,-613 114 51 0 0,718-135-953 0 0,26-5 370 0 0,-1-2 1 0 0,0 3-1 0 0,0-1 1 0 0,0-2-1 0 0,0 0 1 0 0,-2 0-1 0 0,3 0 0 0 0,-1 0 1 0 0,-7 0-1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6T01:27:08.81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109 183 6397 0 0,'-79'-84'-508'0'0,"76"82"618"0"0,-24-94 2414 0 0,125 159-2025 0 0,181 84 0 0 0,335 102-467 0 0,-336-142 20 0 0,-147-56 415 0 0,-126-48-393 0 0,31 8 588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customXml" Target="../ink/ink2.xml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10" Type="http://schemas.openxmlformats.org/officeDocument/2006/relationships/customXml" Target="../ink/ink4.xml"/><Relationship Id="rId9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EC9E02E8-A869-D34D-8F99-19A4471B5FFE}"/>
              </a:ext>
            </a:extLst>
          </p:cNvPr>
          <p:cNvSpPr/>
          <p:nvPr/>
        </p:nvSpPr>
        <p:spPr>
          <a:xfrm>
            <a:off x="6818926" y="2338914"/>
            <a:ext cx="1364954" cy="96336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6F16F23-DF6D-5762-03ED-58ACE840885B}"/>
              </a:ext>
            </a:extLst>
          </p:cNvPr>
          <p:cNvSpPr/>
          <p:nvPr/>
        </p:nvSpPr>
        <p:spPr>
          <a:xfrm>
            <a:off x="3291457" y="4207480"/>
            <a:ext cx="1442930" cy="125269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709A2D-BF59-A281-3BB3-3E70CA9E11EF}"/>
              </a:ext>
            </a:extLst>
          </p:cNvPr>
          <p:cNvSpPr/>
          <p:nvPr/>
        </p:nvSpPr>
        <p:spPr>
          <a:xfrm>
            <a:off x="3862100" y="2272580"/>
            <a:ext cx="1086174" cy="80611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6F321B1-6860-B858-FF4E-FE358B3CCC69}"/>
              </a:ext>
            </a:extLst>
          </p:cNvPr>
          <p:cNvSpPr/>
          <p:nvPr/>
        </p:nvSpPr>
        <p:spPr>
          <a:xfrm>
            <a:off x="1873244" y="3133584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20E39A-02B5-576B-2047-ABE92BADB9E5}"/>
              </a:ext>
            </a:extLst>
          </p:cNvPr>
          <p:cNvGrpSpPr/>
          <p:nvPr/>
        </p:nvGrpSpPr>
        <p:grpSpPr>
          <a:xfrm>
            <a:off x="3898622" y="396358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049B41E-F1CF-CD0A-7E59-FC5E82CE2445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D6E8C5B-9C14-5CF7-16B3-0F7ECE7014E4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73E5AED9-1CFD-76D8-CF14-AF816C9EADC3}"/>
              </a:ext>
            </a:extLst>
          </p:cNvPr>
          <p:cNvSpPr/>
          <p:nvPr/>
        </p:nvSpPr>
        <p:spPr>
          <a:xfrm>
            <a:off x="3376315" y="1118982"/>
            <a:ext cx="3754332" cy="7054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  <a:p>
            <a:pPr algn="ctr"/>
            <a:r>
              <a:rPr lang="en-US" dirty="0"/>
              <a:t>(Who founded Loxford Academy ?)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05FE33-386B-4310-A68B-6F31D9397E7A}"/>
              </a:ext>
            </a:extLst>
          </p:cNvPr>
          <p:cNvSpPr/>
          <p:nvPr/>
        </p:nvSpPr>
        <p:spPr>
          <a:xfrm>
            <a:off x="5091148" y="3805546"/>
            <a:ext cx="2169187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  <a:p>
            <a:pPr algn="ctr"/>
            <a:r>
              <a:rPr lang="en-US" dirty="0"/>
              <a:t>(ChatGPT, etc.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ADFDCC-9EBD-C406-A0FD-F9D62FBAD470}"/>
              </a:ext>
            </a:extLst>
          </p:cNvPr>
          <p:cNvGrpSpPr/>
          <p:nvPr/>
        </p:nvGrpSpPr>
        <p:grpSpPr>
          <a:xfrm rot="2846593">
            <a:off x="4492770" y="2630575"/>
            <a:ext cx="1419139" cy="541894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F7A7C8C-0965-C75A-2C76-80CF75D2B6BB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0BA996-3C70-CC3B-5006-E0ECCE09B3F7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49F216-DDE0-127E-08F9-B711C3F1EADA}"/>
              </a:ext>
            </a:extLst>
          </p:cNvPr>
          <p:cNvGrpSpPr/>
          <p:nvPr/>
        </p:nvGrpSpPr>
        <p:grpSpPr>
          <a:xfrm rot="15769205">
            <a:off x="5786729" y="2572948"/>
            <a:ext cx="1419139" cy="541894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99BAECA-B92A-E652-05DF-E294098944D7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2D5C6CC-47F6-F5D6-4C3C-471E3BF2398B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ED102F1-FD54-12A3-DD04-88501522406B}"/>
              </a:ext>
            </a:extLst>
          </p:cNvPr>
          <p:cNvSpPr txBox="1"/>
          <p:nvPr/>
        </p:nvSpPr>
        <p:spPr>
          <a:xfrm>
            <a:off x="4094045" y="2247693"/>
            <a:ext cx="6222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</a:t>
            </a:r>
          </a:p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5FB36D-39F4-F1D2-CF26-7C3753D989ED}"/>
              </a:ext>
            </a:extLst>
          </p:cNvPr>
          <p:cNvSpPr txBox="1"/>
          <p:nvPr/>
        </p:nvSpPr>
        <p:spPr>
          <a:xfrm>
            <a:off x="3378403" y="4136195"/>
            <a:ext cx="12904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</a:p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Retrieve </a:t>
            </a:r>
          </a:p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83943D-9FA8-2971-030F-9FB417D31654}"/>
              </a:ext>
            </a:extLst>
          </p:cNvPr>
          <p:cNvSpPr txBox="1"/>
          <p:nvPr/>
        </p:nvSpPr>
        <p:spPr>
          <a:xfrm>
            <a:off x="6776255" y="2273175"/>
            <a:ext cx="140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</a:t>
            </a:r>
          </a:p>
          <a:p>
            <a:pPr algn="ctr"/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7CB5-6BA0-3724-F8C5-097DEABC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F436FE-A4B0-6DA5-31D7-08B3E63553BD}"/>
              </a:ext>
            </a:extLst>
          </p:cNvPr>
          <p:cNvSpPr/>
          <p:nvPr/>
        </p:nvSpPr>
        <p:spPr>
          <a:xfrm>
            <a:off x="1821834" y="129844"/>
            <a:ext cx="6572357" cy="307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 founded Loxford Academy 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66E154-1574-316B-84D4-124AAC057C9A}"/>
              </a:ext>
            </a:extLst>
          </p:cNvPr>
          <p:cNvSpPr/>
          <p:nvPr/>
        </p:nvSpPr>
        <p:spPr>
          <a:xfrm>
            <a:off x="2501941" y="4184341"/>
            <a:ext cx="2962656" cy="2772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  Embedding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E8E1A-A354-C369-DAC7-CD7CD7C26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171" y="4974492"/>
            <a:ext cx="1045688" cy="11090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98A074D-1F1A-C048-CD43-18D26B839A1F}"/>
              </a:ext>
            </a:extLst>
          </p:cNvPr>
          <p:cNvSpPr/>
          <p:nvPr/>
        </p:nvSpPr>
        <p:spPr>
          <a:xfrm>
            <a:off x="1520135" y="670943"/>
            <a:ext cx="8465113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Gateway + OAUTH2.0, JWT + Audit-Log + Session Store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9AAFC4-40BE-7D51-650C-CF92AAC10F3B}"/>
              </a:ext>
            </a:extLst>
          </p:cNvPr>
          <p:cNvSpPr/>
          <p:nvPr/>
        </p:nvSpPr>
        <p:spPr>
          <a:xfrm>
            <a:off x="816790" y="4787040"/>
            <a:ext cx="973985" cy="37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61406E-EDF4-D6F9-DF3C-D4A345956174}"/>
              </a:ext>
            </a:extLst>
          </p:cNvPr>
          <p:cNvSpPr/>
          <p:nvPr/>
        </p:nvSpPr>
        <p:spPr>
          <a:xfrm>
            <a:off x="816790" y="5341571"/>
            <a:ext cx="973985" cy="37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28942A-F069-EE40-877C-9C0155A520CB}"/>
              </a:ext>
            </a:extLst>
          </p:cNvPr>
          <p:cNvSpPr/>
          <p:nvPr/>
        </p:nvSpPr>
        <p:spPr>
          <a:xfrm>
            <a:off x="816790" y="5896102"/>
            <a:ext cx="973985" cy="37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Chunk3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1A24A8-DD40-4810-93AA-A8169C392B3C}"/>
              </a:ext>
            </a:extLst>
          </p:cNvPr>
          <p:cNvSpPr/>
          <p:nvPr/>
        </p:nvSpPr>
        <p:spPr>
          <a:xfrm>
            <a:off x="2340790" y="4787040"/>
            <a:ext cx="1600274" cy="37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EF14D8-92C4-6440-0299-41C833ECE380}"/>
              </a:ext>
            </a:extLst>
          </p:cNvPr>
          <p:cNvSpPr/>
          <p:nvPr/>
        </p:nvSpPr>
        <p:spPr>
          <a:xfrm>
            <a:off x="2340790" y="5341571"/>
            <a:ext cx="1600274" cy="37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58976A-3ED1-1B8C-1435-B9D469F48A39}"/>
              </a:ext>
            </a:extLst>
          </p:cNvPr>
          <p:cNvSpPr/>
          <p:nvPr/>
        </p:nvSpPr>
        <p:spPr>
          <a:xfrm>
            <a:off x="2340790" y="5896102"/>
            <a:ext cx="1600274" cy="3749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embedding3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31B2304-46C7-07CC-B067-A25B37F7C0AF}"/>
              </a:ext>
            </a:extLst>
          </p:cNvPr>
          <p:cNvSpPr/>
          <p:nvPr/>
        </p:nvSpPr>
        <p:spPr>
          <a:xfrm>
            <a:off x="1846326" y="4862859"/>
            <a:ext cx="438912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795D9D0-02A8-CFCB-9024-87DA8AD2E4C8}"/>
              </a:ext>
            </a:extLst>
          </p:cNvPr>
          <p:cNvSpPr/>
          <p:nvPr/>
        </p:nvSpPr>
        <p:spPr>
          <a:xfrm>
            <a:off x="1846326" y="5417390"/>
            <a:ext cx="438912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10F2BE0-4173-400E-1B14-61054C373534}"/>
              </a:ext>
            </a:extLst>
          </p:cNvPr>
          <p:cNvSpPr/>
          <p:nvPr/>
        </p:nvSpPr>
        <p:spPr>
          <a:xfrm>
            <a:off x="1846326" y="5971921"/>
            <a:ext cx="438912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E88F7C0-088D-CA9C-0867-66ADFF4672CF}"/>
              </a:ext>
            </a:extLst>
          </p:cNvPr>
          <p:cNvSpPr/>
          <p:nvPr/>
        </p:nvSpPr>
        <p:spPr>
          <a:xfrm rot="853361">
            <a:off x="4262479" y="4972722"/>
            <a:ext cx="922169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3110E86-92EB-4333-3281-50F22AF87D57}"/>
              </a:ext>
            </a:extLst>
          </p:cNvPr>
          <p:cNvSpPr/>
          <p:nvPr/>
        </p:nvSpPr>
        <p:spPr>
          <a:xfrm>
            <a:off x="4154292" y="5448591"/>
            <a:ext cx="948759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DF5C1F0-01B7-FD1F-ADF9-E583621D58B6}"/>
              </a:ext>
            </a:extLst>
          </p:cNvPr>
          <p:cNvSpPr/>
          <p:nvPr/>
        </p:nvSpPr>
        <p:spPr>
          <a:xfrm rot="20750079">
            <a:off x="4154292" y="5846204"/>
            <a:ext cx="948759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41AAAC-F8B8-A62C-01F7-589B05E61B5E}"/>
              </a:ext>
            </a:extLst>
          </p:cNvPr>
          <p:cNvSpPr/>
          <p:nvPr/>
        </p:nvSpPr>
        <p:spPr>
          <a:xfrm>
            <a:off x="7756618" y="5864074"/>
            <a:ext cx="3318357" cy="676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Hybrid ranker/ </a:t>
            </a:r>
            <a:r>
              <a:rPr lang="en-US" dirty="0" err="1"/>
              <a:t>reranker</a:t>
            </a:r>
            <a:endParaRPr lang="en-US" dirty="0"/>
          </a:p>
          <a:p>
            <a:pPr algn="ctr"/>
            <a:r>
              <a:rPr lang="en-US" dirty="0"/>
              <a:t>(BM25, dense-cross encoder)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632909-AC30-CB00-5875-96153A7475E9}"/>
              </a:ext>
            </a:extLst>
          </p:cNvPr>
          <p:cNvSpPr/>
          <p:nvPr/>
        </p:nvSpPr>
        <p:spPr>
          <a:xfrm>
            <a:off x="8125959" y="4097385"/>
            <a:ext cx="1863275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Inference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0127083-7D61-C88F-6818-FF875DE510F2}"/>
              </a:ext>
            </a:extLst>
          </p:cNvPr>
          <p:cNvSpPr/>
          <p:nvPr/>
        </p:nvSpPr>
        <p:spPr>
          <a:xfrm rot="16200000">
            <a:off x="8760071" y="5497203"/>
            <a:ext cx="268510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CF8AB4D8-552B-311D-CBDA-E25C4B436B44}"/>
              </a:ext>
            </a:extLst>
          </p:cNvPr>
          <p:cNvSpPr/>
          <p:nvPr/>
        </p:nvSpPr>
        <p:spPr>
          <a:xfrm rot="889106">
            <a:off x="6588386" y="5918288"/>
            <a:ext cx="975340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ADE94C5-46FC-C087-38B7-AA57AD869766}"/>
              </a:ext>
            </a:extLst>
          </p:cNvPr>
          <p:cNvSpPr/>
          <p:nvPr/>
        </p:nvSpPr>
        <p:spPr>
          <a:xfrm rot="5400000">
            <a:off x="216845" y="2983881"/>
            <a:ext cx="666973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01D5045-E7C5-3BF6-B116-5DAD12F54D4F}"/>
              </a:ext>
            </a:extLst>
          </p:cNvPr>
          <p:cNvSpPr/>
          <p:nvPr/>
        </p:nvSpPr>
        <p:spPr>
          <a:xfrm rot="5400000">
            <a:off x="3301161" y="2436996"/>
            <a:ext cx="238995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FBB5449-6C33-77D7-6CC3-F89F465E787B}"/>
              </a:ext>
            </a:extLst>
          </p:cNvPr>
          <p:cNvSpPr/>
          <p:nvPr/>
        </p:nvSpPr>
        <p:spPr>
          <a:xfrm rot="5400000">
            <a:off x="3376799" y="460374"/>
            <a:ext cx="197872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3EB9EF4-1413-6EDB-1F0E-6CF0C38D76B4}"/>
              </a:ext>
            </a:extLst>
          </p:cNvPr>
          <p:cNvSpPr/>
          <p:nvPr/>
        </p:nvSpPr>
        <p:spPr>
          <a:xfrm rot="16200000">
            <a:off x="8829801" y="3834337"/>
            <a:ext cx="232327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8BA3AE-0837-E234-7922-9D72B64058C5}"/>
              </a:ext>
            </a:extLst>
          </p:cNvPr>
          <p:cNvSpPr/>
          <p:nvPr/>
        </p:nvSpPr>
        <p:spPr>
          <a:xfrm>
            <a:off x="816790" y="1596296"/>
            <a:ext cx="5005591" cy="81151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Input Guardrail</a:t>
            </a:r>
          </a:p>
          <a:p>
            <a:pPr algn="ctr"/>
            <a:r>
              <a:rPr lang="en-US" dirty="0"/>
              <a:t>PII Scrubbing, toxicity filter, prompt  injection</a:t>
            </a:r>
          </a:p>
          <a:p>
            <a:pPr algn="ctr"/>
            <a:r>
              <a:rPr lang="en-US" dirty="0"/>
              <a:t>Query validation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7C711A22-033B-5BFD-A121-1AC2E9D33988}"/>
              </a:ext>
            </a:extLst>
          </p:cNvPr>
          <p:cNvSpPr/>
          <p:nvPr/>
        </p:nvSpPr>
        <p:spPr>
          <a:xfrm rot="5400000">
            <a:off x="333298" y="1583654"/>
            <a:ext cx="434068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6241004B-A400-B4B9-E5C3-D9D65A25C700}"/>
              </a:ext>
            </a:extLst>
          </p:cNvPr>
          <p:cNvSpPr/>
          <p:nvPr/>
        </p:nvSpPr>
        <p:spPr>
          <a:xfrm rot="16200000">
            <a:off x="8822576" y="4675406"/>
            <a:ext cx="246777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99792B86-0C53-C191-166C-0CD5B314612E}"/>
              </a:ext>
            </a:extLst>
          </p:cNvPr>
          <p:cNvSpPr/>
          <p:nvPr/>
        </p:nvSpPr>
        <p:spPr>
          <a:xfrm rot="14317587">
            <a:off x="7013670" y="1296306"/>
            <a:ext cx="381046" cy="223265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40EA1D-0464-CA8D-BB3C-E67C36577E27}"/>
              </a:ext>
            </a:extLst>
          </p:cNvPr>
          <p:cNvSpPr/>
          <p:nvPr/>
        </p:nvSpPr>
        <p:spPr>
          <a:xfrm>
            <a:off x="6879979" y="2929353"/>
            <a:ext cx="4251960" cy="92197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Output Guardrail</a:t>
            </a:r>
          </a:p>
          <a:p>
            <a:pPr algn="ctr"/>
            <a:r>
              <a:rPr lang="en-US" dirty="0"/>
              <a:t>(Hallucination Check, faithfulness score, toxicity, refusal)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60B85-47DD-4D8B-7AB9-AC4D03A28202}"/>
              </a:ext>
            </a:extLst>
          </p:cNvPr>
          <p:cNvSpPr/>
          <p:nvPr/>
        </p:nvSpPr>
        <p:spPr>
          <a:xfrm>
            <a:off x="1387252" y="2647804"/>
            <a:ext cx="4718303" cy="1195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Query Intelligence</a:t>
            </a:r>
          </a:p>
          <a:p>
            <a:pPr algn="ctr"/>
            <a:r>
              <a:rPr lang="en-US" dirty="0"/>
              <a:t>Query Rewriter (Hyde, Multi query expansion)</a:t>
            </a:r>
          </a:p>
          <a:p>
            <a:pPr algn="ctr"/>
            <a:r>
              <a:rPr lang="en-US" dirty="0"/>
              <a:t>Intent Classifier(Route to right index)</a:t>
            </a:r>
          </a:p>
          <a:p>
            <a:pPr algn="ctr"/>
            <a:r>
              <a:rPr lang="en-US" dirty="0"/>
              <a:t>Context Manager (Chat History + Memory)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8A00E8-A089-8E1A-F94D-869E780B7B15}"/>
              </a:ext>
            </a:extLst>
          </p:cNvPr>
          <p:cNvSpPr/>
          <p:nvPr/>
        </p:nvSpPr>
        <p:spPr>
          <a:xfrm>
            <a:off x="7700764" y="4945679"/>
            <a:ext cx="2713667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Context Assembly</a:t>
            </a:r>
          </a:p>
          <a:p>
            <a:pPr algn="ctr"/>
            <a:r>
              <a:rPr lang="en-US" dirty="0"/>
              <a:t>Prompt Builder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17578-C621-7DF4-D3E3-5BBF8A419F5E}"/>
              </a:ext>
            </a:extLst>
          </p:cNvPr>
          <p:cNvSpPr/>
          <p:nvPr/>
        </p:nvSpPr>
        <p:spPr>
          <a:xfrm>
            <a:off x="6647531" y="2259730"/>
            <a:ext cx="5331064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 in the Loop </a:t>
            </a:r>
          </a:p>
          <a:p>
            <a:pPr algn="ctr"/>
            <a:r>
              <a:rPr lang="en-US" dirty="0"/>
              <a:t>(Low confidence queue, expert override, RLHF Loop)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83A70C9-CC88-6CAD-E5C8-61C04D815FCE}"/>
              </a:ext>
            </a:extLst>
          </p:cNvPr>
          <p:cNvSpPr/>
          <p:nvPr/>
        </p:nvSpPr>
        <p:spPr>
          <a:xfrm rot="14654135">
            <a:off x="6679119" y="421729"/>
            <a:ext cx="243923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8B550D5-6C94-1D4A-16E2-A4802694EE59}"/>
              </a:ext>
            </a:extLst>
          </p:cNvPr>
          <p:cNvSpPr/>
          <p:nvPr/>
        </p:nvSpPr>
        <p:spPr>
          <a:xfrm rot="5400000">
            <a:off x="3293592" y="1311415"/>
            <a:ext cx="238995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57074D09-3E81-59B4-A311-308E1EB58AD3}"/>
              </a:ext>
            </a:extLst>
          </p:cNvPr>
          <p:cNvSpPr/>
          <p:nvPr/>
        </p:nvSpPr>
        <p:spPr>
          <a:xfrm rot="5400000">
            <a:off x="3467870" y="3913328"/>
            <a:ext cx="238995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0A6BAB73-F519-9D02-3DBD-100B5C2AE0A1}"/>
              </a:ext>
            </a:extLst>
          </p:cNvPr>
          <p:cNvSpPr/>
          <p:nvPr/>
        </p:nvSpPr>
        <p:spPr>
          <a:xfrm rot="2051315">
            <a:off x="5330803" y="4623135"/>
            <a:ext cx="612549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876D7F-6278-2FF5-99DB-CC24946632AA}"/>
              </a:ext>
            </a:extLst>
          </p:cNvPr>
          <p:cNvSpPr txBox="1"/>
          <p:nvPr/>
        </p:nvSpPr>
        <p:spPr>
          <a:xfrm>
            <a:off x="6452698" y="5285671"/>
            <a:ext cx="1502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Ranked Results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3B23E7-5FC3-3C77-89F7-A3664B36FB26}"/>
              </a:ext>
            </a:extLst>
          </p:cNvPr>
          <p:cNvSpPr/>
          <p:nvPr/>
        </p:nvSpPr>
        <p:spPr>
          <a:xfrm>
            <a:off x="6628658" y="1492319"/>
            <a:ext cx="5331064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 </a:t>
            </a:r>
            <a:r>
              <a:rPr lang="en-US" dirty="0" err="1"/>
              <a:t>Deliverey</a:t>
            </a:r>
            <a:endParaRPr lang="en-US" dirty="0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00AA7366-73B7-374E-DD2B-33E531E2AFA0}"/>
              </a:ext>
            </a:extLst>
          </p:cNvPr>
          <p:cNvSpPr/>
          <p:nvPr/>
        </p:nvSpPr>
        <p:spPr>
          <a:xfrm rot="16200000">
            <a:off x="8882571" y="2024778"/>
            <a:ext cx="246777" cy="22326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89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46CA6-8F09-6B88-17FC-EEC2CD2B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F90B31-8A7B-BC25-DFB6-5403BF6941F2}"/>
              </a:ext>
            </a:extLst>
          </p:cNvPr>
          <p:cNvSpPr txBox="1"/>
          <p:nvPr/>
        </p:nvSpPr>
        <p:spPr>
          <a:xfrm>
            <a:off x="-155448" y="2877877"/>
            <a:ext cx="11896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Guardrails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300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8B00-B8FF-617D-B3A2-76E188668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D26643-AEEC-2D66-228C-E9DAC4F54DEF}"/>
              </a:ext>
            </a:extLst>
          </p:cNvPr>
          <p:cNvSpPr txBox="1"/>
          <p:nvPr/>
        </p:nvSpPr>
        <p:spPr>
          <a:xfrm>
            <a:off x="147828" y="509581"/>
            <a:ext cx="1189634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user query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PII scrub ] → strip or mask sensitive fields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Injection detector ] → reject or sanitize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Toxicity filter ] → block policy violations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Scope classifier ] → in-domain check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Length / format check ] → enforce limits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Clean, validated query → Query intelligence layer</a:t>
            </a:r>
          </a:p>
        </p:txBody>
      </p:sp>
    </p:spTree>
    <p:extLst>
      <p:ext uri="{BB962C8B-B14F-4D97-AF65-F5344CB8AC3E}">
        <p14:creationId xmlns:p14="http://schemas.microsoft.com/office/powerpoint/2010/main" val="1404172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ABF04-C62E-EFBE-22EB-4B93F702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91142A-DC10-8B43-8F34-101A62F31A2B}"/>
              </a:ext>
            </a:extLst>
          </p:cNvPr>
          <p:cNvSpPr txBox="1"/>
          <p:nvPr/>
        </p:nvSpPr>
        <p:spPr>
          <a:xfrm>
            <a:off x="0" y="335845"/>
            <a:ext cx="1189634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guardrails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validation and safety checks applied to a user's query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it touches any part of your 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retrieval or generation pipeline. They're your first line of defense.</a:t>
            </a:r>
          </a:p>
          <a:p>
            <a:pPr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Here's what a solid input guardrail layer covers: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PII scrubbing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Detect and strip or pseudonymize personally identifiable information — names, emails, phone numbers, SSNs, credit card numbers — from the query before it's logged or embedded. This protects user privacy and keeps sensitive data out of your audit logs and vector store.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injection detection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Users (or attackers) may try to override your system prompt with phrases like "ignore previous instructions" or inject adversarial instructions into documents they upload. A classifier or rule-based filter catches these before they can hijack the LLM's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Toxicity and content filtering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Block queries containing hate speech, harassment, or other policy-violating content. This is especially important in multi-tenant enterprise systems where the RAG system might be exposed to a wide range of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validation and scope enforcement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Check that the query is actually within the system's domain. If your RAG system is built for HR policy questions, a query about competitor pricing or unrelated topics should be identified and either redirected or rejected with a clear message — rather than wasting compute on retrieval and generation.</a:t>
            </a:r>
          </a:p>
        </p:txBody>
      </p:sp>
    </p:spTree>
    <p:extLst>
      <p:ext uri="{BB962C8B-B14F-4D97-AF65-F5344CB8AC3E}">
        <p14:creationId xmlns:p14="http://schemas.microsoft.com/office/powerpoint/2010/main" val="3583107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5C3E-F8D4-0917-D602-B18C1D151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B8CFCB-CAA2-BE8C-9593-0B559F37ED83}"/>
              </a:ext>
            </a:extLst>
          </p:cNvPr>
          <p:cNvSpPr txBox="1"/>
          <p:nvPr/>
        </p:nvSpPr>
        <p:spPr>
          <a:xfrm>
            <a:off x="0" y="335845"/>
            <a:ext cx="1189634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Length and format checks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Enforce token/character limits and reject malformed inputs (e.g., binary data, excessively long context stuffing attempts). Adversaries sometimes send very long queries to exhaust your context window or force unintended behavior.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rejected query should return a structured error response — not a silent failure — so the user understands why their input wasn't processed, and so your audit log captures the rejection reason.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Implementation options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Rules-based: regex patterns, blocklists, length checks — fast and cheap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classifiers: fine-tuned models for toxicity, injection, PII — more accurate but adds latency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LLM-as-judge: a small, fast model that evaluates the query against a policy — flexible but more expensive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Commercial APIs: services like Azure AI Content Safety, AWS Comprehend, or Llama Guard handle several of these out of the box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key design principle is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fail fast and fail clearly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 query that fails a guardrail should never reach your embedding model, vector DB, or LLM.</a:t>
            </a:r>
          </a:p>
        </p:txBody>
      </p:sp>
    </p:spTree>
    <p:extLst>
      <p:ext uri="{BB962C8B-B14F-4D97-AF65-F5344CB8AC3E}">
        <p14:creationId xmlns:p14="http://schemas.microsoft.com/office/powerpoint/2010/main" val="2319104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E5B51-4A73-F137-9A49-A6DE82552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F5D729-1DAA-B338-65E1-D5DA287833A9}"/>
              </a:ext>
            </a:extLst>
          </p:cNvPr>
          <p:cNvSpPr txBox="1"/>
          <p:nvPr/>
        </p:nvSpPr>
        <p:spPr>
          <a:xfrm>
            <a:off x="-256032" y="2987605"/>
            <a:ext cx="118963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rewriting</a:t>
            </a:r>
          </a:p>
        </p:txBody>
      </p:sp>
    </p:spTree>
    <p:extLst>
      <p:ext uri="{BB962C8B-B14F-4D97-AF65-F5344CB8AC3E}">
        <p14:creationId xmlns:p14="http://schemas.microsoft.com/office/powerpoint/2010/main" val="1960088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6616-38D5-2ADA-1EC1-374A42702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E133A1-7092-072F-B87B-5601B050D35E}"/>
              </a:ext>
            </a:extLst>
          </p:cNvPr>
          <p:cNvSpPr txBox="1"/>
          <p:nvPr/>
        </p:nvSpPr>
        <p:spPr>
          <a:xfrm>
            <a:off x="0" y="710749"/>
            <a:ext cx="118963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rewriting is one of the highest-leverage improvements you can make to a RAG system. The core problem it solves: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way a user phrases a question is often a poor match for how the relevant information is phrased in your documents.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mismatch problem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user might ask: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"Why does my screen go black when I unplug my laptop?"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the relevant document chunk says: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"Power failure events trigger display timeout when AC adapter is disconnected."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overlap in vocabulary. Naive embedding similarity will miss it. Query rewriting bridges that gap.</a:t>
            </a:r>
          </a:p>
        </p:txBody>
      </p:sp>
    </p:spTree>
    <p:extLst>
      <p:ext uri="{BB962C8B-B14F-4D97-AF65-F5344CB8AC3E}">
        <p14:creationId xmlns:p14="http://schemas.microsoft.com/office/powerpoint/2010/main" val="52809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0E52B-6C25-ED73-4F59-7ACAC0E2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5B8A5F-E7E3-CAE4-B75A-4E3A2B7D8B00}"/>
              </a:ext>
            </a:extLst>
          </p:cNvPr>
          <p:cNvSpPr txBox="1"/>
          <p:nvPr/>
        </p:nvSpPr>
        <p:spPr>
          <a:xfrm>
            <a:off x="201168" y="256693"/>
            <a:ext cx="110048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 techniques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HyDE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(Hypothetical Document Embedding)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embedding the raw question, you ask an LLM to generate a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hypothetical answer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 short paragraph that looks like it came from a document that would answer the question. Then you embed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search with 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0E063-0BC4-D853-0FC7-271BE57A7EF9}"/>
              </a:ext>
            </a:extLst>
          </p:cNvPr>
          <p:cNvSpPr txBox="1"/>
          <p:nvPr/>
        </p:nvSpPr>
        <p:spPr>
          <a:xfrm>
            <a:off x="359664" y="2839337"/>
            <a:ext cx="113888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query:  "Why does my screen go black?"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  LLM generates hypothetical answer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Hypothetical: "Display timeout occurs when power adapter is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removed, triggering a system power event..."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  embed the hypothetical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search → finds actual matching doc chunks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EA34E7-B44B-F150-122C-6756DA7370CF}"/>
              </a:ext>
            </a:extLst>
          </p:cNvPr>
          <p:cNvSpPr txBox="1"/>
          <p:nvPr/>
        </p:nvSpPr>
        <p:spPr>
          <a:xfrm>
            <a:off x="86868" y="5495990"/>
            <a:ext cx="112334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hypothetical lands much closer to real document language in vector space than the original question does.</a:t>
            </a:r>
          </a:p>
        </p:txBody>
      </p:sp>
    </p:spTree>
    <p:extLst>
      <p:ext uri="{BB962C8B-B14F-4D97-AF65-F5344CB8AC3E}">
        <p14:creationId xmlns:p14="http://schemas.microsoft.com/office/powerpoint/2010/main" val="141848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BD3C-B33E-8F52-447A-D751B0551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6EAC0A-E801-733D-DCD3-4BB8C5F9CAE2}"/>
              </a:ext>
            </a:extLst>
          </p:cNvPr>
          <p:cNvSpPr txBox="1"/>
          <p:nvPr/>
        </p:nvSpPr>
        <p:spPr>
          <a:xfrm>
            <a:off x="201168" y="256693"/>
            <a:ext cx="110048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 techniques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Multi-query expansion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LLM rephrases the original question into 3–5 variations, each from a slightly different angle. All versions are searched in parallel, and results are merged and deduplicated before reranking.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Original: "What's the return policy for damaged goods?"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Expansion 1: "How do I return a broken item?"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Expansion 2: "Damaged product refund process"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Expansion 3: "Can I get a replacement for a defective purchase?"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Expansion 4: "Return procedure for items arrived damaged“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hedges against any single phrasing failing to retrieve relevant chunks.</a:t>
            </a:r>
          </a:p>
        </p:txBody>
      </p:sp>
    </p:spTree>
    <p:extLst>
      <p:ext uri="{BB962C8B-B14F-4D97-AF65-F5344CB8AC3E}">
        <p14:creationId xmlns:p14="http://schemas.microsoft.com/office/powerpoint/2010/main" val="2830530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D2E87-3F4A-1279-8437-158F7D409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B38E6E-71E8-B09D-0EC7-E391DAB25949}"/>
              </a:ext>
            </a:extLst>
          </p:cNvPr>
          <p:cNvSpPr txBox="1"/>
          <p:nvPr/>
        </p:nvSpPr>
        <p:spPr>
          <a:xfrm>
            <a:off x="201168" y="256693"/>
            <a:ext cx="1100480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 techniques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Conversational query resolution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 multi-turn conversation, pronouns and references ("it", "that policy", "the one you mentioned") are resolved back to their full meaning using conversation history before retrieval.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Turn 1: "Tell me about our parental leave policy"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Turn 2: "How does it compare to the industry average?"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Rewritten: "How does [Company X] parental leave policy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compare to industry average parental leave policies?"</a:t>
            </a:r>
          </a:p>
        </p:txBody>
      </p:sp>
    </p:spTree>
    <p:extLst>
      <p:ext uri="{BB962C8B-B14F-4D97-AF65-F5344CB8AC3E}">
        <p14:creationId xmlns:p14="http://schemas.microsoft.com/office/powerpoint/2010/main" val="1298735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6EA2F-D362-B899-9FAC-D916B0EB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8C2BFA-DD93-6764-261B-AFC72E4CAA06}"/>
              </a:ext>
            </a:extLst>
          </p:cNvPr>
          <p:cNvSpPr txBox="1"/>
          <p:nvPr/>
        </p:nvSpPr>
        <p:spPr>
          <a:xfrm>
            <a:off x="155448" y="348133"/>
            <a:ext cx="1100480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sits in the pipeline</a:t>
            </a:r>
          </a:p>
          <a:p>
            <a:pPr>
              <a:buNone/>
            </a:pP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query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Conversational resolution ]   ← fix pronouns/references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Intent classification ]       ← which index to search?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Rewriting strategy router ]   ← pick one or many techniques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┌─────────────────────────────────┐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│ 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HyDE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│  Multi-query  │  Decomp │   ← run in parallel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└─────────────────────────────────┘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Merged + deduplicated results ]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↓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Context assembly → LLM</a:t>
            </a:r>
          </a:p>
        </p:txBody>
      </p:sp>
    </p:spTree>
    <p:extLst>
      <p:ext uri="{BB962C8B-B14F-4D97-AF65-F5344CB8AC3E}">
        <p14:creationId xmlns:p14="http://schemas.microsoft.com/office/powerpoint/2010/main" val="2566257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D982A-FE65-C44E-0AF8-3143EBC99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5AC01B-F49D-38A9-8A90-74FBF7D312C6}"/>
              </a:ext>
            </a:extLst>
          </p:cNvPr>
          <p:cNvSpPr txBox="1"/>
          <p:nvPr/>
        </p:nvSpPr>
        <p:spPr>
          <a:xfrm>
            <a:off x="256032" y="1656148"/>
            <a:ext cx="112928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Intent Classifier</a:t>
            </a:r>
          </a:p>
          <a:p>
            <a:pPr algn="ctr"/>
            <a:endParaRPr lang="en-US" sz="4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4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intent classification in a RAG pipeline?</a:t>
            </a:r>
          </a:p>
        </p:txBody>
      </p:sp>
    </p:spTree>
    <p:extLst>
      <p:ext uri="{BB962C8B-B14F-4D97-AF65-F5344CB8AC3E}">
        <p14:creationId xmlns:p14="http://schemas.microsoft.com/office/powerpoint/2010/main" val="549358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70EEE-5372-3312-58E9-512BB31E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968142-8C95-6D58-F1BD-CBCFD9F72C3F}"/>
              </a:ext>
            </a:extLst>
          </p:cNvPr>
          <p:cNvSpPr txBox="1"/>
          <p:nvPr/>
        </p:nvSpPr>
        <p:spPr>
          <a:xfrm>
            <a:off x="146304" y="890308"/>
            <a:ext cx="116768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Intent classification is the step that figures out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the user is actually trying to do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 their query — before you decide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retrieve.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acts as a smart router that sends queries to the right retrieval path, index, or handling strategy.</a:t>
            </a:r>
          </a:p>
        </p:txBody>
      </p:sp>
    </p:spTree>
    <p:extLst>
      <p:ext uri="{BB962C8B-B14F-4D97-AF65-F5344CB8AC3E}">
        <p14:creationId xmlns:p14="http://schemas.microsoft.com/office/powerpoint/2010/main" val="603921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BBAAE-EFF9-FC5C-19FA-6786DF1D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104F20-3D16-0347-7F6A-D81E0031B2BA}"/>
              </a:ext>
            </a:extLst>
          </p:cNvPr>
          <p:cNvSpPr txBox="1"/>
          <p:nvPr/>
        </p:nvSpPr>
        <p:spPr>
          <a:xfrm>
            <a:off x="146304" y="890308"/>
            <a:ext cx="116768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it matters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production RAG system rarely has just one document collection or one retrieval strategy. A company might have: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HR policy documents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Product manuals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Support ticket history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Legal contracts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naive system dumps every query against every index and hopes for the best.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Intent classification routes each query to exactly where relevant information lives — saving compute and improving precision.</a:t>
            </a:r>
          </a:p>
        </p:txBody>
      </p:sp>
    </p:spTree>
    <p:extLst>
      <p:ext uri="{BB962C8B-B14F-4D97-AF65-F5344CB8AC3E}">
        <p14:creationId xmlns:p14="http://schemas.microsoft.com/office/powerpoint/2010/main" val="2863982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32EB-3FE1-7A74-2B75-D80E4EC7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8BA1FE-1B0F-663A-2C94-BAE053AE5626}"/>
              </a:ext>
            </a:extLst>
          </p:cNvPr>
          <p:cNvSpPr txBox="1"/>
          <p:nvPr/>
        </p:nvSpPr>
        <p:spPr>
          <a:xfrm>
            <a:off x="242316" y="452735"/>
            <a:ext cx="114802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two jobs it does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Job 1: Domain / index routing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Determines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corpus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search.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"What is our parental leave policy?"     → HR index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"Why is the API returning a 429 error?"  → Technical docs index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"What was APAC revenue in Q3?"           → Financial reports index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"Has this customer complained before?"   → Support tickets index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this, every query hits every index, retrieval noise goes up, and the LLM gets confused by irrelevant chunks from the wrong domain.</a:t>
            </a:r>
          </a:p>
        </p:txBody>
      </p:sp>
    </p:spTree>
    <p:extLst>
      <p:ext uri="{BB962C8B-B14F-4D97-AF65-F5344CB8AC3E}">
        <p14:creationId xmlns:p14="http://schemas.microsoft.com/office/powerpoint/2010/main" val="2034850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41AA9-9B08-2395-B33C-316BFB196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2FD19C-618F-A9B6-31EA-2455CED96FCB}"/>
              </a:ext>
            </a:extLst>
          </p:cNvPr>
          <p:cNvSpPr txBox="1"/>
          <p:nvPr/>
        </p:nvSpPr>
        <p:spPr>
          <a:xfrm>
            <a:off x="242316" y="452735"/>
            <a:ext cx="114802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two jobs it does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Job 2: Query type classification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Determines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handle the query — different types need different retrieval and generation strategies.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588AE1-6C2A-37F1-4B4D-C4CC8B0FD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737715"/>
              </p:ext>
            </p:extLst>
          </p:nvPr>
        </p:nvGraphicFramePr>
        <p:xfrm>
          <a:off x="573024" y="3235345"/>
          <a:ext cx="10515600" cy="3169920"/>
        </p:xfrm>
        <a:graphic>
          <a:graphicData uri="http://schemas.openxmlformats.org/drawingml/2006/table">
            <a:tbl>
              <a:tblPr/>
              <a:tblGrid>
                <a:gridCol w="2243328">
                  <a:extLst>
                    <a:ext uri="{9D8B030D-6E8A-4147-A177-3AD203B41FA5}">
                      <a16:colId xmlns:a16="http://schemas.microsoft.com/office/drawing/2014/main" val="3114289045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786669835"/>
                    </a:ext>
                  </a:extLst>
                </a:gridCol>
                <a:gridCol w="4340352">
                  <a:extLst>
                    <a:ext uri="{9D8B030D-6E8A-4147-A177-3AD203B41FA5}">
                      <a16:colId xmlns:a16="http://schemas.microsoft.com/office/drawing/2014/main" val="2881701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Intent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72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Factual lookup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"What's our refund window?"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Standard RAG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334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"Compare Plan A vs Plan B"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Multi-index retrieval + synthesis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781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Summarization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"Summarize the Q3 earnings call"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Long-context retrieval + summarize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721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Procedural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"How do I reset my password?"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Step-by-step doc retrieval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062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Conversational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"Thanks, that helped"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 retrieval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037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Out-of-scope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"Write me a poem"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Reject / redirect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219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Ambiguous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"Tell me about the update"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Clarification 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063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054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4910-EC17-E0D1-3157-0CCB3D7C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5A7C6F-7C52-7511-9367-70836B905CA9}"/>
              </a:ext>
            </a:extLst>
          </p:cNvPr>
          <p:cNvSpPr txBox="1"/>
          <p:nvPr/>
        </p:nvSpPr>
        <p:spPr>
          <a:xfrm>
            <a:off x="0" y="233279"/>
            <a:ext cx="10378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 technically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three common implementation approaches, often layered: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60D78-4F53-809C-E3C6-A7E7D9EBA048}"/>
              </a:ext>
            </a:extLst>
          </p:cNvPr>
          <p:cNvSpPr txBox="1"/>
          <p:nvPr/>
        </p:nvSpPr>
        <p:spPr>
          <a:xfrm>
            <a:off x="326898" y="1698998"/>
            <a:ext cx="95577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 + keyword matching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fast and cheap, handles obvious cases</a:t>
            </a: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query contains ["policy", "leave", "benefits", "PTO"]: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route → HR index</a:t>
            </a:r>
          </a:p>
        </p:txBody>
      </p:sp>
    </p:spTree>
    <p:extLst>
      <p:ext uri="{BB962C8B-B14F-4D97-AF65-F5344CB8AC3E}">
        <p14:creationId xmlns:p14="http://schemas.microsoft.com/office/powerpoint/2010/main" val="282163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CC704-0AC4-0889-7E34-FACB6AEB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760C44-C484-7023-ADF1-7919B7A78034}"/>
              </a:ext>
            </a:extLst>
          </p:cNvPr>
          <p:cNvSpPr txBox="1"/>
          <p:nvPr/>
        </p:nvSpPr>
        <p:spPr>
          <a:xfrm>
            <a:off x="0" y="233279"/>
            <a:ext cx="10378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 technically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three common implementation approaches, often layered: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8D78B-AA39-8DC6-3B92-F33DAE0ABBBC}"/>
              </a:ext>
            </a:extLst>
          </p:cNvPr>
          <p:cNvSpPr txBox="1"/>
          <p:nvPr/>
        </p:nvSpPr>
        <p:spPr>
          <a:xfrm>
            <a:off x="153162" y="1296662"/>
            <a:ext cx="114139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 startAt="2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Small classifier model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a fine-tuned BERT-class model trained on labeled examples of your intents. </a:t>
            </a:r>
          </a:p>
          <a:p>
            <a:pPr marL="457200" indent="-457200">
              <a:buAutoNum type="arabicParenR" startAt="2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Adds ~10–30ms latency, highly accurate for well-defined domains.</a:t>
            </a:r>
          </a:p>
        </p:txBody>
      </p:sp>
    </p:spTree>
    <p:extLst>
      <p:ext uri="{BB962C8B-B14F-4D97-AF65-F5344CB8AC3E}">
        <p14:creationId xmlns:p14="http://schemas.microsoft.com/office/powerpoint/2010/main" val="3050989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F9AA9-9E8A-47CF-76CF-5D3CDB6A8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5CEFDD-5844-FACA-1209-63716FB22BC7}"/>
              </a:ext>
            </a:extLst>
          </p:cNvPr>
          <p:cNvSpPr txBox="1"/>
          <p:nvPr/>
        </p:nvSpPr>
        <p:spPr>
          <a:xfrm>
            <a:off x="0" y="233279"/>
            <a:ext cx="10378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 technically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three common implementation approaches, often layered: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96FD8-824C-541E-5CEF-80AED8C4A146}"/>
              </a:ext>
            </a:extLst>
          </p:cNvPr>
          <p:cNvSpPr txBox="1"/>
          <p:nvPr/>
        </p:nvSpPr>
        <p:spPr>
          <a:xfrm>
            <a:off x="153162" y="1296662"/>
            <a:ext cx="95577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arenR" startAt="3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LLM-as-classifier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prompt a small fast LLM to classify and return a structured label.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flexible, handles novel phrasings well, but adds more latency.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System: "Classify the following query into one of these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intents: [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finance, technical, support,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out_of_scope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conversational]. Return JSON only."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  "How do I get reimbursed for my home office setup?"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Response: {"intent": 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", "confidence": 0.94}</a:t>
            </a:r>
          </a:p>
        </p:txBody>
      </p:sp>
    </p:spTree>
    <p:extLst>
      <p:ext uri="{BB962C8B-B14F-4D97-AF65-F5344CB8AC3E}">
        <p14:creationId xmlns:p14="http://schemas.microsoft.com/office/powerpoint/2010/main" val="2978658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2BE4D-91C0-628A-5226-DC5411970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CEAE67-6E19-9CA5-956A-6FEEB8780FDC}"/>
              </a:ext>
            </a:extLst>
          </p:cNvPr>
          <p:cNvSpPr txBox="1"/>
          <p:nvPr/>
        </p:nvSpPr>
        <p:spPr>
          <a:xfrm>
            <a:off x="0" y="233279"/>
            <a:ext cx="10378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 technically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three common implementation approaches, often layered: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E78AF-8C9E-C986-153F-0D05834BBC0B}"/>
              </a:ext>
            </a:extLst>
          </p:cNvPr>
          <p:cNvSpPr txBox="1"/>
          <p:nvPr/>
        </p:nvSpPr>
        <p:spPr>
          <a:xfrm>
            <a:off x="153162" y="1296662"/>
            <a:ext cx="95577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practice,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rules handle the easy 70%,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classifier handles the next 25%,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fallback handles the ambiguous remainder.</a:t>
            </a:r>
          </a:p>
        </p:txBody>
      </p:sp>
    </p:spTree>
    <p:extLst>
      <p:ext uri="{BB962C8B-B14F-4D97-AF65-F5344CB8AC3E}">
        <p14:creationId xmlns:p14="http://schemas.microsoft.com/office/powerpoint/2010/main" val="2588332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AFEDB-BAC9-EB0D-9B76-ABD207B7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EFD75A-F07B-7C9F-B8B1-AEB08EAE0803}"/>
              </a:ext>
            </a:extLst>
          </p:cNvPr>
          <p:cNvSpPr txBox="1"/>
          <p:nvPr/>
        </p:nvSpPr>
        <p:spPr>
          <a:xfrm>
            <a:off x="0" y="214991"/>
            <a:ext cx="103784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happens with low-confidence classifications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intent classification connects directly to your human-in-the-loop layer. When confidence is below a threshold: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&gt; 0.85  →  route automatically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0.6–0.85 →  route but flag for review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&lt; 0.6   →  ask user to clarify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OR route to a fallback general index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OR queue for human review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ambiguous queries, a clarification prompt is often better than a bad retrieval: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 "Tell me about the new update"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Bot:   "Are you asking about the product release notes,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or the policy update from HR last week?"</a:t>
            </a:r>
          </a:p>
        </p:txBody>
      </p:sp>
    </p:spTree>
    <p:extLst>
      <p:ext uri="{BB962C8B-B14F-4D97-AF65-F5344CB8AC3E}">
        <p14:creationId xmlns:p14="http://schemas.microsoft.com/office/powerpoint/2010/main" val="2569391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5310-165C-7359-DF2B-CC86C0D99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032B1E-1400-16D9-96A8-3A016E24AE2A}"/>
              </a:ext>
            </a:extLst>
          </p:cNvPr>
          <p:cNvSpPr txBox="1"/>
          <p:nvPr/>
        </p:nvSpPr>
        <p:spPr>
          <a:xfrm>
            <a:off x="297180" y="181094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sits in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9E383-DC30-20FA-E4EC-4369E00F6324}"/>
              </a:ext>
            </a:extLst>
          </p:cNvPr>
          <p:cNvSpPr txBox="1"/>
          <p:nvPr/>
        </p:nvSpPr>
        <p:spPr>
          <a:xfrm>
            <a:off x="297180" y="989320"/>
            <a:ext cx="985266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Clean validated query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Conversational resolution ]   ← resolve pronouns first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Intent classifier 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┌─────┴──────────────────────────────────┐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            ↓             ↓     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HR index   Finance index  Tech docs   Out-of-scope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+            +              +     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path   RAG path      RAG path      Reject / redirect</a:t>
            </a:r>
          </a:p>
        </p:txBody>
      </p:sp>
    </p:spTree>
    <p:extLst>
      <p:ext uri="{BB962C8B-B14F-4D97-AF65-F5344CB8AC3E}">
        <p14:creationId xmlns:p14="http://schemas.microsoft.com/office/powerpoint/2010/main" val="3862975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C0A4B-2CC9-BE3B-EC15-C9487EFB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1400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440D-5448-F789-C07B-B84C2E352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98CF6E-2D1E-356B-273D-5FBB18ADAA39}"/>
              </a:ext>
            </a:extLst>
          </p:cNvPr>
          <p:cNvSpPr txBox="1"/>
          <p:nvPr/>
        </p:nvSpPr>
        <p:spPr>
          <a:xfrm>
            <a:off x="658368" y="2341525"/>
            <a:ext cx="110048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Reranking</a:t>
            </a:r>
          </a:p>
          <a:p>
            <a:pPr algn="ctr">
              <a:buNone/>
            </a:pPr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hybrid search in RAG and why does it help?</a:t>
            </a:r>
            <a:endParaRPr lang="en-US" sz="6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523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D3C6A-3EDB-135A-C81B-F96A0F907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41FE59-3DAE-0CCB-F889-985D8B20A42C}"/>
              </a:ext>
            </a:extLst>
          </p:cNvPr>
          <p:cNvSpPr txBox="1"/>
          <p:nvPr/>
        </p:nvSpPr>
        <p:spPr>
          <a:xfrm>
            <a:off x="0" y="265837"/>
            <a:ext cx="110048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Hybrid search combines two fundamentally different retrieval methods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dense vector 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sparse keyword search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because neither one is good at everything the other excels at.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814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AEDE-CBA6-3F65-D73A-68CF8087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BB035B-4E3F-496B-0E08-B69886F5A75F}"/>
              </a:ext>
            </a:extLst>
          </p:cNvPr>
          <p:cNvSpPr txBox="1"/>
          <p:nvPr/>
        </p:nvSpPr>
        <p:spPr>
          <a:xfrm>
            <a:off x="201168" y="221456"/>
            <a:ext cx="1125626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Dense vector search (semantic)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query is embedded into a high-dimensional vector, and you find document chunks whose vectors are nearest in that space. It understands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meaning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synonyms, paraphrases, and conceptual similarity all work well.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Query:   "car won't start in cold weather"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Matches: "vehicle ignition failure during low temperatures"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✓ No shared words — found by meaning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struggles: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 terms, rare words, product codes, names, and acronyms.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someone searches "ISO-27001" or "invoice #INV-8842", the embedding model may not preserve those tokens faithfully in vector space.</a:t>
            </a:r>
          </a:p>
        </p:txBody>
      </p:sp>
    </p:spTree>
    <p:extLst>
      <p:ext uri="{BB962C8B-B14F-4D97-AF65-F5344CB8AC3E}">
        <p14:creationId xmlns:p14="http://schemas.microsoft.com/office/powerpoint/2010/main" val="534679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A3457-BBCE-3A96-BB0D-849C7C499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293816-39E2-497D-35E7-F7DB469E22C1}"/>
              </a:ext>
            </a:extLst>
          </p:cNvPr>
          <p:cNvSpPr txBox="1"/>
          <p:nvPr/>
        </p:nvSpPr>
        <p:spPr>
          <a:xfrm>
            <a:off x="201168" y="221456"/>
            <a:ext cx="1125626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Sparse keyword search (BM25)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classic TF-IDF-style algorithm that scores chunks by exact term frequency and rarity.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It's fast, deterministic, and excels at precise matches.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Query:   "ISO-27001 compliance checklist"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Matches: chunks containing exactly "ISO-27001" and "compliance"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✓ Exact token match — dense search may have missed it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struggles: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Vocabulary mismatch. If the user says "fix" and the document says "remediate," BM25 scores zero.</a:t>
            </a:r>
          </a:p>
        </p:txBody>
      </p:sp>
    </p:spTree>
    <p:extLst>
      <p:ext uri="{BB962C8B-B14F-4D97-AF65-F5344CB8AC3E}">
        <p14:creationId xmlns:p14="http://schemas.microsoft.com/office/powerpoint/2010/main" val="610430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1FDA-94F7-6214-1F77-5278AA865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BC48E0-15D0-ABA2-BBEF-774406E81FC8}"/>
              </a:ext>
            </a:extLst>
          </p:cNvPr>
          <p:cNvSpPr txBox="1"/>
          <p:nvPr/>
        </p:nvSpPr>
        <p:spPr>
          <a:xfrm>
            <a:off x="201168" y="221456"/>
            <a:ext cx="1125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hybrid: they fail on opposite cases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2B2D29-679D-B0FE-53F2-EBDEA9B89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128736"/>
              </p:ext>
            </p:extLst>
          </p:nvPr>
        </p:nvGraphicFramePr>
        <p:xfrm>
          <a:off x="1121664" y="1120934"/>
          <a:ext cx="6559296" cy="3200400"/>
        </p:xfrm>
        <a:graphic>
          <a:graphicData uri="http://schemas.openxmlformats.org/drawingml/2006/table">
            <a:tbl>
              <a:tblPr/>
              <a:tblGrid>
                <a:gridCol w="3806952">
                  <a:extLst>
                    <a:ext uri="{9D8B030D-6E8A-4147-A177-3AD203B41FA5}">
                      <a16:colId xmlns:a16="http://schemas.microsoft.com/office/drawing/2014/main" val="378226017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467206349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17799048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BM25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633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Synonym / paraphrase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578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Exact product code /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944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Natural language 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098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Rare technical acronym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91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Conceptual / abstract query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595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Named entity / proper noun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405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A09E710-DEDB-6DCF-C628-BFD20D7E85AD}"/>
              </a:ext>
            </a:extLst>
          </p:cNvPr>
          <p:cNvSpPr txBox="1"/>
          <p:nvPr/>
        </p:nvSpPr>
        <p:spPr>
          <a:xfrm>
            <a:off x="470916" y="5018270"/>
            <a:ext cx="8746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Running both and merging results covers nearly all query types.</a:t>
            </a:r>
          </a:p>
        </p:txBody>
      </p:sp>
    </p:spTree>
    <p:extLst>
      <p:ext uri="{BB962C8B-B14F-4D97-AF65-F5344CB8AC3E}">
        <p14:creationId xmlns:p14="http://schemas.microsoft.com/office/powerpoint/2010/main" val="600020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32702-B2BF-E946-13CD-CFA8585D2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B51A16-71AC-45D1-9B35-792BD71C75EA}"/>
              </a:ext>
            </a:extLst>
          </p:cNvPr>
          <p:cNvSpPr txBox="1"/>
          <p:nvPr/>
        </p:nvSpPr>
        <p:spPr>
          <a:xfrm>
            <a:off x="201168" y="221456"/>
            <a:ext cx="112562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the merging works: Reciprocal Rank Fusion (RRF)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standard approach is RRF — each retriever returns a ranked list, and chunks are scored by their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rank position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each list, not their raw similarity scores (which aren't comparable across systems).</a:t>
            </a:r>
          </a:p>
        </p:txBody>
      </p:sp>
    </p:spTree>
    <p:extLst>
      <p:ext uri="{BB962C8B-B14F-4D97-AF65-F5344CB8AC3E}">
        <p14:creationId xmlns:p14="http://schemas.microsoft.com/office/powerpoint/2010/main" val="1346874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27507-119E-CCE9-990A-80437239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0F6571-5CEF-A418-CAD1-7E3EE906BE5E}"/>
              </a:ext>
            </a:extLst>
          </p:cNvPr>
          <p:cNvSpPr txBox="1"/>
          <p:nvPr/>
        </p:nvSpPr>
        <p:spPr>
          <a:xfrm>
            <a:off x="256032" y="449140"/>
            <a:ext cx="100584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Dense results:          BM25 results: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Chunk A              1. Chunk C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Chunk B              2. Chunk A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Chunk D              3. Chunk 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Chunk C              4. Chunk B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RRF score = 1/(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k+rank_dense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+ 1/(k+rank_bm25)   [k=60 typical]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 A: 1/61 + 1/62 = 0.0328   ← appears in both, ranks high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 C: 1/63 + 1/61 = 0.0321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 B: 1/62 + 1/64 = 0.0317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 D: 1/64 + 0    = 0.0156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 E: 0    + 1/63 = 0.0159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Chunks appearing highly in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lists get a strong boost. Chunks only one retriever found still make it through — just ranked lower.</a:t>
            </a:r>
          </a:p>
        </p:txBody>
      </p:sp>
    </p:spTree>
    <p:extLst>
      <p:ext uri="{BB962C8B-B14F-4D97-AF65-F5344CB8AC3E}">
        <p14:creationId xmlns:p14="http://schemas.microsoft.com/office/powerpoint/2010/main" val="2243739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9F188-DE13-1272-F6C5-7FAA169C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B0258A-4627-4D95-1270-B76D7D36A50B}"/>
              </a:ext>
            </a:extLst>
          </p:cNvPr>
          <p:cNvSpPr txBox="1"/>
          <p:nvPr/>
        </p:nvSpPr>
        <p:spPr>
          <a:xfrm>
            <a:off x="256032" y="449140"/>
            <a:ext cx="112928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on top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RRF merges the lists, a cross-encoder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does a final pass. Unlike the retrievers (which score query and chunk separately), a cross-encoder sees the query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chunk together, giving a much more accurate relevance judgment.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Merged top-10 chunks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Cross-encoder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]   Scores each (query, chunk) pair jointly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Top-5 chunks (reranked)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assembly → LLM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5228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A39E-D180-853E-21D8-F2D2774E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CCBB65-3D43-2149-45EC-1ECB208C270E}"/>
              </a:ext>
            </a:extLst>
          </p:cNvPr>
          <p:cNvSpPr txBox="1"/>
          <p:nvPr/>
        </p:nvSpPr>
        <p:spPr>
          <a:xfrm>
            <a:off x="256032" y="449140"/>
            <a:ext cx="1129284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full retrieval pipeline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Rewritten query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├──────────────────────────┐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                    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Embedding model ]        [ BM25 index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Vector DB / ANN search ] [ Keyword search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↓                    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Top-K dense results       Top-K sparse results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└──────────┬───────────────┘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[ RRF merge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[ Cross-encoder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]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Final top-N chunks → Context assembly</a:t>
            </a:r>
          </a:p>
        </p:txBody>
      </p:sp>
    </p:spTree>
    <p:extLst>
      <p:ext uri="{BB962C8B-B14F-4D97-AF65-F5344CB8AC3E}">
        <p14:creationId xmlns:p14="http://schemas.microsoft.com/office/powerpoint/2010/main" val="16502105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D459D-8B3E-FADD-6E80-1C975E71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C48A1F-6FFB-6C2E-669E-823EE5EEC8D6}"/>
              </a:ext>
            </a:extLst>
          </p:cNvPr>
          <p:cNvSpPr txBox="1"/>
          <p:nvPr/>
        </p:nvSpPr>
        <p:spPr>
          <a:xfrm>
            <a:off x="256032" y="449140"/>
            <a:ext cx="1129284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Practical tuning levers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weight the two retrievers differently depending on your corpus. A legal document system with lots of precise citations benefits from heavier BM25 weighting. A customer support system with natural language questions benefits from heavier dense weighting.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vector DBs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Weaviate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Elasticsearch, OpenSearch,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Qdrant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expose an alpha parameter to tune this blend: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alpha = 0.0  →  pure BM25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alpha = 0.5  →  balanced hybrid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alpha = 1.0  →  pure dense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at 0.5 and tune against an evaluation set of real queries from your domain.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overall effect of hybrid search over dense-only retrieval is typically a meaningful lift in recall — especially for enterprise corpora that mix natural language content with structured identifiers, product codes, and domain-specific terminology where exact matching matters.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8934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DDE0DB3-64E9-80F3-B719-7D62006CB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04" y="2428954"/>
            <a:ext cx="1142999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How does human in the loop work in a RAG system?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C1646-69E4-2107-04C1-1260CA2A0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BF4291-5DDE-745C-54F2-CFDB46444AF3}"/>
              </a:ext>
            </a:extLst>
          </p:cNvPr>
          <p:cNvSpPr txBox="1"/>
          <p:nvPr/>
        </p:nvSpPr>
        <p:spPr>
          <a:xfrm>
            <a:off x="329184" y="852392"/>
            <a:ext cx="11109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Human-in-the-loop (HITL) is the safety net and continuous improvement engine of your RAG system. It acknowledges a fundamental truth: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RAG system is accurate enough to run fully autonomously, especially in high-stakes enterprise contexts.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3ACAB-7DA5-14A8-7AA9-A3E60130F7E8}"/>
              </a:ext>
            </a:extLst>
          </p:cNvPr>
          <p:cNvSpPr txBox="1"/>
          <p:nvPr/>
        </p:nvSpPr>
        <p:spPr>
          <a:xfrm>
            <a:off x="393192" y="2790688"/>
            <a:ext cx="112745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HITL is necessary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Even a well-built RAG system will produce: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Answers that are technically grounded but misleading in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Responses with low retrieval confidence where no good chunk existed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Outputs in sensitive domains (legal, medical, financial, HR) where a wrong answer carries real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Edge cases the guardrails didn't catch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HITL is the mechanism that catches these before they cause harm, and — critically — feeds corrections back to make the system better over time.</a:t>
            </a:r>
          </a:p>
        </p:txBody>
      </p:sp>
    </p:spTree>
    <p:extLst>
      <p:ext uri="{BB962C8B-B14F-4D97-AF65-F5344CB8AC3E}">
        <p14:creationId xmlns:p14="http://schemas.microsoft.com/office/powerpoint/2010/main" val="23410794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DACC-9682-43DC-4824-0A81C237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728E74-6AD6-2A63-1E0F-45CB453651B2}"/>
              </a:ext>
            </a:extLst>
          </p:cNvPr>
          <p:cNvSpPr txBox="1"/>
          <p:nvPr/>
        </p:nvSpPr>
        <p:spPr>
          <a:xfrm>
            <a:off x="82296" y="58204"/>
            <a:ext cx="117683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three HITL trigger mechanisms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Confidence-based routing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Domain / topic flagging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User-initiated escalation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9984D-AAF9-7DE4-5F7F-03C49589B70C}"/>
              </a:ext>
            </a:extLst>
          </p:cNvPr>
          <p:cNvSpPr txBox="1"/>
          <p:nvPr/>
        </p:nvSpPr>
        <p:spPr>
          <a:xfrm>
            <a:off x="141732" y="2366510"/>
            <a:ext cx="117683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Confidence-based routing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system computes a confidence score for each response and routes low-confidence ones to a human queue automatically.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Confidence signals: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score of top chunk  (how well did retrieval do?)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Faithfulness score           (does the answer stay grounded?)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Retrieval coverage           (did we find enough relevant chunks?)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- LLM self-assessed certainty  (prompted to score its own answer)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Combined score &lt; threshold    →     human review queue</a:t>
            </a:r>
          </a:p>
        </p:txBody>
      </p:sp>
    </p:spTree>
    <p:extLst>
      <p:ext uri="{BB962C8B-B14F-4D97-AF65-F5344CB8AC3E}">
        <p14:creationId xmlns:p14="http://schemas.microsoft.com/office/powerpoint/2010/main" val="3351171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6397B-611C-1EC3-7570-463AEB9D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BB67B26-2156-80D5-4F36-BFAF557FB7A0}"/>
              </a:ext>
            </a:extLst>
          </p:cNvPr>
          <p:cNvSpPr txBox="1"/>
          <p:nvPr/>
        </p:nvSpPr>
        <p:spPr>
          <a:xfrm>
            <a:off x="114300" y="181094"/>
            <a:ext cx="117683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Domain / topic flagging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Certain topics are always routed to humans regardless of confidence — legal advice, medical dosing, HR disciplinary matters, anything involving personal data decisions. These are hardcoded policy rules, not ML judgments.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User-initiated escalation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Users can flag an answer as wrong, unhelpful, or sensitive. This creates an explicit review ticket with the full context — query, retrieved chunks, generated answer, and user complaint.</a:t>
            </a:r>
          </a:p>
        </p:txBody>
      </p:sp>
    </p:spTree>
    <p:extLst>
      <p:ext uri="{BB962C8B-B14F-4D97-AF65-F5344CB8AC3E}">
        <p14:creationId xmlns:p14="http://schemas.microsoft.com/office/powerpoint/2010/main" val="31049990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A924-17CB-8DE3-337E-264EB2CDA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0C09A57-310A-632D-E512-B35003837102}"/>
              </a:ext>
            </a:extLst>
          </p:cNvPr>
          <p:cNvSpPr txBox="1"/>
          <p:nvPr/>
        </p:nvSpPr>
        <p:spPr>
          <a:xfrm>
            <a:off x="114300" y="181094"/>
            <a:ext cx="117683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the review queue looks like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reviewer sees a structured case, not just the answer: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2BE647-5BEF-554B-F694-38EDD0A8BB94}"/>
              </a:ext>
            </a:extLst>
          </p:cNvPr>
          <p:cNvSpPr txBox="1"/>
          <p:nvPr/>
        </p:nvSpPr>
        <p:spPr>
          <a:xfrm>
            <a:off x="960120" y="1166843"/>
            <a:ext cx="97383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-----------------------------------------------------------------------------------------------------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Query:    "Can I terminate an employee  during probation without  cause?"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                                  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Retrieved chunks:  [3 shown with scores]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Generated answer:  "Yes, during the  90-day probation…"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                                  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Confidence:  0.41  ← below threshold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Faithfulness: 0.62                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                                  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Actions:                          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│  [Approve]    [Edit &amp; approve]    [Reject]     [Flag source doc]    [Escalate]         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-----------------------------------------------------------------------------------------------------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D60AC-3E8D-5680-06DF-D1C7F770BE5F}"/>
              </a:ext>
            </a:extLst>
          </p:cNvPr>
          <p:cNvSpPr txBox="1"/>
          <p:nvPr/>
        </p:nvSpPr>
        <p:spPr>
          <a:xfrm>
            <a:off x="114300" y="5090992"/>
            <a:ext cx="113614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 time this creates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preference dataset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pairs of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query, bad answer, good answer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— that can be used to fine-tune the LLM</a:t>
            </a:r>
          </a:p>
        </p:txBody>
      </p:sp>
    </p:spTree>
    <p:extLst>
      <p:ext uri="{BB962C8B-B14F-4D97-AF65-F5344CB8AC3E}">
        <p14:creationId xmlns:p14="http://schemas.microsoft.com/office/powerpoint/2010/main" val="37233000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C3264-3B8E-C53A-B79B-0BA4F341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5CF69B4-A8B5-CB70-66FB-1CD2E5E34F4A}"/>
              </a:ext>
            </a:extLst>
          </p:cNvPr>
          <p:cNvSpPr txBox="1"/>
          <p:nvPr/>
        </p:nvSpPr>
        <p:spPr>
          <a:xfrm>
            <a:off x="114300" y="181094"/>
            <a:ext cx="11768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full HITL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094FAB-9FBD-1D9A-9CCB-C1BC244056B5}"/>
              </a:ext>
            </a:extLst>
          </p:cNvPr>
          <p:cNvSpPr txBox="1"/>
          <p:nvPr/>
        </p:nvSpPr>
        <p:spPr>
          <a:xfrm>
            <a:off x="539496" y="642759"/>
            <a:ext cx="813358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output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Output guardrails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 Confidence scorer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├── High confidence → deliver to user immediately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└── Low confidence / sensitive topic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[ Review queue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[ Human reviewer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├── Approve   → deliver + log positive signal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├── Edit      → deliver corrected + log correction pair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└── Reject    → return fallback message + log failure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      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   [ Feedback store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      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┌───────────────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↓                 ↓                      ↓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Reranker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Fine-tune        Re-index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training               LLM              vector DB</a:t>
            </a:r>
          </a:p>
        </p:txBody>
      </p:sp>
    </p:spTree>
    <p:extLst>
      <p:ext uri="{BB962C8B-B14F-4D97-AF65-F5344CB8AC3E}">
        <p14:creationId xmlns:p14="http://schemas.microsoft.com/office/powerpoint/2010/main" val="19880606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0128F-ADAC-14CB-23D0-998A5BB6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375959-E014-C2B0-B96F-5FD8056569A2}"/>
              </a:ext>
            </a:extLst>
          </p:cNvPr>
          <p:cNvSpPr txBox="1"/>
          <p:nvPr/>
        </p:nvSpPr>
        <p:spPr>
          <a:xfrm>
            <a:off x="393192" y="1066491"/>
            <a:ext cx="111008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Async vs synchronous HITL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systems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async HITL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user gets a "your request is being reviewed" message and is notified when an answer is ready. This is practical for non-urgent queries.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high-stakes real-time applications (e.g. a clinical decision support tool),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synchronous HITL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holds the response until a human approves it. This requires a staffed review function with strict SLAs and is expensive — but sometimes the risk of a wrong automated answer is higher than the cost of the delay.</a:t>
            </a:r>
          </a:p>
        </p:txBody>
      </p:sp>
    </p:spTree>
    <p:extLst>
      <p:ext uri="{BB962C8B-B14F-4D97-AF65-F5344CB8AC3E}">
        <p14:creationId xmlns:p14="http://schemas.microsoft.com/office/powerpoint/2010/main" val="114161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FD6CF-1305-1005-91DC-973699F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9852-2325-80F9-2E6A-F686DF761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5BB89-351D-FCB3-961F-18BF3B750B09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998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1783</TotalTime>
  <Words>3255</Words>
  <Application>Microsoft Office PowerPoint</Application>
  <PresentationFormat>Widescreen</PresentationFormat>
  <Paragraphs>445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232</cp:revision>
  <dcterms:created xsi:type="dcterms:W3CDTF">2025-09-22T02:44:38Z</dcterms:created>
  <dcterms:modified xsi:type="dcterms:W3CDTF">2026-04-16T05:51:33Z</dcterms:modified>
</cp:coreProperties>
</file>