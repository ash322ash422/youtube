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7" r:id="rId3"/>
    <p:sldId id="288" r:id="rId4"/>
    <p:sldId id="28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59DEDC-D3C4-49D7-BD3B-4217DF8CB1C9}" v="6" dt="2025-03-21T06:29:08.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69" autoAdjust="0"/>
    <p:restoredTop sz="94660"/>
  </p:normalViewPr>
  <p:slideViewPr>
    <p:cSldViewPr snapToGrid="0">
      <p:cViewPr varScale="1">
        <p:scale>
          <a:sx n="111" d="100"/>
          <a:sy n="111" d="100"/>
        </p:scale>
        <p:origin x="3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BD731B1-713F-49DB-9EDE-C8AC6A29A0DE}"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624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4001650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BD731B1-713F-49DB-9EDE-C8AC6A29A0DE}"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623411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731B1-713F-49DB-9EDE-C8AC6A29A0DE}"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100817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BD731B1-713F-49DB-9EDE-C8AC6A29A0DE}"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51225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BD731B1-713F-49DB-9EDE-C8AC6A29A0DE}"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262161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D731B1-713F-49DB-9EDE-C8AC6A29A0DE}"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686421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D731B1-713F-49DB-9EDE-C8AC6A29A0DE}"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132869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D731B1-713F-49DB-9EDE-C8AC6A29A0DE}"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303553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2177402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D731B1-713F-49DB-9EDE-C8AC6A29A0DE}"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B6C67A-5CE5-4399-BD8A-A35A0447A61E}" type="slidenum">
              <a:rPr lang="en-US" smtClean="0"/>
              <a:t>‹#›</a:t>
            </a:fld>
            <a:endParaRPr lang="en-US"/>
          </a:p>
        </p:txBody>
      </p:sp>
    </p:spTree>
    <p:extLst>
      <p:ext uri="{BB962C8B-B14F-4D97-AF65-F5344CB8AC3E}">
        <p14:creationId xmlns:p14="http://schemas.microsoft.com/office/powerpoint/2010/main" val="2371985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D731B1-713F-49DB-9EDE-C8AC6A29A0DE}" type="datetimeFigureOut">
              <a:rPr lang="en-US" smtClean="0"/>
              <a:t>5/2/2026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B6C67A-5CE5-4399-BD8A-A35A0447A61E}" type="slidenum">
              <a:rPr lang="en-US" smtClean="0"/>
              <a:t>‹#›</a:t>
            </a:fld>
            <a:endParaRPr lang="en-US"/>
          </a:p>
        </p:txBody>
      </p:sp>
    </p:spTree>
    <p:extLst>
      <p:ext uri="{BB962C8B-B14F-4D97-AF65-F5344CB8AC3E}">
        <p14:creationId xmlns:p14="http://schemas.microsoft.com/office/powerpoint/2010/main" val="3254554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err="1"/>
              <a:t>GenAI</a:t>
            </a:r>
            <a:r>
              <a:rPr lang="en-US" dirty="0"/>
              <a:t> Module8- Foundations and Applications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21724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GenAI</a:t>
            </a:r>
            <a:r>
              <a:rPr lang="en-US" dirty="0"/>
              <a:t> process workflow</a:t>
            </a:r>
          </a:p>
        </p:txBody>
      </p:sp>
      <p:sp>
        <p:nvSpPr>
          <p:cNvPr id="3" name="Content Placeholder 2"/>
          <p:cNvSpPr>
            <a:spLocks noGrp="1"/>
          </p:cNvSpPr>
          <p:nvPr>
            <p:ph idx="1"/>
          </p:nvPr>
        </p:nvSpPr>
        <p:spPr/>
        <p:txBody>
          <a:bodyPr>
            <a:normAutofit fontScale="85000" lnSpcReduction="20000"/>
          </a:bodyPr>
          <a:lstStyle/>
          <a:p>
            <a:pPr marL="0" indent="0">
              <a:buNone/>
            </a:pPr>
            <a:r>
              <a:rPr lang="en-US" dirty="0"/>
              <a:t>The general work flow of </a:t>
            </a:r>
            <a:r>
              <a:rPr lang="en-US" dirty="0" err="1"/>
              <a:t>GenAI</a:t>
            </a:r>
            <a:r>
              <a:rPr lang="en-US" dirty="0"/>
              <a:t>: </a:t>
            </a:r>
          </a:p>
          <a:p>
            <a:r>
              <a:rPr lang="en-US" b="1" dirty="0"/>
              <a:t>Data collection: </a:t>
            </a:r>
            <a:r>
              <a:rPr lang="en-US" dirty="0"/>
              <a:t>A large dataset containing examples of the type of content to be generated is collected. For example, a dataset of images for generating realistic pictures, a dataset of text for generating coherent sentences, dataset of audio for generating life like audio.</a:t>
            </a:r>
          </a:p>
          <a:p>
            <a:r>
              <a:rPr lang="en-US" b="1" dirty="0"/>
              <a:t>Model training: </a:t>
            </a:r>
            <a:r>
              <a:rPr lang="en-US" dirty="0"/>
              <a:t>The generative AI model is constructed using neural networks. The model is trained on the collected dataset to learn the underlying patterns and structures in the data.</a:t>
            </a:r>
          </a:p>
          <a:p>
            <a:r>
              <a:rPr lang="en-US" b="1" dirty="0"/>
              <a:t>Generation: </a:t>
            </a:r>
            <a:r>
              <a:rPr lang="en-US" dirty="0"/>
              <a:t>Once the model is trained, it can generate new content. The generated content is a synthesis of what the model has learned from the training data.</a:t>
            </a:r>
          </a:p>
          <a:p>
            <a:r>
              <a:rPr lang="en-US" b="1" dirty="0"/>
              <a:t>Refinement: </a:t>
            </a:r>
            <a:r>
              <a:rPr lang="en-US" dirty="0"/>
              <a:t>Depending on the task and application, the generated content may undergo further refinement or post-processing to improve its quality or to meet specific requirements.</a:t>
            </a:r>
          </a:p>
          <a:p>
            <a:endParaRPr lang="en-US" dirty="0"/>
          </a:p>
        </p:txBody>
      </p:sp>
      <p:pic>
        <p:nvPicPr>
          <p:cNvPr id="5" name="Picture 4">
            <a:extLst>
              <a:ext uri="{FF2B5EF4-FFF2-40B4-BE49-F238E27FC236}">
                <a16:creationId xmlns:a16="http://schemas.microsoft.com/office/drawing/2014/main" id="{32A6B480-3CDC-A79E-7466-DB08F3FD04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27567" y="251927"/>
            <a:ext cx="1081176" cy="1903548"/>
          </a:xfrm>
          <a:prstGeom prst="rect">
            <a:avLst/>
          </a:prstGeom>
        </p:spPr>
      </p:pic>
    </p:spTree>
    <p:extLst>
      <p:ext uri="{BB962C8B-B14F-4D97-AF65-F5344CB8AC3E}">
        <p14:creationId xmlns:p14="http://schemas.microsoft.com/office/powerpoint/2010/main" val="1326470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463481" cy="666721"/>
          </a:xfrm>
        </p:spPr>
        <p:txBody>
          <a:bodyPr>
            <a:normAutofit/>
          </a:bodyPr>
          <a:lstStyle/>
          <a:p>
            <a:r>
              <a:rPr lang="en-US" sz="3600" dirty="0"/>
              <a:t>Types of Gen AI models based on content creation</a:t>
            </a:r>
          </a:p>
        </p:txBody>
      </p:sp>
      <p:sp>
        <p:nvSpPr>
          <p:cNvPr id="3" name="Content Placeholder 2"/>
          <p:cNvSpPr>
            <a:spLocks noGrp="1"/>
          </p:cNvSpPr>
          <p:nvPr>
            <p:ph idx="1"/>
          </p:nvPr>
        </p:nvSpPr>
        <p:spPr>
          <a:xfrm>
            <a:off x="838200" y="1045447"/>
            <a:ext cx="11049000" cy="5548299"/>
          </a:xfrm>
        </p:spPr>
        <p:txBody>
          <a:bodyPr>
            <a:normAutofit fontScale="92500" lnSpcReduction="20000"/>
          </a:bodyPr>
          <a:lstStyle/>
          <a:p>
            <a:pPr marL="0" indent="0">
              <a:buNone/>
            </a:pPr>
            <a:r>
              <a:rPr lang="en-US" b="1" dirty="0"/>
              <a:t>1. Text Generation Models: G</a:t>
            </a:r>
            <a:r>
              <a:rPr lang="en-US" dirty="0"/>
              <a:t>enerate human-like text based on input prompts. </a:t>
            </a:r>
            <a:r>
              <a:rPr lang="en-US"/>
              <a:t>Example is </a:t>
            </a:r>
            <a:r>
              <a:rPr lang="en-US" b="1" dirty="0"/>
              <a:t>RNN</a:t>
            </a:r>
            <a:r>
              <a:rPr lang="en-US" dirty="0"/>
              <a:t>-based models like </a:t>
            </a:r>
            <a:r>
              <a:rPr lang="en-US" b="1" dirty="0"/>
              <a:t>LSTM</a:t>
            </a:r>
            <a:r>
              <a:rPr lang="en-US" dirty="0"/>
              <a:t>s</a:t>
            </a:r>
          </a:p>
          <a:p>
            <a:pPr marL="0" indent="0">
              <a:buNone/>
            </a:pPr>
            <a:r>
              <a:rPr lang="en-US" b="1" dirty="0"/>
              <a:t>2. Image Generation Models: </a:t>
            </a:r>
            <a:r>
              <a:rPr lang="en-US" dirty="0"/>
              <a:t>Generate images from text prompts or existing images. Example are </a:t>
            </a:r>
            <a:r>
              <a:rPr lang="en-US" b="1" dirty="0"/>
              <a:t>Diffusion</a:t>
            </a:r>
            <a:r>
              <a:rPr lang="en-US" dirty="0"/>
              <a:t> Models, </a:t>
            </a:r>
            <a:r>
              <a:rPr lang="en-US" b="1" dirty="0"/>
              <a:t>GAN</a:t>
            </a:r>
            <a:r>
              <a:rPr lang="en-US" dirty="0"/>
              <a:t>s (Generative Adversarial Networks), VAEs (</a:t>
            </a:r>
            <a:r>
              <a:rPr lang="en-US" dirty="0" err="1"/>
              <a:t>Variational</a:t>
            </a:r>
            <a:r>
              <a:rPr lang="en-US" dirty="0"/>
              <a:t> </a:t>
            </a:r>
            <a:r>
              <a:rPr lang="en-US" dirty="0" err="1"/>
              <a:t>Autoencoders</a:t>
            </a:r>
            <a:r>
              <a:rPr lang="en-US" dirty="0"/>
              <a:t> ), etc.</a:t>
            </a:r>
          </a:p>
          <a:p>
            <a:pPr marL="0" indent="0">
              <a:buNone/>
            </a:pPr>
            <a:r>
              <a:rPr lang="en-US" b="1" dirty="0"/>
              <a:t>3. Audio &amp; Speech Generation Models: </a:t>
            </a:r>
            <a:r>
              <a:rPr lang="en-US" dirty="0"/>
              <a:t>Generate synthetic voices, music, or sound effects.</a:t>
            </a:r>
          </a:p>
          <a:p>
            <a:pPr marL="0" indent="0">
              <a:buNone/>
            </a:pPr>
            <a:r>
              <a:rPr lang="en-US" b="1" dirty="0"/>
              <a:t>4. Video Generation Models: </a:t>
            </a:r>
            <a:r>
              <a:rPr lang="en-US" dirty="0"/>
              <a:t>Generate or manipulate videos. Examples are </a:t>
            </a:r>
            <a:r>
              <a:rPr lang="en-US" b="1" dirty="0"/>
              <a:t>GAN</a:t>
            </a:r>
            <a:r>
              <a:rPr lang="en-US" dirty="0"/>
              <a:t>-based, </a:t>
            </a:r>
            <a:r>
              <a:rPr lang="en-US" b="1" dirty="0"/>
              <a:t>Diffusion</a:t>
            </a:r>
            <a:r>
              <a:rPr lang="en-US" dirty="0"/>
              <a:t> based, etc.</a:t>
            </a:r>
          </a:p>
          <a:p>
            <a:pPr marL="0" indent="0">
              <a:buNone/>
            </a:pPr>
            <a:r>
              <a:rPr lang="en-US" b="1" dirty="0"/>
              <a:t>5. 3D Object Generation Models: </a:t>
            </a:r>
            <a:r>
              <a:rPr lang="en-US" dirty="0"/>
              <a:t>Generate 3D images from 2D images or text. Examples are </a:t>
            </a:r>
            <a:r>
              <a:rPr lang="en-US" b="1" dirty="0"/>
              <a:t>diffusion</a:t>
            </a:r>
            <a:r>
              <a:rPr lang="en-US" dirty="0"/>
              <a:t> based, </a:t>
            </a:r>
            <a:r>
              <a:rPr lang="en-US" b="1" dirty="0"/>
              <a:t>GAN</a:t>
            </a:r>
            <a:r>
              <a:rPr lang="en-US" dirty="0"/>
              <a:t> based, etc.</a:t>
            </a:r>
          </a:p>
          <a:p>
            <a:pPr marL="0" indent="0">
              <a:buNone/>
            </a:pPr>
            <a:r>
              <a:rPr lang="en-US" b="1" dirty="0"/>
              <a:t>6. Code Generation Models: </a:t>
            </a:r>
            <a:r>
              <a:rPr lang="en-US" dirty="0"/>
              <a:t>Generate code based on natural language descriptions. Examples are </a:t>
            </a:r>
            <a:r>
              <a:rPr lang="en-US" b="1" dirty="0"/>
              <a:t>transformer</a:t>
            </a:r>
            <a:r>
              <a:rPr lang="en-US" dirty="0"/>
              <a:t> based models, </a:t>
            </a:r>
            <a:r>
              <a:rPr lang="en-US" b="1" dirty="0"/>
              <a:t>Autoregressive </a:t>
            </a:r>
            <a:r>
              <a:rPr lang="en-US" dirty="0"/>
              <a:t>models</a:t>
            </a:r>
          </a:p>
          <a:p>
            <a:pPr marL="0" indent="0">
              <a:buNone/>
            </a:pPr>
            <a:r>
              <a:rPr lang="en-US" b="1" dirty="0"/>
              <a:t>7. Data &amp; Tabular Generation Models: </a:t>
            </a:r>
            <a:r>
              <a:rPr lang="en-US" dirty="0"/>
              <a:t>Generate synthetic structured data. Examples are </a:t>
            </a:r>
            <a:r>
              <a:rPr lang="en-US" b="1" dirty="0"/>
              <a:t>GAN</a:t>
            </a:r>
            <a:r>
              <a:rPr lang="en-US" dirty="0"/>
              <a:t> based model, </a:t>
            </a:r>
            <a:r>
              <a:rPr lang="en-US" b="1" dirty="0"/>
              <a:t>Diffusion</a:t>
            </a:r>
            <a:r>
              <a:rPr lang="en-US" dirty="0"/>
              <a:t> based model, etc.</a:t>
            </a:r>
          </a:p>
          <a:p>
            <a:pPr marL="0" indent="0">
              <a:buNone/>
            </a:pPr>
            <a:endParaRPr lang="en-US" dirty="0"/>
          </a:p>
          <a:p>
            <a:pPr marL="0" indent="0">
              <a:buNone/>
            </a:pPr>
            <a:endParaRPr lang="en-US" dirty="0"/>
          </a:p>
          <a:p>
            <a:pPr marL="0" indent="0">
              <a:buNone/>
            </a:pPr>
            <a:endParaRPr lang="en-US" dirty="0"/>
          </a:p>
          <a:p>
            <a:endParaRPr lang="en-US" dirty="0"/>
          </a:p>
          <a:p>
            <a:endParaRPr lang="en-US" dirty="0"/>
          </a:p>
          <a:p>
            <a:pPr marL="514350" indent="-514350">
              <a:buAutoNum type="arabicPeriod"/>
            </a:pPr>
            <a:endParaRPr lang="en-US" dirty="0"/>
          </a:p>
          <a:p>
            <a:endParaRPr lang="en-US" dirty="0"/>
          </a:p>
        </p:txBody>
      </p:sp>
    </p:spTree>
    <p:extLst>
      <p:ext uri="{BB962C8B-B14F-4D97-AF65-F5344CB8AC3E}">
        <p14:creationId xmlns:p14="http://schemas.microsoft.com/office/powerpoint/2010/main" val="989621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Challenges</a:t>
            </a:r>
            <a:endParaRPr lang="en-US" dirty="0"/>
          </a:p>
        </p:txBody>
      </p:sp>
      <p:sp>
        <p:nvSpPr>
          <p:cNvPr id="3" name="Content Placeholder 2"/>
          <p:cNvSpPr>
            <a:spLocks noGrp="1"/>
          </p:cNvSpPr>
          <p:nvPr>
            <p:ph idx="1"/>
          </p:nvPr>
        </p:nvSpPr>
        <p:spPr/>
        <p:txBody>
          <a:bodyPr>
            <a:normAutofit fontScale="92500"/>
          </a:bodyPr>
          <a:lstStyle/>
          <a:p>
            <a:r>
              <a:rPr lang="en-US" dirty="0"/>
              <a:t>GANs can be computationally intensive, both in terms of machine learning training and inference. They often require large amounts of data and can take a long time to train. One is to use parallel training, which can help to speed up training. Another is to use distributed training, which can help to distribute the computational burden across multiple nodes or machines, for example, with </a:t>
            </a:r>
            <a:r>
              <a:rPr lang="en-US" b="1" dirty="0"/>
              <a:t>edge computing</a:t>
            </a:r>
          </a:p>
          <a:p>
            <a:r>
              <a:rPr lang="en-US" dirty="0"/>
              <a:t>GANs can be difficult to deploy because they require a lot of computational resources.</a:t>
            </a:r>
          </a:p>
          <a:p>
            <a:r>
              <a:rPr lang="en-US" dirty="0"/>
              <a:t>Finally, model compression techniques can be used to reduce the size of the model, which can help to reduce the computational requirements.</a:t>
            </a:r>
          </a:p>
          <a:p>
            <a:endParaRPr lang="en-US" dirty="0"/>
          </a:p>
        </p:txBody>
      </p:sp>
    </p:spTree>
    <p:extLst>
      <p:ext uri="{BB962C8B-B14F-4D97-AF65-F5344CB8AC3E}">
        <p14:creationId xmlns:p14="http://schemas.microsoft.com/office/powerpoint/2010/main" val="408915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357</TotalTime>
  <Words>443</Words>
  <Application>Microsoft Office PowerPoint</Application>
  <PresentationFormat>Widescreen</PresentationFormat>
  <Paragraphs>24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GenAI Module8- Foundations and Applications</vt:lpstr>
      <vt:lpstr>GenAI process workflow</vt:lpstr>
      <vt:lpstr>Types of Gen AI models based on content creation</vt:lpstr>
      <vt:lpstr>Challenges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GenAI Module8- Foundations and Applications</dc:title>
  <dc:creator>Windows User</dc:creator>
  <cp:lastModifiedBy>Ashwani Kumar</cp:lastModifiedBy>
  <cp:revision>60</cp:revision>
  <dcterms:created xsi:type="dcterms:W3CDTF">2025-01-16T06:24:03Z</dcterms:created>
  <dcterms:modified xsi:type="dcterms:W3CDTF">2026-05-02T18:25:29Z</dcterms:modified>
</cp:coreProperties>
</file>