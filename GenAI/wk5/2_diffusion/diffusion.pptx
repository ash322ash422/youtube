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76" r:id="rId2"/>
    <p:sldId id="277" r:id="rId3"/>
    <p:sldId id="284" r:id="rId4"/>
    <p:sldId id="278" r:id="rId5"/>
    <p:sldId id="286" r:id="rId6"/>
    <p:sldId id="285" r:id="rId7"/>
    <p:sldId id="288" r:id="rId8"/>
    <p:sldId id="289" r:id="rId9"/>
    <p:sldId id="287" r:id="rId10"/>
    <p:sldId id="291" r:id="rId11"/>
    <p:sldId id="290" r:id="rId12"/>
    <p:sldId id="293" r:id="rId13"/>
    <p:sldId id="292" r:id="rId14"/>
    <p:sldId id="279" r:id="rId15"/>
    <p:sldId id="280" r:id="rId16"/>
    <p:sldId id="281" r:id="rId17"/>
    <p:sldId id="282" r:id="rId18"/>
    <p:sldId id="283" r:id="rId19"/>
    <p:sldId id="257"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5/1/2026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uperannotate.com/blog/openai-sora"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11F152A-96D5-22DF-77C3-A69B11647BAE}"/>
              </a:ext>
            </a:extLst>
          </p:cNvPr>
          <p:cNvSpPr txBox="1"/>
          <p:nvPr/>
        </p:nvSpPr>
        <p:spPr>
          <a:xfrm>
            <a:off x="137160" y="194955"/>
            <a:ext cx="10853928" cy="2677656"/>
          </a:xfrm>
          <a:prstGeom prst="rect">
            <a:avLst/>
          </a:prstGeom>
          <a:noFill/>
        </p:spPr>
        <p:txBody>
          <a:bodyPr wrap="square">
            <a:spAutoFit/>
          </a:bodyPr>
          <a:lstStyle/>
          <a:p>
            <a:r>
              <a:rPr lang="en-US" sz="2400" dirty="0">
                <a:solidFill>
                  <a:schemeClr val="accent6">
                    <a:lumMod val="60000"/>
                    <a:lumOff val="40000"/>
                  </a:schemeClr>
                </a:solidFill>
              </a:rPr>
              <a:t>Diffusion models are a type of generative artificial intelligence (AI) model that generate data by adding noise and then removing it.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How they work </a:t>
            </a:r>
          </a:p>
          <a:p>
            <a:pPr marL="0" indent="0">
              <a:buNone/>
            </a:pPr>
            <a:r>
              <a:rPr lang="en-US" sz="2400" dirty="0">
                <a:solidFill>
                  <a:schemeClr val="accent6">
                    <a:lumMod val="60000"/>
                    <a:lumOff val="40000"/>
                  </a:schemeClr>
                </a:solidFill>
              </a:rPr>
              <a:t>1. Start with a clean sample of data</a:t>
            </a:r>
          </a:p>
          <a:p>
            <a:pPr marL="0" indent="0">
              <a:buNone/>
            </a:pPr>
            <a:r>
              <a:rPr lang="en-US" sz="2400" dirty="0">
                <a:solidFill>
                  <a:schemeClr val="accent6">
                    <a:lumMod val="60000"/>
                    <a:lumOff val="40000"/>
                  </a:schemeClr>
                </a:solidFill>
              </a:rPr>
              <a:t>2. Gradually add noise to the data</a:t>
            </a:r>
          </a:p>
          <a:p>
            <a:pPr marL="0" indent="0">
              <a:buNone/>
            </a:pPr>
            <a:r>
              <a:rPr lang="en-US" sz="2400" dirty="0">
                <a:solidFill>
                  <a:schemeClr val="accent6">
                    <a:lumMod val="60000"/>
                    <a:lumOff val="40000"/>
                  </a:schemeClr>
                </a:solidFill>
              </a:rPr>
              <a:t>3. Reverse the process to remove the noise and generate a structured output</a:t>
            </a:r>
          </a:p>
        </p:txBody>
      </p:sp>
      <p:sp>
        <p:nvSpPr>
          <p:cNvPr id="12" name="Oval 11">
            <a:extLst>
              <a:ext uri="{FF2B5EF4-FFF2-40B4-BE49-F238E27FC236}">
                <a16:creationId xmlns:a16="http://schemas.microsoft.com/office/drawing/2014/main" id="{C518D569-8A26-1714-ED56-EBAFA53EFA81}"/>
              </a:ext>
            </a:extLst>
          </p:cNvPr>
          <p:cNvSpPr/>
          <p:nvPr/>
        </p:nvSpPr>
        <p:spPr>
          <a:xfrm>
            <a:off x="1103376" y="2881633"/>
            <a:ext cx="1106424" cy="9936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a:t>
            </a:r>
          </a:p>
          <a:p>
            <a:pPr algn="ctr"/>
            <a:r>
              <a:rPr lang="en-US" dirty="0"/>
              <a:t>data</a:t>
            </a:r>
          </a:p>
        </p:txBody>
      </p:sp>
      <p:pic>
        <p:nvPicPr>
          <p:cNvPr id="15" name="Picture 14">
            <a:extLst>
              <a:ext uri="{FF2B5EF4-FFF2-40B4-BE49-F238E27FC236}">
                <a16:creationId xmlns:a16="http://schemas.microsoft.com/office/drawing/2014/main" id="{3651A258-BABA-806A-1BDF-5654FDCB5BFB}"/>
              </a:ext>
            </a:extLst>
          </p:cNvPr>
          <p:cNvPicPr>
            <a:picLocks noChangeAspect="1"/>
          </p:cNvPicPr>
          <p:nvPr/>
        </p:nvPicPr>
        <p:blipFill>
          <a:blip r:embed="rId2"/>
          <a:stretch>
            <a:fillRect/>
          </a:stretch>
        </p:blipFill>
        <p:spPr>
          <a:xfrm>
            <a:off x="141193" y="3994032"/>
            <a:ext cx="12050807" cy="2600688"/>
          </a:xfrm>
          <a:prstGeom prst="rect">
            <a:avLst/>
          </a:prstGeom>
        </p:spPr>
      </p:pic>
      <p:sp>
        <p:nvSpPr>
          <p:cNvPr id="16" name="Oval 15">
            <a:extLst>
              <a:ext uri="{FF2B5EF4-FFF2-40B4-BE49-F238E27FC236}">
                <a16:creationId xmlns:a16="http://schemas.microsoft.com/office/drawing/2014/main" id="{E0039BB7-5570-A3C2-BD53-00F5B11DF845}"/>
              </a:ext>
            </a:extLst>
          </p:cNvPr>
          <p:cNvSpPr/>
          <p:nvPr/>
        </p:nvSpPr>
        <p:spPr>
          <a:xfrm>
            <a:off x="5233416" y="2863968"/>
            <a:ext cx="1106424" cy="9936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Noise added</a:t>
            </a:r>
          </a:p>
        </p:txBody>
      </p:sp>
      <p:sp>
        <p:nvSpPr>
          <p:cNvPr id="17" name="Oval 16">
            <a:extLst>
              <a:ext uri="{FF2B5EF4-FFF2-40B4-BE49-F238E27FC236}">
                <a16:creationId xmlns:a16="http://schemas.microsoft.com/office/drawing/2014/main" id="{6FD0306C-E9FB-6F5C-4981-DD89346BA43A}"/>
              </a:ext>
            </a:extLst>
          </p:cNvPr>
          <p:cNvSpPr/>
          <p:nvPr/>
        </p:nvSpPr>
        <p:spPr>
          <a:xfrm>
            <a:off x="9738360" y="2863968"/>
            <a:ext cx="1106424" cy="9936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Noise added</a:t>
            </a:r>
          </a:p>
        </p:txBody>
      </p:sp>
      <p:sp>
        <p:nvSpPr>
          <p:cNvPr id="18" name="TextBox 17">
            <a:extLst>
              <a:ext uri="{FF2B5EF4-FFF2-40B4-BE49-F238E27FC236}">
                <a16:creationId xmlns:a16="http://schemas.microsoft.com/office/drawing/2014/main" id="{0F958FD9-562F-79C8-459D-A7C2D4D0F09A}"/>
              </a:ext>
            </a:extLst>
          </p:cNvPr>
          <p:cNvSpPr txBox="1"/>
          <p:nvPr/>
        </p:nvSpPr>
        <p:spPr>
          <a:xfrm>
            <a:off x="7031736" y="6478379"/>
            <a:ext cx="2587752" cy="369332"/>
          </a:xfrm>
          <a:prstGeom prst="rect">
            <a:avLst/>
          </a:prstGeom>
          <a:noFill/>
        </p:spPr>
        <p:txBody>
          <a:bodyPr wrap="square" rtlCol="0">
            <a:spAutoFit/>
          </a:bodyPr>
          <a:lstStyle/>
          <a:p>
            <a:r>
              <a:rPr lang="en-US" dirty="0">
                <a:solidFill>
                  <a:schemeClr val="accent6">
                    <a:lumMod val="60000"/>
                    <a:lumOff val="40000"/>
                  </a:schemeClr>
                </a:solidFill>
              </a:rPr>
              <a:t>Source: </a:t>
            </a:r>
            <a:r>
              <a:rPr lang="en-US" dirty="0" err="1">
                <a:solidFill>
                  <a:schemeClr val="accent6">
                    <a:lumMod val="60000"/>
                    <a:lumOff val="40000"/>
                  </a:schemeClr>
                </a:solidFill>
              </a:rPr>
              <a:t>Youtube</a:t>
            </a:r>
            <a:r>
              <a:rPr lang="en-US" dirty="0">
                <a:solidFill>
                  <a:schemeClr val="accent6">
                    <a:lumMod val="60000"/>
                    <a:lumOff val="40000"/>
                  </a:schemeClr>
                </a:solidFill>
              </a:rPr>
              <a:t> - Seff</a:t>
            </a:r>
          </a:p>
        </p:txBody>
      </p:sp>
    </p:spTree>
    <p:extLst>
      <p:ext uri="{BB962C8B-B14F-4D97-AF65-F5344CB8AC3E}">
        <p14:creationId xmlns:p14="http://schemas.microsoft.com/office/powerpoint/2010/main" val="264407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FD86-2832-A24B-5B7C-A782993BA0C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D6A6E77-9D6A-0247-0F0E-3673F72305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4" y="609752"/>
            <a:ext cx="4379976" cy="3341620"/>
          </a:xfrm>
          <a:prstGeom prst="rect">
            <a:avLst/>
          </a:prstGeom>
        </p:spPr>
      </p:pic>
      <p:pic>
        <p:nvPicPr>
          <p:cNvPr id="8" name="Picture 7">
            <a:extLst>
              <a:ext uri="{FF2B5EF4-FFF2-40B4-BE49-F238E27FC236}">
                <a16:creationId xmlns:a16="http://schemas.microsoft.com/office/drawing/2014/main" id="{C708FEAA-1963-E8AB-787D-C84E5CED3C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8080" y="1304415"/>
            <a:ext cx="3743892" cy="4439939"/>
          </a:xfrm>
          <a:prstGeom prst="rect">
            <a:avLst/>
          </a:prstGeom>
        </p:spPr>
      </p:pic>
    </p:spTree>
    <p:extLst>
      <p:ext uri="{BB962C8B-B14F-4D97-AF65-F5344CB8AC3E}">
        <p14:creationId xmlns:p14="http://schemas.microsoft.com/office/powerpoint/2010/main" val="729121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4002" y="139351"/>
            <a:ext cx="4461164" cy="451548"/>
          </a:xfrm>
        </p:spPr>
        <p:txBody>
          <a:bodyPr>
            <a:noAutofit/>
          </a:bodyPr>
          <a:lstStyle/>
          <a:p>
            <a:pPr algn="ctr"/>
            <a:r>
              <a:rPr lang="en-US" sz="2000" dirty="0"/>
              <a:t>Applications of Diff Models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5012" y="249381"/>
            <a:ext cx="3167822" cy="3181656"/>
          </a:xfrm>
          <a:prstGeom prst="rect">
            <a:avLst/>
          </a:prstGeom>
        </p:spPr>
      </p:pic>
      <p:sp>
        <p:nvSpPr>
          <p:cNvPr id="7" name="TextBox 6">
            <a:extLst>
              <a:ext uri="{FF2B5EF4-FFF2-40B4-BE49-F238E27FC236}">
                <a16:creationId xmlns:a16="http://schemas.microsoft.com/office/drawing/2014/main" id="{8AF60BDD-A9CC-2762-F79D-4C1EC83346F8}"/>
              </a:ext>
            </a:extLst>
          </p:cNvPr>
          <p:cNvSpPr txBox="1"/>
          <p:nvPr/>
        </p:nvSpPr>
        <p:spPr>
          <a:xfrm>
            <a:off x="118872" y="590899"/>
            <a:ext cx="8676140" cy="4154984"/>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accent6">
                    <a:lumMod val="60000"/>
                    <a:lumOff val="40000"/>
                  </a:schemeClr>
                </a:solidFill>
                <a:effectLst/>
                <a:latin typeface="Google Sans"/>
              </a:rPr>
              <a:t>Image generation</a:t>
            </a:r>
            <a:r>
              <a:rPr kumimoji="0" lang="en-US" altLang="en-US" sz="2400" b="0" i="0" u="none" strike="noStrike" cap="none" normalizeH="0" baseline="0" dirty="0">
                <a:ln>
                  <a:noFill/>
                </a:ln>
                <a:solidFill>
                  <a:schemeClr val="accent6">
                    <a:lumMod val="60000"/>
                    <a:lumOff val="40000"/>
                  </a:schemeClr>
                </a:solidFill>
                <a:effectLst/>
                <a:latin typeface="Google Sans"/>
              </a:rPr>
              <a:t>: Diffusion models are used to generate high-quality images for computer vision tasks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accent6">
                  <a:lumMod val="60000"/>
                  <a:lumOff val="40000"/>
                </a:schemeClr>
              </a:solidFill>
              <a:effectLst/>
              <a:latin typeface="Google San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accent6">
                    <a:lumMod val="60000"/>
                    <a:lumOff val="40000"/>
                  </a:schemeClr>
                </a:solidFill>
                <a:effectLst/>
                <a:latin typeface="Google Sans"/>
              </a:rPr>
              <a:t>Data denoising</a:t>
            </a:r>
            <a:r>
              <a:rPr kumimoji="0" lang="en-US" altLang="en-US" sz="2400" b="0" i="0" u="none" strike="noStrike" cap="none" normalizeH="0" baseline="0" dirty="0">
                <a:ln>
                  <a:noFill/>
                </a:ln>
                <a:solidFill>
                  <a:schemeClr val="accent6">
                    <a:lumMod val="60000"/>
                    <a:lumOff val="40000"/>
                  </a:schemeClr>
                </a:solidFill>
                <a:effectLst/>
                <a:latin typeface="Google Sans"/>
              </a:rPr>
              <a:t>: Diffusion models can handle data that has degraded over time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accent6">
                  <a:lumMod val="60000"/>
                  <a:lumOff val="40000"/>
                </a:schemeClr>
              </a:solidFill>
              <a:effectLst/>
              <a:latin typeface="Google San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accent6">
                    <a:lumMod val="60000"/>
                    <a:lumOff val="40000"/>
                  </a:schemeClr>
                </a:solidFill>
                <a:effectLst/>
                <a:latin typeface="Google Sans"/>
              </a:rPr>
              <a:t>Image editing</a:t>
            </a:r>
            <a:r>
              <a:rPr kumimoji="0" lang="en-US" altLang="en-US" sz="2400" b="0" i="0" u="none" strike="noStrike" cap="none" normalizeH="0" baseline="0" dirty="0">
                <a:ln>
                  <a:noFill/>
                </a:ln>
                <a:solidFill>
                  <a:schemeClr val="accent6">
                    <a:lumMod val="60000"/>
                    <a:lumOff val="40000"/>
                  </a:schemeClr>
                </a:solidFill>
                <a:effectLst/>
                <a:latin typeface="Google Sans"/>
              </a:rPr>
              <a:t>: Diffusion models can be used to edit and retouch photos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accent6">
                  <a:lumMod val="60000"/>
                  <a:lumOff val="40000"/>
                </a:schemeClr>
              </a:solidFill>
              <a:effectLst/>
              <a:latin typeface="Google Sans"/>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accent6">
                    <a:lumMod val="60000"/>
                    <a:lumOff val="40000"/>
                  </a:schemeClr>
                </a:solidFill>
                <a:effectLst/>
                <a:latin typeface="Google Sans"/>
              </a:rPr>
              <a:t>Missing data</a:t>
            </a:r>
            <a:r>
              <a:rPr kumimoji="0" lang="en-US" altLang="en-US" sz="2400" b="0" i="0" u="none" strike="noStrike" cap="none" normalizeH="0" baseline="0" dirty="0">
                <a:ln>
                  <a:noFill/>
                </a:ln>
                <a:solidFill>
                  <a:schemeClr val="accent6">
                    <a:lumMod val="60000"/>
                    <a:lumOff val="40000"/>
                  </a:schemeClr>
                </a:solidFill>
                <a:effectLst/>
                <a:latin typeface="Google Sans"/>
              </a:rPr>
              <a:t>: Diffusion models can generate coherent data points even when some input data is missing</a:t>
            </a:r>
          </a:p>
        </p:txBody>
      </p:sp>
      <p:sp>
        <p:nvSpPr>
          <p:cNvPr id="9" name="TextBox 8">
            <a:extLst>
              <a:ext uri="{FF2B5EF4-FFF2-40B4-BE49-F238E27FC236}">
                <a16:creationId xmlns:a16="http://schemas.microsoft.com/office/drawing/2014/main" id="{8F4F24C6-396B-FDDA-81EB-9E8AE3DFCE3E}"/>
              </a:ext>
            </a:extLst>
          </p:cNvPr>
          <p:cNvSpPr txBox="1"/>
          <p:nvPr/>
        </p:nvSpPr>
        <p:spPr>
          <a:xfrm>
            <a:off x="333756" y="5197431"/>
            <a:ext cx="11333988" cy="1200329"/>
          </a:xfrm>
          <a:prstGeom prst="rect">
            <a:avLst/>
          </a:prstGeom>
          <a:noFill/>
        </p:spPr>
        <p:txBody>
          <a:bodyPr wrap="square">
            <a:spAutoFit/>
          </a:bodyPr>
          <a:lstStyle/>
          <a:p>
            <a:pPr marL="0" lvl="0" indent="0">
              <a:lnSpc>
                <a:spcPct val="100000"/>
              </a:lnSpc>
              <a:buNone/>
            </a:pPr>
            <a:r>
              <a:rPr lang="en-US" sz="2400" dirty="0">
                <a:solidFill>
                  <a:schemeClr val="accent6">
                    <a:lumMod val="60000"/>
                    <a:lumOff val="40000"/>
                  </a:schemeClr>
                </a:solidFill>
              </a:rPr>
              <a:t>The famous DALL-E 2, Midjourney, and open-source Stable Diffusion that create realistic images based on the user's text input are all examples of diffusion models. </a:t>
            </a:r>
          </a:p>
          <a:p>
            <a:pPr marL="0" lvl="0" indent="0">
              <a:lnSpc>
                <a:spcPct val="100000"/>
              </a:lnSpc>
              <a:buNone/>
            </a:pPr>
            <a:r>
              <a:rPr kumimoji="0" lang="en-US" altLang="en-US" sz="2400" b="0" i="0" u="none" strike="noStrike" cap="none" normalizeH="0" baseline="0" dirty="0">
                <a:ln>
                  <a:noFill/>
                </a:ln>
                <a:solidFill>
                  <a:schemeClr val="accent6">
                    <a:lumMod val="60000"/>
                    <a:lumOff val="40000"/>
                  </a:schemeClr>
                </a:solidFill>
                <a:effectLst/>
                <a:latin typeface="Google Sans"/>
              </a:rPr>
              <a:t>Also</a:t>
            </a:r>
            <a:r>
              <a:rPr kumimoji="0" lang="en-US" altLang="en-US" sz="2400" b="0" i="0" u="none" strike="noStrike" cap="none" normalizeH="0" dirty="0">
                <a:ln>
                  <a:noFill/>
                </a:ln>
                <a:solidFill>
                  <a:schemeClr val="accent6">
                    <a:lumMod val="60000"/>
                    <a:lumOff val="40000"/>
                  </a:schemeClr>
                </a:solidFill>
                <a:effectLst/>
                <a:latin typeface="Google Sans"/>
              </a:rPr>
              <a:t> see </a:t>
            </a:r>
            <a:r>
              <a:rPr kumimoji="0" lang="en-US" altLang="en-US" sz="2400" b="0" i="0" u="none" strike="noStrike" cap="none" normalizeH="0" dirty="0">
                <a:ln>
                  <a:noFill/>
                </a:ln>
                <a:solidFill>
                  <a:schemeClr val="accent6">
                    <a:lumMod val="60000"/>
                    <a:lumOff val="40000"/>
                  </a:schemeClr>
                </a:solidFill>
                <a:effectLst/>
                <a:latin typeface="Google Sans"/>
                <a:hlinkClick r:id="rId3">
                  <a:extLst>
                    <a:ext uri="{A12FA001-AC4F-418D-AE19-62706E023703}">
                      <ahyp:hlinkClr xmlns:ahyp="http://schemas.microsoft.com/office/drawing/2018/hyperlinkcolor" val="tx"/>
                    </a:ext>
                  </a:extLst>
                </a:hlinkClick>
              </a:rPr>
              <a:t>Sora</a:t>
            </a:r>
            <a:r>
              <a:rPr kumimoji="0" lang="en-US" altLang="en-US" sz="2400" b="0" i="0" u="none" strike="noStrike" cap="none" normalizeH="0" baseline="0" dirty="0">
                <a:ln>
                  <a:noFill/>
                </a:ln>
                <a:solidFill>
                  <a:schemeClr val="accent6">
                    <a:lumMod val="60000"/>
                    <a:lumOff val="40000"/>
                  </a:schemeClr>
                </a:solidFill>
                <a:effectLst/>
                <a:latin typeface="Google Sans"/>
              </a:rPr>
              <a:t> </a:t>
            </a:r>
          </a:p>
        </p:txBody>
      </p:sp>
    </p:spTree>
    <p:extLst>
      <p:ext uri="{BB962C8B-B14F-4D97-AF65-F5344CB8AC3E}">
        <p14:creationId xmlns:p14="http://schemas.microsoft.com/office/powerpoint/2010/main" val="4196871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30FC5-6620-ABDE-3AC4-342F8D2D9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03BA4-D473-ADBC-497A-498ADC95550A}"/>
              </a:ext>
            </a:extLst>
          </p:cNvPr>
          <p:cNvSpPr>
            <a:spLocks noGrp="1"/>
          </p:cNvSpPr>
          <p:nvPr>
            <p:ph type="title"/>
          </p:nvPr>
        </p:nvSpPr>
        <p:spPr>
          <a:xfrm>
            <a:off x="4074002" y="139351"/>
            <a:ext cx="4461164" cy="451548"/>
          </a:xfrm>
        </p:spPr>
        <p:txBody>
          <a:bodyPr>
            <a:noAutofit/>
          </a:bodyPr>
          <a:lstStyle/>
          <a:p>
            <a:pPr algn="ctr"/>
            <a:r>
              <a:rPr lang="en-US" sz="2000" dirty="0"/>
              <a:t>Applications of Diff Models</a:t>
            </a:r>
          </a:p>
        </p:txBody>
      </p:sp>
      <p:sp>
        <p:nvSpPr>
          <p:cNvPr id="5" name="TextBox 4">
            <a:extLst>
              <a:ext uri="{FF2B5EF4-FFF2-40B4-BE49-F238E27FC236}">
                <a16:creationId xmlns:a16="http://schemas.microsoft.com/office/drawing/2014/main" id="{12A3116F-FDD0-1094-31B4-90E7DAF3AFDE}"/>
              </a:ext>
            </a:extLst>
          </p:cNvPr>
          <p:cNvSpPr txBox="1"/>
          <p:nvPr/>
        </p:nvSpPr>
        <p:spPr>
          <a:xfrm>
            <a:off x="31099" y="930264"/>
            <a:ext cx="8504067"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6">
                    <a:lumMod val="60000"/>
                    <a:lumOff val="40000"/>
                  </a:schemeClr>
                </a:solidFill>
              </a:rPr>
              <a:t>In graphic design and illustration, diffusion models provide a tool for rapidly generating visual content. Designers can input sketches, layouts, or rough ideas, and the models can flesh these out into complete, polished images. This can significantly speed up the design process, offering a range of possibilities from the initial concept to the final product.</a:t>
            </a:r>
          </a:p>
          <a:p>
            <a:pPr marL="285750" indent="-285750">
              <a:buFont typeface="Arial" panose="020B0604020202020204" pitchFamily="34" charset="0"/>
              <a:buChar char="•"/>
            </a:pPr>
            <a:endParaRPr lang="en-US" sz="2400" dirty="0">
              <a:solidFill>
                <a:schemeClr val="accent6">
                  <a:lumMod val="60000"/>
                  <a:lumOff val="40000"/>
                </a:schemeClr>
              </a:solidFill>
            </a:endParaRPr>
          </a:p>
          <a:p>
            <a:pPr marL="285750" indent="-285750">
              <a:buFont typeface="Arial" panose="020B0604020202020204" pitchFamily="34" charset="0"/>
              <a:buChar char="•"/>
            </a:pPr>
            <a:endParaRPr lang="en-US" sz="2400" dirty="0">
              <a:solidFill>
                <a:schemeClr val="accent6">
                  <a:lumMod val="60000"/>
                  <a:lumOff val="40000"/>
                </a:schemeClr>
              </a:solidFill>
            </a:endParaRPr>
          </a:p>
          <a:p>
            <a:pPr marL="285750" indent="-285750">
              <a:buFont typeface="Arial" panose="020B0604020202020204" pitchFamily="34" charset="0"/>
              <a:buChar char="•"/>
            </a:pPr>
            <a:r>
              <a:rPr lang="en-US" sz="2400" dirty="0">
                <a:solidFill>
                  <a:schemeClr val="accent6">
                    <a:lumMod val="60000"/>
                    <a:lumOff val="40000"/>
                  </a:schemeClr>
                </a:solidFill>
              </a:rPr>
              <a:t>In music and sound design, generative diffusion models can be adapted to generate unique soundscapes or represent music, offering new ways for artists to visualize and create auditory experiences.</a:t>
            </a:r>
          </a:p>
        </p:txBody>
      </p:sp>
      <p:pic>
        <p:nvPicPr>
          <p:cNvPr id="6" name="Picture 5">
            <a:extLst>
              <a:ext uri="{FF2B5EF4-FFF2-40B4-BE49-F238E27FC236}">
                <a16:creationId xmlns:a16="http://schemas.microsoft.com/office/drawing/2014/main" id="{F4A4799E-0AA7-231B-88A2-CB83A26C1B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5012" y="249381"/>
            <a:ext cx="3167822" cy="3181656"/>
          </a:xfrm>
          <a:prstGeom prst="rect">
            <a:avLst/>
          </a:prstGeom>
        </p:spPr>
      </p:pic>
    </p:spTree>
    <p:extLst>
      <p:ext uri="{BB962C8B-B14F-4D97-AF65-F5344CB8AC3E}">
        <p14:creationId xmlns:p14="http://schemas.microsoft.com/office/powerpoint/2010/main" val="410027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A5B9C-511E-D993-4C9E-7466175829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5FB2D4-F2E5-C062-4132-AEE5BE6E2F74}"/>
              </a:ext>
            </a:extLst>
          </p:cNvPr>
          <p:cNvSpPr txBox="1"/>
          <p:nvPr/>
        </p:nvSpPr>
        <p:spPr>
          <a:xfrm>
            <a:off x="306324" y="320701"/>
            <a:ext cx="6190488" cy="3416320"/>
          </a:xfrm>
          <a:prstGeom prst="rect">
            <a:avLst/>
          </a:prstGeom>
          <a:noFill/>
        </p:spPr>
        <p:txBody>
          <a:bodyPr wrap="square">
            <a:spAutoFit/>
          </a:bodyPr>
          <a:lstStyle/>
          <a:p>
            <a:pPr>
              <a:buNone/>
            </a:pPr>
            <a:r>
              <a:rPr lang="en-US" sz="2400" b="1" dirty="0">
                <a:solidFill>
                  <a:schemeClr val="accent6">
                    <a:lumMod val="60000"/>
                    <a:lumOff val="40000"/>
                  </a:schemeClr>
                </a:solidFill>
              </a:rPr>
              <a:t>🧠 FULL WORKFLOW (Teach This Flow)</a:t>
            </a: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 2 Main Phases</a:t>
            </a:r>
          </a:p>
          <a:p>
            <a:pPr>
              <a:buNone/>
            </a:pPr>
            <a:r>
              <a:rPr lang="en-US" sz="2400" b="1" dirty="0">
                <a:solidFill>
                  <a:schemeClr val="accent6">
                    <a:lumMod val="60000"/>
                    <a:lumOff val="40000"/>
                  </a:schemeClr>
                </a:solidFill>
              </a:rPr>
              <a:t>1. Forward Process (No Learning)</a:t>
            </a:r>
          </a:p>
          <a:p>
            <a:pPr>
              <a:buNone/>
            </a:pPr>
            <a:r>
              <a:rPr lang="en-US" sz="2400" dirty="0">
                <a:solidFill>
                  <a:schemeClr val="accent6">
                    <a:lumMod val="60000"/>
                    <a:lumOff val="40000"/>
                  </a:schemeClr>
                </a:solidFill>
              </a:rPr>
              <a:t>👉 Add noise step-by-step</a:t>
            </a: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2. Reverse Process (Learning)</a:t>
            </a:r>
          </a:p>
          <a:p>
            <a:pPr>
              <a:buNone/>
            </a:pPr>
            <a:r>
              <a:rPr lang="en-US" sz="2400" dirty="0">
                <a:solidFill>
                  <a:schemeClr val="accent6">
                    <a:lumMod val="60000"/>
                    <a:lumOff val="40000"/>
                  </a:schemeClr>
                </a:solidFill>
              </a:rPr>
              <a:t>👉 Model learns to remove noise</a:t>
            </a:r>
          </a:p>
          <a:p>
            <a:pPr>
              <a:buNone/>
            </a:pP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4517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D3643-228D-79FF-F5F3-A15615E7E0F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A0CD792-3BC3-4DFC-2C47-684E4A48EFFD}"/>
                  </a:ext>
                </a:extLst>
              </p:cNvPr>
              <p:cNvSpPr txBox="1"/>
              <p:nvPr/>
            </p:nvSpPr>
            <p:spPr>
              <a:xfrm>
                <a:off x="150876" y="146965"/>
                <a:ext cx="6190488" cy="1477328"/>
              </a:xfrm>
              <a:prstGeom prst="rect">
                <a:avLst/>
              </a:prstGeom>
              <a:noFill/>
            </p:spPr>
            <p:txBody>
              <a:bodyPr wrap="square">
                <a:spAutoFit/>
              </a:bodyPr>
              <a:lstStyle/>
              <a:p>
                <a:r>
                  <a:rPr lang="en-US" sz="2400" b="1" dirty="0">
                    <a:solidFill>
                      <a:schemeClr val="accent6">
                        <a:lumMod val="60000"/>
                        <a:lumOff val="40000"/>
                      </a:schemeClr>
                    </a:solidFill>
                  </a:rPr>
                  <a:t>STEP 1: Start with Real Image</a:t>
                </a:r>
              </a:p>
              <a:p>
                <a:r>
                  <a:rPr lang="en-US" sz="2400" dirty="0">
                    <a:solidFill>
                      <a:schemeClr val="accent6">
                        <a:lumMod val="60000"/>
                        <a:lumOff val="40000"/>
                      </a:schemeClr>
                    </a:solidFill>
                  </a:rPr>
                  <a:t>Example: MNIST digit “0” </a:t>
                </a:r>
              </a:p>
              <a:p>
                <a:r>
                  <a:rPr lang="en-US" sz="2400" dirty="0">
                    <a:solidFill>
                      <a:schemeClr val="accent6">
                        <a:lumMod val="60000"/>
                        <a:lumOff val="40000"/>
                      </a:schemeClr>
                    </a:solidFill>
                  </a:rPr>
                  <a:t>Denote it as: </a:t>
                </a:r>
              </a:p>
              <a:p>
                <a:pPr/>
                <a14:m>
                  <m:oMathPara xmlns:m="http://schemas.openxmlformats.org/officeDocument/2006/math">
                    <m:oMathParaPr>
                      <m:jc m:val="centerGroup"/>
                    </m:oMathParaPr>
                    <m:oMath xmlns:m="http://schemas.openxmlformats.org/officeDocument/2006/math">
                      <m:sSub>
                        <m:sSubPr>
                          <m:ctrlPr>
                            <a:rPr lang="ar-AE" i="1">
                              <a:solidFill>
                                <a:schemeClr val="accent6">
                                  <a:lumMod val="60000"/>
                                  <a:lumOff val="40000"/>
                                </a:schemeClr>
                              </a:solidFill>
                              <a:latin typeface="Cambria Math" panose="02040503050406030204" pitchFamily="18" charset="0"/>
                            </a:rPr>
                          </m:ctrlPr>
                        </m:sSubPr>
                        <m:e>
                          <m:r>
                            <a:rPr lang="ar-AE" i="1">
                              <a:solidFill>
                                <a:schemeClr val="accent6">
                                  <a:lumMod val="60000"/>
                                  <a:lumOff val="40000"/>
                                </a:schemeClr>
                              </a:solidFill>
                              <a:latin typeface="Cambria Math" panose="02040503050406030204" pitchFamily="18" charset="0"/>
                            </a:rPr>
                            <m:t>𝑥</m:t>
                          </m:r>
                        </m:e>
                        <m:sub>
                          <m:r>
                            <a:rPr lang="ar-AE">
                              <a:solidFill>
                                <a:schemeClr val="accent6">
                                  <a:lumMod val="60000"/>
                                  <a:lumOff val="40000"/>
                                </a:schemeClr>
                              </a:solidFill>
                              <a:latin typeface="Cambria Math" panose="02040503050406030204" pitchFamily="18" charset="0"/>
                            </a:rPr>
                            <m:t>0</m:t>
                          </m:r>
                        </m:sub>
                      </m:sSub>
                    </m:oMath>
                  </m:oMathPara>
                </a14:m>
                <a:endParaRPr lang="ar-AE" sz="2400" dirty="0">
                  <a:solidFill>
                    <a:schemeClr val="accent6">
                      <a:lumMod val="60000"/>
                      <a:lumOff val="40000"/>
                    </a:schemeClr>
                  </a:solidFill>
                </a:endParaRPr>
              </a:p>
            </p:txBody>
          </p:sp>
        </mc:Choice>
        <mc:Fallback>
          <p:sp>
            <p:nvSpPr>
              <p:cNvPr id="3" name="TextBox 2">
                <a:extLst>
                  <a:ext uri="{FF2B5EF4-FFF2-40B4-BE49-F238E27FC236}">
                    <a16:creationId xmlns:a16="http://schemas.microsoft.com/office/drawing/2014/main" id="{DA0CD792-3BC3-4DFC-2C47-684E4A48EFFD}"/>
                  </a:ext>
                </a:extLst>
              </p:cNvPr>
              <p:cNvSpPr txBox="1">
                <a:spLocks noRot="1" noChangeAspect="1" noMove="1" noResize="1" noEditPoints="1" noAdjustHandles="1" noChangeArrowheads="1" noChangeShapeType="1" noTextEdit="1"/>
              </p:cNvSpPr>
              <p:nvPr/>
            </p:nvSpPr>
            <p:spPr>
              <a:xfrm>
                <a:off x="150876" y="146965"/>
                <a:ext cx="6190488" cy="1477328"/>
              </a:xfrm>
              <a:prstGeom prst="rect">
                <a:avLst/>
              </a:prstGeom>
              <a:blipFill>
                <a:blip r:embed="rId2"/>
                <a:stretch>
                  <a:fillRect l="-1576" t="-33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6A0F912-820F-C7C7-DDDC-77CBF3A35753}"/>
                  </a:ext>
                </a:extLst>
              </p:cNvPr>
              <p:cNvSpPr txBox="1"/>
              <p:nvPr/>
            </p:nvSpPr>
            <p:spPr>
              <a:xfrm>
                <a:off x="150876" y="1973758"/>
                <a:ext cx="7456932" cy="4971554"/>
              </a:xfrm>
              <a:prstGeom prst="rect">
                <a:avLst/>
              </a:prstGeom>
              <a:noFill/>
            </p:spPr>
            <p:txBody>
              <a:bodyPr wrap="square">
                <a:spAutoFit/>
              </a:bodyPr>
              <a:lstStyle/>
              <a:p>
                <a:pPr>
                  <a:buNone/>
                </a:pPr>
                <a:r>
                  <a:rPr lang="en-US" sz="2400" b="1" dirty="0">
                    <a:solidFill>
                      <a:schemeClr val="accent6">
                        <a:lumMod val="60000"/>
                        <a:lumOff val="40000"/>
                      </a:schemeClr>
                    </a:solidFill>
                  </a:rPr>
                  <a:t>STEP 2: Add Noise Gradually (Forward Diffusion)</a:t>
                </a:r>
              </a:p>
              <a:p>
                <a:pPr>
                  <a:buNone/>
                </a:pPr>
                <a:r>
                  <a:rPr lang="en-US" sz="2400" dirty="0">
                    <a:solidFill>
                      <a:schemeClr val="accent6">
                        <a:lumMod val="60000"/>
                        <a:lumOff val="40000"/>
                      </a:schemeClr>
                    </a:solidFill>
                  </a:rPr>
                  <a:t>At each timestep:</a:t>
                </a:r>
              </a:p>
              <a:p>
                <a:pPr>
                  <a:buNone/>
                </a:pPr>
                <a14:m>
                  <m:oMathPara xmlns:m="http://schemas.openxmlformats.org/officeDocument/2006/math">
                    <m:oMathParaPr>
                      <m:jc m:val="centerGroup"/>
                    </m:oMathParaPr>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𝑡</m:t>
                          </m:r>
                        </m:sub>
                      </m:sSub>
                      <m:r>
                        <a:rPr lang="ar-AE" sz="2400" i="0">
                          <a:solidFill>
                            <a:schemeClr val="accent6">
                              <a:lumMod val="60000"/>
                              <a:lumOff val="40000"/>
                            </a:schemeClr>
                          </a:solidFill>
                          <a:latin typeface="Cambria Math" panose="02040503050406030204" pitchFamily="18" charset="0"/>
                        </a:rPr>
                        <m:t>=</m:t>
                      </m:r>
                      <m:rad>
                        <m:radPr>
                          <m:degHide m:val="on"/>
                          <m:ctrlPr>
                            <a:rPr lang="ar-AE" sz="2400" i="1">
                              <a:solidFill>
                                <a:schemeClr val="accent6">
                                  <a:lumMod val="60000"/>
                                  <a:lumOff val="40000"/>
                                </a:schemeClr>
                              </a:solidFill>
                              <a:latin typeface="Cambria Math" panose="02040503050406030204" pitchFamily="18" charset="0"/>
                            </a:rPr>
                          </m:ctrlPr>
                        </m:radPr>
                        <m:deg/>
                        <m:e>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𝛼</m:t>
                              </m:r>
                            </m:e>
                            <m:sub>
                              <m:r>
                                <a:rPr lang="ar-AE" sz="2400" i="1">
                                  <a:solidFill>
                                    <a:schemeClr val="accent6">
                                      <a:lumMod val="60000"/>
                                      <a:lumOff val="40000"/>
                                    </a:schemeClr>
                                  </a:solidFill>
                                  <a:latin typeface="Cambria Math" panose="02040503050406030204" pitchFamily="18" charset="0"/>
                                </a:rPr>
                                <m:t>𝑡</m:t>
                              </m:r>
                            </m:sub>
                          </m:sSub>
                        </m:e>
                      </m:rad>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0">
                              <a:solidFill>
                                <a:schemeClr val="accent6">
                                  <a:lumMod val="60000"/>
                                  <a:lumOff val="40000"/>
                                </a:schemeClr>
                              </a:solidFill>
                              <a:latin typeface="Cambria Math" panose="02040503050406030204" pitchFamily="18" charset="0"/>
                            </a:rPr>
                            <m:t>0</m:t>
                          </m:r>
                        </m:sub>
                      </m:sSub>
                      <m:r>
                        <a:rPr lang="ar-AE" sz="2400" i="0">
                          <a:solidFill>
                            <a:schemeClr val="accent6">
                              <a:lumMod val="60000"/>
                              <a:lumOff val="40000"/>
                            </a:schemeClr>
                          </a:solidFill>
                          <a:latin typeface="Cambria Math" panose="02040503050406030204" pitchFamily="18" charset="0"/>
                        </a:rPr>
                        <m:t>+</m:t>
                      </m:r>
                      <m:rad>
                        <m:radPr>
                          <m:degHide m:val="on"/>
                          <m:ctrlPr>
                            <a:rPr lang="ar-AE" sz="2400" i="1">
                              <a:solidFill>
                                <a:schemeClr val="accent6">
                                  <a:lumMod val="60000"/>
                                  <a:lumOff val="40000"/>
                                </a:schemeClr>
                              </a:solidFill>
                              <a:latin typeface="Cambria Math" panose="02040503050406030204" pitchFamily="18" charset="0"/>
                            </a:rPr>
                          </m:ctrlPr>
                        </m:radPr>
                        <m:deg/>
                        <m:e>
                          <m:r>
                            <a:rPr lang="ar-AE" sz="2400" i="0">
                              <a:solidFill>
                                <a:schemeClr val="accent6">
                                  <a:lumMod val="60000"/>
                                  <a:lumOff val="40000"/>
                                </a:schemeClr>
                              </a:solidFill>
                              <a:latin typeface="Cambria Math" panose="02040503050406030204" pitchFamily="18" charset="0"/>
                            </a:rPr>
                            <m:t>1</m:t>
                          </m:r>
                          <m:r>
                            <a:rPr lang="ar-AE" sz="2400" i="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𝛼</m:t>
                              </m:r>
                            </m:e>
                            <m:sub>
                              <m:r>
                                <a:rPr lang="ar-AE" sz="2400" i="1">
                                  <a:solidFill>
                                    <a:schemeClr val="accent6">
                                      <a:lumMod val="60000"/>
                                      <a:lumOff val="40000"/>
                                    </a:schemeClr>
                                  </a:solidFill>
                                  <a:latin typeface="Cambria Math" panose="02040503050406030204" pitchFamily="18" charset="0"/>
                                </a:rPr>
                                <m:t>𝑡</m:t>
                              </m:r>
                            </m:sub>
                          </m:sSub>
                        </m:e>
                      </m:rad>
                      <m:r>
                        <a:rPr lang="ar-AE" sz="2400" i="1">
                          <a:solidFill>
                            <a:schemeClr val="accent6">
                              <a:lumMod val="60000"/>
                              <a:lumOff val="40000"/>
                            </a:schemeClr>
                          </a:solidFill>
                          <a:latin typeface="Cambria Math" panose="02040503050406030204" pitchFamily="18" charset="0"/>
                        </a:rPr>
                        <m:t>𝜖</m:t>
                      </m:r>
                    </m:oMath>
                  </m:oMathPara>
                </a14:m>
                <a:endParaRPr lang="ar-AE" sz="2400" dirty="0">
                  <a:solidFill>
                    <a:schemeClr val="accent6">
                      <a:lumMod val="60000"/>
                      <a:lumOff val="40000"/>
                    </a:schemeClr>
                  </a:solidFill>
                </a:endParaRPr>
              </a:p>
              <a:p>
                <a:pPr>
                  <a:buNone/>
                </a:pPr>
                <a:r>
                  <a:rPr lang="en-US" sz="2400" dirty="0">
                    <a:solidFill>
                      <a:schemeClr val="accent6">
                        <a:lumMod val="60000"/>
                        <a:lumOff val="40000"/>
                      </a:schemeClr>
                    </a:solidFill>
                  </a:rPr>
                  <a:t>Where:</a:t>
                </a:r>
              </a:p>
              <a:p>
                <a:pPr marL="342900" indent="-342900">
                  <a:buFont typeface="Arial" panose="020B0604020202020204" pitchFamily="34" charset="0"/>
                  <a:buChar char="•"/>
                </a:pPr>
                <a14:m>
                  <m:oMath xmlns:m="http://schemas.openxmlformats.org/officeDocument/2006/math">
                    <m:r>
                      <a:rPr lang="en-US" sz="2400" i="1">
                        <a:solidFill>
                          <a:schemeClr val="accent6">
                            <a:lumMod val="60000"/>
                            <a:lumOff val="40000"/>
                          </a:schemeClr>
                        </a:solidFill>
                        <a:latin typeface="Cambria Math" panose="02040503050406030204" pitchFamily="18" charset="0"/>
                      </a:rPr>
                      <m:t>𝜖</m:t>
                    </m:r>
                    <m:r>
                      <a:rPr lang="en-US" sz="2400" i="0">
                        <a:solidFill>
                          <a:schemeClr val="accent6">
                            <a:lumMod val="60000"/>
                            <a:lumOff val="40000"/>
                          </a:schemeClr>
                        </a:solidFill>
                        <a:latin typeface="Cambria Math" panose="02040503050406030204" pitchFamily="18" charset="0"/>
                      </a:rPr>
                      <m:t>∼</m:t>
                    </m:r>
                    <m:r>
                      <a:rPr lang="en-US" sz="2400" i="0">
                        <a:solidFill>
                          <a:schemeClr val="accent6">
                            <a:lumMod val="60000"/>
                            <a:lumOff val="40000"/>
                          </a:schemeClr>
                        </a:solidFill>
                        <a:latin typeface="Cambria Math" panose="02040503050406030204" pitchFamily="18" charset="0"/>
                      </a:rPr>
                      <m:t>𝒩</m:t>
                    </m:r>
                    <m:d>
                      <m:dPr>
                        <m:sepChr m:val=","/>
                        <m:ctrlPr>
                          <a:rPr lang="ar-AE" sz="2400" i="1">
                            <a:solidFill>
                              <a:schemeClr val="accent6">
                                <a:lumMod val="60000"/>
                                <a:lumOff val="40000"/>
                              </a:schemeClr>
                            </a:solidFill>
                            <a:latin typeface="Cambria Math" panose="02040503050406030204" pitchFamily="18" charset="0"/>
                          </a:rPr>
                        </m:ctrlPr>
                      </m:dPr>
                      <m:e>
                        <m:r>
                          <a:rPr lang="ar-AE" sz="2400" i="0">
                            <a:solidFill>
                              <a:schemeClr val="accent6">
                                <a:lumMod val="60000"/>
                                <a:lumOff val="40000"/>
                              </a:schemeClr>
                            </a:solidFill>
                            <a:latin typeface="Cambria Math" panose="02040503050406030204" pitchFamily="18" charset="0"/>
                          </a:rPr>
                          <m:t>0</m:t>
                        </m:r>
                      </m:e>
                      <m:e>
                        <m:r>
                          <a:rPr lang="ar-AE" sz="2400" i="0">
                            <a:solidFill>
                              <a:schemeClr val="accent6">
                                <a:lumMod val="60000"/>
                                <a:lumOff val="40000"/>
                              </a:schemeClr>
                            </a:solidFill>
                            <a:latin typeface="Cambria Math" panose="02040503050406030204" pitchFamily="18" charset="0"/>
                          </a:rPr>
                          <m:t>1</m:t>
                        </m:r>
                      </m:e>
                    </m:d>
                  </m:oMath>
                </a14:m>
                <a:endParaRPr lang="ar-AE" sz="2400" dirty="0">
                  <a:solidFill>
                    <a:schemeClr val="accent6">
                      <a:lumMod val="60000"/>
                      <a:lumOff val="40000"/>
                    </a:schemeClr>
                  </a:solidFill>
                </a:endParaRPr>
              </a:p>
              <a:p>
                <a:pPr marL="342900" indent="-342900">
                  <a:buFont typeface="Arial" panose="020B0604020202020204" pitchFamily="34" charset="0"/>
                  <a:buChar char="•"/>
                </a:pPr>
                <a14:m>
                  <m:oMath xmlns:m="http://schemas.openxmlformats.org/officeDocument/2006/math">
                    <m:r>
                      <a:rPr lang="ar-AE" sz="2400" i="1">
                        <a:solidFill>
                          <a:schemeClr val="accent6">
                            <a:lumMod val="60000"/>
                            <a:lumOff val="40000"/>
                          </a:schemeClr>
                        </a:solidFill>
                        <a:latin typeface="Cambria Math" panose="02040503050406030204" pitchFamily="18" charset="0"/>
                      </a:rPr>
                      <m:t>𝑡</m:t>
                    </m:r>
                    <m:r>
                      <a:rPr lang="ar-AE" sz="2400" i="0">
                        <a:solidFill>
                          <a:schemeClr val="accent6">
                            <a:lumMod val="60000"/>
                            <a:lumOff val="40000"/>
                          </a:schemeClr>
                        </a:solidFill>
                        <a:latin typeface="Cambria Math" panose="02040503050406030204" pitchFamily="18" charset="0"/>
                      </a:rPr>
                      <m:t>=</m:t>
                    </m:r>
                    <m:r>
                      <a:rPr lang="ar-AE" sz="2400" i="0">
                        <a:solidFill>
                          <a:schemeClr val="accent6">
                            <a:lumMod val="60000"/>
                            <a:lumOff val="40000"/>
                          </a:schemeClr>
                        </a:solidFill>
                        <a:latin typeface="Cambria Math" panose="02040503050406030204" pitchFamily="18" charset="0"/>
                      </a:rPr>
                      <m:t>1</m:t>
                    </m:r>
                    <m:r>
                      <a:rPr lang="ar-AE" sz="2400" i="0">
                        <a:solidFill>
                          <a:schemeClr val="accent6">
                            <a:lumMod val="60000"/>
                            <a:lumOff val="40000"/>
                          </a:schemeClr>
                        </a:solidFill>
                        <a:latin typeface="Cambria Math" panose="02040503050406030204" pitchFamily="18" charset="0"/>
                      </a:rPr>
                      <m:t>…</m:t>
                    </m:r>
                    <m:r>
                      <a:rPr lang="ar-AE" sz="2400" i="1">
                        <a:solidFill>
                          <a:schemeClr val="accent6">
                            <a:lumMod val="60000"/>
                            <a:lumOff val="40000"/>
                          </a:schemeClr>
                        </a:solidFill>
                        <a:latin typeface="Cambria Math" panose="02040503050406030204" pitchFamily="18" charset="0"/>
                      </a:rPr>
                      <m:t>𝑇</m:t>
                    </m:r>
                  </m:oMath>
                </a14:m>
                <a:endParaRPr lang="ar-AE" sz="2400" dirty="0">
                  <a:solidFill>
                    <a:schemeClr val="accent6">
                      <a:lumMod val="60000"/>
                      <a:lumOff val="40000"/>
                    </a:schemeClr>
                  </a:solidFill>
                </a:endParaRPr>
              </a:p>
              <a:p>
                <a:pPr>
                  <a:buNone/>
                </a:pPr>
                <a:br>
                  <a:rPr lang="ar-AE" sz="2400" dirty="0">
                    <a:solidFill>
                      <a:schemeClr val="accent6">
                        <a:lumMod val="60000"/>
                        <a:lumOff val="40000"/>
                      </a:schemeClr>
                    </a:solidFill>
                  </a:rPr>
                </a:br>
                <a:endParaRPr lang="ar-AE" sz="2400" dirty="0">
                  <a:solidFill>
                    <a:schemeClr val="accent6">
                      <a:lumMod val="60000"/>
                      <a:lumOff val="40000"/>
                    </a:schemeClr>
                  </a:solidFill>
                </a:endParaRPr>
              </a:p>
              <a:p>
                <a:pPr>
                  <a:buNone/>
                </a:pPr>
                <a:r>
                  <a:rPr lang="en-US" sz="2400" b="1" dirty="0">
                    <a:solidFill>
                      <a:schemeClr val="accent6">
                        <a:lumMod val="60000"/>
                        <a:lumOff val="40000"/>
                      </a:schemeClr>
                    </a:solidFill>
                  </a:rPr>
                  <a:t>🎯 What happens visually:</a:t>
                </a:r>
              </a:p>
              <a:p>
                <a:pPr marL="342900" indent="-342900">
                  <a:buFont typeface="Arial" panose="020B0604020202020204" pitchFamily="34" charset="0"/>
                  <a:buChar char="•"/>
                </a:pPr>
                <a:r>
                  <a:rPr lang="en-US" sz="2400" dirty="0">
                    <a:solidFill>
                      <a:schemeClr val="accent6">
                        <a:lumMod val="60000"/>
                        <a:lumOff val="40000"/>
                      </a:schemeClr>
                    </a:solidFill>
                  </a:rPr>
                  <a:t>t=0 → clear image </a:t>
                </a:r>
              </a:p>
              <a:p>
                <a:pPr marL="342900" indent="-342900">
                  <a:buFont typeface="Arial" panose="020B0604020202020204" pitchFamily="34" charset="0"/>
                  <a:buChar char="•"/>
                </a:pPr>
                <a:r>
                  <a:rPr lang="en-US" sz="2400" dirty="0">
                    <a:solidFill>
                      <a:schemeClr val="accent6">
                        <a:lumMod val="60000"/>
                        <a:lumOff val="40000"/>
                      </a:schemeClr>
                    </a:solidFill>
                  </a:rPr>
                  <a:t>t=10 → slightly noisy </a:t>
                </a:r>
              </a:p>
              <a:p>
                <a:pPr marL="342900" indent="-342900">
                  <a:buFont typeface="Arial" panose="020B0604020202020204" pitchFamily="34" charset="0"/>
                  <a:buChar char="•"/>
                </a:pPr>
                <a:r>
                  <a:rPr lang="en-US" sz="2400" dirty="0">
                    <a:solidFill>
                      <a:schemeClr val="accent6">
                        <a:lumMod val="60000"/>
                        <a:lumOff val="40000"/>
                      </a:schemeClr>
                    </a:solidFill>
                  </a:rPr>
                  <a:t>t=50 → mostly noise </a:t>
                </a:r>
              </a:p>
              <a:p>
                <a:pPr marL="342900" indent="-342900">
                  <a:buFont typeface="Arial" panose="020B0604020202020204" pitchFamily="34" charset="0"/>
                  <a:buChar char="•"/>
                </a:pPr>
                <a:r>
                  <a:rPr lang="en-US" sz="2400" dirty="0">
                    <a:solidFill>
                      <a:schemeClr val="accent6">
                        <a:lumMod val="60000"/>
                        <a:lumOff val="40000"/>
                      </a:schemeClr>
                    </a:solidFill>
                  </a:rPr>
                  <a:t>t=T → pure noise</a:t>
                </a:r>
              </a:p>
            </p:txBody>
          </p:sp>
        </mc:Choice>
        <mc:Fallback>
          <p:sp>
            <p:nvSpPr>
              <p:cNvPr id="4" name="TextBox 3">
                <a:extLst>
                  <a:ext uri="{FF2B5EF4-FFF2-40B4-BE49-F238E27FC236}">
                    <a16:creationId xmlns:a16="http://schemas.microsoft.com/office/drawing/2014/main" id="{06A0F912-820F-C7C7-DDDC-77CBF3A35753}"/>
                  </a:ext>
                </a:extLst>
              </p:cNvPr>
              <p:cNvSpPr txBox="1">
                <a:spLocks noRot="1" noChangeAspect="1" noMove="1" noResize="1" noEditPoints="1" noAdjustHandles="1" noChangeArrowheads="1" noChangeShapeType="1" noTextEdit="1"/>
              </p:cNvSpPr>
              <p:nvPr/>
            </p:nvSpPr>
            <p:spPr>
              <a:xfrm>
                <a:off x="150876" y="1973758"/>
                <a:ext cx="7456932" cy="4971554"/>
              </a:xfrm>
              <a:prstGeom prst="rect">
                <a:avLst/>
              </a:prstGeom>
              <a:blipFill>
                <a:blip r:embed="rId3"/>
                <a:stretch>
                  <a:fillRect l="-1308" t="-982" b="-1840"/>
                </a:stretch>
              </a:blipFill>
            </p:spPr>
            <p:txBody>
              <a:bodyPr/>
              <a:lstStyle/>
              <a:p>
                <a:r>
                  <a:rPr lang="en-US">
                    <a:noFill/>
                  </a:rPr>
                  <a:t> </a:t>
                </a:r>
              </a:p>
            </p:txBody>
          </p:sp>
        </mc:Fallback>
      </mc:AlternateContent>
    </p:spTree>
    <p:extLst>
      <p:ext uri="{BB962C8B-B14F-4D97-AF65-F5344CB8AC3E}">
        <p14:creationId xmlns:p14="http://schemas.microsoft.com/office/powerpoint/2010/main" val="2394253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9A54F-749A-12DF-9E94-AABC317E223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B65AD79-4C46-4F3C-E1D8-AAF75CB13D86}"/>
                  </a:ext>
                </a:extLst>
              </p:cNvPr>
              <p:cNvSpPr txBox="1"/>
              <p:nvPr/>
            </p:nvSpPr>
            <p:spPr>
              <a:xfrm>
                <a:off x="150876" y="146965"/>
                <a:ext cx="6190488" cy="2677656"/>
              </a:xfrm>
              <a:prstGeom prst="rect">
                <a:avLst/>
              </a:prstGeom>
              <a:noFill/>
            </p:spPr>
            <p:txBody>
              <a:bodyPr wrap="square">
                <a:spAutoFit/>
              </a:bodyPr>
              <a:lstStyle/>
              <a:p>
                <a:r>
                  <a:rPr lang="en-US" sz="2400" b="1" dirty="0">
                    <a:solidFill>
                      <a:schemeClr val="accent6">
                        <a:lumMod val="60000"/>
                        <a:lumOff val="40000"/>
                      </a:schemeClr>
                    </a:solidFill>
                  </a:rPr>
                  <a:t>STEP 3: End of Forward Process</a:t>
                </a:r>
              </a:p>
              <a:p>
                <a:r>
                  <a:rPr lang="en-US" sz="2400" dirty="0">
                    <a:solidFill>
                      <a:schemeClr val="accent6">
                        <a:lumMod val="60000"/>
                        <a:lumOff val="40000"/>
                      </a:schemeClr>
                    </a:solidFill>
                  </a:rPr>
                  <a:t>👉 After many steps:</a:t>
                </a:r>
              </a:p>
              <a:p>
                <a:pPr/>
                <a14:m>
                  <m:oMathPara xmlns:m="http://schemas.openxmlformats.org/officeDocument/2006/math">
                    <m:oMathParaPr>
                      <m:jc m:val="centerGroup"/>
                    </m:oMathParaPr>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𝑇</m:t>
                          </m:r>
                        </m:sub>
                      </m:sSub>
                      <m:r>
                        <a:rPr lang="ar-AE" sz="2400">
                          <a:solidFill>
                            <a:schemeClr val="accent6">
                              <a:lumMod val="60000"/>
                              <a:lumOff val="40000"/>
                            </a:schemeClr>
                          </a:solidFill>
                          <a:latin typeface="Cambria Math" panose="02040503050406030204" pitchFamily="18" charset="0"/>
                        </a:rPr>
                        <m:t>≈</m:t>
                      </m:r>
                      <m:r>
                        <m:rPr>
                          <m:nor/>
                        </m:rPr>
                        <a:rPr lang="en-US" sz="2400" i="1">
                          <a:solidFill>
                            <a:schemeClr val="accent6">
                              <a:lumMod val="60000"/>
                              <a:lumOff val="40000"/>
                            </a:schemeClr>
                          </a:solidFill>
                        </a:rPr>
                        <m:t>pure</m:t>
                      </m:r>
                      <m:r>
                        <m:rPr>
                          <m:nor/>
                        </m:rPr>
                        <a:rPr lang="en-US" sz="2400" i="1">
                          <a:solidFill>
                            <a:schemeClr val="accent6">
                              <a:lumMod val="60000"/>
                              <a:lumOff val="40000"/>
                            </a:schemeClr>
                          </a:solidFill>
                        </a:rPr>
                        <m:t> </m:t>
                      </m:r>
                      <m:r>
                        <m:rPr>
                          <m:nor/>
                        </m:rPr>
                        <a:rPr lang="en-US" sz="2400" i="1">
                          <a:solidFill>
                            <a:schemeClr val="accent6">
                              <a:lumMod val="60000"/>
                              <a:lumOff val="40000"/>
                            </a:schemeClr>
                          </a:solidFill>
                        </a:rPr>
                        <m:t>Gaussian</m:t>
                      </m:r>
                      <m:r>
                        <m:rPr>
                          <m:nor/>
                        </m:rPr>
                        <a:rPr lang="en-US" sz="2400" i="1">
                          <a:solidFill>
                            <a:schemeClr val="accent6">
                              <a:lumMod val="60000"/>
                              <a:lumOff val="40000"/>
                            </a:schemeClr>
                          </a:solidFill>
                        </a:rPr>
                        <m:t> </m:t>
                      </m:r>
                      <m:r>
                        <m:rPr>
                          <m:nor/>
                        </m:rPr>
                        <a:rPr lang="en-US" sz="2400" i="1">
                          <a:solidFill>
                            <a:schemeClr val="accent6">
                              <a:lumMod val="60000"/>
                              <a:lumOff val="40000"/>
                            </a:schemeClr>
                          </a:solidFill>
                        </a:rPr>
                        <m:t>noise</m:t>
                      </m:r>
                    </m:oMath>
                  </m:oMathPara>
                </a14:m>
                <a:endParaRPr lang="en-US" sz="2400" b="0" dirty="0">
                  <a:solidFill>
                    <a:schemeClr val="accent6">
                      <a:lumMod val="60000"/>
                      <a:lumOff val="40000"/>
                    </a:schemeClr>
                  </a:solidFill>
                </a:endParaRPr>
              </a:p>
              <a:p>
                <a:br>
                  <a:rPr lang="en-US" sz="2400" dirty="0">
                    <a:solidFill>
                      <a:schemeClr val="accent6">
                        <a:lumMod val="60000"/>
                        <a:lumOff val="40000"/>
                      </a:schemeClr>
                    </a:solidFill>
                  </a:rPr>
                </a:br>
                <a:endParaRPr lang="en-US" sz="2400" dirty="0">
                  <a:solidFill>
                    <a:schemeClr val="accent6">
                      <a:lumMod val="60000"/>
                      <a:lumOff val="40000"/>
                    </a:schemeClr>
                  </a:solidFill>
                </a:endParaRPr>
              </a:p>
              <a:p>
                <a:r>
                  <a:rPr lang="en-US" sz="2400" b="1" dirty="0">
                    <a:solidFill>
                      <a:schemeClr val="accent6">
                        <a:lumMod val="60000"/>
                        <a:lumOff val="40000"/>
                      </a:schemeClr>
                    </a:solidFill>
                  </a:rPr>
                  <a:t> Important</a:t>
                </a:r>
              </a:p>
              <a:p>
                <a:r>
                  <a:rPr lang="en-US" sz="2400" dirty="0">
                    <a:solidFill>
                      <a:schemeClr val="accent6">
                        <a:lumMod val="60000"/>
                        <a:lumOff val="40000"/>
                      </a:schemeClr>
                    </a:solidFill>
                  </a:rPr>
                  <a:t>👉 This process is </a:t>
                </a:r>
                <a:r>
                  <a:rPr lang="en-US" sz="2400" b="1" dirty="0">
                    <a:solidFill>
                      <a:schemeClr val="accent6">
                        <a:lumMod val="60000"/>
                        <a:lumOff val="40000"/>
                      </a:schemeClr>
                    </a:solidFill>
                  </a:rPr>
                  <a:t>fixed (no training needed)</a:t>
                </a:r>
                <a:endParaRPr lang="en-US" sz="2400" dirty="0">
                  <a:solidFill>
                    <a:schemeClr val="accent6">
                      <a:lumMod val="60000"/>
                      <a:lumOff val="40000"/>
                    </a:schemeClr>
                  </a:solidFill>
                </a:endParaRPr>
              </a:p>
            </p:txBody>
          </p:sp>
        </mc:Choice>
        <mc:Fallback>
          <p:sp>
            <p:nvSpPr>
              <p:cNvPr id="3" name="TextBox 2">
                <a:extLst>
                  <a:ext uri="{FF2B5EF4-FFF2-40B4-BE49-F238E27FC236}">
                    <a16:creationId xmlns:a16="http://schemas.microsoft.com/office/drawing/2014/main" id="{1B65AD79-4C46-4F3C-E1D8-AAF75CB13D86}"/>
                  </a:ext>
                </a:extLst>
              </p:cNvPr>
              <p:cNvSpPr txBox="1">
                <a:spLocks noRot="1" noChangeAspect="1" noMove="1" noResize="1" noEditPoints="1" noAdjustHandles="1" noChangeArrowheads="1" noChangeShapeType="1" noTextEdit="1"/>
              </p:cNvSpPr>
              <p:nvPr/>
            </p:nvSpPr>
            <p:spPr>
              <a:xfrm>
                <a:off x="150876" y="146965"/>
                <a:ext cx="6190488" cy="2677656"/>
              </a:xfrm>
              <a:prstGeom prst="rect">
                <a:avLst/>
              </a:prstGeom>
              <a:blipFill>
                <a:blip r:embed="rId2"/>
                <a:stretch>
                  <a:fillRect l="-1576" t="-1822" b="-4328"/>
                </a:stretch>
              </a:blipFill>
            </p:spPr>
            <p:txBody>
              <a:bodyPr/>
              <a:lstStyle/>
              <a:p>
                <a:r>
                  <a:rPr lang="en-US">
                    <a:noFill/>
                  </a:rPr>
                  <a:t> </a:t>
                </a:r>
              </a:p>
            </p:txBody>
          </p:sp>
        </mc:Fallback>
      </mc:AlternateContent>
    </p:spTree>
    <p:extLst>
      <p:ext uri="{BB962C8B-B14F-4D97-AF65-F5344CB8AC3E}">
        <p14:creationId xmlns:p14="http://schemas.microsoft.com/office/powerpoint/2010/main" val="2175008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20BE9-EF0B-1971-5538-493AD34439B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11F04C0-613B-4106-9DE1-D9143CB3A0B1}"/>
                  </a:ext>
                </a:extLst>
              </p:cNvPr>
              <p:cNvSpPr txBox="1"/>
              <p:nvPr/>
            </p:nvSpPr>
            <p:spPr>
              <a:xfrm>
                <a:off x="836676" y="401658"/>
                <a:ext cx="6190488" cy="3416320"/>
              </a:xfrm>
              <a:prstGeom prst="rect">
                <a:avLst/>
              </a:prstGeom>
              <a:noFill/>
            </p:spPr>
            <p:txBody>
              <a:bodyPr wrap="square">
                <a:spAutoFit/>
              </a:bodyPr>
              <a:lstStyle/>
              <a:p>
                <a:pPr>
                  <a:buNone/>
                </a:pPr>
                <a:r>
                  <a:rPr lang="en-US" sz="2400" b="1" dirty="0">
                    <a:solidFill>
                      <a:schemeClr val="accent6">
                        <a:lumMod val="60000"/>
                        <a:lumOff val="40000"/>
                      </a:schemeClr>
                    </a:solidFill>
                  </a:rPr>
                  <a:t>🔵 STEP 4: Learn Reverse Process</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We train a neural network:</a:t>
                </a:r>
              </a:p>
              <a:p>
                <a:pPr>
                  <a:buNone/>
                </a:pPr>
                <a:r>
                  <a:rPr lang="en-US" sz="2400" dirty="0">
                    <a:solidFill>
                      <a:schemeClr val="accent6">
                        <a:lumMod val="60000"/>
                        <a:lumOff val="40000"/>
                      </a:schemeClr>
                    </a:solidFill>
                  </a:rPr>
                  <a:t>👉 Input:</a:t>
                </a:r>
              </a:p>
              <a:p>
                <a:pPr marL="342900" indent="-342900">
                  <a:buFont typeface="Arial" panose="020B0604020202020204" pitchFamily="34" charset="0"/>
                  <a:buChar char="•"/>
                </a:pPr>
                <a:r>
                  <a:rPr lang="en-US" sz="2400" dirty="0">
                    <a:solidFill>
                      <a:schemeClr val="accent6">
                        <a:lumMod val="60000"/>
                        <a:lumOff val="40000"/>
                      </a:schemeClr>
                    </a:solidFill>
                  </a:rPr>
                  <a:t>noisy image </a:t>
                </a:r>
                <a14:m>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𝑡</m:t>
                        </m:r>
                      </m:sub>
                    </m:sSub>
                  </m:oMath>
                </a14:m>
                <a:endParaRPr lang="ar-AE"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timestep </a:t>
                </a:r>
                <a14:m>
                  <m:oMath xmlns:m="http://schemas.openxmlformats.org/officeDocument/2006/math">
                    <m:r>
                      <a:rPr lang="en-US" sz="2400" i="1">
                        <a:solidFill>
                          <a:schemeClr val="accent6">
                            <a:lumMod val="60000"/>
                            <a:lumOff val="40000"/>
                          </a:schemeClr>
                        </a:solidFill>
                        <a:latin typeface="Cambria Math" panose="02040503050406030204" pitchFamily="18" charset="0"/>
                      </a:rPr>
                      <m:t>𝑡</m:t>
                    </m:r>
                  </m:oMath>
                </a14:m>
                <a:endParaRPr lang="en-US" sz="2400" dirty="0">
                  <a:solidFill>
                    <a:schemeClr val="accent6">
                      <a:lumMod val="60000"/>
                      <a:lumOff val="40000"/>
                    </a:schemeClr>
                  </a:solidFill>
                </a:endParaRPr>
              </a:p>
              <a:p>
                <a:pPr marL="342900" indent="-342900">
                  <a:buFont typeface="Arial" panose="020B0604020202020204" pitchFamily="34" charset="0"/>
                  <a:buChar char="•"/>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 Output:</a:t>
                </a:r>
              </a:p>
              <a:p>
                <a:pPr marL="342900" indent="-342900">
                  <a:buFont typeface="Arial" panose="020B0604020202020204" pitchFamily="34" charset="0"/>
                  <a:buChar char="•"/>
                </a:pPr>
                <a:r>
                  <a:rPr lang="en-US" sz="2400" dirty="0">
                    <a:solidFill>
                      <a:schemeClr val="accent6">
                        <a:lumMod val="60000"/>
                        <a:lumOff val="40000"/>
                      </a:schemeClr>
                    </a:solidFill>
                  </a:rPr>
                  <a:t>predicted noise </a:t>
                </a:r>
                <a14:m>
                  <m:oMath xmlns:m="http://schemas.openxmlformats.org/officeDocument/2006/math">
                    <m:acc>
                      <m:accPr>
                        <m:chr m:val="̂"/>
                        <m:ctrlPr>
                          <a:rPr lang="ar-AE" sz="2400" i="1">
                            <a:solidFill>
                              <a:schemeClr val="accent6">
                                <a:lumMod val="60000"/>
                                <a:lumOff val="40000"/>
                              </a:schemeClr>
                            </a:solidFill>
                            <a:latin typeface="Cambria Math" panose="02040503050406030204" pitchFamily="18" charset="0"/>
                          </a:rPr>
                        </m:ctrlPr>
                      </m:accPr>
                      <m:e>
                        <m:r>
                          <a:rPr lang="ar-AE" sz="2400" i="1">
                            <a:solidFill>
                              <a:schemeClr val="accent6">
                                <a:lumMod val="60000"/>
                                <a:lumOff val="40000"/>
                              </a:schemeClr>
                            </a:solidFill>
                            <a:latin typeface="Cambria Math" panose="02040503050406030204" pitchFamily="18" charset="0"/>
                          </a:rPr>
                          <m:t>𝜖</m:t>
                        </m:r>
                      </m:e>
                    </m:acc>
                  </m:oMath>
                </a14:m>
                <a:endParaRPr lang="ar-AE" sz="2400" dirty="0">
                  <a:solidFill>
                    <a:schemeClr val="accent6">
                      <a:lumMod val="60000"/>
                      <a:lumOff val="40000"/>
                    </a:schemeClr>
                  </a:solidFill>
                </a:endParaRPr>
              </a:p>
            </p:txBody>
          </p:sp>
        </mc:Choice>
        <mc:Fallback>
          <p:sp>
            <p:nvSpPr>
              <p:cNvPr id="3" name="TextBox 2">
                <a:extLst>
                  <a:ext uri="{FF2B5EF4-FFF2-40B4-BE49-F238E27FC236}">
                    <a16:creationId xmlns:a16="http://schemas.microsoft.com/office/drawing/2014/main" id="{F11F04C0-613B-4106-9DE1-D9143CB3A0B1}"/>
                  </a:ext>
                </a:extLst>
              </p:cNvPr>
              <p:cNvSpPr txBox="1">
                <a:spLocks noRot="1" noChangeAspect="1" noMove="1" noResize="1" noEditPoints="1" noAdjustHandles="1" noChangeArrowheads="1" noChangeShapeType="1" noTextEdit="1"/>
              </p:cNvSpPr>
              <p:nvPr/>
            </p:nvSpPr>
            <p:spPr>
              <a:xfrm>
                <a:off x="836676" y="401658"/>
                <a:ext cx="6190488" cy="3416320"/>
              </a:xfrm>
              <a:prstGeom prst="rect">
                <a:avLst/>
              </a:prstGeom>
              <a:blipFill>
                <a:blip r:embed="rId2"/>
                <a:stretch>
                  <a:fillRect l="-1476" t="-1607" b="-3214"/>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129C1952-A816-92C1-460A-20E93CFF3AD9}"/>
              </a:ext>
            </a:extLst>
          </p:cNvPr>
          <p:cNvSpPr txBox="1"/>
          <p:nvPr/>
        </p:nvSpPr>
        <p:spPr>
          <a:xfrm>
            <a:off x="6441948" y="992696"/>
            <a:ext cx="5564124" cy="1569660"/>
          </a:xfrm>
          <a:prstGeom prst="rect">
            <a:avLst/>
          </a:prstGeom>
          <a:noFill/>
        </p:spPr>
        <p:txBody>
          <a:bodyPr wrap="square">
            <a:spAutoFit/>
          </a:bodyPr>
          <a:lstStyle/>
          <a:p>
            <a:pPr>
              <a:buNone/>
            </a:pPr>
            <a:r>
              <a:rPr lang="en-US" sz="2400" b="1" dirty="0">
                <a:solidFill>
                  <a:schemeClr val="accent6">
                    <a:lumMod val="60000"/>
                    <a:lumOff val="40000"/>
                  </a:schemeClr>
                </a:solidFill>
              </a:rPr>
              <a:t>🧠 Key Learning Idea</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 Instead of predicting image directly:</a:t>
            </a:r>
          </a:p>
          <a:p>
            <a:pPr>
              <a:buNone/>
            </a:pPr>
            <a:r>
              <a:rPr lang="en-US" sz="2400" dirty="0">
                <a:solidFill>
                  <a:schemeClr val="accent6">
                    <a:lumMod val="60000"/>
                    <a:lumOff val="40000"/>
                  </a:schemeClr>
                </a:solidFill>
              </a:rPr>
              <a:t>👉 Model predicts </a:t>
            </a:r>
            <a:r>
              <a:rPr lang="en-US" sz="2400" b="1" dirty="0">
                <a:solidFill>
                  <a:schemeClr val="accent6">
                    <a:lumMod val="60000"/>
                    <a:lumOff val="40000"/>
                  </a:schemeClr>
                </a:solidFill>
              </a:rPr>
              <a:t>noise</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679641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99829-B20E-DA13-E628-57C97CC0043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782D99B-74E5-B695-99D3-AB0113523111}"/>
                  </a:ext>
                </a:extLst>
              </p:cNvPr>
              <p:cNvSpPr txBox="1"/>
              <p:nvPr/>
            </p:nvSpPr>
            <p:spPr>
              <a:xfrm>
                <a:off x="836676" y="401658"/>
                <a:ext cx="10364724" cy="3046988"/>
              </a:xfrm>
              <a:prstGeom prst="rect">
                <a:avLst/>
              </a:prstGeom>
              <a:noFill/>
            </p:spPr>
            <p:txBody>
              <a:bodyPr wrap="square">
                <a:spAutoFit/>
              </a:bodyPr>
              <a:lstStyle/>
              <a:p>
                <a:r>
                  <a:rPr lang="en-US" sz="2400" b="1" dirty="0">
                    <a:solidFill>
                      <a:schemeClr val="accent6">
                        <a:lumMod val="60000"/>
                        <a:lumOff val="40000"/>
                      </a:schemeClr>
                    </a:solidFill>
                  </a:rPr>
                  <a:t>STEP 5: Training Objective</a:t>
                </a:r>
              </a:p>
              <a:p>
                <a:pPr/>
                <a14:m>
                  <m:oMathPara xmlns:m="http://schemas.openxmlformats.org/officeDocument/2006/math">
                    <m:oMathParaPr>
                      <m:jc m:val="centerGroup"/>
                    </m:oMathParaPr>
                    <m:oMath xmlns:m="http://schemas.openxmlformats.org/officeDocument/2006/math">
                      <m:r>
                        <a:rPr lang="en-US" sz="2400" i="1">
                          <a:solidFill>
                            <a:schemeClr val="accent6">
                              <a:lumMod val="60000"/>
                              <a:lumOff val="40000"/>
                            </a:schemeClr>
                          </a:solidFill>
                          <a:latin typeface="Cambria Math" panose="02040503050406030204" pitchFamily="18" charset="0"/>
                        </a:rPr>
                        <m:t>𝐿</m:t>
                      </m:r>
                      <m:r>
                        <a:rPr lang="en-US" sz="2400">
                          <a:solidFill>
                            <a:schemeClr val="accent6">
                              <a:lumMod val="60000"/>
                              <a:lumOff val="40000"/>
                            </a:schemeClr>
                          </a:solidFill>
                          <a:latin typeface="Cambria Math" panose="02040503050406030204" pitchFamily="18" charset="0"/>
                        </a:rPr>
                        <m:t>=</m:t>
                      </m:r>
                      <m:r>
                        <a:rPr lang="en-US" sz="2400">
                          <a:solidFill>
                            <a:schemeClr val="accent6">
                              <a:lumMod val="60000"/>
                              <a:lumOff val="40000"/>
                            </a:schemeClr>
                          </a:solidFill>
                          <a:latin typeface="Cambria Math" panose="02040503050406030204" pitchFamily="18" charset="0"/>
                        </a:rPr>
                        <m:t>𝔼</m:t>
                      </m:r>
                      <m:d>
                        <m:dPr>
                          <m:begChr m:val="["/>
                          <m:endChr m:val="]"/>
                          <m:ctrlPr>
                            <a:rPr lang="ar-AE" sz="2400" i="1">
                              <a:solidFill>
                                <a:schemeClr val="accent6">
                                  <a:lumMod val="60000"/>
                                  <a:lumOff val="40000"/>
                                </a:schemeClr>
                              </a:solidFill>
                              <a:latin typeface="Cambria Math" panose="02040503050406030204" pitchFamily="18" charset="0"/>
                            </a:rPr>
                          </m:ctrlPr>
                        </m:dPr>
                        <m:e>
                          <m:r>
                            <a:rPr lang="ar-AE" sz="2400">
                              <a:solidFill>
                                <a:schemeClr val="accent6">
                                  <a:lumMod val="60000"/>
                                  <a:lumOff val="40000"/>
                                </a:schemeClr>
                              </a:solidFill>
                              <a:latin typeface="Cambria Math" panose="02040503050406030204" pitchFamily="18" charset="0"/>
                            </a:rPr>
                            <m:t>∣∣</m:t>
                          </m:r>
                          <m:r>
                            <a:rPr lang="ar-AE" sz="2400" i="1">
                              <a:solidFill>
                                <a:schemeClr val="accent6">
                                  <a:lumMod val="60000"/>
                                  <a:lumOff val="40000"/>
                                </a:schemeClr>
                              </a:solidFill>
                              <a:latin typeface="Cambria Math" panose="02040503050406030204" pitchFamily="18" charset="0"/>
                            </a:rPr>
                            <m:t>𝜖</m:t>
                          </m:r>
                          <m:r>
                            <a:rPr lang="ar-AE" sz="240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𝜖</m:t>
                              </m:r>
                            </m:e>
                            <m:sub>
                              <m:r>
                                <a:rPr lang="ar-AE" sz="2400" i="1">
                                  <a:solidFill>
                                    <a:schemeClr val="accent6">
                                      <a:lumMod val="60000"/>
                                      <a:lumOff val="40000"/>
                                    </a:schemeClr>
                                  </a:solidFill>
                                  <a:latin typeface="Cambria Math" panose="02040503050406030204" pitchFamily="18" charset="0"/>
                                </a:rPr>
                                <m:t>𝜃</m:t>
                              </m:r>
                            </m:sub>
                          </m:sSub>
                          <m:d>
                            <m:dPr>
                              <m:sepChr m:val=","/>
                              <m:ctrlPr>
                                <a:rPr lang="ar-AE" sz="2400" i="1">
                                  <a:solidFill>
                                    <a:schemeClr val="accent6">
                                      <a:lumMod val="60000"/>
                                      <a:lumOff val="40000"/>
                                    </a:schemeClr>
                                  </a:solidFill>
                                  <a:latin typeface="Cambria Math" panose="02040503050406030204" pitchFamily="18" charset="0"/>
                                </a:rPr>
                              </m:ctrlPr>
                            </m:dPr>
                            <m:e>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𝑡</m:t>
                                  </m:r>
                                </m:sub>
                              </m:sSub>
                            </m:e>
                            <m:e>
                              <m:r>
                                <a:rPr lang="ar-AE" sz="2400" i="1">
                                  <a:solidFill>
                                    <a:schemeClr val="accent6">
                                      <a:lumMod val="60000"/>
                                      <a:lumOff val="40000"/>
                                    </a:schemeClr>
                                  </a:solidFill>
                                  <a:latin typeface="Cambria Math" panose="02040503050406030204" pitchFamily="18" charset="0"/>
                                </a:rPr>
                                <m:t>𝑡</m:t>
                              </m:r>
                            </m:e>
                          </m:d>
                          <m:r>
                            <a:rPr lang="ar-AE" sz="2400">
                              <a:solidFill>
                                <a:schemeClr val="accent6">
                                  <a:lumMod val="60000"/>
                                  <a:lumOff val="40000"/>
                                </a:schemeClr>
                              </a:solidFill>
                              <a:latin typeface="Cambria Math" panose="02040503050406030204" pitchFamily="18" charset="0"/>
                            </a:rPr>
                            <m:t>∣</m:t>
                          </m:r>
                          <m:sSup>
                            <m:sSupPr>
                              <m:ctrlPr>
                                <a:rPr lang="ar-AE" sz="2400" i="1">
                                  <a:solidFill>
                                    <a:schemeClr val="accent6">
                                      <a:lumMod val="60000"/>
                                      <a:lumOff val="40000"/>
                                    </a:schemeClr>
                                  </a:solidFill>
                                  <a:latin typeface="Cambria Math" panose="02040503050406030204" pitchFamily="18" charset="0"/>
                                </a:rPr>
                              </m:ctrlPr>
                            </m:sSupPr>
                            <m:e>
                              <m:r>
                                <a:rPr lang="ar-AE" sz="2400">
                                  <a:solidFill>
                                    <a:schemeClr val="accent6">
                                      <a:lumMod val="60000"/>
                                      <a:lumOff val="40000"/>
                                    </a:schemeClr>
                                  </a:solidFill>
                                  <a:latin typeface="Cambria Math" panose="02040503050406030204" pitchFamily="18" charset="0"/>
                                </a:rPr>
                                <m:t>∣</m:t>
                              </m:r>
                            </m:e>
                            <m:sup>
                              <m:r>
                                <a:rPr lang="ar-AE" sz="2400">
                                  <a:solidFill>
                                    <a:schemeClr val="accent6">
                                      <a:lumMod val="60000"/>
                                      <a:lumOff val="40000"/>
                                    </a:schemeClr>
                                  </a:solidFill>
                                  <a:latin typeface="Cambria Math" panose="02040503050406030204" pitchFamily="18" charset="0"/>
                                </a:rPr>
                                <m:t>2</m:t>
                              </m:r>
                            </m:sup>
                          </m:sSup>
                        </m:e>
                      </m:d>
                    </m:oMath>
                  </m:oMathPara>
                </a14:m>
                <a:endParaRPr lang="ar-AE"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 Minimize difference between:</a:t>
                </a:r>
              </a:p>
              <a:p>
                <a:pPr marL="342900" indent="-342900">
                  <a:buFont typeface="Arial" panose="020B0604020202020204" pitchFamily="34" charset="0"/>
                  <a:buChar char="•"/>
                </a:pPr>
                <a:r>
                  <a:rPr lang="en-US" sz="2400" dirty="0">
                    <a:solidFill>
                      <a:schemeClr val="accent6">
                        <a:lumMod val="60000"/>
                        <a:lumOff val="40000"/>
                      </a:schemeClr>
                    </a:solidFill>
                  </a:rPr>
                  <a:t>actual noise </a:t>
                </a:r>
              </a:p>
              <a:p>
                <a:pPr marL="342900" indent="-342900">
                  <a:buFont typeface="Arial" panose="020B0604020202020204" pitchFamily="34" charset="0"/>
                  <a:buChar char="•"/>
                </a:pPr>
                <a:r>
                  <a:rPr lang="en-US" sz="2400" dirty="0">
                    <a:solidFill>
                      <a:schemeClr val="accent6">
                        <a:lumMod val="60000"/>
                        <a:lumOff val="40000"/>
                      </a:schemeClr>
                    </a:solidFill>
                  </a:rPr>
                  <a:t>predicted noise </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We corrupt the image and train the model to recover the noise we added.</a:t>
                </a:r>
              </a:p>
            </p:txBody>
          </p:sp>
        </mc:Choice>
        <mc:Fallback>
          <p:sp>
            <p:nvSpPr>
              <p:cNvPr id="3" name="TextBox 2">
                <a:extLst>
                  <a:ext uri="{FF2B5EF4-FFF2-40B4-BE49-F238E27FC236}">
                    <a16:creationId xmlns:a16="http://schemas.microsoft.com/office/drawing/2014/main" id="{1782D99B-74E5-B695-99D3-AB0113523111}"/>
                  </a:ext>
                </a:extLst>
              </p:cNvPr>
              <p:cNvSpPr txBox="1">
                <a:spLocks noRot="1" noChangeAspect="1" noMove="1" noResize="1" noEditPoints="1" noAdjustHandles="1" noChangeArrowheads="1" noChangeShapeType="1" noTextEdit="1"/>
              </p:cNvSpPr>
              <p:nvPr/>
            </p:nvSpPr>
            <p:spPr>
              <a:xfrm>
                <a:off x="836676" y="401658"/>
                <a:ext cx="10364724" cy="3046988"/>
              </a:xfrm>
              <a:prstGeom prst="rect">
                <a:avLst/>
              </a:prstGeom>
              <a:blipFill>
                <a:blip r:embed="rId2"/>
                <a:stretch>
                  <a:fillRect l="-882" t="-1600" b="-3600"/>
                </a:stretch>
              </a:blipFill>
            </p:spPr>
            <p:txBody>
              <a:bodyPr/>
              <a:lstStyle/>
              <a:p>
                <a:r>
                  <a:rPr lang="en-US">
                    <a:noFill/>
                  </a:rPr>
                  <a:t> </a:t>
                </a:r>
              </a:p>
            </p:txBody>
          </p:sp>
        </mc:Fallback>
      </mc:AlternateContent>
    </p:spTree>
    <p:extLst>
      <p:ext uri="{BB962C8B-B14F-4D97-AF65-F5344CB8AC3E}">
        <p14:creationId xmlns:p14="http://schemas.microsoft.com/office/powerpoint/2010/main" val="2352560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D5282-036A-8CEC-DD42-0C6514E1175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55E96FA-329C-D511-8EA5-AA0E3E4C0E96}"/>
                  </a:ext>
                </a:extLst>
              </p:cNvPr>
              <p:cNvSpPr txBox="1"/>
              <p:nvPr/>
            </p:nvSpPr>
            <p:spPr>
              <a:xfrm>
                <a:off x="292608" y="269623"/>
                <a:ext cx="8709660" cy="5262979"/>
              </a:xfrm>
              <a:prstGeom prst="rect">
                <a:avLst/>
              </a:prstGeom>
              <a:noFill/>
            </p:spPr>
            <p:txBody>
              <a:bodyPr wrap="square">
                <a:spAutoFit/>
              </a:bodyPr>
              <a:lstStyle/>
              <a:p>
                <a:pPr>
                  <a:buNone/>
                </a:pPr>
                <a:r>
                  <a:rPr lang="en-US" sz="2400" b="1" dirty="0">
                    <a:solidFill>
                      <a:schemeClr val="accent6">
                        <a:lumMod val="60000"/>
                        <a:lumOff val="40000"/>
                      </a:schemeClr>
                    </a:solidFill>
                  </a:rPr>
                  <a:t>STEP 6: Reverse Sampling (Generation)</a:t>
                </a:r>
              </a:p>
              <a:p>
                <a:pPr>
                  <a:buNone/>
                </a:pPr>
                <a:r>
                  <a:rPr lang="en-US" sz="2400" dirty="0">
                    <a:solidFill>
                      <a:schemeClr val="accent6">
                        <a:lumMod val="60000"/>
                        <a:lumOff val="40000"/>
                      </a:schemeClr>
                    </a:solidFill>
                  </a:rPr>
                  <a:t>Start from noise:</a:t>
                </a:r>
              </a:p>
              <a:p>
                <a:pPr>
                  <a:buNone/>
                </a:pPr>
                <a14:m>
                  <m:oMathPara xmlns:m="http://schemas.openxmlformats.org/officeDocument/2006/math">
                    <m:oMathParaPr>
                      <m:jc m:val="centerGroup"/>
                    </m:oMathParaPr>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𝑇</m:t>
                          </m:r>
                        </m:sub>
                      </m:sSub>
                      <m:r>
                        <a:rPr lang="ar-AE" sz="2400" i="0">
                          <a:solidFill>
                            <a:schemeClr val="accent6">
                              <a:lumMod val="60000"/>
                              <a:lumOff val="40000"/>
                            </a:schemeClr>
                          </a:solidFill>
                          <a:latin typeface="Cambria Math" panose="02040503050406030204" pitchFamily="18" charset="0"/>
                        </a:rPr>
                        <m:t>∼</m:t>
                      </m:r>
                      <m:r>
                        <a:rPr lang="ar-AE" sz="2400" i="0">
                          <a:solidFill>
                            <a:schemeClr val="accent6">
                              <a:lumMod val="60000"/>
                              <a:lumOff val="40000"/>
                            </a:schemeClr>
                          </a:solidFill>
                          <a:latin typeface="Cambria Math" panose="02040503050406030204" pitchFamily="18" charset="0"/>
                        </a:rPr>
                        <m:t>𝒩</m:t>
                      </m:r>
                      <m:d>
                        <m:dPr>
                          <m:sepChr m:val=","/>
                          <m:ctrlPr>
                            <a:rPr lang="ar-AE" sz="2400" i="1">
                              <a:solidFill>
                                <a:schemeClr val="accent6">
                                  <a:lumMod val="60000"/>
                                  <a:lumOff val="40000"/>
                                </a:schemeClr>
                              </a:solidFill>
                              <a:latin typeface="Cambria Math" panose="02040503050406030204" pitchFamily="18" charset="0"/>
                            </a:rPr>
                          </m:ctrlPr>
                        </m:dPr>
                        <m:e>
                          <m:r>
                            <a:rPr lang="ar-AE" sz="2400" i="0">
                              <a:solidFill>
                                <a:schemeClr val="accent6">
                                  <a:lumMod val="60000"/>
                                  <a:lumOff val="40000"/>
                                </a:schemeClr>
                              </a:solidFill>
                              <a:latin typeface="Cambria Math" panose="02040503050406030204" pitchFamily="18" charset="0"/>
                            </a:rPr>
                            <m:t>0</m:t>
                          </m:r>
                        </m:e>
                        <m:e>
                          <m:r>
                            <a:rPr lang="ar-AE" sz="2400" i="0">
                              <a:solidFill>
                                <a:schemeClr val="accent6">
                                  <a:lumMod val="60000"/>
                                  <a:lumOff val="40000"/>
                                </a:schemeClr>
                              </a:solidFill>
                              <a:latin typeface="Cambria Math" panose="02040503050406030204" pitchFamily="18" charset="0"/>
                            </a:rPr>
                            <m:t>1</m:t>
                          </m:r>
                        </m:e>
                      </m:d>
                    </m:oMath>
                  </m:oMathPara>
                </a14:m>
                <a:endParaRPr lang="ar-AE" sz="2400" dirty="0">
                  <a:solidFill>
                    <a:schemeClr val="accent6">
                      <a:lumMod val="60000"/>
                      <a:lumOff val="40000"/>
                    </a:schemeClr>
                  </a:solidFill>
                </a:endParaRP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Then step backward:</a:t>
                </a:r>
              </a:p>
              <a:p>
                <a:pPr>
                  <a:buNone/>
                </a:pPr>
                <a14:m>
                  <m:oMathPara xmlns:m="http://schemas.openxmlformats.org/officeDocument/2006/math">
                    <m:oMathParaPr>
                      <m:jc m:val="centerGroup"/>
                    </m:oMathParaPr>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𝑇</m:t>
                          </m:r>
                        </m:sub>
                      </m:sSub>
                      <m:r>
                        <a:rPr lang="ar-AE" sz="2400" i="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1">
                              <a:solidFill>
                                <a:schemeClr val="accent6">
                                  <a:lumMod val="60000"/>
                                  <a:lumOff val="40000"/>
                                </a:schemeClr>
                              </a:solidFill>
                              <a:latin typeface="Cambria Math" panose="02040503050406030204" pitchFamily="18" charset="0"/>
                            </a:rPr>
                            <m:t>𝑇</m:t>
                          </m:r>
                          <m:r>
                            <a:rPr lang="ar-AE" sz="2400" i="0">
                              <a:solidFill>
                                <a:schemeClr val="accent6">
                                  <a:lumMod val="60000"/>
                                  <a:lumOff val="40000"/>
                                </a:schemeClr>
                              </a:solidFill>
                              <a:latin typeface="Cambria Math" panose="02040503050406030204" pitchFamily="18" charset="0"/>
                            </a:rPr>
                            <m:t>−</m:t>
                          </m:r>
                          <m:r>
                            <a:rPr lang="ar-AE" sz="2400" i="0">
                              <a:solidFill>
                                <a:schemeClr val="accent6">
                                  <a:lumMod val="60000"/>
                                  <a:lumOff val="40000"/>
                                </a:schemeClr>
                              </a:solidFill>
                              <a:latin typeface="Cambria Math" panose="02040503050406030204" pitchFamily="18" charset="0"/>
                            </a:rPr>
                            <m:t>1</m:t>
                          </m:r>
                        </m:sub>
                      </m:sSub>
                      <m:r>
                        <a:rPr lang="ar-AE" sz="2400" i="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i="0">
                              <a:solidFill>
                                <a:schemeClr val="accent6">
                                  <a:lumMod val="60000"/>
                                  <a:lumOff val="40000"/>
                                </a:schemeClr>
                              </a:solidFill>
                              <a:latin typeface="Cambria Math" panose="02040503050406030204" pitchFamily="18" charset="0"/>
                            </a:rPr>
                            <m:t>0</m:t>
                          </m:r>
                        </m:sub>
                      </m:sSub>
                    </m:oMath>
                  </m:oMathPara>
                </a14:m>
                <a:endParaRPr lang="ar-AE" sz="2400" dirty="0">
                  <a:solidFill>
                    <a:schemeClr val="accent6">
                      <a:lumMod val="60000"/>
                      <a:lumOff val="40000"/>
                    </a:schemeClr>
                  </a:solidFill>
                </a:endParaRPr>
              </a:p>
              <a:p>
                <a:pPr>
                  <a:buNone/>
                </a:pPr>
                <a:br>
                  <a:rPr lang="ar-AE" sz="2400" dirty="0">
                    <a:solidFill>
                      <a:schemeClr val="accent6">
                        <a:lumMod val="60000"/>
                        <a:lumOff val="40000"/>
                      </a:schemeClr>
                    </a:solidFill>
                  </a:rPr>
                </a:br>
                <a:endParaRPr lang="ar-AE" sz="2400" dirty="0">
                  <a:solidFill>
                    <a:schemeClr val="accent6">
                      <a:lumMod val="60000"/>
                      <a:lumOff val="40000"/>
                    </a:schemeClr>
                  </a:solidFill>
                </a:endParaRPr>
              </a:p>
              <a:p>
                <a:pPr>
                  <a:buNone/>
                </a:pPr>
                <a:r>
                  <a:rPr lang="en-US" sz="2400" b="1" dirty="0">
                    <a:solidFill>
                      <a:schemeClr val="accent6">
                        <a:lumMod val="60000"/>
                        <a:lumOff val="40000"/>
                      </a:schemeClr>
                    </a:solidFill>
                  </a:rPr>
                  <a:t>Reverse step (intuition)</a:t>
                </a:r>
              </a:p>
              <a:p>
                <a:pPr marL="342900" indent="-342900">
                  <a:buFont typeface="Arial" panose="020B0604020202020204" pitchFamily="34" charset="0"/>
                  <a:buChar char="•"/>
                </a:pPr>
                <a:r>
                  <a:rPr lang="en-US" sz="2400" dirty="0">
                    <a:solidFill>
                      <a:schemeClr val="accent6">
                        <a:lumMod val="60000"/>
                        <a:lumOff val="40000"/>
                      </a:schemeClr>
                    </a:solidFill>
                  </a:rPr>
                  <a:t>remove predicted noise </a:t>
                </a:r>
              </a:p>
              <a:p>
                <a:pPr marL="342900" indent="-342900">
                  <a:buFont typeface="Arial" panose="020B0604020202020204" pitchFamily="34" charset="0"/>
                  <a:buChar char="•"/>
                </a:pPr>
                <a:r>
                  <a:rPr lang="en-US" sz="2400" dirty="0">
                    <a:solidFill>
                      <a:schemeClr val="accent6">
                        <a:lumMod val="60000"/>
                        <a:lumOff val="40000"/>
                      </a:schemeClr>
                    </a:solidFill>
                  </a:rPr>
                  <a:t>add small randomness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 Final Output:  </a:t>
                </a:r>
                <a:r>
                  <a:rPr lang="en-US" sz="2400" dirty="0">
                    <a:solidFill>
                      <a:schemeClr val="accent6">
                        <a:lumMod val="60000"/>
                        <a:lumOff val="40000"/>
                      </a:schemeClr>
                    </a:solidFill>
                  </a:rPr>
                  <a:t>Clean generated image </a:t>
                </a:r>
                <a14:m>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𝑥</m:t>
                        </m:r>
                      </m:e>
                      <m:sub>
                        <m:r>
                          <a:rPr lang="ar-AE" sz="2400">
                            <a:solidFill>
                              <a:schemeClr val="accent6">
                                <a:lumMod val="60000"/>
                                <a:lumOff val="40000"/>
                              </a:schemeClr>
                            </a:solidFill>
                            <a:latin typeface="Cambria Math" panose="02040503050406030204" pitchFamily="18" charset="0"/>
                          </a:rPr>
                          <m:t>0</m:t>
                        </m:r>
                      </m:sub>
                    </m:sSub>
                  </m:oMath>
                </a14:m>
                <a:endParaRPr lang="ar-AE" sz="2400" dirty="0">
                  <a:solidFill>
                    <a:schemeClr val="accent6">
                      <a:lumMod val="60000"/>
                      <a:lumOff val="40000"/>
                    </a:schemeClr>
                  </a:solidFill>
                </a:endParaRPr>
              </a:p>
              <a:p>
                <a:endParaRPr lang="en-US" sz="2400" dirty="0">
                  <a:solidFill>
                    <a:schemeClr val="accent6">
                      <a:lumMod val="60000"/>
                      <a:lumOff val="40000"/>
                    </a:schemeClr>
                  </a:solidFill>
                </a:endParaRPr>
              </a:p>
            </p:txBody>
          </p:sp>
        </mc:Choice>
        <mc:Fallback>
          <p:sp>
            <p:nvSpPr>
              <p:cNvPr id="3" name="TextBox 2">
                <a:extLst>
                  <a:ext uri="{FF2B5EF4-FFF2-40B4-BE49-F238E27FC236}">
                    <a16:creationId xmlns:a16="http://schemas.microsoft.com/office/drawing/2014/main" id="{455E96FA-329C-D511-8EA5-AA0E3E4C0E96}"/>
                  </a:ext>
                </a:extLst>
              </p:cNvPr>
              <p:cNvSpPr txBox="1">
                <a:spLocks noRot="1" noChangeAspect="1" noMove="1" noResize="1" noEditPoints="1" noAdjustHandles="1" noChangeArrowheads="1" noChangeShapeType="1" noTextEdit="1"/>
              </p:cNvSpPr>
              <p:nvPr/>
            </p:nvSpPr>
            <p:spPr>
              <a:xfrm>
                <a:off x="292608" y="269623"/>
                <a:ext cx="8709660" cy="5262979"/>
              </a:xfrm>
              <a:prstGeom prst="rect">
                <a:avLst/>
              </a:prstGeom>
              <a:blipFill>
                <a:blip r:embed="rId2"/>
                <a:stretch>
                  <a:fillRect l="-1050" t="-926"/>
                </a:stretch>
              </a:blipFill>
            </p:spPr>
            <p:txBody>
              <a:bodyPr/>
              <a:lstStyle/>
              <a:p>
                <a:r>
                  <a:rPr lang="en-US">
                    <a:noFill/>
                  </a:rPr>
                  <a:t> </a:t>
                </a:r>
              </a:p>
            </p:txBody>
          </p:sp>
        </mc:Fallback>
      </mc:AlternateContent>
    </p:spTree>
    <p:extLst>
      <p:ext uri="{BB962C8B-B14F-4D97-AF65-F5344CB8AC3E}">
        <p14:creationId xmlns:p14="http://schemas.microsoft.com/office/powerpoint/2010/main" val="2330485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D2EF2-5B49-8284-E4B1-2647BA77B4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A5CB41-BDF0-4F8B-6564-7B572D28A8D3}"/>
              </a:ext>
            </a:extLst>
          </p:cNvPr>
          <p:cNvSpPr txBox="1"/>
          <p:nvPr/>
        </p:nvSpPr>
        <p:spPr>
          <a:xfrm>
            <a:off x="292608" y="269623"/>
            <a:ext cx="8709660" cy="461665"/>
          </a:xfrm>
          <a:prstGeom prst="rect">
            <a:avLst/>
          </a:prstGeom>
          <a:noFill/>
        </p:spPr>
        <p:txBody>
          <a:bodyPr wrap="square">
            <a:spAutoFit/>
          </a:bodyPr>
          <a:lstStyle/>
          <a:p>
            <a:pPr>
              <a:buNone/>
            </a:pPr>
            <a:r>
              <a:rPr lang="en-US" sz="2400" b="1">
                <a:solidFill>
                  <a:schemeClr val="accent6">
                    <a:lumMod val="60000"/>
                    <a:lumOff val="40000"/>
                  </a:schemeClr>
                </a:solidFill>
              </a:rPr>
              <a:t>STOP</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3625930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2C3A-4774-E17F-6514-B1BFA689E3A2}"/>
            </a:ext>
          </a:extLst>
        </p:cNvPr>
        <p:cNvGrpSpPr/>
        <p:nvPr/>
      </p:nvGrpSpPr>
      <p:grpSpPr>
        <a:xfrm>
          <a:off x="0" y="0"/>
          <a:ext cx="0" cy="0"/>
          <a:chOff x="0" y="0"/>
          <a:chExt cx="0" cy="0"/>
        </a:xfrm>
      </p:grpSpPr>
    </p:spTree>
    <p:extLst>
      <p:ext uri="{BB962C8B-B14F-4D97-AF65-F5344CB8AC3E}">
        <p14:creationId xmlns:p14="http://schemas.microsoft.com/office/powerpoint/2010/main" val="3435086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909" y="365126"/>
            <a:ext cx="10868891" cy="521566"/>
          </a:xfrm>
        </p:spPr>
        <p:txBody>
          <a:bodyPr>
            <a:noAutofit/>
          </a:bodyPr>
          <a:lstStyle/>
          <a:p>
            <a:pPr algn="ctr"/>
            <a:r>
              <a:rPr lang="en-US" sz="3200" b="1" dirty="0"/>
              <a:t>Math of Diffusion models p1</a:t>
            </a:r>
          </a:p>
        </p:txBody>
      </p:sp>
      <p:sp>
        <p:nvSpPr>
          <p:cNvPr id="4" name="TextBox 3"/>
          <p:cNvSpPr txBox="1"/>
          <p:nvPr/>
        </p:nvSpPr>
        <p:spPr>
          <a:xfrm>
            <a:off x="8714511" y="346361"/>
            <a:ext cx="3367560" cy="461665"/>
          </a:xfrm>
          <a:prstGeom prst="rect">
            <a:avLst/>
          </a:prstGeom>
          <a:noFill/>
        </p:spPr>
        <p:txBody>
          <a:bodyPr wrap="square" rtlCol="0">
            <a:spAutoFit/>
          </a:bodyPr>
          <a:lstStyle/>
          <a:p>
            <a:r>
              <a:rPr lang="en-US" sz="1200" dirty="0">
                <a:solidFill>
                  <a:schemeClr val="accent6">
                    <a:lumMod val="60000"/>
                    <a:lumOff val="40000"/>
                  </a:schemeClr>
                </a:solidFill>
              </a:rPr>
              <a:t>Source https://www.superannotate.com/blog/openai-sora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013" y="1134157"/>
            <a:ext cx="5223942" cy="282353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3081" y="2743201"/>
            <a:ext cx="5526931" cy="4048012"/>
          </a:xfrm>
          <a:prstGeom prst="rect">
            <a:avLst/>
          </a:prstGeom>
        </p:spPr>
      </p:pic>
      <p:sp>
        <p:nvSpPr>
          <p:cNvPr id="7" name="Right Arrow 6"/>
          <p:cNvSpPr/>
          <p:nvPr/>
        </p:nvSpPr>
        <p:spPr>
          <a:xfrm rot="2385638">
            <a:off x="5832764" y="1842655"/>
            <a:ext cx="1191491" cy="3602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Tree>
    <p:extLst>
      <p:ext uri="{BB962C8B-B14F-4D97-AF65-F5344CB8AC3E}">
        <p14:creationId xmlns:p14="http://schemas.microsoft.com/office/powerpoint/2010/main" val="703229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964" y="143450"/>
            <a:ext cx="10397836" cy="549275"/>
          </a:xfrm>
        </p:spPr>
        <p:txBody>
          <a:bodyPr>
            <a:normAutofit fontScale="90000"/>
          </a:bodyPr>
          <a:lstStyle/>
          <a:p>
            <a:pPr algn="ctr"/>
            <a:r>
              <a:rPr lang="en-US" dirty="0"/>
              <a:t>Math of Diff Model p2</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29" y="685561"/>
            <a:ext cx="6211167" cy="335326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2473" y="3026579"/>
            <a:ext cx="5404572" cy="3572372"/>
          </a:xfrm>
          <a:prstGeom prst="rect">
            <a:avLst/>
          </a:prstGeom>
        </p:spPr>
      </p:pic>
    </p:spTree>
    <p:extLst>
      <p:ext uri="{BB962C8B-B14F-4D97-AF65-F5344CB8AC3E}">
        <p14:creationId xmlns:p14="http://schemas.microsoft.com/office/powerpoint/2010/main" val="263480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66148"/>
          </a:xfrm>
        </p:spPr>
        <p:txBody>
          <a:bodyPr>
            <a:normAutofit/>
          </a:bodyPr>
          <a:lstStyle/>
          <a:p>
            <a:pPr algn="ctr"/>
            <a:r>
              <a:rPr lang="en-US" sz="2400" b="1" dirty="0"/>
              <a:t>Math of Diff model p3</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822" y="802076"/>
            <a:ext cx="5776052" cy="245919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39" y="4412578"/>
            <a:ext cx="6277851" cy="152421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4252" y="833075"/>
            <a:ext cx="5427952" cy="4516388"/>
          </a:xfrm>
          <a:prstGeom prst="rect">
            <a:avLst/>
          </a:prstGeom>
        </p:spPr>
      </p:pic>
      <p:sp>
        <p:nvSpPr>
          <p:cNvPr id="8" name="Down Arrow 7"/>
          <p:cNvSpPr/>
          <p:nvPr/>
        </p:nvSpPr>
        <p:spPr>
          <a:xfrm>
            <a:off x="2840182" y="3532909"/>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9" name="Down Arrow 8"/>
          <p:cNvSpPr/>
          <p:nvPr/>
        </p:nvSpPr>
        <p:spPr>
          <a:xfrm rot="13319954">
            <a:off x="5153892" y="3685309"/>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Tree>
    <p:extLst>
      <p:ext uri="{BB962C8B-B14F-4D97-AF65-F5344CB8AC3E}">
        <p14:creationId xmlns:p14="http://schemas.microsoft.com/office/powerpoint/2010/main" val="1911790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782" y="101885"/>
            <a:ext cx="10952018" cy="355311"/>
          </a:xfrm>
        </p:spPr>
        <p:txBody>
          <a:bodyPr>
            <a:normAutofit fontScale="90000"/>
          </a:bodyPr>
          <a:lstStyle/>
          <a:p>
            <a:pPr algn="ctr"/>
            <a:r>
              <a:rPr lang="en-US" sz="2400" b="1" dirty="0"/>
              <a:t>Math of Diff model p4</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 y="799733"/>
            <a:ext cx="6072590" cy="502559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1154" y="997525"/>
            <a:ext cx="6093079" cy="4827800"/>
          </a:xfrm>
          <a:prstGeom prst="rect">
            <a:avLst/>
          </a:prstGeom>
        </p:spPr>
      </p:pic>
      <p:sp>
        <p:nvSpPr>
          <p:cNvPr id="6" name="Right Arrow 5"/>
          <p:cNvSpPr/>
          <p:nvPr/>
        </p:nvSpPr>
        <p:spPr>
          <a:xfrm rot="19795577">
            <a:off x="5689368" y="6068290"/>
            <a:ext cx="562768" cy="2213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Tree>
    <p:extLst>
      <p:ext uri="{BB962C8B-B14F-4D97-AF65-F5344CB8AC3E}">
        <p14:creationId xmlns:p14="http://schemas.microsoft.com/office/powerpoint/2010/main" val="452553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158"/>
            <a:ext cx="10515600" cy="383020"/>
          </a:xfrm>
        </p:spPr>
        <p:txBody>
          <a:bodyPr>
            <a:normAutofit fontScale="90000"/>
          </a:bodyPr>
          <a:lstStyle/>
          <a:p>
            <a:pPr algn="ctr"/>
            <a:r>
              <a:rPr lang="en-US" sz="2400" b="1" dirty="0"/>
              <a:t>Math of Diff model p5</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11" y="966444"/>
            <a:ext cx="5856260" cy="467235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9124" y="1104389"/>
            <a:ext cx="5978675" cy="2460735"/>
          </a:xfrm>
          <a:prstGeom prst="rect">
            <a:avLst/>
          </a:prstGeom>
        </p:spPr>
      </p:pic>
    </p:spTree>
    <p:extLst>
      <p:ext uri="{BB962C8B-B14F-4D97-AF65-F5344CB8AC3E}">
        <p14:creationId xmlns:p14="http://schemas.microsoft.com/office/powerpoint/2010/main" val="74251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1193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1138</TotalTime>
  <Words>569</Words>
  <Application>Microsoft Office PowerPoint</Application>
  <PresentationFormat>Widescreen</PresentationFormat>
  <Paragraphs>96</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Cambria Math</vt:lpstr>
      <vt:lpstr>Google Sans</vt:lpstr>
      <vt:lpstr>Office Theme</vt:lpstr>
      <vt:lpstr>PowerPoint Presentation</vt:lpstr>
      <vt:lpstr>PowerPoint Presentation</vt:lpstr>
      <vt:lpstr>PowerPoint Presentation</vt:lpstr>
      <vt:lpstr>Applications of Diff Models</vt:lpstr>
      <vt:lpstr>Applications of Diff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Math of Diffusion models p1</vt:lpstr>
      <vt:lpstr>Math of Diff Model p2</vt:lpstr>
      <vt:lpstr>Math of Diff model p3</vt:lpstr>
      <vt:lpstr>Math of Diff model p4</vt:lpstr>
      <vt:lpstr>Math of Diff model p5</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180</cp:revision>
  <dcterms:created xsi:type="dcterms:W3CDTF">2025-09-22T02:44:38Z</dcterms:created>
  <dcterms:modified xsi:type="dcterms:W3CDTF">2026-05-01T12:40:16Z</dcterms:modified>
</cp:coreProperties>
</file>