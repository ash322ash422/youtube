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7" r:id="rId2"/>
    <p:sldId id="276" r:id="rId3"/>
    <p:sldId id="277" r:id="rId4"/>
    <p:sldId id="278" r:id="rId5"/>
    <p:sldId id="279" r:id="rId6"/>
    <p:sldId id="295" r:id="rId7"/>
    <p:sldId id="289" r:id="rId8"/>
    <p:sldId id="290" r:id="rId9"/>
    <p:sldId id="291" r:id="rId10"/>
    <p:sldId id="292" r:id="rId11"/>
    <p:sldId id="293" r:id="rId12"/>
    <p:sldId id="294" r:id="rId13"/>
    <p:sldId id="296" r:id="rId14"/>
    <p:sldId id="297" r:id="rId15"/>
    <p:sldId id="298" r:id="rId16"/>
    <p:sldId id="299" r:id="rId17"/>
    <p:sldId id="280" r:id="rId18"/>
    <p:sldId id="300" r:id="rId19"/>
    <p:sldId id="281" r:id="rId20"/>
    <p:sldId id="301" r:id="rId21"/>
    <p:sldId id="282" r:id="rId22"/>
    <p:sldId id="283" r:id="rId23"/>
    <p:sldId id="284" r:id="rId24"/>
    <p:sldId id="285" r:id="rId25"/>
    <p:sldId id="286" r:id="rId26"/>
    <p:sldId id="302" r:id="rId27"/>
    <p:sldId id="27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financialit.net/news/fraud-detection/netguardians-chosen-jordans-bank-al-etihad-mitigate-financial-fraud-risk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24ACA1-E3FA-4DCA-3111-59399069B893}"/>
              </a:ext>
            </a:extLst>
          </p:cNvPr>
          <p:cNvSpPr txBox="1"/>
          <p:nvPr/>
        </p:nvSpPr>
        <p:spPr>
          <a:xfrm>
            <a:off x="3009900" y="3244334"/>
            <a:ext cx="61912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Agentic AI?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132588" y="57108"/>
            <a:ext cx="111262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Agentic AI?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rule-based.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does exactly what it's told, nothing more.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7BFC98-B6B5-5C18-E06B-A03C5E5EC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47" y="2801880"/>
            <a:ext cx="9164329" cy="3829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0EF223-1719-D856-B504-E346D618FF37}"/>
              </a:ext>
            </a:extLst>
          </p:cNvPr>
          <p:cNvSpPr txBox="1"/>
          <p:nvPr/>
        </p:nvSpPr>
        <p:spPr>
          <a:xfrm>
            <a:off x="132588" y="1620732"/>
            <a:ext cx="112466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E.g.: A spam filter, a chess engine, a recommendation algorithm — these are trained or programmed for one narrow task.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have no understanding of context beyond their domain.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8A484-8182-7037-ACC6-A51599B79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5D66CE7-E24A-B173-73CE-8393FF8D8C02}"/>
              </a:ext>
            </a:extLst>
          </p:cNvPr>
          <p:cNvSpPr txBox="1"/>
          <p:nvPr/>
        </p:nvSpPr>
        <p:spPr>
          <a:xfrm>
            <a:off x="252989" y="124224"/>
            <a:ext cx="111262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Generative AI (GenAI):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Models like GPT-4 or Claude can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new content — text, images, code — by learning patterns from vast data.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they are fundamentally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reactive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You prompt them, they respond.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have no memory of yesterday, no ability to go check a website, no way to take an action in the world.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B73D05-4D79-868F-59A3-373C0AAD6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47" y="2801880"/>
            <a:ext cx="9164329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47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B9C1B-85E8-237F-1392-30A27B558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2D858AE-5893-DF28-2927-D0A190B4B226}"/>
              </a:ext>
            </a:extLst>
          </p:cNvPr>
          <p:cNvSpPr txBox="1"/>
          <p:nvPr/>
        </p:nvSpPr>
        <p:spPr>
          <a:xfrm>
            <a:off x="252989" y="124224"/>
            <a:ext cx="111262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Agentic AI: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that can </a:t>
            </a:r>
            <a:r>
              <a:rPr lang="en-US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It receives a goal, breaks it into steps, uses tools (web search, code execution, APIs), checks its own output, and iterates — all without a human driving every step.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Agent that opens your laptop -&gt; run a search on your email -&gt; draft response for an email -&gt; and send it — autonomously.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EBFAA4-4C0B-EA71-2E62-7F13A27C9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47" y="2801880"/>
            <a:ext cx="9164329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962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A58B-47E9-2B8D-6DC3-4C4D6592C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6978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C5D59-2CFD-5AAB-71D2-1918B2EEF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741965C-86AB-8079-5846-7DB008ABD380}"/>
              </a:ext>
            </a:extLst>
          </p:cNvPr>
          <p:cNvSpPr txBox="1"/>
          <p:nvPr/>
        </p:nvSpPr>
        <p:spPr>
          <a:xfrm>
            <a:off x="252989" y="124224"/>
            <a:ext cx="647699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Four Pillars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 decomposition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use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Memory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Feedback loops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430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F3310-E0D4-A38A-4FB9-A4510B62A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103C884-5074-524B-E4FD-19C9C7A45A05}"/>
              </a:ext>
            </a:extLst>
          </p:cNvPr>
          <p:cNvSpPr txBox="1"/>
          <p:nvPr/>
        </p:nvSpPr>
        <p:spPr>
          <a:xfrm>
            <a:off x="252989" y="124224"/>
            <a:ext cx="6476995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 decomposition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Given a high-level objective, the agent breaks it into subtasks automatically.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user gives a single high-level objective: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“Investigate whether wire transfer transaction #88492 is fraudulent”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automatically breaks this into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sequential subtasks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Subtask A: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Check the client’s historical transaction patterns.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Subtask B: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Scan external threat intelligence databases for the destination bank account.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Subtask C: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Verify if the login location matches the client's usual geographic profile.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EDC9F4-2807-2DAB-FE69-42F327D91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35472"/>
            <a:ext cx="5644896" cy="678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613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C1ADE-1EAC-2B3B-FFA7-2BE86A7E8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4B6EE35-7C0A-6042-6CE9-B1C1AC55A4DD}"/>
              </a:ext>
            </a:extLst>
          </p:cNvPr>
          <p:cNvSpPr txBox="1"/>
          <p:nvPr/>
        </p:nvSpPr>
        <p:spPr>
          <a:xfrm>
            <a:off x="252989" y="124224"/>
            <a:ext cx="6476995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Tool use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Agents are connected to the world: 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can </a:t>
            </a: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browse the web, run code, query databases, call APIs, read files, send emails.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begins interacting with external software tools to gather data: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 Query: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Run SQL query to fetch the client's past 12 months of banking history.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Call: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Sends the transaction's IP address to a geolocation API.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 Browser: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searches public financial fraud registries to see if the recipient routing number has been flagged.</a:t>
            </a:r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4B09D6-B8DD-281E-9516-8DDE0E1DA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35472"/>
            <a:ext cx="5644896" cy="678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112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7CAFE-FA15-EE26-B7B4-562907891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385C246-94DA-4F92-FEAC-458663F1AD43}"/>
              </a:ext>
            </a:extLst>
          </p:cNvPr>
          <p:cNvSpPr txBox="1"/>
          <p:nvPr/>
        </p:nvSpPr>
        <p:spPr>
          <a:xfrm>
            <a:off x="252989" y="124224"/>
            <a:ext cx="622096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pPr marL="457200" indent="-457200">
              <a:buAutoNum type="arabicPeriod"/>
            </a:pPr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Memory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Unlike a standard LLM that forgets between sessions, agents can maintain short-term context (what they've done in this task) and often access long-term memory (a database of past interactions).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cross-references its real-time findings with different layers of memory:</a:t>
            </a: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Short-Term Memory: 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remembers that 2 minutes ago, its geolocation API call failed due to a timeout. It holds this context and tries the tool again rather than getting stuck.</a:t>
            </a: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Long-Term Memory: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agent accesses a vector database containing the client's historical profile. It recalls that the client only conducts business between 9 AM and 5 PM EST, but this transfer was initiated at 3 AM EST from an IP address in a different country.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FA0DC2-83AB-5674-37A0-88BFB16B6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35472"/>
            <a:ext cx="5644896" cy="678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03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E33C1-2944-B406-C85A-9F52C42B7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3D849D1-E4B3-F5E9-11E7-DEEF48B44640}"/>
              </a:ext>
            </a:extLst>
          </p:cNvPr>
          <p:cNvSpPr txBox="1"/>
          <p:nvPr/>
        </p:nvSpPr>
        <p:spPr>
          <a:xfrm>
            <a:off x="252989" y="124224"/>
            <a:ext cx="6476995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pPr marL="457200" indent="-457200">
              <a:buAutoNum type="arabicPeriod"/>
            </a:pPr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 startAt="4"/>
            </a:pP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Feedback loops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Agents can evaluate their own outputs, notice errors, and retry. 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(E.g.: A coding agent that writes code will also run it, read the error, fix the bug, and run it again.)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reviews its own findings to catch mistakes and refine its conclusion before final output: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Self-Evaluation: 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drafts a risk score but notices its geographic analysis contradicts the client's typical device profile.</a:t>
            </a: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Correction: 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realizes the IP belongs to a commercial VPN provider. It reruns its evaluation script, updating the risk score from "medium" to "critical fraud risk."</a:t>
            </a: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Action: 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automatically freezes the account, blocks the transfer, and drafts an emergency alert email to the fraud operations team.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A9C587-DADC-1856-7449-B19679926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35472"/>
            <a:ext cx="5644896" cy="678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866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5E6DC-4A8C-7C2D-1674-ADAC3B035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7BD0CDA-357A-2462-18D0-88F7E93FBB60}"/>
              </a:ext>
            </a:extLst>
          </p:cNvPr>
          <p:cNvSpPr txBox="1"/>
          <p:nvPr/>
        </p:nvSpPr>
        <p:spPr>
          <a:xfrm>
            <a:off x="252989" y="124224"/>
            <a:ext cx="6476995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pPr marL="457200" indent="-457200">
              <a:buAutoNum type="arabicPeriod"/>
            </a:pPr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 startAt="4"/>
            </a:pP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Feedback loops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Agents can evaluate their own outputs, notice errors, and retry. 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(E.g.: A coding agent that writes code will also run it, read the error, fix the bug, and run it again.)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reviews its own findings to catch mistakes and refine its conclusion before final output: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Self-Evaluation: 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drafts a risk score but notices its geographic analysis contradicts the client's typical device profile.</a:t>
            </a: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Correction: 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realizes the IP belongs to a commercial VPN provider. It reruns its evaluation script, updating the risk score from "medium" to "critical fraud risk."</a:t>
            </a: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Action: 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automatically freezes the account, blocks the transfer, and drafts an emergency alert email to the fraud operations team.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AC68F4-56FE-ECFD-2A9A-2C29E5C7B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35472"/>
            <a:ext cx="5644896" cy="678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93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73BC7-FC32-E8C7-568E-0023A8AF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9459E11-6C9D-996A-16BF-4B05869F949C}"/>
              </a:ext>
            </a:extLst>
          </p:cNvPr>
          <p:cNvSpPr txBox="1"/>
          <p:nvPr/>
        </p:nvSpPr>
        <p:spPr>
          <a:xfrm>
            <a:off x="252989" y="124224"/>
            <a:ext cx="647699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Another example: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high school teacher gives the AI agent one big task: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"Organize our Astronomy Club field trip next month."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E697F6-C68E-B478-2310-106205FDD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251" y="124225"/>
            <a:ext cx="5560749" cy="66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9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5772D-3649-DD58-135C-0AC6A6B8F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E68E8D4-69B3-00D6-21CD-E7EFC49DEBA0}"/>
              </a:ext>
            </a:extLst>
          </p:cNvPr>
          <p:cNvSpPr txBox="1"/>
          <p:nvPr/>
        </p:nvSpPr>
        <p:spPr>
          <a:xfrm>
            <a:off x="252989" y="124224"/>
            <a:ext cx="647699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Goal Decomposition (The Planner)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automatically breaks the big goal down into a checklist of smaller, logical steps: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Find a dark-sky location within a 2-hour drive.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B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Check the weather and moon phases for the best viewing dates.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Calculate the total budget (bus rental, tickets, food).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C9B57A-A3DA-D75E-714C-5C6F164D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251" y="124225"/>
            <a:ext cx="5560749" cy="66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743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4E97E-FC91-6E30-E58F-41D277473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D6C47CE-5B63-F987-F3B4-BDFA37F3BB0A}"/>
              </a:ext>
            </a:extLst>
          </p:cNvPr>
          <p:cNvSpPr txBox="1"/>
          <p:nvPr/>
        </p:nvSpPr>
        <p:spPr>
          <a:xfrm>
            <a:off x="252989" y="124224"/>
            <a:ext cx="6476995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Tool Use (The Doer)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just guessing, the agent connects to the internet and uses software tools to get real work done: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 Browser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It searches Google to find open campgrounds or observatories.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Weather 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It pulls live meteorological data to check for clear skies.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Code Runner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It runs math code to multiply the number of students by the ticket price to get an exact budget.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1E8660-B569-3E06-C2E9-CF84FC7EE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251" y="124225"/>
            <a:ext cx="5560749" cy="66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842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A24A8-5D5F-FEE1-947F-9DE7DA205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5BE87E1-1D14-084E-FA08-62C9CBDBEBEA}"/>
              </a:ext>
            </a:extLst>
          </p:cNvPr>
          <p:cNvSpPr txBox="1"/>
          <p:nvPr/>
        </p:nvSpPr>
        <p:spPr>
          <a:xfrm>
            <a:off x="252989" y="124224"/>
            <a:ext cx="647699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Memory (The Keeper)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keeps track of details so it does not make mistakes or ask you to repeat yourself: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Short-Term Memory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While calculating the budget, it remembers that the bus company quote it looked up two minutes ago does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include the driver's tip. It keeps that extra cost in mind.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Long-Term Memory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It reads the school’s digital handbook and remembers a permanent rule: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"All field trips require 1 adult chaperone for every 10 students."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uses this to add chaperone tickets automatically.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F1427-D627-9E3A-F4B8-A039E8D83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251" y="124225"/>
            <a:ext cx="5560749" cy="66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107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376D6-3389-E2D6-91D2-F423ADFB6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C1DFA1E-DE1E-BDFD-BDB6-05C6F788A31D}"/>
              </a:ext>
            </a:extLst>
          </p:cNvPr>
          <p:cNvSpPr txBox="1"/>
          <p:nvPr/>
        </p:nvSpPr>
        <p:spPr>
          <a:xfrm>
            <a:off x="252989" y="124224"/>
            <a:ext cx="647699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Makes AI "Agentic"?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Feedback Loops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checks its own work, catches mistakes, and fixes them before showing you the final plan: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Error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The agent picks Friday, October 14th. But when it checks the moon phase tool, it realizes it is a full moon. A bright full moon makes it impossible to see faint stars.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Correction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It says to itself,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"Wait, a full moon will ruin the stargazing."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automatically goes back to Step B, looks for a new date, and switches the trip to Friday, October 21st (a new moon).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Output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It presents a perfected itinerary and budget to the teacher, that is conflict free.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BB55DA-C555-BFFC-6C83-AC04B0905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251" y="124225"/>
            <a:ext cx="5560749" cy="66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354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6F57D-7809-C5C8-0691-1C48B2532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13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5FED6-6001-D30D-5ADC-5A31E3BA4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272C9B0-9682-FAB3-0AF7-2EB4C6487557}"/>
              </a:ext>
            </a:extLst>
          </p:cNvPr>
          <p:cNvSpPr txBox="1"/>
          <p:nvPr/>
        </p:nvSpPr>
        <p:spPr>
          <a:xfrm>
            <a:off x="252989" y="124224"/>
            <a:ext cx="1112621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Case: Agentic AI for Real-Time Fraud Detection &amp; Response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Business Problem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traditional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bank or payment company processes millions of transactions daily.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Old-school fraud detection uses static rules —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any transaction over ₹1,00,000, then flag it  -or-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card used in two countries within 1 hour, then block it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rules 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rigid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fraudsters learn to work around them, and legitimate customers get wrongly blocked.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static LLM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can help analysts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fraud patterns when asked — but it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can't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 a live transaction in real time, can't pull the customer's history, can't freeze an account, and can't learn from new fraud signals.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agentic 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system changes all of this. It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act.</a:t>
            </a:r>
          </a:p>
        </p:txBody>
      </p:sp>
    </p:spTree>
    <p:extLst>
      <p:ext uri="{BB962C8B-B14F-4D97-AF65-F5344CB8AC3E}">
        <p14:creationId xmlns:p14="http://schemas.microsoft.com/office/powerpoint/2010/main" val="2179678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D9606-8BCD-E11A-2EBA-DFD809B73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3A8ED8-072D-BFD4-9B49-C611DCBAB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5866"/>
            <a:ext cx="6909482" cy="3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33E6B1-DE38-B421-07AC-63864E782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77" y="3191256"/>
            <a:ext cx="6052148" cy="32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CD4093-C9D0-E7AF-E414-540D45B8C570}"/>
              </a:ext>
            </a:extLst>
          </p:cNvPr>
          <p:cNvSpPr txBox="1"/>
          <p:nvPr/>
        </p:nvSpPr>
        <p:spPr>
          <a:xfrm>
            <a:off x="114300" y="266178"/>
            <a:ext cx="551840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 — Transaction arrives.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$85,000 transfer is initiated at 2:14 AM to an unfamiliar merchant.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rule-based system flags it with a risk score of 78/100 — above the threshold for agent activation.</a:t>
            </a:r>
          </a:p>
        </p:txBody>
      </p:sp>
    </p:spTree>
    <p:extLst>
      <p:ext uri="{BB962C8B-B14F-4D97-AF65-F5344CB8AC3E}">
        <p14:creationId xmlns:p14="http://schemas.microsoft.com/office/powerpoint/2010/main" val="682937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2C28F-C4A1-CAB4-0CC6-9A066F989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D811BC-5E15-A773-878D-17A54F1E8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5866"/>
            <a:ext cx="6909482" cy="3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856599-180D-64B5-3178-802B14558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77" y="3191256"/>
            <a:ext cx="6052148" cy="32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EE8E23-A2A2-F5EE-C146-5D420BF3CE72}"/>
              </a:ext>
            </a:extLst>
          </p:cNvPr>
          <p:cNvSpPr txBox="1"/>
          <p:nvPr/>
        </p:nvSpPr>
        <p:spPr>
          <a:xfrm>
            <a:off x="114300" y="266178"/>
            <a:ext cx="55184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 — Agent Activated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a static rule simply blocking or allowing, an agentic AI wakes up.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receives the transaction object as its "goal": </a:t>
            </a:r>
          </a:p>
          <a:p>
            <a:pPr>
              <a:buNone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Evaluate whether this is fraudulent and take appropriate action.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926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107A6-FD45-A157-EEB2-3F2BCB1B5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B4F951-9C01-2B92-4EB6-90E3D9EF8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5866"/>
            <a:ext cx="6909482" cy="3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300987-BF7D-1EB8-C578-2692B6E42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77" y="3191256"/>
            <a:ext cx="6052148" cy="32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A4D9C5-537B-BC68-5BD2-8742A588074A}"/>
              </a:ext>
            </a:extLst>
          </p:cNvPr>
          <p:cNvSpPr txBox="1"/>
          <p:nvPr/>
        </p:nvSpPr>
        <p:spPr>
          <a:xfrm>
            <a:off x="114299" y="266178"/>
            <a:ext cx="5688977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 — Parallel tool calls.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simultaneously calls multiple tools without any human driving each call. It might be querying six systems in under a second —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customer's 18-month transaction history,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device fingerprint database (is this the same phone the customer usually uses?),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geo-velocity API (was the card used in Mumbai 40 minutes ago?),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merchant's risk category,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dark web credential watchlist,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peer behavior model comparing this customer to similar profiles.</a:t>
            </a:r>
          </a:p>
        </p:txBody>
      </p:sp>
    </p:spTree>
    <p:extLst>
      <p:ext uri="{BB962C8B-B14F-4D97-AF65-F5344CB8AC3E}">
        <p14:creationId xmlns:p14="http://schemas.microsoft.com/office/powerpoint/2010/main" val="1516802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C68D-85E8-D412-2BC0-646BFF977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9C6ADA-24B7-5F92-B91B-64E2E5BE1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5866"/>
            <a:ext cx="6909482" cy="3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72D132-EEFC-9227-01E0-48883C050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77" y="3191256"/>
            <a:ext cx="6052148" cy="32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12D03E-3061-D4CC-8EF8-EE3E37CAAE95}"/>
              </a:ext>
            </a:extLst>
          </p:cNvPr>
          <p:cNvSpPr txBox="1"/>
          <p:nvPr/>
        </p:nvSpPr>
        <p:spPr>
          <a:xfrm>
            <a:off x="114299" y="266178"/>
            <a:ext cx="568897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 — Synthesis.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doesn't just receive raw outputs — it reasons across them.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"Device fingerprint matches.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geo-velocity is impossible — card was scanned in Pune 35 minutes ago.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Merchant is in a high-risk category. Customer has never transacted past midnight."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produces a combined fraud probability.</a:t>
            </a:r>
          </a:p>
        </p:txBody>
      </p:sp>
    </p:spTree>
    <p:extLst>
      <p:ext uri="{BB962C8B-B14F-4D97-AF65-F5344CB8AC3E}">
        <p14:creationId xmlns:p14="http://schemas.microsoft.com/office/powerpoint/2010/main" val="1607894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75F40-DE8D-C7DF-9037-0B98736F0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B8AD32-446F-4B31-F717-75AB7738C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5866"/>
            <a:ext cx="6909482" cy="3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D38FE3-D5BF-5DD9-5F11-B0F1A556C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77" y="3191256"/>
            <a:ext cx="6052148" cy="32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9401DC-C1E3-E353-04F2-D0B7B3406665}"/>
              </a:ext>
            </a:extLst>
          </p:cNvPr>
          <p:cNvSpPr txBox="1"/>
          <p:nvPr/>
        </p:nvSpPr>
        <p:spPr>
          <a:xfrm>
            <a:off x="114299" y="266178"/>
            <a:ext cx="568897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 &amp; 6 — Tiered action.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Based on confidence, the agent takes a calibrated response.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confidence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(&gt;90%) means autonomous block, account freeze, and customer SMS notification — no human in the loop needed.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Medium confidence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triggers a human review queue with the agent's full reasoning attached.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 confidence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simply approves and logs for pattern monitoring.</a:t>
            </a:r>
          </a:p>
        </p:txBody>
      </p:sp>
    </p:spTree>
    <p:extLst>
      <p:ext uri="{BB962C8B-B14F-4D97-AF65-F5344CB8AC3E}">
        <p14:creationId xmlns:p14="http://schemas.microsoft.com/office/powerpoint/2010/main" val="1565037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0BEC9-5D54-41A7-5852-3D01A0F9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83D2F0-794B-ABFA-CEE4-CE172691E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5866"/>
            <a:ext cx="6909482" cy="3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89FAE7-F8A6-1547-B80D-024592F54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77" y="3191256"/>
            <a:ext cx="6052148" cy="3296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30D605-5542-5AFC-EA12-9DAB8DDB7110}"/>
              </a:ext>
            </a:extLst>
          </p:cNvPr>
          <p:cNvSpPr txBox="1"/>
          <p:nvPr/>
        </p:nvSpPr>
        <p:spPr>
          <a:xfrm>
            <a:off x="114299" y="266178"/>
            <a:ext cx="568897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7 — Feedback loop.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outcome — whether the human reviewer confirmed fraud or cleared it — is written back into the training pipeline.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gets smarter with every case.</a:t>
            </a:r>
          </a:p>
        </p:txBody>
      </p:sp>
    </p:spTree>
    <p:extLst>
      <p:ext uri="{BB962C8B-B14F-4D97-AF65-F5344CB8AC3E}">
        <p14:creationId xmlns:p14="http://schemas.microsoft.com/office/powerpoint/2010/main" val="3772221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FFF61-6F30-16B6-0DB8-83DF53C29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49B9FCB-FC4C-51B2-5983-4D611FBBD290}"/>
              </a:ext>
            </a:extLst>
          </p:cNvPr>
          <p:cNvSpPr txBox="1"/>
          <p:nvPr/>
        </p:nvSpPr>
        <p:spPr>
          <a:xfrm>
            <a:off x="114299" y="266178"/>
            <a:ext cx="1162659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Companies Doing This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 al Etihad: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July 2023, Bank al Etihad announced it was deploying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NetGuardians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'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AI-enabled payment fraud prevention solution. This system acts as an automated agent that monitors transactions in real-time, providing a risk score by assessing activity against standard customer behavior (behavioral analytics) to prevent financial crimes, such as Authorized Push Payment (APP) fraud.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Source: https://financialit.net/news/fraud-detection/netguardians-chosen-jordans-bank-al-etihad-mitigate-financial-fraud-risk)</a:t>
            </a:r>
          </a:p>
        </p:txBody>
      </p:sp>
    </p:spTree>
    <p:extLst>
      <p:ext uri="{BB962C8B-B14F-4D97-AF65-F5344CB8AC3E}">
        <p14:creationId xmlns:p14="http://schemas.microsoft.com/office/powerpoint/2010/main" val="2387131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7538D-877A-DA45-89E1-9781D4B56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A963767-9E06-090C-7F18-AF50D2CB1FB3}"/>
              </a:ext>
            </a:extLst>
          </p:cNvPr>
          <p:cNvSpPr txBox="1"/>
          <p:nvPr/>
        </p:nvSpPr>
        <p:spPr>
          <a:xfrm>
            <a:off x="114299" y="266178"/>
            <a:ext cx="1162659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Companies Doing This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Several fintech firms have deployed systems that embody this architecture.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Stripe's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fraud prevention platform uses ML-driven decisioning that operates at the millisecond level, automatically adjusting to new fraud patterns without rule updates.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PayPal's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risk engine processes over 40 signals per transaction autonomously.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Klarna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has deployed AI agents that handle both fraud investigation and customer service resolutions end-to-end — in their public reporting they noted a dramatic reduction in repeat inquiries after deployment.</a:t>
            </a:r>
          </a:p>
        </p:txBody>
      </p:sp>
    </p:spTree>
    <p:extLst>
      <p:ext uri="{BB962C8B-B14F-4D97-AF65-F5344CB8AC3E}">
        <p14:creationId xmlns:p14="http://schemas.microsoft.com/office/powerpoint/2010/main" val="502113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1229</TotalTime>
  <Words>1901</Words>
  <Application>Microsoft Office PowerPoint</Application>
  <PresentationFormat>Widescreen</PresentationFormat>
  <Paragraphs>187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233</cp:revision>
  <dcterms:created xsi:type="dcterms:W3CDTF">2025-09-22T02:44:38Z</dcterms:created>
  <dcterms:modified xsi:type="dcterms:W3CDTF">2026-05-24T02:55:08Z</dcterms:modified>
</cp:coreProperties>
</file>