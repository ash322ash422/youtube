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7" r:id="rId2"/>
    <p:sldId id="276" r:id="rId3"/>
    <p:sldId id="277" r:id="rId4"/>
    <p:sldId id="278" r:id="rId5"/>
    <p:sldId id="284" r:id="rId6"/>
    <p:sldId id="279" r:id="rId7"/>
    <p:sldId id="280" r:id="rId8"/>
    <p:sldId id="281" r:id="rId9"/>
    <p:sldId id="282" r:id="rId10"/>
    <p:sldId id="27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Three Generations: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Rule-Based Bot → LLM Chatbot → Autonomous Agent</a:t>
            </a: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"When a customer says </a:t>
            </a: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'I think someone hacked my account’ </a:t>
            </a: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— what does each system actually do?"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83FF23E-61AB-7189-3981-F9ED68A0CBAF}"/>
              </a:ext>
            </a:extLst>
          </p:cNvPr>
          <p:cNvSpPr txBox="1"/>
          <p:nvPr/>
        </p:nvSpPr>
        <p:spPr>
          <a:xfrm>
            <a:off x="64008" y="153198"/>
            <a:ext cx="845820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Generation 1: The Rule-Based Bot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rule-based bot is essentially a decision tree. Someone wrote every possible path in advance. The bot matches your input to a pattern, and returns a pre-written response.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has no understanding of language — it pattern-matches. If a customer types "I think someone hacked my account,.." the bot looks for keywords: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"hacked," "account."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It finds a matching rule and returns: </a:t>
            </a:r>
          </a:p>
          <a:p>
            <a:pPr>
              <a:buNone/>
            </a:pP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"For account security,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press 1 for password reset,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press 2 to speak to an agent.</a:t>
            </a:r>
          </a:p>
          <a:p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bot has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memory, no reasoning, and no ability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act on anything.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E9E164-D736-164B-3C9B-024DAE587921}"/>
              </a:ext>
            </a:extLst>
          </p:cNvPr>
          <p:cNvSpPr/>
          <p:nvPr/>
        </p:nvSpPr>
        <p:spPr>
          <a:xfrm>
            <a:off x="8887968" y="1036738"/>
            <a:ext cx="2798064" cy="10424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 think someone hacked my account,..</a:t>
            </a:r>
            <a:endParaRPr lang="en-IN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9BA6249-8B7B-71B8-C2DA-043DCA1177D6}"/>
              </a:ext>
            </a:extLst>
          </p:cNvPr>
          <p:cNvSpPr/>
          <p:nvPr/>
        </p:nvSpPr>
        <p:spPr>
          <a:xfrm>
            <a:off x="8439912" y="3410641"/>
            <a:ext cx="1682496" cy="250545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account security,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press 1 for password reset,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press 2 to speak to an agent.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7E0BA9F-857A-F358-F751-B3C3DAE0F6DA}"/>
              </a:ext>
            </a:extLst>
          </p:cNvPr>
          <p:cNvSpPr/>
          <p:nvPr/>
        </p:nvSpPr>
        <p:spPr>
          <a:xfrm>
            <a:off x="10445496" y="3429000"/>
            <a:ext cx="1682496" cy="250545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refund,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press 1 for returning an  item,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press 2 to speak to someone.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F05848-6FB4-5511-7439-487FE4C6E055}"/>
              </a:ext>
            </a:extLst>
          </p:cNvPr>
          <p:cNvSpPr txBox="1"/>
          <p:nvPr/>
        </p:nvSpPr>
        <p:spPr>
          <a:xfrm>
            <a:off x="8949348" y="3059668"/>
            <a:ext cx="1496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Hack, account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AECADF39-932A-B14E-9110-C5670F53D855}"/>
              </a:ext>
            </a:extLst>
          </p:cNvPr>
          <p:cNvSpPr/>
          <p:nvPr/>
        </p:nvSpPr>
        <p:spPr>
          <a:xfrm rot="1076481">
            <a:off x="9020193" y="2139709"/>
            <a:ext cx="490728" cy="95097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5251C55D-3507-34BC-63D0-394F19E981D2}"/>
              </a:ext>
            </a:extLst>
          </p:cNvPr>
          <p:cNvSpPr/>
          <p:nvPr/>
        </p:nvSpPr>
        <p:spPr>
          <a:xfrm rot="20680479">
            <a:off x="11078357" y="2214593"/>
            <a:ext cx="490728" cy="95097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8FCADE-3463-33D7-931B-89BDFDDECD64}"/>
              </a:ext>
            </a:extLst>
          </p:cNvPr>
          <p:cNvSpPr txBox="1"/>
          <p:nvPr/>
        </p:nvSpPr>
        <p:spPr>
          <a:xfrm>
            <a:off x="10769671" y="3041309"/>
            <a:ext cx="13583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Return, item</a:t>
            </a:r>
          </a:p>
        </p:txBody>
      </p:sp>
    </p:spTree>
    <p:extLst>
      <p:ext uri="{BB962C8B-B14F-4D97-AF65-F5344CB8AC3E}">
        <p14:creationId xmlns:p14="http://schemas.microsoft.com/office/powerpoint/2010/main" val="74278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B912D-6EAB-0C09-E365-D30BFF398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33C6A2-047B-B0E6-7CA3-F8D896EB8A71}"/>
              </a:ext>
            </a:extLst>
          </p:cNvPr>
          <p:cNvSpPr txBox="1"/>
          <p:nvPr/>
        </p:nvSpPr>
        <p:spPr>
          <a:xfrm>
            <a:off x="64008" y="153198"/>
            <a:ext cx="1142085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Generation 2: The LLM Chatbot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LLM chatbot understands language semantics.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 handle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"hacked," "compromised," "someone got into my account," "unauthorized access"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— all the same. 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D6E0079-C1A5-49FA-7626-9052CE703D20}"/>
              </a:ext>
            </a:extLst>
          </p:cNvPr>
          <p:cNvSpPr/>
          <p:nvPr/>
        </p:nvSpPr>
        <p:spPr>
          <a:xfrm>
            <a:off x="5377339" y="2634187"/>
            <a:ext cx="2066544" cy="156966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dirty="0"/>
              <a:t>LLM ChatBot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F3BA64-6538-7C90-19FD-C4EC53233A9B}"/>
              </a:ext>
            </a:extLst>
          </p:cNvPr>
          <p:cNvSpPr txBox="1"/>
          <p:nvPr/>
        </p:nvSpPr>
        <p:spPr>
          <a:xfrm>
            <a:off x="7688391" y="2677656"/>
            <a:ext cx="443960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It can tell the customer </a:t>
            </a:r>
            <a:r>
              <a:rPr lang="en-US" sz="2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how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to reset a password.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It can explain </a:t>
            </a:r>
            <a:r>
              <a:rPr lang="en-US" sz="2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what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to look for in suspicious activity.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B8F9D8-BBBA-286C-3CD4-2FBE8F8D3661}"/>
              </a:ext>
            </a:extLst>
          </p:cNvPr>
          <p:cNvSpPr txBox="1"/>
          <p:nvPr/>
        </p:nvSpPr>
        <p:spPr>
          <a:xfrm>
            <a:off x="197596" y="4929910"/>
            <a:ext cx="101676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here's the ceiling: it cannot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anything – </a:t>
            </a:r>
            <a:r>
              <a:rPr lang="en-US" sz="2400" b="1" i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action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Cannot look up the account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Cannot freeze the card,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Cannot file an incident report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5615D-C569-18C7-2128-D7E3A2130CC4}"/>
              </a:ext>
            </a:extLst>
          </p:cNvPr>
          <p:cNvSpPr txBox="1"/>
          <p:nvPr/>
        </p:nvSpPr>
        <p:spPr>
          <a:xfrm>
            <a:off x="148161" y="2448922"/>
            <a:ext cx="485360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 think someone </a:t>
            </a:r>
            <a:r>
              <a:rPr lang="en-US" sz="2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hacked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into my account.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My </a:t>
            </a:r>
            <a:r>
              <a:rPr lang="en-US" sz="2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account is compromised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There is </a:t>
            </a:r>
            <a:r>
              <a:rPr lang="en-US" sz="2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unauthorized access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to my account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4110E115-63C3-AB4F-9FF7-DBCEA96E8340}"/>
              </a:ext>
            </a:extLst>
          </p:cNvPr>
          <p:cNvSpPr/>
          <p:nvPr/>
        </p:nvSpPr>
        <p:spPr>
          <a:xfrm>
            <a:off x="4764024" y="3191256"/>
            <a:ext cx="521207" cy="4023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E2695D9-2C21-B702-E029-A429FB44CCE0}"/>
              </a:ext>
            </a:extLst>
          </p:cNvPr>
          <p:cNvSpPr/>
          <p:nvPr/>
        </p:nvSpPr>
        <p:spPr>
          <a:xfrm>
            <a:off x="7535991" y="3142488"/>
            <a:ext cx="521207" cy="4023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2640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2D49B-BEDB-4054-46CE-5FBD9A0FD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7815-C730-1611-7D14-27064D53A27E}"/>
              </a:ext>
            </a:extLst>
          </p:cNvPr>
          <p:cNvSpPr txBox="1"/>
          <p:nvPr/>
        </p:nvSpPr>
        <p:spPr>
          <a:xfrm>
            <a:off x="64008" y="153198"/>
            <a:ext cx="110185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Generation 3: The Autonomous AI Agent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understands language like the LLM chatbot — but it also can </a:t>
            </a:r>
            <a:r>
              <a:rPr lang="en-US" sz="2400" b="1" i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perform actions 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349DBA5-E065-0BBF-F9DC-987FABBEF47B}"/>
              </a:ext>
            </a:extLst>
          </p:cNvPr>
          <p:cNvSpPr/>
          <p:nvPr/>
        </p:nvSpPr>
        <p:spPr>
          <a:xfrm>
            <a:off x="3328416" y="1775722"/>
            <a:ext cx="2679192" cy="13533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Agent</a:t>
            </a:r>
          </a:p>
          <a:p>
            <a:pPr algn="ctr"/>
            <a:r>
              <a:rPr lang="en-US" dirty="0"/>
              <a:t>LLM + Tools + Memory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2E4181-569F-13DA-F861-E45F67C4BCD8}"/>
              </a:ext>
            </a:extLst>
          </p:cNvPr>
          <p:cNvSpPr txBox="1"/>
          <p:nvPr/>
        </p:nvSpPr>
        <p:spPr>
          <a:xfrm>
            <a:off x="-13716" y="1899720"/>
            <a:ext cx="35021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Customer says:</a:t>
            </a:r>
          </a:p>
          <a:p>
            <a:r>
              <a:rPr lang="en-US" sz="2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 think someone hacked my account,….</a:t>
            </a:r>
            <a:endParaRPr lang="en-IN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79ECE2-A1DB-A5F2-A60A-CEE53D0F6F24}"/>
              </a:ext>
            </a:extLst>
          </p:cNvPr>
          <p:cNvSpPr txBox="1"/>
          <p:nvPr/>
        </p:nvSpPr>
        <p:spPr>
          <a:xfrm>
            <a:off x="6567678" y="1559820"/>
            <a:ext cx="556412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Agent can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simultaneously pull the account transaction history,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cross-reference it with fraud signals,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temporarily freeze the card,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send a confirmation SMS,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open a support ticket,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draft a case summary for the fraud team 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37DE898-B8E2-3A16-0D78-208FDFB0CEE6}"/>
              </a:ext>
            </a:extLst>
          </p:cNvPr>
          <p:cNvSpPr/>
          <p:nvPr/>
        </p:nvSpPr>
        <p:spPr>
          <a:xfrm>
            <a:off x="6096000" y="2049595"/>
            <a:ext cx="396240" cy="4154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7E39D2F-F9F6-0A2F-E5BA-DE6A149A2085}"/>
              </a:ext>
            </a:extLst>
          </p:cNvPr>
          <p:cNvSpPr/>
          <p:nvPr/>
        </p:nvSpPr>
        <p:spPr>
          <a:xfrm>
            <a:off x="2894457" y="2003741"/>
            <a:ext cx="396240" cy="4154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E6A703-FD30-541C-E2CE-F961C0D1BE2F}"/>
              </a:ext>
            </a:extLst>
          </p:cNvPr>
          <p:cNvSpPr txBox="1"/>
          <p:nvPr/>
        </p:nvSpPr>
        <p:spPr>
          <a:xfrm>
            <a:off x="514350" y="5646974"/>
            <a:ext cx="99921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key shift:  Agent's job isn't to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— it is to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resolve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45105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018E7A2-ACBA-1394-8855-0E8750AA2C1F}"/>
              </a:ext>
            </a:extLst>
          </p:cNvPr>
          <p:cNvSpPr txBox="1"/>
          <p:nvPr/>
        </p:nvSpPr>
        <p:spPr>
          <a:xfrm>
            <a:off x="292608" y="528288"/>
            <a:ext cx="93360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an autonomous software system designed to 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perceive its environment, 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make independent decisions, and 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tools to achieve a specific goal.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 operates on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"Think-Plan-Act" loop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81AFBC-CFD4-FAE6-78FB-5444EC7382A7}"/>
              </a:ext>
            </a:extLst>
          </p:cNvPr>
          <p:cNvSpPr/>
          <p:nvPr/>
        </p:nvSpPr>
        <p:spPr>
          <a:xfrm>
            <a:off x="2935224" y="3904488"/>
            <a:ext cx="5266944" cy="2705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3600" dirty="0"/>
              <a:t>AI Agent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8C7C3BF-7B99-7282-7262-4AC206BD3DAC}"/>
              </a:ext>
            </a:extLst>
          </p:cNvPr>
          <p:cNvSpPr/>
          <p:nvPr/>
        </p:nvSpPr>
        <p:spPr>
          <a:xfrm>
            <a:off x="3065781" y="5348040"/>
            <a:ext cx="966724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EFE5BEB-850F-7F50-6FE1-0696184AF3CE}"/>
              </a:ext>
            </a:extLst>
          </p:cNvPr>
          <p:cNvSpPr/>
          <p:nvPr/>
        </p:nvSpPr>
        <p:spPr>
          <a:xfrm>
            <a:off x="5954522" y="5170814"/>
            <a:ext cx="2051812" cy="121645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Tools:</a:t>
            </a:r>
          </a:p>
          <a:p>
            <a:pPr algn="ctr"/>
            <a:r>
              <a:rPr lang="en-US" dirty="0"/>
              <a:t>Web-search,</a:t>
            </a:r>
          </a:p>
          <a:p>
            <a:pPr algn="ctr"/>
            <a:r>
              <a:rPr lang="en-US" dirty="0"/>
              <a:t>Calculator, etc.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FF36849-3913-0948-3394-AC539C130CB3}"/>
              </a:ext>
            </a:extLst>
          </p:cNvPr>
          <p:cNvSpPr/>
          <p:nvPr/>
        </p:nvSpPr>
        <p:spPr>
          <a:xfrm>
            <a:off x="4230878" y="5383715"/>
            <a:ext cx="1527810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95ED62-B95B-D484-EFD2-FEA9704B8D3C}"/>
              </a:ext>
            </a:extLst>
          </p:cNvPr>
          <p:cNvSpPr txBox="1"/>
          <p:nvPr/>
        </p:nvSpPr>
        <p:spPr>
          <a:xfrm>
            <a:off x="114300" y="3220177"/>
            <a:ext cx="85633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Architecture of a single AI agent (3 main components)</a:t>
            </a:r>
          </a:p>
        </p:txBody>
      </p:sp>
    </p:spTree>
    <p:extLst>
      <p:ext uri="{BB962C8B-B14F-4D97-AF65-F5344CB8AC3E}">
        <p14:creationId xmlns:p14="http://schemas.microsoft.com/office/powerpoint/2010/main" val="363206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F9C59-1F1D-40E5-CCB2-84DF2EF5E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9B10E52-E754-AAC0-04B5-8596AFFF6DFB}"/>
              </a:ext>
            </a:extLst>
          </p:cNvPr>
          <p:cNvSpPr txBox="1"/>
          <p:nvPr/>
        </p:nvSpPr>
        <p:spPr>
          <a:xfrm>
            <a:off x="124968" y="269024"/>
            <a:ext cx="110185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Summarize with an 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Customer: "I haven't received my refund from 6 days ago and I'm really frustrated."</a:t>
            </a:r>
            <a:endParaRPr lang="en-US" sz="3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19BC48-95C9-6F13-D52E-8A0D99B75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68" y="1207747"/>
            <a:ext cx="3033334" cy="41316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0F11D7-5E7A-347B-929B-BCEE40924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974" y="1235179"/>
            <a:ext cx="3185930" cy="47096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F901DD5-4B54-85E7-A0D7-E7970C469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3577" y="1235179"/>
            <a:ext cx="2838846" cy="5353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074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F76BF-E8B3-60C7-9DF5-724AF376F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2F45271-8DB7-2DFF-655B-92DB9E79194D}"/>
              </a:ext>
            </a:extLst>
          </p:cNvPr>
          <p:cNvSpPr txBox="1"/>
          <p:nvPr/>
        </p:nvSpPr>
        <p:spPr>
          <a:xfrm>
            <a:off x="60960" y="70902"/>
            <a:ext cx="11018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Another example of AI Agent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0BEF3D-A032-1FC8-37F4-CAC3624939E8}"/>
              </a:ext>
            </a:extLst>
          </p:cNvPr>
          <p:cNvSpPr txBox="1"/>
          <p:nvPr/>
        </p:nvSpPr>
        <p:spPr>
          <a:xfrm>
            <a:off x="158496" y="1969806"/>
            <a:ext cx="32156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Book me cheapest Delta Airlines flight from New York To Moscow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841CA2-65D8-F887-C909-61A07DD21C58}"/>
              </a:ext>
            </a:extLst>
          </p:cNvPr>
          <p:cNvSpPr/>
          <p:nvPr/>
        </p:nvSpPr>
        <p:spPr>
          <a:xfrm>
            <a:off x="3943350" y="1978561"/>
            <a:ext cx="3150108" cy="13533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Agent</a:t>
            </a:r>
          </a:p>
          <a:p>
            <a:pPr algn="ctr"/>
            <a:r>
              <a:rPr lang="en-US" sz="2400" dirty="0"/>
              <a:t>LLM + Tools + Memory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B6DCB7-6105-1CC4-C052-399CCD35688A}"/>
              </a:ext>
            </a:extLst>
          </p:cNvPr>
          <p:cNvSpPr txBox="1"/>
          <p:nvPr/>
        </p:nvSpPr>
        <p:spPr>
          <a:xfrm>
            <a:off x="4093464" y="3456874"/>
            <a:ext cx="400507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Search Flights</a:t>
            </a:r>
          </a:p>
          <a:p>
            <a:pPr marL="514350" indent="-514350"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Find the cheapest flight</a:t>
            </a:r>
          </a:p>
          <a:p>
            <a:pPr marL="514350" indent="-514350"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Book the ticket</a:t>
            </a:r>
          </a:p>
          <a:p>
            <a:pPr marL="514350" indent="-514350"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Sends you an E-mail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8E75FF5-DC82-EE72-76D4-47B9AD25539F}"/>
              </a:ext>
            </a:extLst>
          </p:cNvPr>
          <p:cNvSpPr/>
          <p:nvPr/>
        </p:nvSpPr>
        <p:spPr>
          <a:xfrm>
            <a:off x="3424428" y="2436148"/>
            <a:ext cx="411480" cy="4206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029E2EF-E72F-9436-68E9-AF6A86EF9ADD}"/>
              </a:ext>
            </a:extLst>
          </p:cNvPr>
          <p:cNvSpPr/>
          <p:nvPr/>
        </p:nvSpPr>
        <p:spPr>
          <a:xfrm>
            <a:off x="3983736" y="700951"/>
            <a:ext cx="2679192" cy="52322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Expedia</a:t>
            </a:r>
          </a:p>
        </p:txBody>
      </p:sp>
      <p:sp>
        <p:nvSpPr>
          <p:cNvPr id="12" name="Arrow: Up-Down 11">
            <a:extLst>
              <a:ext uri="{FF2B5EF4-FFF2-40B4-BE49-F238E27FC236}">
                <a16:creationId xmlns:a16="http://schemas.microsoft.com/office/drawing/2014/main" id="{0AA73220-4825-48F3-257A-83AE1CDCB7FA}"/>
              </a:ext>
            </a:extLst>
          </p:cNvPr>
          <p:cNvSpPr/>
          <p:nvPr/>
        </p:nvSpPr>
        <p:spPr>
          <a:xfrm>
            <a:off x="5143500" y="1339756"/>
            <a:ext cx="374904" cy="523220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C6C44C-DBA6-2BC2-4227-20CFD19250DC}"/>
              </a:ext>
            </a:extLst>
          </p:cNvPr>
          <p:cNvSpPr txBox="1"/>
          <p:nvPr/>
        </p:nvSpPr>
        <p:spPr>
          <a:xfrm>
            <a:off x="5570220" y="1401311"/>
            <a:ext cx="13670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API calls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ADAE39-15B5-7D97-B616-159540850F20}"/>
              </a:ext>
            </a:extLst>
          </p:cNvPr>
          <p:cNvSpPr txBox="1"/>
          <p:nvPr/>
        </p:nvSpPr>
        <p:spPr>
          <a:xfrm>
            <a:off x="7936992" y="2046296"/>
            <a:ext cx="32156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Books cheapest Delta Airlines flight from New York To Moscow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C76CD573-3A13-26A5-0C53-612C854DC45B}"/>
              </a:ext>
            </a:extLst>
          </p:cNvPr>
          <p:cNvSpPr/>
          <p:nvPr/>
        </p:nvSpPr>
        <p:spPr>
          <a:xfrm>
            <a:off x="7200900" y="2377440"/>
            <a:ext cx="411480" cy="4206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0208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55DC5-7B47-CEE0-33C7-92ED93682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8FBAEF6-BDD8-6A48-289F-B48137D4B61E}"/>
              </a:ext>
            </a:extLst>
          </p:cNvPr>
          <p:cNvSpPr txBox="1"/>
          <p:nvPr/>
        </p:nvSpPr>
        <p:spPr>
          <a:xfrm>
            <a:off x="228600" y="272290"/>
            <a:ext cx="11430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 can </a:t>
            </a:r>
            <a:r>
              <a:rPr lang="en-US" sz="2800" b="1" i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</a:t>
            </a: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  <a:p>
            <a:pPr>
              <a:buNone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receives a goal, breaks it into steps, uses </a:t>
            </a:r>
            <a:r>
              <a:rPr lang="en-US" sz="28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tools</a:t>
            </a: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(web search, code execution, APIs), checks its own output, and iterates — all without a human driving every step.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73C5F2-CF75-13AC-9758-9C3197737211}"/>
              </a:ext>
            </a:extLst>
          </p:cNvPr>
          <p:cNvSpPr/>
          <p:nvPr/>
        </p:nvSpPr>
        <p:spPr>
          <a:xfrm>
            <a:off x="2587752" y="3337560"/>
            <a:ext cx="3150108" cy="13533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Agent</a:t>
            </a:r>
          </a:p>
          <a:p>
            <a:pPr algn="ctr"/>
            <a:r>
              <a:rPr lang="en-US" sz="2400" dirty="0"/>
              <a:t>LLM + Tools + Memory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5B9301-16F9-0E28-0264-033798AFB8D5}"/>
              </a:ext>
            </a:extLst>
          </p:cNvPr>
          <p:cNvSpPr txBox="1"/>
          <p:nvPr/>
        </p:nvSpPr>
        <p:spPr>
          <a:xfrm>
            <a:off x="228600" y="3629160"/>
            <a:ext cx="16367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Goal / Task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ACE0F2-8DB3-2B41-6CDB-8272422C3491}"/>
              </a:ext>
            </a:extLst>
          </p:cNvPr>
          <p:cNvSpPr txBox="1"/>
          <p:nvPr/>
        </p:nvSpPr>
        <p:spPr>
          <a:xfrm>
            <a:off x="2433828" y="4769829"/>
            <a:ext cx="4005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Breaks task into smaller tasks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91DF13-EF5F-E320-06B9-129EFA7C3541}"/>
              </a:ext>
            </a:extLst>
          </p:cNvPr>
          <p:cNvSpPr/>
          <p:nvPr/>
        </p:nvSpPr>
        <p:spPr>
          <a:xfrm>
            <a:off x="2894076" y="2291120"/>
            <a:ext cx="2679192" cy="52322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Web search, Code Execution, API call</a:t>
            </a:r>
          </a:p>
        </p:txBody>
      </p:sp>
      <p:sp>
        <p:nvSpPr>
          <p:cNvPr id="12" name="Arrow: Up-Down 11">
            <a:extLst>
              <a:ext uri="{FF2B5EF4-FFF2-40B4-BE49-F238E27FC236}">
                <a16:creationId xmlns:a16="http://schemas.microsoft.com/office/drawing/2014/main" id="{53108634-64DD-37B1-6296-D04CE227F2A8}"/>
              </a:ext>
            </a:extLst>
          </p:cNvPr>
          <p:cNvSpPr/>
          <p:nvPr/>
        </p:nvSpPr>
        <p:spPr>
          <a:xfrm>
            <a:off x="3944112" y="2814340"/>
            <a:ext cx="374904" cy="523220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34CF6C-C843-7EB7-C0A9-7A1580270165}"/>
              </a:ext>
            </a:extLst>
          </p:cNvPr>
          <p:cNvSpPr txBox="1"/>
          <p:nvPr/>
        </p:nvSpPr>
        <p:spPr>
          <a:xfrm>
            <a:off x="6306312" y="3629160"/>
            <a:ext cx="16367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Task done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5852A351-D286-117B-92DB-57672AA04D2A}"/>
              </a:ext>
            </a:extLst>
          </p:cNvPr>
          <p:cNvSpPr/>
          <p:nvPr/>
        </p:nvSpPr>
        <p:spPr>
          <a:xfrm>
            <a:off x="1865376" y="3629160"/>
            <a:ext cx="568452" cy="4616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00E04D5F-6F35-4088-C77E-17F290D1E3DA}"/>
              </a:ext>
            </a:extLst>
          </p:cNvPr>
          <p:cNvSpPr/>
          <p:nvPr/>
        </p:nvSpPr>
        <p:spPr>
          <a:xfrm>
            <a:off x="5775960" y="3629160"/>
            <a:ext cx="568452" cy="4616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6634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CE86D-EF25-800A-6BF1-CA6EE56C8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A38D18B-AE90-95C0-C949-64200AEC9E22}"/>
              </a:ext>
            </a:extLst>
          </p:cNvPr>
          <p:cNvSpPr txBox="1"/>
          <p:nvPr/>
        </p:nvSpPr>
        <p:spPr>
          <a:xfrm>
            <a:off x="228600" y="1012954"/>
            <a:ext cx="1101852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Discussion for Class</a:t>
            </a:r>
          </a:p>
          <a:p>
            <a:endParaRPr lang="en-US" sz="28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"A bank deploys an autonomous agent that can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access accounts,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move money, and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close disputes </a:t>
            </a:r>
          </a:p>
          <a:p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— all without a human approving each action. </a:t>
            </a:r>
          </a:p>
          <a:p>
            <a:endParaRPr lang="en-US" sz="28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conditions would need to be true for you to trust that system ?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would make you distrust it ?"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65214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1194</TotalTime>
  <Words>646</Words>
  <Application>Microsoft Office PowerPoint</Application>
  <PresentationFormat>Widescreen</PresentationFormat>
  <Paragraphs>101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232</cp:revision>
  <dcterms:created xsi:type="dcterms:W3CDTF">2025-09-22T02:44:38Z</dcterms:created>
  <dcterms:modified xsi:type="dcterms:W3CDTF">2026-09-17T10:35:15Z</dcterms:modified>
</cp:coreProperties>
</file>