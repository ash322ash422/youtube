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132588" y="57108"/>
            <a:ext cx="111262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Agentic AI?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rule-based.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exactly what it's told, nothing more.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BFC98-B6B5-5C18-E06B-A03C5E5E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0EF223-1719-D856-B504-E346D618FF37}"/>
              </a:ext>
            </a:extLst>
          </p:cNvPr>
          <p:cNvSpPr txBox="1"/>
          <p:nvPr/>
        </p:nvSpPr>
        <p:spPr>
          <a:xfrm>
            <a:off x="132588" y="1620732"/>
            <a:ext cx="112466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spam filter, a chess engine, a recommendation algorithm — these are trained or programmed for one narrow task.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have no understanding of context beyond their domain.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A484-8182-7037-ACC6-A51599B7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5D66CE7-E24A-B173-73CE-8393FF8D8C02}"/>
              </a:ext>
            </a:extLst>
          </p:cNvPr>
          <p:cNvSpPr txBox="1"/>
          <p:nvPr/>
        </p:nvSpPr>
        <p:spPr>
          <a:xfrm>
            <a:off x="252989" y="124224"/>
            <a:ext cx="111262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Generative AI (GenAI):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like GPT-4 or Claude can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new content — text, images, code — by learning patterns from vast data.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they are fundamentally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reactive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You prompt them, they respond. They have no memory of yesterday, no ability to go check a website, no way to take an action in the world.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73D05-4D79-868F-59A3-373C0AAD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9C1B-85E8-237F-1392-30A27B55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D858AE-5893-DF28-2927-D0A190B4B226}"/>
              </a:ext>
            </a:extLst>
          </p:cNvPr>
          <p:cNvSpPr txBox="1"/>
          <p:nvPr/>
        </p:nvSpPr>
        <p:spPr>
          <a:xfrm>
            <a:off x="252989" y="124224"/>
            <a:ext cx="111262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Agentic AI: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that can act. It receives a goal, breaks it into steps, uses tools (web search, code execution, APIs), checks its own output, and iterates — all without a human driving every step.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Agent that opens your laptop, run a search on email, draft response for an email, and send it — autonomously.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BFAA4-4C0B-EA71-2E62-7F13A27C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6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A58B-47E9-2B8D-6DC3-4C4D6592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2ACAD39-F320-0274-C139-4096BA22656F}"/>
              </a:ext>
            </a:extLst>
          </p:cNvPr>
          <p:cNvSpPr txBox="1"/>
          <p:nvPr/>
        </p:nvSpPr>
        <p:spPr>
          <a:xfrm>
            <a:off x="252989" y="124224"/>
            <a:ext cx="1112621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The Four Pillars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decomposition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Given a high-level objective, the agent breaks it into subtasks automatically.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are connected to the world: they can browse the web, run code, query databases, call APIs, read files, send emails. 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Unlike a standard LLM that forgets between sessions, agents can maintain short-term context (what they've done in this task) and often access long-term memory (a database of past interactions or documents).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loops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can evaluate their own outputs, notice errors, and retry. A coding agent that writes code will also run it, read the error, fix the bug, and run it again.</a:t>
            </a:r>
          </a:p>
        </p:txBody>
      </p:sp>
    </p:spTree>
    <p:extLst>
      <p:ext uri="{BB962C8B-B14F-4D97-AF65-F5344CB8AC3E}">
        <p14:creationId xmlns:p14="http://schemas.microsoft.com/office/powerpoint/2010/main" val="376697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F57D-7809-C5C8-0691-1C48B253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FF540C-3788-0834-CBD3-93073BC489EF}"/>
              </a:ext>
            </a:extLst>
          </p:cNvPr>
          <p:cNvSpPr txBox="1"/>
          <p:nvPr/>
        </p:nvSpPr>
        <p:spPr>
          <a:xfrm>
            <a:off x="252989" y="124224"/>
            <a:ext cx="111262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Case: Agentic AI for Real-Time Fraud Detection &amp; Response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Business Problem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traditional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bank or payment company processes millions of transactions daily. Old-school fraud detection uses static rules — "flag any transaction over ₹1,00,000" or "block if card used in two countries within 1 hour." These rules are rigid: fraudsters learn to work around them, and legitimate customers get wrongly blocked.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static LLM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help analysts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fraud patterns when asked — but it can't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a live transaction in real time, can't pull the customer's history, can't freeze an account, and can't learn from new fraud signals.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agentic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system changes all of this.</a:t>
            </a:r>
          </a:p>
        </p:txBody>
      </p:sp>
    </p:spTree>
    <p:extLst>
      <p:ext uri="{BB962C8B-B14F-4D97-AF65-F5344CB8AC3E}">
        <p14:creationId xmlns:p14="http://schemas.microsoft.com/office/powerpoint/2010/main" val="300013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9606-8BCD-E11A-2EBA-DFD809B7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3A8ED8-072D-BFD4-9B49-C611DCBA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3E6B1-DE38-B421-07AC-63864E782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CD4093-C9D0-E7AF-E414-540D45B8C570}"/>
              </a:ext>
            </a:extLst>
          </p:cNvPr>
          <p:cNvSpPr txBox="1"/>
          <p:nvPr/>
        </p:nvSpPr>
        <p:spPr>
          <a:xfrm>
            <a:off x="114300" y="266178"/>
            <a:ext cx="55184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Transaction arrives.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$ 85,000 transfer is initiated at 2:14 AM to an unfamiliar merchant.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rule-based system flags it with a risk score of 78/100 — above the threshold for agent activation.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Agent spins up.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a static rule simply blocking or allowing, an agentic AI wakes up. It receives the transaction object as its "goal":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whether this is fraudulent and take appropriate action.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93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07A6-FD45-A157-EEB2-3F2BCB1B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B4F951-9C01-2B92-4EB6-90E3D9EF8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00987-BF7D-1EB8-C578-2692B6E42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A4D9C5-537B-BC68-5BD2-8742A588074A}"/>
              </a:ext>
            </a:extLst>
          </p:cNvPr>
          <p:cNvSpPr txBox="1"/>
          <p:nvPr/>
        </p:nvSpPr>
        <p:spPr>
          <a:xfrm>
            <a:off x="114299" y="266178"/>
            <a:ext cx="568897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Parallel tool calls.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simultaneously calls multiple tools without any human driving each call. It might be querying six systems in under a second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customer's 18-month transaction history,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device fingerprint database (is this the same phone the customer usually uses?),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geo-velocity API (was the card used in Mumbai 40 minutes ago?),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merchant's risk category,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dark web credential watchlist,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peer behavior model comparing this customer to similar profiles.</a:t>
            </a:r>
          </a:p>
        </p:txBody>
      </p:sp>
    </p:spTree>
    <p:extLst>
      <p:ext uri="{BB962C8B-B14F-4D97-AF65-F5344CB8AC3E}">
        <p14:creationId xmlns:p14="http://schemas.microsoft.com/office/powerpoint/2010/main" val="151680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C68D-85E8-D412-2BC0-646BFF977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C6ADA-24B7-5F92-B91B-64E2E5BE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72D132-EEFC-9227-01E0-48883C05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12D03E-3061-D4CC-8EF8-EE3E37CAAE95}"/>
              </a:ext>
            </a:extLst>
          </p:cNvPr>
          <p:cNvSpPr txBox="1"/>
          <p:nvPr/>
        </p:nvSpPr>
        <p:spPr>
          <a:xfrm>
            <a:off x="114299" y="266178"/>
            <a:ext cx="568897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Synthesis.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doesn't just receive raw outputs — it reasons across them.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"Device fingerprint matches.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geo-velocity is impossible — card was scanned in Pune 35 minutes ago.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Merchant is in a high-risk category. Customer has never transacted past midnight."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produces a combined fraud probability.</a:t>
            </a:r>
          </a:p>
        </p:txBody>
      </p:sp>
    </p:spTree>
    <p:extLst>
      <p:ext uri="{BB962C8B-B14F-4D97-AF65-F5344CB8AC3E}">
        <p14:creationId xmlns:p14="http://schemas.microsoft.com/office/powerpoint/2010/main" val="16078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75F40-DE8D-C7DF-9037-0B98736F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8AD32-446F-4B31-F717-75AB7738C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38FE3-D5BF-5DD9-5F11-B0F1A556C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401DC-C1E3-E353-04F2-D0B7B3406665}"/>
              </a:ext>
            </a:extLst>
          </p:cNvPr>
          <p:cNvSpPr txBox="1"/>
          <p:nvPr/>
        </p:nvSpPr>
        <p:spPr>
          <a:xfrm>
            <a:off x="114299" y="266178"/>
            <a:ext cx="568897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 &amp; 6 — Tiered action.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confidence, the agent takes a calibrated response.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confidence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(&gt;90%) means autonomous block, account freeze, and customer SMS notification — no human in the loop needed.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Medium confidence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triggers a human review queue with the agent's full reasoning attached.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confidence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simply approves and logs for pattern monitoring.</a:t>
            </a:r>
          </a:p>
        </p:txBody>
      </p:sp>
    </p:spTree>
    <p:extLst>
      <p:ext uri="{BB962C8B-B14F-4D97-AF65-F5344CB8AC3E}">
        <p14:creationId xmlns:p14="http://schemas.microsoft.com/office/powerpoint/2010/main" val="156503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BEC9-5D54-41A7-5852-3D01A0F9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3D2F0-794B-ABFA-CEE4-CE172691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89FAE7-F8A6-1547-B80D-024592F5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30D605-5542-5AFC-EA12-9DAB8DDB7110}"/>
              </a:ext>
            </a:extLst>
          </p:cNvPr>
          <p:cNvSpPr txBox="1"/>
          <p:nvPr/>
        </p:nvSpPr>
        <p:spPr>
          <a:xfrm>
            <a:off x="114299" y="266178"/>
            <a:ext cx="56889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7 — Feedback loop.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outcome — whether the human reviewer confirmed fraud or cleared it — is written back into the training pipeline.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gets smarter with every case.</a:t>
            </a:r>
          </a:p>
        </p:txBody>
      </p:sp>
    </p:spTree>
    <p:extLst>
      <p:ext uri="{BB962C8B-B14F-4D97-AF65-F5344CB8AC3E}">
        <p14:creationId xmlns:p14="http://schemas.microsoft.com/office/powerpoint/2010/main" val="377222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FF61-6F30-16B6-0DB8-83DF53C2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9B9FCB-FC4C-51B2-5983-4D611FBBD290}"/>
              </a:ext>
            </a:extLst>
          </p:cNvPr>
          <p:cNvSpPr txBox="1"/>
          <p:nvPr/>
        </p:nvSpPr>
        <p:spPr>
          <a:xfrm>
            <a:off x="114299" y="266178"/>
            <a:ext cx="1162659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Companies Doing This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Several fintech firms have deployed systems that embody this architecture.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Stripe's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fraud prevention platform uses ML-driven decisioning that operates at the millisecond level, automatically adjusting to new fraud patterns without rule updates.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PayPal's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risk engine processes over 40 signals per transaction autonomously.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Klarna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has deployed AI agents that handle both fraud investigation and customer service resolutions end-to-end — in their public reporting they noted a dramatic reduction in repeat inquiries after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India, the UPI ecosystem — handling over 10 billion transactions monthly — has fintech companies 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Razorpay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PhonePe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building agentic layers on top of NPCI's fraud flags, extending the basic rules with contextual, multi-signal reasoning.</a:t>
            </a:r>
          </a:p>
        </p:txBody>
      </p:sp>
    </p:spTree>
    <p:extLst>
      <p:ext uri="{BB962C8B-B14F-4D97-AF65-F5344CB8AC3E}">
        <p14:creationId xmlns:p14="http://schemas.microsoft.com/office/powerpoint/2010/main" val="2387131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1153</TotalTime>
  <Words>913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2026-04-28T09:16:04Z</dcterms:modified>
</cp:coreProperties>
</file>