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7" r:id="rId2"/>
    <p:sldId id="275" r:id="rId3"/>
    <p:sldId id="281" r:id="rId4"/>
    <p:sldId id="258" r:id="rId5"/>
    <p:sldId id="260" r:id="rId6"/>
    <p:sldId id="261" r:id="rId7"/>
    <p:sldId id="293" r:id="rId8"/>
    <p:sldId id="262" r:id="rId9"/>
    <p:sldId id="263" r:id="rId10"/>
    <p:sldId id="264" r:id="rId11"/>
    <p:sldId id="280" r:id="rId12"/>
    <p:sldId id="276" r:id="rId13"/>
    <p:sldId id="277" r:id="rId14"/>
    <p:sldId id="278"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102"/>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4/26/2026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4/26/2026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4/26/2026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4/26/2026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477520" y="1003776"/>
            <a:ext cx="10292080" cy="461665"/>
          </a:xfrm>
          <a:prstGeom prst="rect">
            <a:avLst/>
          </a:prstGeom>
          <a:noFill/>
        </p:spPr>
        <p:txBody>
          <a:bodyPr wrap="square">
            <a:spAutoFit/>
          </a:bodyPr>
          <a:lstStyle/>
          <a:p>
            <a:pPr algn="ctr">
              <a:buNone/>
            </a:pPr>
            <a:r>
              <a:rPr lang="en-US" sz="2400" dirty="0">
                <a:solidFill>
                  <a:schemeClr val="accent6">
                    <a:lumMod val="60000"/>
                    <a:lumOff val="40000"/>
                  </a:schemeClr>
                </a:solidFill>
              </a:rPr>
              <a:t>AI Agents</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9040" y="3257172"/>
            <a:ext cx="5089410" cy="3333605"/>
          </a:xfrm>
          <a:prstGeom prst="rect">
            <a:avLst/>
          </a:prstGeom>
        </p:spPr>
      </p:pic>
      <p:sp>
        <p:nvSpPr>
          <p:cNvPr id="6" name="TextBox 5">
            <a:extLst>
              <a:ext uri="{FF2B5EF4-FFF2-40B4-BE49-F238E27FC236}">
                <a16:creationId xmlns:a16="http://schemas.microsoft.com/office/drawing/2014/main" id="{66E85B77-C99A-799C-385F-35F72F3F306D}"/>
              </a:ext>
            </a:extLst>
          </p:cNvPr>
          <p:cNvSpPr txBox="1"/>
          <p:nvPr/>
        </p:nvSpPr>
        <p:spPr>
          <a:xfrm>
            <a:off x="64008" y="111264"/>
            <a:ext cx="11393424" cy="1938992"/>
          </a:xfrm>
          <a:prstGeom prst="rect">
            <a:avLst/>
          </a:prstGeom>
          <a:noFill/>
        </p:spPr>
        <p:txBody>
          <a:bodyPr wrap="square">
            <a:spAutoFit/>
          </a:bodyPr>
          <a:lstStyle/>
          <a:p>
            <a:pPr marL="0" indent="0">
              <a:buNone/>
            </a:pPr>
            <a:r>
              <a:rPr lang="en-US" sz="2400" dirty="0">
                <a:solidFill>
                  <a:schemeClr val="accent6">
                    <a:lumMod val="60000"/>
                    <a:lumOff val="40000"/>
                  </a:schemeClr>
                </a:solidFill>
              </a:rPr>
              <a:t>AI Agents are AI systems that can autonomously execute tasks by making decisions about </a:t>
            </a:r>
            <a:r>
              <a:rPr lang="en-US" sz="2400" b="1" dirty="0">
                <a:solidFill>
                  <a:schemeClr val="accent6">
                    <a:lumMod val="60000"/>
                    <a:lumOff val="40000"/>
                  </a:schemeClr>
                </a:solidFill>
              </a:rPr>
              <a:t>tool</a:t>
            </a:r>
            <a:r>
              <a:rPr lang="en-US" sz="2400" dirty="0">
                <a:solidFill>
                  <a:schemeClr val="accent6">
                    <a:lumMod val="60000"/>
                    <a:lumOff val="40000"/>
                  </a:schemeClr>
                </a:solidFill>
              </a:rPr>
              <a:t> usage and process flow. Unlike traditional automation that follows predefined paths, </a:t>
            </a:r>
            <a:r>
              <a:rPr lang="en-US" sz="2400" b="1" dirty="0">
                <a:solidFill>
                  <a:schemeClr val="accent6">
                    <a:lumMod val="60000"/>
                    <a:lumOff val="40000"/>
                  </a:schemeClr>
                </a:solidFill>
              </a:rPr>
              <a:t>agents can dynamically adapt </a:t>
            </a:r>
            <a:r>
              <a:rPr lang="en-US" sz="2400" dirty="0">
                <a:solidFill>
                  <a:schemeClr val="accent6">
                    <a:lumMod val="60000"/>
                    <a:lumOff val="40000"/>
                  </a:schemeClr>
                </a:solidFill>
              </a:rPr>
              <a:t>their approach based on context and intermediate results. </a:t>
            </a:r>
          </a:p>
          <a:p>
            <a:pPr marL="0" indent="0">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Agents can collaborate</a:t>
            </a:r>
            <a:r>
              <a:rPr lang="en-US" sz="2400" dirty="0">
                <a:solidFill>
                  <a:schemeClr val="accent6">
                    <a:lumMod val="60000"/>
                    <a:lumOff val="40000"/>
                  </a:schemeClr>
                </a:solidFill>
              </a:rPr>
              <a:t> to achieve the goal.</a:t>
            </a:r>
          </a:p>
        </p:txBody>
      </p:sp>
      <p:sp>
        <p:nvSpPr>
          <p:cNvPr id="10" name="TextBox 9">
            <a:extLst>
              <a:ext uri="{FF2B5EF4-FFF2-40B4-BE49-F238E27FC236}">
                <a16:creationId xmlns:a16="http://schemas.microsoft.com/office/drawing/2014/main" id="{43EA4BD5-001F-8A2C-FF62-98C54521677F}"/>
              </a:ext>
            </a:extLst>
          </p:cNvPr>
          <p:cNvSpPr txBox="1"/>
          <p:nvPr/>
        </p:nvSpPr>
        <p:spPr>
          <a:xfrm>
            <a:off x="64008" y="2803851"/>
            <a:ext cx="7165032" cy="3785652"/>
          </a:xfrm>
          <a:prstGeom prst="rect">
            <a:avLst/>
          </a:prstGeom>
          <a:noFill/>
        </p:spPr>
        <p:txBody>
          <a:bodyPr wrap="square">
            <a:spAutoFit/>
          </a:bodyPr>
          <a:lstStyle/>
          <a:p>
            <a:pPr marL="0" indent="0">
              <a:buNone/>
            </a:pPr>
            <a:r>
              <a:rPr lang="en-US" sz="2400" dirty="0">
                <a:solidFill>
                  <a:schemeClr val="accent6">
                    <a:lumMod val="60000"/>
                    <a:lumOff val="40000"/>
                  </a:schemeClr>
                </a:solidFill>
              </a:rPr>
              <a:t>AI agent are capable of executing a given task </a:t>
            </a:r>
            <a:r>
              <a:rPr lang="en-US" sz="2400" b="1" dirty="0">
                <a:solidFill>
                  <a:schemeClr val="accent6">
                    <a:lumMod val="60000"/>
                    <a:lumOff val="40000"/>
                  </a:schemeClr>
                </a:solidFill>
              </a:rPr>
              <a:t>without ongoing direct human intervention</a:t>
            </a:r>
            <a:r>
              <a:rPr lang="en-US" sz="2400" dirty="0">
                <a:solidFill>
                  <a:schemeClr val="accent6">
                    <a:lumMod val="60000"/>
                    <a:lumOff val="40000"/>
                  </a:schemeClr>
                </a:solidFill>
              </a:rPr>
              <a:t>. When assigned an objective, an AI agent will perceive its environment, assess the tools at its disposal, and formulate a plan to achieve its given goal.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Agents</a:t>
            </a:r>
            <a:r>
              <a:rPr lang="en-US" sz="2400" dirty="0">
                <a:solidFill>
                  <a:schemeClr val="accent6">
                    <a:lumMod val="60000"/>
                    <a:lumOff val="40000"/>
                  </a:schemeClr>
                </a:solidFill>
              </a:rPr>
              <a:t> → non-linear, non-deterministic (can change from run to run)</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Workflows</a:t>
            </a:r>
            <a:r>
              <a:rPr lang="en-US" sz="2400" dirty="0">
                <a:solidFill>
                  <a:schemeClr val="accent6">
                    <a:lumMod val="60000"/>
                    <a:lumOff val="40000"/>
                  </a:schemeClr>
                </a:solidFill>
              </a:rPr>
              <a:t> → linear, deterministic execution paths</a:t>
            </a:r>
          </a:p>
        </p:txBody>
      </p:sp>
    </p:spTree>
    <p:extLst>
      <p:ext uri="{BB962C8B-B14F-4D97-AF65-F5344CB8AC3E}">
        <p14:creationId xmlns:p14="http://schemas.microsoft.com/office/powerpoint/2010/main" val="294421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4"/>
            <a:ext cx="10515600" cy="649943"/>
          </a:xfrm>
        </p:spPr>
        <p:txBody>
          <a:bodyPr>
            <a:normAutofit/>
          </a:bodyPr>
          <a:lstStyle/>
          <a:p>
            <a:r>
              <a:rPr lang="en-US" sz="3600" b="1" dirty="0"/>
              <a:t>Example: booking vacations(p1)</a:t>
            </a:r>
          </a:p>
        </p:txBody>
      </p:sp>
      <p:sp>
        <p:nvSpPr>
          <p:cNvPr id="3" name="Content Placeholder 2"/>
          <p:cNvSpPr>
            <a:spLocks noGrp="1"/>
          </p:cNvSpPr>
          <p:nvPr>
            <p:ph idx="1"/>
          </p:nvPr>
        </p:nvSpPr>
        <p:spPr>
          <a:xfrm>
            <a:off x="251670" y="986725"/>
            <a:ext cx="11635530" cy="1152467"/>
          </a:xfrm>
        </p:spPr>
        <p:txBody>
          <a:bodyPr>
            <a:normAutofit/>
          </a:bodyPr>
          <a:lstStyle/>
          <a:p>
            <a:pPr marL="0" indent="0">
              <a:buNone/>
            </a:pPr>
            <a:r>
              <a:rPr lang="en-US" sz="2000" dirty="0"/>
              <a:t>Lets illustrate how an agent works within a context like booking a vacation.</a:t>
            </a:r>
          </a:p>
          <a:p>
            <a:pPr marL="0" indent="0">
              <a:buNone/>
            </a:pPr>
            <a:r>
              <a:rPr lang="en-US" sz="2000" dirty="0"/>
              <a:t>Imagine you're trying to book a vacation. You need to research flights, find hotels, check restaurant reviews, and keep track of your budget.</a:t>
            </a:r>
          </a:p>
          <a:p>
            <a:endParaRPr lang="en-US" sz="2000" dirty="0"/>
          </a:p>
        </p:txBody>
      </p:sp>
      <p:sp>
        <p:nvSpPr>
          <p:cNvPr id="4" name="TextBox 3"/>
          <p:cNvSpPr txBox="1"/>
          <p:nvPr/>
        </p:nvSpPr>
        <p:spPr>
          <a:xfrm>
            <a:off x="251670" y="2449583"/>
            <a:ext cx="11797900" cy="1477328"/>
          </a:xfrm>
          <a:prstGeom prst="rect">
            <a:avLst/>
          </a:prstGeom>
          <a:noFill/>
        </p:spPr>
        <p:txBody>
          <a:bodyPr wrap="square" rtlCol="0">
            <a:spAutoFit/>
          </a:bodyPr>
          <a:lstStyle/>
          <a:p>
            <a:r>
              <a:rPr lang="en-US" b="1" dirty="0">
                <a:solidFill>
                  <a:schemeClr val="accent6">
                    <a:lumMod val="60000"/>
                    <a:lumOff val="40000"/>
                  </a:schemeClr>
                </a:solidFill>
              </a:rPr>
              <a:t>Traditional workflow automation</a:t>
            </a:r>
            <a:endParaRPr lang="en-US" dirty="0">
              <a:solidFill>
                <a:schemeClr val="accent6">
                  <a:lumMod val="60000"/>
                  <a:lumOff val="40000"/>
                </a:schemeClr>
              </a:solidFill>
            </a:endParaRPr>
          </a:p>
          <a:p>
            <a:r>
              <a:rPr lang="en-US" dirty="0">
                <a:solidFill>
                  <a:schemeClr val="accent6">
                    <a:lumMod val="60000"/>
                    <a:lumOff val="40000"/>
                  </a:schemeClr>
                </a:solidFill>
              </a:rPr>
              <a:t>A traditional automation system follows a predetermined sequence: it can take inputs such as dates, location, and budget, and make calls to predefined APIs in a fixed order. However, if any unexpected situations arise, such as flights being sold out, or the specified hotels being unavailable, it cannot adapt.</a:t>
            </a:r>
          </a:p>
          <a:p>
            <a:endParaRPr lang="en-US" dirty="0">
              <a:solidFill>
                <a:schemeClr val="accent6">
                  <a:lumMod val="60000"/>
                  <a:lumOff val="40000"/>
                </a:schemeClr>
              </a:solidFill>
            </a:endParaRPr>
          </a:p>
        </p:txBody>
      </p:sp>
      <p:sp>
        <p:nvSpPr>
          <p:cNvPr id="5" name="Rectangle 4"/>
          <p:cNvSpPr/>
          <p:nvPr/>
        </p:nvSpPr>
        <p:spPr>
          <a:xfrm>
            <a:off x="5939412" y="398476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step2</a:t>
            </a:r>
          </a:p>
        </p:txBody>
      </p:sp>
      <p:sp>
        <p:nvSpPr>
          <p:cNvPr id="6" name="Rectangle 5"/>
          <p:cNvSpPr/>
          <p:nvPr/>
        </p:nvSpPr>
        <p:spPr>
          <a:xfrm>
            <a:off x="2199316" y="3986167"/>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Input</a:t>
            </a:r>
          </a:p>
        </p:txBody>
      </p:sp>
      <p:sp>
        <p:nvSpPr>
          <p:cNvPr id="7" name="Rectangle 6"/>
          <p:cNvSpPr/>
          <p:nvPr/>
        </p:nvSpPr>
        <p:spPr>
          <a:xfrm>
            <a:off x="4079850" y="396239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step1</a:t>
            </a:r>
          </a:p>
        </p:txBody>
      </p:sp>
      <p:sp>
        <p:nvSpPr>
          <p:cNvPr id="8" name="Rectangle 7"/>
          <p:cNvSpPr/>
          <p:nvPr/>
        </p:nvSpPr>
        <p:spPr>
          <a:xfrm>
            <a:off x="7621406" y="400574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step3</a:t>
            </a:r>
          </a:p>
        </p:txBody>
      </p:sp>
      <p:sp>
        <p:nvSpPr>
          <p:cNvPr id="9" name="Rectangle 8"/>
          <p:cNvSpPr/>
          <p:nvPr/>
        </p:nvSpPr>
        <p:spPr>
          <a:xfrm>
            <a:off x="9680906" y="398476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Output</a:t>
            </a:r>
          </a:p>
        </p:txBody>
      </p:sp>
      <p:sp>
        <p:nvSpPr>
          <p:cNvPr id="10" name="Right Arrow 9"/>
          <p:cNvSpPr/>
          <p:nvPr/>
        </p:nvSpPr>
        <p:spPr>
          <a:xfrm>
            <a:off x="3246539" y="4286773"/>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1" name="Right Arrow 10"/>
          <p:cNvSpPr/>
          <p:nvPr/>
        </p:nvSpPr>
        <p:spPr>
          <a:xfrm>
            <a:off x="5210963" y="4355283"/>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2" name="Right Arrow 11"/>
          <p:cNvSpPr/>
          <p:nvPr/>
        </p:nvSpPr>
        <p:spPr>
          <a:xfrm>
            <a:off x="6989431" y="4355283"/>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3" name="Right Arrow 12"/>
          <p:cNvSpPr/>
          <p:nvPr/>
        </p:nvSpPr>
        <p:spPr>
          <a:xfrm>
            <a:off x="8818233" y="4330116"/>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Tree>
    <p:extLst>
      <p:ext uri="{BB962C8B-B14F-4D97-AF65-F5344CB8AC3E}">
        <p14:creationId xmlns:p14="http://schemas.microsoft.com/office/powerpoint/2010/main" val="21285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4"/>
            <a:ext cx="10515600" cy="649943"/>
          </a:xfrm>
        </p:spPr>
        <p:txBody>
          <a:bodyPr>
            <a:normAutofit/>
          </a:bodyPr>
          <a:lstStyle/>
          <a:p>
            <a:r>
              <a:rPr lang="en-US" sz="3600" b="1" dirty="0"/>
              <a:t>Example: booking vacations(p3)</a:t>
            </a:r>
          </a:p>
        </p:txBody>
      </p:sp>
      <p:sp>
        <p:nvSpPr>
          <p:cNvPr id="4" name="TextBox 3"/>
          <p:cNvSpPr txBox="1"/>
          <p:nvPr/>
        </p:nvSpPr>
        <p:spPr>
          <a:xfrm>
            <a:off x="251670" y="1249956"/>
            <a:ext cx="11797900" cy="1754326"/>
          </a:xfrm>
          <a:prstGeom prst="rect">
            <a:avLst/>
          </a:prstGeom>
          <a:noFill/>
        </p:spPr>
        <p:txBody>
          <a:bodyPr wrap="square" rtlCol="0">
            <a:spAutoFit/>
          </a:bodyPr>
          <a:lstStyle/>
          <a:p>
            <a:r>
              <a:rPr lang="en-US" b="1" dirty="0">
                <a:solidFill>
                  <a:schemeClr val="accent6">
                    <a:lumMod val="60000"/>
                    <a:lumOff val="40000"/>
                  </a:schemeClr>
                </a:solidFill>
              </a:rPr>
              <a:t>Agent</a:t>
            </a:r>
            <a:endParaRPr lang="en-US" dirty="0">
              <a:solidFill>
                <a:schemeClr val="accent6">
                  <a:lumMod val="60000"/>
                  <a:lumOff val="40000"/>
                </a:schemeClr>
              </a:solidFill>
            </a:endParaRPr>
          </a:p>
          <a:p>
            <a:r>
              <a:rPr lang="en-US" dirty="0">
                <a:solidFill>
                  <a:schemeClr val="accent6">
                    <a:lumMod val="60000"/>
                    <a:lumOff val="40000"/>
                  </a:schemeClr>
                </a:solidFill>
              </a:rPr>
              <a:t>An agent combines AI's ability to make judgements and call the relevant tools to execute the task. An agent's output will be nondeterministic given: real-time availability and pricing changes, dynamic prioritization of constraints, ability to recover from failures, and adaptive decision-making based on intermediate results. In other words, if flights or hotels are unavailable, an agent can reassess and suggest a new itinerary with altered dates or locations, and continue executing your travel booking.</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3712" y="3070371"/>
            <a:ext cx="6785688" cy="3627627"/>
          </a:xfrm>
          <a:prstGeom prst="rect">
            <a:avLst/>
          </a:prstGeom>
        </p:spPr>
      </p:pic>
    </p:spTree>
    <p:extLst>
      <p:ext uri="{BB962C8B-B14F-4D97-AF65-F5344CB8AC3E}">
        <p14:creationId xmlns:p14="http://schemas.microsoft.com/office/powerpoint/2010/main" val="4122230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1554"/>
          </a:xfrm>
        </p:spPr>
        <p:txBody>
          <a:bodyPr>
            <a:normAutofit fontScale="90000"/>
          </a:bodyPr>
          <a:lstStyle/>
          <a:p>
            <a:r>
              <a:rPr lang="en-US" dirty="0"/>
              <a:t>Some examples of AI Agent(p1)</a:t>
            </a:r>
          </a:p>
        </p:txBody>
      </p:sp>
      <p:sp>
        <p:nvSpPr>
          <p:cNvPr id="3" name="Content Placeholder 2"/>
          <p:cNvSpPr>
            <a:spLocks noGrp="1"/>
          </p:cNvSpPr>
          <p:nvPr>
            <p:ph idx="1"/>
          </p:nvPr>
        </p:nvSpPr>
        <p:spPr>
          <a:xfrm>
            <a:off x="310393" y="1112560"/>
            <a:ext cx="11635530" cy="5276207"/>
          </a:xfrm>
        </p:spPr>
        <p:txBody>
          <a:bodyPr>
            <a:normAutofit fontScale="92500" lnSpcReduction="10000"/>
          </a:bodyPr>
          <a:lstStyle/>
          <a:p>
            <a:pPr marL="0" indent="0">
              <a:buNone/>
            </a:pPr>
            <a:r>
              <a:rPr lang="en-US" b="1" dirty="0"/>
              <a:t>simple tasks:</a:t>
            </a:r>
          </a:p>
          <a:p>
            <a:r>
              <a:rPr lang="en-US" dirty="0"/>
              <a:t>agent that could help me review my emails and create tasks on a digital to-do list based on the highest priority emails coming in.</a:t>
            </a:r>
          </a:p>
          <a:p>
            <a:endParaRPr lang="en-US" dirty="0"/>
          </a:p>
          <a:p>
            <a:r>
              <a:rPr lang="en-US" dirty="0"/>
              <a:t>agent that uses weather data and other information to decide when to water my garden and how long to water it for.</a:t>
            </a:r>
          </a:p>
          <a:p>
            <a:endParaRPr lang="en-US" dirty="0"/>
          </a:p>
          <a:p>
            <a:r>
              <a:rPr lang="en-US" dirty="0"/>
              <a:t>an agent that could respond to people reporting bugs and automatically gather missing information and seek clarification on confusing parts of a bug report and then route the bug to the appropriate team to resolve.</a:t>
            </a:r>
          </a:p>
          <a:p>
            <a:endParaRPr lang="en-US" dirty="0"/>
          </a:p>
          <a:p>
            <a:r>
              <a:rPr lang="en-US" dirty="0"/>
              <a:t>agent could use a camera to look at a Rubik's cube and then use robotic manipulators to solve it.</a:t>
            </a:r>
          </a:p>
          <a:p>
            <a:endParaRPr lang="en-US" dirty="0"/>
          </a:p>
          <a:p>
            <a:endParaRPr lang="en-US" dirty="0"/>
          </a:p>
        </p:txBody>
      </p:sp>
    </p:spTree>
    <p:extLst>
      <p:ext uri="{BB962C8B-B14F-4D97-AF65-F5344CB8AC3E}">
        <p14:creationId xmlns:p14="http://schemas.microsoft.com/office/powerpoint/2010/main" val="159641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A3B49-108B-4C86-04E1-EF3F43D97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B1A2F-E16E-6C58-691A-0CADFCE10382}"/>
              </a:ext>
            </a:extLst>
          </p:cNvPr>
          <p:cNvSpPr>
            <a:spLocks noGrp="1"/>
          </p:cNvSpPr>
          <p:nvPr>
            <p:ph type="title"/>
          </p:nvPr>
        </p:nvSpPr>
        <p:spPr>
          <a:xfrm>
            <a:off x="838200" y="365126"/>
            <a:ext cx="10515600" cy="641554"/>
          </a:xfrm>
        </p:spPr>
        <p:txBody>
          <a:bodyPr>
            <a:normAutofit fontScale="90000"/>
          </a:bodyPr>
          <a:lstStyle/>
          <a:p>
            <a:r>
              <a:rPr lang="en-US" dirty="0"/>
              <a:t>Some examples of AI Agent(p1)</a:t>
            </a:r>
          </a:p>
        </p:txBody>
      </p:sp>
      <p:sp>
        <p:nvSpPr>
          <p:cNvPr id="3" name="Content Placeholder 2">
            <a:extLst>
              <a:ext uri="{FF2B5EF4-FFF2-40B4-BE49-F238E27FC236}">
                <a16:creationId xmlns:a16="http://schemas.microsoft.com/office/drawing/2014/main" id="{C1057545-AC87-E325-DDAE-F61CBAD145A8}"/>
              </a:ext>
            </a:extLst>
          </p:cNvPr>
          <p:cNvSpPr>
            <a:spLocks noGrp="1"/>
          </p:cNvSpPr>
          <p:nvPr>
            <p:ph idx="1"/>
          </p:nvPr>
        </p:nvSpPr>
        <p:spPr>
          <a:xfrm>
            <a:off x="310393" y="1112560"/>
            <a:ext cx="11635530" cy="5276207"/>
          </a:xfrm>
        </p:spPr>
        <p:txBody>
          <a:bodyPr>
            <a:normAutofit/>
          </a:bodyPr>
          <a:lstStyle/>
          <a:p>
            <a:pPr marL="0" indent="0">
              <a:buNone/>
            </a:pPr>
            <a:r>
              <a:rPr lang="en-US" b="1" dirty="0"/>
              <a:t>Complicated tasks:</a:t>
            </a:r>
          </a:p>
          <a:p>
            <a:r>
              <a:rPr lang="en-US" dirty="0"/>
              <a:t>agent also to build a travel planning agent that takes my preferences and needs into account, researches things like destinations and hotels and even activities, and then suggests an itinerary for me and use a collaborating agent to book everything all in one shot.</a:t>
            </a:r>
          </a:p>
          <a:p>
            <a:r>
              <a:rPr lang="en-US" dirty="0"/>
              <a:t>agent to find a list of suppliers, email them for quotes, and sort replies according to the best price. </a:t>
            </a:r>
          </a:p>
          <a:p>
            <a:r>
              <a:rPr lang="en-US" dirty="0"/>
              <a:t>agent to create a shopping list based on a recipe, purchase the ingredients online, and have them delivered to you.</a:t>
            </a:r>
          </a:p>
          <a:p>
            <a:r>
              <a:rPr lang="en-US" dirty="0"/>
              <a:t>agents that monitor patients vitals, and suggest treatment plans and even support surgical procedures by providing </a:t>
            </a:r>
            <a:r>
              <a:rPr lang="en-US" dirty="0" err="1"/>
              <a:t>realtime</a:t>
            </a:r>
            <a:r>
              <a:rPr lang="en-US" dirty="0"/>
              <a:t> data to surgeons</a:t>
            </a:r>
          </a:p>
          <a:p>
            <a:endParaRPr lang="en-US" dirty="0"/>
          </a:p>
        </p:txBody>
      </p:sp>
    </p:spTree>
    <p:extLst>
      <p:ext uri="{BB962C8B-B14F-4D97-AF65-F5344CB8AC3E}">
        <p14:creationId xmlns:p14="http://schemas.microsoft.com/office/powerpoint/2010/main" val="1017202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6267275" cy="641553"/>
          </a:xfrm>
        </p:spPr>
        <p:txBody>
          <a:bodyPr>
            <a:normAutofit fontScale="90000"/>
          </a:bodyPr>
          <a:lstStyle/>
          <a:p>
            <a:r>
              <a:rPr lang="en-US" sz="4000" b="1" dirty="0"/>
              <a:t>How Does an AI Agent Work?(p1)</a:t>
            </a:r>
            <a:endParaRPr lang="en-US" sz="4000" dirty="0"/>
          </a:p>
        </p:txBody>
      </p:sp>
      <p:sp>
        <p:nvSpPr>
          <p:cNvPr id="3" name="Content Placeholder 2"/>
          <p:cNvSpPr>
            <a:spLocks noGrp="1"/>
          </p:cNvSpPr>
          <p:nvPr>
            <p:ph idx="1"/>
          </p:nvPr>
        </p:nvSpPr>
        <p:spPr>
          <a:xfrm>
            <a:off x="838200" y="1137727"/>
            <a:ext cx="10515600" cy="2117201"/>
          </a:xfrm>
        </p:spPr>
        <p:txBody>
          <a:bodyPr>
            <a:normAutofit fontScale="85000" lnSpcReduction="20000"/>
          </a:bodyPr>
          <a:lstStyle/>
          <a:p>
            <a:pPr fontAlgn="base"/>
            <a:r>
              <a:rPr lang="en-US" dirty="0"/>
              <a:t>In essence, an AI agent works through the process of assigning, creating, or inferring an objective, which it will then break down into a series of tasks and attempt to complete. This process can be divided into three stages: </a:t>
            </a:r>
          </a:p>
          <a:p>
            <a:pPr marL="514350" indent="-514350" fontAlgn="base">
              <a:buAutoNum type="arabicPeriod"/>
            </a:pPr>
            <a:r>
              <a:rPr lang="en-US" dirty="0"/>
              <a:t>Task definition and planning, </a:t>
            </a:r>
          </a:p>
          <a:p>
            <a:pPr marL="514350" indent="-514350" fontAlgn="base">
              <a:buAutoNum type="arabicPeriod"/>
            </a:pPr>
            <a:r>
              <a:rPr lang="en-US" dirty="0"/>
              <a:t>Decision-making, and </a:t>
            </a:r>
          </a:p>
          <a:p>
            <a:pPr marL="514350" indent="-514350" fontAlgn="base">
              <a:buAutoNum type="arabicPeriod"/>
            </a:pPr>
            <a:r>
              <a:rPr lang="en-US" dirty="0"/>
              <a:t>Feedback and adaptation. </a:t>
            </a:r>
          </a:p>
          <a:p>
            <a:endParaRPr lang="en-US" dirty="0"/>
          </a:p>
        </p:txBody>
      </p:sp>
      <p:sp>
        <p:nvSpPr>
          <p:cNvPr id="4" name="TextBox 3"/>
          <p:cNvSpPr txBox="1"/>
          <p:nvPr/>
        </p:nvSpPr>
        <p:spPr>
          <a:xfrm>
            <a:off x="132347" y="3733100"/>
            <a:ext cx="11857404" cy="3170099"/>
          </a:xfrm>
          <a:prstGeom prst="rect">
            <a:avLst/>
          </a:prstGeom>
          <a:noFill/>
        </p:spPr>
        <p:txBody>
          <a:bodyPr wrap="square" rtlCol="0">
            <a:spAutoFit/>
          </a:bodyPr>
          <a:lstStyle/>
          <a:p>
            <a:pPr fontAlgn="base"/>
            <a:r>
              <a:rPr lang="en-US" sz="2000" b="1" dirty="0">
                <a:solidFill>
                  <a:schemeClr val="accent6">
                    <a:lumMod val="60000"/>
                    <a:lumOff val="40000"/>
                  </a:schemeClr>
                </a:solidFill>
              </a:rPr>
              <a:t>1. Task Definition and Planning</a:t>
            </a:r>
          </a:p>
          <a:p>
            <a:pPr marL="285750" indent="-285750" fontAlgn="base">
              <a:buFont typeface="Arial" panose="020B0604020202020204" pitchFamily="34" charset="0"/>
              <a:buChar char="•"/>
            </a:pPr>
            <a:r>
              <a:rPr lang="en-US" sz="2000" b="1" dirty="0">
                <a:solidFill>
                  <a:schemeClr val="accent6">
                    <a:lumMod val="60000"/>
                    <a:lumOff val="40000"/>
                  </a:schemeClr>
                </a:solidFill>
              </a:rPr>
              <a:t>Define and assign an objective: </a:t>
            </a:r>
            <a:r>
              <a:rPr lang="en-US" sz="2000" dirty="0">
                <a:solidFill>
                  <a:schemeClr val="accent6">
                    <a:lumMod val="60000"/>
                    <a:lumOff val="40000"/>
                  </a:schemeClr>
                </a:solidFill>
              </a:rPr>
              <a:t>giving an agent a predefined goal you want it to accomplish.</a:t>
            </a:r>
          </a:p>
          <a:p>
            <a:pPr marL="285750" indent="-285750" fontAlgn="base">
              <a:buFont typeface="Arial" panose="020B0604020202020204" pitchFamily="34" charset="0"/>
              <a:buChar char="•"/>
            </a:pPr>
            <a:r>
              <a:rPr lang="en-US" sz="2000" b="1" dirty="0">
                <a:solidFill>
                  <a:schemeClr val="accent6">
                    <a:lumMod val="60000"/>
                    <a:lumOff val="40000"/>
                  </a:schemeClr>
                </a:solidFill>
              </a:rPr>
              <a:t>Assign Resources:</a:t>
            </a:r>
            <a:r>
              <a:rPr lang="en-US" sz="2000" dirty="0">
                <a:solidFill>
                  <a:schemeClr val="accent6">
                    <a:lumMod val="60000"/>
                    <a:lumOff val="40000"/>
                  </a:schemeClr>
                </a:solidFill>
              </a:rPr>
              <a:t> select the tools and sources of information the agent will be permitted to use to achieve its goal.  </a:t>
            </a:r>
          </a:p>
          <a:p>
            <a:pPr marL="285750" indent="-285750" fontAlgn="base">
              <a:buFont typeface="Arial" panose="020B0604020202020204" pitchFamily="34" charset="0"/>
              <a:buChar char="•"/>
            </a:pPr>
            <a:r>
              <a:rPr lang="en-US" sz="2000" b="1" dirty="0">
                <a:solidFill>
                  <a:schemeClr val="accent6">
                    <a:lumMod val="60000"/>
                    <a:lumOff val="40000"/>
                  </a:schemeClr>
                </a:solidFill>
              </a:rPr>
              <a:t>Environmental assessment: </a:t>
            </a:r>
            <a:r>
              <a:rPr lang="en-US" sz="2000" dirty="0">
                <a:solidFill>
                  <a:schemeClr val="accent6">
                    <a:lumMod val="60000"/>
                    <a:lumOff val="40000"/>
                  </a:schemeClr>
                </a:solidFill>
              </a:rPr>
              <a:t>the agent uses sensors and any other available data sources to collect information about its environment; this helps it understand its given task in greater context, as well as potential obstacles.</a:t>
            </a:r>
          </a:p>
          <a:p>
            <a:pPr marL="285750" indent="-285750" fontAlgn="base">
              <a:buFont typeface="Arial" panose="020B0604020202020204" pitchFamily="34" charset="0"/>
              <a:buChar char="•"/>
            </a:pPr>
            <a:r>
              <a:rPr lang="en-US" sz="2000" b="1" dirty="0">
                <a:solidFill>
                  <a:schemeClr val="accent6">
                    <a:lumMod val="60000"/>
                    <a:lumOff val="40000"/>
                  </a:schemeClr>
                </a:solidFill>
              </a:rPr>
              <a:t>Plan generation: </a:t>
            </a:r>
            <a:r>
              <a:rPr lang="en-US" sz="2000" dirty="0">
                <a:solidFill>
                  <a:schemeClr val="accent6">
                    <a:lumMod val="60000"/>
                    <a:lumOff val="40000"/>
                  </a:schemeClr>
                </a:solidFill>
              </a:rPr>
              <a:t>taking the tools at its disposal into account, the agent devises strategies for achieving its goal, which typically involves breaking down its tasks into subtasks, and potentially also breaking the goal down into </a:t>
            </a:r>
            <a:r>
              <a:rPr lang="en-US" sz="2000" dirty="0" err="1">
                <a:solidFill>
                  <a:schemeClr val="accent6">
                    <a:lumMod val="60000"/>
                    <a:lumOff val="40000"/>
                  </a:schemeClr>
                </a:solidFill>
              </a:rPr>
              <a:t>subgoals</a:t>
            </a:r>
            <a:r>
              <a:rPr lang="en-US" sz="2000" dirty="0">
                <a:solidFill>
                  <a:schemeClr val="accent6">
                    <a:lumMod val="60000"/>
                    <a:lumOff val="40000"/>
                  </a:schemeClr>
                </a:solidFill>
              </a:rPr>
              <a:t>.  </a:t>
            </a:r>
          </a:p>
          <a:p>
            <a:endParaRPr lang="en-US" sz="2000" dirty="0">
              <a:solidFill>
                <a:schemeClr val="accent6">
                  <a:lumMod val="60000"/>
                  <a:lumOff val="40000"/>
                </a:schemeClr>
              </a:solidFill>
            </a:endParaRPr>
          </a:p>
        </p:txBody>
      </p:sp>
    </p:spTree>
    <p:extLst>
      <p:ext uri="{BB962C8B-B14F-4D97-AF65-F5344CB8AC3E}">
        <p14:creationId xmlns:p14="http://schemas.microsoft.com/office/powerpoint/2010/main" val="3640618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6267275" cy="641553"/>
          </a:xfrm>
        </p:spPr>
        <p:txBody>
          <a:bodyPr>
            <a:normAutofit fontScale="90000"/>
          </a:bodyPr>
          <a:lstStyle/>
          <a:p>
            <a:r>
              <a:rPr lang="en-US" sz="4000" b="1" dirty="0"/>
              <a:t>How Does an AI Agent Work?(p2)</a:t>
            </a:r>
            <a:endParaRPr lang="en-US" sz="4000" dirty="0"/>
          </a:p>
        </p:txBody>
      </p:sp>
      <p:sp>
        <p:nvSpPr>
          <p:cNvPr id="4" name="TextBox 3"/>
          <p:cNvSpPr txBox="1"/>
          <p:nvPr/>
        </p:nvSpPr>
        <p:spPr>
          <a:xfrm>
            <a:off x="436229" y="1182844"/>
            <a:ext cx="11553522" cy="1631216"/>
          </a:xfrm>
          <a:prstGeom prst="rect">
            <a:avLst/>
          </a:prstGeom>
          <a:noFill/>
        </p:spPr>
        <p:txBody>
          <a:bodyPr wrap="square" rtlCol="0">
            <a:spAutoFit/>
          </a:bodyPr>
          <a:lstStyle/>
          <a:p>
            <a:pPr fontAlgn="base"/>
            <a:r>
              <a:rPr lang="en-US" sz="2000" b="1" dirty="0">
                <a:solidFill>
                  <a:schemeClr val="accent6">
                    <a:lumMod val="60000"/>
                    <a:lumOff val="40000"/>
                  </a:schemeClr>
                </a:solidFill>
              </a:rPr>
              <a:t>2. Decision-Making</a:t>
            </a:r>
            <a:endParaRPr lang="en-US" sz="2000" dirty="0">
              <a:solidFill>
                <a:schemeClr val="accent6">
                  <a:lumMod val="60000"/>
                  <a:lumOff val="40000"/>
                </a:schemeClr>
              </a:solidFill>
            </a:endParaRPr>
          </a:p>
          <a:p>
            <a:pPr marL="285750" indent="-285750" fontAlgn="base">
              <a:buFont typeface="Arial" panose="020B0604020202020204" pitchFamily="34" charset="0"/>
              <a:buChar char="•"/>
            </a:pPr>
            <a:r>
              <a:rPr lang="en-US" sz="2000" b="1" dirty="0">
                <a:solidFill>
                  <a:schemeClr val="accent6">
                    <a:lumMod val="60000"/>
                    <a:lumOff val="40000"/>
                  </a:schemeClr>
                </a:solidFill>
              </a:rPr>
              <a:t>Data analysis: </a:t>
            </a:r>
            <a:r>
              <a:rPr lang="en-US" sz="2000" dirty="0">
                <a:solidFill>
                  <a:schemeClr val="accent6">
                    <a:lumMod val="60000"/>
                    <a:lumOff val="40000"/>
                  </a:schemeClr>
                </a:solidFill>
              </a:rPr>
              <a:t>analyzing available data – such as environmental sensor readings, past experiences, and the model that powers it, to predict the outcomes of prospective actions it could take.</a:t>
            </a:r>
          </a:p>
          <a:p>
            <a:pPr marL="285750" indent="-285750" fontAlgn="base">
              <a:buFont typeface="Arial" panose="020B0604020202020204" pitchFamily="34" charset="0"/>
              <a:buChar char="•"/>
            </a:pPr>
            <a:r>
              <a:rPr lang="en-US" sz="2000" b="1" dirty="0">
                <a:solidFill>
                  <a:schemeClr val="accent6">
                    <a:lumMod val="60000"/>
                    <a:lumOff val="40000"/>
                  </a:schemeClr>
                </a:solidFill>
              </a:rPr>
              <a:t>Action execution: </a:t>
            </a:r>
            <a:r>
              <a:rPr lang="en-US" sz="2000" dirty="0">
                <a:solidFill>
                  <a:schemeClr val="accent6">
                    <a:lumMod val="60000"/>
                    <a:lumOff val="40000"/>
                  </a:schemeClr>
                </a:solidFill>
              </a:rPr>
              <a:t>the agent sequentially selects and executes the action it has determined will maximize the likelihood of success. </a:t>
            </a:r>
          </a:p>
        </p:txBody>
      </p:sp>
      <p:sp>
        <p:nvSpPr>
          <p:cNvPr id="6" name="TextBox 5"/>
          <p:cNvSpPr txBox="1"/>
          <p:nvPr/>
        </p:nvSpPr>
        <p:spPr>
          <a:xfrm>
            <a:off x="427839" y="3825379"/>
            <a:ext cx="11450815" cy="2246769"/>
          </a:xfrm>
          <a:prstGeom prst="rect">
            <a:avLst/>
          </a:prstGeom>
          <a:noFill/>
        </p:spPr>
        <p:txBody>
          <a:bodyPr wrap="square" rtlCol="0">
            <a:spAutoFit/>
          </a:bodyPr>
          <a:lstStyle/>
          <a:p>
            <a:pPr fontAlgn="base"/>
            <a:r>
              <a:rPr lang="en-US" sz="2000" b="1" dirty="0">
                <a:solidFill>
                  <a:schemeClr val="accent6">
                    <a:lumMod val="60000"/>
                    <a:lumOff val="40000"/>
                  </a:schemeClr>
                </a:solidFill>
              </a:rPr>
              <a:t>3. Feedback and Adaptation</a:t>
            </a:r>
            <a:endParaRPr lang="en-US" sz="2000" dirty="0">
              <a:solidFill>
                <a:schemeClr val="accent6">
                  <a:lumMod val="60000"/>
                  <a:lumOff val="40000"/>
                </a:schemeClr>
              </a:solidFill>
            </a:endParaRPr>
          </a:p>
          <a:p>
            <a:pPr marL="285750" indent="-285750" fontAlgn="base">
              <a:buFont typeface="Arial" panose="020B0604020202020204" pitchFamily="34" charset="0"/>
              <a:buChar char="•"/>
            </a:pPr>
            <a:r>
              <a:rPr lang="en-US" sz="2000" b="1" dirty="0">
                <a:solidFill>
                  <a:schemeClr val="accent6">
                    <a:lumMod val="60000"/>
                    <a:lumOff val="40000"/>
                  </a:schemeClr>
                </a:solidFill>
              </a:rPr>
              <a:t>Performance Monitoring: </a:t>
            </a:r>
            <a:r>
              <a:rPr lang="en-US" sz="2000" dirty="0">
                <a:solidFill>
                  <a:schemeClr val="accent6">
                    <a:lumMod val="60000"/>
                    <a:lumOff val="40000"/>
                  </a:schemeClr>
                </a:solidFill>
              </a:rPr>
              <a:t>the agent monitors the outcome of its actions and evaluates if they brought it closer to accomplishing the given objective. </a:t>
            </a:r>
          </a:p>
          <a:p>
            <a:pPr marL="285750" indent="-285750" fontAlgn="base">
              <a:buFont typeface="Arial" panose="020B0604020202020204" pitchFamily="34" charset="0"/>
              <a:buChar char="•"/>
            </a:pPr>
            <a:r>
              <a:rPr lang="en-US" sz="2000" b="1" dirty="0">
                <a:solidFill>
                  <a:schemeClr val="accent6">
                    <a:lumMod val="60000"/>
                    <a:lumOff val="40000"/>
                  </a:schemeClr>
                </a:solidFill>
              </a:rPr>
              <a:t>Feedback loop: </a:t>
            </a:r>
            <a:r>
              <a:rPr lang="en-US" sz="2000" dirty="0">
                <a:solidFill>
                  <a:schemeClr val="accent6">
                    <a:lumMod val="60000"/>
                    <a:lumOff val="40000"/>
                  </a:schemeClr>
                </a:solidFill>
              </a:rPr>
              <a:t>The agent uses the feedback to adjust its strategy and potential actions to take. If permitted, i.e., if programmed to do so, it can ask for human intervention if it is stuck on a task. </a:t>
            </a:r>
          </a:p>
          <a:p>
            <a:pPr marL="285750" indent="-285750" fontAlgn="base">
              <a:buFont typeface="Arial" panose="020B0604020202020204" pitchFamily="34" charset="0"/>
              <a:buChar char="•"/>
            </a:pPr>
            <a:r>
              <a:rPr lang="en-US" sz="2000" b="1" dirty="0">
                <a:solidFill>
                  <a:schemeClr val="accent6">
                    <a:lumMod val="60000"/>
                    <a:lumOff val="40000"/>
                  </a:schemeClr>
                </a:solidFill>
              </a:rPr>
              <a:t>Adaptation and learning: </a:t>
            </a:r>
            <a:r>
              <a:rPr lang="en-US" sz="2000" dirty="0">
                <a:solidFill>
                  <a:schemeClr val="accent6">
                    <a:lumMod val="60000"/>
                    <a:lumOff val="40000"/>
                  </a:schemeClr>
                </a:solidFill>
              </a:rPr>
              <a:t>The agent continuously learns from its experiences. It monitors the results of its actions and updates its knowledge base and decision-making processes based on the new information.</a:t>
            </a:r>
          </a:p>
        </p:txBody>
      </p:sp>
    </p:spTree>
    <p:extLst>
      <p:ext uri="{BB962C8B-B14F-4D97-AF65-F5344CB8AC3E}">
        <p14:creationId xmlns:p14="http://schemas.microsoft.com/office/powerpoint/2010/main" val="488549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178"/>
            <a:ext cx="10515600" cy="700277"/>
          </a:xfrm>
        </p:spPr>
        <p:txBody>
          <a:bodyPr/>
          <a:lstStyle/>
          <a:p>
            <a:r>
              <a:rPr lang="en-US" b="1" dirty="0"/>
              <a:t>The Components of an AI agent</a:t>
            </a:r>
            <a:endParaRPr lang="en-US" dirty="0"/>
          </a:p>
        </p:txBody>
      </p:sp>
      <p:sp>
        <p:nvSpPr>
          <p:cNvPr id="3" name="Content Placeholder 2"/>
          <p:cNvSpPr>
            <a:spLocks noGrp="1"/>
          </p:cNvSpPr>
          <p:nvPr>
            <p:ph idx="1"/>
          </p:nvPr>
        </p:nvSpPr>
        <p:spPr>
          <a:xfrm>
            <a:off x="352338" y="844112"/>
            <a:ext cx="11839662" cy="3442662"/>
          </a:xfrm>
        </p:spPr>
        <p:txBody>
          <a:bodyPr>
            <a:normAutofit/>
          </a:bodyPr>
          <a:lstStyle/>
          <a:p>
            <a:pPr fontAlgn="base"/>
            <a:r>
              <a:rPr lang="en-US" sz="2000" b="1" dirty="0"/>
              <a:t>AI Model: </a:t>
            </a:r>
            <a:r>
              <a:rPr lang="en-US" sz="2000" dirty="0"/>
              <a:t>recent advances such as an LLM, VLM (vision-language model), or, more recently, LMM (large multi-modal model) could be used as the core of an AI agent, acting as its</a:t>
            </a:r>
            <a:r>
              <a:rPr lang="en-US" sz="2000" b="1" dirty="0"/>
              <a:t> </a:t>
            </a:r>
            <a:r>
              <a:rPr lang="en-US" sz="2000" dirty="0"/>
              <a:t>decision-making mechanism. The model will process data collected by sensors, make decisions based on said data, and take actions to achieve the agent’s goals.</a:t>
            </a:r>
          </a:p>
          <a:p>
            <a:pPr fontAlgn="base"/>
            <a:r>
              <a:rPr lang="en-US" sz="2000" b="1" dirty="0"/>
              <a:t>Sensors</a:t>
            </a:r>
            <a:r>
              <a:rPr lang="en-US" sz="2000" dirty="0"/>
              <a:t>: components responsible for collecting data from the agent’s environment so it can “perceive” it accurately and act accordingly. Sensors are an agent’s input devices, enabling it to learn about the world. In software agents, a sensor would be digital interfaces to websites or databases, while in a robotic agent, these include cameras and microphones. </a:t>
            </a:r>
          </a:p>
          <a:p>
            <a:pPr fontAlgn="base"/>
            <a:r>
              <a:rPr lang="en-US" sz="2000" b="1" dirty="0"/>
              <a:t>Actuators</a:t>
            </a:r>
            <a:r>
              <a:rPr lang="en-US" sz="2000" dirty="0"/>
              <a:t>: these are an agent’s means of output – enabling it to take actions based on its given objective and data collected from its sensors. In software agents, these are components that can control other applications or devices, while for a robotic agent, these could be appendages, i.e., limbs, display screens, or speakers. </a:t>
            </a:r>
          </a:p>
        </p:txBody>
      </p:sp>
    </p:spTree>
    <p:extLst>
      <p:ext uri="{BB962C8B-B14F-4D97-AF65-F5344CB8AC3E}">
        <p14:creationId xmlns:p14="http://schemas.microsoft.com/office/powerpoint/2010/main" val="2160857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23EB7-0F85-F38F-48C6-3CB9DB152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AC347-2386-CF95-396D-59A515839AA8}"/>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5CE33E46-E073-E5AA-A5BF-24A0C91E1349}"/>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2464189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BDA7-B44E-B824-B04A-1C6D1FB40ED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018E7A2-ACBA-1394-8855-0E8750AA2C1F}"/>
              </a:ext>
            </a:extLst>
          </p:cNvPr>
          <p:cNvSpPr txBox="1"/>
          <p:nvPr/>
        </p:nvSpPr>
        <p:spPr>
          <a:xfrm>
            <a:off x="477520" y="1223232"/>
            <a:ext cx="10292080" cy="830997"/>
          </a:xfrm>
          <a:prstGeom prst="rect">
            <a:avLst/>
          </a:prstGeom>
          <a:noFill/>
        </p:spPr>
        <p:txBody>
          <a:bodyPr wrap="square">
            <a:spAutoFit/>
          </a:bodyPr>
          <a:lstStyle/>
          <a:p>
            <a:pPr>
              <a:buNone/>
            </a:pPr>
            <a:r>
              <a:rPr lang="en-US" sz="2400" dirty="0">
                <a:solidFill>
                  <a:schemeClr val="accent6">
                    <a:lumMod val="60000"/>
                    <a:lumOff val="40000"/>
                  </a:schemeClr>
                </a:solidFill>
              </a:rPr>
              <a:t>An </a:t>
            </a:r>
            <a:r>
              <a:rPr lang="en-US" sz="2400" b="1" dirty="0">
                <a:solidFill>
                  <a:schemeClr val="accent6">
                    <a:lumMod val="60000"/>
                    <a:lumOff val="40000"/>
                  </a:schemeClr>
                </a:solidFill>
              </a:rPr>
              <a:t>AI Agent</a:t>
            </a:r>
            <a:r>
              <a:rPr lang="en-US" sz="2400" dirty="0">
                <a:solidFill>
                  <a:schemeClr val="accent6">
                    <a:lumMod val="60000"/>
                    <a:lumOff val="40000"/>
                  </a:schemeClr>
                </a:solidFill>
              </a:rPr>
              <a:t> is a system that can </a:t>
            </a:r>
            <a:r>
              <a:rPr lang="en-US" sz="2400" b="1" dirty="0">
                <a:solidFill>
                  <a:schemeClr val="accent6">
                    <a:lumMod val="60000"/>
                    <a:lumOff val="40000"/>
                  </a:schemeClr>
                </a:solidFill>
              </a:rPr>
              <a:t>perceive its environment, make decisions, and take actions to achieve a goal</a:t>
            </a:r>
            <a:r>
              <a:rPr lang="en-US" sz="2400" dirty="0">
                <a:solidFill>
                  <a:schemeClr val="accent6">
                    <a:lumMod val="60000"/>
                    <a:lumOff val="40000"/>
                  </a:schemeClr>
                </a:solidFill>
              </a:rPr>
              <a:t>—often with some level of autonomy.</a:t>
            </a:r>
          </a:p>
        </p:txBody>
      </p:sp>
      <p:sp>
        <p:nvSpPr>
          <p:cNvPr id="3" name="TextBox 2">
            <a:extLst>
              <a:ext uri="{FF2B5EF4-FFF2-40B4-BE49-F238E27FC236}">
                <a16:creationId xmlns:a16="http://schemas.microsoft.com/office/drawing/2014/main" id="{372D7083-3498-E0D5-A14A-0651A954837B}"/>
              </a:ext>
            </a:extLst>
          </p:cNvPr>
          <p:cNvSpPr txBox="1"/>
          <p:nvPr/>
        </p:nvSpPr>
        <p:spPr>
          <a:xfrm>
            <a:off x="292608" y="3105835"/>
            <a:ext cx="9500616" cy="830997"/>
          </a:xfrm>
          <a:prstGeom prst="rect">
            <a:avLst/>
          </a:prstGeom>
          <a:noFill/>
        </p:spPr>
        <p:txBody>
          <a:bodyPr wrap="square">
            <a:spAutoFit/>
          </a:bodyPr>
          <a:lstStyle/>
          <a:p>
            <a:pPr>
              <a:buNone/>
            </a:pPr>
            <a:r>
              <a:rPr lang="en-US" sz="2400" b="1" dirty="0">
                <a:solidFill>
                  <a:schemeClr val="accent6">
                    <a:lumMod val="60000"/>
                    <a:lumOff val="40000"/>
                  </a:schemeClr>
                </a:solidFill>
              </a:rPr>
              <a:t>Core Idea (1-line definition)</a:t>
            </a:r>
          </a:p>
          <a:p>
            <a:pPr>
              <a:buNone/>
            </a:pPr>
            <a:r>
              <a:rPr lang="en-US" sz="2400" dirty="0">
                <a:solidFill>
                  <a:schemeClr val="accent6">
                    <a:lumMod val="60000"/>
                    <a:lumOff val="40000"/>
                  </a:schemeClr>
                </a:solidFill>
              </a:rPr>
              <a:t>An AI agent = </a:t>
            </a:r>
            <a:r>
              <a:rPr lang="en-US" sz="2400" b="1" dirty="0">
                <a:solidFill>
                  <a:schemeClr val="accent6">
                    <a:lumMod val="60000"/>
                    <a:lumOff val="40000"/>
                  </a:schemeClr>
                </a:solidFill>
              </a:rPr>
              <a:t>Observe → Think → Act → Learn (optional)</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74278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95908-F80B-552C-0C8C-645F7D0DF3C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DAF7254-BC8D-B331-A422-B3BFD5C9F06A}"/>
              </a:ext>
            </a:extLst>
          </p:cNvPr>
          <p:cNvSpPr txBox="1"/>
          <p:nvPr/>
        </p:nvSpPr>
        <p:spPr>
          <a:xfrm>
            <a:off x="477520" y="16224"/>
            <a:ext cx="8849360" cy="6370975"/>
          </a:xfrm>
          <a:prstGeom prst="rect">
            <a:avLst/>
          </a:prstGeom>
          <a:noFill/>
        </p:spPr>
        <p:txBody>
          <a:bodyPr wrap="square">
            <a:spAutoFit/>
          </a:bodyPr>
          <a:lstStyle/>
          <a:p>
            <a:r>
              <a:rPr lang="en-US" sz="2400" dirty="0">
                <a:solidFill>
                  <a:schemeClr val="accent6">
                    <a:lumMod val="60000"/>
                    <a:lumOff val="40000"/>
                  </a:schemeClr>
                </a:solidFill>
              </a:rPr>
              <a:t>An AI agent continuously follows this loop:</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Perception (Observe)</a:t>
            </a:r>
            <a:r>
              <a:rPr lang="en-US" sz="2400" dirty="0">
                <a:solidFill>
                  <a:schemeClr val="accent6">
                    <a:lumMod val="60000"/>
                    <a:lumOff val="40000"/>
                  </a:schemeClr>
                </a:solidFill>
              </a:rPr>
              <a:t> </a:t>
            </a:r>
          </a:p>
          <a:p>
            <a:pPr marL="800100" lvl="1" indent="-342900">
              <a:buFont typeface="Arial" panose="020B0604020202020204" pitchFamily="34" charset="0"/>
              <a:buChar char="•"/>
            </a:pPr>
            <a:r>
              <a:rPr lang="en-US" sz="2400" dirty="0">
                <a:solidFill>
                  <a:schemeClr val="accent6">
                    <a:lumMod val="60000"/>
                    <a:lumOff val="40000"/>
                  </a:schemeClr>
                </a:solidFill>
              </a:rPr>
              <a:t>Takes input from environment </a:t>
            </a:r>
          </a:p>
          <a:p>
            <a:pPr marL="800100" lvl="1" indent="-342900">
              <a:buFont typeface="Arial" panose="020B0604020202020204" pitchFamily="34" charset="0"/>
              <a:buChar char="•"/>
            </a:pPr>
            <a:r>
              <a:rPr lang="en-US" sz="2400" dirty="0">
                <a:solidFill>
                  <a:schemeClr val="accent6">
                    <a:lumMod val="60000"/>
                    <a:lumOff val="40000"/>
                  </a:schemeClr>
                </a:solidFill>
              </a:rPr>
              <a:t>Example: text, images, sensors, user queries </a:t>
            </a:r>
          </a:p>
          <a:p>
            <a:pPr lvl="1"/>
            <a:endParaRPr lang="en-US" sz="2400" dirty="0">
              <a:solidFill>
                <a:schemeClr val="accent6">
                  <a:lumMod val="60000"/>
                  <a:lumOff val="40000"/>
                </a:schemeClr>
              </a:solidFill>
            </a:endParaRPr>
          </a:p>
          <a:p>
            <a:r>
              <a:rPr lang="en-US" sz="2400" b="1" dirty="0">
                <a:solidFill>
                  <a:schemeClr val="accent6">
                    <a:lumMod val="60000"/>
                    <a:lumOff val="40000"/>
                  </a:schemeClr>
                </a:solidFill>
              </a:rPr>
              <a:t>Decision (Think / Reason)</a:t>
            </a:r>
            <a:r>
              <a:rPr lang="en-US" sz="2400" dirty="0">
                <a:solidFill>
                  <a:schemeClr val="accent6">
                    <a:lumMod val="60000"/>
                    <a:lumOff val="40000"/>
                  </a:schemeClr>
                </a:solidFill>
              </a:rPr>
              <a:t> </a:t>
            </a:r>
          </a:p>
          <a:p>
            <a:pPr marL="800100" lvl="1" indent="-342900">
              <a:buFont typeface="Arial" panose="020B0604020202020204" pitchFamily="34" charset="0"/>
              <a:buChar char="•"/>
            </a:pPr>
            <a:r>
              <a:rPr lang="en-US" sz="2400" dirty="0">
                <a:solidFill>
                  <a:schemeClr val="accent6">
                    <a:lumMod val="60000"/>
                    <a:lumOff val="40000"/>
                  </a:schemeClr>
                </a:solidFill>
              </a:rPr>
              <a:t>Uses logic, rules, or ML models </a:t>
            </a:r>
          </a:p>
          <a:p>
            <a:pPr marL="800100" lvl="1" indent="-342900">
              <a:buFont typeface="Arial" panose="020B0604020202020204" pitchFamily="34" charset="0"/>
              <a:buChar char="•"/>
            </a:pPr>
            <a:r>
              <a:rPr lang="en-US" sz="2400" dirty="0">
                <a:solidFill>
                  <a:schemeClr val="accent6">
                    <a:lumMod val="60000"/>
                    <a:lumOff val="40000"/>
                  </a:schemeClr>
                </a:solidFill>
              </a:rPr>
              <a:t>Example: LLM deciding next step </a:t>
            </a:r>
          </a:p>
          <a:p>
            <a:pPr lvl="1"/>
            <a:endParaRPr lang="en-US" sz="2400" dirty="0">
              <a:solidFill>
                <a:schemeClr val="accent6">
                  <a:lumMod val="60000"/>
                  <a:lumOff val="40000"/>
                </a:schemeClr>
              </a:solidFill>
            </a:endParaRPr>
          </a:p>
          <a:p>
            <a:r>
              <a:rPr lang="en-US" sz="2400" b="1" dirty="0">
                <a:solidFill>
                  <a:schemeClr val="accent6">
                    <a:lumMod val="60000"/>
                    <a:lumOff val="40000"/>
                  </a:schemeClr>
                </a:solidFill>
              </a:rPr>
              <a:t>Action (Act)</a:t>
            </a:r>
            <a:r>
              <a:rPr lang="en-US" sz="2400" dirty="0">
                <a:solidFill>
                  <a:schemeClr val="accent6">
                    <a:lumMod val="60000"/>
                    <a:lumOff val="40000"/>
                  </a:schemeClr>
                </a:solidFill>
              </a:rPr>
              <a:t> </a:t>
            </a:r>
          </a:p>
          <a:p>
            <a:pPr marL="800100" lvl="1" indent="-342900">
              <a:buFont typeface="Arial" panose="020B0604020202020204" pitchFamily="34" charset="0"/>
              <a:buChar char="•"/>
            </a:pPr>
            <a:r>
              <a:rPr lang="en-US" sz="2400" dirty="0">
                <a:solidFill>
                  <a:schemeClr val="accent6">
                    <a:lumMod val="60000"/>
                    <a:lumOff val="40000"/>
                  </a:schemeClr>
                </a:solidFill>
              </a:rPr>
              <a:t>Performs a task </a:t>
            </a:r>
          </a:p>
          <a:p>
            <a:pPr marL="800100" lvl="1" indent="-342900">
              <a:buFont typeface="Arial" panose="020B0604020202020204" pitchFamily="34" charset="0"/>
              <a:buChar char="•"/>
            </a:pPr>
            <a:r>
              <a:rPr lang="en-US" sz="2400" dirty="0">
                <a:solidFill>
                  <a:schemeClr val="accent6">
                    <a:lumMod val="60000"/>
                    <a:lumOff val="40000"/>
                  </a:schemeClr>
                </a:solidFill>
              </a:rPr>
              <a:t>Example: sending email, calling API, generating response</a:t>
            </a:r>
          </a:p>
          <a:p>
            <a:pPr lvl="1"/>
            <a:r>
              <a:rPr lang="en-US" sz="2400" dirty="0">
                <a:solidFill>
                  <a:schemeClr val="accent6">
                    <a:lumMod val="60000"/>
                    <a:lumOff val="40000"/>
                  </a:schemeClr>
                </a:solidFill>
              </a:rPr>
              <a:t> </a:t>
            </a:r>
          </a:p>
          <a:p>
            <a:r>
              <a:rPr lang="en-US" sz="2400" b="1" dirty="0">
                <a:solidFill>
                  <a:schemeClr val="accent6">
                    <a:lumMod val="60000"/>
                    <a:lumOff val="40000"/>
                  </a:schemeClr>
                </a:solidFill>
              </a:rPr>
              <a:t>Learning (Optional)</a:t>
            </a:r>
            <a:r>
              <a:rPr lang="en-US" sz="2400" dirty="0">
                <a:solidFill>
                  <a:schemeClr val="accent6">
                    <a:lumMod val="60000"/>
                    <a:lumOff val="40000"/>
                  </a:schemeClr>
                </a:solidFill>
              </a:rPr>
              <a:t> </a:t>
            </a:r>
          </a:p>
          <a:p>
            <a:pPr marL="800100" lvl="1" indent="-342900">
              <a:buFont typeface="Arial" panose="020B0604020202020204" pitchFamily="34" charset="0"/>
              <a:buChar char="•"/>
            </a:pPr>
            <a:r>
              <a:rPr lang="en-US" sz="2400" dirty="0">
                <a:solidFill>
                  <a:schemeClr val="accent6">
                    <a:lumMod val="60000"/>
                    <a:lumOff val="40000"/>
                  </a:schemeClr>
                </a:solidFill>
              </a:rPr>
              <a:t>Improves over time </a:t>
            </a:r>
          </a:p>
          <a:p>
            <a:pPr marL="800100" lvl="1" indent="-342900">
              <a:buFont typeface="Arial" panose="020B0604020202020204" pitchFamily="34" charset="0"/>
              <a:buChar char="•"/>
            </a:pPr>
            <a:r>
              <a:rPr lang="en-US" sz="2400" dirty="0">
                <a:solidFill>
                  <a:schemeClr val="accent6">
                    <a:lumMod val="60000"/>
                    <a:lumOff val="40000"/>
                  </a:schemeClr>
                </a:solidFill>
              </a:rPr>
              <a:t>Example: reinforcement learning, memory updates</a:t>
            </a:r>
          </a:p>
        </p:txBody>
      </p:sp>
    </p:spTree>
    <p:extLst>
      <p:ext uri="{BB962C8B-B14F-4D97-AF65-F5344CB8AC3E}">
        <p14:creationId xmlns:p14="http://schemas.microsoft.com/office/powerpoint/2010/main" val="3659367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DD50A-5921-1738-9B87-234E971B22E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570194B-3E5C-534F-1AD0-1EF9809BCD1F}"/>
              </a:ext>
            </a:extLst>
          </p:cNvPr>
          <p:cNvSpPr txBox="1"/>
          <p:nvPr/>
        </p:nvSpPr>
        <p:spPr>
          <a:xfrm>
            <a:off x="477520" y="16224"/>
            <a:ext cx="8849360" cy="5262979"/>
          </a:xfrm>
          <a:prstGeom prst="rect">
            <a:avLst/>
          </a:prstGeom>
          <a:noFill/>
        </p:spPr>
        <p:txBody>
          <a:bodyPr wrap="square">
            <a:spAutoFit/>
          </a:bodyPr>
          <a:lstStyle/>
          <a:p>
            <a:r>
              <a:rPr lang="en-US" sz="2400" b="1" dirty="0">
                <a:solidFill>
                  <a:schemeClr val="accent6">
                    <a:lumMod val="60000"/>
                    <a:lumOff val="40000"/>
                  </a:schemeClr>
                </a:solidFill>
              </a:rPr>
              <a:t>Modern AI Agents </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Today’s </a:t>
            </a:r>
            <a:r>
              <a:rPr lang="en-US" sz="2400" b="1" dirty="0">
                <a:solidFill>
                  <a:schemeClr val="accent6">
                    <a:lumMod val="60000"/>
                    <a:lumOff val="40000"/>
                  </a:schemeClr>
                </a:solidFill>
              </a:rPr>
              <a:t>Agentic AI systems</a:t>
            </a:r>
            <a:r>
              <a:rPr lang="en-US" sz="2400" dirty="0">
                <a:solidFill>
                  <a:schemeClr val="accent6">
                    <a:lumMod val="60000"/>
                    <a:lumOff val="40000"/>
                  </a:schemeClr>
                </a:solidFill>
              </a:rPr>
              <a:t> often use:</a:t>
            </a:r>
          </a:p>
          <a:p>
            <a:pPr marL="342900" indent="-342900">
              <a:buFont typeface="Arial" panose="020B0604020202020204" pitchFamily="34" charset="0"/>
              <a:buChar char="•"/>
            </a:pPr>
            <a:r>
              <a:rPr lang="en-US" sz="2400" b="1" dirty="0">
                <a:solidFill>
                  <a:schemeClr val="accent6">
                    <a:lumMod val="60000"/>
                    <a:lumOff val="40000"/>
                  </a:schemeClr>
                </a:solidFill>
              </a:rPr>
              <a:t>Large Language Models (LLMs)</a:t>
            </a:r>
            <a:r>
              <a:rPr lang="en-US" sz="2400" dirty="0">
                <a:solidFill>
                  <a:schemeClr val="accent6">
                    <a:lumMod val="60000"/>
                    <a:lumOff val="40000"/>
                  </a:schemeClr>
                </a:solidFill>
              </a:rPr>
              <a:t> as the “brain” </a:t>
            </a:r>
          </a:p>
          <a:p>
            <a:pPr marL="342900" indent="-342900">
              <a:buFont typeface="Arial" panose="020B0604020202020204" pitchFamily="34" charset="0"/>
              <a:buChar char="•"/>
            </a:pPr>
            <a:r>
              <a:rPr lang="en-US" sz="2400" dirty="0">
                <a:solidFill>
                  <a:schemeClr val="accent6">
                    <a:lumMod val="60000"/>
                    <a:lumOff val="40000"/>
                  </a:schemeClr>
                </a:solidFill>
              </a:rPr>
              <a:t>Tools (APIs, search, calculators) </a:t>
            </a:r>
          </a:p>
          <a:p>
            <a:pPr marL="342900" indent="-342900">
              <a:buFont typeface="Arial" panose="020B0604020202020204" pitchFamily="34" charset="0"/>
              <a:buChar char="•"/>
            </a:pPr>
            <a:r>
              <a:rPr lang="en-US" sz="2400" dirty="0">
                <a:solidFill>
                  <a:schemeClr val="accent6">
                    <a:lumMod val="60000"/>
                    <a:lumOff val="40000"/>
                  </a:schemeClr>
                </a:solidFill>
              </a:rPr>
              <a:t>Memory (vector DB / RAG) </a:t>
            </a:r>
          </a:p>
          <a:p>
            <a:pPr marL="342900" indent="-342900">
              <a:buFont typeface="Arial" panose="020B0604020202020204" pitchFamily="34" charset="0"/>
              <a:buChar char="•"/>
            </a:pPr>
            <a:r>
              <a:rPr lang="en-US" sz="2400" dirty="0">
                <a:solidFill>
                  <a:schemeClr val="accent6">
                    <a:lumMod val="60000"/>
                    <a:lumOff val="40000"/>
                  </a:schemeClr>
                </a:solidFill>
              </a:rPr>
              <a:t>Planning (multi-step reasoning)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Example:</a:t>
            </a:r>
            <a:br>
              <a:rPr lang="en-US" sz="2400" dirty="0">
                <a:solidFill>
                  <a:schemeClr val="accent6">
                    <a:lumMod val="60000"/>
                    <a:lumOff val="40000"/>
                  </a:schemeClr>
                </a:solidFill>
              </a:rPr>
            </a:br>
            <a:r>
              <a:rPr lang="en-US" sz="2400" dirty="0">
                <a:solidFill>
                  <a:schemeClr val="accent6">
                    <a:lumMod val="60000"/>
                    <a:lumOff val="40000"/>
                  </a:schemeClr>
                </a:solidFill>
              </a:rPr>
              <a:t>“Book me the cheapest flight”</a:t>
            </a:r>
          </a:p>
          <a:p>
            <a:r>
              <a:rPr lang="en-US" sz="2400" dirty="0">
                <a:solidFill>
                  <a:schemeClr val="accent6">
                    <a:lumMod val="60000"/>
                    <a:lumOff val="40000"/>
                  </a:schemeClr>
                </a:solidFill>
              </a:rPr>
              <a:t>Agent searches flights </a:t>
            </a:r>
          </a:p>
          <a:p>
            <a:r>
              <a:rPr lang="en-US" sz="2400" dirty="0">
                <a:solidFill>
                  <a:schemeClr val="accent6">
                    <a:lumMod val="60000"/>
                    <a:lumOff val="40000"/>
                  </a:schemeClr>
                </a:solidFill>
              </a:rPr>
              <a:t>Compares prices </a:t>
            </a:r>
          </a:p>
          <a:p>
            <a:r>
              <a:rPr lang="en-US" sz="2400" dirty="0">
                <a:solidFill>
                  <a:schemeClr val="accent6">
                    <a:lumMod val="60000"/>
                    <a:lumOff val="40000"/>
                  </a:schemeClr>
                </a:solidFill>
              </a:rPr>
              <a:t>Decides best option </a:t>
            </a:r>
          </a:p>
          <a:p>
            <a:r>
              <a:rPr lang="en-US" sz="2400" dirty="0">
                <a:solidFill>
                  <a:schemeClr val="accent6">
                    <a:lumMod val="60000"/>
                    <a:lumOff val="40000"/>
                  </a:schemeClr>
                </a:solidFill>
              </a:rPr>
              <a:t>Books ticket</a:t>
            </a:r>
          </a:p>
        </p:txBody>
      </p:sp>
    </p:spTree>
    <p:extLst>
      <p:ext uri="{BB962C8B-B14F-4D97-AF65-F5344CB8AC3E}">
        <p14:creationId xmlns:p14="http://schemas.microsoft.com/office/powerpoint/2010/main" val="217783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C902D-FED6-06DD-5FBA-2A3A8469E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738CA-A675-3C98-CA54-11053793EBFA}"/>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ADEF9D1D-5D0D-5F47-A816-0026075E66B4}"/>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575370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1135</TotalTime>
  <Words>1337</Words>
  <Application>Microsoft Office PowerPoint</Application>
  <PresentationFormat>Widescreen</PresentationFormat>
  <Paragraphs>102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Example: booking vacations(p1)</vt:lpstr>
      <vt:lpstr>Example: booking vacations(p3)</vt:lpstr>
      <vt:lpstr>Some examples of AI Agent(p1)</vt:lpstr>
      <vt:lpstr>Some examples of AI Agent(p1)</vt:lpstr>
      <vt:lpstr>How Does an AI Agent Work?(p1)</vt:lpstr>
      <vt:lpstr>How Does an AI Agent Work?(p2)</vt:lpstr>
      <vt:lpstr>The Components of an AI agent</vt:lpstr>
      <vt:lpstr>EXTRA</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202</cp:revision>
  <dcterms:created xsi:type="dcterms:W3CDTF">2025-09-22T02:44:38Z</dcterms:created>
  <dcterms:modified xsi:type="dcterms:W3CDTF">2026-04-25T19:48:08Z</dcterms:modified>
</cp:coreProperties>
</file>