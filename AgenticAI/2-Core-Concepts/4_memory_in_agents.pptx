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6" r:id="rId3"/>
    <p:sldId id="284" r:id="rId4"/>
    <p:sldId id="285" r:id="rId5"/>
    <p:sldId id="278" r:id="rId6"/>
    <p:sldId id="283" r:id="rId7"/>
    <p:sldId id="279" r:id="rId8"/>
    <p:sldId id="282" r:id="rId9"/>
    <p:sldId id="281" r:id="rId10"/>
    <p:sldId id="277" r:id="rId11"/>
    <p:sldId id="280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in Agents: How AI Remembers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“There are 2 types of memory –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Term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Term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88594-6224-5091-5DB3-6FA6D635C4EF}"/>
              </a:ext>
            </a:extLst>
          </p:cNvPr>
          <p:cNvSpPr txBox="1"/>
          <p:nvPr/>
        </p:nvSpPr>
        <p:spPr>
          <a:xfrm>
            <a:off x="238506" y="1524137"/>
            <a:ext cx="37208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what is happening in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current conversation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AB72AD-380B-8E4F-51BF-FC99F51FFB2A}"/>
              </a:ext>
            </a:extLst>
          </p:cNvPr>
          <p:cNvSpPr txBox="1"/>
          <p:nvPr/>
        </p:nvSpPr>
        <p:spPr>
          <a:xfrm>
            <a:off x="5788152" y="1524137"/>
            <a:ext cx="51206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what should be remembered about the user/application across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conversations.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8D19-7F19-B111-A897-1ADA804E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BA7BC2-7892-4792-CE33-E9498A4C3975}"/>
              </a:ext>
            </a:extLst>
          </p:cNvPr>
          <p:cNvSpPr txBox="1"/>
          <p:nvPr/>
        </p:nvSpPr>
        <p:spPr>
          <a:xfrm>
            <a:off x="3192018" y="185308"/>
            <a:ext cx="37208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53F30-B109-CE52-A6D2-EF895D1FA1A6}"/>
              </a:ext>
            </a:extLst>
          </p:cNvPr>
          <p:cNvSpPr txBox="1"/>
          <p:nvPr/>
        </p:nvSpPr>
        <p:spPr>
          <a:xfrm>
            <a:off x="233172" y="1898827"/>
            <a:ext cx="38907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 name is Ash.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Nice to meet you, Ash.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live in Berlin.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Got it.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What is my name?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Ash    &lt;-- It remembers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BF7517-516B-31A3-D2D3-BE2341D0215A}"/>
              </a:ext>
            </a:extLst>
          </p:cNvPr>
          <p:cNvSpPr txBox="1"/>
          <p:nvPr/>
        </p:nvSpPr>
        <p:spPr>
          <a:xfrm>
            <a:off x="4942332" y="1982462"/>
            <a:ext cx="70164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took a loan of 2 lakh at 10% for 2 years. What is my EMI?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9,229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if interest changes to 20%, then what is my EMI?</a:t>
            </a:r>
          </a:p>
          <a:p>
            <a:r>
              <a:rPr lang="en-US" sz="20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(The agent may hallucinate and make up wrong figures)</a:t>
            </a:r>
            <a:endParaRPr lang="en-IN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86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94E0-30AF-EA30-6152-3CAD8FF3E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B59FD9-BC6D-30AF-59F0-2AD92D944B4F}"/>
              </a:ext>
            </a:extLst>
          </p:cNvPr>
          <p:cNvSpPr txBox="1"/>
          <p:nvPr/>
        </p:nvSpPr>
        <p:spPr>
          <a:xfrm>
            <a:off x="3200400" y="198257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1C926-8AA1-255D-7076-BA198AA1B950}"/>
              </a:ext>
            </a:extLst>
          </p:cNvPr>
          <p:cNvSpPr txBox="1"/>
          <p:nvPr/>
        </p:nvSpPr>
        <p:spPr>
          <a:xfrm>
            <a:off x="522732" y="1687174"/>
            <a:ext cx="365607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1: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My name is Ash.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Nice to meet you, Ash.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live in Berlin.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Got it.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thinking of going to India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think it is good idea</a:t>
            </a:r>
            <a:endParaRPr lang="en-IN" sz="2000" b="1" i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CE6DDE-8A1C-B5B8-4C3A-03EEBBAE2967}"/>
              </a:ext>
            </a:extLst>
          </p:cNvPr>
          <p:cNvSpPr txBox="1"/>
          <p:nvPr/>
        </p:nvSpPr>
        <p:spPr>
          <a:xfrm>
            <a:off x="6355080" y="1751182"/>
            <a:ext cx="55427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2:</a:t>
            </a:r>
          </a:p>
          <a:p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much is ticket to India ? </a:t>
            </a:r>
          </a:p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Agent: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price of ticket from 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Berlin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to India could range from  $ 1000 to $ 1500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 remembers the city Berlin from conversation 1</a:t>
            </a:r>
          </a:p>
        </p:txBody>
      </p:sp>
    </p:spTree>
    <p:extLst>
      <p:ext uri="{BB962C8B-B14F-4D97-AF65-F5344CB8AC3E}">
        <p14:creationId xmlns:p14="http://schemas.microsoft.com/office/powerpoint/2010/main" val="1182758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13ED8FD-8A89-D4E9-27EB-C95104D8160A}"/>
              </a:ext>
            </a:extLst>
          </p:cNvPr>
          <p:cNvSpPr/>
          <p:nvPr/>
        </p:nvSpPr>
        <p:spPr>
          <a:xfrm>
            <a:off x="3648456" y="402336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1E4A15-60D0-D197-0FD5-7599CF896F71}"/>
              </a:ext>
            </a:extLst>
          </p:cNvPr>
          <p:cNvSpPr/>
          <p:nvPr/>
        </p:nvSpPr>
        <p:spPr>
          <a:xfrm>
            <a:off x="710184" y="2063496"/>
            <a:ext cx="293827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Short-term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SQLite (Local / POC)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PostGreSQL</a:t>
            </a:r>
            <a:r>
              <a:rPr lang="en-US" dirty="0"/>
              <a:t> (Industry)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0A5120-544A-94E1-5E97-CB9216E33694}"/>
              </a:ext>
            </a:extLst>
          </p:cNvPr>
          <p:cNvSpPr/>
          <p:nvPr/>
        </p:nvSpPr>
        <p:spPr>
          <a:xfrm>
            <a:off x="4690872" y="2127504"/>
            <a:ext cx="303580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Long-term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PineCone</a:t>
            </a:r>
            <a:r>
              <a:rPr lang="en-US" dirty="0"/>
              <a:t> (Industry)</a:t>
            </a:r>
            <a:endParaRPr lang="en-IN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0BEF5E4-928A-23CF-CB48-54B58CE73CCF}"/>
              </a:ext>
            </a:extLst>
          </p:cNvPr>
          <p:cNvSpPr/>
          <p:nvPr/>
        </p:nvSpPr>
        <p:spPr>
          <a:xfrm rot="6973933">
            <a:off x="3048716" y="1414783"/>
            <a:ext cx="72847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7A51E57-605C-94F0-DCE4-DF3D01FC2DEA}"/>
              </a:ext>
            </a:extLst>
          </p:cNvPr>
          <p:cNvSpPr/>
          <p:nvPr/>
        </p:nvSpPr>
        <p:spPr>
          <a:xfrm rot="3603537">
            <a:off x="4420710" y="1448621"/>
            <a:ext cx="72847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78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97A0-CA55-C755-3A62-5C45BEFD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8520C7-3D5E-3DFD-2325-37862698A271}"/>
              </a:ext>
            </a:extLst>
          </p:cNvPr>
          <p:cNvSpPr txBox="1"/>
          <p:nvPr/>
        </p:nvSpPr>
        <p:spPr>
          <a:xfrm>
            <a:off x="100584" y="304628"/>
            <a:ext cx="85770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Memory: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use a technique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memory summarization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periodically compressing older conversation into a summary, keeping the gist without keeping every word. </a:t>
            </a:r>
          </a:p>
        </p:txBody>
      </p:sp>
    </p:spTree>
    <p:extLst>
      <p:ext uri="{BB962C8B-B14F-4D97-AF65-F5344CB8AC3E}">
        <p14:creationId xmlns:p14="http://schemas.microsoft.com/office/powerpoint/2010/main" val="3737621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9DFC-D025-2ECD-48D7-4BED0CD98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906320-5AB1-0C3D-E59E-7B20B3E50A54}"/>
              </a:ext>
            </a:extLst>
          </p:cNvPr>
          <p:cNvSpPr txBox="1"/>
          <p:nvPr/>
        </p:nvSpPr>
        <p:spPr>
          <a:xfrm>
            <a:off x="100584" y="304628"/>
            <a:ext cx="10607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Long-term memory is persisted in a database, retrievable when needed, growing indefinitely.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a new session starts, the agent doesn't load all of long-term memory into context (that would overflow it). Instead, it fetches only what's relevant to the current task.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question is: how do you know what's relevant?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structured data — account numbers, transaction records, customer profiles — a standard SQL database query works fine. You search by ID or date, get back exact rows.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unstructured knowledge — past conversations, documents, notes, emails — exact-match SQL fails. You use vector databases.</a:t>
            </a:r>
          </a:p>
        </p:txBody>
      </p:sp>
    </p:spTree>
    <p:extLst>
      <p:ext uri="{BB962C8B-B14F-4D97-AF65-F5344CB8AC3E}">
        <p14:creationId xmlns:p14="http://schemas.microsoft.com/office/powerpoint/2010/main" val="213099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EF23-9000-16F3-86FD-5AF48088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0C9829-07E1-F63C-A3E4-21BDAFE6D898}"/>
              </a:ext>
            </a:extLst>
          </p:cNvPr>
          <p:cNvSpPr txBox="1"/>
          <p:nvPr/>
        </p:nvSpPr>
        <p:spPr>
          <a:xfrm>
            <a:off x="100584" y="304628"/>
            <a:ext cx="10607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Official documentation:</a:t>
            </a:r>
          </a:p>
          <a:p>
            <a:b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https://docs.langchain.com/oss/python/concepts/memory</a:t>
            </a:r>
          </a:p>
        </p:txBody>
      </p:sp>
    </p:spTree>
    <p:extLst>
      <p:ext uri="{BB962C8B-B14F-4D97-AF65-F5344CB8AC3E}">
        <p14:creationId xmlns:p14="http://schemas.microsoft.com/office/powerpoint/2010/main" val="278409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4736-A728-E40F-4B08-F26E6CD1B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FA625-50E0-A420-4B0D-D9864C7FAC66}"/>
              </a:ext>
            </a:extLst>
          </p:cNvPr>
          <p:cNvSpPr txBox="1"/>
          <p:nvPr/>
        </p:nvSpPr>
        <p:spPr>
          <a:xfrm>
            <a:off x="100584" y="304628"/>
            <a:ext cx="10607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Prompt for Class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 fintech agent remembers everything a customer has ever said —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their financial worries,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family situation,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their investment fears.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makes it far more helpful.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 also means someone is storing a detailed psychological and financial profile of every customer. </a:t>
            </a:r>
          </a:p>
          <a:p>
            <a:endParaRPr lang="en-US" sz="24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owns that memory?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the customer delete it?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if the bank is acquired?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there be a 'right to be forgotten' for AI memory?"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12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C1A3-79AE-B555-8773-DAF5D030E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6E5B9-E313-FA17-19D0-B69F344B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25" y="996697"/>
            <a:ext cx="8796981" cy="535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33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A335-C7CE-B5C5-ECB8-1A6E5DF5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91A7EA-0A82-DF07-B9D5-133355599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6" y="1234440"/>
            <a:ext cx="9097978" cy="5489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98FCAF-9B34-8488-711A-D162CB839238}"/>
              </a:ext>
            </a:extLst>
          </p:cNvPr>
          <p:cNvSpPr txBox="1"/>
          <p:nvPr/>
        </p:nvSpPr>
        <p:spPr>
          <a:xfrm>
            <a:off x="100584" y="304628"/>
            <a:ext cx="10607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how a well-designed fintech agent — say, a wealth management assistant — would wire all four memory types together: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35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1324</TotalTime>
  <Words>527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215</cp:revision>
  <dcterms:created xsi:type="dcterms:W3CDTF">2025-09-22T02:44:38Z</dcterms:created>
  <dcterms:modified xsi:type="dcterms:W3CDTF">2026-09-14T18:35:39Z</dcterms:modified>
</cp:coreProperties>
</file>