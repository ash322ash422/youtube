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handoutMasterIdLst>
    <p:handoutMasterId r:id="rId12"/>
  </p:handoutMasterIdLst>
  <p:sldIdLst>
    <p:sldId id="257" r:id="rId2"/>
    <p:sldId id="276" r:id="rId3"/>
    <p:sldId id="278" r:id="rId4"/>
    <p:sldId id="279" r:id="rId5"/>
    <p:sldId id="282" r:id="rId6"/>
    <p:sldId id="281" r:id="rId7"/>
    <p:sldId id="277" r:id="rId8"/>
    <p:sldId id="280" r:id="rId9"/>
    <p:sldId id="275"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notesViewPr>
    <p:cSldViewPr snapToGrid="0">
      <p:cViewPr varScale="1">
        <p:scale>
          <a:sx n="84" d="100"/>
          <a:sy n="84" d="100"/>
        </p:scale>
        <p:origin x="3054"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ACA3A45-07AA-881E-EBAC-FAE1FFF9B3B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72C2385-62BD-1B9C-A617-554DDB21E0F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AEECA8-D063-486F-AE31-5020270C1449}" type="datetimeFigureOut">
              <a:rPr lang="en-US" smtClean="0"/>
              <a:t>4/29/2026</a:t>
            </a:fld>
            <a:endParaRPr lang="en-US"/>
          </a:p>
        </p:txBody>
      </p:sp>
      <p:sp>
        <p:nvSpPr>
          <p:cNvPr id="4" name="Footer Placeholder 3">
            <a:extLst>
              <a:ext uri="{FF2B5EF4-FFF2-40B4-BE49-F238E27FC236}">
                <a16:creationId xmlns:a16="http://schemas.microsoft.com/office/drawing/2014/main" id="{C5328A6F-7933-1F9C-E9F6-B4A61026FBA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6F9A57F-3A38-6EDA-B76D-A3DB4F6978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793F6CE-D1D9-4B7B-9040-C7CAC074A6CE}" type="slidenum">
              <a:rPr lang="en-US" smtClean="0"/>
              <a:t>‹#›</a:t>
            </a:fld>
            <a:endParaRPr lang="en-US"/>
          </a:p>
        </p:txBody>
      </p:sp>
    </p:spTree>
    <p:extLst>
      <p:ext uri="{BB962C8B-B14F-4D97-AF65-F5344CB8AC3E}">
        <p14:creationId xmlns:p14="http://schemas.microsoft.com/office/powerpoint/2010/main" val="3976133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233BD1-3BA8-448D-9D08-7846095EA517}" type="datetimeFigureOut">
              <a:rPr lang="en-US" smtClean="0"/>
              <a:t>4/29/2026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63499C-1FAC-4F66-96F8-6DA2CC28B748}" type="slidenum">
              <a:rPr lang="en-US" smtClean="0"/>
              <a:t>‹#›</a:t>
            </a:fld>
            <a:endParaRPr lang="en-US"/>
          </a:p>
        </p:txBody>
      </p:sp>
    </p:spTree>
    <p:extLst>
      <p:ext uri="{BB962C8B-B14F-4D97-AF65-F5344CB8AC3E}">
        <p14:creationId xmlns:p14="http://schemas.microsoft.com/office/powerpoint/2010/main" val="81753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B0F26-247A-F2E0-8FBA-6EA7974D69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94F308-CEE8-92BC-D91A-4212DEA015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32794D3-11DF-A675-8D28-EC65EF27521E}"/>
              </a:ext>
            </a:extLst>
          </p:cNvPr>
          <p:cNvSpPr>
            <a:spLocks noGrp="1"/>
          </p:cNvSpPr>
          <p:nvPr>
            <p:ph type="dt" sz="half" idx="10"/>
          </p:nvPr>
        </p:nvSpPr>
        <p:spPr/>
        <p:txBody>
          <a:bodyPr/>
          <a:lstStyle/>
          <a:p>
            <a:fld id="{6383FAE1-13DE-4511-8C1B-C8AFB720664C}" type="datetimeFigureOut">
              <a:rPr lang="en-US" smtClean="0"/>
              <a:t>4/29/2026</a:t>
            </a:fld>
            <a:endParaRPr lang="en-US"/>
          </a:p>
        </p:txBody>
      </p:sp>
      <p:sp>
        <p:nvSpPr>
          <p:cNvPr id="5" name="Footer Placeholder 4">
            <a:extLst>
              <a:ext uri="{FF2B5EF4-FFF2-40B4-BE49-F238E27FC236}">
                <a16:creationId xmlns:a16="http://schemas.microsoft.com/office/drawing/2014/main" id="{EC53FDAF-B83A-AE0A-B811-B7195D37FD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9530BD-9515-D107-426C-B72742CBF0BF}"/>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4492826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7E77-8771-0BA4-B1D5-7F1DE0138C3D}"/>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9543F30B-85C4-D934-2F30-179E3FCE9424}"/>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8EF7AF-5CE7-4387-31F9-79D35620609B}"/>
              </a:ext>
            </a:extLst>
          </p:cNvPr>
          <p:cNvSpPr>
            <a:spLocks noGrp="1"/>
          </p:cNvSpPr>
          <p:nvPr>
            <p:ph type="dt" sz="half" idx="10"/>
          </p:nvPr>
        </p:nvSpPr>
        <p:spPr/>
        <p:txBody>
          <a:bodyPr/>
          <a:lstStyle/>
          <a:p>
            <a:fld id="{6383FAE1-13DE-4511-8C1B-C8AFB720664C}" type="datetimeFigureOut">
              <a:rPr lang="en-US" smtClean="0"/>
              <a:t>4/29/2026</a:t>
            </a:fld>
            <a:endParaRPr lang="en-US"/>
          </a:p>
        </p:txBody>
      </p:sp>
      <p:sp>
        <p:nvSpPr>
          <p:cNvPr id="5" name="Footer Placeholder 4">
            <a:extLst>
              <a:ext uri="{FF2B5EF4-FFF2-40B4-BE49-F238E27FC236}">
                <a16:creationId xmlns:a16="http://schemas.microsoft.com/office/drawing/2014/main" id="{B0FCCC03-E434-4684-B55E-3F2D399169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1F3B05-B983-07A3-4B58-9D2E18438894}"/>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596036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23C21-D6A5-2D17-9BFA-70B3353D6A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2D89B8-191B-6AAD-5D5E-32B3572657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4CC528A-1563-9376-E089-4DA80AD11D0C}"/>
              </a:ext>
            </a:extLst>
          </p:cNvPr>
          <p:cNvSpPr>
            <a:spLocks noGrp="1"/>
          </p:cNvSpPr>
          <p:nvPr>
            <p:ph type="dt" sz="half" idx="10"/>
          </p:nvPr>
        </p:nvSpPr>
        <p:spPr/>
        <p:txBody>
          <a:bodyPr/>
          <a:lstStyle/>
          <a:p>
            <a:fld id="{6383FAE1-13DE-4511-8C1B-C8AFB720664C}" type="datetimeFigureOut">
              <a:rPr lang="en-US" smtClean="0"/>
              <a:t>4/29/2026</a:t>
            </a:fld>
            <a:endParaRPr lang="en-US"/>
          </a:p>
        </p:txBody>
      </p:sp>
      <p:sp>
        <p:nvSpPr>
          <p:cNvPr id="5" name="Footer Placeholder 4">
            <a:extLst>
              <a:ext uri="{FF2B5EF4-FFF2-40B4-BE49-F238E27FC236}">
                <a16:creationId xmlns:a16="http://schemas.microsoft.com/office/drawing/2014/main" id="{0519A01D-6FDA-C269-FF95-3FDB205C8E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980A21-61AC-4B39-D886-3A327DB7346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941114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03C29-6DED-2A1F-5B4D-128B63652F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494ECB-0FCA-1AD0-F19A-27A4C16DC0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07402C2-E657-5A54-9627-8C9CBCBBE0A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501FADA-AE3E-B30F-6353-BF0478CF0E39}"/>
              </a:ext>
            </a:extLst>
          </p:cNvPr>
          <p:cNvSpPr>
            <a:spLocks noGrp="1"/>
          </p:cNvSpPr>
          <p:nvPr>
            <p:ph type="dt" sz="half" idx="10"/>
          </p:nvPr>
        </p:nvSpPr>
        <p:spPr/>
        <p:txBody>
          <a:bodyPr/>
          <a:lstStyle/>
          <a:p>
            <a:fld id="{6383FAE1-13DE-4511-8C1B-C8AFB720664C}" type="datetimeFigureOut">
              <a:rPr lang="en-US" smtClean="0"/>
              <a:t>4/29/2026</a:t>
            </a:fld>
            <a:endParaRPr lang="en-US"/>
          </a:p>
        </p:txBody>
      </p:sp>
      <p:sp>
        <p:nvSpPr>
          <p:cNvPr id="6" name="Footer Placeholder 5">
            <a:extLst>
              <a:ext uri="{FF2B5EF4-FFF2-40B4-BE49-F238E27FC236}">
                <a16:creationId xmlns:a16="http://schemas.microsoft.com/office/drawing/2014/main" id="{7F16B517-96D7-6416-0C24-B14942ADD4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46F179-BF2F-393A-1AA6-C893B7B9FA3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9258523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50483-A0C8-BF5B-61DE-39BC6FF9C12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46DB55B-C040-F211-BC81-97628EA484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93EEAE-1CB3-AAC8-5818-D61E389EF1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CE50F0-1141-D645-3892-2DA29633A3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2E976C-52C7-C22D-28F7-B21E295185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97D00B-0B76-5C50-686B-A01396FCD6FA}"/>
              </a:ext>
            </a:extLst>
          </p:cNvPr>
          <p:cNvSpPr>
            <a:spLocks noGrp="1"/>
          </p:cNvSpPr>
          <p:nvPr>
            <p:ph type="dt" sz="half" idx="10"/>
          </p:nvPr>
        </p:nvSpPr>
        <p:spPr/>
        <p:txBody>
          <a:bodyPr/>
          <a:lstStyle/>
          <a:p>
            <a:fld id="{6383FAE1-13DE-4511-8C1B-C8AFB720664C}" type="datetimeFigureOut">
              <a:rPr lang="en-US" smtClean="0"/>
              <a:t>4/29/2026</a:t>
            </a:fld>
            <a:endParaRPr lang="en-US"/>
          </a:p>
        </p:txBody>
      </p:sp>
      <p:sp>
        <p:nvSpPr>
          <p:cNvPr id="8" name="Footer Placeholder 7">
            <a:extLst>
              <a:ext uri="{FF2B5EF4-FFF2-40B4-BE49-F238E27FC236}">
                <a16:creationId xmlns:a16="http://schemas.microsoft.com/office/drawing/2014/main" id="{7B842B8D-3B74-4B67-9462-6D2C7ED9AD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992D4BE-CE8C-0250-FE7D-1F370E25FE2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657502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DBE28-2732-66A2-163C-433854615E7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70F3D6-B4BC-015F-96FA-1720B040CC96}"/>
              </a:ext>
            </a:extLst>
          </p:cNvPr>
          <p:cNvSpPr>
            <a:spLocks noGrp="1"/>
          </p:cNvSpPr>
          <p:nvPr>
            <p:ph type="dt" sz="half" idx="10"/>
          </p:nvPr>
        </p:nvSpPr>
        <p:spPr/>
        <p:txBody>
          <a:bodyPr/>
          <a:lstStyle/>
          <a:p>
            <a:fld id="{6383FAE1-13DE-4511-8C1B-C8AFB720664C}" type="datetimeFigureOut">
              <a:rPr lang="en-US" smtClean="0"/>
              <a:t>4/29/2026</a:t>
            </a:fld>
            <a:endParaRPr lang="en-US"/>
          </a:p>
        </p:txBody>
      </p:sp>
      <p:sp>
        <p:nvSpPr>
          <p:cNvPr id="4" name="Footer Placeholder 3">
            <a:extLst>
              <a:ext uri="{FF2B5EF4-FFF2-40B4-BE49-F238E27FC236}">
                <a16:creationId xmlns:a16="http://schemas.microsoft.com/office/drawing/2014/main" id="{21168A87-13A5-0A5A-4D74-C75E277755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D6D7CB-BD93-54BE-CB47-7FBA06B18442}"/>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734650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4114B-4550-9F52-0EF5-D1E9CF2FD384}"/>
              </a:ext>
            </a:extLst>
          </p:cNvPr>
          <p:cNvSpPr>
            <a:spLocks noGrp="1"/>
          </p:cNvSpPr>
          <p:nvPr>
            <p:ph type="dt" sz="half" idx="10"/>
          </p:nvPr>
        </p:nvSpPr>
        <p:spPr/>
        <p:txBody>
          <a:bodyPr/>
          <a:lstStyle/>
          <a:p>
            <a:fld id="{6383FAE1-13DE-4511-8C1B-C8AFB720664C}" type="datetimeFigureOut">
              <a:rPr lang="en-US" smtClean="0"/>
              <a:t>4/29/2026</a:t>
            </a:fld>
            <a:endParaRPr lang="en-US"/>
          </a:p>
        </p:txBody>
      </p:sp>
      <p:sp>
        <p:nvSpPr>
          <p:cNvPr id="3" name="Footer Placeholder 2">
            <a:extLst>
              <a:ext uri="{FF2B5EF4-FFF2-40B4-BE49-F238E27FC236}">
                <a16:creationId xmlns:a16="http://schemas.microsoft.com/office/drawing/2014/main" id="{0BF3136E-0C79-F4F5-F24E-D5FF71CDB5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2E2157-F670-A339-0CB7-7399568D5A1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96501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02A98-8738-1E16-A16E-D8858EEA762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FC67E5-1169-257D-D9E7-C7B952C213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0B2CF6C-0F85-566A-86BC-CBFEB17E75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A64F0FC-ECB8-638F-A224-98FFA8270730}"/>
              </a:ext>
            </a:extLst>
          </p:cNvPr>
          <p:cNvSpPr>
            <a:spLocks noGrp="1"/>
          </p:cNvSpPr>
          <p:nvPr>
            <p:ph type="dt" sz="half" idx="10"/>
          </p:nvPr>
        </p:nvSpPr>
        <p:spPr/>
        <p:txBody>
          <a:bodyPr/>
          <a:lstStyle/>
          <a:p>
            <a:fld id="{6383FAE1-13DE-4511-8C1B-C8AFB720664C}" type="datetimeFigureOut">
              <a:rPr lang="en-US" smtClean="0"/>
              <a:t>4/29/2026</a:t>
            </a:fld>
            <a:endParaRPr lang="en-US"/>
          </a:p>
        </p:txBody>
      </p:sp>
      <p:sp>
        <p:nvSpPr>
          <p:cNvPr id="6" name="Footer Placeholder 5">
            <a:extLst>
              <a:ext uri="{FF2B5EF4-FFF2-40B4-BE49-F238E27FC236}">
                <a16:creationId xmlns:a16="http://schemas.microsoft.com/office/drawing/2014/main" id="{A8095B89-4DC8-435E-3545-6187AD3E00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1B68CF-9592-FB7C-B517-0CC962C8B6D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44300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3E2BC2-F728-2BA5-C848-31FA3458A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957B909-12C3-703B-57E9-008076312F6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DAE4D7A-BC41-33D0-D36D-08BB5C2C59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7FB83-437D-9293-0B99-2DC89A047DD5}"/>
              </a:ext>
            </a:extLst>
          </p:cNvPr>
          <p:cNvSpPr>
            <a:spLocks noGrp="1"/>
          </p:cNvSpPr>
          <p:nvPr>
            <p:ph type="dt" sz="half" idx="10"/>
          </p:nvPr>
        </p:nvSpPr>
        <p:spPr/>
        <p:txBody>
          <a:bodyPr/>
          <a:lstStyle/>
          <a:p>
            <a:fld id="{6383FAE1-13DE-4511-8C1B-C8AFB720664C}" type="datetimeFigureOut">
              <a:rPr lang="en-US" smtClean="0"/>
              <a:t>4/29/2026</a:t>
            </a:fld>
            <a:endParaRPr lang="en-US"/>
          </a:p>
        </p:txBody>
      </p:sp>
      <p:sp>
        <p:nvSpPr>
          <p:cNvPr id="6" name="Footer Placeholder 5">
            <a:extLst>
              <a:ext uri="{FF2B5EF4-FFF2-40B4-BE49-F238E27FC236}">
                <a16:creationId xmlns:a16="http://schemas.microsoft.com/office/drawing/2014/main" id="{1EDF5674-4DC1-3171-8FEB-C280686D41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D431F6-5490-78BA-7028-0BD08BF1A0FA}"/>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3808603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002A-A21A-4F99-1BCE-F61C85D7B6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E85D03-9A7F-4A9E-379E-2DEA86D21F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DEEFB4-95FB-FEDD-75E7-143E7ED29C8A}"/>
              </a:ext>
            </a:extLst>
          </p:cNvPr>
          <p:cNvSpPr>
            <a:spLocks noGrp="1"/>
          </p:cNvSpPr>
          <p:nvPr>
            <p:ph type="dt" sz="half" idx="10"/>
          </p:nvPr>
        </p:nvSpPr>
        <p:spPr/>
        <p:txBody>
          <a:bodyPr/>
          <a:lstStyle/>
          <a:p>
            <a:fld id="{6383FAE1-13DE-4511-8C1B-C8AFB720664C}" type="datetimeFigureOut">
              <a:rPr lang="en-US" smtClean="0"/>
              <a:t>4/29/2026</a:t>
            </a:fld>
            <a:endParaRPr lang="en-US"/>
          </a:p>
        </p:txBody>
      </p:sp>
      <p:sp>
        <p:nvSpPr>
          <p:cNvPr id="5" name="Footer Placeholder 4">
            <a:extLst>
              <a:ext uri="{FF2B5EF4-FFF2-40B4-BE49-F238E27FC236}">
                <a16:creationId xmlns:a16="http://schemas.microsoft.com/office/drawing/2014/main" id="{F1BCE0D7-1712-FF0C-D965-BFD5AE1610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2632A1-4243-F65B-A2B0-3F2142C3415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42750797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293F13-2480-AB35-1A68-57A54CE6CD6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BDA286C-2521-2961-CABA-5684DF43FB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D5FF44-F63B-872A-DC8D-A873790A64A3}"/>
              </a:ext>
            </a:extLst>
          </p:cNvPr>
          <p:cNvSpPr>
            <a:spLocks noGrp="1"/>
          </p:cNvSpPr>
          <p:nvPr>
            <p:ph type="dt" sz="half" idx="10"/>
          </p:nvPr>
        </p:nvSpPr>
        <p:spPr/>
        <p:txBody>
          <a:bodyPr/>
          <a:lstStyle/>
          <a:p>
            <a:fld id="{6383FAE1-13DE-4511-8C1B-C8AFB720664C}" type="datetimeFigureOut">
              <a:rPr lang="en-US" smtClean="0"/>
              <a:t>4/29/2026</a:t>
            </a:fld>
            <a:endParaRPr lang="en-US"/>
          </a:p>
        </p:txBody>
      </p:sp>
      <p:sp>
        <p:nvSpPr>
          <p:cNvPr id="5" name="Footer Placeholder 4">
            <a:extLst>
              <a:ext uri="{FF2B5EF4-FFF2-40B4-BE49-F238E27FC236}">
                <a16:creationId xmlns:a16="http://schemas.microsoft.com/office/drawing/2014/main" id="{4E653A11-7793-38C6-0506-A6FBE9A02A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0962C0-F018-7629-445C-DDCA8AE1401B}"/>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129988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CEE1C2-DF65-6CAD-D1EF-22450840439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46AFB6A6-8766-C849-1846-0F38750241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B55176B-E136-1615-D0B5-186783ACB8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83FAE1-13DE-4511-8C1B-C8AFB720664C}" type="datetimeFigureOut">
              <a:rPr lang="en-US" smtClean="0"/>
              <a:t>4/29/2026</a:t>
            </a:fld>
            <a:endParaRPr lang="en-US"/>
          </a:p>
        </p:txBody>
      </p:sp>
      <p:sp>
        <p:nvSpPr>
          <p:cNvPr id="5" name="Footer Placeholder 4">
            <a:extLst>
              <a:ext uri="{FF2B5EF4-FFF2-40B4-BE49-F238E27FC236}">
                <a16:creationId xmlns:a16="http://schemas.microsoft.com/office/drawing/2014/main" id="{5E5AAAF6-4731-DB91-AB26-A07CEF1B9D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814165E-BEE7-F086-BE90-50642610F0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BC7A09-79EE-44A0-8F92-750D7C83D871}" type="slidenum">
              <a:rPr lang="en-US" smtClean="0"/>
              <a:t>‹#›</a:t>
            </a:fld>
            <a:endParaRPr lang="en-US"/>
          </a:p>
        </p:txBody>
      </p:sp>
      <p:pic>
        <p:nvPicPr>
          <p:cNvPr id="8" name="Picture 7">
            <a:extLst>
              <a:ext uri="{FF2B5EF4-FFF2-40B4-BE49-F238E27FC236}">
                <a16:creationId xmlns:a16="http://schemas.microsoft.com/office/drawing/2014/main" id="{9F3932AB-6107-98C9-CEDA-32A7DF597298}"/>
              </a:ext>
            </a:extLst>
          </p:cNvPr>
          <p:cNvPicPr>
            <a:picLocks noChangeAspect="1"/>
          </p:cNvPicPr>
          <p:nvPr userDrawn="1"/>
        </p:nvPicPr>
        <p:blipFill>
          <a:blip r:embed="rId13">
            <a:alphaModFix amt="50000"/>
            <a:extLst>
              <a:ext uri="{28A0092B-C50C-407E-A947-70E740481C1C}">
                <a14:useLocalDpi xmlns:a14="http://schemas.microsoft.com/office/drawing/2010/main" val="0"/>
              </a:ext>
            </a:extLst>
          </a:blip>
          <a:srcRect l="26008" t="39529" r="41606" b="46715"/>
          <a:stretch>
            <a:fillRect/>
          </a:stretch>
        </p:blipFill>
        <p:spPr>
          <a:xfrm>
            <a:off x="212435" y="136524"/>
            <a:ext cx="1330037" cy="1025209"/>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7" name="Picture 6">
            <a:extLst>
              <a:ext uri="{FF2B5EF4-FFF2-40B4-BE49-F238E27FC236}">
                <a16:creationId xmlns:a16="http://schemas.microsoft.com/office/drawing/2014/main" id="{2CA22C5A-FA6D-B699-950E-8D249A969331}"/>
              </a:ext>
            </a:extLst>
          </p:cNvPr>
          <p:cNvPicPr>
            <a:picLocks noChangeAspect="1"/>
          </p:cNvPicPr>
          <p:nvPr userDrawn="1"/>
        </p:nvPicPr>
        <p:blipFill>
          <a:blip r:embed="rId13">
            <a:alphaModFix/>
            <a:extLst>
              <a:ext uri="{28A0092B-C50C-407E-A947-70E740481C1C}">
                <a14:useLocalDpi xmlns:a14="http://schemas.microsoft.com/office/drawing/2010/main" val="0"/>
              </a:ext>
            </a:extLst>
          </a:blip>
          <a:srcRect l="26008" t="39529" r="41606" b="46715"/>
          <a:stretch>
            <a:fillRect/>
          </a:stretch>
        </p:blipFill>
        <p:spPr>
          <a:xfrm>
            <a:off x="10855909" y="185738"/>
            <a:ext cx="1123656" cy="866128"/>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4999731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accent6">
              <a:lumMod val="60000"/>
              <a:lumOff val="4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accent6">
              <a:lumMod val="60000"/>
              <a:lumOff val="4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6">
              <a:lumMod val="60000"/>
              <a:lumOff val="4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lumMod val="60000"/>
              <a:lumOff val="4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6421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EBDA7-B44E-B824-B04A-1C6D1FB40ED7}"/>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E018E7A2-ACBA-1394-8855-0E8750AA2C1F}"/>
              </a:ext>
            </a:extLst>
          </p:cNvPr>
          <p:cNvSpPr txBox="1"/>
          <p:nvPr/>
        </p:nvSpPr>
        <p:spPr>
          <a:xfrm>
            <a:off x="477520" y="226536"/>
            <a:ext cx="10292080" cy="4893647"/>
          </a:xfrm>
          <a:prstGeom prst="rect">
            <a:avLst/>
          </a:prstGeom>
          <a:noFill/>
        </p:spPr>
        <p:txBody>
          <a:bodyPr wrap="square">
            <a:spAutoFit/>
          </a:bodyPr>
          <a:lstStyle/>
          <a:p>
            <a:r>
              <a:rPr lang="en-US" sz="2400" b="1" dirty="0">
                <a:solidFill>
                  <a:schemeClr val="accent6">
                    <a:lumMod val="60000"/>
                    <a:lumOff val="40000"/>
                  </a:schemeClr>
                </a:solidFill>
              </a:rPr>
              <a:t>Memory in Agents: How AI Remembers</a:t>
            </a:r>
          </a:p>
          <a:p>
            <a:endParaRPr lang="en-US" sz="2400" b="1" dirty="0">
              <a:solidFill>
                <a:schemeClr val="accent6">
                  <a:lumMod val="60000"/>
                  <a:lumOff val="40000"/>
                </a:schemeClr>
              </a:solidFill>
            </a:endParaRPr>
          </a:p>
          <a:p>
            <a:r>
              <a:rPr lang="en-US" sz="2400" i="1" dirty="0">
                <a:solidFill>
                  <a:schemeClr val="accent6">
                    <a:lumMod val="60000"/>
                    <a:lumOff val="40000"/>
                  </a:schemeClr>
                </a:solidFill>
              </a:rPr>
              <a:t>"You walk into your bank. </a:t>
            </a:r>
          </a:p>
          <a:p>
            <a:endParaRPr lang="en-US" sz="2400" i="1" dirty="0">
              <a:solidFill>
                <a:schemeClr val="accent6">
                  <a:lumMod val="60000"/>
                  <a:lumOff val="40000"/>
                </a:schemeClr>
              </a:solidFill>
            </a:endParaRPr>
          </a:p>
          <a:p>
            <a:r>
              <a:rPr lang="en-US" sz="2400" i="1" dirty="0">
                <a:solidFill>
                  <a:schemeClr val="accent6">
                    <a:lumMod val="60000"/>
                    <a:lumOff val="40000"/>
                  </a:schemeClr>
                </a:solidFill>
              </a:rPr>
              <a:t>The relationship manager recognizes you, remembers your loan application from three months ago, knows you prefer WhatsApp over email, and recalls that you asked about NPS last time. He remembers you.</a:t>
            </a:r>
          </a:p>
          <a:p>
            <a:endParaRPr lang="en-US" sz="2400" i="1" dirty="0">
              <a:solidFill>
                <a:schemeClr val="accent6">
                  <a:lumMod val="60000"/>
                  <a:lumOff val="40000"/>
                </a:schemeClr>
              </a:solidFill>
            </a:endParaRPr>
          </a:p>
          <a:p>
            <a:r>
              <a:rPr lang="en-US" sz="2400" i="1" dirty="0">
                <a:solidFill>
                  <a:schemeClr val="accent6">
                    <a:lumMod val="60000"/>
                    <a:lumOff val="40000"/>
                  </a:schemeClr>
                </a:solidFill>
              </a:rPr>
              <a:t>Now imagine if every time you visited, they had no memory of you at all — </a:t>
            </a:r>
          </a:p>
          <a:p>
            <a:pPr marL="342900" indent="-342900">
              <a:buFont typeface="Arial" panose="020B0604020202020204" pitchFamily="34" charset="0"/>
              <a:buChar char="•"/>
            </a:pPr>
            <a:r>
              <a:rPr lang="en-US" sz="2400" i="1" dirty="0">
                <a:solidFill>
                  <a:schemeClr val="accent6">
                    <a:lumMod val="60000"/>
                    <a:lumOff val="40000"/>
                  </a:schemeClr>
                </a:solidFill>
              </a:rPr>
              <a:t>you'd have to re-introduce yourself, </a:t>
            </a:r>
          </a:p>
          <a:p>
            <a:pPr marL="342900" indent="-342900">
              <a:buFont typeface="Arial" panose="020B0604020202020204" pitchFamily="34" charset="0"/>
              <a:buChar char="•"/>
            </a:pPr>
            <a:r>
              <a:rPr lang="en-US" sz="2400" i="1" dirty="0">
                <a:solidFill>
                  <a:schemeClr val="accent6">
                    <a:lumMod val="60000"/>
                    <a:lumOff val="40000"/>
                  </a:schemeClr>
                </a:solidFill>
              </a:rPr>
              <a:t>re-explain your situation, </a:t>
            </a:r>
          </a:p>
          <a:p>
            <a:pPr marL="342900" indent="-342900">
              <a:buFont typeface="Arial" panose="020B0604020202020204" pitchFamily="34" charset="0"/>
              <a:buChar char="•"/>
            </a:pPr>
            <a:r>
              <a:rPr lang="en-US" sz="2400" i="1" dirty="0">
                <a:solidFill>
                  <a:schemeClr val="accent6">
                    <a:lumMod val="60000"/>
                    <a:lumOff val="40000"/>
                  </a:schemeClr>
                </a:solidFill>
              </a:rPr>
              <a:t>re-state your preferences. </a:t>
            </a:r>
          </a:p>
          <a:p>
            <a:r>
              <a:rPr lang="en-US" sz="2400" i="1" dirty="0">
                <a:solidFill>
                  <a:schemeClr val="accent6">
                    <a:lumMod val="60000"/>
                    <a:lumOff val="40000"/>
                  </a:schemeClr>
                </a:solidFill>
              </a:rPr>
              <a:t>That's what a memoryless AI does to every user, every session."</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742783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D9C4AF6-237A-6F4C-2F60-DE91B153E39D}"/>
              </a:ext>
            </a:extLst>
          </p:cNvPr>
          <p:cNvSpPr txBox="1"/>
          <p:nvPr/>
        </p:nvSpPr>
        <p:spPr>
          <a:xfrm>
            <a:off x="100584" y="304628"/>
            <a:ext cx="8577072" cy="6001643"/>
          </a:xfrm>
          <a:prstGeom prst="rect">
            <a:avLst/>
          </a:prstGeom>
          <a:noFill/>
        </p:spPr>
        <p:txBody>
          <a:bodyPr wrap="square">
            <a:spAutoFit/>
          </a:bodyPr>
          <a:lstStyle/>
          <a:p>
            <a:pPr>
              <a:buNone/>
            </a:pPr>
            <a:r>
              <a:rPr lang="en-US" sz="2400" b="1" dirty="0">
                <a:solidFill>
                  <a:schemeClr val="accent6">
                    <a:lumMod val="60000"/>
                    <a:lumOff val="40000"/>
                  </a:schemeClr>
                </a:solidFill>
              </a:rPr>
              <a:t>Short-Term Memory: The Context Window</a:t>
            </a:r>
          </a:p>
          <a:p>
            <a:pPr>
              <a:buNone/>
            </a:pPr>
            <a:endParaRPr lang="en-US" sz="2400" b="1" dirty="0">
              <a:solidFill>
                <a:schemeClr val="accent6">
                  <a:lumMod val="60000"/>
                  <a:lumOff val="40000"/>
                </a:schemeClr>
              </a:solidFill>
            </a:endParaRPr>
          </a:p>
          <a:p>
            <a:pPr>
              <a:buNone/>
            </a:pPr>
            <a:r>
              <a:rPr lang="en-US" sz="2400" dirty="0">
                <a:solidFill>
                  <a:schemeClr val="accent6">
                    <a:lumMod val="60000"/>
                    <a:lumOff val="40000"/>
                  </a:schemeClr>
                </a:solidFill>
              </a:rPr>
              <a:t>The context window is the agent's working desk. Everything on the desk right now — the conversation so far, documents you've handed it, tool results, instructions — that's the context. The model can see and use all of it simultaneously.</a:t>
            </a:r>
          </a:p>
          <a:p>
            <a:pPr>
              <a:buNone/>
            </a:pPr>
            <a:endParaRPr lang="en-US" sz="2400" dirty="0">
              <a:solidFill>
                <a:schemeClr val="accent6">
                  <a:lumMod val="60000"/>
                  <a:lumOff val="40000"/>
                </a:schemeClr>
              </a:solidFill>
            </a:endParaRPr>
          </a:p>
          <a:p>
            <a:pPr>
              <a:buNone/>
            </a:pPr>
            <a:r>
              <a:rPr lang="en-US" sz="2400" dirty="0">
                <a:solidFill>
                  <a:schemeClr val="accent6">
                    <a:lumMod val="60000"/>
                    <a:lumOff val="40000"/>
                  </a:schemeClr>
                </a:solidFill>
              </a:rPr>
              <a:t>The critical constraint is size. Context windows are measured in tokens (roughly 0.75 words per token).  You have only finite size in  context window</a:t>
            </a:r>
          </a:p>
          <a:p>
            <a:pPr>
              <a:buNone/>
            </a:pPr>
            <a:endParaRPr lang="en-US" sz="2400" dirty="0">
              <a:solidFill>
                <a:schemeClr val="accent6">
                  <a:lumMod val="60000"/>
                  <a:lumOff val="40000"/>
                </a:schemeClr>
              </a:solidFill>
            </a:endParaRPr>
          </a:p>
          <a:p>
            <a:pPr>
              <a:buNone/>
            </a:pPr>
            <a:r>
              <a:rPr lang="en-US" sz="2400" dirty="0">
                <a:solidFill>
                  <a:schemeClr val="accent6">
                    <a:lumMod val="60000"/>
                    <a:lumOff val="40000"/>
                  </a:schemeClr>
                </a:solidFill>
              </a:rPr>
              <a:t>This creates a real engineering problem: </a:t>
            </a:r>
          </a:p>
          <a:p>
            <a:pPr>
              <a:buNone/>
            </a:pPr>
            <a:r>
              <a:rPr lang="en-US" sz="2400" i="1" dirty="0">
                <a:solidFill>
                  <a:schemeClr val="accent6">
                    <a:lumMod val="60000"/>
                    <a:lumOff val="40000"/>
                  </a:schemeClr>
                </a:solidFill>
              </a:rPr>
              <a:t>what do you keep on the desk, and what do you store elsewhere?</a:t>
            </a:r>
            <a:r>
              <a:rPr lang="en-US" sz="2400" dirty="0">
                <a:solidFill>
                  <a:schemeClr val="accent6">
                    <a:lumMod val="60000"/>
                    <a:lumOff val="40000"/>
                  </a:schemeClr>
                </a:solidFill>
              </a:rPr>
              <a:t> </a:t>
            </a:r>
          </a:p>
          <a:p>
            <a:pPr>
              <a:buNone/>
            </a:pPr>
            <a:r>
              <a:rPr lang="en-US" sz="2400" dirty="0">
                <a:solidFill>
                  <a:schemeClr val="accent6">
                    <a:lumMod val="60000"/>
                    <a:lumOff val="40000"/>
                  </a:schemeClr>
                </a:solidFill>
              </a:rPr>
              <a:t>Agents solve this with a technique called </a:t>
            </a:r>
            <a:r>
              <a:rPr lang="en-US" sz="2400" b="1" dirty="0">
                <a:solidFill>
                  <a:schemeClr val="accent6">
                    <a:lumMod val="60000"/>
                    <a:lumOff val="40000"/>
                  </a:schemeClr>
                </a:solidFill>
              </a:rPr>
              <a:t>memory summarization</a:t>
            </a:r>
            <a:r>
              <a:rPr lang="en-US" sz="2400" dirty="0">
                <a:solidFill>
                  <a:schemeClr val="accent6">
                    <a:lumMod val="60000"/>
                    <a:lumOff val="40000"/>
                  </a:schemeClr>
                </a:solidFill>
              </a:rPr>
              <a:t> — periodically compressing older conversation into a summary, keeping the gist without keeping every word. </a:t>
            </a:r>
          </a:p>
        </p:txBody>
      </p:sp>
    </p:spTree>
    <p:extLst>
      <p:ext uri="{BB962C8B-B14F-4D97-AF65-F5344CB8AC3E}">
        <p14:creationId xmlns:p14="http://schemas.microsoft.com/office/powerpoint/2010/main" val="1302780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39DFC-D025-2ECD-48D7-4BED0CD98DC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6906320-5AB1-0C3D-E59E-7B20B3E50A54}"/>
              </a:ext>
            </a:extLst>
          </p:cNvPr>
          <p:cNvSpPr txBox="1"/>
          <p:nvPr/>
        </p:nvSpPr>
        <p:spPr>
          <a:xfrm>
            <a:off x="100584" y="304628"/>
            <a:ext cx="10607040" cy="5632311"/>
          </a:xfrm>
          <a:prstGeom prst="rect">
            <a:avLst/>
          </a:prstGeom>
          <a:noFill/>
        </p:spPr>
        <p:txBody>
          <a:bodyPr wrap="square">
            <a:spAutoFit/>
          </a:bodyPr>
          <a:lstStyle/>
          <a:p>
            <a:r>
              <a:rPr lang="en-US" sz="2400" b="1" dirty="0">
                <a:solidFill>
                  <a:schemeClr val="accent6">
                    <a:lumMod val="60000"/>
                    <a:lumOff val="40000"/>
                  </a:schemeClr>
                </a:solidFill>
              </a:rPr>
              <a:t>Long-Term Memory: The External Store</a:t>
            </a:r>
          </a:p>
          <a:p>
            <a:endParaRPr lang="en-US" sz="2400" b="1" dirty="0">
              <a:solidFill>
                <a:schemeClr val="accent6">
                  <a:lumMod val="60000"/>
                  <a:lumOff val="40000"/>
                </a:schemeClr>
              </a:solidFill>
            </a:endParaRPr>
          </a:p>
          <a:p>
            <a:r>
              <a:rPr lang="en-US" sz="2400" dirty="0">
                <a:solidFill>
                  <a:schemeClr val="accent6">
                    <a:lumMod val="60000"/>
                    <a:lumOff val="40000"/>
                  </a:schemeClr>
                </a:solidFill>
              </a:rPr>
              <a:t>Long-term memory is everything outside the context window — persisted in a database, retrievable when needed, growing indefinitely. </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When a new session starts, the agent doesn't load all of long-term memory into context (that would overflow it). Instead, it fetches only what's relevant to the current task.</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The question is: how do you know what's relevant? </a:t>
            </a:r>
          </a:p>
          <a:p>
            <a:pPr marL="457200" indent="-457200">
              <a:buFont typeface="+mj-lt"/>
              <a:buAutoNum type="arabicPeriod"/>
            </a:pPr>
            <a:r>
              <a:rPr lang="en-US" sz="2400" dirty="0">
                <a:solidFill>
                  <a:schemeClr val="accent6">
                    <a:lumMod val="60000"/>
                    <a:lumOff val="40000"/>
                  </a:schemeClr>
                </a:solidFill>
              </a:rPr>
              <a:t>For structured data — account numbers, transaction records, customer profiles — a standard SQL database query works fine. You search by ID or date, get back exact rows.</a:t>
            </a:r>
          </a:p>
          <a:p>
            <a:pPr marL="457200" indent="-457200">
              <a:buFont typeface="+mj-lt"/>
              <a:buAutoNum type="arabicPeriod"/>
            </a:pPr>
            <a:r>
              <a:rPr lang="en-US" sz="2400" dirty="0">
                <a:solidFill>
                  <a:schemeClr val="accent6">
                    <a:lumMod val="60000"/>
                    <a:lumOff val="40000"/>
                  </a:schemeClr>
                </a:solidFill>
              </a:rPr>
              <a:t>For unstructured knowledge — past conversations, documents, notes, emails — exact-match SQL fails. You use vector databases.</a:t>
            </a:r>
          </a:p>
        </p:txBody>
      </p:sp>
    </p:spTree>
    <p:extLst>
      <p:ext uri="{BB962C8B-B14F-4D97-AF65-F5344CB8AC3E}">
        <p14:creationId xmlns:p14="http://schemas.microsoft.com/office/powerpoint/2010/main" val="2130995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63EF23-9000-16F3-86FD-5AF4808859F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E0C9829-07E1-F63C-A3E4-21BDAFE6D898}"/>
              </a:ext>
            </a:extLst>
          </p:cNvPr>
          <p:cNvSpPr txBox="1"/>
          <p:nvPr/>
        </p:nvSpPr>
        <p:spPr>
          <a:xfrm>
            <a:off x="100584" y="304628"/>
            <a:ext cx="10607040" cy="1200329"/>
          </a:xfrm>
          <a:prstGeom prst="rect">
            <a:avLst/>
          </a:prstGeom>
          <a:noFill/>
        </p:spPr>
        <p:txBody>
          <a:bodyPr wrap="square">
            <a:spAutoFit/>
          </a:bodyPr>
          <a:lstStyle/>
          <a:p>
            <a:r>
              <a:rPr lang="en-US" sz="2400" b="1" dirty="0">
                <a:solidFill>
                  <a:schemeClr val="accent6">
                    <a:lumMod val="60000"/>
                    <a:lumOff val="40000"/>
                  </a:schemeClr>
                </a:solidFill>
              </a:rPr>
              <a:t>Best Official documentation:</a:t>
            </a:r>
          </a:p>
          <a:p>
            <a:br>
              <a:rPr lang="en-US" sz="2400" b="1" dirty="0">
                <a:solidFill>
                  <a:schemeClr val="accent6">
                    <a:lumMod val="60000"/>
                    <a:lumOff val="40000"/>
                  </a:schemeClr>
                </a:solidFill>
              </a:rPr>
            </a:br>
            <a:r>
              <a:rPr lang="en-US" sz="2400" dirty="0">
                <a:solidFill>
                  <a:schemeClr val="accent6">
                    <a:lumMod val="60000"/>
                    <a:lumOff val="40000"/>
                  </a:schemeClr>
                </a:solidFill>
              </a:rPr>
              <a:t>https://docs.langchain.com/oss/python/concepts/memory</a:t>
            </a:r>
          </a:p>
        </p:txBody>
      </p:sp>
    </p:spTree>
    <p:extLst>
      <p:ext uri="{BB962C8B-B14F-4D97-AF65-F5344CB8AC3E}">
        <p14:creationId xmlns:p14="http://schemas.microsoft.com/office/powerpoint/2010/main" val="27840939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24736-A728-E40F-4B08-F26E6CD1BEA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E0FA625-50E0-A420-4B0D-D9864C7FAC66}"/>
              </a:ext>
            </a:extLst>
          </p:cNvPr>
          <p:cNvSpPr txBox="1"/>
          <p:nvPr/>
        </p:nvSpPr>
        <p:spPr>
          <a:xfrm>
            <a:off x="100584" y="304628"/>
            <a:ext cx="10607040" cy="5632311"/>
          </a:xfrm>
          <a:prstGeom prst="rect">
            <a:avLst/>
          </a:prstGeom>
          <a:noFill/>
        </p:spPr>
        <p:txBody>
          <a:bodyPr wrap="square">
            <a:spAutoFit/>
          </a:bodyPr>
          <a:lstStyle/>
          <a:p>
            <a:r>
              <a:rPr lang="en-US" sz="2400" b="1" dirty="0">
                <a:solidFill>
                  <a:schemeClr val="accent6">
                    <a:lumMod val="60000"/>
                    <a:lumOff val="40000"/>
                  </a:schemeClr>
                </a:solidFill>
              </a:rPr>
              <a:t>Discussion Prompt for Class</a:t>
            </a:r>
          </a:p>
          <a:p>
            <a:endParaRPr lang="en-US" sz="2400" b="1" dirty="0">
              <a:solidFill>
                <a:schemeClr val="accent6">
                  <a:lumMod val="60000"/>
                  <a:lumOff val="40000"/>
                </a:schemeClr>
              </a:solidFill>
            </a:endParaRPr>
          </a:p>
          <a:p>
            <a:r>
              <a:rPr lang="en-US" sz="2400" i="1" dirty="0">
                <a:solidFill>
                  <a:schemeClr val="accent6">
                    <a:lumMod val="60000"/>
                    <a:lumOff val="40000"/>
                  </a:schemeClr>
                </a:solidFill>
              </a:rPr>
              <a:t>"A fintech agent remembers everything a customer has ever said —</a:t>
            </a:r>
          </a:p>
          <a:p>
            <a:r>
              <a:rPr lang="en-US" sz="2400" i="1" dirty="0">
                <a:solidFill>
                  <a:schemeClr val="accent6">
                    <a:lumMod val="60000"/>
                    <a:lumOff val="40000"/>
                  </a:schemeClr>
                </a:solidFill>
              </a:rPr>
              <a:t> their financial worries, </a:t>
            </a:r>
          </a:p>
          <a:p>
            <a:r>
              <a:rPr lang="en-US" sz="2400" i="1" dirty="0">
                <a:solidFill>
                  <a:schemeClr val="accent6">
                    <a:lumMod val="60000"/>
                    <a:lumOff val="40000"/>
                  </a:schemeClr>
                </a:solidFill>
              </a:rPr>
              <a:t>their family situation, </a:t>
            </a:r>
          </a:p>
          <a:p>
            <a:r>
              <a:rPr lang="en-US" sz="2400" i="1" dirty="0">
                <a:solidFill>
                  <a:schemeClr val="accent6">
                    <a:lumMod val="60000"/>
                    <a:lumOff val="40000"/>
                  </a:schemeClr>
                </a:solidFill>
              </a:rPr>
              <a:t>their investment fears. </a:t>
            </a:r>
          </a:p>
          <a:p>
            <a:endParaRPr lang="en-US" sz="2400" i="1" dirty="0">
              <a:solidFill>
                <a:schemeClr val="accent6">
                  <a:lumMod val="60000"/>
                  <a:lumOff val="40000"/>
                </a:schemeClr>
              </a:solidFill>
            </a:endParaRPr>
          </a:p>
          <a:p>
            <a:r>
              <a:rPr lang="en-US" sz="2400" i="1" dirty="0">
                <a:solidFill>
                  <a:schemeClr val="accent6">
                    <a:lumMod val="60000"/>
                    <a:lumOff val="40000"/>
                  </a:schemeClr>
                </a:solidFill>
              </a:rPr>
              <a:t>This makes it far more helpful. </a:t>
            </a:r>
          </a:p>
          <a:p>
            <a:r>
              <a:rPr lang="en-US" sz="2400" i="1" dirty="0">
                <a:solidFill>
                  <a:schemeClr val="accent6">
                    <a:lumMod val="60000"/>
                    <a:lumOff val="40000"/>
                  </a:schemeClr>
                </a:solidFill>
              </a:rPr>
              <a:t>But it also means someone is storing a detailed psychological and financial profile of every customer. </a:t>
            </a:r>
          </a:p>
          <a:p>
            <a:endParaRPr lang="en-US" sz="2400" i="1" dirty="0">
              <a:solidFill>
                <a:schemeClr val="accent6">
                  <a:lumMod val="60000"/>
                  <a:lumOff val="40000"/>
                </a:schemeClr>
              </a:solidFill>
            </a:endParaRPr>
          </a:p>
          <a:p>
            <a:r>
              <a:rPr lang="en-US" sz="2400" i="1" dirty="0">
                <a:solidFill>
                  <a:schemeClr val="accent6">
                    <a:lumMod val="60000"/>
                    <a:lumOff val="40000"/>
                  </a:schemeClr>
                </a:solidFill>
              </a:rPr>
              <a:t>Who owns that memory? </a:t>
            </a:r>
          </a:p>
          <a:p>
            <a:r>
              <a:rPr lang="en-US" sz="2400" i="1" dirty="0">
                <a:solidFill>
                  <a:schemeClr val="accent6">
                    <a:lumMod val="60000"/>
                    <a:lumOff val="40000"/>
                  </a:schemeClr>
                </a:solidFill>
              </a:rPr>
              <a:t>Can the customer delete it? </a:t>
            </a:r>
          </a:p>
          <a:p>
            <a:r>
              <a:rPr lang="en-US" sz="2400" i="1" dirty="0">
                <a:solidFill>
                  <a:schemeClr val="accent6">
                    <a:lumMod val="60000"/>
                    <a:lumOff val="40000"/>
                  </a:schemeClr>
                </a:solidFill>
              </a:rPr>
              <a:t>What if the bank is acquired? </a:t>
            </a:r>
          </a:p>
          <a:p>
            <a:r>
              <a:rPr lang="en-US" sz="2400" i="1" dirty="0">
                <a:solidFill>
                  <a:schemeClr val="accent6">
                    <a:lumMod val="60000"/>
                    <a:lumOff val="40000"/>
                  </a:schemeClr>
                </a:solidFill>
              </a:rPr>
              <a:t>Should there be a 'right to be forgotten' for AI memory?"</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8481200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9AC1A3-79AE-B555-8773-DAF5D030EA2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E96E5B9-E313-FA17-19D0-B69F344B8DB5}"/>
              </a:ext>
            </a:extLst>
          </p:cNvPr>
          <p:cNvPicPr>
            <a:picLocks noChangeAspect="1"/>
          </p:cNvPicPr>
          <p:nvPr/>
        </p:nvPicPr>
        <p:blipFill>
          <a:blip r:embed="rId2"/>
          <a:stretch>
            <a:fillRect/>
          </a:stretch>
        </p:blipFill>
        <p:spPr>
          <a:xfrm>
            <a:off x="1596925" y="996697"/>
            <a:ext cx="8796981" cy="5352442"/>
          </a:xfrm>
          <a:prstGeom prst="rect">
            <a:avLst/>
          </a:prstGeom>
        </p:spPr>
      </p:pic>
    </p:spTree>
    <p:extLst>
      <p:ext uri="{BB962C8B-B14F-4D97-AF65-F5344CB8AC3E}">
        <p14:creationId xmlns:p14="http://schemas.microsoft.com/office/powerpoint/2010/main" val="41218335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7A335-C7CE-B5C5-ECB8-1A6E5DF5252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591A7EA-0A82-DF07-B9D5-133355599865}"/>
              </a:ext>
            </a:extLst>
          </p:cNvPr>
          <p:cNvPicPr>
            <a:picLocks noChangeAspect="1"/>
          </p:cNvPicPr>
          <p:nvPr/>
        </p:nvPicPr>
        <p:blipFill>
          <a:blip r:embed="rId2"/>
          <a:stretch>
            <a:fillRect/>
          </a:stretch>
        </p:blipFill>
        <p:spPr>
          <a:xfrm>
            <a:off x="1032216" y="1234440"/>
            <a:ext cx="9097978" cy="5489777"/>
          </a:xfrm>
          <a:prstGeom prst="rect">
            <a:avLst/>
          </a:prstGeom>
        </p:spPr>
      </p:pic>
      <p:sp>
        <p:nvSpPr>
          <p:cNvPr id="4" name="TextBox 3">
            <a:extLst>
              <a:ext uri="{FF2B5EF4-FFF2-40B4-BE49-F238E27FC236}">
                <a16:creationId xmlns:a16="http://schemas.microsoft.com/office/drawing/2014/main" id="{9898FCAF-9B34-8488-711A-D162CB839238}"/>
              </a:ext>
            </a:extLst>
          </p:cNvPr>
          <p:cNvSpPr txBox="1"/>
          <p:nvPr/>
        </p:nvSpPr>
        <p:spPr>
          <a:xfrm>
            <a:off x="100584" y="304628"/>
            <a:ext cx="10607040" cy="830997"/>
          </a:xfrm>
          <a:prstGeom prst="rect">
            <a:avLst/>
          </a:prstGeom>
          <a:noFill/>
        </p:spPr>
        <p:txBody>
          <a:bodyPr wrap="square">
            <a:spAutoFit/>
          </a:bodyPr>
          <a:lstStyle/>
          <a:p>
            <a:r>
              <a:rPr lang="en-US" sz="2400" dirty="0">
                <a:solidFill>
                  <a:schemeClr val="accent6">
                    <a:lumMod val="60000"/>
                    <a:lumOff val="40000"/>
                  </a:schemeClr>
                </a:solidFill>
              </a:rPr>
              <a:t>Here is how a well-designed fintech agent — say, a wealth management assistant — would wire all four memory types together:</a:t>
            </a:r>
            <a:endParaRPr lang="en-US" sz="2400" b="1" dirty="0">
              <a:solidFill>
                <a:schemeClr val="accent6">
                  <a:lumMod val="60000"/>
                  <a:lumOff val="40000"/>
                </a:schemeClr>
              </a:solidFill>
            </a:endParaRPr>
          </a:p>
        </p:txBody>
      </p:sp>
    </p:spTree>
    <p:extLst>
      <p:ext uri="{BB962C8B-B14F-4D97-AF65-F5344CB8AC3E}">
        <p14:creationId xmlns:p14="http://schemas.microsoft.com/office/powerpoint/2010/main" val="1425356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31D7F-4279-DA2E-FA64-6CF3C441D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5E1B75-886E-0812-B2FD-DD250C225521}"/>
              </a:ext>
            </a:extLst>
          </p:cNvPr>
          <p:cNvSpPr>
            <a:spLocks noGrp="1"/>
          </p:cNvSpPr>
          <p:nvPr>
            <p:ph type="title"/>
          </p:nvPr>
        </p:nvSpPr>
        <p:spPr>
          <a:xfrm>
            <a:off x="274320" y="136525"/>
            <a:ext cx="11466576" cy="832739"/>
          </a:xfrm>
        </p:spPr>
        <p:txBody>
          <a:bodyPr>
            <a:normAutofit/>
          </a:bodyPr>
          <a:lstStyle/>
          <a:p>
            <a:r>
              <a:rPr lang="en-US" sz="3600" dirty="0"/>
              <a:t>EXTRA</a:t>
            </a:r>
          </a:p>
        </p:txBody>
      </p:sp>
      <p:sp>
        <p:nvSpPr>
          <p:cNvPr id="4" name="TextBox 3">
            <a:extLst>
              <a:ext uri="{FF2B5EF4-FFF2-40B4-BE49-F238E27FC236}">
                <a16:creationId xmlns:a16="http://schemas.microsoft.com/office/drawing/2014/main" id="{902F8BE4-9CEA-0DAD-0357-E0A8215F169D}"/>
              </a:ext>
            </a:extLst>
          </p:cNvPr>
          <p:cNvSpPr txBox="1"/>
          <p:nvPr/>
        </p:nvSpPr>
        <p:spPr>
          <a:xfrm>
            <a:off x="274320" y="933117"/>
            <a:ext cx="11658600" cy="1477328"/>
          </a:xfrm>
          <a:prstGeom prst="rect">
            <a:avLst/>
          </a:prstGeom>
          <a:noFill/>
        </p:spPr>
        <p:txBody>
          <a:bodyPr wrap="square">
            <a:spAutoFit/>
          </a:bodyPr>
          <a:lstStyle/>
          <a:p>
            <a:pPr marL="0" indent="0">
              <a:buNone/>
            </a:pPr>
            <a:r>
              <a:rPr lang="en-US" dirty="0" err="1">
                <a:solidFill>
                  <a:schemeClr val="accent6">
                    <a:lumMod val="60000"/>
                    <a:lumOff val="40000"/>
                  </a:schemeClr>
                </a:solidFill>
              </a:rPr>
              <a:t>Ffnbksdfd</a:t>
            </a:r>
            <a:endParaRPr lang="en-US" dirty="0">
              <a:solidFill>
                <a:schemeClr val="accent6">
                  <a:lumMod val="60000"/>
                  <a:lumOff val="40000"/>
                </a:schemeClr>
              </a:solidFill>
            </a:endParaRPr>
          </a:p>
          <a:p>
            <a:pPr marL="0" indent="0">
              <a:buNone/>
            </a:pPr>
            <a:r>
              <a:rPr lang="en-US" dirty="0" err="1">
                <a:solidFill>
                  <a:schemeClr val="accent6">
                    <a:lumMod val="60000"/>
                    <a:lumOff val="40000"/>
                  </a:schemeClr>
                </a:solidFill>
              </a:rPr>
              <a:t>Fdslj;f</a:t>
            </a:r>
            <a:endParaRPr lang="en-US" dirty="0">
              <a:solidFill>
                <a:schemeClr val="accent6">
                  <a:lumMod val="60000"/>
                  <a:lumOff val="40000"/>
                </a:schemeClr>
              </a:solidFill>
            </a:endParaRPr>
          </a:p>
          <a:p>
            <a:pPr marL="0" indent="0">
              <a:buNone/>
            </a:pPr>
            <a:endParaRPr lang="en-US" dirty="0">
              <a:solidFill>
                <a:schemeClr val="accent6">
                  <a:lumMod val="60000"/>
                  <a:lumOff val="40000"/>
                </a:schemeClr>
              </a:solidFill>
            </a:endParaRPr>
          </a:p>
          <a:p>
            <a:pPr marL="0" indent="0">
              <a:buNone/>
            </a:pPr>
            <a:r>
              <a:rPr lang="en-US" dirty="0" err="1">
                <a:solidFill>
                  <a:schemeClr val="accent6">
                    <a:lumMod val="60000"/>
                    <a:lumOff val="40000"/>
                  </a:schemeClr>
                </a:solidFill>
              </a:rPr>
              <a:t>Fl;ds</a:t>
            </a:r>
            <a:endParaRPr lang="en-US" dirty="0">
              <a:solidFill>
                <a:schemeClr val="accent6">
                  <a:lumMod val="60000"/>
                  <a:lumOff val="40000"/>
                </a:schemeClr>
              </a:solidFill>
            </a:endParaRPr>
          </a:p>
          <a:p>
            <a:pPr marL="0" indent="0">
              <a:buNone/>
            </a:pPr>
            <a:endParaRPr lang="en-US" dirty="0">
              <a:solidFill>
                <a:schemeClr val="accent6">
                  <a:lumMod val="60000"/>
                  <a:lumOff val="40000"/>
                </a:schemeClr>
              </a:solidFill>
            </a:endParaRPr>
          </a:p>
        </p:txBody>
      </p:sp>
    </p:spTree>
    <p:extLst>
      <p:ext uri="{BB962C8B-B14F-4D97-AF65-F5344CB8AC3E}">
        <p14:creationId xmlns:p14="http://schemas.microsoft.com/office/powerpoint/2010/main" val="3666253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What is Statistics</Template>
  <TotalTime>1282</TotalTime>
  <Words>483</Words>
  <Application>Microsoft Office PowerPoint</Application>
  <PresentationFormat>Widescreen</PresentationFormat>
  <Paragraphs>51</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EXTRA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Ashwani Kumar</dc:creator>
  <cp:lastModifiedBy>Ashwani Kumar</cp:lastModifiedBy>
  <cp:revision>209</cp:revision>
  <dcterms:created xsi:type="dcterms:W3CDTF">2025-09-22T02:44:38Z</dcterms:created>
  <dcterms:modified xsi:type="dcterms:W3CDTF">2026-04-29T04:36:59Z</dcterms:modified>
</cp:coreProperties>
</file>