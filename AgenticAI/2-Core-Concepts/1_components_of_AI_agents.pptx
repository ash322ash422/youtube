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handoutMasterIdLst>
    <p:handoutMasterId r:id="rId27"/>
  </p:handoutMasterIdLst>
  <p:sldIdLst>
    <p:sldId id="257" r:id="rId2"/>
    <p:sldId id="276" r:id="rId3"/>
    <p:sldId id="278" r:id="rId4"/>
    <p:sldId id="281" r:id="rId5"/>
    <p:sldId id="298" r:id="rId6"/>
    <p:sldId id="299" r:id="rId7"/>
    <p:sldId id="300" r:id="rId8"/>
    <p:sldId id="301" r:id="rId9"/>
    <p:sldId id="302" r:id="rId10"/>
    <p:sldId id="303" r:id="rId11"/>
    <p:sldId id="258" r:id="rId12"/>
    <p:sldId id="260" r:id="rId13"/>
    <p:sldId id="277" r:id="rId14"/>
    <p:sldId id="261" r:id="rId15"/>
    <p:sldId id="293" r:id="rId16"/>
    <p:sldId id="280" r:id="rId17"/>
    <p:sldId id="295" r:id="rId18"/>
    <p:sldId id="296" r:id="rId19"/>
    <p:sldId id="297" r:id="rId20"/>
    <p:sldId id="294" r:id="rId21"/>
    <p:sldId id="262" r:id="rId22"/>
    <p:sldId id="263" r:id="rId23"/>
    <p:sldId id="264" r:id="rId24"/>
    <p:sldId id="279"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4/28/2026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7T19:08:14.961"/>
    </inkml:context>
    <inkml:brush xml:id="br0">
      <inkml:brushProperty name="width" value="0.1" units="cm"/>
      <inkml:brushProperty name="height" value="0.1" units="cm"/>
      <inkml:brushProperty name="color" value="#33CCFF"/>
    </inkml:brush>
  </inkml:definitions>
  <inkml:trace contextRef="#ctx0" brushRef="#br0">17627 342 24575,'0'488'0,"-4"-444"0,-2-1 0,-3 1 0,-20 51 0,15-47 0,2-16 0,-25 47 0,-8 19 0,19-28 0,-3-1 0,-4-1 0,-4 0 0,-4-3 0,-76 92 0,-110 80 0,11-12 0,164-169 0,-3-3 0,-3-1 0,-4-2 0,-2-2 0,-2-3 0,-112 60 0,114-70 0,-1-1 0,-3-3 0,-1-2 0,-2-2 0,-1-3 0,-89 20 0,33-20 0,-1-5 0,-1-3 0,-133 1 0,-399-12 0,401-7 0,-1534 1 0,1539 14 0,14 1 0,-1863-13 0,1018-3 0,902-5 0,-305-41 0,132 9 0,262 31 0,-181-20 0,42-2 0,0 8 0,-352 0 0,410 17 0,-1-5 0,-217-35 0,-57-2 0,-105-15 0,375 35 0,23 5 0,-173-44 0,-368-92 0,573 121 0,1-4 0,-233-106 0,-584-269 0,901 401 0,32 12 0,-1-1 0,1 1 0,0-2 0,0 1 0,1-1 0,0 0 0,0-1 0,-10-7 0,-42-46 0,3-1 0,-69-98 0,60 72 0,15 24 0,25 33 0,2-1 0,2-1 0,-30-57 0,-64-114 0,19 41 0,47 58 0,19 35 0,-57-82 0,15 31 0,54 84 0,-1 0 0,-2 1 0,-2 1 0,-55-55 0,49 69 0,30 19 0,0-1 0,0 1 0,0 0 0,0 0 0,0-1 0,1 1 0,-1 0 0,0 0 0,0 0 0,0 0 0,0 0 0,0 0 0,0 0 0,0 0 0,0 0 0,0 1 0,0-1 0,0 0 0,0 0 0,1 0 0,-1 1 0,-2 0 0,0 2 0,0 0 0,-1 0 0,1 1 0,1-1 0,-1 1 0,1 0 0,0-1 0,0 1 0,0 0 0,1 0 0,-2 7 0,-81 366 0,83-370 0,4-22 0,24-86 0,5 36 0,3 1 0,62-81 0,-95 142 0,0 0 0,0-1 0,0 1 0,1 0 0,-1 0 0,1 1 0,0-1 0,0 0 0,0 1 0,1-1 0,-1 1 0,1 0 0,-1-1 0,1 2 0,0-1 0,0 0 0,1 0 0,-1 1 0,0 0 0,1 0 0,-1 0 0,1 0 0,-1 0 0,1 1 0,-1-1 0,1 1 0,0 0 0,-1 0 0,1 0 0,0 0 0,-1 1 0,1 0 0,-1 0 0,1 0 0,-1 0 0,1 0 0,-1 0 0,0 1 0,0 0 0,6 3 0,28 13 0,-2 2 0,-1 1 0,-1 2 0,34 28 0,-38-27 0,1-1 0,1-2 0,1 0 0,72 33 0,-57-36-1365,-6-2-5461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4/28/2026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4/28/2026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4/28/2026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68EEAE26-EEC1-43C8-1E10-2F8BA9771177}"/>
              </a:ext>
            </a:extLst>
          </p:cNvPr>
          <p:cNvSpPr txBox="1"/>
          <p:nvPr/>
        </p:nvSpPr>
        <p:spPr>
          <a:xfrm>
            <a:off x="477520" y="1003776"/>
            <a:ext cx="10292080" cy="461665"/>
          </a:xfrm>
          <a:prstGeom prst="rect">
            <a:avLst/>
          </a:prstGeom>
          <a:noFill/>
        </p:spPr>
        <p:txBody>
          <a:bodyPr wrap="square">
            <a:spAutoFit/>
          </a:bodyPr>
          <a:lstStyle/>
          <a:p>
            <a:pPr algn="ctr">
              <a:buNone/>
            </a:pPr>
            <a:r>
              <a:rPr lang="en-US" sz="2400" dirty="0">
                <a:solidFill>
                  <a:schemeClr val="accent6">
                    <a:lumMod val="60000"/>
                    <a:lumOff val="40000"/>
                  </a:schemeClr>
                </a:solidFill>
              </a:rPr>
              <a:t>AI Agents</a:t>
            </a:r>
          </a:p>
        </p:txBody>
      </p:sp>
    </p:spTree>
    <p:extLst>
      <p:ext uri="{BB962C8B-B14F-4D97-AF65-F5344CB8AC3E}">
        <p14:creationId xmlns:p14="http://schemas.microsoft.com/office/powerpoint/2010/main" val="2340642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EBDA7-B44E-B824-B04A-1C6D1FB40ED7}"/>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E018E7A2-ACBA-1394-8855-0E8750AA2C1F}"/>
              </a:ext>
            </a:extLst>
          </p:cNvPr>
          <p:cNvSpPr txBox="1"/>
          <p:nvPr/>
        </p:nvSpPr>
        <p:spPr>
          <a:xfrm>
            <a:off x="292608" y="528288"/>
            <a:ext cx="10292080" cy="2308324"/>
          </a:xfrm>
          <a:prstGeom prst="rect">
            <a:avLst/>
          </a:prstGeom>
          <a:noFill/>
        </p:spPr>
        <p:txBody>
          <a:bodyPr wrap="square">
            <a:spAutoFit/>
          </a:bodyPr>
          <a:lstStyle/>
          <a:p>
            <a:pPr>
              <a:buNone/>
            </a:pPr>
            <a:r>
              <a:rPr lang="en-US" sz="2400" dirty="0">
                <a:solidFill>
                  <a:schemeClr val="accent6">
                    <a:lumMod val="60000"/>
                    <a:lumOff val="40000"/>
                  </a:schemeClr>
                </a:solidFill>
              </a:rPr>
              <a:t>A regular AI model (like a chatbot) takes your input, thinks once, and gives you an answer. That's it — one shot, done.</a:t>
            </a:r>
          </a:p>
          <a:p>
            <a:pPr>
              <a:buNone/>
            </a:pPr>
            <a:endParaRPr lang="en-US" sz="2400" dirty="0">
              <a:solidFill>
                <a:schemeClr val="accent6">
                  <a:lumMod val="60000"/>
                  <a:lumOff val="40000"/>
                </a:schemeClr>
              </a:solidFill>
            </a:endParaRPr>
          </a:p>
          <a:p>
            <a:pPr>
              <a:buNone/>
            </a:pPr>
            <a:r>
              <a:rPr lang="en-US" sz="2400" dirty="0">
                <a:solidFill>
                  <a:schemeClr val="accent6">
                    <a:lumMod val="60000"/>
                    <a:lumOff val="40000"/>
                  </a:schemeClr>
                </a:solidFill>
              </a:rPr>
              <a:t>An AI agent is different.</a:t>
            </a:r>
          </a:p>
          <a:p>
            <a:pPr>
              <a:buNone/>
            </a:pPr>
            <a:r>
              <a:rPr lang="en-US" sz="2400" dirty="0">
                <a:solidFill>
                  <a:schemeClr val="accent6">
                    <a:lumMod val="60000"/>
                    <a:lumOff val="40000"/>
                  </a:schemeClr>
                </a:solidFill>
              </a:rPr>
              <a:t>It can </a:t>
            </a:r>
            <a:r>
              <a:rPr lang="en-US" sz="2400" b="1" dirty="0">
                <a:solidFill>
                  <a:schemeClr val="accent6">
                    <a:lumMod val="60000"/>
                    <a:lumOff val="40000"/>
                  </a:schemeClr>
                </a:solidFill>
              </a:rPr>
              <a:t>plan</a:t>
            </a:r>
            <a:r>
              <a:rPr lang="en-US" sz="2400" dirty="0">
                <a:solidFill>
                  <a:schemeClr val="accent6">
                    <a:lumMod val="60000"/>
                    <a:lumOff val="40000"/>
                  </a:schemeClr>
                </a:solidFill>
              </a:rPr>
              <a:t>, </a:t>
            </a:r>
            <a:r>
              <a:rPr lang="en-US" sz="2400" b="1" dirty="0">
                <a:solidFill>
                  <a:schemeClr val="accent6">
                    <a:lumMod val="60000"/>
                    <a:lumOff val="40000"/>
                  </a:schemeClr>
                </a:solidFill>
              </a:rPr>
              <a:t>take actions</a:t>
            </a:r>
            <a:r>
              <a:rPr lang="en-US" sz="2400" dirty="0">
                <a:solidFill>
                  <a:schemeClr val="accent6">
                    <a:lumMod val="60000"/>
                    <a:lumOff val="40000"/>
                  </a:schemeClr>
                </a:solidFill>
              </a:rPr>
              <a:t>, </a:t>
            </a:r>
            <a:r>
              <a:rPr lang="en-US" sz="2400" b="1" dirty="0">
                <a:solidFill>
                  <a:schemeClr val="accent6">
                    <a:lumMod val="60000"/>
                    <a:lumOff val="40000"/>
                  </a:schemeClr>
                </a:solidFill>
              </a:rPr>
              <a:t>observe the results</a:t>
            </a:r>
            <a:r>
              <a:rPr lang="en-US" sz="2400" dirty="0">
                <a:solidFill>
                  <a:schemeClr val="accent6">
                    <a:lumMod val="60000"/>
                    <a:lumOff val="40000"/>
                  </a:schemeClr>
                </a:solidFill>
              </a:rPr>
              <a:t>, and </a:t>
            </a:r>
            <a:r>
              <a:rPr lang="en-US" sz="2400" b="1" dirty="0">
                <a:solidFill>
                  <a:schemeClr val="accent6">
                    <a:lumMod val="60000"/>
                    <a:lumOff val="40000"/>
                  </a:schemeClr>
                </a:solidFill>
              </a:rPr>
              <a:t>keep going</a:t>
            </a:r>
            <a:r>
              <a:rPr lang="en-US" sz="2400" dirty="0">
                <a:solidFill>
                  <a:schemeClr val="accent6">
                    <a:lumMod val="60000"/>
                    <a:lumOff val="40000"/>
                  </a:schemeClr>
                </a:solidFill>
              </a:rPr>
              <a:t> until a goal is achieved.</a:t>
            </a:r>
          </a:p>
        </p:txBody>
      </p:sp>
      <p:sp>
        <p:nvSpPr>
          <p:cNvPr id="2" name="Rectangle 1">
            <a:extLst>
              <a:ext uri="{FF2B5EF4-FFF2-40B4-BE49-F238E27FC236}">
                <a16:creationId xmlns:a16="http://schemas.microsoft.com/office/drawing/2014/main" id="{5181AFBC-CFD4-FAE6-78FB-5444EC7382A7}"/>
              </a:ext>
            </a:extLst>
          </p:cNvPr>
          <p:cNvSpPr/>
          <p:nvPr/>
        </p:nvSpPr>
        <p:spPr>
          <a:xfrm>
            <a:off x="1188720" y="3739896"/>
            <a:ext cx="1883664" cy="886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Plan</a:t>
            </a:r>
          </a:p>
        </p:txBody>
      </p:sp>
      <p:sp>
        <p:nvSpPr>
          <p:cNvPr id="4" name="Rectangle 3">
            <a:extLst>
              <a:ext uri="{FF2B5EF4-FFF2-40B4-BE49-F238E27FC236}">
                <a16:creationId xmlns:a16="http://schemas.microsoft.com/office/drawing/2014/main" id="{A396A4A1-5F2F-3D98-7C32-96E6CC1A2A31}"/>
              </a:ext>
            </a:extLst>
          </p:cNvPr>
          <p:cNvSpPr/>
          <p:nvPr/>
        </p:nvSpPr>
        <p:spPr>
          <a:xfrm>
            <a:off x="3843020" y="3739896"/>
            <a:ext cx="1883664" cy="886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Take action</a:t>
            </a:r>
          </a:p>
        </p:txBody>
      </p:sp>
      <p:sp>
        <p:nvSpPr>
          <p:cNvPr id="5" name="Rectangle 4">
            <a:extLst>
              <a:ext uri="{FF2B5EF4-FFF2-40B4-BE49-F238E27FC236}">
                <a16:creationId xmlns:a16="http://schemas.microsoft.com/office/drawing/2014/main" id="{0ECF433E-7ECE-1C02-F060-E3ACFAC5D1F5}"/>
              </a:ext>
            </a:extLst>
          </p:cNvPr>
          <p:cNvSpPr/>
          <p:nvPr/>
        </p:nvSpPr>
        <p:spPr>
          <a:xfrm>
            <a:off x="6497320" y="3739896"/>
            <a:ext cx="1883664" cy="886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Observe the result</a:t>
            </a:r>
          </a:p>
        </p:txBody>
      </p:sp>
      <p:sp>
        <p:nvSpPr>
          <p:cNvPr id="6" name="Arrow: Right 5">
            <a:extLst>
              <a:ext uri="{FF2B5EF4-FFF2-40B4-BE49-F238E27FC236}">
                <a16:creationId xmlns:a16="http://schemas.microsoft.com/office/drawing/2014/main" id="{0285A964-4E93-E9B1-E106-7F61521BFA67}"/>
              </a:ext>
            </a:extLst>
          </p:cNvPr>
          <p:cNvSpPr/>
          <p:nvPr/>
        </p:nvSpPr>
        <p:spPr>
          <a:xfrm>
            <a:off x="3166364" y="4021389"/>
            <a:ext cx="582676" cy="3566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438C0D4F-1AC7-393B-2DF1-9B67917BEBF7}"/>
              </a:ext>
            </a:extLst>
          </p:cNvPr>
          <p:cNvSpPr/>
          <p:nvPr/>
        </p:nvSpPr>
        <p:spPr>
          <a:xfrm>
            <a:off x="5820664" y="4005072"/>
            <a:ext cx="570992" cy="356616"/>
          </a:xfrm>
          <a:prstGeom prst="rightArrow">
            <a:avLst>
              <a:gd name="adj1" fmla="val 39744"/>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B7CA9444-E35F-96A7-2667-D82FDD1DFDC8}"/>
              </a:ext>
            </a:extLst>
          </p:cNvPr>
          <p:cNvSpPr/>
          <p:nvPr/>
        </p:nvSpPr>
        <p:spPr>
          <a:xfrm>
            <a:off x="8659368" y="4030533"/>
            <a:ext cx="749808" cy="3383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61D8FCEE-7347-FD48-8A47-D1FD6647BD81}"/>
                  </a:ext>
                </a:extLst>
              </p14:cNvPr>
              <p14:cNvContentPartPr/>
              <p14:nvPr/>
            </p14:nvContentPartPr>
            <p14:xfrm>
              <a:off x="2761344" y="4796496"/>
              <a:ext cx="6346080" cy="1084320"/>
            </p14:xfrm>
          </p:contentPart>
        </mc:Choice>
        <mc:Fallback xmlns="">
          <p:pic>
            <p:nvPicPr>
              <p:cNvPr id="10" name="Ink 9">
                <a:extLst>
                  <a:ext uri="{FF2B5EF4-FFF2-40B4-BE49-F238E27FC236}">
                    <a16:creationId xmlns:a16="http://schemas.microsoft.com/office/drawing/2014/main" id="{61D8FCEE-7347-FD48-8A47-D1FD6647BD81}"/>
                  </a:ext>
                </a:extLst>
              </p:cNvPr>
              <p:cNvPicPr/>
              <p:nvPr/>
            </p:nvPicPr>
            <p:blipFill>
              <a:blip r:embed="rId3"/>
              <a:stretch>
                <a:fillRect/>
              </a:stretch>
            </p:blipFill>
            <p:spPr>
              <a:xfrm>
                <a:off x="2743703" y="4778856"/>
                <a:ext cx="6381722" cy="1119960"/>
              </a:xfrm>
              <a:prstGeom prst="rect">
                <a:avLst/>
              </a:prstGeom>
            </p:spPr>
          </p:pic>
        </mc:Fallback>
      </mc:AlternateContent>
      <p:sp>
        <p:nvSpPr>
          <p:cNvPr id="11" name="TextBox 10">
            <a:extLst>
              <a:ext uri="{FF2B5EF4-FFF2-40B4-BE49-F238E27FC236}">
                <a16:creationId xmlns:a16="http://schemas.microsoft.com/office/drawing/2014/main" id="{D1ED3A93-E43E-BD69-861D-F94B0C18CBBC}"/>
              </a:ext>
            </a:extLst>
          </p:cNvPr>
          <p:cNvSpPr txBox="1"/>
          <p:nvPr/>
        </p:nvSpPr>
        <p:spPr>
          <a:xfrm>
            <a:off x="8823960" y="3636622"/>
            <a:ext cx="1527791" cy="369332"/>
          </a:xfrm>
          <a:prstGeom prst="rect">
            <a:avLst/>
          </a:prstGeom>
          <a:noFill/>
        </p:spPr>
        <p:txBody>
          <a:bodyPr wrap="none" rtlCol="0">
            <a:spAutoFit/>
          </a:bodyPr>
          <a:lstStyle/>
          <a:p>
            <a:r>
              <a:rPr lang="en-US" dirty="0">
                <a:solidFill>
                  <a:schemeClr val="accent6">
                    <a:lumMod val="60000"/>
                    <a:lumOff val="40000"/>
                  </a:schemeClr>
                </a:solidFill>
              </a:rPr>
              <a:t>Goal Achieved</a:t>
            </a:r>
          </a:p>
        </p:txBody>
      </p:sp>
      <p:sp>
        <p:nvSpPr>
          <p:cNvPr id="12" name="TextBox 11">
            <a:extLst>
              <a:ext uri="{FF2B5EF4-FFF2-40B4-BE49-F238E27FC236}">
                <a16:creationId xmlns:a16="http://schemas.microsoft.com/office/drawing/2014/main" id="{27DD45A3-B1ED-7C62-EDCE-DEA648049C66}"/>
              </a:ext>
            </a:extLst>
          </p:cNvPr>
          <p:cNvSpPr txBox="1"/>
          <p:nvPr/>
        </p:nvSpPr>
        <p:spPr>
          <a:xfrm>
            <a:off x="9687560" y="4030533"/>
            <a:ext cx="1025089" cy="369332"/>
          </a:xfrm>
          <a:prstGeom prst="rect">
            <a:avLst/>
          </a:prstGeom>
          <a:noFill/>
        </p:spPr>
        <p:txBody>
          <a:bodyPr wrap="none" rtlCol="0">
            <a:spAutoFit/>
          </a:bodyPr>
          <a:lstStyle/>
          <a:p>
            <a:r>
              <a:rPr lang="en-US" dirty="0">
                <a:solidFill>
                  <a:schemeClr val="accent6">
                    <a:lumMod val="60000"/>
                    <a:lumOff val="40000"/>
                  </a:schemeClr>
                </a:solidFill>
              </a:rPr>
              <a:t>Yes: Stop</a:t>
            </a:r>
          </a:p>
        </p:txBody>
      </p:sp>
      <p:sp>
        <p:nvSpPr>
          <p:cNvPr id="13" name="TextBox 12">
            <a:extLst>
              <a:ext uri="{FF2B5EF4-FFF2-40B4-BE49-F238E27FC236}">
                <a16:creationId xmlns:a16="http://schemas.microsoft.com/office/drawing/2014/main" id="{EA1FC778-83F0-57E6-AEDD-945D4CB61BE4}"/>
              </a:ext>
            </a:extLst>
          </p:cNvPr>
          <p:cNvSpPr txBox="1"/>
          <p:nvPr/>
        </p:nvSpPr>
        <p:spPr>
          <a:xfrm>
            <a:off x="8594879" y="5781172"/>
            <a:ext cx="1034257" cy="369332"/>
          </a:xfrm>
          <a:prstGeom prst="rect">
            <a:avLst/>
          </a:prstGeom>
          <a:noFill/>
        </p:spPr>
        <p:txBody>
          <a:bodyPr wrap="none" rtlCol="0">
            <a:spAutoFit/>
          </a:bodyPr>
          <a:lstStyle/>
          <a:p>
            <a:r>
              <a:rPr lang="en-US" dirty="0">
                <a:solidFill>
                  <a:schemeClr val="accent6">
                    <a:lumMod val="60000"/>
                    <a:lumOff val="40000"/>
                  </a:schemeClr>
                </a:solidFill>
              </a:rPr>
              <a:t>No: Loop</a:t>
            </a:r>
          </a:p>
        </p:txBody>
      </p:sp>
    </p:spTree>
    <p:extLst>
      <p:ext uri="{BB962C8B-B14F-4D97-AF65-F5344CB8AC3E}">
        <p14:creationId xmlns:p14="http://schemas.microsoft.com/office/powerpoint/2010/main" val="3632060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DD50A-5921-1738-9B87-234E971B22E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46DF4D1-795B-BFAE-09D6-DBC61377ED05}"/>
              </a:ext>
            </a:extLst>
          </p:cNvPr>
          <p:cNvPicPr>
            <a:picLocks noChangeAspect="1"/>
          </p:cNvPicPr>
          <p:nvPr/>
        </p:nvPicPr>
        <p:blipFill>
          <a:blip r:embed="rId2"/>
          <a:stretch>
            <a:fillRect/>
          </a:stretch>
        </p:blipFill>
        <p:spPr>
          <a:xfrm>
            <a:off x="3900093" y="1847088"/>
            <a:ext cx="8200202" cy="4834611"/>
          </a:xfrm>
          <a:prstGeom prst="rect">
            <a:avLst/>
          </a:prstGeom>
        </p:spPr>
      </p:pic>
      <p:sp>
        <p:nvSpPr>
          <p:cNvPr id="9" name="TextBox 8">
            <a:extLst>
              <a:ext uri="{FF2B5EF4-FFF2-40B4-BE49-F238E27FC236}">
                <a16:creationId xmlns:a16="http://schemas.microsoft.com/office/drawing/2014/main" id="{5570194B-3E5C-534F-1AD0-1EF9809BCD1F}"/>
              </a:ext>
            </a:extLst>
          </p:cNvPr>
          <p:cNvSpPr txBox="1"/>
          <p:nvPr/>
        </p:nvSpPr>
        <p:spPr>
          <a:xfrm>
            <a:off x="166624" y="345408"/>
            <a:ext cx="6279896" cy="5262979"/>
          </a:xfrm>
          <a:prstGeom prst="rect">
            <a:avLst/>
          </a:prstGeom>
          <a:noFill/>
        </p:spPr>
        <p:txBody>
          <a:bodyPr wrap="square">
            <a:spAutoFit/>
          </a:bodyPr>
          <a:lstStyle/>
          <a:p>
            <a:r>
              <a:rPr lang="en-US" sz="2400" b="1" dirty="0">
                <a:solidFill>
                  <a:schemeClr val="accent6">
                    <a:lumMod val="60000"/>
                    <a:lumOff val="40000"/>
                  </a:schemeClr>
                </a:solidFill>
              </a:rPr>
              <a:t>Modern AI Agents </a:t>
            </a:r>
          </a:p>
          <a:p>
            <a:endParaRPr lang="en-US" sz="2400" b="1" dirty="0">
              <a:solidFill>
                <a:schemeClr val="accent6">
                  <a:lumMod val="60000"/>
                  <a:lumOff val="40000"/>
                </a:schemeClr>
              </a:solidFill>
            </a:endParaRPr>
          </a:p>
          <a:p>
            <a:r>
              <a:rPr lang="en-US" sz="2400" dirty="0">
                <a:solidFill>
                  <a:schemeClr val="accent6">
                    <a:lumMod val="60000"/>
                    <a:lumOff val="40000"/>
                  </a:schemeClr>
                </a:solidFill>
              </a:rPr>
              <a:t>Today’s </a:t>
            </a:r>
            <a:r>
              <a:rPr lang="en-US" sz="2400" b="1" dirty="0">
                <a:solidFill>
                  <a:schemeClr val="accent6">
                    <a:lumMod val="60000"/>
                    <a:lumOff val="40000"/>
                  </a:schemeClr>
                </a:solidFill>
              </a:rPr>
              <a:t>Agentic AI systems</a:t>
            </a:r>
            <a:r>
              <a:rPr lang="en-US" sz="2400" dirty="0">
                <a:solidFill>
                  <a:schemeClr val="accent6">
                    <a:lumMod val="60000"/>
                    <a:lumOff val="40000"/>
                  </a:schemeClr>
                </a:solidFill>
              </a:rPr>
              <a:t> often use:</a:t>
            </a:r>
          </a:p>
          <a:p>
            <a:pPr marL="342900" indent="-342900">
              <a:buFont typeface="Arial" panose="020B0604020202020204" pitchFamily="34" charset="0"/>
              <a:buChar char="•"/>
            </a:pPr>
            <a:r>
              <a:rPr lang="en-US" sz="2400" b="1" dirty="0">
                <a:solidFill>
                  <a:schemeClr val="accent6">
                    <a:lumMod val="60000"/>
                    <a:lumOff val="40000"/>
                  </a:schemeClr>
                </a:solidFill>
              </a:rPr>
              <a:t>Large Language Models (LLMs)</a:t>
            </a:r>
            <a:r>
              <a:rPr lang="en-US" sz="2400" dirty="0">
                <a:solidFill>
                  <a:schemeClr val="accent6">
                    <a:lumMod val="60000"/>
                    <a:lumOff val="40000"/>
                  </a:schemeClr>
                </a:solidFill>
              </a:rPr>
              <a:t> as the “brain” </a:t>
            </a:r>
          </a:p>
          <a:p>
            <a:pPr marL="342900" indent="-342900">
              <a:buFont typeface="Arial" panose="020B0604020202020204" pitchFamily="34" charset="0"/>
              <a:buChar char="•"/>
            </a:pPr>
            <a:r>
              <a:rPr lang="en-US" sz="2400" dirty="0">
                <a:solidFill>
                  <a:schemeClr val="accent6">
                    <a:lumMod val="60000"/>
                    <a:lumOff val="40000"/>
                  </a:schemeClr>
                </a:solidFill>
              </a:rPr>
              <a:t>Tools (APIs, search, calculators) </a:t>
            </a:r>
          </a:p>
          <a:p>
            <a:pPr marL="342900" indent="-342900">
              <a:buFont typeface="Arial" panose="020B0604020202020204" pitchFamily="34" charset="0"/>
              <a:buChar char="•"/>
            </a:pPr>
            <a:r>
              <a:rPr lang="en-US" sz="2400" dirty="0">
                <a:solidFill>
                  <a:schemeClr val="accent6">
                    <a:lumMod val="60000"/>
                    <a:lumOff val="40000"/>
                  </a:schemeClr>
                </a:solidFill>
              </a:rPr>
              <a:t>Memory (vector DB / RAG) </a:t>
            </a:r>
          </a:p>
          <a:p>
            <a:pPr marL="342900" indent="-342900">
              <a:buFont typeface="Arial" panose="020B0604020202020204" pitchFamily="34" charset="0"/>
              <a:buChar char="•"/>
            </a:pPr>
            <a:r>
              <a:rPr lang="en-US" sz="2400" dirty="0">
                <a:solidFill>
                  <a:schemeClr val="accent6">
                    <a:lumMod val="60000"/>
                    <a:lumOff val="40000"/>
                  </a:schemeClr>
                </a:solidFill>
              </a:rPr>
              <a:t>Planning (multi-step reasoning)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 Example:</a:t>
            </a:r>
            <a:br>
              <a:rPr lang="en-US" sz="2400" dirty="0">
                <a:solidFill>
                  <a:schemeClr val="accent6">
                    <a:lumMod val="60000"/>
                    <a:lumOff val="40000"/>
                  </a:schemeClr>
                </a:solidFill>
              </a:rPr>
            </a:br>
            <a:r>
              <a:rPr lang="en-US" sz="2400" dirty="0">
                <a:solidFill>
                  <a:schemeClr val="accent6">
                    <a:lumMod val="60000"/>
                    <a:lumOff val="40000"/>
                  </a:schemeClr>
                </a:solidFill>
              </a:rPr>
              <a:t>“Book me the cheapest flight”</a:t>
            </a:r>
          </a:p>
          <a:p>
            <a:r>
              <a:rPr lang="en-US" sz="2400" dirty="0">
                <a:solidFill>
                  <a:schemeClr val="accent6">
                    <a:lumMod val="60000"/>
                    <a:lumOff val="40000"/>
                  </a:schemeClr>
                </a:solidFill>
              </a:rPr>
              <a:t>Agent searches flights </a:t>
            </a:r>
          </a:p>
          <a:p>
            <a:r>
              <a:rPr lang="en-US" sz="2400" dirty="0">
                <a:solidFill>
                  <a:schemeClr val="accent6">
                    <a:lumMod val="60000"/>
                    <a:lumOff val="40000"/>
                  </a:schemeClr>
                </a:solidFill>
              </a:rPr>
              <a:t>Compares prices </a:t>
            </a:r>
          </a:p>
          <a:p>
            <a:r>
              <a:rPr lang="en-US" sz="2400" dirty="0">
                <a:solidFill>
                  <a:schemeClr val="accent6">
                    <a:lumMod val="60000"/>
                    <a:lumOff val="40000"/>
                  </a:schemeClr>
                </a:solidFill>
              </a:rPr>
              <a:t>Decides best option </a:t>
            </a:r>
          </a:p>
          <a:p>
            <a:r>
              <a:rPr lang="en-US" sz="2400" dirty="0">
                <a:solidFill>
                  <a:schemeClr val="accent6">
                    <a:lumMod val="60000"/>
                    <a:lumOff val="40000"/>
                  </a:schemeClr>
                </a:solidFill>
              </a:rPr>
              <a:t>Books ticket</a:t>
            </a:r>
          </a:p>
        </p:txBody>
      </p:sp>
    </p:spTree>
    <p:extLst>
      <p:ext uri="{BB962C8B-B14F-4D97-AF65-F5344CB8AC3E}">
        <p14:creationId xmlns:p14="http://schemas.microsoft.com/office/powerpoint/2010/main" val="1986753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29040" y="3257172"/>
            <a:ext cx="5089410" cy="3333605"/>
          </a:xfrm>
          <a:prstGeom prst="rect">
            <a:avLst/>
          </a:prstGeom>
        </p:spPr>
      </p:pic>
      <p:sp>
        <p:nvSpPr>
          <p:cNvPr id="6" name="TextBox 5">
            <a:extLst>
              <a:ext uri="{FF2B5EF4-FFF2-40B4-BE49-F238E27FC236}">
                <a16:creationId xmlns:a16="http://schemas.microsoft.com/office/drawing/2014/main" id="{66E85B77-C99A-799C-385F-35F72F3F306D}"/>
              </a:ext>
            </a:extLst>
          </p:cNvPr>
          <p:cNvSpPr txBox="1"/>
          <p:nvPr/>
        </p:nvSpPr>
        <p:spPr>
          <a:xfrm>
            <a:off x="64008" y="111264"/>
            <a:ext cx="11393424" cy="1938992"/>
          </a:xfrm>
          <a:prstGeom prst="rect">
            <a:avLst/>
          </a:prstGeom>
          <a:noFill/>
        </p:spPr>
        <p:txBody>
          <a:bodyPr wrap="square">
            <a:spAutoFit/>
          </a:bodyPr>
          <a:lstStyle/>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Unlike traditional automation that follows predefined paths, </a:t>
            </a:r>
            <a:r>
              <a:rPr lang="en-US" sz="2400" b="1" dirty="0">
                <a:solidFill>
                  <a:schemeClr val="accent6">
                    <a:lumMod val="60000"/>
                    <a:lumOff val="40000"/>
                  </a:schemeClr>
                </a:solidFill>
              </a:rPr>
              <a:t>agents can dynamically adapt </a:t>
            </a:r>
            <a:r>
              <a:rPr lang="en-US" sz="2400" dirty="0">
                <a:solidFill>
                  <a:schemeClr val="accent6">
                    <a:lumMod val="60000"/>
                    <a:lumOff val="40000"/>
                  </a:schemeClr>
                </a:solidFill>
              </a:rPr>
              <a:t>their approach based on context and intermediate results. </a:t>
            </a:r>
          </a:p>
          <a:p>
            <a:pPr marL="0" indent="0">
              <a:buNone/>
            </a:pPr>
            <a:endParaRPr lang="en-US" sz="2400" dirty="0">
              <a:solidFill>
                <a:schemeClr val="accent6">
                  <a:lumMod val="60000"/>
                  <a:lumOff val="40000"/>
                </a:schemeClr>
              </a:solidFill>
            </a:endParaRPr>
          </a:p>
          <a:p>
            <a:pPr marL="0" indent="0">
              <a:buNone/>
            </a:pPr>
            <a:r>
              <a:rPr lang="en-US" sz="2400" b="1" dirty="0">
                <a:solidFill>
                  <a:schemeClr val="accent6">
                    <a:lumMod val="60000"/>
                    <a:lumOff val="40000"/>
                  </a:schemeClr>
                </a:solidFill>
              </a:rPr>
              <a:t>Agents can collaborate with other agents</a:t>
            </a:r>
            <a:r>
              <a:rPr lang="en-US" sz="2400" dirty="0">
                <a:solidFill>
                  <a:schemeClr val="accent6">
                    <a:lumMod val="60000"/>
                    <a:lumOff val="40000"/>
                  </a:schemeClr>
                </a:solidFill>
              </a:rPr>
              <a:t> to achieve the goal.</a:t>
            </a:r>
          </a:p>
        </p:txBody>
      </p:sp>
      <p:sp>
        <p:nvSpPr>
          <p:cNvPr id="10" name="TextBox 9">
            <a:extLst>
              <a:ext uri="{FF2B5EF4-FFF2-40B4-BE49-F238E27FC236}">
                <a16:creationId xmlns:a16="http://schemas.microsoft.com/office/drawing/2014/main" id="{43EA4BD5-001F-8A2C-FF62-98C54521677F}"/>
              </a:ext>
            </a:extLst>
          </p:cNvPr>
          <p:cNvSpPr txBox="1"/>
          <p:nvPr/>
        </p:nvSpPr>
        <p:spPr>
          <a:xfrm>
            <a:off x="64008" y="4166307"/>
            <a:ext cx="7165032" cy="1938992"/>
          </a:xfrm>
          <a:prstGeom prst="rect">
            <a:avLst/>
          </a:prstGeom>
          <a:noFill/>
        </p:spPr>
        <p:txBody>
          <a:bodyPr wrap="square">
            <a:spAutoFit/>
          </a:bodyPr>
          <a:lstStyle/>
          <a:p>
            <a:pPr marL="0" indent="0">
              <a:buNone/>
            </a:pPr>
            <a:r>
              <a:rPr lang="en-US" sz="2400" dirty="0">
                <a:solidFill>
                  <a:schemeClr val="accent6">
                    <a:lumMod val="60000"/>
                    <a:lumOff val="40000"/>
                  </a:schemeClr>
                </a:solidFill>
              </a:rPr>
              <a:t>AI agent are capable of executing a given task </a:t>
            </a:r>
            <a:r>
              <a:rPr lang="en-US" sz="2400" b="1" dirty="0">
                <a:solidFill>
                  <a:schemeClr val="accent6">
                    <a:lumMod val="60000"/>
                    <a:lumOff val="40000"/>
                  </a:schemeClr>
                </a:solidFill>
              </a:rPr>
              <a:t>without ongoing direct human intervention</a:t>
            </a:r>
            <a:r>
              <a:rPr lang="en-US" sz="2400" dirty="0">
                <a:solidFill>
                  <a:schemeClr val="accent6">
                    <a:lumMod val="60000"/>
                    <a:lumOff val="40000"/>
                  </a:schemeClr>
                </a:solidFill>
              </a:rPr>
              <a:t>. When assigned an objective, an AI agent will perceive its environment, assess the tools at its disposal, and formulate a plan to achieve its given goal. </a:t>
            </a:r>
          </a:p>
        </p:txBody>
      </p:sp>
    </p:spTree>
    <p:extLst>
      <p:ext uri="{BB962C8B-B14F-4D97-AF65-F5344CB8AC3E}">
        <p14:creationId xmlns:p14="http://schemas.microsoft.com/office/powerpoint/2010/main" val="29442125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81AF2-BE24-D586-CE52-CFFC6BC26A6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F4CDAFF-26BA-0439-A1DF-49E3719E5069}"/>
              </a:ext>
            </a:extLst>
          </p:cNvPr>
          <p:cNvGraphicFramePr>
            <a:graphicFrameLocks noGrp="1"/>
          </p:cNvGraphicFramePr>
          <p:nvPr>
            <p:extLst>
              <p:ext uri="{D42A27DB-BD31-4B8C-83A1-F6EECF244321}">
                <p14:modId xmlns:p14="http://schemas.microsoft.com/office/powerpoint/2010/main" val="451191441"/>
              </p:ext>
            </p:extLst>
          </p:nvPr>
        </p:nvGraphicFramePr>
        <p:xfrm>
          <a:off x="443484" y="1697006"/>
          <a:ext cx="9037320" cy="2286000"/>
        </p:xfrm>
        <a:graphic>
          <a:graphicData uri="http://schemas.openxmlformats.org/drawingml/2006/table">
            <a:tbl>
              <a:tblPr/>
              <a:tblGrid>
                <a:gridCol w="2874264">
                  <a:extLst>
                    <a:ext uri="{9D8B030D-6E8A-4147-A177-3AD203B41FA5}">
                      <a16:colId xmlns:a16="http://schemas.microsoft.com/office/drawing/2014/main" val="752617204"/>
                    </a:ext>
                  </a:extLst>
                </a:gridCol>
                <a:gridCol w="6163056">
                  <a:extLst>
                    <a:ext uri="{9D8B030D-6E8A-4147-A177-3AD203B41FA5}">
                      <a16:colId xmlns:a16="http://schemas.microsoft.com/office/drawing/2014/main" val="2953563925"/>
                    </a:ext>
                  </a:extLst>
                </a:gridCol>
              </a:tblGrid>
              <a:tr h="0">
                <a:tc>
                  <a:txBody>
                    <a:bodyPr/>
                    <a:lstStyle/>
                    <a:p>
                      <a:pPr algn="ctr">
                        <a:buNone/>
                      </a:pPr>
                      <a:r>
                        <a:rPr lang="en-US" sz="2400" b="1" u="sng" dirty="0">
                          <a:solidFill>
                            <a:schemeClr val="accent6">
                              <a:lumMod val="60000"/>
                              <a:lumOff val="40000"/>
                            </a:schemeClr>
                          </a:solidFill>
                        </a:rPr>
                        <a:t>Component</a:t>
                      </a:r>
                    </a:p>
                  </a:txBody>
                  <a:tcPr anchor="ctr">
                    <a:lnL>
                      <a:noFill/>
                    </a:lnL>
                    <a:lnR>
                      <a:noFill/>
                    </a:lnR>
                    <a:lnT>
                      <a:noFill/>
                    </a:lnT>
                    <a:lnB>
                      <a:noFill/>
                    </a:lnB>
                    <a:noFill/>
                  </a:tcPr>
                </a:tc>
                <a:tc>
                  <a:txBody>
                    <a:bodyPr/>
                    <a:lstStyle/>
                    <a:p>
                      <a:pPr algn="ctr">
                        <a:buNone/>
                      </a:pPr>
                      <a:r>
                        <a:rPr lang="en-US" sz="2400" b="1" u="sng" dirty="0">
                          <a:solidFill>
                            <a:schemeClr val="accent6">
                              <a:lumMod val="60000"/>
                              <a:lumOff val="40000"/>
                            </a:schemeClr>
                          </a:solidFill>
                        </a:rPr>
                        <a:t>Role</a:t>
                      </a:r>
                    </a:p>
                  </a:txBody>
                  <a:tcPr anchor="ctr">
                    <a:lnL>
                      <a:noFill/>
                    </a:lnL>
                    <a:lnR>
                      <a:noFill/>
                    </a:lnR>
                    <a:lnT>
                      <a:noFill/>
                    </a:lnT>
                    <a:lnB>
                      <a:noFill/>
                    </a:lnB>
                    <a:noFill/>
                  </a:tcPr>
                </a:tc>
                <a:extLst>
                  <a:ext uri="{0D108BD9-81ED-4DB2-BD59-A6C34878D82A}">
                    <a16:rowId xmlns:a16="http://schemas.microsoft.com/office/drawing/2014/main" val="1524961159"/>
                  </a:ext>
                </a:extLst>
              </a:tr>
              <a:tr h="0">
                <a:tc>
                  <a:txBody>
                    <a:bodyPr/>
                    <a:lstStyle/>
                    <a:p>
                      <a:pPr algn="ctr">
                        <a:buNone/>
                      </a:pPr>
                      <a:r>
                        <a:rPr lang="en-US" sz="2400" b="1" dirty="0">
                          <a:solidFill>
                            <a:schemeClr val="accent6">
                              <a:lumMod val="60000"/>
                              <a:lumOff val="40000"/>
                            </a:schemeClr>
                          </a:solidFill>
                        </a:rPr>
                        <a:t>Planner</a:t>
                      </a:r>
                      <a:endParaRPr lang="en-US" sz="2400" dirty="0">
                        <a:solidFill>
                          <a:schemeClr val="accent6">
                            <a:lumMod val="60000"/>
                            <a:lumOff val="40000"/>
                          </a:schemeClr>
                        </a:solidFill>
                      </a:endParaRPr>
                    </a:p>
                  </a:txBody>
                  <a:tcPr anchor="ctr">
                    <a:lnL>
                      <a:noFill/>
                    </a:lnL>
                    <a:lnR>
                      <a:noFill/>
                    </a:lnR>
                    <a:lnT>
                      <a:noFill/>
                    </a:lnT>
                    <a:lnB>
                      <a:noFill/>
                    </a:lnB>
                    <a:noFill/>
                  </a:tcPr>
                </a:tc>
                <a:tc>
                  <a:txBody>
                    <a:bodyPr/>
                    <a:lstStyle/>
                    <a:p>
                      <a:pPr algn="ctr">
                        <a:buNone/>
                      </a:pPr>
                      <a:r>
                        <a:rPr lang="en-US" sz="2400" dirty="0">
                          <a:solidFill>
                            <a:schemeClr val="accent6">
                              <a:lumMod val="60000"/>
                              <a:lumOff val="40000"/>
                            </a:schemeClr>
                          </a:solidFill>
                        </a:rPr>
                        <a:t>Decides </a:t>
                      </a:r>
                      <a:r>
                        <a:rPr lang="en-US" sz="2400" i="1" dirty="0">
                          <a:solidFill>
                            <a:schemeClr val="accent6">
                              <a:lumMod val="60000"/>
                              <a:lumOff val="40000"/>
                            </a:schemeClr>
                          </a:solidFill>
                        </a:rPr>
                        <a:t>what steps to take</a:t>
                      </a:r>
                      <a:endParaRPr lang="en-US" sz="2400" dirty="0">
                        <a:solidFill>
                          <a:schemeClr val="accent6">
                            <a:lumMod val="60000"/>
                            <a:lumOff val="40000"/>
                          </a:schemeClr>
                        </a:solidFill>
                      </a:endParaRPr>
                    </a:p>
                  </a:txBody>
                  <a:tcPr anchor="ctr">
                    <a:lnL>
                      <a:noFill/>
                    </a:lnL>
                    <a:lnR>
                      <a:noFill/>
                    </a:lnR>
                    <a:lnT>
                      <a:noFill/>
                    </a:lnT>
                    <a:lnB>
                      <a:noFill/>
                    </a:lnB>
                    <a:noFill/>
                  </a:tcPr>
                </a:tc>
                <a:extLst>
                  <a:ext uri="{0D108BD9-81ED-4DB2-BD59-A6C34878D82A}">
                    <a16:rowId xmlns:a16="http://schemas.microsoft.com/office/drawing/2014/main" val="3772262968"/>
                  </a:ext>
                </a:extLst>
              </a:tr>
              <a:tr h="0">
                <a:tc>
                  <a:txBody>
                    <a:bodyPr/>
                    <a:lstStyle/>
                    <a:p>
                      <a:pPr algn="ctr">
                        <a:buNone/>
                      </a:pPr>
                      <a:r>
                        <a:rPr lang="en-US" sz="2400" b="1">
                          <a:solidFill>
                            <a:schemeClr val="accent6">
                              <a:lumMod val="60000"/>
                              <a:lumOff val="40000"/>
                            </a:schemeClr>
                          </a:solidFill>
                        </a:rPr>
                        <a:t>Memory</a:t>
                      </a:r>
                      <a:endParaRPr lang="en-US" sz="2400">
                        <a:solidFill>
                          <a:schemeClr val="accent6">
                            <a:lumMod val="60000"/>
                            <a:lumOff val="40000"/>
                          </a:schemeClr>
                        </a:solidFill>
                      </a:endParaRPr>
                    </a:p>
                  </a:txBody>
                  <a:tcPr anchor="ctr">
                    <a:lnL>
                      <a:noFill/>
                    </a:lnL>
                    <a:lnR>
                      <a:noFill/>
                    </a:lnR>
                    <a:lnT>
                      <a:noFill/>
                    </a:lnT>
                    <a:lnB>
                      <a:noFill/>
                    </a:lnB>
                    <a:noFill/>
                  </a:tcPr>
                </a:tc>
                <a:tc>
                  <a:txBody>
                    <a:bodyPr/>
                    <a:lstStyle/>
                    <a:p>
                      <a:pPr algn="ctr">
                        <a:buNone/>
                      </a:pPr>
                      <a:r>
                        <a:rPr lang="en-US" sz="2400" dirty="0">
                          <a:solidFill>
                            <a:schemeClr val="accent6">
                              <a:lumMod val="60000"/>
                              <a:lumOff val="40000"/>
                            </a:schemeClr>
                          </a:solidFill>
                        </a:rPr>
                        <a:t>Stores past information</a:t>
                      </a:r>
                    </a:p>
                  </a:txBody>
                  <a:tcPr anchor="ctr">
                    <a:lnL>
                      <a:noFill/>
                    </a:lnL>
                    <a:lnR>
                      <a:noFill/>
                    </a:lnR>
                    <a:lnT>
                      <a:noFill/>
                    </a:lnT>
                    <a:lnB>
                      <a:noFill/>
                    </a:lnB>
                    <a:noFill/>
                  </a:tcPr>
                </a:tc>
                <a:extLst>
                  <a:ext uri="{0D108BD9-81ED-4DB2-BD59-A6C34878D82A}">
                    <a16:rowId xmlns:a16="http://schemas.microsoft.com/office/drawing/2014/main" val="234427315"/>
                  </a:ext>
                </a:extLst>
              </a:tr>
              <a:tr h="0">
                <a:tc>
                  <a:txBody>
                    <a:bodyPr/>
                    <a:lstStyle/>
                    <a:p>
                      <a:pPr algn="ctr">
                        <a:buNone/>
                      </a:pPr>
                      <a:r>
                        <a:rPr lang="en-US" sz="2400" b="1">
                          <a:solidFill>
                            <a:schemeClr val="accent6">
                              <a:lumMod val="60000"/>
                              <a:lumOff val="40000"/>
                            </a:schemeClr>
                          </a:solidFill>
                        </a:rPr>
                        <a:t>Tools</a:t>
                      </a:r>
                      <a:endParaRPr lang="en-US" sz="2400">
                        <a:solidFill>
                          <a:schemeClr val="accent6">
                            <a:lumMod val="60000"/>
                            <a:lumOff val="40000"/>
                          </a:schemeClr>
                        </a:solidFill>
                      </a:endParaRPr>
                    </a:p>
                  </a:txBody>
                  <a:tcPr anchor="ctr">
                    <a:lnL>
                      <a:noFill/>
                    </a:lnL>
                    <a:lnR>
                      <a:noFill/>
                    </a:lnR>
                    <a:lnT>
                      <a:noFill/>
                    </a:lnT>
                    <a:lnB>
                      <a:noFill/>
                    </a:lnB>
                    <a:noFill/>
                  </a:tcPr>
                </a:tc>
                <a:tc>
                  <a:txBody>
                    <a:bodyPr/>
                    <a:lstStyle/>
                    <a:p>
                      <a:pPr algn="ctr">
                        <a:buNone/>
                      </a:pPr>
                      <a:r>
                        <a:rPr lang="en-US" sz="2400" dirty="0">
                          <a:solidFill>
                            <a:schemeClr val="accent6">
                              <a:lumMod val="60000"/>
                              <a:lumOff val="40000"/>
                            </a:schemeClr>
                          </a:solidFill>
                        </a:rPr>
                        <a:t>External capabilities (APIs, DBs, calculators)</a:t>
                      </a:r>
                    </a:p>
                  </a:txBody>
                  <a:tcPr anchor="ctr">
                    <a:lnL>
                      <a:noFill/>
                    </a:lnL>
                    <a:lnR>
                      <a:noFill/>
                    </a:lnR>
                    <a:lnT>
                      <a:noFill/>
                    </a:lnT>
                    <a:lnB>
                      <a:noFill/>
                    </a:lnB>
                    <a:noFill/>
                  </a:tcPr>
                </a:tc>
                <a:extLst>
                  <a:ext uri="{0D108BD9-81ED-4DB2-BD59-A6C34878D82A}">
                    <a16:rowId xmlns:a16="http://schemas.microsoft.com/office/drawing/2014/main" val="3462731126"/>
                  </a:ext>
                </a:extLst>
              </a:tr>
              <a:tr h="0">
                <a:tc>
                  <a:txBody>
                    <a:bodyPr/>
                    <a:lstStyle/>
                    <a:p>
                      <a:pPr algn="ctr">
                        <a:buNone/>
                      </a:pPr>
                      <a:r>
                        <a:rPr lang="en-US" sz="2400" b="1">
                          <a:solidFill>
                            <a:schemeClr val="accent6">
                              <a:lumMod val="60000"/>
                              <a:lumOff val="40000"/>
                            </a:schemeClr>
                          </a:solidFill>
                        </a:rPr>
                        <a:t>Executor</a:t>
                      </a:r>
                      <a:endParaRPr lang="en-US" sz="2400">
                        <a:solidFill>
                          <a:schemeClr val="accent6">
                            <a:lumMod val="60000"/>
                            <a:lumOff val="40000"/>
                          </a:schemeClr>
                        </a:solidFill>
                      </a:endParaRPr>
                    </a:p>
                  </a:txBody>
                  <a:tcPr anchor="ctr">
                    <a:lnL>
                      <a:noFill/>
                    </a:lnL>
                    <a:lnR>
                      <a:noFill/>
                    </a:lnR>
                    <a:lnT>
                      <a:noFill/>
                    </a:lnT>
                    <a:lnB>
                      <a:noFill/>
                    </a:lnB>
                    <a:noFill/>
                  </a:tcPr>
                </a:tc>
                <a:tc>
                  <a:txBody>
                    <a:bodyPr/>
                    <a:lstStyle/>
                    <a:p>
                      <a:pPr algn="ctr">
                        <a:buNone/>
                      </a:pPr>
                      <a:r>
                        <a:rPr lang="en-US" sz="2400" dirty="0">
                          <a:solidFill>
                            <a:schemeClr val="accent6">
                              <a:lumMod val="60000"/>
                              <a:lumOff val="40000"/>
                            </a:schemeClr>
                          </a:solidFill>
                        </a:rPr>
                        <a:t>Actually performs the actions</a:t>
                      </a:r>
                    </a:p>
                  </a:txBody>
                  <a:tcPr anchor="ctr">
                    <a:lnL>
                      <a:noFill/>
                    </a:lnL>
                    <a:lnR>
                      <a:noFill/>
                    </a:lnR>
                    <a:lnT>
                      <a:noFill/>
                    </a:lnT>
                    <a:lnB>
                      <a:noFill/>
                    </a:lnB>
                    <a:noFill/>
                  </a:tcPr>
                </a:tc>
                <a:extLst>
                  <a:ext uri="{0D108BD9-81ED-4DB2-BD59-A6C34878D82A}">
                    <a16:rowId xmlns:a16="http://schemas.microsoft.com/office/drawing/2014/main" val="2904333500"/>
                  </a:ext>
                </a:extLst>
              </a:tr>
            </a:tbl>
          </a:graphicData>
        </a:graphic>
      </p:graphicFrame>
      <p:sp>
        <p:nvSpPr>
          <p:cNvPr id="5" name="TextBox 4">
            <a:extLst>
              <a:ext uri="{FF2B5EF4-FFF2-40B4-BE49-F238E27FC236}">
                <a16:creationId xmlns:a16="http://schemas.microsoft.com/office/drawing/2014/main" id="{53611136-0F81-389E-9FBC-44FC6B1C9F7E}"/>
              </a:ext>
            </a:extLst>
          </p:cNvPr>
          <p:cNvSpPr txBox="1"/>
          <p:nvPr/>
        </p:nvSpPr>
        <p:spPr>
          <a:xfrm>
            <a:off x="443484" y="0"/>
            <a:ext cx="10309860" cy="1200329"/>
          </a:xfrm>
          <a:prstGeom prst="rect">
            <a:avLst/>
          </a:prstGeom>
          <a:noFill/>
        </p:spPr>
        <p:txBody>
          <a:bodyPr wrap="square">
            <a:spAutoFit/>
          </a:bodyPr>
          <a:lstStyle/>
          <a:p>
            <a:pPr>
              <a:buNone/>
            </a:pPr>
            <a:r>
              <a:rPr lang="en-US" sz="2400" b="1" dirty="0">
                <a:solidFill>
                  <a:schemeClr val="accent6">
                    <a:lumMod val="60000"/>
                    <a:lumOff val="40000"/>
                  </a:schemeClr>
                </a:solidFill>
              </a:rPr>
              <a:t>Components of an AI Agent</a:t>
            </a:r>
          </a:p>
          <a:p>
            <a:pPr>
              <a:buNone/>
            </a:pPr>
            <a:r>
              <a:rPr lang="en-US" sz="2400" dirty="0">
                <a:solidFill>
                  <a:schemeClr val="accent6">
                    <a:lumMod val="60000"/>
                    <a:lumOff val="40000"/>
                  </a:schemeClr>
                </a:solidFill>
              </a:rPr>
              <a:t>An AI agent is not just an LLM. </a:t>
            </a:r>
          </a:p>
          <a:p>
            <a:pPr>
              <a:buNone/>
            </a:pPr>
            <a:r>
              <a:rPr lang="en-US" sz="2400" dirty="0">
                <a:solidFill>
                  <a:schemeClr val="accent6">
                    <a:lumMod val="60000"/>
                    <a:lumOff val="40000"/>
                  </a:schemeClr>
                </a:solidFill>
              </a:rPr>
              <a:t>It’s a </a:t>
            </a:r>
            <a:r>
              <a:rPr lang="en-US" sz="2400" b="1" dirty="0">
                <a:solidFill>
                  <a:schemeClr val="accent6">
                    <a:lumMod val="60000"/>
                    <a:lumOff val="40000"/>
                  </a:schemeClr>
                </a:solidFill>
              </a:rPr>
              <a:t>system of modules</a:t>
            </a:r>
            <a:r>
              <a:rPr lang="en-US" sz="2400" dirty="0">
                <a:solidFill>
                  <a:schemeClr val="accent6">
                    <a:lumMod val="60000"/>
                    <a:lumOff val="40000"/>
                  </a:schemeClr>
                </a:solidFill>
              </a:rPr>
              <a:t> working together:</a:t>
            </a:r>
          </a:p>
        </p:txBody>
      </p:sp>
    </p:spTree>
    <p:extLst>
      <p:ext uri="{BB962C8B-B14F-4D97-AF65-F5344CB8AC3E}">
        <p14:creationId xmlns:p14="http://schemas.microsoft.com/office/powerpoint/2010/main" val="42128427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94699-A25E-4C22-7E06-982C17AF02F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58BCBB6-EA83-55D9-41BA-BB200D4AE60C}"/>
              </a:ext>
            </a:extLst>
          </p:cNvPr>
          <p:cNvSpPr txBox="1"/>
          <p:nvPr/>
        </p:nvSpPr>
        <p:spPr>
          <a:xfrm>
            <a:off x="123444" y="146304"/>
            <a:ext cx="10309860" cy="1569660"/>
          </a:xfrm>
          <a:prstGeom prst="rect">
            <a:avLst/>
          </a:prstGeom>
          <a:noFill/>
        </p:spPr>
        <p:txBody>
          <a:bodyPr wrap="square">
            <a:spAutoFit/>
          </a:bodyPr>
          <a:lstStyle/>
          <a:p>
            <a:r>
              <a:rPr lang="en-US" sz="2400" b="1" dirty="0">
                <a:solidFill>
                  <a:schemeClr val="accent6">
                    <a:lumMod val="60000"/>
                    <a:lumOff val="40000"/>
                  </a:schemeClr>
                </a:solidFill>
              </a:rPr>
              <a:t>🪙 Running Example (FinTech)</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 User Query:</a:t>
            </a:r>
          </a:p>
          <a:p>
            <a:r>
              <a:rPr lang="en-US" sz="2400" dirty="0">
                <a:solidFill>
                  <a:schemeClr val="accent6">
                    <a:lumMod val="60000"/>
                    <a:lumOff val="40000"/>
                  </a:schemeClr>
                </a:solidFill>
              </a:rPr>
              <a:t>“Analyze my spending this month and tell me if I can invest ₹10,000 in stocks.”</a:t>
            </a:r>
          </a:p>
        </p:txBody>
      </p:sp>
    </p:spTree>
    <p:extLst>
      <p:ext uri="{BB962C8B-B14F-4D97-AF65-F5344CB8AC3E}">
        <p14:creationId xmlns:p14="http://schemas.microsoft.com/office/powerpoint/2010/main" val="32400443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47EAA-1758-E262-FC61-DE5151359BD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1AF51C1-3604-9FB8-705F-E2D27CFD5E6D}"/>
              </a:ext>
            </a:extLst>
          </p:cNvPr>
          <p:cNvSpPr txBox="1"/>
          <p:nvPr/>
        </p:nvSpPr>
        <p:spPr>
          <a:xfrm>
            <a:off x="256032" y="469452"/>
            <a:ext cx="7132320" cy="4893647"/>
          </a:xfrm>
          <a:prstGeom prst="rect">
            <a:avLst/>
          </a:prstGeom>
          <a:noFill/>
        </p:spPr>
        <p:txBody>
          <a:bodyPr wrap="square">
            <a:spAutoFit/>
          </a:bodyPr>
          <a:lstStyle/>
          <a:p>
            <a:pPr>
              <a:buNone/>
            </a:pPr>
            <a:r>
              <a:rPr lang="en-US" sz="2400" b="1" dirty="0">
                <a:solidFill>
                  <a:schemeClr val="accent6">
                    <a:lumMod val="60000"/>
                    <a:lumOff val="40000"/>
                  </a:schemeClr>
                </a:solidFill>
              </a:rPr>
              <a:t>1️⃣ Planner (The Strategist)</a:t>
            </a:r>
          </a:p>
          <a:p>
            <a:pPr>
              <a:buNone/>
            </a:pPr>
            <a:endParaRPr lang="en-US" sz="2400" b="1" dirty="0">
              <a:solidFill>
                <a:schemeClr val="accent6">
                  <a:lumMod val="60000"/>
                  <a:lumOff val="40000"/>
                </a:schemeClr>
              </a:solidFill>
            </a:endParaRPr>
          </a:p>
          <a:p>
            <a:pPr>
              <a:buNone/>
            </a:pPr>
            <a:r>
              <a:rPr lang="en-US" sz="2400" b="1" dirty="0">
                <a:solidFill>
                  <a:schemeClr val="accent6">
                    <a:lumMod val="60000"/>
                    <a:lumOff val="40000"/>
                  </a:schemeClr>
                </a:solidFill>
              </a:rPr>
              <a:t>💡 What it does:</a:t>
            </a:r>
          </a:p>
          <a:p>
            <a:pPr marL="342900" indent="-342900">
              <a:buFont typeface="Arial" panose="020B0604020202020204" pitchFamily="34" charset="0"/>
              <a:buChar char="•"/>
            </a:pPr>
            <a:r>
              <a:rPr lang="en-US" sz="2400" dirty="0">
                <a:solidFill>
                  <a:schemeClr val="accent6">
                    <a:lumMod val="60000"/>
                    <a:lumOff val="40000"/>
                  </a:schemeClr>
                </a:solidFill>
              </a:rPr>
              <a:t>Breaks the problem into steps </a:t>
            </a:r>
          </a:p>
          <a:p>
            <a:pPr marL="342900" indent="-342900">
              <a:buFont typeface="Arial" panose="020B0604020202020204" pitchFamily="34" charset="0"/>
              <a:buChar char="•"/>
            </a:pPr>
            <a:r>
              <a:rPr lang="en-US" sz="2400" dirty="0">
                <a:solidFill>
                  <a:schemeClr val="accent6">
                    <a:lumMod val="60000"/>
                    <a:lumOff val="40000"/>
                  </a:schemeClr>
                </a:solidFill>
              </a:rPr>
              <a:t>Decides </a:t>
            </a:r>
            <a:r>
              <a:rPr lang="en-US" sz="2400" b="1" dirty="0">
                <a:solidFill>
                  <a:schemeClr val="accent6">
                    <a:lumMod val="60000"/>
                    <a:lumOff val="40000"/>
                  </a:schemeClr>
                </a:solidFill>
              </a:rPr>
              <a:t>how to solve the task</a:t>
            </a:r>
            <a:r>
              <a:rPr lang="en-US" sz="2400" dirty="0">
                <a:solidFill>
                  <a:schemeClr val="accent6">
                    <a:lumMod val="60000"/>
                    <a:lumOff val="40000"/>
                  </a:schemeClr>
                </a:solidFill>
              </a:rPr>
              <a:t> </a:t>
            </a:r>
          </a:p>
          <a:p>
            <a:pPr>
              <a:buNone/>
            </a:pPr>
            <a:endParaRPr lang="en-US" sz="2400" b="1" dirty="0">
              <a:solidFill>
                <a:schemeClr val="accent6">
                  <a:lumMod val="60000"/>
                  <a:lumOff val="40000"/>
                </a:schemeClr>
              </a:solidFill>
            </a:endParaRPr>
          </a:p>
          <a:p>
            <a:pPr>
              <a:buNone/>
            </a:pPr>
            <a:r>
              <a:rPr lang="en-US" sz="2400" b="1" dirty="0">
                <a:solidFill>
                  <a:schemeClr val="accent6">
                    <a:lumMod val="60000"/>
                    <a:lumOff val="40000"/>
                  </a:schemeClr>
                </a:solidFill>
              </a:rPr>
              <a:t>🧠 In our example:</a:t>
            </a:r>
          </a:p>
          <a:p>
            <a:pPr>
              <a:buNone/>
            </a:pPr>
            <a:r>
              <a:rPr lang="en-US" sz="2400" dirty="0">
                <a:solidFill>
                  <a:schemeClr val="accent6">
                    <a:lumMod val="60000"/>
                    <a:lumOff val="40000"/>
                  </a:schemeClr>
                </a:solidFill>
              </a:rPr>
              <a:t>Planner creates a plan like:</a:t>
            </a:r>
          </a:p>
          <a:p>
            <a:pPr rtl="0">
              <a:buNone/>
            </a:pPr>
            <a:r>
              <a:rPr lang="en-US" sz="2400" dirty="0">
                <a:solidFill>
                  <a:schemeClr val="accent6">
                    <a:lumMod val="60000"/>
                    <a:lumOff val="40000"/>
                  </a:schemeClr>
                </a:solidFill>
                <a:latin typeface="Courier New" panose="02070309020205020404" pitchFamily="49" charset="0"/>
              </a:rPr>
              <a:t>Step 1: Fetch user transaction data</a:t>
            </a:r>
          </a:p>
          <a:p>
            <a:pPr rtl="0">
              <a:buNone/>
            </a:pPr>
            <a:r>
              <a:rPr lang="en-US" sz="2400" dirty="0">
                <a:solidFill>
                  <a:schemeClr val="accent6">
                    <a:lumMod val="60000"/>
                    <a:lumOff val="40000"/>
                  </a:schemeClr>
                </a:solidFill>
                <a:latin typeface="Courier New" panose="02070309020205020404" pitchFamily="49" charset="0"/>
              </a:rPr>
              <a:t>Step 2: Calculate total expenses</a:t>
            </a:r>
          </a:p>
          <a:p>
            <a:pPr rtl="0">
              <a:buNone/>
            </a:pPr>
            <a:r>
              <a:rPr lang="en-US" sz="2400" dirty="0">
                <a:solidFill>
                  <a:schemeClr val="accent6">
                    <a:lumMod val="60000"/>
                    <a:lumOff val="40000"/>
                  </a:schemeClr>
                </a:solidFill>
                <a:latin typeface="Courier New" panose="02070309020205020404" pitchFamily="49" charset="0"/>
              </a:rPr>
              <a:t>Step 3: Calculate savings</a:t>
            </a:r>
          </a:p>
          <a:p>
            <a:pPr rtl="0">
              <a:buNone/>
            </a:pPr>
            <a:r>
              <a:rPr lang="en-US" sz="2400" dirty="0">
                <a:solidFill>
                  <a:schemeClr val="accent6">
                    <a:lumMod val="60000"/>
                    <a:lumOff val="40000"/>
                  </a:schemeClr>
                </a:solidFill>
                <a:latin typeface="Courier New" panose="02070309020205020404" pitchFamily="49" charset="0"/>
              </a:rPr>
              <a:t>Step 4: Check if ₹10,000 is affordable</a:t>
            </a:r>
          </a:p>
          <a:p>
            <a:pPr rtl="0">
              <a:buNone/>
            </a:pPr>
            <a:r>
              <a:rPr lang="en-US" sz="2400" dirty="0">
                <a:solidFill>
                  <a:schemeClr val="accent6">
                    <a:lumMod val="60000"/>
                    <a:lumOff val="40000"/>
                  </a:schemeClr>
                </a:solidFill>
                <a:latin typeface="Courier New" panose="02070309020205020404" pitchFamily="49" charset="0"/>
              </a:rPr>
              <a:t>Step 5: Suggest investment decision</a:t>
            </a:r>
          </a:p>
        </p:txBody>
      </p:sp>
    </p:spTree>
    <p:extLst>
      <p:ext uri="{BB962C8B-B14F-4D97-AF65-F5344CB8AC3E}">
        <p14:creationId xmlns:p14="http://schemas.microsoft.com/office/powerpoint/2010/main" val="31528737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88C4D-815C-A8F3-549A-3264580BBC9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67B4FD-E6BA-C1D4-FF4B-4C0B8C99DC36}"/>
              </a:ext>
            </a:extLst>
          </p:cNvPr>
          <p:cNvSpPr txBox="1"/>
          <p:nvPr/>
        </p:nvSpPr>
        <p:spPr>
          <a:xfrm>
            <a:off x="182880" y="176844"/>
            <a:ext cx="5687568" cy="6370975"/>
          </a:xfrm>
          <a:prstGeom prst="rect">
            <a:avLst/>
          </a:prstGeom>
          <a:noFill/>
        </p:spPr>
        <p:txBody>
          <a:bodyPr wrap="square">
            <a:spAutoFit/>
          </a:bodyPr>
          <a:lstStyle/>
          <a:p>
            <a:r>
              <a:rPr lang="en-US" sz="2400" b="1" dirty="0">
                <a:solidFill>
                  <a:schemeClr val="accent6">
                    <a:lumMod val="60000"/>
                    <a:lumOff val="40000"/>
                  </a:schemeClr>
                </a:solidFill>
              </a:rPr>
              <a:t>2️⃣ Memory (The Context Keeper)</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 What it does:</a:t>
            </a:r>
          </a:p>
          <a:p>
            <a:r>
              <a:rPr lang="en-US" sz="2400" dirty="0">
                <a:solidFill>
                  <a:schemeClr val="accent6">
                    <a:lumMod val="60000"/>
                    <a:lumOff val="40000"/>
                  </a:schemeClr>
                </a:solidFill>
              </a:rPr>
              <a:t>Stores: </a:t>
            </a:r>
          </a:p>
          <a:p>
            <a:pPr marL="800100" lvl="1" indent="-342900">
              <a:buFont typeface="Arial" panose="020B0604020202020204" pitchFamily="34" charset="0"/>
              <a:buChar char="•"/>
            </a:pPr>
            <a:r>
              <a:rPr lang="en-US" sz="2400" dirty="0">
                <a:solidFill>
                  <a:schemeClr val="accent6">
                    <a:lumMod val="60000"/>
                    <a:lumOff val="40000"/>
                  </a:schemeClr>
                </a:solidFill>
              </a:rPr>
              <a:t>User history </a:t>
            </a:r>
          </a:p>
          <a:p>
            <a:pPr marL="800100" lvl="1" indent="-342900">
              <a:buFont typeface="Arial" panose="020B0604020202020204" pitchFamily="34" charset="0"/>
              <a:buChar char="•"/>
            </a:pPr>
            <a:r>
              <a:rPr lang="en-US" sz="2400" dirty="0">
                <a:solidFill>
                  <a:schemeClr val="accent6">
                    <a:lumMod val="60000"/>
                    <a:lumOff val="40000"/>
                  </a:schemeClr>
                </a:solidFill>
              </a:rPr>
              <a:t>Preferences </a:t>
            </a:r>
          </a:p>
          <a:p>
            <a:pPr marL="800100" lvl="1" indent="-342900">
              <a:buFont typeface="Arial" panose="020B0604020202020204" pitchFamily="34" charset="0"/>
              <a:buChar char="•"/>
            </a:pPr>
            <a:r>
              <a:rPr lang="en-US" sz="2400" dirty="0">
                <a:solidFill>
                  <a:schemeClr val="accent6">
                    <a:lumMod val="60000"/>
                    <a:lumOff val="40000"/>
                  </a:schemeClr>
                </a:solidFill>
              </a:rPr>
              <a:t>Past interactions </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 In our example:</a:t>
            </a:r>
          </a:p>
          <a:p>
            <a:r>
              <a:rPr lang="en-US" sz="2400" dirty="0">
                <a:solidFill>
                  <a:schemeClr val="accent6">
                    <a:lumMod val="60000"/>
                    <a:lumOff val="40000"/>
                  </a:schemeClr>
                </a:solidFill>
              </a:rPr>
              <a:t>Memory may store:</a:t>
            </a:r>
          </a:p>
          <a:p>
            <a:r>
              <a:rPr lang="en-US" sz="2400" dirty="0">
                <a:solidFill>
                  <a:schemeClr val="accent6">
                    <a:lumMod val="60000"/>
                    <a:lumOff val="40000"/>
                  </a:schemeClr>
                </a:solidFill>
              </a:rPr>
              <a:t>- User monthly income: ₹50,000</a:t>
            </a:r>
          </a:p>
          <a:p>
            <a:r>
              <a:rPr lang="en-US" sz="2400" dirty="0">
                <a:solidFill>
                  <a:schemeClr val="accent6">
                    <a:lumMod val="60000"/>
                    <a:lumOff val="40000"/>
                  </a:schemeClr>
                </a:solidFill>
              </a:rPr>
              <a:t>- Previous spending patterns</a:t>
            </a:r>
          </a:p>
          <a:p>
            <a:r>
              <a:rPr lang="en-US" sz="2400" dirty="0">
                <a:solidFill>
                  <a:schemeClr val="accent6">
                    <a:lumMod val="60000"/>
                    <a:lumOff val="40000"/>
                  </a:schemeClr>
                </a:solidFill>
              </a:rPr>
              <a:t>- Risk appetite: Moderate</a:t>
            </a:r>
          </a:p>
          <a:p>
            <a:r>
              <a:rPr lang="en-US" sz="2400" dirty="0">
                <a:solidFill>
                  <a:schemeClr val="accent6">
                    <a:lumMod val="60000"/>
                    <a:lumOff val="40000"/>
                  </a:schemeClr>
                </a:solidFill>
              </a:rPr>
              <a:t>- Past investments: Mutual funds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 With memory:</a:t>
            </a:r>
          </a:p>
          <a:p>
            <a:r>
              <a:rPr lang="en-US" sz="2400" dirty="0">
                <a:solidFill>
                  <a:schemeClr val="accent6">
                    <a:lumMod val="60000"/>
                    <a:lumOff val="40000"/>
                  </a:schemeClr>
                </a:solidFill>
              </a:rPr>
              <a:t>Agent becomes </a:t>
            </a:r>
            <a:r>
              <a:rPr lang="en-US" sz="2400" b="1" dirty="0">
                <a:solidFill>
                  <a:schemeClr val="accent6">
                    <a:lumMod val="60000"/>
                    <a:lumOff val="40000"/>
                  </a:schemeClr>
                </a:solidFill>
              </a:rPr>
              <a:t>personalized advisor</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29980700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9DDE3-ABA7-45DE-5C5B-F46E23B6205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80A718-9BEC-6C4A-9A38-79960DB7269C}"/>
              </a:ext>
            </a:extLst>
          </p:cNvPr>
          <p:cNvSpPr txBox="1"/>
          <p:nvPr/>
        </p:nvSpPr>
        <p:spPr>
          <a:xfrm>
            <a:off x="182880" y="176844"/>
            <a:ext cx="5687568" cy="6001643"/>
          </a:xfrm>
          <a:prstGeom prst="rect">
            <a:avLst/>
          </a:prstGeom>
          <a:noFill/>
        </p:spPr>
        <p:txBody>
          <a:bodyPr wrap="square">
            <a:spAutoFit/>
          </a:bodyPr>
          <a:lstStyle/>
          <a:p>
            <a:r>
              <a:rPr lang="en-US" sz="2400" b="1" dirty="0">
                <a:solidFill>
                  <a:schemeClr val="accent6">
                    <a:lumMod val="60000"/>
                    <a:lumOff val="40000"/>
                  </a:schemeClr>
                </a:solidFill>
              </a:rPr>
              <a:t>3️⃣ Tools (The Capabilities Layer)</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 What it does:</a:t>
            </a:r>
          </a:p>
          <a:p>
            <a:r>
              <a:rPr lang="en-US" sz="2400" dirty="0">
                <a:solidFill>
                  <a:schemeClr val="accent6">
                    <a:lumMod val="60000"/>
                    <a:lumOff val="40000"/>
                  </a:schemeClr>
                </a:solidFill>
              </a:rPr>
              <a:t>Allows agent to interact with the outside world</a:t>
            </a:r>
          </a:p>
          <a:p>
            <a:r>
              <a:rPr lang="en-US" sz="2400" b="1" dirty="0">
                <a:solidFill>
                  <a:schemeClr val="accent6">
                    <a:lumMod val="60000"/>
                    <a:lumOff val="40000"/>
                  </a:schemeClr>
                </a:solidFill>
              </a:rPr>
              <a:t>🔧 Examples in FinTech:</a:t>
            </a:r>
          </a:p>
          <a:p>
            <a:pPr marL="342900" indent="-342900">
              <a:buFont typeface="Arial" panose="020B0604020202020204" pitchFamily="34" charset="0"/>
              <a:buChar char="•"/>
            </a:pPr>
            <a:r>
              <a:rPr lang="en-US" sz="2400" dirty="0">
                <a:solidFill>
                  <a:schemeClr val="accent6">
                    <a:lumMod val="60000"/>
                    <a:lumOff val="40000"/>
                  </a:schemeClr>
                </a:solidFill>
              </a:rPr>
              <a:t>Bank API → fetch transactions </a:t>
            </a:r>
          </a:p>
          <a:p>
            <a:pPr marL="342900" indent="-342900">
              <a:buFont typeface="Arial" panose="020B0604020202020204" pitchFamily="34" charset="0"/>
              <a:buChar char="•"/>
            </a:pPr>
            <a:r>
              <a:rPr lang="en-US" sz="2400" dirty="0">
                <a:solidFill>
                  <a:schemeClr val="accent6">
                    <a:lumMod val="60000"/>
                    <a:lumOff val="40000"/>
                  </a:schemeClr>
                </a:solidFill>
              </a:rPr>
              <a:t>Calculator → compute savings </a:t>
            </a:r>
          </a:p>
          <a:p>
            <a:pPr marL="342900" indent="-342900">
              <a:buFont typeface="Arial" panose="020B0604020202020204" pitchFamily="34" charset="0"/>
              <a:buChar char="•"/>
            </a:pPr>
            <a:r>
              <a:rPr lang="en-US" sz="2400" dirty="0">
                <a:solidFill>
                  <a:schemeClr val="accent6">
                    <a:lumMod val="60000"/>
                    <a:lumOff val="40000"/>
                  </a:schemeClr>
                </a:solidFill>
              </a:rPr>
              <a:t>Stock API → get market data </a:t>
            </a:r>
          </a:p>
          <a:p>
            <a:pPr marL="342900" indent="-342900">
              <a:buFont typeface="Arial" panose="020B0604020202020204" pitchFamily="34" charset="0"/>
              <a:buChar char="•"/>
            </a:pPr>
            <a:r>
              <a:rPr lang="en-US" sz="2400" dirty="0">
                <a:solidFill>
                  <a:schemeClr val="accent6">
                    <a:lumMod val="60000"/>
                    <a:lumOff val="40000"/>
                  </a:schemeClr>
                </a:solidFill>
              </a:rPr>
              <a:t>Risk model → evaluate investment </a:t>
            </a:r>
          </a:p>
          <a:p>
            <a:br>
              <a:rPr lang="en-US" sz="2400" dirty="0">
                <a:solidFill>
                  <a:schemeClr val="accent6">
                    <a:lumMod val="60000"/>
                    <a:lumOff val="40000"/>
                  </a:schemeClr>
                </a:solidFill>
              </a:rPr>
            </a:br>
            <a:r>
              <a:rPr lang="en-US" sz="2400" b="1" dirty="0">
                <a:solidFill>
                  <a:schemeClr val="accent6">
                    <a:lumMod val="60000"/>
                    <a:lumOff val="40000"/>
                  </a:schemeClr>
                </a:solidFill>
              </a:rPr>
              <a:t>🧠 In our example:</a:t>
            </a:r>
          </a:p>
          <a:p>
            <a:r>
              <a:rPr lang="en-US" sz="2400" dirty="0">
                <a:solidFill>
                  <a:schemeClr val="accent6">
                    <a:lumMod val="60000"/>
                    <a:lumOff val="40000"/>
                  </a:schemeClr>
                </a:solidFill>
              </a:rPr>
              <a:t>Agent may use:</a:t>
            </a:r>
          </a:p>
          <a:p>
            <a:r>
              <a:rPr lang="en-US" sz="2400" dirty="0">
                <a:solidFill>
                  <a:schemeClr val="accent6">
                    <a:lumMod val="60000"/>
                    <a:lumOff val="40000"/>
                  </a:schemeClr>
                </a:solidFill>
              </a:rPr>
              <a:t>Tool 1: </a:t>
            </a:r>
            <a:r>
              <a:rPr lang="en-US" sz="2400" dirty="0" err="1">
                <a:solidFill>
                  <a:schemeClr val="accent6">
                    <a:lumMod val="60000"/>
                    <a:lumOff val="40000"/>
                  </a:schemeClr>
                </a:solidFill>
              </a:rPr>
              <a:t>get_transactions</a:t>
            </a:r>
            <a:r>
              <a:rPr lang="en-US" sz="2400" dirty="0">
                <a:solidFill>
                  <a:schemeClr val="accent6">
                    <a:lumMod val="60000"/>
                    <a:lumOff val="40000"/>
                  </a:schemeClr>
                </a:solidFill>
              </a:rPr>
              <a:t>(</a:t>
            </a:r>
            <a:r>
              <a:rPr lang="en-US" sz="2400" dirty="0" err="1">
                <a:solidFill>
                  <a:schemeClr val="accent6">
                    <a:lumMod val="60000"/>
                    <a:lumOff val="40000"/>
                  </a:schemeClr>
                </a:solidFill>
              </a:rPr>
              <a:t>user_id</a:t>
            </a:r>
            <a:r>
              <a:rPr lang="en-US" sz="2400" dirty="0">
                <a:solidFill>
                  <a:schemeClr val="accent6">
                    <a:lumMod val="60000"/>
                    <a:lumOff val="40000"/>
                  </a:schemeClr>
                </a:solidFill>
              </a:rPr>
              <a:t>)</a:t>
            </a:r>
          </a:p>
          <a:p>
            <a:r>
              <a:rPr lang="en-US" sz="2400" dirty="0">
                <a:solidFill>
                  <a:schemeClr val="accent6">
                    <a:lumMod val="60000"/>
                    <a:lumOff val="40000"/>
                  </a:schemeClr>
                </a:solidFill>
              </a:rPr>
              <a:t>Tool 2: </a:t>
            </a:r>
            <a:r>
              <a:rPr lang="en-US" sz="2400" dirty="0" err="1">
                <a:solidFill>
                  <a:schemeClr val="accent6">
                    <a:lumMod val="60000"/>
                    <a:lumOff val="40000"/>
                  </a:schemeClr>
                </a:solidFill>
              </a:rPr>
              <a:t>calculate_total_expense</a:t>
            </a:r>
            <a:r>
              <a:rPr lang="en-US" sz="2400" dirty="0">
                <a:solidFill>
                  <a:schemeClr val="accent6">
                    <a:lumMod val="60000"/>
                    <a:lumOff val="40000"/>
                  </a:schemeClr>
                </a:solidFill>
              </a:rPr>
              <a:t>(data)</a:t>
            </a:r>
          </a:p>
          <a:p>
            <a:r>
              <a:rPr lang="en-US" sz="2400" dirty="0">
                <a:solidFill>
                  <a:schemeClr val="accent6">
                    <a:lumMod val="60000"/>
                    <a:lumOff val="40000"/>
                  </a:schemeClr>
                </a:solidFill>
              </a:rPr>
              <a:t>Tool 3: </a:t>
            </a:r>
            <a:r>
              <a:rPr lang="en-US" sz="2400" dirty="0" err="1">
                <a:solidFill>
                  <a:schemeClr val="accent6">
                    <a:lumMod val="60000"/>
                    <a:lumOff val="40000"/>
                  </a:schemeClr>
                </a:solidFill>
              </a:rPr>
              <a:t>stock_price_api</a:t>
            </a:r>
            <a:r>
              <a:rPr lang="en-US" sz="2400" dirty="0">
                <a:solidFill>
                  <a:schemeClr val="accent6">
                    <a:lumMod val="60000"/>
                    <a:lumOff val="40000"/>
                  </a:schemeClr>
                </a:solidFill>
              </a:rPr>
              <a:t>()</a:t>
            </a:r>
          </a:p>
        </p:txBody>
      </p:sp>
    </p:spTree>
    <p:extLst>
      <p:ext uri="{BB962C8B-B14F-4D97-AF65-F5344CB8AC3E}">
        <p14:creationId xmlns:p14="http://schemas.microsoft.com/office/powerpoint/2010/main" val="3898794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C91BA-0297-AB4E-F127-960E63DC4AA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1B0B610-BAD2-2571-86D9-708270F60065}"/>
              </a:ext>
            </a:extLst>
          </p:cNvPr>
          <p:cNvSpPr txBox="1"/>
          <p:nvPr/>
        </p:nvSpPr>
        <p:spPr>
          <a:xfrm>
            <a:off x="182880" y="176844"/>
            <a:ext cx="5687568" cy="5632311"/>
          </a:xfrm>
          <a:prstGeom prst="rect">
            <a:avLst/>
          </a:prstGeom>
          <a:noFill/>
        </p:spPr>
        <p:txBody>
          <a:bodyPr wrap="square">
            <a:spAutoFit/>
          </a:bodyPr>
          <a:lstStyle/>
          <a:p>
            <a:r>
              <a:rPr lang="en-US" sz="2400" b="1" dirty="0">
                <a:solidFill>
                  <a:schemeClr val="accent6">
                    <a:lumMod val="60000"/>
                    <a:lumOff val="40000"/>
                  </a:schemeClr>
                </a:solidFill>
              </a:rPr>
              <a:t>4️⃣ Executor (The Doer)</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 What it does:</a:t>
            </a:r>
          </a:p>
          <a:p>
            <a:pPr marL="342900" indent="-342900">
              <a:buFont typeface="Arial" panose="020B0604020202020204" pitchFamily="34" charset="0"/>
              <a:buChar char="•"/>
            </a:pPr>
            <a:r>
              <a:rPr lang="en-US" sz="2400" dirty="0">
                <a:solidFill>
                  <a:schemeClr val="accent6">
                    <a:lumMod val="60000"/>
                    <a:lumOff val="40000"/>
                  </a:schemeClr>
                </a:solidFill>
              </a:rPr>
              <a:t>Executes the plan created by Planner </a:t>
            </a:r>
          </a:p>
          <a:p>
            <a:pPr marL="342900" indent="-342900">
              <a:buFont typeface="Arial" panose="020B0604020202020204" pitchFamily="34" charset="0"/>
              <a:buChar char="•"/>
            </a:pPr>
            <a:r>
              <a:rPr lang="en-US" sz="2400" dirty="0">
                <a:solidFill>
                  <a:schemeClr val="accent6">
                    <a:lumMod val="60000"/>
                    <a:lumOff val="40000"/>
                  </a:schemeClr>
                </a:solidFill>
              </a:rPr>
              <a:t>Calls tools </a:t>
            </a:r>
          </a:p>
          <a:p>
            <a:pPr marL="342900" indent="-342900">
              <a:buFont typeface="Arial" panose="020B0604020202020204" pitchFamily="34" charset="0"/>
              <a:buChar char="•"/>
            </a:pPr>
            <a:r>
              <a:rPr lang="en-US" sz="2400" dirty="0">
                <a:solidFill>
                  <a:schemeClr val="accent6">
                    <a:lumMod val="60000"/>
                    <a:lumOff val="40000"/>
                  </a:schemeClr>
                </a:solidFill>
              </a:rPr>
              <a:t>Collects results </a:t>
            </a:r>
          </a:p>
          <a:p>
            <a:pPr marL="342900" indent="-342900">
              <a:buFont typeface="Arial" panose="020B0604020202020204" pitchFamily="34" charset="0"/>
              <a:buChar char="•"/>
            </a:pPr>
            <a:r>
              <a:rPr lang="en-US" sz="2400" dirty="0">
                <a:solidFill>
                  <a:schemeClr val="accent6">
                    <a:lumMod val="60000"/>
                    <a:lumOff val="40000"/>
                  </a:schemeClr>
                </a:solidFill>
              </a:rPr>
              <a:t>Sends back to LLM </a:t>
            </a:r>
          </a:p>
          <a:p>
            <a:pPr marL="342900" indent="-342900">
              <a:buFont typeface="Arial" panose="020B0604020202020204" pitchFamily="34" charset="0"/>
              <a:buChar char="•"/>
            </a:pPr>
            <a:endParaRPr lang="en-US" sz="2400" dirty="0">
              <a:solidFill>
                <a:schemeClr val="accent6">
                  <a:lumMod val="60000"/>
                  <a:lumOff val="40000"/>
                </a:schemeClr>
              </a:solidFill>
            </a:endParaRPr>
          </a:p>
          <a:p>
            <a:r>
              <a:rPr lang="en-US" sz="2400" b="1" dirty="0">
                <a:solidFill>
                  <a:schemeClr val="accent6">
                    <a:lumMod val="60000"/>
                    <a:lumOff val="40000"/>
                  </a:schemeClr>
                </a:solidFill>
              </a:rPr>
              <a:t>🧠 In our example:</a:t>
            </a:r>
          </a:p>
          <a:p>
            <a:r>
              <a:rPr lang="en-US" sz="2400" dirty="0">
                <a:solidFill>
                  <a:schemeClr val="accent6">
                    <a:lumMod val="60000"/>
                    <a:lumOff val="40000"/>
                  </a:schemeClr>
                </a:solidFill>
              </a:rPr>
              <a:t>Executor workflow:</a:t>
            </a:r>
          </a:p>
          <a:p>
            <a:r>
              <a:rPr lang="en-US" sz="2400" dirty="0">
                <a:solidFill>
                  <a:schemeClr val="accent6">
                    <a:lumMod val="60000"/>
                    <a:lumOff val="40000"/>
                  </a:schemeClr>
                </a:solidFill>
              </a:rPr>
              <a:t>→ Call </a:t>
            </a:r>
            <a:r>
              <a:rPr lang="en-US" sz="2400" dirty="0" err="1">
                <a:solidFill>
                  <a:schemeClr val="accent6">
                    <a:lumMod val="60000"/>
                    <a:lumOff val="40000"/>
                  </a:schemeClr>
                </a:solidFill>
              </a:rPr>
              <a:t>get_transactions</a:t>
            </a:r>
            <a:r>
              <a:rPr lang="en-US" sz="2400" dirty="0">
                <a:solidFill>
                  <a:schemeClr val="accent6">
                    <a:lumMod val="60000"/>
                    <a:lumOff val="40000"/>
                  </a:schemeClr>
                </a:solidFill>
              </a:rPr>
              <a:t>()</a:t>
            </a:r>
          </a:p>
          <a:p>
            <a:r>
              <a:rPr lang="en-US" sz="2400" dirty="0">
                <a:solidFill>
                  <a:schemeClr val="accent6">
                    <a:lumMod val="60000"/>
                    <a:lumOff val="40000"/>
                  </a:schemeClr>
                </a:solidFill>
              </a:rPr>
              <a:t>→ Run expense calculation</a:t>
            </a:r>
          </a:p>
          <a:p>
            <a:r>
              <a:rPr lang="en-US" sz="2400" dirty="0">
                <a:solidFill>
                  <a:schemeClr val="accent6">
                    <a:lumMod val="60000"/>
                    <a:lumOff val="40000"/>
                  </a:schemeClr>
                </a:solidFill>
              </a:rPr>
              <a:t>→ Compute savings</a:t>
            </a:r>
          </a:p>
          <a:p>
            <a:r>
              <a:rPr lang="en-US" sz="2400" dirty="0">
                <a:solidFill>
                  <a:schemeClr val="accent6">
                    <a:lumMod val="60000"/>
                    <a:lumOff val="40000"/>
                  </a:schemeClr>
                </a:solidFill>
              </a:rPr>
              <a:t>→ Send results back to LLM</a:t>
            </a:r>
          </a:p>
          <a:p>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27950651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97050" y="719400"/>
            <a:ext cx="11797900" cy="3785652"/>
          </a:xfrm>
          <a:prstGeom prst="rect">
            <a:avLst/>
          </a:prstGeom>
          <a:noFill/>
        </p:spPr>
        <p:txBody>
          <a:bodyPr wrap="square" rtlCol="0">
            <a:spAutoFit/>
          </a:bodyPr>
          <a:lstStyle/>
          <a:p>
            <a:r>
              <a:rPr lang="en-US" sz="2400" dirty="0">
                <a:solidFill>
                  <a:schemeClr val="accent6">
                    <a:lumMod val="60000"/>
                    <a:lumOff val="40000"/>
                  </a:schemeClr>
                </a:solidFill>
              </a:rPr>
              <a:t>Lets illustrate how an agent works within a context like booking a vacation.</a:t>
            </a:r>
          </a:p>
          <a:p>
            <a:r>
              <a:rPr lang="en-US" sz="2400" dirty="0">
                <a:solidFill>
                  <a:schemeClr val="accent6">
                    <a:lumMod val="60000"/>
                    <a:lumOff val="40000"/>
                  </a:schemeClr>
                </a:solidFill>
              </a:rPr>
              <a:t>Imagine you're trying to book a vacation. </a:t>
            </a:r>
          </a:p>
          <a:p>
            <a:r>
              <a:rPr lang="en-US" sz="2400" dirty="0">
                <a:solidFill>
                  <a:schemeClr val="accent6">
                    <a:lumMod val="60000"/>
                    <a:lumOff val="40000"/>
                  </a:schemeClr>
                </a:solidFill>
              </a:rPr>
              <a:t>You need to research flights -&gt; find hotels -&gt; check restaurant reviews -&gt; and keep track of your budget.</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Traditional workflow automation</a:t>
            </a:r>
            <a:endParaRPr lang="en-US" sz="2400" dirty="0">
              <a:solidFill>
                <a:schemeClr val="accent6">
                  <a:lumMod val="60000"/>
                  <a:lumOff val="40000"/>
                </a:schemeClr>
              </a:solidFill>
            </a:endParaRPr>
          </a:p>
          <a:p>
            <a:r>
              <a:rPr lang="en-US" sz="2400" dirty="0">
                <a:solidFill>
                  <a:schemeClr val="accent6">
                    <a:lumMod val="60000"/>
                    <a:lumOff val="40000"/>
                  </a:schemeClr>
                </a:solidFill>
              </a:rPr>
              <a:t>A traditional automation system follows a predetermined sequence: it can take inputs such as dates, location, and budget, and make calls to predefined APIs in a fixed order. However, if any unexpected situations arise, such as flights being sold out, or the specified hotels being unavailable, it cannot adapt.</a:t>
            </a:r>
          </a:p>
        </p:txBody>
      </p:sp>
      <p:sp>
        <p:nvSpPr>
          <p:cNvPr id="5" name="Rectangle 4"/>
          <p:cNvSpPr/>
          <p:nvPr/>
        </p:nvSpPr>
        <p:spPr>
          <a:xfrm>
            <a:off x="4147188" y="5018041"/>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60000"/>
                    <a:lumOff val="40000"/>
                  </a:schemeClr>
                </a:solidFill>
              </a:rPr>
              <a:t>step2</a:t>
            </a:r>
          </a:p>
        </p:txBody>
      </p:sp>
      <p:sp>
        <p:nvSpPr>
          <p:cNvPr id="6" name="Rectangle 5"/>
          <p:cNvSpPr/>
          <p:nvPr/>
        </p:nvSpPr>
        <p:spPr>
          <a:xfrm>
            <a:off x="407092" y="5019439"/>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60000"/>
                    <a:lumOff val="40000"/>
                  </a:schemeClr>
                </a:solidFill>
              </a:rPr>
              <a:t>Input</a:t>
            </a:r>
          </a:p>
        </p:txBody>
      </p:sp>
      <p:sp>
        <p:nvSpPr>
          <p:cNvPr id="7" name="Rectangle 6"/>
          <p:cNvSpPr/>
          <p:nvPr/>
        </p:nvSpPr>
        <p:spPr>
          <a:xfrm>
            <a:off x="2287626" y="4995670"/>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60000"/>
                    <a:lumOff val="40000"/>
                  </a:schemeClr>
                </a:solidFill>
              </a:rPr>
              <a:t>step1</a:t>
            </a:r>
          </a:p>
        </p:txBody>
      </p:sp>
      <p:sp>
        <p:nvSpPr>
          <p:cNvPr id="8" name="Rectangle 7"/>
          <p:cNvSpPr/>
          <p:nvPr/>
        </p:nvSpPr>
        <p:spPr>
          <a:xfrm>
            <a:off x="5829182" y="5039013"/>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60000"/>
                    <a:lumOff val="40000"/>
                  </a:schemeClr>
                </a:solidFill>
              </a:rPr>
              <a:t>step3</a:t>
            </a:r>
          </a:p>
        </p:txBody>
      </p:sp>
      <p:sp>
        <p:nvSpPr>
          <p:cNvPr id="9" name="Rectangle 8"/>
          <p:cNvSpPr/>
          <p:nvPr/>
        </p:nvSpPr>
        <p:spPr>
          <a:xfrm>
            <a:off x="7888682" y="5018041"/>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6">
                    <a:lumMod val="60000"/>
                    <a:lumOff val="40000"/>
                  </a:schemeClr>
                </a:solidFill>
              </a:rPr>
              <a:t>Output</a:t>
            </a:r>
          </a:p>
        </p:txBody>
      </p:sp>
      <p:sp>
        <p:nvSpPr>
          <p:cNvPr id="10" name="Right Arrow 9"/>
          <p:cNvSpPr/>
          <p:nvPr/>
        </p:nvSpPr>
        <p:spPr>
          <a:xfrm>
            <a:off x="1454315" y="5320045"/>
            <a:ext cx="570452" cy="24328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1" name="Right Arrow 10"/>
          <p:cNvSpPr/>
          <p:nvPr/>
        </p:nvSpPr>
        <p:spPr>
          <a:xfrm>
            <a:off x="3418739" y="5388555"/>
            <a:ext cx="570452" cy="24328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2" name="Right Arrow 11"/>
          <p:cNvSpPr/>
          <p:nvPr/>
        </p:nvSpPr>
        <p:spPr>
          <a:xfrm>
            <a:off x="5197207" y="5388555"/>
            <a:ext cx="570452" cy="24328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3" name="Right Arrow 12"/>
          <p:cNvSpPr/>
          <p:nvPr/>
        </p:nvSpPr>
        <p:spPr>
          <a:xfrm>
            <a:off x="7026009" y="5363388"/>
            <a:ext cx="570452" cy="24328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6">
                  <a:lumMod val="60000"/>
                  <a:lumOff val="40000"/>
                </a:schemeClr>
              </a:solidFill>
            </a:endParaRPr>
          </a:p>
        </p:txBody>
      </p:sp>
      <p:sp>
        <p:nvSpPr>
          <p:cNvPr id="16" name="TextBox 15">
            <a:extLst>
              <a:ext uri="{FF2B5EF4-FFF2-40B4-BE49-F238E27FC236}">
                <a16:creationId xmlns:a16="http://schemas.microsoft.com/office/drawing/2014/main" id="{4C82C3F7-7BBA-E996-1CFA-1BCE3DEA5330}"/>
              </a:ext>
            </a:extLst>
          </p:cNvPr>
          <p:cNvSpPr txBox="1"/>
          <p:nvPr/>
        </p:nvSpPr>
        <p:spPr>
          <a:xfrm>
            <a:off x="178308" y="160002"/>
            <a:ext cx="6190488" cy="461665"/>
          </a:xfrm>
          <a:prstGeom prst="rect">
            <a:avLst/>
          </a:prstGeom>
          <a:noFill/>
        </p:spPr>
        <p:txBody>
          <a:bodyPr wrap="square">
            <a:spAutoFit/>
          </a:bodyPr>
          <a:lstStyle/>
          <a:p>
            <a:r>
              <a:rPr lang="en-US" sz="2400" b="1" dirty="0">
                <a:solidFill>
                  <a:schemeClr val="accent6">
                    <a:lumMod val="60000"/>
                    <a:lumOff val="40000"/>
                  </a:schemeClr>
                </a:solidFill>
              </a:rPr>
              <a:t>Example: booking vacations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212854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8308" y="621667"/>
            <a:ext cx="11797900" cy="2677656"/>
          </a:xfrm>
          <a:prstGeom prst="rect">
            <a:avLst/>
          </a:prstGeom>
          <a:noFill/>
        </p:spPr>
        <p:txBody>
          <a:bodyPr wrap="square" rtlCol="0">
            <a:spAutoFit/>
          </a:bodyPr>
          <a:lstStyle/>
          <a:p>
            <a:r>
              <a:rPr lang="en-US" sz="2400" b="1" dirty="0">
                <a:solidFill>
                  <a:schemeClr val="accent6">
                    <a:lumMod val="60000"/>
                    <a:lumOff val="40000"/>
                  </a:schemeClr>
                </a:solidFill>
              </a:rPr>
              <a:t>Agent Workflow</a:t>
            </a:r>
            <a:endParaRPr lang="en-US" sz="2400" dirty="0">
              <a:solidFill>
                <a:schemeClr val="accent6">
                  <a:lumMod val="60000"/>
                  <a:lumOff val="40000"/>
                </a:schemeClr>
              </a:solidFill>
            </a:endParaRPr>
          </a:p>
          <a:p>
            <a:r>
              <a:rPr lang="en-US" sz="2400" dirty="0">
                <a:solidFill>
                  <a:schemeClr val="accent6">
                    <a:lumMod val="60000"/>
                    <a:lumOff val="40000"/>
                  </a:schemeClr>
                </a:solidFill>
              </a:rPr>
              <a:t>An agent combines AI's ability to make judgements and call the relevant tools to execute the task. An agent's output will be nondeterministic given: real-time availability and pricing changes, dynamic prioritization of constraints, ability to recover from failures, and adaptive decision-making based on intermediate results. In other words, if flights or hotels are unavailable, an agent can reassess and suggest a new itinerary with altered dates or locations, and continue executing your travel booking.</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71216" y="3429000"/>
            <a:ext cx="6138456" cy="3281617"/>
          </a:xfrm>
          <a:prstGeom prst="rect">
            <a:avLst/>
          </a:prstGeom>
        </p:spPr>
      </p:pic>
      <p:sp>
        <p:nvSpPr>
          <p:cNvPr id="6" name="TextBox 5">
            <a:extLst>
              <a:ext uri="{FF2B5EF4-FFF2-40B4-BE49-F238E27FC236}">
                <a16:creationId xmlns:a16="http://schemas.microsoft.com/office/drawing/2014/main" id="{A867FC22-3A8B-18CC-2E0F-6D0315F781CF}"/>
              </a:ext>
            </a:extLst>
          </p:cNvPr>
          <p:cNvSpPr txBox="1"/>
          <p:nvPr/>
        </p:nvSpPr>
        <p:spPr>
          <a:xfrm>
            <a:off x="178308" y="160002"/>
            <a:ext cx="6190488" cy="461665"/>
          </a:xfrm>
          <a:prstGeom prst="rect">
            <a:avLst/>
          </a:prstGeom>
          <a:noFill/>
        </p:spPr>
        <p:txBody>
          <a:bodyPr wrap="square">
            <a:spAutoFit/>
          </a:bodyPr>
          <a:lstStyle/>
          <a:p>
            <a:r>
              <a:rPr lang="en-US" sz="2400" b="1" dirty="0">
                <a:solidFill>
                  <a:schemeClr val="accent6">
                    <a:lumMod val="60000"/>
                    <a:lumOff val="40000"/>
                  </a:schemeClr>
                </a:solidFill>
              </a:rPr>
              <a:t>Example: booking vacations</a:t>
            </a:r>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41222308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95908-F80B-552C-0C8C-645F7D0DF3CA}"/>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DAF7254-BC8D-B331-A422-B3BFD5C9F06A}"/>
              </a:ext>
            </a:extLst>
          </p:cNvPr>
          <p:cNvSpPr txBox="1"/>
          <p:nvPr/>
        </p:nvSpPr>
        <p:spPr>
          <a:xfrm>
            <a:off x="477520" y="16224"/>
            <a:ext cx="8849360" cy="6370975"/>
          </a:xfrm>
          <a:prstGeom prst="rect">
            <a:avLst/>
          </a:prstGeom>
          <a:noFill/>
        </p:spPr>
        <p:txBody>
          <a:bodyPr wrap="square">
            <a:spAutoFit/>
          </a:bodyPr>
          <a:lstStyle/>
          <a:p>
            <a:r>
              <a:rPr lang="en-US" sz="2400" dirty="0">
                <a:solidFill>
                  <a:schemeClr val="accent6">
                    <a:lumMod val="60000"/>
                    <a:lumOff val="40000"/>
                  </a:schemeClr>
                </a:solidFill>
              </a:rPr>
              <a:t>An AI agent continuously follows this loop:</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Perception (Observe)</a:t>
            </a:r>
            <a:r>
              <a:rPr lang="en-US" sz="2400" dirty="0">
                <a:solidFill>
                  <a:schemeClr val="accent6">
                    <a:lumMod val="60000"/>
                    <a:lumOff val="40000"/>
                  </a:schemeClr>
                </a:solidFill>
              </a:rPr>
              <a:t> </a:t>
            </a:r>
          </a:p>
          <a:p>
            <a:pPr marL="800100" lvl="1" indent="-342900">
              <a:buFont typeface="Arial" panose="020B0604020202020204" pitchFamily="34" charset="0"/>
              <a:buChar char="•"/>
            </a:pPr>
            <a:r>
              <a:rPr lang="en-US" sz="2400" dirty="0">
                <a:solidFill>
                  <a:schemeClr val="accent6">
                    <a:lumMod val="60000"/>
                    <a:lumOff val="40000"/>
                  </a:schemeClr>
                </a:solidFill>
              </a:rPr>
              <a:t>Takes input from environment </a:t>
            </a:r>
          </a:p>
          <a:p>
            <a:pPr marL="800100" lvl="1" indent="-342900">
              <a:buFont typeface="Arial" panose="020B0604020202020204" pitchFamily="34" charset="0"/>
              <a:buChar char="•"/>
            </a:pPr>
            <a:r>
              <a:rPr lang="en-US" sz="2400" dirty="0">
                <a:solidFill>
                  <a:schemeClr val="accent6">
                    <a:lumMod val="60000"/>
                    <a:lumOff val="40000"/>
                  </a:schemeClr>
                </a:solidFill>
              </a:rPr>
              <a:t>Example: text, images, sensors, user queries </a:t>
            </a:r>
          </a:p>
          <a:p>
            <a:pPr lvl="1"/>
            <a:endParaRPr lang="en-US" sz="2400" dirty="0">
              <a:solidFill>
                <a:schemeClr val="accent6">
                  <a:lumMod val="60000"/>
                  <a:lumOff val="40000"/>
                </a:schemeClr>
              </a:solidFill>
            </a:endParaRPr>
          </a:p>
          <a:p>
            <a:r>
              <a:rPr lang="en-US" sz="2400" b="1" dirty="0">
                <a:solidFill>
                  <a:schemeClr val="accent6">
                    <a:lumMod val="60000"/>
                    <a:lumOff val="40000"/>
                  </a:schemeClr>
                </a:solidFill>
              </a:rPr>
              <a:t>Decision (Think / Reason)</a:t>
            </a:r>
            <a:r>
              <a:rPr lang="en-US" sz="2400" dirty="0">
                <a:solidFill>
                  <a:schemeClr val="accent6">
                    <a:lumMod val="60000"/>
                    <a:lumOff val="40000"/>
                  </a:schemeClr>
                </a:solidFill>
              </a:rPr>
              <a:t> </a:t>
            </a:r>
          </a:p>
          <a:p>
            <a:pPr marL="800100" lvl="1" indent="-342900">
              <a:buFont typeface="Arial" panose="020B0604020202020204" pitchFamily="34" charset="0"/>
              <a:buChar char="•"/>
            </a:pPr>
            <a:r>
              <a:rPr lang="en-US" sz="2400" dirty="0">
                <a:solidFill>
                  <a:schemeClr val="accent6">
                    <a:lumMod val="60000"/>
                    <a:lumOff val="40000"/>
                  </a:schemeClr>
                </a:solidFill>
              </a:rPr>
              <a:t>Uses logic, rules, or ML models </a:t>
            </a:r>
          </a:p>
          <a:p>
            <a:pPr marL="800100" lvl="1" indent="-342900">
              <a:buFont typeface="Arial" panose="020B0604020202020204" pitchFamily="34" charset="0"/>
              <a:buChar char="•"/>
            </a:pPr>
            <a:r>
              <a:rPr lang="en-US" sz="2400" dirty="0">
                <a:solidFill>
                  <a:schemeClr val="accent6">
                    <a:lumMod val="60000"/>
                    <a:lumOff val="40000"/>
                  </a:schemeClr>
                </a:solidFill>
              </a:rPr>
              <a:t>Example: LLM deciding next step </a:t>
            </a:r>
          </a:p>
          <a:p>
            <a:pPr lvl="1"/>
            <a:endParaRPr lang="en-US" sz="2400" dirty="0">
              <a:solidFill>
                <a:schemeClr val="accent6">
                  <a:lumMod val="60000"/>
                  <a:lumOff val="40000"/>
                </a:schemeClr>
              </a:solidFill>
            </a:endParaRPr>
          </a:p>
          <a:p>
            <a:r>
              <a:rPr lang="en-US" sz="2400" b="1" dirty="0">
                <a:solidFill>
                  <a:schemeClr val="accent6">
                    <a:lumMod val="60000"/>
                    <a:lumOff val="40000"/>
                  </a:schemeClr>
                </a:solidFill>
              </a:rPr>
              <a:t>Action (Act)</a:t>
            </a:r>
            <a:r>
              <a:rPr lang="en-US" sz="2400" dirty="0">
                <a:solidFill>
                  <a:schemeClr val="accent6">
                    <a:lumMod val="60000"/>
                    <a:lumOff val="40000"/>
                  </a:schemeClr>
                </a:solidFill>
              </a:rPr>
              <a:t> </a:t>
            </a:r>
          </a:p>
          <a:p>
            <a:pPr marL="800100" lvl="1" indent="-342900">
              <a:buFont typeface="Arial" panose="020B0604020202020204" pitchFamily="34" charset="0"/>
              <a:buChar char="•"/>
            </a:pPr>
            <a:r>
              <a:rPr lang="en-US" sz="2400" dirty="0">
                <a:solidFill>
                  <a:schemeClr val="accent6">
                    <a:lumMod val="60000"/>
                    <a:lumOff val="40000"/>
                  </a:schemeClr>
                </a:solidFill>
              </a:rPr>
              <a:t>Performs a task </a:t>
            </a:r>
          </a:p>
          <a:p>
            <a:pPr marL="800100" lvl="1" indent="-342900">
              <a:buFont typeface="Arial" panose="020B0604020202020204" pitchFamily="34" charset="0"/>
              <a:buChar char="•"/>
            </a:pPr>
            <a:r>
              <a:rPr lang="en-US" sz="2400" dirty="0">
                <a:solidFill>
                  <a:schemeClr val="accent6">
                    <a:lumMod val="60000"/>
                    <a:lumOff val="40000"/>
                  </a:schemeClr>
                </a:solidFill>
              </a:rPr>
              <a:t>Example: sending email, calling API, generating response</a:t>
            </a:r>
          </a:p>
          <a:p>
            <a:pPr lvl="1"/>
            <a:r>
              <a:rPr lang="en-US" sz="2400" dirty="0">
                <a:solidFill>
                  <a:schemeClr val="accent6">
                    <a:lumMod val="60000"/>
                    <a:lumOff val="40000"/>
                  </a:schemeClr>
                </a:solidFill>
              </a:rPr>
              <a:t> </a:t>
            </a:r>
          </a:p>
          <a:p>
            <a:r>
              <a:rPr lang="en-US" sz="2400" b="1" dirty="0">
                <a:solidFill>
                  <a:schemeClr val="accent6">
                    <a:lumMod val="60000"/>
                    <a:lumOff val="40000"/>
                  </a:schemeClr>
                </a:solidFill>
              </a:rPr>
              <a:t>Learning (Optional)</a:t>
            </a:r>
            <a:r>
              <a:rPr lang="en-US" sz="2400" dirty="0">
                <a:solidFill>
                  <a:schemeClr val="accent6">
                    <a:lumMod val="60000"/>
                    <a:lumOff val="40000"/>
                  </a:schemeClr>
                </a:solidFill>
              </a:rPr>
              <a:t> </a:t>
            </a:r>
          </a:p>
          <a:p>
            <a:pPr marL="800100" lvl="1" indent="-342900">
              <a:buFont typeface="Arial" panose="020B0604020202020204" pitchFamily="34" charset="0"/>
              <a:buChar char="•"/>
            </a:pPr>
            <a:r>
              <a:rPr lang="en-US" sz="2400" dirty="0">
                <a:solidFill>
                  <a:schemeClr val="accent6">
                    <a:lumMod val="60000"/>
                    <a:lumOff val="40000"/>
                  </a:schemeClr>
                </a:solidFill>
              </a:rPr>
              <a:t>Improves over time </a:t>
            </a:r>
          </a:p>
          <a:p>
            <a:pPr marL="800100" lvl="1" indent="-342900">
              <a:buFont typeface="Arial" panose="020B0604020202020204" pitchFamily="34" charset="0"/>
              <a:buChar char="•"/>
            </a:pPr>
            <a:r>
              <a:rPr lang="en-US" sz="2400" dirty="0">
                <a:solidFill>
                  <a:schemeClr val="accent6">
                    <a:lumMod val="60000"/>
                    <a:lumOff val="40000"/>
                  </a:schemeClr>
                </a:solidFill>
              </a:rPr>
              <a:t>Example: reinforcement learning, memory updates</a:t>
            </a:r>
          </a:p>
        </p:txBody>
      </p:sp>
    </p:spTree>
    <p:extLst>
      <p:ext uri="{BB962C8B-B14F-4D97-AF65-F5344CB8AC3E}">
        <p14:creationId xmlns:p14="http://schemas.microsoft.com/office/powerpoint/2010/main" val="36593670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2929B61-02FA-BAD8-A1E7-BE3CD876C3E4}"/>
              </a:ext>
            </a:extLst>
          </p:cNvPr>
          <p:cNvSpPr txBox="1"/>
          <p:nvPr/>
        </p:nvSpPr>
        <p:spPr>
          <a:xfrm>
            <a:off x="224028" y="238400"/>
            <a:ext cx="6190488" cy="523220"/>
          </a:xfrm>
          <a:prstGeom prst="rect">
            <a:avLst/>
          </a:prstGeom>
          <a:noFill/>
        </p:spPr>
        <p:txBody>
          <a:bodyPr wrap="square">
            <a:spAutoFit/>
          </a:bodyPr>
          <a:lstStyle/>
          <a:p>
            <a:r>
              <a:rPr lang="en-US" sz="2800" b="1" dirty="0">
                <a:solidFill>
                  <a:schemeClr val="accent6">
                    <a:lumMod val="60000"/>
                    <a:lumOff val="40000"/>
                  </a:schemeClr>
                </a:solidFill>
              </a:rPr>
              <a:t>Some examples of AI Agent</a:t>
            </a:r>
          </a:p>
        </p:txBody>
      </p:sp>
      <p:sp>
        <p:nvSpPr>
          <p:cNvPr id="7" name="TextBox 6">
            <a:extLst>
              <a:ext uri="{FF2B5EF4-FFF2-40B4-BE49-F238E27FC236}">
                <a16:creationId xmlns:a16="http://schemas.microsoft.com/office/drawing/2014/main" id="{460B5396-FECC-1BC6-952B-AF8504B12ABF}"/>
              </a:ext>
            </a:extLst>
          </p:cNvPr>
          <p:cNvSpPr txBox="1"/>
          <p:nvPr/>
        </p:nvSpPr>
        <p:spPr>
          <a:xfrm>
            <a:off x="224028" y="761620"/>
            <a:ext cx="11722608" cy="5262979"/>
          </a:xfrm>
          <a:prstGeom prst="rect">
            <a:avLst/>
          </a:prstGeom>
          <a:noFill/>
        </p:spPr>
        <p:txBody>
          <a:bodyPr wrap="square">
            <a:spAutoFit/>
          </a:bodyPr>
          <a:lstStyle/>
          <a:p>
            <a:pPr marL="0" indent="0">
              <a:buNone/>
            </a:pPr>
            <a:r>
              <a:rPr lang="en-US" sz="2400" b="1" dirty="0">
                <a:solidFill>
                  <a:schemeClr val="accent6">
                    <a:lumMod val="60000"/>
                    <a:lumOff val="40000"/>
                  </a:schemeClr>
                </a:solidFill>
              </a:rPr>
              <a:t>Simple tasks</a:t>
            </a:r>
          </a:p>
          <a:p>
            <a:endParaRPr lang="en-US" sz="2400" dirty="0">
              <a:solidFill>
                <a:schemeClr val="accent6">
                  <a:lumMod val="60000"/>
                  <a:lumOff val="40000"/>
                </a:schemeClr>
              </a:solidFill>
            </a:endParaRPr>
          </a:p>
          <a:p>
            <a:pPr marL="342900" indent="-342900">
              <a:buFont typeface="Arial" panose="020B0604020202020204" pitchFamily="34" charset="0"/>
              <a:buChar char="•"/>
            </a:pPr>
            <a:r>
              <a:rPr lang="en-US" sz="2400" dirty="0">
                <a:solidFill>
                  <a:schemeClr val="accent6">
                    <a:lumMod val="60000"/>
                    <a:lumOff val="40000"/>
                  </a:schemeClr>
                </a:solidFill>
              </a:rPr>
              <a:t>A customer says "I was charged twice for my Netflix subscription." An agent checks the transaction history, identifies the duplicate, calls the refund API, sends a confirmation, and logs the case — without human involvement. It escalates to a human </a:t>
            </a:r>
            <a:r>
              <a:rPr lang="en-US" sz="2400" i="1" dirty="0">
                <a:solidFill>
                  <a:schemeClr val="accent6">
                    <a:lumMod val="60000"/>
                    <a:lumOff val="40000"/>
                  </a:schemeClr>
                </a:solidFill>
              </a:rPr>
              <a:t>only</a:t>
            </a:r>
            <a:r>
              <a:rPr lang="en-US" sz="2400" dirty="0">
                <a:solidFill>
                  <a:schemeClr val="accent6">
                    <a:lumMod val="60000"/>
                    <a:lumOff val="40000"/>
                  </a:schemeClr>
                </a:solidFill>
              </a:rPr>
              <a:t> if the situation is genuinely ambiguous or the customer is distressed.</a:t>
            </a:r>
          </a:p>
          <a:p>
            <a:endParaRPr lang="en-US" sz="2400" dirty="0">
              <a:solidFill>
                <a:schemeClr val="accent6">
                  <a:lumMod val="60000"/>
                  <a:lumOff val="40000"/>
                </a:schemeClr>
              </a:solidFill>
            </a:endParaRPr>
          </a:p>
          <a:p>
            <a:pPr marL="342900" indent="-342900">
              <a:buFont typeface="Arial" panose="020B0604020202020204" pitchFamily="34" charset="0"/>
              <a:buChar char="•"/>
            </a:pPr>
            <a:r>
              <a:rPr lang="en-US" sz="2400" dirty="0">
                <a:solidFill>
                  <a:schemeClr val="accent6">
                    <a:lumMod val="60000"/>
                    <a:lumOff val="40000"/>
                  </a:schemeClr>
                </a:solidFill>
              </a:rPr>
              <a:t>Agent that could help me review my emails and create tasks on a digital to-do list based on the highest priority emails coming in.</a:t>
            </a:r>
          </a:p>
          <a:p>
            <a:pPr marL="342900" indent="-342900">
              <a:buFont typeface="Arial" panose="020B0604020202020204" pitchFamily="34" charset="0"/>
              <a:buChar char="•"/>
            </a:pPr>
            <a:endParaRPr lang="en-US" sz="2400" dirty="0">
              <a:solidFill>
                <a:schemeClr val="accent6">
                  <a:lumMod val="60000"/>
                  <a:lumOff val="40000"/>
                </a:schemeClr>
              </a:solidFill>
            </a:endParaRPr>
          </a:p>
          <a:p>
            <a:pPr marL="342900" indent="-342900">
              <a:buFont typeface="Arial" panose="020B0604020202020204" pitchFamily="34" charset="0"/>
              <a:buChar char="•"/>
            </a:pPr>
            <a:r>
              <a:rPr lang="en-US" sz="2400" dirty="0">
                <a:solidFill>
                  <a:schemeClr val="accent6">
                    <a:lumMod val="60000"/>
                    <a:lumOff val="40000"/>
                  </a:schemeClr>
                </a:solidFill>
              </a:rPr>
              <a:t>Agent that could respond to people reporting bugs and automatically gather missing information and seek clarification on confusing parts of a bug report and then route the bug to the appropriate team to resolve.</a:t>
            </a:r>
          </a:p>
          <a:p>
            <a:endParaRPr lang="en-US" sz="2400" dirty="0">
              <a:solidFill>
                <a:schemeClr val="accent6">
                  <a:lumMod val="60000"/>
                  <a:lumOff val="40000"/>
                </a:schemeClr>
              </a:solidFill>
            </a:endParaRPr>
          </a:p>
        </p:txBody>
      </p:sp>
    </p:spTree>
    <p:extLst>
      <p:ext uri="{BB962C8B-B14F-4D97-AF65-F5344CB8AC3E}">
        <p14:creationId xmlns:p14="http://schemas.microsoft.com/office/powerpoint/2010/main" val="15964150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A3B49-108B-4C86-04E1-EF3F43D977F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F096E43-5F01-FAE3-2871-D448B3704682}"/>
              </a:ext>
            </a:extLst>
          </p:cNvPr>
          <p:cNvSpPr txBox="1"/>
          <p:nvPr/>
        </p:nvSpPr>
        <p:spPr>
          <a:xfrm>
            <a:off x="201168" y="721465"/>
            <a:ext cx="11484864" cy="5632311"/>
          </a:xfrm>
          <a:prstGeom prst="rect">
            <a:avLst/>
          </a:prstGeom>
          <a:noFill/>
        </p:spPr>
        <p:txBody>
          <a:bodyPr wrap="square">
            <a:spAutoFit/>
          </a:bodyPr>
          <a:lstStyle/>
          <a:p>
            <a:pPr marL="0" indent="0">
              <a:buNone/>
            </a:pPr>
            <a:r>
              <a:rPr lang="en-US" sz="2400" b="1" dirty="0">
                <a:solidFill>
                  <a:schemeClr val="accent6">
                    <a:lumMod val="60000"/>
                    <a:lumOff val="40000"/>
                  </a:schemeClr>
                </a:solidFill>
              </a:rPr>
              <a:t>Complicated tasks:</a:t>
            </a:r>
          </a:p>
          <a:p>
            <a:pPr marL="0" indent="0">
              <a:buNone/>
            </a:pPr>
            <a:endParaRPr lang="en-US" sz="2400" b="1" dirty="0">
              <a:solidFill>
                <a:schemeClr val="accent6">
                  <a:lumMod val="60000"/>
                  <a:lumOff val="40000"/>
                </a:schemeClr>
              </a:solidFill>
            </a:endParaRPr>
          </a:p>
          <a:p>
            <a:r>
              <a:rPr lang="en-US" sz="2400" dirty="0">
                <a:solidFill>
                  <a:schemeClr val="accent6">
                    <a:lumMod val="60000"/>
                    <a:lumOff val="40000"/>
                  </a:schemeClr>
                </a:solidFill>
              </a:rPr>
              <a:t>Agent also to build a travel planning agent that takes my preferences and needs into account, researches things like destinations and hotels and even activities, and then suggests an itinerary for me and use a collaborating agent to book everything all in one shot.</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Agent to find a list of suppliers, email them for quotes, and sort replies according to the best price.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Agent to create a shopping list based on a recipe, purchase the ingredients online, and have them delivered to you.</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Agents that monitor patients' vitals, and suggest treatment plans and even support surgical procedures by providing </a:t>
            </a:r>
            <a:r>
              <a:rPr lang="en-US" sz="2400" dirty="0" err="1">
                <a:solidFill>
                  <a:schemeClr val="accent6">
                    <a:lumMod val="60000"/>
                    <a:lumOff val="40000"/>
                  </a:schemeClr>
                </a:solidFill>
              </a:rPr>
              <a:t>realtime</a:t>
            </a:r>
            <a:r>
              <a:rPr lang="en-US" sz="2400" dirty="0">
                <a:solidFill>
                  <a:schemeClr val="accent6">
                    <a:lumMod val="60000"/>
                    <a:lumOff val="40000"/>
                  </a:schemeClr>
                </a:solidFill>
              </a:rPr>
              <a:t> data to surgeons</a:t>
            </a:r>
          </a:p>
        </p:txBody>
      </p:sp>
    </p:spTree>
    <p:extLst>
      <p:ext uri="{BB962C8B-B14F-4D97-AF65-F5344CB8AC3E}">
        <p14:creationId xmlns:p14="http://schemas.microsoft.com/office/powerpoint/2010/main" val="1017202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23EB7-0F85-F38F-48C6-3CB9DB1526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CE33E46-E073-E5AA-A5BF-24A0C91E1349}"/>
              </a:ext>
            </a:extLst>
          </p:cNvPr>
          <p:cNvSpPr txBox="1"/>
          <p:nvPr/>
        </p:nvSpPr>
        <p:spPr>
          <a:xfrm>
            <a:off x="175260" y="229029"/>
            <a:ext cx="4040124" cy="461665"/>
          </a:xfrm>
          <a:prstGeom prst="rect">
            <a:avLst/>
          </a:prstGeom>
          <a:noFill/>
        </p:spPr>
        <p:txBody>
          <a:bodyPr wrap="square">
            <a:spAutoFit/>
          </a:bodyPr>
          <a:lstStyle/>
          <a:p>
            <a:pPr marL="0" indent="0">
              <a:buNone/>
            </a:pPr>
            <a:r>
              <a:rPr lang="en-US" sz="2400" b="1" dirty="0">
                <a:solidFill>
                  <a:schemeClr val="accent6">
                    <a:lumMod val="60000"/>
                    <a:lumOff val="40000"/>
                  </a:schemeClr>
                </a:solidFill>
              </a:rPr>
              <a:t>AI Agents in  FinTech Industry</a:t>
            </a:r>
          </a:p>
        </p:txBody>
      </p:sp>
      <p:sp>
        <p:nvSpPr>
          <p:cNvPr id="7" name="TextBox 6">
            <a:extLst>
              <a:ext uri="{FF2B5EF4-FFF2-40B4-BE49-F238E27FC236}">
                <a16:creationId xmlns:a16="http://schemas.microsoft.com/office/drawing/2014/main" id="{406BBC46-7811-0367-9ABD-DF35D9F1A496}"/>
              </a:ext>
            </a:extLst>
          </p:cNvPr>
          <p:cNvSpPr txBox="1"/>
          <p:nvPr/>
        </p:nvSpPr>
        <p:spPr>
          <a:xfrm>
            <a:off x="175260" y="751344"/>
            <a:ext cx="11219688" cy="4893647"/>
          </a:xfrm>
          <a:prstGeom prst="rect">
            <a:avLst/>
          </a:prstGeom>
          <a:noFill/>
        </p:spPr>
        <p:txBody>
          <a:bodyPr wrap="square">
            <a:spAutoFit/>
          </a:bodyPr>
          <a:lstStyle/>
          <a:p>
            <a:pPr>
              <a:buNone/>
            </a:pPr>
            <a:r>
              <a:rPr lang="en-US" sz="2400" b="1" dirty="0">
                <a:solidFill>
                  <a:schemeClr val="accent6">
                    <a:lumMod val="60000"/>
                    <a:lumOff val="40000"/>
                  </a:schemeClr>
                </a:solidFill>
              </a:rPr>
              <a:t>Fraud Detection</a:t>
            </a:r>
            <a:endParaRPr lang="en-US" sz="2400" dirty="0">
              <a:solidFill>
                <a:schemeClr val="accent6">
                  <a:lumMod val="60000"/>
                  <a:lumOff val="40000"/>
                </a:schemeClr>
              </a:solidFill>
            </a:endParaRPr>
          </a:p>
          <a:p>
            <a:pPr>
              <a:buNone/>
            </a:pPr>
            <a:r>
              <a:rPr lang="en-US" sz="2400" dirty="0">
                <a:solidFill>
                  <a:schemeClr val="accent6">
                    <a:lumMod val="60000"/>
                    <a:lumOff val="40000"/>
                  </a:schemeClr>
                </a:solidFill>
              </a:rPr>
              <a:t>A transaction comes in — $85,000 to a new payee at 2am from a device never used before. </a:t>
            </a:r>
          </a:p>
          <a:p>
            <a:pPr marL="342900" indent="-342900">
              <a:buFont typeface="Arial" panose="020B0604020202020204" pitchFamily="34" charset="0"/>
              <a:buChar char="•"/>
            </a:pPr>
            <a:r>
              <a:rPr lang="en-US" sz="2400" dirty="0">
                <a:solidFill>
                  <a:schemeClr val="accent6">
                    <a:lumMod val="60000"/>
                    <a:lumOff val="40000"/>
                  </a:schemeClr>
                </a:solidFill>
              </a:rPr>
              <a:t>A rules-based system might let it through (amount is under limit). </a:t>
            </a:r>
          </a:p>
          <a:p>
            <a:pPr marL="342900" indent="-342900">
              <a:buFont typeface="Arial" panose="020B0604020202020204" pitchFamily="34" charset="0"/>
              <a:buChar char="•"/>
            </a:pPr>
            <a:r>
              <a:rPr lang="en-US" sz="2400" dirty="0">
                <a:solidFill>
                  <a:schemeClr val="accent6">
                    <a:lumMod val="60000"/>
                    <a:lumOff val="40000"/>
                  </a:schemeClr>
                </a:solidFill>
              </a:rPr>
              <a:t>An agent instead: </a:t>
            </a:r>
          </a:p>
          <a:p>
            <a:r>
              <a:rPr lang="en-US" sz="2400" dirty="0">
                <a:solidFill>
                  <a:schemeClr val="accent6">
                    <a:lumMod val="60000"/>
                    <a:lumOff val="40000"/>
                  </a:schemeClr>
                </a:solidFill>
              </a:rPr>
              <a:t>→ checks device fingerprint </a:t>
            </a:r>
          </a:p>
          <a:p>
            <a:r>
              <a:rPr lang="en-US" sz="2400" dirty="0">
                <a:solidFill>
                  <a:schemeClr val="accent6">
                    <a:lumMod val="60000"/>
                    <a:lumOff val="40000"/>
                  </a:schemeClr>
                </a:solidFill>
              </a:rPr>
              <a:t>→ looks up IP geolocation</a:t>
            </a:r>
          </a:p>
          <a:p>
            <a:r>
              <a:rPr lang="en-US" sz="2400" dirty="0">
                <a:solidFill>
                  <a:schemeClr val="accent6">
                    <a:lumMod val="60000"/>
                    <a:lumOff val="40000"/>
                  </a:schemeClr>
                </a:solidFill>
              </a:rPr>
              <a:t>→ compares against the user's last 90 days of </a:t>
            </a:r>
            <a:r>
              <a:rPr lang="en-US" sz="2400" dirty="0" err="1">
                <a:solidFill>
                  <a:schemeClr val="accent6">
                    <a:lumMod val="60000"/>
                    <a:lumOff val="40000"/>
                  </a:schemeClr>
                </a:solidFill>
              </a:rPr>
              <a:t>behaviour</a:t>
            </a:r>
            <a:r>
              <a:rPr lang="en-US" sz="2400" dirty="0">
                <a:solidFill>
                  <a:schemeClr val="accent6">
                    <a:lumMod val="60000"/>
                    <a:lumOff val="40000"/>
                  </a:schemeClr>
                </a:solidFill>
              </a:rPr>
              <a:t> </a:t>
            </a:r>
          </a:p>
          <a:p>
            <a:r>
              <a:rPr lang="en-US" sz="2400" dirty="0">
                <a:solidFill>
                  <a:schemeClr val="accent6">
                    <a:lumMod val="60000"/>
                    <a:lumOff val="40000"/>
                  </a:schemeClr>
                </a:solidFill>
              </a:rPr>
              <a:t>→ queries if the payee account is newly created </a:t>
            </a:r>
          </a:p>
          <a:p>
            <a:r>
              <a:rPr lang="en-US" sz="2400" dirty="0">
                <a:solidFill>
                  <a:schemeClr val="accent6">
                    <a:lumMod val="60000"/>
                    <a:lumOff val="40000"/>
                  </a:schemeClr>
                </a:solidFill>
              </a:rPr>
              <a:t>→ calculates a risk score </a:t>
            </a:r>
          </a:p>
          <a:p>
            <a:r>
              <a:rPr lang="en-US" sz="2400" dirty="0">
                <a:solidFill>
                  <a:schemeClr val="accent6">
                    <a:lumMod val="60000"/>
                    <a:lumOff val="40000"/>
                  </a:schemeClr>
                </a:solidFill>
              </a:rPr>
              <a:t>→ blocks the transaction and sends an OTP challenge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 all in under 200ms.</a:t>
            </a:r>
          </a:p>
        </p:txBody>
      </p:sp>
    </p:spTree>
    <p:extLst>
      <p:ext uri="{BB962C8B-B14F-4D97-AF65-F5344CB8AC3E}">
        <p14:creationId xmlns:p14="http://schemas.microsoft.com/office/powerpoint/2010/main" val="24641895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5FC8B-7D8D-DBFA-86F5-9A25D5EAF89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299826-37E7-965B-9DCA-40CC31FD3500}"/>
              </a:ext>
            </a:extLst>
          </p:cNvPr>
          <p:cNvSpPr txBox="1"/>
          <p:nvPr/>
        </p:nvSpPr>
        <p:spPr>
          <a:xfrm>
            <a:off x="175260" y="229029"/>
            <a:ext cx="4040124" cy="461665"/>
          </a:xfrm>
          <a:prstGeom prst="rect">
            <a:avLst/>
          </a:prstGeom>
          <a:noFill/>
        </p:spPr>
        <p:txBody>
          <a:bodyPr wrap="square">
            <a:spAutoFit/>
          </a:bodyPr>
          <a:lstStyle/>
          <a:p>
            <a:pPr marL="0" indent="0">
              <a:buNone/>
            </a:pPr>
            <a:r>
              <a:rPr lang="en-US" sz="2400" b="1" dirty="0">
                <a:solidFill>
                  <a:schemeClr val="accent6">
                    <a:lumMod val="60000"/>
                    <a:lumOff val="40000"/>
                  </a:schemeClr>
                </a:solidFill>
              </a:rPr>
              <a:t>AI Agents in  FinTech Industry</a:t>
            </a:r>
          </a:p>
        </p:txBody>
      </p:sp>
      <p:sp>
        <p:nvSpPr>
          <p:cNvPr id="7" name="TextBox 6">
            <a:extLst>
              <a:ext uri="{FF2B5EF4-FFF2-40B4-BE49-F238E27FC236}">
                <a16:creationId xmlns:a16="http://schemas.microsoft.com/office/drawing/2014/main" id="{2E2A7BD1-76BD-89CB-1D17-DF26F4727C8D}"/>
              </a:ext>
            </a:extLst>
          </p:cNvPr>
          <p:cNvSpPr txBox="1"/>
          <p:nvPr/>
        </p:nvSpPr>
        <p:spPr>
          <a:xfrm>
            <a:off x="175260" y="751344"/>
            <a:ext cx="11219688" cy="3785652"/>
          </a:xfrm>
          <a:prstGeom prst="rect">
            <a:avLst/>
          </a:prstGeom>
          <a:noFill/>
        </p:spPr>
        <p:txBody>
          <a:bodyPr wrap="square">
            <a:spAutoFit/>
          </a:bodyPr>
          <a:lstStyle/>
          <a:p>
            <a:r>
              <a:rPr lang="en-US" sz="2400" b="1" dirty="0">
                <a:solidFill>
                  <a:schemeClr val="accent6">
                    <a:lumMod val="60000"/>
                    <a:lumOff val="40000"/>
                  </a:schemeClr>
                </a:solidFill>
              </a:rPr>
              <a:t>Credit Underwriting</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A loan application arrives. </a:t>
            </a:r>
          </a:p>
          <a:p>
            <a:pPr marL="457200" indent="-457200">
              <a:buFont typeface="+mj-lt"/>
              <a:buAutoNum type="arabicPeriod"/>
            </a:pPr>
            <a:r>
              <a:rPr lang="en-US" sz="2400" dirty="0">
                <a:solidFill>
                  <a:schemeClr val="accent6">
                    <a:lumMod val="60000"/>
                    <a:lumOff val="40000"/>
                  </a:schemeClr>
                </a:solidFill>
              </a:rPr>
              <a:t>The agent pulls the applicant's credit bureau report, </a:t>
            </a:r>
          </a:p>
          <a:p>
            <a:pPr marL="457200" indent="-457200">
              <a:buFont typeface="+mj-lt"/>
              <a:buAutoNum type="arabicPeriod"/>
            </a:pPr>
            <a:r>
              <a:rPr lang="en-US" sz="2400" dirty="0">
                <a:solidFill>
                  <a:schemeClr val="accent6">
                    <a:lumMod val="60000"/>
                    <a:lumOff val="40000"/>
                  </a:schemeClr>
                </a:solidFill>
              </a:rPr>
              <a:t>fetches bank statement PDFs and parses income/expense patterns, </a:t>
            </a:r>
          </a:p>
          <a:p>
            <a:pPr marL="457200" indent="-457200">
              <a:buFont typeface="+mj-lt"/>
              <a:buAutoNum type="arabicPeriod"/>
            </a:pPr>
            <a:r>
              <a:rPr lang="en-US" sz="2400" dirty="0">
                <a:solidFill>
                  <a:schemeClr val="accent6">
                    <a:lumMod val="60000"/>
                    <a:lumOff val="40000"/>
                  </a:schemeClr>
                </a:solidFill>
              </a:rPr>
              <a:t>runs a risk model, </a:t>
            </a:r>
          </a:p>
          <a:p>
            <a:pPr marL="457200" indent="-457200">
              <a:buFont typeface="+mj-lt"/>
              <a:buAutoNum type="arabicPeriod"/>
            </a:pPr>
            <a:r>
              <a:rPr lang="en-US" sz="2400" dirty="0">
                <a:solidFill>
                  <a:schemeClr val="accent6">
                    <a:lumMod val="60000"/>
                    <a:lumOff val="40000"/>
                  </a:schemeClr>
                </a:solidFill>
              </a:rPr>
              <a:t>checks for negative news about the employer, and </a:t>
            </a:r>
          </a:p>
          <a:p>
            <a:pPr marL="457200" indent="-457200">
              <a:buFont typeface="+mj-lt"/>
              <a:buAutoNum type="arabicPeriod"/>
            </a:pPr>
            <a:r>
              <a:rPr lang="en-US" sz="2400" dirty="0">
                <a:solidFill>
                  <a:schemeClr val="accent6">
                    <a:lumMod val="60000"/>
                    <a:lumOff val="40000"/>
                  </a:schemeClr>
                </a:solidFill>
              </a:rPr>
              <a:t>produces a structured recommendation with reasons.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 What used to take a human analyst 2–3 days happens in minutes.</a:t>
            </a:r>
          </a:p>
        </p:txBody>
      </p:sp>
    </p:spTree>
    <p:extLst>
      <p:ext uri="{BB962C8B-B14F-4D97-AF65-F5344CB8AC3E}">
        <p14:creationId xmlns:p14="http://schemas.microsoft.com/office/powerpoint/2010/main" val="17286742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5CF57-C8D7-59CF-97C2-AC188CB8F75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CDD888-1E83-5885-200D-27C08348B845}"/>
              </a:ext>
            </a:extLst>
          </p:cNvPr>
          <p:cNvSpPr txBox="1"/>
          <p:nvPr/>
        </p:nvSpPr>
        <p:spPr>
          <a:xfrm>
            <a:off x="175260" y="229029"/>
            <a:ext cx="4040124" cy="461665"/>
          </a:xfrm>
          <a:prstGeom prst="rect">
            <a:avLst/>
          </a:prstGeom>
          <a:noFill/>
        </p:spPr>
        <p:txBody>
          <a:bodyPr wrap="square">
            <a:spAutoFit/>
          </a:bodyPr>
          <a:lstStyle/>
          <a:p>
            <a:pPr marL="0" indent="0">
              <a:buNone/>
            </a:pPr>
            <a:r>
              <a:rPr lang="en-US" sz="2400" b="1" dirty="0">
                <a:solidFill>
                  <a:schemeClr val="accent6">
                    <a:lumMod val="60000"/>
                    <a:lumOff val="40000"/>
                  </a:schemeClr>
                </a:solidFill>
              </a:rPr>
              <a:t>AI Agents in  FinTech Industry</a:t>
            </a:r>
          </a:p>
        </p:txBody>
      </p:sp>
      <p:sp>
        <p:nvSpPr>
          <p:cNvPr id="7" name="TextBox 6">
            <a:extLst>
              <a:ext uri="{FF2B5EF4-FFF2-40B4-BE49-F238E27FC236}">
                <a16:creationId xmlns:a16="http://schemas.microsoft.com/office/drawing/2014/main" id="{82A9706F-1BFF-8E9D-8809-39B1A5195551}"/>
              </a:ext>
            </a:extLst>
          </p:cNvPr>
          <p:cNvSpPr txBox="1"/>
          <p:nvPr/>
        </p:nvSpPr>
        <p:spPr>
          <a:xfrm>
            <a:off x="175260" y="751344"/>
            <a:ext cx="11219688" cy="3785652"/>
          </a:xfrm>
          <a:prstGeom prst="rect">
            <a:avLst/>
          </a:prstGeom>
          <a:noFill/>
        </p:spPr>
        <p:txBody>
          <a:bodyPr wrap="square">
            <a:spAutoFit/>
          </a:bodyPr>
          <a:lstStyle/>
          <a:p>
            <a:r>
              <a:rPr lang="en-US" sz="2400" b="1" dirty="0">
                <a:solidFill>
                  <a:schemeClr val="accent6">
                    <a:lumMod val="60000"/>
                    <a:lumOff val="40000"/>
                  </a:schemeClr>
                </a:solidFill>
              </a:rPr>
              <a:t>Algorithmic Trading</a:t>
            </a:r>
          </a:p>
          <a:p>
            <a:endParaRPr lang="en-US" sz="2400" dirty="0">
              <a:solidFill>
                <a:schemeClr val="accent6">
                  <a:lumMod val="60000"/>
                  <a:lumOff val="40000"/>
                </a:schemeClr>
              </a:solidFill>
            </a:endParaRPr>
          </a:p>
          <a:p>
            <a:pPr marL="457200" indent="-457200">
              <a:buFont typeface="+mj-lt"/>
              <a:buAutoNum type="arabicPeriod"/>
            </a:pPr>
            <a:r>
              <a:rPr lang="en-US" sz="2400" dirty="0">
                <a:solidFill>
                  <a:schemeClr val="accent6">
                    <a:lumMod val="60000"/>
                    <a:lumOff val="40000"/>
                  </a:schemeClr>
                </a:solidFill>
              </a:rPr>
              <a:t>An agent watches price feeds, </a:t>
            </a:r>
          </a:p>
          <a:p>
            <a:pPr marL="457200" indent="-457200">
              <a:buFont typeface="+mj-lt"/>
              <a:buAutoNum type="arabicPeriod"/>
            </a:pPr>
            <a:r>
              <a:rPr lang="en-US" sz="2400" dirty="0">
                <a:solidFill>
                  <a:schemeClr val="accent6">
                    <a:lumMod val="60000"/>
                    <a:lumOff val="40000"/>
                  </a:schemeClr>
                </a:solidFill>
              </a:rPr>
              <a:t>reads earnings call transcripts, </a:t>
            </a:r>
          </a:p>
          <a:p>
            <a:pPr marL="457200" indent="-457200">
              <a:buFont typeface="+mj-lt"/>
              <a:buAutoNum type="arabicPeriod"/>
            </a:pPr>
            <a:r>
              <a:rPr lang="en-US" sz="2400" dirty="0">
                <a:solidFill>
                  <a:schemeClr val="accent6">
                    <a:lumMod val="60000"/>
                    <a:lumOff val="40000"/>
                  </a:schemeClr>
                </a:solidFill>
              </a:rPr>
              <a:t>monitors news sentiment in real time, and </a:t>
            </a:r>
          </a:p>
          <a:p>
            <a:pPr marL="457200" indent="-457200">
              <a:buFont typeface="+mj-lt"/>
              <a:buAutoNum type="arabicPeriod"/>
            </a:pPr>
            <a:r>
              <a:rPr lang="en-US" sz="2400" dirty="0">
                <a:solidFill>
                  <a:schemeClr val="accent6">
                    <a:lumMod val="60000"/>
                    <a:lumOff val="40000"/>
                  </a:schemeClr>
                </a:solidFill>
              </a:rPr>
              <a:t>executes trades based on a defined strategy — automatically managing position sizes and stop-losses.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It can also flag unusual market conditions and pause itself, which a static algorithm cannot.</a:t>
            </a:r>
          </a:p>
        </p:txBody>
      </p:sp>
    </p:spTree>
    <p:extLst>
      <p:ext uri="{BB962C8B-B14F-4D97-AF65-F5344CB8AC3E}">
        <p14:creationId xmlns:p14="http://schemas.microsoft.com/office/powerpoint/2010/main" val="41451714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6F443-255B-0A2A-EF6C-49D930494D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12105-6CA4-54AC-3DA1-BD22E9210008}"/>
              </a:ext>
            </a:extLst>
          </p:cNvPr>
          <p:cNvSpPr txBox="1"/>
          <p:nvPr/>
        </p:nvSpPr>
        <p:spPr>
          <a:xfrm>
            <a:off x="175260" y="229029"/>
            <a:ext cx="4040124" cy="461665"/>
          </a:xfrm>
          <a:prstGeom prst="rect">
            <a:avLst/>
          </a:prstGeom>
          <a:noFill/>
        </p:spPr>
        <p:txBody>
          <a:bodyPr wrap="square">
            <a:spAutoFit/>
          </a:bodyPr>
          <a:lstStyle/>
          <a:p>
            <a:pPr marL="0" indent="0">
              <a:buNone/>
            </a:pPr>
            <a:r>
              <a:rPr lang="en-US" sz="2400" b="1" dirty="0">
                <a:solidFill>
                  <a:schemeClr val="accent6">
                    <a:lumMod val="60000"/>
                    <a:lumOff val="40000"/>
                  </a:schemeClr>
                </a:solidFill>
              </a:rPr>
              <a:t>AI Agents in  FinTech Industry</a:t>
            </a:r>
          </a:p>
        </p:txBody>
      </p:sp>
      <p:sp>
        <p:nvSpPr>
          <p:cNvPr id="7" name="TextBox 6">
            <a:extLst>
              <a:ext uri="{FF2B5EF4-FFF2-40B4-BE49-F238E27FC236}">
                <a16:creationId xmlns:a16="http://schemas.microsoft.com/office/drawing/2014/main" id="{3988CBE8-D83F-898F-A030-713088042D83}"/>
              </a:ext>
            </a:extLst>
          </p:cNvPr>
          <p:cNvSpPr txBox="1"/>
          <p:nvPr/>
        </p:nvSpPr>
        <p:spPr>
          <a:xfrm>
            <a:off x="175260" y="751344"/>
            <a:ext cx="11219688" cy="4154984"/>
          </a:xfrm>
          <a:prstGeom prst="rect">
            <a:avLst/>
          </a:prstGeom>
          <a:noFill/>
        </p:spPr>
        <p:txBody>
          <a:bodyPr wrap="square">
            <a:spAutoFit/>
          </a:bodyPr>
          <a:lstStyle/>
          <a:p>
            <a:r>
              <a:rPr lang="en-US" sz="2400" b="1" dirty="0">
                <a:solidFill>
                  <a:schemeClr val="accent6">
                    <a:lumMod val="60000"/>
                    <a:lumOff val="40000"/>
                  </a:schemeClr>
                </a:solidFill>
              </a:rPr>
              <a:t>One important caveat for fintech</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Agents in financial services need </a:t>
            </a:r>
            <a:r>
              <a:rPr lang="en-US" sz="2400" b="1" dirty="0">
                <a:solidFill>
                  <a:schemeClr val="accent6">
                    <a:lumMod val="60000"/>
                    <a:lumOff val="40000"/>
                  </a:schemeClr>
                </a:solidFill>
              </a:rPr>
              <a:t>human-in-the-loop guardrails</a:t>
            </a:r>
            <a:r>
              <a:rPr lang="en-US" sz="2400" dirty="0">
                <a:solidFill>
                  <a:schemeClr val="accent6">
                    <a:lumMod val="60000"/>
                    <a:lumOff val="40000"/>
                  </a:schemeClr>
                </a:solidFill>
              </a:rPr>
              <a:t> for high-stakes decisions.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Fully autonomous agents are fine for </a:t>
            </a:r>
            <a:r>
              <a:rPr lang="en-US" sz="2400" b="1" dirty="0">
                <a:solidFill>
                  <a:schemeClr val="accent6">
                    <a:lumMod val="60000"/>
                    <a:lumOff val="40000"/>
                  </a:schemeClr>
                </a:solidFill>
              </a:rPr>
              <a:t>low-risk actions </a:t>
            </a:r>
            <a:r>
              <a:rPr lang="en-US" sz="2400" dirty="0">
                <a:solidFill>
                  <a:schemeClr val="accent6">
                    <a:lumMod val="60000"/>
                    <a:lumOff val="40000"/>
                  </a:schemeClr>
                </a:solidFill>
              </a:rPr>
              <a:t>(sending a statement, blocking a suspicious transaction). </a:t>
            </a:r>
          </a:p>
          <a:p>
            <a:r>
              <a:rPr lang="en-US" sz="2400" dirty="0">
                <a:solidFill>
                  <a:schemeClr val="accent6">
                    <a:lumMod val="60000"/>
                    <a:lumOff val="40000"/>
                  </a:schemeClr>
                </a:solidFill>
              </a:rPr>
              <a:t>But for large loan approvals, account closures, or large trades, best practice is to have the agent prepare a recommendation and a human confirm it.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Regulators in most countries — including India's RBI — expect an audit trail and human accountability for consequential financial decisions.</a:t>
            </a:r>
          </a:p>
        </p:txBody>
      </p:sp>
    </p:spTree>
    <p:extLst>
      <p:ext uri="{BB962C8B-B14F-4D97-AF65-F5344CB8AC3E}">
        <p14:creationId xmlns:p14="http://schemas.microsoft.com/office/powerpoint/2010/main" val="19597690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48961-3A2F-397E-527E-49BDBE14D6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BEECD77-6CD6-DD29-7B94-62FE97DBCE59}"/>
              </a:ext>
            </a:extLst>
          </p:cNvPr>
          <p:cNvSpPr txBox="1"/>
          <p:nvPr/>
        </p:nvSpPr>
        <p:spPr>
          <a:xfrm>
            <a:off x="274320" y="933117"/>
            <a:ext cx="11658600" cy="1477328"/>
          </a:xfrm>
          <a:prstGeom prst="rect">
            <a:avLst/>
          </a:prstGeom>
          <a:noFill/>
        </p:spPr>
        <p:txBody>
          <a:bodyPr wrap="square">
            <a:spAutoFit/>
          </a:bodyPr>
          <a:lstStyle/>
          <a:p>
            <a:pPr marL="0" indent="0">
              <a:buNone/>
            </a:pPr>
            <a:r>
              <a:rPr lang="en-US" dirty="0" err="1">
                <a:solidFill>
                  <a:schemeClr val="accent6">
                    <a:lumMod val="60000"/>
                    <a:lumOff val="40000"/>
                  </a:schemeClr>
                </a:solidFill>
              </a:rPr>
              <a:t>Ffnbksdfd</a:t>
            </a: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Fdslj;f</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Fl;ds</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p:txBody>
      </p:sp>
    </p:spTree>
    <p:extLst>
      <p:ext uri="{BB962C8B-B14F-4D97-AF65-F5344CB8AC3E}">
        <p14:creationId xmlns:p14="http://schemas.microsoft.com/office/powerpoint/2010/main" val="16085780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6267275" cy="641553"/>
          </a:xfrm>
        </p:spPr>
        <p:txBody>
          <a:bodyPr>
            <a:normAutofit fontScale="90000"/>
          </a:bodyPr>
          <a:lstStyle/>
          <a:p>
            <a:r>
              <a:rPr lang="en-US" sz="4000" b="1" dirty="0"/>
              <a:t>How Does an AI Agent Work?(p1)</a:t>
            </a:r>
            <a:endParaRPr lang="en-US" sz="4000" dirty="0"/>
          </a:p>
        </p:txBody>
      </p:sp>
      <p:sp>
        <p:nvSpPr>
          <p:cNvPr id="3" name="Content Placeholder 2"/>
          <p:cNvSpPr>
            <a:spLocks noGrp="1"/>
          </p:cNvSpPr>
          <p:nvPr>
            <p:ph idx="1"/>
          </p:nvPr>
        </p:nvSpPr>
        <p:spPr>
          <a:xfrm>
            <a:off x="838200" y="1137727"/>
            <a:ext cx="10515600" cy="2117201"/>
          </a:xfrm>
        </p:spPr>
        <p:txBody>
          <a:bodyPr>
            <a:normAutofit fontScale="85000" lnSpcReduction="20000"/>
          </a:bodyPr>
          <a:lstStyle/>
          <a:p>
            <a:pPr fontAlgn="base"/>
            <a:r>
              <a:rPr lang="en-US" dirty="0"/>
              <a:t>In essence, an AI agent works through the process of assigning, creating, or inferring an objective, which it will then break down into a series of tasks and attempt to complete. This process can be divided into three stages: </a:t>
            </a:r>
          </a:p>
          <a:p>
            <a:pPr marL="514350" indent="-514350" fontAlgn="base">
              <a:buAutoNum type="arabicPeriod"/>
            </a:pPr>
            <a:r>
              <a:rPr lang="en-US" dirty="0"/>
              <a:t>Task definition and planning, </a:t>
            </a:r>
          </a:p>
          <a:p>
            <a:pPr marL="514350" indent="-514350" fontAlgn="base">
              <a:buAutoNum type="arabicPeriod"/>
            </a:pPr>
            <a:r>
              <a:rPr lang="en-US" dirty="0"/>
              <a:t>Decision-making, and </a:t>
            </a:r>
          </a:p>
          <a:p>
            <a:pPr marL="514350" indent="-514350" fontAlgn="base">
              <a:buAutoNum type="arabicPeriod"/>
            </a:pPr>
            <a:r>
              <a:rPr lang="en-US" dirty="0"/>
              <a:t>Feedback and adaptation. </a:t>
            </a:r>
          </a:p>
          <a:p>
            <a:endParaRPr lang="en-US" dirty="0"/>
          </a:p>
        </p:txBody>
      </p:sp>
      <p:sp>
        <p:nvSpPr>
          <p:cNvPr id="4" name="TextBox 3"/>
          <p:cNvSpPr txBox="1"/>
          <p:nvPr/>
        </p:nvSpPr>
        <p:spPr>
          <a:xfrm>
            <a:off x="132347" y="3733100"/>
            <a:ext cx="11857404" cy="3170099"/>
          </a:xfrm>
          <a:prstGeom prst="rect">
            <a:avLst/>
          </a:prstGeom>
          <a:noFill/>
        </p:spPr>
        <p:txBody>
          <a:bodyPr wrap="square" rtlCol="0">
            <a:spAutoFit/>
          </a:bodyPr>
          <a:lstStyle/>
          <a:p>
            <a:pPr fontAlgn="base"/>
            <a:r>
              <a:rPr lang="en-US" sz="2000" b="1" dirty="0">
                <a:solidFill>
                  <a:schemeClr val="accent6">
                    <a:lumMod val="60000"/>
                    <a:lumOff val="40000"/>
                  </a:schemeClr>
                </a:solidFill>
              </a:rPr>
              <a:t>1. Task Definition and Planning</a:t>
            </a:r>
          </a:p>
          <a:p>
            <a:pPr marL="285750" indent="-285750" fontAlgn="base">
              <a:buFont typeface="Arial" panose="020B0604020202020204" pitchFamily="34" charset="0"/>
              <a:buChar char="•"/>
            </a:pPr>
            <a:r>
              <a:rPr lang="en-US" sz="2000" b="1" dirty="0">
                <a:solidFill>
                  <a:schemeClr val="accent6">
                    <a:lumMod val="60000"/>
                    <a:lumOff val="40000"/>
                  </a:schemeClr>
                </a:solidFill>
              </a:rPr>
              <a:t>Define and assign an objective: </a:t>
            </a:r>
            <a:r>
              <a:rPr lang="en-US" sz="2000" dirty="0">
                <a:solidFill>
                  <a:schemeClr val="accent6">
                    <a:lumMod val="60000"/>
                    <a:lumOff val="40000"/>
                  </a:schemeClr>
                </a:solidFill>
              </a:rPr>
              <a:t>giving an agent a predefined goal you want it to accomplish.</a:t>
            </a:r>
          </a:p>
          <a:p>
            <a:pPr marL="285750" indent="-285750" fontAlgn="base">
              <a:buFont typeface="Arial" panose="020B0604020202020204" pitchFamily="34" charset="0"/>
              <a:buChar char="•"/>
            </a:pPr>
            <a:r>
              <a:rPr lang="en-US" sz="2000" b="1" dirty="0">
                <a:solidFill>
                  <a:schemeClr val="accent6">
                    <a:lumMod val="60000"/>
                    <a:lumOff val="40000"/>
                  </a:schemeClr>
                </a:solidFill>
              </a:rPr>
              <a:t>Assign Resources:</a:t>
            </a:r>
            <a:r>
              <a:rPr lang="en-US" sz="2000" dirty="0">
                <a:solidFill>
                  <a:schemeClr val="accent6">
                    <a:lumMod val="60000"/>
                    <a:lumOff val="40000"/>
                  </a:schemeClr>
                </a:solidFill>
              </a:rPr>
              <a:t> select the tools and sources of information the agent will be permitted to use to achieve its goal.  </a:t>
            </a:r>
          </a:p>
          <a:p>
            <a:pPr marL="285750" indent="-285750" fontAlgn="base">
              <a:buFont typeface="Arial" panose="020B0604020202020204" pitchFamily="34" charset="0"/>
              <a:buChar char="•"/>
            </a:pPr>
            <a:r>
              <a:rPr lang="en-US" sz="2000" b="1" dirty="0">
                <a:solidFill>
                  <a:schemeClr val="accent6">
                    <a:lumMod val="60000"/>
                    <a:lumOff val="40000"/>
                  </a:schemeClr>
                </a:solidFill>
              </a:rPr>
              <a:t>Environmental assessment: </a:t>
            </a:r>
            <a:r>
              <a:rPr lang="en-US" sz="2000" dirty="0">
                <a:solidFill>
                  <a:schemeClr val="accent6">
                    <a:lumMod val="60000"/>
                    <a:lumOff val="40000"/>
                  </a:schemeClr>
                </a:solidFill>
              </a:rPr>
              <a:t>the agent uses sensors and any other available data sources to collect information about its environment; this helps it understand its given task in greater context, as well as potential obstacles.</a:t>
            </a:r>
          </a:p>
          <a:p>
            <a:pPr marL="285750" indent="-285750" fontAlgn="base">
              <a:buFont typeface="Arial" panose="020B0604020202020204" pitchFamily="34" charset="0"/>
              <a:buChar char="•"/>
            </a:pPr>
            <a:r>
              <a:rPr lang="en-US" sz="2000" b="1" dirty="0">
                <a:solidFill>
                  <a:schemeClr val="accent6">
                    <a:lumMod val="60000"/>
                    <a:lumOff val="40000"/>
                  </a:schemeClr>
                </a:solidFill>
              </a:rPr>
              <a:t>Plan generation: </a:t>
            </a:r>
            <a:r>
              <a:rPr lang="en-US" sz="2000" dirty="0">
                <a:solidFill>
                  <a:schemeClr val="accent6">
                    <a:lumMod val="60000"/>
                    <a:lumOff val="40000"/>
                  </a:schemeClr>
                </a:solidFill>
              </a:rPr>
              <a:t>taking the tools at its disposal into account, the agent devises strategies for achieving its goal, which typically involves breaking down its tasks into subtasks, and potentially also breaking the goal down into </a:t>
            </a:r>
            <a:r>
              <a:rPr lang="en-US" sz="2000" dirty="0" err="1">
                <a:solidFill>
                  <a:schemeClr val="accent6">
                    <a:lumMod val="60000"/>
                    <a:lumOff val="40000"/>
                  </a:schemeClr>
                </a:solidFill>
              </a:rPr>
              <a:t>subgoals</a:t>
            </a:r>
            <a:r>
              <a:rPr lang="en-US" sz="2000" dirty="0">
                <a:solidFill>
                  <a:schemeClr val="accent6">
                    <a:lumMod val="60000"/>
                    <a:lumOff val="40000"/>
                  </a:schemeClr>
                </a:solidFill>
              </a:rPr>
              <a:t>.  </a:t>
            </a:r>
          </a:p>
          <a:p>
            <a:endParaRPr lang="en-US" sz="2000" dirty="0">
              <a:solidFill>
                <a:schemeClr val="accent6">
                  <a:lumMod val="60000"/>
                  <a:lumOff val="40000"/>
                </a:schemeClr>
              </a:solidFill>
            </a:endParaRPr>
          </a:p>
        </p:txBody>
      </p:sp>
    </p:spTree>
    <p:extLst>
      <p:ext uri="{BB962C8B-B14F-4D97-AF65-F5344CB8AC3E}">
        <p14:creationId xmlns:p14="http://schemas.microsoft.com/office/powerpoint/2010/main" val="3640618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6267275" cy="641553"/>
          </a:xfrm>
        </p:spPr>
        <p:txBody>
          <a:bodyPr>
            <a:normAutofit fontScale="90000"/>
          </a:bodyPr>
          <a:lstStyle/>
          <a:p>
            <a:r>
              <a:rPr lang="en-US" sz="4000" b="1" dirty="0"/>
              <a:t>How Does an AI Agent Work?(p2)</a:t>
            </a:r>
            <a:endParaRPr lang="en-US" sz="4000" dirty="0"/>
          </a:p>
        </p:txBody>
      </p:sp>
      <p:sp>
        <p:nvSpPr>
          <p:cNvPr id="4" name="TextBox 3"/>
          <p:cNvSpPr txBox="1"/>
          <p:nvPr/>
        </p:nvSpPr>
        <p:spPr>
          <a:xfrm>
            <a:off x="436229" y="1182844"/>
            <a:ext cx="11553522" cy="1631216"/>
          </a:xfrm>
          <a:prstGeom prst="rect">
            <a:avLst/>
          </a:prstGeom>
          <a:noFill/>
        </p:spPr>
        <p:txBody>
          <a:bodyPr wrap="square" rtlCol="0">
            <a:spAutoFit/>
          </a:bodyPr>
          <a:lstStyle/>
          <a:p>
            <a:pPr fontAlgn="base"/>
            <a:r>
              <a:rPr lang="en-US" sz="2000" b="1" dirty="0">
                <a:solidFill>
                  <a:schemeClr val="accent6">
                    <a:lumMod val="60000"/>
                    <a:lumOff val="40000"/>
                  </a:schemeClr>
                </a:solidFill>
              </a:rPr>
              <a:t>2. Decision-Making</a:t>
            </a:r>
            <a:endParaRPr lang="en-US" sz="2000" dirty="0">
              <a:solidFill>
                <a:schemeClr val="accent6">
                  <a:lumMod val="60000"/>
                  <a:lumOff val="40000"/>
                </a:schemeClr>
              </a:solidFill>
            </a:endParaRPr>
          </a:p>
          <a:p>
            <a:pPr marL="285750" indent="-285750" fontAlgn="base">
              <a:buFont typeface="Arial" panose="020B0604020202020204" pitchFamily="34" charset="0"/>
              <a:buChar char="•"/>
            </a:pPr>
            <a:r>
              <a:rPr lang="en-US" sz="2000" b="1" dirty="0">
                <a:solidFill>
                  <a:schemeClr val="accent6">
                    <a:lumMod val="60000"/>
                    <a:lumOff val="40000"/>
                  </a:schemeClr>
                </a:solidFill>
              </a:rPr>
              <a:t>Data analysis: </a:t>
            </a:r>
            <a:r>
              <a:rPr lang="en-US" sz="2000" dirty="0">
                <a:solidFill>
                  <a:schemeClr val="accent6">
                    <a:lumMod val="60000"/>
                    <a:lumOff val="40000"/>
                  </a:schemeClr>
                </a:solidFill>
              </a:rPr>
              <a:t>analyzing available data – such as environmental sensor readings, past experiences, and the model that powers it, to predict the outcomes of prospective actions it could take.</a:t>
            </a:r>
          </a:p>
          <a:p>
            <a:pPr marL="285750" indent="-285750" fontAlgn="base">
              <a:buFont typeface="Arial" panose="020B0604020202020204" pitchFamily="34" charset="0"/>
              <a:buChar char="•"/>
            </a:pPr>
            <a:r>
              <a:rPr lang="en-US" sz="2000" b="1" dirty="0">
                <a:solidFill>
                  <a:schemeClr val="accent6">
                    <a:lumMod val="60000"/>
                    <a:lumOff val="40000"/>
                  </a:schemeClr>
                </a:solidFill>
              </a:rPr>
              <a:t>Action execution: </a:t>
            </a:r>
            <a:r>
              <a:rPr lang="en-US" sz="2000" dirty="0">
                <a:solidFill>
                  <a:schemeClr val="accent6">
                    <a:lumMod val="60000"/>
                    <a:lumOff val="40000"/>
                  </a:schemeClr>
                </a:solidFill>
              </a:rPr>
              <a:t>the agent sequentially selects and executes the action it has determined will maximize the likelihood of success. </a:t>
            </a:r>
          </a:p>
        </p:txBody>
      </p:sp>
      <p:sp>
        <p:nvSpPr>
          <p:cNvPr id="6" name="TextBox 5"/>
          <p:cNvSpPr txBox="1"/>
          <p:nvPr/>
        </p:nvSpPr>
        <p:spPr>
          <a:xfrm>
            <a:off x="427839" y="3825379"/>
            <a:ext cx="11450815" cy="2246769"/>
          </a:xfrm>
          <a:prstGeom prst="rect">
            <a:avLst/>
          </a:prstGeom>
          <a:noFill/>
        </p:spPr>
        <p:txBody>
          <a:bodyPr wrap="square" rtlCol="0">
            <a:spAutoFit/>
          </a:bodyPr>
          <a:lstStyle/>
          <a:p>
            <a:pPr fontAlgn="base"/>
            <a:r>
              <a:rPr lang="en-US" sz="2000" b="1" dirty="0">
                <a:solidFill>
                  <a:schemeClr val="accent6">
                    <a:lumMod val="60000"/>
                    <a:lumOff val="40000"/>
                  </a:schemeClr>
                </a:solidFill>
              </a:rPr>
              <a:t>3. Feedback and Adaptation</a:t>
            </a:r>
            <a:endParaRPr lang="en-US" sz="2000" dirty="0">
              <a:solidFill>
                <a:schemeClr val="accent6">
                  <a:lumMod val="60000"/>
                  <a:lumOff val="40000"/>
                </a:schemeClr>
              </a:solidFill>
            </a:endParaRPr>
          </a:p>
          <a:p>
            <a:pPr marL="285750" indent="-285750" fontAlgn="base">
              <a:buFont typeface="Arial" panose="020B0604020202020204" pitchFamily="34" charset="0"/>
              <a:buChar char="•"/>
            </a:pPr>
            <a:r>
              <a:rPr lang="en-US" sz="2000" b="1" dirty="0">
                <a:solidFill>
                  <a:schemeClr val="accent6">
                    <a:lumMod val="60000"/>
                    <a:lumOff val="40000"/>
                  </a:schemeClr>
                </a:solidFill>
              </a:rPr>
              <a:t>Performance Monitoring: </a:t>
            </a:r>
            <a:r>
              <a:rPr lang="en-US" sz="2000" dirty="0">
                <a:solidFill>
                  <a:schemeClr val="accent6">
                    <a:lumMod val="60000"/>
                    <a:lumOff val="40000"/>
                  </a:schemeClr>
                </a:solidFill>
              </a:rPr>
              <a:t>the agent monitors the outcome of its actions and evaluates if they brought it closer to accomplishing the given objective. </a:t>
            </a:r>
          </a:p>
          <a:p>
            <a:pPr marL="285750" indent="-285750" fontAlgn="base">
              <a:buFont typeface="Arial" panose="020B0604020202020204" pitchFamily="34" charset="0"/>
              <a:buChar char="•"/>
            </a:pPr>
            <a:r>
              <a:rPr lang="en-US" sz="2000" b="1" dirty="0">
                <a:solidFill>
                  <a:schemeClr val="accent6">
                    <a:lumMod val="60000"/>
                    <a:lumOff val="40000"/>
                  </a:schemeClr>
                </a:solidFill>
              </a:rPr>
              <a:t>Feedback loop: </a:t>
            </a:r>
            <a:r>
              <a:rPr lang="en-US" sz="2000" dirty="0">
                <a:solidFill>
                  <a:schemeClr val="accent6">
                    <a:lumMod val="60000"/>
                    <a:lumOff val="40000"/>
                  </a:schemeClr>
                </a:solidFill>
              </a:rPr>
              <a:t>The agent uses the feedback to adjust its strategy and potential actions to take. If permitted, i.e., if programmed to do so, it can ask for human intervention if it is stuck on a task. </a:t>
            </a:r>
          </a:p>
          <a:p>
            <a:pPr marL="285750" indent="-285750" fontAlgn="base">
              <a:buFont typeface="Arial" panose="020B0604020202020204" pitchFamily="34" charset="0"/>
              <a:buChar char="•"/>
            </a:pPr>
            <a:r>
              <a:rPr lang="en-US" sz="2000" b="1" dirty="0">
                <a:solidFill>
                  <a:schemeClr val="accent6">
                    <a:lumMod val="60000"/>
                    <a:lumOff val="40000"/>
                  </a:schemeClr>
                </a:solidFill>
              </a:rPr>
              <a:t>Adaptation and learning: </a:t>
            </a:r>
            <a:r>
              <a:rPr lang="en-US" sz="2000" dirty="0">
                <a:solidFill>
                  <a:schemeClr val="accent6">
                    <a:lumMod val="60000"/>
                    <a:lumOff val="40000"/>
                  </a:schemeClr>
                </a:solidFill>
              </a:rPr>
              <a:t>The agent continuously learns from its experiences. It monitors the results of its actions and updates its knowledge base and decision-making processes based on the new information.</a:t>
            </a:r>
          </a:p>
        </p:txBody>
      </p:sp>
    </p:spTree>
    <p:extLst>
      <p:ext uri="{BB962C8B-B14F-4D97-AF65-F5344CB8AC3E}">
        <p14:creationId xmlns:p14="http://schemas.microsoft.com/office/powerpoint/2010/main" val="488549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72178"/>
            <a:ext cx="10515600" cy="700277"/>
          </a:xfrm>
        </p:spPr>
        <p:txBody>
          <a:bodyPr/>
          <a:lstStyle/>
          <a:p>
            <a:r>
              <a:rPr lang="en-US" b="1" dirty="0"/>
              <a:t>The Components of an AI agent</a:t>
            </a:r>
            <a:endParaRPr lang="en-US" dirty="0"/>
          </a:p>
        </p:txBody>
      </p:sp>
      <p:sp>
        <p:nvSpPr>
          <p:cNvPr id="3" name="Content Placeholder 2"/>
          <p:cNvSpPr>
            <a:spLocks noGrp="1"/>
          </p:cNvSpPr>
          <p:nvPr>
            <p:ph idx="1"/>
          </p:nvPr>
        </p:nvSpPr>
        <p:spPr>
          <a:xfrm>
            <a:off x="352338" y="844112"/>
            <a:ext cx="11839662" cy="3442662"/>
          </a:xfrm>
        </p:spPr>
        <p:txBody>
          <a:bodyPr>
            <a:normAutofit/>
          </a:bodyPr>
          <a:lstStyle/>
          <a:p>
            <a:pPr fontAlgn="base"/>
            <a:r>
              <a:rPr lang="en-US" sz="2000" b="1" dirty="0"/>
              <a:t>AI Model: </a:t>
            </a:r>
            <a:r>
              <a:rPr lang="en-US" sz="2000" dirty="0"/>
              <a:t>recent advances such as an LLM, VLM (vision-language model), or, more recently, LMM (large multi-modal model) could be used as the core of an AI agent, acting as its</a:t>
            </a:r>
            <a:r>
              <a:rPr lang="en-US" sz="2000" b="1" dirty="0"/>
              <a:t> </a:t>
            </a:r>
            <a:r>
              <a:rPr lang="en-US" sz="2000" dirty="0"/>
              <a:t>decision-making mechanism. The model will process data collected by sensors, make decisions based on said data, and take actions to achieve the agent’s goals.</a:t>
            </a:r>
          </a:p>
          <a:p>
            <a:pPr fontAlgn="base"/>
            <a:r>
              <a:rPr lang="en-US" sz="2000" b="1" dirty="0"/>
              <a:t>Sensors</a:t>
            </a:r>
            <a:r>
              <a:rPr lang="en-US" sz="2000" dirty="0"/>
              <a:t>: components responsible for collecting data from the agent’s environment so it can “perceive” it accurately and act accordingly. Sensors are an agent’s input devices, enabling it to learn about the world. In software agents, a sensor would be digital interfaces to websites or databases, while in a robotic agent, these include cameras and microphones. </a:t>
            </a:r>
          </a:p>
          <a:p>
            <a:pPr fontAlgn="base"/>
            <a:r>
              <a:rPr lang="en-US" sz="2000" b="1" dirty="0"/>
              <a:t>Actuators</a:t>
            </a:r>
            <a:r>
              <a:rPr lang="en-US" sz="2000" dirty="0"/>
              <a:t>: these are an agent’s means of output – enabling it to take actions based on its given objective and data collected from its sensors. In software agents, these are components that can control other applications or devices, while for a robotic agent, these could be appendages, i.e., limbs, display screens, or speakers. </a:t>
            </a:r>
          </a:p>
        </p:txBody>
      </p:sp>
    </p:spTree>
    <p:extLst>
      <p:ext uri="{BB962C8B-B14F-4D97-AF65-F5344CB8AC3E}">
        <p14:creationId xmlns:p14="http://schemas.microsoft.com/office/powerpoint/2010/main" val="2160857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C902D-FED6-06DD-5FBA-2A3A8469E3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0738CA-A675-3C98-CA54-11053793EBFA}"/>
              </a:ext>
            </a:extLst>
          </p:cNvPr>
          <p:cNvSpPr>
            <a:spLocks noGrp="1"/>
          </p:cNvSpPr>
          <p:nvPr>
            <p:ph type="title"/>
          </p:nvPr>
        </p:nvSpPr>
        <p:spPr>
          <a:xfrm>
            <a:off x="274320" y="136525"/>
            <a:ext cx="11466576" cy="832739"/>
          </a:xfrm>
        </p:spPr>
        <p:txBody>
          <a:bodyPr>
            <a:normAutofit/>
          </a:bodyPr>
          <a:lstStyle/>
          <a:p>
            <a:r>
              <a:rPr lang="en-US" sz="3600" dirty="0"/>
              <a:t>EXTRA</a:t>
            </a:r>
          </a:p>
        </p:txBody>
      </p:sp>
      <p:sp>
        <p:nvSpPr>
          <p:cNvPr id="4" name="TextBox 3">
            <a:extLst>
              <a:ext uri="{FF2B5EF4-FFF2-40B4-BE49-F238E27FC236}">
                <a16:creationId xmlns:a16="http://schemas.microsoft.com/office/drawing/2014/main" id="{ADEF9D1D-5D0D-5F47-A816-0026075E66B4}"/>
              </a:ext>
            </a:extLst>
          </p:cNvPr>
          <p:cNvSpPr txBox="1"/>
          <p:nvPr/>
        </p:nvSpPr>
        <p:spPr>
          <a:xfrm>
            <a:off x="274320" y="933117"/>
            <a:ext cx="11658600" cy="1477328"/>
          </a:xfrm>
          <a:prstGeom prst="rect">
            <a:avLst/>
          </a:prstGeom>
          <a:noFill/>
        </p:spPr>
        <p:txBody>
          <a:bodyPr wrap="square">
            <a:spAutoFit/>
          </a:bodyPr>
          <a:lstStyle/>
          <a:p>
            <a:pPr marL="0" indent="0">
              <a:buNone/>
            </a:pPr>
            <a:r>
              <a:rPr lang="en-US" dirty="0" err="1">
                <a:solidFill>
                  <a:schemeClr val="accent6">
                    <a:lumMod val="60000"/>
                    <a:lumOff val="40000"/>
                  </a:schemeClr>
                </a:solidFill>
              </a:rPr>
              <a:t>Ffnbksdfd</a:t>
            </a: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Fdslj;f</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Fl;ds</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p:txBody>
      </p:sp>
    </p:spTree>
    <p:extLst>
      <p:ext uri="{BB962C8B-B14F-4D97-AF65-F5344CB8AC3E}">
        <p14:creationId xmlns:p14="http://schemas.microsoft.com/office/powerpoint/2010/main" val="5753705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1195</TotalTime>
  <Words>1964</Words>
  <Application>Microsoft Office PowerPoint</Application>
  <PresentationFormat>Widescreen</PresentationFormat>
  <Paragraphs>226</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Calibri Light</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Does an AI Agent Work?(p1)</vt:lpstr>
      <vt:lpstr>How Does an AI Agent Work?(p2)</vt:lpstr>
      <vt:lpstr>The Components of an AI agent</vt:lpstr>
      <vt:lpstr>EXTRA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212</cp:revision>
  <dcterms:created xsi:type="dcterms:W3CDTF">2025-09-22T02:44:38Z</dcterms:created>
  <dcterms:modified xsi:type="dcterms:W3CDTF">2026-04-28T09:05:44Z</dcterms:modified>
</cp:coreProperties>
</file>