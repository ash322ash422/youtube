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6" r:id="rId3"/>
    <p:sldId id="279" r:id="rId4"/>
    <p:sldId id="277" r:id="rId5"/>
    <p:sldId id="278" r:id="rId6"/>
    <p:sldId id="280" r:id="rId7"/>
    <p:sldId id="281" r:id="rId8"/>
    <p:sldId id="282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RAG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307C0D-4D92-FAD1-E47A-29F2EC0C6518}"/>
              </a:ext>
            </a:extLst>
          </p:cNvPr>
          <p:cNvSpPr/>
          <p:nvPr/>
        </p:nvSpPr>
        <p:spPr>
          <a:xfrm>
            <a:off x="6179274" y="2954813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41351C-5469-2AA5-A6A5-80F4AC91F441}"/>
              </a:ext>
            </a:extLst>
          </p:cNvPr>
          <p:cNvSpPr/>
          <p:nvPr/>
        </p:nvSpPr>
        <p:spPr>
          <a:xfrm>
            <a:off x="10213848" y="2847041"/>
            <a:ext cx="1953288" cy="1425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8E6561-4FDD-AD1F-BDF6-EFDDC34284A8}"/>
              </a:ext>
            </a:extLst>
          </p:cNvPr>
          <p:cNvSpPr/>
          <p:nvPr/>
        </p:nvSpPr>
        <p:spPr>
          <a:xfrm>
            <a:off x="9793246" y="5493547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1AB25F-B46A-1FB2-9782-B5A56E595B67}"/>
              </a:ext>
            </a:extLst>
          </p:cNvPr>
          <p:cNvSpPr/>
          <p:nvPr/>
        </p:nvSpPr>
        <p:spPr>
          <a:xfrm>
            <a:off x="8081045" y="5191795"/>
            <a:ext cx="1566672" cy="1100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06768B-81A2-B9ED-CC2C-835989893EE8}"/>
              </a:ext>
            </a:extLst>
          </p:cNvPr>
          <p:cNvSpPr/>
          <p:nvPr/>
        </p:nvSpPr>
        <p:spPr>
          <a:xfrm>
            <a:off x="8081045" y="3178665"/>
            <a:ext cx="1479351" cy="962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8737A69-3758-B4B3-D63F-02935F26B5B3}"/>
              </a:ext>
            </a:extLst>
          </p:cNvPr>
          <p:cNvSpPr/>
          <p:nvPr/>
        </p:nvSpPr>
        <p:spPr>
          <a:xfrm>
            <a:off x="7502106" y="3340019"/>
            <a:ext cx="579360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EEE5D9B-CFFD-AA90-4AE3-AD68B4D85F0B}"/>
              </a:ext>
            </a:extLst>
          </p:cNvPr>
          <p:cNvSpPr/>
          <p:nvPr/>
        </p:nvSpPr>
        <p:spPr>
          <a:xfrm>
            <a:off x="9595947" y="3427238"/>
            <a:ext cx="669418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11573C-B542-142E-9B29-E71DA710058C}"/>
              </a:ext>
            </a:extLst>
          </p:cNvPr>
          <p:cNvSpPr/>
          <p:nvPr/>
        </p:nvSpPr>
        <p:spPr>
          <a:xfrm rot="5400000">
            <a:off x="8197602" y="4369975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1F11FC5-7CF4-160A-A04F-777F8A3AAAD9}"/>
              </a:ext>
            </a:extLst>
          </p:cNvPr>
          <p:cNvSpPr/>
          <p:nvPr/>
        </p:nvSpPr>
        <p:spPr>
          <a:xfrm rot="10800000">
            <a:off x="7502106" y="2708737"/>
            <a:ext cx="2711742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22EF53-9E42-8394-E3D7-312C490CFE25}"/>
              </a:ext>
            </a:extLst>
          </p:cNvPr>
          <p:cNvSpPr txBox="1"/>
          <p:nvPr/>
        </p:nvSpPr>
        <p:spPr>
          <a:xfrm>
            <a:off x="7539501" y="3823882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E66857-0F54-F742-1168-D21FD9C14A99}"/>
              </a:ext>
            </a:extLst>
          </p:cNvPr>
          <p:cNvSpPr txBox="1"/>
          <p:nvPr/>
        </p:nvSpPr>
        <p:spPr>
          <a:xfrm>
            <a:off x="7765966" y="466857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6D1764-705E-078C-69EB-FE6514D9A3DC}"/>
              </a:ext>
            </a:extLst>
          </p:cNvPr>
          <p:cNvSpPr txBox="1"/>
          <p:nvPr/>
        </p:nvSpPr>
        <p:spPr>
          <a:xfrm>
            <a:off x="9679690" y="3857816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681400-D690-B5B1-948B-E2C2392CEF46}"/>
              </a:ext>
            </a:extLst>
          </p:cNvPr>
          <p:cNvSpPr txBox="1"/>
          <p:nvPr/>
        </p:nvSpPr>
        <p:spPr>
          <a:xfrm>
            <a:off x="8539537" y="2431593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F97F451-727B-A63C-21A3-A4D2716945A2}"/>
              </a:ext>
            </a:extLst>
          </p:cNvPr>
          <p:cNvSpPr/>
          <p:nvPr/>
        </p:nvSpPr>
        <p:spPr>
          <a:xfrm rot="16200000">
            <a:off x="8704276" y="4308139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A74C44-EA2E-B9AB-492B-EC6A7C4897F9}"/>
              </a:ext>
            </a:extLst>
          </p:cNvPr>
          <p:cNvSpPr txBox="1"/>
          <p:nvPr/>
        </p:nvSpPr>
        <p:spPr>
          <a:xfrm>
            <a:off x="9230401" y="466857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650B04-84CD-8358-7C54-A086E09A070E}"/>
              </a:ext>
            </a:extLst>
          </p:cNvPr>
          <p:cNvSpPr txBox="1"/>
          <p:nvPr/>
        </p:nvSpPr>
        <p:spPr>
          <a:xfrm>
            <a:off x="0" y="616744"/>
            <a:ext cx="70583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takes a user query, converts it into a vector embedding, 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retriever finds similar chunks from Vector DB,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dumps the text chunks + query into the prompt window,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sends the prompt to the LLM,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LLM generates a response and sends it to the user.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D6485-BEBF-D788-D34C-92C21E309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E78BA241-D9FA-1C1C-406B-735EEF37708D}"/>
              </a:ext>
            </a:extLst>
          </p:cNvPr>
          <p:cNvSpPr txBox="1"/>
          <p:nvPr/>
        </p:nvSpPr>
        <p:spPr>
          <a:xfrm>
            <a:off x="260604" y="0"/>
            <a:ext cx="114894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Compare our Q2 2026 revenue with our main competitor, and explain why our marketing spend didn't yield the expected ROI based on our internal strategy deck.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7DAD9-20FE-B132-7B3E-A561EF3BCCB6}"/>
              </a:ext>
            </a:extLst>
          </p:cNvPr>
          <p:cNvSpPr txBox="1"/>
          <p:nvPr/>
        </p:nvSpPr>
        <p:spPr>
          <a:xfrm>
            <a:off x="182880" y="830997"/>
            <a:ext cx="8065008" cy="582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❌ Traditional RAG (The Linear Path)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Traditional RAG tries to do everything in </a:t>
            </a: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one single shot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Embedding &amp; Search: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The system converts the entire complex user query into a single vector embedding.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Retrieval: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It searches the vector database for text blocks matching that vector. It pulls a messy mix of Q2 financial spreadsheets, competitor analysis folders, and marketing strategy presentations.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Bottleneck: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Because it does only one search, the top 5 retrieved chunks might contain our Q2 revenue numbers, but completely miss the competitor's data or the specific marketing strategy insights.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Generation: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The LLM gets a prompt stuffed with incomplete fragments.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Output:</a:t>
            </a:r>
            <a:r>
              <a:rPr lang="en-US" sz="20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</a:t>
            </a:r>
            <a:r>
              <a:rPr lang="en-US" sz="20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"According to our documents, Q2 revenue was $10M. However, I cannot find data on our competitor's revenue or the specific marketing ROI breakdown in the context provided."</a:t>
            </a:r>
            <a:endParaRPr lang="en-US" sz="20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8FA5D9-735B-AE54-4C16-9C3328B2C205}"/>
              </a:ext>
            </a:extLst>
          </p:cNvPr>
          <p:cNvSpPr/>
          <p:nvPr/>
        </p:nvSpPr>
        <p:spPr>
          <a:xfrm>
            <a:off x="7606515" y="3115496"/>
            <a:ext cx="942586" cy="9238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B59CC0-B297-C455-D5EC-220979D7F80C}"/>
              </a:ext>
            </a:extLst>
          </p:cNvPr>
          <p:cNvSpPr/>
          <p:nvPr/>
        </p:nvSpPr>
        <p:spPr>
          <a:xfrm>
            <a:off x="10856018" y="3132970"/>
            <a:ext cx="1374349" cy="10934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LLM</a:t>
            </a:r>
          </a:p>
          <a:p>
            <a:pPr algn="ctr"/>
            <a:r>
              <a:rPr lang="en-US" sz="1400" dirty="0"/>
              <a:t>(ChatGPT, etc.)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07FF28-4B1B-53E3-9EE0-63E9FB5D01C6}"/>
              </a:ext>
            </a:extLst>
          </p:cNvPr>
          <p:cNvSpPr/>
          <p:nvPr/>
        </p:nvSpPr>
        <p:spPr>
          <a:xfrm>
            <a:off x="9226114" y="5182412"/>
            <a:ext cx="1566672" cy="1100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145A95-2650-E039-D040-E588200972AC}"/>
              </a:ext>
            </a:extLst>
          </p:cNvPr>
          <p:cNvSpPr/>
          <p:nvPr/>
        </p:nvSpPr>
        <p:spPr>
          <a:xfrm>
            <a:off x="9120473" y="3147822"/>
            <a:ext cx="1374349" cy="962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Retriever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4C410C1-EC8E-3625-F39D-BE86687EC53C}"/>
              </a:ext>
            </a:extLst>
          </p:cNvPr>
          <p:cNvSpPr/>
          <p:nvPr/>
        </p:nvSpPr>
        <p:spPr>
          <a:xfrm>
            <a:off x="8569241" y="3307693"/>
            <a:ext cx="579360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882CCF1-D883-2ECC-F7D4-0661D479C0A1}"/>
              </a:ext>
            </a:extLst>
          </p:cNvPr>
          <p:cNvSpPr/>
          <p:nvPr/>
        </p:nvSpPr>
        <p:spPr>
          <a:xfrm>
            <a:off x="10514962" y="3416658"/>
            <a:ext cx="441779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3FDEEF5-0059-8B30-9D1A-39045CEAB8E3}"/>
              </a:ext>
            </a:extLst>
          </p:cNvPr>
          <p:cNvSpPr/>
          <p:nvPr/>
        </p:nvSpPr>
        <p:spPr>
          <a:xfrm rot="5400000">
            <a:off x="9278615" y="4308973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588ADEA-46AB-7E40-F5F0-3D30837AB2CA}"/>
              </a:ext>
            </a:extLst>
          </p:cNvPr>
          <p:cNvSpPr/>
          <p:nvPr/>
        </p:nvSpPr>
        <p:spPr>
          <a:xfrm rot="10800000">
            <a:off x="9070868" y="2688262"/>
            <a:ext cx="1549887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53C13AC-137A-B2B9-2AE0-C2C5A8AAE2BF}"/>
              </a:ext>
            </a:extLst>
          </p:cNvPr>
          <p:cNvSpPr/>
          <p:nvPr/>
        </p:nvSpPr>
        <p:spPr>
          <a:xfrm rot="16200000">
            <a:off x="9998709" y="4338554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6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875A-5784-9582-05DF-E785EA63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815FE13-ED64-E02A-1FCC-E8A38F08A325}"/>
              </a:ext>
            </a:extLst>
          </p:cNvPr>
          <p:cNvSpPr txBox="1"/>
          <p:nvPr/>
        </p:nvSpPr>
        <p:spPr>
          <a:xfrm>
            <a:off x="486664" y="70339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RAG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5AE0D4-178C-9EB1-72C5-B1D3600A0C30}"/>
              </a:ext>
            </a:extLst>
          </p:cNvPr>
          <p:cNvSpPr/>
          <p:nvPr/>
        </p:nvSpPr>
        <p:spPr>
          <a:xfrm>
            <a:off x="6096000" y="2978485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3A888F-7E4A-CBEB-241F-8E9AC979BE14}"/>
              </a:ext>
            </a:extLst>
          </p:cNvPr>
          <p:cNvSpPr/>
          <p:nvPr/>
        </p:nvSpPr>
        <p:spPr>
          <a:xfrm>
            <a:off x="10213848" y="2847041"/>
            <a:ext cx="1953288" cy="1425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AC457F-B11B-A0AA-411F-6C986D6B8BF5}"/>
              </a:ext>
            </a:extLst>
          </p:cNvPr>
          <p:cNvSpPr/>
          <p:nvPr/>
        </p:nvSpPr>
        <p:spPr>
          <a:xfrm>
            <a:off x="9793246" y="5493547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6DCFC2-599B-92A8-7AAA-8AEB06268982}"/>
              </a:ext>
            </a:extLst>
          </p:cNvPr>
          <p:cNvSpPr/>
          <p:nvPr/>
        </p:nvSpPr>
        <p:spPr>
          <a:xfrm>
            <a:off x="8081045" y="5191795"/>
            <a:ext cx="1566672" cy="11003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0963DA-E7DE-CC02-2AFE-EE1C1FBE1D74}"/>
              </a:ext>
            </a:extLst>
          </p:cNvPr>
          <p:cNvSpPr/>
          <p:nvPr/>
        </p:nvSpPr>
        <p:spPr>
          <a:xfrm>
            <a:off x="8081045" y="3178665"/>
            <a:ext cx="1479351" cy="962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DF98E9B-A0EE-5183-7429-144226CD599A}"/>
              </a:ext>
            </a:extLst>
          </p:cNvPr>
          <p:cNvSpPr/>
          <p:nvPr/>
        </p:nvSpPr>
        <p:spPr>
          <a:xfrm>
            <a:off x="7502106" y="3340019"/>
            <a:ext cx="579360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ED94145-4C64-A97C-A868-93C530688990}"/>
              </a:ext>
            </a:extLst>
          </p:cNvPr>
          <p:cNvSpPr/>
          <p:nvPr/>
        </p:nvSpPr>
        <p:spPr>
          <a:xfrm>
            <a:off x="9595947" y="3427238"/>
            <a:ext cx="669418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78677A8-91D4-84E3-A3E8-776E5DC74FC7}"/>
              </a:ext>
            </a:extLst>
          </p:cNvPr>
          <p:cNvSpPr/>
          <p:nvPr/>
        </p:nvSpPr>
        <p:spPr>
          <a:xfrm rot="5400000">
            <a:off x="8197602" y="4369975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295B952-2383-2048-0F26-34FE86C5A56D}"/>
              </a:ext>
            </a:extLst>
          </p:cNvPr>
          <p:cNvSpPr/>
          <p:nvPr/>
        </p:nvSpPr>
        <p:spPr>
          <a:xfrm rot="10800000">
            <a:off x="7502106" y="2708737"/>
            <a:ext cx="2711742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A2BAC0-BD8C-2C83-B4E5-FA5D6F547BEC}"/>
              </a:ext>
            </a:extLst>
          </p:cNvPr>
          <p:cNvSpPr txBox="1"/>
          <p:nvPr/>
        </p:nvSpPr>
        <p:spPr>
          <a:xfrm>
            <a:off x="7539501" y="3823882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FDC6BD-346D-B89F-D0FA-F2CD3116827B}"/>
              </a:ext>
            </a:extLst>
          </p:cNvPr>
          <p:cNvSpPr txBox="1"/>
          <p:nvPr/>
        </p:nvSpPr>
        <p:spPr>
          <a:xfrm>
            <a:off x="7765966" y="466857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2D617A-1348-7E0B-0590-4AB71F9ADDC8}"/>
              </a:ext>
            </a:extLst>
          </p:cNvPr>
          <p:cNvSpPr txBox="1"/>
          <p:nvPr/>
        </p:nvSpPr>
        <p:spPr>
          <a:xfrm>
            <a:off x="9679690" y="3857816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D10CE6-33D7-560D-5ACD-40B240CD94DB}"/>
              </a:ext>
            </a:extLst>
          </p:cNvPr>
          <p:cNvSpPr txBox="1"/>
          <p:nvPr/>
        </p:nvSpPr>
        <p:spPr>
          <a:xfrm>
            <a:off x="8539537" y="2431593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24C9AAB-37E7-FBAA-0A75-B7623B9069C3}"/>
              </a:ext>
            </a:extLst>
          </p:cNvPr>
          <p:cNvSpPr/>
          <p:nvPr/>
        </p:nvSpPr>
        <p:spPr>
          <a:xfrm rot="16200000">
            <a:off x="8704276" y="4308139"/>
            <a:ext cx="704596" cy="539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6FD344-9668-784D-B8B8-26DD38AF52D6}"/>
              </a:ext>
            </a:extLst>
          </p:cNvPr>
          <p:cNvSpPr txBox="1"/>
          <p:nvPr/>
        </p:nvSpPr>
        <p:spPr>
          <a:xfrm>
            <a:off x="9230401" y="4668575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EB175D-44DD-953C-93C4-7C3C6F056BA0}"/>
              </a:ext>
            </a:extLst>
          </p:cNvPr>
          <p:cNvSpPr txBox="1"/>
          <p:nvPr/>
        </p:nvSpPr>
        <p:spPr>
          <a:xfrm>
            <a:off x="0" y="616744"/>
            <a:ext cx="11704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cannot handle multi-step reasoning. If your query requires fetching information from Document A, realizing it needs a missing variable, and tracking that variable down in Document B, traditional RAG will usually fail or give an incomplete answer.</a:t>
            </a:r>
          </a:p>
        </p:txBody>
      </p:sp>
    </p:spTree>
    <p:extLst>
      <p:ext uri="{BB962C8B-B14F-4D97-AF65-F5344CB8AC3E}">
        <p14:creationId xmlns:p14="http://schemas.microsoft.com/office/powerpoint/2010/main" val="148520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A15B7-8440-48AF-3379-2ACE2324B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433267-DDD4-A1B0-326E-BB5CC659615B}"/>
              </a:ext>
            </a:extLst>
          </p:cNvPr>
          <p:cNvSpPr txBox="1"/>
          <p:nvPr/>
        </p:nvSpPr>
        <p:spPr>
          <a:xfrm>
            <a:off x="486664" y="70339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Agentic RAG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BABA0-77D7-35DF-7AEE-B84F43E471F1}"/>
              </a:ext>
            </a:extLst>
          </p:cNvPr>
          <p:cNvSpPr txBox="1"/>
          <p:nvPr/>
        </p:nvSpPr>
        <p:spPr>
          <a:xfrm>
            <a:off x="0" y="616744"/>
            <a:ext cx="117043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RAG system has memory + tool + reasoning capability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Planning &amp; Routing: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analyzes the user prompt and determines an intelligent strategy. For instance, it can look at a query and route it to an SQL database for numbers, or a vector store for policy documentation.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Usage: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treats data stores as tools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tool_use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 It can call a calculator, execute code via an interpreter, or hit an external web API to get real-time info if the local vector storage falls short.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Critique &amp; Reflection: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agent retrieves information and notices a gap or an ambiguity, it rewrites the query, runs a brand-new retrieval pass, or pulls from a secondary system until it is satisfied with the evidence compiled</a:t>
            </a:r>
          </a:p>
        </p:txBody>
      </p:sp>
    </p:spTree>
    <p:extLst>
      <p:ext uri="{BB962C8B-B14F-4D97-AF65-F5344CB8AC3E}">
        <p14:creationId xmlns:p14="http://schemas.microsoft.com/office/powerpoint/2010/main" val="3817897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9924-7C6A-5F84-2492-B86AA639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24BEABE4-5C5E-B629-CB6D-FB2F261D5E26}"/>
              </a:ext>
            </a:extLst>
          </p:cNvPr>
          <p:cNvSpPr txBox="1"/>
          <p:nvPr/>
        </p:nvSpPr>
        <p:spPr>
          <a:xfrm>
            <a:off x="260604" y="0"/>
            <a:ext cx="114894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Compare our Q2 2026 revenue with our main competitor, and explain why our marketing spend didn't yield the expected ROI based on our internal strategy deck.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C48CD-360A-0AB1-B4BE-E8C67C4FD2DD}"/>
              </a:ext>
            </a:extLst>
          </p:cNvPr>
          <p:cNvSpPr txBox="1"/>
          <p:nvPr/>
        </p:nvSpPr>
        <p:spPr>
          <a:xfrm>
            <a:off x="105156" y="830997"/>
            <a:ext cx="1020013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Agentic RAG (The Dynamic Loop)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Agentic RAG breaks the request into a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multi-step project plan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and executes it sequentially using specialized tools.</a:t>
            </a:r>
            <a:endParaRPr lang="en-US" sz="16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8883EA-33C4-8777-6D83-8C9EA6305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835" y="2206945"/>
            <a:ext cx="5534797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6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C070B-F575-80E0-758A-E528922F8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8C58AA-70FF-9778-CF75-D1556B4DAB16}"/>
              </a:ext>
            </a:extLst>
          </p:cNvPr>
          <p:cNvSpPr txBox="1"/>
          <p:nvPr/>
        </p:nvSpPr>
        <p:spPr>
          <a:xfrm>
            <a:off x="141732" y="117693"/>
            <a:ext cx="112059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(Internal Data Lookup):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identifies that it needs precise company revenue. It calls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 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run a query: </a:t>
            </a: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revenue FROM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financial_reports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quarter='Q2_2026’. 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retrieves precisely: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$10 Million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(Competitor Research):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realizes competitor data isn't in the internal SQL db. It switches tools and triggers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Search 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"Competitor X Q2 2026 revenue earnings report"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retrieves: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$12 Million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258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FFC3-9E30-0C3B-7575-030065E1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BD02B-91C7-2078-D00C-B0D81965D532}"/>
              </a:ext>
            </a:extLst>
          </p:cNvPr>
          <p:cNvSpPr txBox="1"/>
          <p:nvPr/>
        </p:nvSpPr>
        <p:spPr>
          <a:xfrm>
            <a:off x="141732" y="117693"/>
            <a:ext cx="112059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(Internal Qualitative Analysis):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uses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DB Search Tool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query the marketing folder for keywords like "marketing spend ROI failure Q2". It pulls chunks explaining that a major ad platform went down during their main campaign week.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(Evaluation &amp; Synthesis):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reviews its gathered notes. If it notices that the ad platform breakdown isn't fully explained, it loop-backs and searches the engineering logs. Once satisfied, it compiles the final answer.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"In Q2 2026, our revenue was $10M, lagging behind our competitor's $12M. Our marketing ROI fell short because $2M of our budget was allocated to Platform X, which suffered a massive global outage during our peak launch week, as detailed in our internal strategy deck."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6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1501</TotalTime>
  <Words>799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209</cp:revision>
  <dcterms:created xsi:type="dcterms:W3CDTF">2025-09-22T02:44:38Z</dcterms:created>
  <dcterms:modified xsi:type="dcterms:W3CDTF">2026-08-29T14:26:51Z</dcterms:modified>
</cp:coreProperties>
</file>