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6" r:id="rId3"/>
    <p:sldId id="279" r:id="rId4"/>
    <p:sldId id="275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of Crew AI:</a:t>
            </a:r>
          </a:p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and Hierarchical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CrewAI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Sequential and Hierarchical describe how multiple agents in a crew coordinate and execute tasks.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F3E98-1A9B-C8B7-0EC0-DC9CA9696D32}"/>
              </a:ext>
            </a:extLst>
          </p:cNvPr>
          <p:cNvSpPr txBox="1"/>
          <p:nvPr/>
        </p:nvSpPr>
        <p:spPr>
          <a:xfrm>
            <a:off x="205740" y="1340364"/>
            <a:ext cx="6917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Sequential Process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execute one after another in a fixed order.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153B41-8C69-0115-C0B7-618D44A29AAF}"/>
              </a:ext>
            </a:extLst>
          </p:cNvPr>
          <p:cNvSpPr/>
          <p:nvPr/>
        </p:nvSpPr>
        <p:spPr>
          <a:xfrm>
            <a:off x="8403336" y="168249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5EA445-B96A-BC7F-5C22-752C2E80EF6F}"/>
              </a:ext>
            </a:extLst>
          </p:cNvPr>
          <p:cNvSpPr/>
          <p:nvPr/>
        </p:nvSpPr>
        <p:spPr>
          <a:xfrm>
            <a:off x="8403336" y="241734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297ED4-7882-EB01-F5D7-02ADBE890031}"/>
              </a:ext>
            </a:extLst>
          </p:cNvPr>
          <p:cNvSpPr/>
          <p:nvPr/>
        </p:nvSpPr>
        <p:spPr>
          <a:xfrm>
            <a:off x="8403336" y="307327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B7C19D-2977-E27A-0B6C-D173506352B0}"/>
              </a:ext>
            </a:extLst>
          </p:cNvPr>
          <p:cNvSpPr/>
          <p:nvPr/>
        </p:nvSpPr>
        <p:spPr>
          <a:xfrm>
            <a:off x="8403336" y="3792081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4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52C169-47B3-977A-0529-A02F6BF62C59}"/>
              </a:ext>
            </a:extLst>
          </p:cNvPr>
          <p:cNvSpPr/>
          <p:nvPr/>
        </p:nvSpPr>
        <p:spPr>
          <a:xfrm>
            <a:off x="8470392" y="4522922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099D2-EB73-DFA5-3B4F-17CC000EB831}"/>
              </a:ext>
            </a:extLst>
          </p:cNvPr>
          <p:cNvSpPr/>
          <p:nvPr/>
        </p:nvSpPr>
        <p:spPr>
          <a:xfrm>
            <a:off x="8403336" y="779534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8A544AE-26EA-ABA7-E67E-AFC65D23CD99}"/>
              </a:ext>
            </a:extLst>
          </p:cNvPr>
          <p:cNvSpPr/>
          <p:nvPr/>
        </p:nvSpPr>
        <p:spPr>
          <a:xfrm>
            <a:off x="9052560" y="1435608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E48B26E-B75F-1C6E-955A-EC094576130D}"/>
              </a:ext>
            </a:extLst>
          </p:cNvPr>
          <p:cNvSpPr/>
          <p:nvPr/>
        </p:nvSpPr>
        <p:spPr>
          <a:xfrm>
            <a:off x="9019032" y="2119130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BF27192-99AA-4B3A-1448-B8E432AE24F4}"/>
              </a:ext>
            </a:extLst>
          </p:cNvPr>
          <p:cNvSpPr/>
          <p:nvPr/>
        </p:nvSpPr>
        <p:spPr>
          <a:xfrm>
            <a:off x="9019032" y="280984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E22B5C1-BE1B-7EFA-CDA3-D4A045B7D368}"/>
              </a:ext>
            </a:extLst>
          </p:cNvPr>
          <p:cNvSpPr/>
          <p:nvPr/>
        </p:nvSpPr>
        <p:spPr>
          <a:xfrm>
            <a:off x="9029700" y="354648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10F3D5D-4D5F-BD78-C7A9-4AABB84FB4A2}"/>
              </a:ext>
            </a:extLst>
          </p:cNvPr>
          <p:cNvSpPr/>
          <p:nvPr/>
        </p:nvSpPr>
        <p:spPr>
          <a:xfrm>
            <a:off x="9066276" y="4238763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522D6D-FA20-AECC-810B-089B5E07C656}"/>
              </a:ext>
            </a:extLst>
          </p:cNvPr>
          <p:cNvSpPr txBox="1"/>
          <p:nvPr/>
        </p:nvSpPr>
        <p:spPr>
          <a:xfrm>
            <a:off x="137922" y="2987394"/>
            <a:ext cx="3759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Research crew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48D264D-496F-21F0-051F-6D62F039FF7F}"/>
              </a:ext>
            </a:extLst>
          </p:cNvPr>
          <p:cNvSpPr/>
          <p:nvPr/>
        </p:nvSpPr>
        <p:spPr>
          <a:xfrm>
            <a:off x="426720" y="4421550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Researcher</a:t>
            </a:r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C9497F-5563-1FD6-B3E7-E997D02C1E4D}"/>
              </a:ext>
            </a:extLst>
          </p:cNvPr>
          <p:cNvSpPr/>
          <p:nvPr/>
        </p:nvSpPr>
        <p:spPr>
          <a:xfrm>
            <a:off x="469392" y="509352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Writer</a:t>
            </a:r>
            <a:endParaRPr lang="en-IN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07F3D4-9231-AA70-BCE8-CB9ED56367DE}"/>
              </a:ext>
            </a:extLst>
          </p:cNvPr>
          <p:cNvSpPr/>
          <p:nvPr/>
        </p:nvSpPr>
        <p:spPr>
          <a:xfrm>
            <a:off x="477520" y="5731095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Editor</a:t>
            </a:r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4CD314-99F4-7CA1-E56F-DE4071FCBC64}"/>
              </a:ext>
            </a:extLst>
          </p:cNvPr>
          <p:cNvSpPr/>
          <p:nvPr/>
        </p:nvSpPr>
        <p:spPr>
          <a:xfrm>
            <a:off x="469392" y="3483738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72A3F597-A4D5-57CF-7001-41F4C4FEE89B}"/>
              </a:ext>
            </a:extLst>
          </p:cNvPr>
          <p:cNvSpPr/>
          <p:nvPr/>
        </p:nvSpPr>
        <p:spPr>
          <a:xfrm>
            <a:off x="1075944" y="4174662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E9860707-29CC-913E-4072-8F7CEC84D127}"/>
              </a:ext>
            </a:extLst>
          </p:cNvPr>
          <p:cNvSpPr/>
          <p:nvPr/>
        </p:nvSpPr>
        <p:spPr>
          <a:xfrm>
            <a:off x="1042416" y="4858184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DCD895AF-0BD2-6505-0A94-DE6EFF459B2C}"/>
              </a:ext>
            </a:extLst>
          </p:cNvPr>
          <p:cNvSpPr/>
          <p:nvPr/>
        </p:nvSpPr>
        <p:spPr>
          <a:xfrm>
            <a:off x="1042416" y="5548901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318D216-4EEF-1E90-71B1-F2ED1C9F926F}"/>
              </a:ext>
            </a:extLst>
          </p:cNvPr>
          <p:cNvSpPr/>
          <p:nvPr/>
        </p:nvSpPr>
        <p:spPr>
          <a:xfrm>
            <a:off x="0" y="6366725"/>
            <a:ext cx="2337816" cy="4616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EC429DB0-9819-50FC-94EE-7D01EEF7DF0B}"/>
              </a:ext>
            </a:extLst>
          </p:cNvPr>
          <p:cNvSpPr/>
          <p:nvPr/>
        </p:nvSpPr>
        <p:spPr>
          <a:xfrm>
            <a:off x="1016508" y="6191802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C58DD1-8599-A21D-89F5-2086E80B5F81}"/>
              </a:ext>
            </a:extLst>
          </p:cNvPr>
          <p:cNvSpPr txBox="1"/>
          <p:nvPr/>
        </p:nvSpPr>
        <p:spPr>
          <a:xfrm>
            <a:off x="2337816" y="4413686"/>
            <a:ext cx="3342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Researcher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collects information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6B120A-67CF-3BF3-C967-393AEE8432E6}"/>
              </a:ext>
            </a:extLst>
          </p:cNvPr>
          <p:cNvSpPr txBox="1"/>
          <p:nvPr/>
        </p:nvSpPr>
        <p:spPr>
          <a:xfrm>
            <a:off x="2281428" y="5068989"/>
            <a:ext cx="515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Writer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input received from researcher to write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2A91C2-CBE0-6BF0-572A-0676C7E78313}"/>
              </a:ext>
            </a:extLst>
          </p:cNvPr>
          <p:cNvSpPr txBox="1"/>
          <p:nvPr/>
        </p:nvSpPr>
        <p:spPr>
          <a:xfrm>
            <a:off x="2281428" y="5724292"/>
            <a:ext cx="515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Editor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input received from writer to edit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574E-48BA-438A-D000-8FBF7FA1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3E6E29-58C6-9F28-63BF-D78B8FE1B2A0}"/>
              </a:ext>
            </a:extLst>
          </p:cNvPr>
          <p:cNvSpPr txBox="1"/>
          <p:nvPr/>
        </p:nvSpPr>
        <p:spPr>
          <a:xfrm>
            <a:off x="237744" y="242423"/>
            <a:ext cx="10890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Sequential Process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students submit a project proposal on Machine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system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A685B3-CD55-E32D-10E7-5532099F6761}"/>
              </a:ext>
            </a:extLst>
          </p:cNvPr>
          <p:cNvSpPr/>
          <p:nvPr/>
        </p:nvSpPr>
        <p:spPr>
          <a:xfrm>
            <a:off x="725629" y="2452042"/>
            <a:ext cx="1481328" cy="532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Research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C2B4CD-3DB5-BE77-AED2-2B106EBE4DB6}"/>
              </a:ext>
            </a:extLst>
          </p:cNvPr>
          <p:cNvSpPr/>
          <p:nvPr/>
        </p:nvSpPr>
        <p:spPr>
          <a:xfrm>
            <a:off x="582448" y="4933934"/>
            <a:ext cx="1700733" cy="561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Documentation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EFAD0B-237C-DED0-DAD4-19B08A503C32}"/>
              </a:ext>
            </a:extLst>
          </p:cNvPr>
          <p:cNvSpPr/>
          <p:nvPr/>
        </p:nvSpPr>
        <p:spPr>
          <a:xfrm>
            <a:off x="692150" y="3750216"/>
            <a:ext cx="1481328" cy="549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Technical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208557-6A6F-F1E6-A79C-3E2B80FB0A7F}"/>
              </a:ext>
            </a:extLst>
          </p:cNvPr>
          <p:cNvSpPr/>
          <p:nvPr/>
        </p:nvSpPr>
        <p:spPr>
          <a:xfrm>
            <a:off x="736952" y="6103021"/>
            <a:ext cx="1283562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2CED24-1B86-2148-3B41-F99B54F37D87}"/>
              </a:ext>
            </a:extLst>
          </p:cNvPr>
          <p:cNvSpPr/>
          <p:nvPr/>
        </p:nvSpPr>
        <p:spPr>
          <a:xfrm>
            <a:off x="769874" y="1564545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4F02A495-7993-74F8-4B64-864A19193DF4}"/>
              </a:ext>
            </a:extLst>
          </p:cNvPr>
          <p:cNvSpPr/>
          <p:nvPr/>
        </p:nvSpPr>
        <p:spPr>
          <a:xfrm>
            <a:off x="1378733" y="2174023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B4025-C8B0-DC20-46ED-B552905661E2}"/>
              </a:ext>
            </a:extLst>
          </p:cNvPr>
          <p:cNvSpPr txBox="1"/>
          <p:nvPr/>
        </p:nvSpPr>
        <p:spPr>
          <a:xfrm>
            <a:off x="2717947" y="1632536"/>
            <a:ext cx="7453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build a machine-learning system to predict student dropout.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D21DB-9D47-2D0E-B59F-61CDF4319D6A}"/>
              </a:ext>
            </a:extLst>
          </p:cNvPr>
          <p:cNvSpPr txBox="1"/>
          <p:nvPr/>
        </p:nvSpPr>
        <p:spPr>
          <a:xfrm>
            <a:off x="2717947" y="2227674"/>
            <a:ext cx="3461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Research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relevant research topics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Identifies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research questions 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B6388E2-5047-3A55-5938-EC07731FABF6}"/>
              </a:ext>
            </a:extLst>
          </p:cNvPr>
          <p:cNvSpPr/>
          <p:nvPr/>
        </p:nvSpPr>
        <p:spPr>
          <a:xfrm>
            <a:off x="1351993" y="3045988"/>
            <a:ext cx="228600" cy="572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4EFAA8-6E3D-68CC-147A-EC111C4DB05E}"/>
              </a:ext>
            </a:extLst>
          </p:cNvPr>
          <p:cNvSpPr txBox="1"/>
          <p:nvPr/>
        </p:nvSpPr>
        <p:spPr>
          <a:xfrm>
            <a:off x="2808562" y="3600057"/>
            <a:ext cx="5302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Technical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ML algorithms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Writes + Checks Python/code 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evaluation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D165D7-422D-AFAB-7EBF-CA23D566B5C2}"/>
              </a:ext>
            </a:extLst>
          </p:cNvPr>
          <p:cNvSpPr txBox="1"/>
          <p:nvPr/>
        </p:nvSpPr>
        <p:spPr>
          <a:xfrm>
            <a:off x="2808562" y="4990170"/>
            <a:ext cx="39579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Documentation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project report 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Reviews references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formatting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50C6E1F-A2EE-00C5-E603-DFD6EA8F1B18}"/>
              </a:ext>
            </a:extLst>
          </p:cNvPr>
          <p:cNvSpPr/>
          <p:nvPr/>
        </p:nvSpPr>
        <p:spPr>
          <a:xfrm>
            <a:off x="1318514" y="4361782"/>
            <a:ext cx="228600" cy="572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580BA13-6B05-F5A3-7B09-9208C6C6BB97}"/>
              </a:ext>
            </a:extLst>
          </p:cNvPr>
          <p:cNvSpPr/>
          <p:nvPr/>
        </p:nvSpPr>
        <p:spPr>
          <a:xfrm>
            <a:off x="1237693" y="5568126"/>
            <a:ext cx="228600" cy="4312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3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26E9F-D372-3320-BCE8-8CA99A4C7FB2}"/>
              </a:ext>
            </a:extLst>
          </p:cNvPr>
          <p:cNvSpPr txBox="1"/>
          <p:nvPr/>
        </p:nvSpPr>
        <p:spPr>
          <a:xfrm>
            <a:off x="498348" y="1240459"/>
            <a:ext cx="68900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Sequential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workflow is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predictable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tasks naturally depend on the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previous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task.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DB915F-B931-B085-B32C-CD60017E244B}"/>
              </a:ext>
            </a:extLst>
          </p:cNvPr>
          <p:cNvSpPr/>
          <p:nvPr/>
        </p:nvSpPr>
        <p:spPr>
          <a:xfrm>
            <a:off x="8403336" y="168249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894B82-BF7B-DFDE-9F7B-C82F46E27F00}"/>
              </a:ext>
            </a:extLst>
          </p:cNvPr>
          <p:cNvSpPr/>
          <p:nvPr/>
        </p:nvSpPr>
        <p:spPr>
          <a:xfrm>
            <a:off x="8403336" y="241734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3F8A82-5094-18B4-2D0F-9C4C01728573}"/>
              </a:ext>
            </a:extLst>
          </p:cNvPr>
          <p:cNvSpPr/>
          <p:nvPr/>
        </p:nvSpPr>
        <p:spPr>
          <a:xfrm>
            <a:off x="8403336" y="307327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A731FF-098E-C2FB-B60E-A94BED8A4631}"/>
              </a:ext>
            </a:extLst>
          </p:cNvPr>
          <p:cNvSpPr/>
          <p:nvPr/>
        </p:nvSpPr>
        <p:spPr>
          <a:xfrm>
            <a:off x="8403336" y="3792081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4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F83C2D-2AB2-E579-CF1F-FAFC9D3AC94D}"/>
              </a:ext>
            </a:extLst>
          </p:cNvPr>
          <p:cNvSpPr/>
          <p:nvPr/>
        </p:nvSpPr>
        <p:spPr>
          <a:xfrm>
            <a:off x="8470392" y="4522922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22FC5B-D17C-128C-E91B-FD51E0B953E3}"/>
              </a:ext>
            </a:extLst>
          </p:cNvPr>
          <p:cNvSpPr/>
          <p:nvPr/>
        </p:nvSpPr>
        <p:spPr>
          <a:xfrm>
            <a:off x="8403336" y="779534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DC4DFDE-185E-BB64-437E-897799CD9AC0}"/>
              </a:ext>
            </a:extLst>
          </p:cNvPr>
          <p:cNvSpPr/>
          <p:nvPr/>
        </p:nvSpPr>
        <p:spPr>
          <a:xfrm>
            <a:off x="9052560" y="1435608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AFECDB0-9BD7-065B-82EE-3ECE92CE68D1}"/>
              </a:ext>
            </a:extLst>
          </p:cNvPr>
          <p:cNvSpPr/>
          <p:nvPr/>
        </p:nvSpPr>
        <p:spPr>
          <a:xfrm>
            <a:off x="9019032" y="2119130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ED7D1E6-AB97-BB70-B8DF-EAB73E84BBC0}"/>
              </a:ext>
            </a:extLst>
          </p:cNvPr>
          <p:cNvSpPr/>
          <p:nvPr/>
        </p:nvSpPr>
        <p:spPr>
          <a:xfrm>
            <a:off x="9019032" y="280984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6897306-1481-001F-8BC9-AD000A2F501F}"/>
              </a:ext>
            </a:extLst>
          </p:cNvPr>
          <p:cNvSpPr/>
          <p:nvPr/>
        </p:nvSpPr>
        <p:spPr>
          <a:xfrm>
            <a:off x="9029700" y="354648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6123CEC-B80B-5C7D-BAA1-943C88CFDDBD}"/>
              </a:ext>
            </a:extLst>
          </p:cNvPr>
          <p:cNvSpPr/>
          <p:nvPr/>
        </p:nvSpPr>
        <p:spPr>
          <a:xfrm>
            <a:off x="9066276" y="4238763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DC57-C819-A916-5792-C541EE83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E27848-2CB8-CAC6-B77E-01A8F01D08AF}"/>
              </a:ext>
            </a:extLst>
          </p:cNvPr>
          <p:cNvSpPr txBox="1"/>
          <p:nvPr/>
        </p:nvSpPr>
        <p:spPr>
          <a:xfrm>
            <a:off x="237744" y="242423"/>
            <a:ext cx="8290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Hierarchical Process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 agent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coordinates/manages the other agents.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2657E2-799A-48A5-B39D-234D4266ADCB}"/>
              </a:ext>
            </a:extLst>
          </p:cNvPr>
          <p:cNvSpPr/>
          <p:nvPr/>
        </p:nvSpPr>
        <p:spPr>
          <a:xfrm>
            <a:off x="7388352" y="224376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B1CDFE-0892-1047-0EFA-4F67824C1381}"/>
              </a:ext>
            </a:extLst>
          </p:cNvPr>
          <p:cNvSpPr/>
          <p:nvPr/>
        </p:nvSpPr>
        <p:spPr>
          <a:xfrm>
            <a:off x="10558272" y="223178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71304B-AA7D-5881-A945-B05CF261250D}"/>
              </a:ext>
            </a:extLst>
          </p:cNvPr>
          <p:cNvSpPr/>
          <p:nvPr/>
        </p:nvSpPr>
        <p:spPr>
          <a:xfrm>
            <a:off x="8973312" y="224376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63FB9D-AD5A-55DB-DFA0-3B4EA203C927}"/>
              </a:ext>
            </a:extLst>
          </p:cNvPr>
          <p:cNvSpPr/>
          <p:nvPr/>
        </p:nvSpPr>
        <p:spPr>
          <a:xfrm>
            <a:off x="10858575" y="1263322"/>
            <a:ext cx="1283562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386E39-F266-146F-5302-B3B175C4C54C}"/>
              </a:ext>
            </a:extLst>
          </p:cNvPr>
          <p:cNvSpPr/>
          <p:nvPr/>
        </p:nvSpPr>
        <p:spPr>
          <a:xfrm>
            <a:off x="8833104" y="383327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4AF4539-8475-DEB3-2BC1-011C7918F8DB}"/>
              </a:ext>
            </a:extLst>
          </p:cNvPr>
          <p:cNvSpPr/>
          <p:nvPr/>
        </p:nvSpPr>
        <p:spPr>
          <a:xfrm>
            <a:off x="8670391" y="1332208"/>
            <a:ext cx="1861772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 Agent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CD5F0D8-69CE-1895-AA92-EB9DBD886BDA}"/>
              </a:ext>
            </a:extLst>
          </p:cNvPr>
          <p:cNvSpPr/>
          <p:nvPr/>
        </p:nvSpPr>
        <p:spPr>
          <a:xfrm>
            <a:off x="9496044" y="968543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91A2D7-DA74-E0AD-E153-1BD6EAE89442}"/>
              </a:ext>
            </a:extLst>
          </p:cNvPr>
          <p:cNvSpPr txBox="1"/>
          <p:nvPr/>
        </p:nvSpPr>
        <p:spPr>
          <a:xfrm>
            <a:off x="388620" y="3077663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manager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 which agent should perform a task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Delegate 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Review/coordinate results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 the overall workflow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C01F596F-2474-1D95-8612-04AC0148E2FC}"/>
              </a:ext>
            </a:extLst>
          </p:cNvPr>
          <p:cNvSpPr/>
          <p:nvPr/>
        </p:nvSpPr>
        <p:spPr>
          <a:xfrm rot="16200000">
            <a:off x="10607230" y="1391059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B6F93886-09F3-BE8E-1AC3-53605733F484}"/>
              </a:ext>
            </a:extLst>
          </p:cNvPr>
          <p:cNvSpPr/>
          <p:nvPr/>
        </p:nvSpPr>
        <p:spPr>
          <a:xfrm rot="2686396">
            <a:off x="8351570" y="1686716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15A48E41-E7D9-6EFD-26E9-1938B5619A7B}"/>
              </a:ext>
            </a:extLst>
          </p:cNvPr>
          <p:cNvSpPr/>
          <p:nvPr/>
        </p:nvSpPr>
        <p:spPr>
          <a:xfrm>
            <a:off x="9472087" y="1686716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6674AEB7-9520-4719-445D-8DA399B42F88}"/>
              </a:ext>
            </a:extLst>
          </p:cNvPr>
          <p:cNvSpPr/>
          <p:nvPr/>
        </p:nvSpPr>
        <p:spPr>
          <a:xfrm rot="19368076">
            <a:off x="10566179" y="1741705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16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C0-BD26-6BBB-7A14-E38AB3F2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34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1158</TotalTime>
  <Words>233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203</cp:revision>
  <dcterms:created xsi:type="dcterms:W3CDTF">2025-09-22T02:44:38Z</dcterms:created>
  <dcterms:modified xsi:type="dcterms:W3CDTF">2026-09-16T02:20:30Z</dcterms:modified>
</cp:coreProperties>
</file>