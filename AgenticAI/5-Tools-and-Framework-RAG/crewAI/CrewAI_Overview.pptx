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640080"/>
            <a:ext cx="502920" cy="502920"/>
          </a:xfrm>
          <a:prstGeom prst="ellipse">
            <a:avLst/>
          </a:prstGeom>
          <a:solidFill>
            <a:srgbClr val="26335A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55680" y="1737360"/>
            <a:ext cx="502920" cy="502920"/>
          </a:xfrm>
          <a:prstGeom prst="ellipse">
            <a:avLst/>
          </a:prstGeom>
          <a:solidFill>
            <a:srgbClr val="26335A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98480" y="3291840"/>
            <a:ext cx="502920" cy="502920"/>
          </a:xfrm>
          <a:prstGeom prst="ellipse">
            <a:avLst/>
          </a:prstGeom>
          <a:solidFill>
            <a:srgbClr val="26335A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4206240"/>
            <a:ext cx="502920" cy="502920"/>
          </a:xfrm>
          <a:prstGeom prst="ellipse">
            <a:avLst/>
          </a:prstGeom>
          <a:solidFill>
            <a:srgbClr val="26335A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3317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CREWAI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32461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teams of AI agents that work together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79476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introduction to the open-source multi-agent framework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CrewAI?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open-source Python framework for orchestrating role-playing, autonomous AI agents that collaborate to complete complex tasks — like a team, not a single chatbot.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388" y="2234428"/>
            <a:ext cx="487192" cy="4871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21214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2478024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worker with a role, a goal, a backstory, and optional tools it can call.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85800" y="310896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388" y="3194548"/>
            <a:ext cx="487192" cy="48719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00200" y="30815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600200" y="3438144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unit of work: a description of what to do and the expected output.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85800" y="406908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388" y="4154668"/>
            <a:ext cx="487192" cy="48719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00200" y="40416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1600200" y="4398264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— a set of agents and tasks, run together toward one outcome.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85800" y="502920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388" y="5114788"/>
            <a:ext cx="487192" cy="48719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600200" y="50017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1600200" y="5358384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tasks execute: sequential hand-off, or hierarchical delegation.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CrewAI?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LLM call struggles with work that needs division of labor and hand-offs.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EEF3F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4028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667" y="2317547"/>
            <a:ext cx="439826" cy="43982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2585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01752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LLM call can't cleanly divide research, analysis, and writing.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prompt-chaining is brittle and hard to maintain.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built-in structure for delegation, hand-offs, or memory.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172200" y="187452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18233F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2240280"/>
            <a:ext cx="594360" cy="594360"/>
          </a:xfrm>
          <a:prstGeom prst="ellipse">
            <a:avLst/>
          </a:prstGeom>
          <a:solidFill>
            <a:srgbClr val="26335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227" y="2317547"/>
            <a:ext cx="439826" cy="43982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69480" y="22585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— CrewAI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6537960" y="301752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take on specialized roles automatically.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pass context to each other without extra wiring.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and hierarchical workflows are built in.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CrewAI Compares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single best framework — here's the trade-off each one makes.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4023360"/>
        </p:xfrm>
        <a:graphic>
          <a:graphicData uri="http://schemas.openxmlformats.org/drawingml/2006/table">
            <a:tbl>
              <a:tblPr/>
              <a:tblGrid>
                <a:gridCol w="2834640"/>
                <a:gridCol w="4389120"/>
                <a:gridCol w="3840480"/>
              </a:tblGrid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Trade-off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8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 (raw)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8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Low-level building blocks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8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design the orchestration yourself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8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AutoGen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8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Conversation-centric agents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8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Harder to predict and debug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8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8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/ state-machine control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8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Steep learning curve for simple crews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8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CrewAI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8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Role-based teams, built-in orchestration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8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to prototype, readable, lean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Advantages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EEF3F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9164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661" y="1765341"/>
            <a:ext cx="419527" cy="41952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3774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&amp; Independent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7063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built on LangChain — a small, standalone dependency footprint.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43400" y="141732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EEF3FB"/>
          </a:solidFill>
          <a:ln/>
        </p:spPr>
      </p:sp>
      <p:sp>
        <p:nvSpPr>
          <p:cNvPr id="9" name="Shape 6"/>
          <p:cNvSpPr/>
          <p:nvPr/>
        </p:nvSpPr>
        <p:spPr>
          <a:xfrm>
            <a:off x="4617720" y="169164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1421" y="1765341"/>
            <a:ext cx="419527" cy="41952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7720" y="23774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by Design</a:t>
            </a:r>
            <a:endParaRPr lang="en-US" sz="1550" dirty="0"/>
          </a:p>
        </p:txBody>
      </p:sp>
      <p:sp>
        <p:nvSpPr>
          <p:cNvPr id="12" name="Text 8"/>
          <p:cNvSpPr txBox="1"/>
          <p:nvPr/>
        </p:nvSpPr>
        <p:spPr>
          <a:xfrm>
            <a:off x="4617720" y="277063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and task configs read like plain English, even in YAML.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138160" y="141732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EEF3FB"/>
          </a:solidFill>
          <a:ln/>
        </p:spPr>
      </p:sp>
      <p:sp>
        <p:nvSpPr>
          <p:cNvPr id="14" name="Shape 10"/>
          <p:cNvSpPr/>
          <p:nvPr/>
        </p:nvSpPr>
        <p:spPr>
          <a:xfrm>
            <a:off x="8412480" y="169164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6181" y="1765341"/>
            <a:ext cx="419527" cy="41952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12480" y="23774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Execution Modes</a:t>
            </a:r>
            <a:endParaRPr lang="en-US" sz="1550" dirty="0"/>
          </a:p>
        </p:txBody>
      </p:sp>
      <p:sp>
        <p:nvSpPr>
          <p:cNvPr id="17" name="Text 12"/>
          <p:cNvSpPr txBox="1"/>
          <p:nvPr/>
        </p:nvSpPr>
        <p:spPr>
          <a:xfrm>
            <a:off x="8412480" y="277063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Crews and deterministic Flows in one framework.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402336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EEF3FB"/>
          </a:solidFill>
          <a:ln/>
        </p:spPr>
      </p:sp>
      <p:sp>
        <p:nvSpPr>
          <p:cNvPr id="19" name="Shape 14"/>
          <p:cNvSpPr/>
          <p:nvPr/>
        </p:nvSpPr>
        <p:spPr>
          <a:xfrm>
            <a:off x="822960" y="429768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61" y="4371381"/>
            <a:ext cx="419527" cy="41952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22960" y="49834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 Built In</a:t>
            </a:r>
            <a:endParaRPr lang="en-US" sz="155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537667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and hierarchical processes ship out of the box.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343400" y="402336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EEF3FB"/>
          </a:solidFill>
          <a:ln/>
        </p:spPr>
      </p:sp>
      <p:sp>
        <p:nvSpPr>
          <p:cNvPr id="24" name="Shape 18"/>
          <p:cNvSpPr/>
          <p:nvPr/>
        </p:nvSpPr>
        <p:spPr>
          <a:xfrm>
            <a:off x="4617720" y="429768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1421" y="4371381"/>
            <a:ext cx="419527" cy="41952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617720" y="49834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Tool Ecosystem</a:t>
            </a:r>
            <a:endParaRPr lang="en-US" sz="1550" dirty="0"/>
          </a:p>
        </p:txBody>
      </p:sp>
      <p:sp>
        <p:nvSpPr>
          <p:cNvPr id="27" name="Text 20"/>
          <p:cNvSpPr txBox="1"/>
          <p:nvPr/>
        </p:nvSpPr>
        <p:spPr>
          <a:xfrm>
            <a:off x="4617720" y="537667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RAG, and code-execution tools ready via crewai-tools.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8138160" y="402336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EEF3FB"/>
          </a:solidFill>
          <a:ln/>
        </p:spPr>
      </p:sp>
      <p:sp>
        <p:nvSpPr>
          <p:cNvPr id="29" name="Shape 22"/>
          <p:cNvSpPr/>
          <p:nvPr/>
        </p:nvSpPr>
        <p:spPr>
          <a:xfrm>
            <a:off x="8412480" y="429768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6181" y="4371381"/>
            <a:ext cx="419527" cy="419527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412480" y="49834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Production</a:t>
            </a:r>
            <a:endParaRPr lang="en-US" sz="1550" dirty="0"/>
          </a:p>
        </p:txBody>
      </p:sp>
      <p:sp>
        <p:nvSpPr>
          <p:cNvPr id="32" name="Text 24"/>
          <p:cNvSpPr txBox="1"/>
          <p:nvPr/>
        </p:nvSpPr>
        <p:spPr>
          <a:xfrm>
            <a:off x="8412480" y="537667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YAML-driven project structure grows cleanly from prototype.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8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67528" y="1051560"/>
            <a:ext cx="1463040" cy="1463040"/>
          </a:xfrm>
          <a:prstGeom prst="ellipse">
            <a:avLst/>
          </a:prstGeom>
          <a:solidFill>
            <a:srgbClr val="2633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7723" y="1241755"/>
            <a:ext cx="1082650" cy="108265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88036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Teams of AI agents.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just one chatbot.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42519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crewai crewai-tools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48006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B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docs.crewai.com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2026-08-27T09:01:14Z</dcterms:created>
  <dcterms:modified xsi:type="dcterms:W3CDTF">2026-08-27T09:01:14Z</dcterms:modified>
</cp:coreProperties>
</file>