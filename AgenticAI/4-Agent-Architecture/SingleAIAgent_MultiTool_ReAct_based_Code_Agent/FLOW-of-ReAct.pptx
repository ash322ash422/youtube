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7" r:id="rId2"/>
    <p:sldId id="278" r:id="rId3"/>
    <p:sldId id="277" r:id="rId4"/>
    <p:sldId id="276" r:id="rId5"/>
    <p:sldId id="279" r:id="rId6"/>
    <p:sldId id="280" r:id="rId7"/>
    <p:sldId id="27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3/29/2026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3/29/2026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3/29/2026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FA3D19-3F4C-A7C5-0389-AFAF4B44F689}"/>
              </a:ext>
            </a:extLst>
          </p:cNvPr>
          <p:cNvSpPr txBox="1"/>
          <p:nvPr/>
        </p:nvSpPr>
        <p:spPr>
          <a:xfrm>
            <a:off x="3012948" y="181094"/>
            <a:ext cx="6190488" cy="461665"/>
          </a:xfrm>
          <a:prstGeom prst="rect">
            <a:avLst/>
          </a:prstGeom>
          <a:noFill/>
        </p:spPr>
        <p:txBody>
          <a:bodyPr wrap="square">
            <a:spAutoFit/>
          </a:bodyPr>
          <a:lstStyle/>
          <a:p>
            <a:r>
              <a:rPr lang="en-US" sz="2400" b="0" i="0" dirty="0" err="1">
                <a:solidFill>
                  <a:schemeClr val="accent6">
                    <a:lumMod val="60000"/>
                    <a:lumOff val="40000"/>
                  </a:schemeClr>
                </a:solidFill>
                <a:effectLst/>
                <a:latin typeface="Anthropic Sans"/>
              </a:rPr>
              <a:t>ReAct</a:t>
            </a:r>
            <a:r>
              <a:rPr lang="en-US" sz="2400" b="0" i="0" dirty="0">
                <a:solidFill>
                  <a:schemeClr val="accent6">
                    <a:lumMod val="60000"/>
                    <a:lumOff val="40000"/>
                  </a:schemeClr>
                </a:solidFill>
                <a:effectLst/>
                <a:latin typeface="Anthropic Sans"/>
              </a:rPr>
              <a:t> Agent (zero-shot-react-description)</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50B0F-284A-C863-0DBC-EF882C6698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65E13D-38E6-8AE6-C027-414CCF6E1615}"/>
              </a:ext>
            </a:extLst>
          </p:cNvPr>
          <p:cNvSpPr txBox="1"/>
          <p:nvPr/>
        </p:nvSpPr>
        <p:spPr>
          <a:xfrm>
            <a:off x="3012948" y="181094"/>
            <a:ext cx="6190488" cy="1569660"/>
          </a:xfrm>
          <a:prstGeom prst="rect">
            <a:avLst/>
          </a:prstGeom>
          <a:noFill/>
        </p:spPr>
        <p:txBody>
          <a:bodyPr wrap="square">
            <a:spAutoFit/>
          </a:bodyPr>
          <a:lstStyle/>
          <a:p>
            <a:r>
              <a:rPr lang="en-US" sz="2400" b="0" i="0" dirty="0" err="1">
                <a:solidFill>
                  <a:schemeClr val="accent6">
                    <a:lumMod val="60000"/>
                    <a:lumOff val="40000"/>
                  </a:schemeClr>
                </a:solidFill>
                <a:effectLst/>
                <a:latin typeface="Anthropic Sans"/>
              </a:rPr>
              <a:t>ReAct</a:t>
            </a:r>
            <a:r>
              <a:rPr lang="en-US" sz="2400" b="0" i="0" dirty="0">
                <a:solidFill>
                  <a:schemeClr val="accent6">
                    <a:lumMod val="60000"/>
                    <a:lumOff val="40000"/>
                  </a:schemeClr>
                </a:solidFill>
                <a:effectLst/>
                <a:latin typeface="Anthropic Sans"/>
              </a:rPr>
              <a:t> Agent (zero-shot-react-description)</a:t>
            </a:r>
          </a:p>
          <a:p>
            <a:endParaRPr lang="en-US" sz="2400" dirty="0">
              <a:solidFill>
                <a:schemeClr val="accent6">
                  <a:lumMod val="60000"/>
                  <a:lumOff val="40000"/>
                </a:schemeClr>
              </a:solidFill>
              <a:latin typeface="Anthropic Sans"/>
            </a:endParaRPr>
          </a:p>
          <a:p>
            <a:r>
              <a:rPr lang="en-US" sz="2400" dirty="0">
                <a:solidFill>
                  <a:schemeClr val="accent6">
                    <a:lumMod val="60000"/>
                    <a:lumOff val="40000"/>
                  </a:schemeClr>
                </a:solidFill>
                <a:latin typeface="Anthropic Sans"/>
              </a:rPr>
              <a:t>Test this code</a:t>
            </a:r>
          </a:p>
          <a:p>
            <a:r>
              <a:rPr lang="en-US" sz="2400" dirty="0">
                <a:solidFill>
                  <a:schemeClr val="accent6">
                    <a:lumMod val="60000"/>
                    <a:lumOff val="40000"/>
                  </a:schemeClr>
                </a:solidFill>
                <a:latin typeface="Anthropic Sans"/>
              </a:rPr>
              <a:t>Make it run   </a:t>
            </a:r>
            <a:r>
              <a:rPr lang="en-US" sz="2400">
                <a:solidFill>
                  <a:schemeClr val="accent6">
                    <a:lumMod val="60000"/>
                    <a:lumOff val="40000"/>
                  </a:schemeClr>
                </a:solidFill>
                <a:latin typeface="Anthropic Sans"/>
              </a:rPr>
              <a:t>in  stream lit</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4282278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C5105-9446-467D-6039-5CB2B7B96C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1D43D5-9FEE-5243-4353-E1E879EADC82}"/>
              </a:ext>
            </a:extLst>
          </p:cNvPr>
          <p:cNvSpPr txBox="1"/>
          <p:nvPr/>
        </p:nvSpPr>
        <p:spPr>
          <a:xfrm>
            <a:off x="3012948" y="181094"/>
            <a:ext cx="6190488" cy="461665"/>
          </a:xfrm>
          <a:prstGeom prst="rect">
            <a:avLst/>
          </a:prstGeom>
          <a:noFill/>
        </p:spPr>
        <p:txBody>
          <a:bodyPr wrap="square">
            <a:spAutoFit/>
          </a:bodyPr>
          <a:lstStyle/>
          <a:p>
            <a:r>
              <a:rPr lang="en-US" sz="2400" b="0" i="0" dirty="0" err="1">
                <a:solidFill>
                  <a:schemeClr val="accent6">
                    <a:lumMod val="60000"/>
                    <a:lumOff val="40000"/>
                  </a:schemeClr>
                </a:solidFill>
                <a:effectLst/>
                <a:latin typeface="Anthropic Sans"/>
              </a:rPr>
              <a:t>ReAct</a:t>
            </a:r>
            <a:r>
              <a:rPr lang="en-US" sz="2400" b="0" i="0" dirty="0">
                <a:solidFill>
                  <a:schemeClr val="accent6">
                    <a:lumMod val="60000"/>
                    <a:lumOff val="40000"/>
                  </a:schemeClr>
                </a:solidFill>
                <a:effectLst/>
                <a:latin typeface="Anthropic Sans"/>
              </a:rPr>
              <a:t> Agent (zero-shot-react-description)</a:t>
            </a:r>
            <a:endParaRPr lang="en-US" sz="2400" dirty="0">
              <a:solidFill>
                <a:schemeClr val="accent6">
                  <a:lumMod val="60000"/>
                  <a:lumOff val="40000"/>
                </a:schemeClr>
              </a:solidFill>
            </a:endParaRPr>
          </a:p>
        </p:txBody>
      </p:sp>
      <p:sp>
        <p:nvSpPr>
          <p:cNvPr id="5" name="TextBox 4">
            <a:extLst>
              <a:ext uri="{FF2B5EF4-FFF2-40B4-BE49-F238E27FC236}">
                <a16:creationId xmlns:a16="http://schemas.microsoft.com/office/drawing/2014/main" id="{E4A5583F-971E-C96C-5390-44C4B9567E9E}"/>
              </a:ext>
            </a:extLst>
          </p:cNvPr>
          <p:cNvSpPr txBox="1"/>
          <p:nvPr/>
        </p:nvSpPr>
        <p:spPr>
          <a:xfrm>
            <a:off x="477520" y="884904"/>
            <a:ext cx="10292080" cy="5262979"/>
          </a:xfrm>
          <a:prstGeom prst="rect">
            <a:avLst/>
          </a:prstGeom>
          <a:noFill/>
        </p:spPr>
        <p:txBody>
          <a:bodyPr wrap="square">
            <a:spAutoFit/>
          </a:bodyPr>
          <a:lstStyle/>
          <a:p>
            <a:pPr>
              <a:buNone/>
            </a:pPr>
            <a:r>
              <a:rPr lang="en-US" sz="2400" b="1" dirty="0" err="1">
                <a:solidFill>
                  <a:schemeClr val="accent6">
                    <a:lumMod val="60000"/>
                    <a:lumOff val="40000"/>
                  </a:schemeClr>
                </a:solidFill>
              </a:rPr>
              <a:t>ReAct</a:t>
            </a:r>
            <a:r>
              <a:rPr lang="en-US" sz="2400" dirty="0">
                <a:solidFill>
                  <a:schemeClr val="accent6">
                    <a:lumMod val="60000"/>
                    <a:lumOff val="40000"/>
                  </a:schemeClr>
                </a:solidFill>
              </a:rPr>
              <a:t> stands for </a:t>
            </a:r>
            <a:r>
              <a:rPr lang="en-US" sz="2400" b="1" dirty="0">
                <a:solidFill>
                  <a:schemeClr val="accent6">
                    <a:lumMod val="60000"/>
                    <a:lumOff val="40000"/>
                  </a:schemeClr>
                </a:solidFill>
              </a:rPr>
              <a:t>Reasoning + Acting</a:t>
            </a:r>
            <a:r>
              <a:rPr lang="en-US" sz="2400" dirty="0">
                <a:solidFill>
                  <a:schemeClr val="accent6">
                    <a:lumMod val="60000"/>
                    <a:lumOff val="40000"/>
                  </a:schemeClr>
                </a:solidFill>
              </a:rPr>
              <a:t>. </a:t>
            </a:r>
          </a:p>
          <a:p>
            <a:pPr>
              <a:buNone/>
            </a:pPr>
            <a:r>
              <a:rPr lang="en-US" sz="2400" dirty="0">
                <a:solidFill>
                  <a:schemeClr val="accent6">
                    <a:lumMod val="60000"/>
                    <a:lumOff val="40000"/>
                  </a:schemeClr>
                </a:solidFill>
              </a:rPr>
              <a:t>It's a prompting framework where the LLM interleaves </a:t>
            </a:r>
            <a:r>
              <a:rPr lang="en-US" sz="2400" i="1" dirty="0">
                <a:solidFill>
                  <a:schemeClr val="accent6">
                    <a:lumMod val="60000"/>
                    <a:lumOff val="40000"/>
                  </a:schemeClr>
                </a:solidFill>
              </a:rPr>
              <a:t>thinking</a:t>
            </a:r>
            <a:r>
              <a:rPr lang="en-US" sz="2400" dirty="0">
                <a:solidFill>
                  <a:schemeClr val="accent6">
                    <a:lumMod val="60000"/>
                    <a:lumOff val="40000"/>
                  </a:schemeClr>
                </a:solidFill>
              </a:rPr>
              <a:t> with </a:t>
            </a:r>
            <a:r>
              <a:rPr lang="en-US" sz="2400" i="1" dirty="0">
                <a:solidFill>
                  <a:schemeClr val="accent6">
                    <a:lumMod val="60000"/>
                    <a:lumOff val="40000"/>
                  </a:schemeClr>
                </a:solidFill>
              </a:rPr>
              <a:t>tool use</a:t>
            </a:r>
            <a:r>
              <a:rPr lang="en-US" sz="2400" dirty="0">
                <a:solidFill>
                  <a:schemeClr val="accent6">
                    <a:lumMod val="60000"/>
                    <a:lumOff val="40000"/>
                  </a:schemeClr>
                </a:solidFill>
              </a:rPr>
              <a:t> in a structured loop — rather than trying to answer all at once, it reasons step by step and acts on the world between each step.</a:t>
            </a:r>
          </a:p>
          <a:p>
            <a:pPr>
              <a:buNone/>
            </a:pPr>
            <a:endParaRPr lang="en-US" sz="2400" dirty="0">
              <a:solidFill>
                <a:schemeClr val="accent6">
                  <a:lumMod val="60000"/>
                  <a:lumOff val="40000"/>
                </a:schemeClr>
              </a:solidFill>
            </a:endParaRPr>
          </a:p>
          <a:p>
            <a:r>
              <a:rPr lang="en-US" sz="2400" b="1" dirty="0">
                <a:solidFill>
                  <a:schemeClr val="accent6">
                    <a:lumMod val="60000"/>
                    <a:lumOff val="40000"/>
                  </a:schemeClr>
                </a:solidFill>
              </a:rPr>
              <a:t>Task given to the agent</a:t>
            </a:r>
          </a:p>
          <a:p>
            <a:r>
              <a:rPr lang="en-US" sz="2400" dirty="0">
                <a:solidFill>
                  <a:schemeClr val="accent6">
                    <a:lumMod val="60000"/>
                    <a:lumOff val="40000"/>
                  </a:schemeClr>
                </a:solidFill>
              </a:rPr>
              <a:t>A user provides a task. </a:t>
            </a:r>
          </a:p>
          <a:p>
            <a:r>
              <a:rPr lang="en-US" sz="2400" dirty="0">
                <a:solidFill>
                  <a:schemeClr val="accent6">
                    <a:lumMod val="60000"/>
                    <a:lumOff val="40000"/>
                  </a:schemeClr>
                </a:solidFill>
              </a:rPr>
              <a:t>The full prompt —</a:t>
            </a:r>
          </a:p>
          <a:p>
            <a:pPr marL="342900" indent="-342900">
              <a:buFont typeface="Arial" panose="020B0604020202020204" pitchFamily="34" charset="0"/>
              <a:buChar char="•"/>
            </a:pPr>
            <a:r>
              <a:rPr lang="en-US" sz="2400" dirty="0">
                <a:solidFill>
                  <a:schemeClr val="accent6">
                    <a:lumMod val="60000"/>
                    <a:lumOff val="40000"/>
                  </a:schemeClr>
                </a:solidFill>
              </a:rPr>
              <a:t>including the task, </a:t>
            </a:r>
          </a:p>
          <a:p>
            <a:pPr marL="342900" indent="-342900">
              <a:buFont typeface="Arial" panose="020B0604020202020204" pitchFamily="34" charset="0"/>
              <a:buChar char="•"/>
            </a:pPr>
            <a:r>
              <a:rPr lang="en-US" sz="2400" dirty="0">
                <a:solidFill>
                  <a:schemeClr val="accent6">
                    <a:lumMod val="60000"/>
                    <a:lumOff val="40000"/>
                  </a:schemeClr>
                </a:solidFill>
              </a:rPr>
              <a:t>available tool descriptions, and </a:t>
            </a:r>
          </a:p>
          <a:p>
            <a:pPr marL="342900" indent="-342900">
              <a:buFont typeface="Arial" panose="020B0604020202020204" pitchFamily="34" charset="0"/>
              <a:buChar char="•"/>
            </a:pPr>
            <a:r>
              <a:rPr lang="en-US" sz="2400" dirty="0">
                <a:solidFill>
                  <a:schemeClr val="accent6">
                    <a:lumMod val="60000"/>
                    <a:lumOff val="40000"/>
                  </a:schemeClr>
                </a:solidFill>
              </a:rPr>
              <a:t>any prior conversation history </a:t>
            </a:r>
          </a:p>
          <a:p>
            <a:r>
              <a:rPr lang="en-US" sz="2400" dirty="0">
                <a:solidFill>
                  <a:schemeClr val="accent6">
                    <a:lumMod val="60000"/>
                    <a:lumOff val="40000"/>
                  </a:schemeClr>
                </a:solidFill>
              </a:rPr>
              <a:t>is sent to the LLM. </a:t>
            </a:r>
          </a:p>
          <a:p>
            <a:r>
              <a:rPr lang="en-US" sz="2400" dirty="0">
                <a:solidFill>
                  <a:schemeClr val="accent6">
                    <a:lumMod val="60000"/>
                    <a:lumOff val="40000"/>
                  </a:schemeClr>
                </a:solidFill>
              </a:rPr>
              <a:t>The LLM has no memory between calls, so everything relevant must be in this prompt.</a:t>
            </a:r>
          </a:p>
        </p:txBody>
      </p:sp>
    </p:spTree>
    <p:extLst>
      <p:ext uri="{BB962C8B-B14F-4D97-AF65-F5344CB8AC3E}">
        <p14:creationId xmlns:p14="http://schemas.microsoft.com/office/powerpoint/2010/main" val="2846750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BDA7-B44E-B824-B04A-1C6D1FB40E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2EB0768-CD30-076E-0CC1-AC99D2166537}"/>
              </a:ext>
            </a:extLst>
          </p:cNvPr>
          <p:cNvSpPr txBox="1"/>
          <p:nvPr/>
        </p:nvSpPr>
        <p:spPr>
          <a:xfrm>
            <a:off x="3012948" y="181094"/>
            <a:ext cx="6190488" cy="461665"/>
          </a:xfrm>
          <a:prstGeom prst="rect">
            <a:avLst/>
          </a:prstGeom>
          <a:noFill/>
        </p:spPr>
        <p:txBody>
          <a:bodyPr wrap="square">
            <a:spAutoFit/>
          </a:bodyPr>
          <a:lstStyle/>
          <a:p>
            <a:r>
              <a:rPr lang="en-US" sz="2400" b="0" i="0" dirty="0" err="1">
                <a:solidFill>
                  <a:schemeClr val="accent6">
                    <a:lumMod val="60000"/>
                    <a:lumOff val="40000"/>
                  </a:schemeClr>
                </a:solidFill>
                <a:effectLst/>
                <a:latin typeface="Anthropic Sans"/>
              </a:rPr>
              <a:t>ReAct</a:t>
            </a:r>
            <a:r>
              <a:rPr lang="en-US" sz="2400" b="0" i="0" dirty="0">
                <a:solidFill>
                  <a:schemeClr val="accent6">
                    <a:lumMod val="60000"/>
                    <a:lumOff val="40000"/>
                  </a:schemeClr>
                </a:solidFill>
                <a:effectLst/>
                <a:latin typeface="Anthropic Sans"/>
              </a:rPr>
              <a:t> Agent (zero-shot-react-description)</a:t>
            </a:r>
            <a:endParaRPr lang="en-US" sz="2400" dirty="0">
              <a:solidFill>
                <a:schemeClr val="accent6">
                  <a:lumMod val="60000"/>
                  <a:lumOff val="40000"/>
                </a:schemeClr>
              </a:solidFill>
            </a:endParaRPr>
          </a:p>
        </p:txBody>
      </p:sp>
      <p:pic>
        <p:nvPicPr>
          <p:cNvPr id="6" name="Picture 5">
            <a:extLst>
              <a:ext uri="{FF2B5EF4-FFF2-40B4-BE49-F238E27FC236}">
                <a16:creationId xmlns:a16="http://schemas.microsoft.com/office/drawing/2014/main" id="{69B60EB4-9069-4989-9CD7-172EE0A415E1}"/>
              </a:ext>
            </a:extLst>
          </p:cNvPr>
          <p:cNvPicPr>
            <a:picLocks noChangeAspect="1"/>
          </p:cNvPicPr>
          <p:nvPr/>
        </p:nvPicPr>
        <p:blipFill>
          <a:blip r:embed="rId2"/>
          <a:stretch>
            <a:fillRect/>
          </a:stretch>
        </p:blipFill>
        <p:spPr>
          <a:xfrm>
            <a:off x="1702463" y="1252728"/>
            <a:ext cx="8476892" cy="5277874"/>
          </a:xfrm>
          <a:prstGeom prst="rect">
            <a:avLst/>
          </a:prstGeom>
        </p:spPr>
      </p:pic>
    </p:spTree>
    <p:extLst>
      <p:ext uri="{BB962C8B-B14F-4D97-AF65-F5344CB8AC3E}">
        <p14:creationId xmlns:p14="http://schemas.microsoft.com/office/powerpoint/2010/main" val="74278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3DB2D-9798-7CFC-1E10-A411A1082F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41949E-15E3-91A1-D5E2-F3559EAC9012}"/>
              </a:ext>
            </a:extLst>
          </p:cNvPr>
          <p:cNvSpPr txBox="1"/>
          <p:nvPr/>
        </p:nvSpPr>
        <p:spPr>
          <a:xfrm>
            <a:off x="649224" y="1172200"/>
            <a:ext cx="10076688" cy="4524315"/>
          </a:xfrm>
          <a:prstGeom prst="rect">
            <a:avLst/>
          </a:prstGeom>
          <a:noFill/>
        </p:spPr>
        <p:txBody>
          <a:bodyPr wrap="square">
            <a:spAutoFit/>
          </a:bodyPr>
          <a:lstStyle/>
          <a:p>
            <a:pPr>
              <a:buNone/>
            </a:pPr>
            <a:r>
              <a:rPr lang="en-US" sz="2400" b="1" dirty="0">
                <a:solidFill>
                  <a:schemeClr val="accent6">
                    <a:lumMod val="60000"/>
                    <a:lumOff val="40000"/>
                  </a:schemeClr>
                </a:solidFill>
              </a:rPr>
              <a:t>How it works:</a:t>
            </a:r>
          </a:p>
          <a:p>
            <a:pPr>
              <a:buNone/>
            </a:pPr>
            <a:r>
              <a:rPr lang="en-US" sz="2400" dirty="0">
                <a:solidFill>
                  <a:schemeClr val="accent6">
                    <a:lumMod val="60000"/>
                    <a:lumOff val="40000"/>
                  </a:schemeClr>
                </a:solidFill>
              </a:rPr>
              <a:t> The LLM follows a loop of Thought → Action → Observation. It reads the task, </a:t>
            </a:r>
            <a:r>
              <a:rPr lang="en-US" sz="2400" i="1" dirty="0">
                <a:solidFill>
                  <a:schemeClr val="accent6">
                    <a:lumMod val="60000"/>
                    <a:lumOff val="40000"/>
                  </a:schemeClr>
                </a:solidFill>
              </a:rPr>
              <a:t>reasons</a:t>
            </a:r>
            <a:r>
              <a:rPr lang="en-US" sz="2400" dirty="0">
                <a:solidFill>
                  <a:schemeClr val="accent6">
                    <a:lumMod val="60000"/>
                    <a:lumOff val="40000"/>
                  </a:schemeClr>
                </a:solidFill>
              </a:rPr>
              <a:t> about which tool to call, calls it, observes the result, and repeats until it's confident enough to give a Final Answer. No examples are given in the prompt (hence "zero-shot") — the LLM relies entirely on tool descriptions to figure out what to do.</a:t>
            </a:r>
          </a:p>
          <a:p>
            <a:pPr>
              <a:buNone/>
            </a:pPr>
            <a:endParaRPr lang="en-US" sz="2400" dirty="0">
              <a:solidFill>
                <a:schemeClr val="accent6">
                  <a:lumMod val="60000"/>
                  <a:lumOff val="40000"/>
                </a:schemeClr>
              </a:solidFill>
            </a:endParaRPr>
          </a:p>
          <a:p>
            <a:pPr>
              <a:buNone/>
            </a:pPr>
            <a:r>
              <a:rPr lang="en-US" sz="2400" b="1" dirty="0">
                <a:solidFill>
                  <a:schemeClr val="accent6">
                    <a:lumMod val="60000"/>
                    <a:lumOff val="40000"/>
                  </a:schemeClr>
                </a:solidFill>
              </a:rPr>
              <a:t>Why it's NOT a reflection agent:</a:t>
            </a:r>
          </a:p>
          <a:p>
            <a:pPr>
              <a:buNone/>
            </a:pPr>
            <a:r>
              <a:rPr lang="en-US" sz="2400" dirty="0">
                <a:solidFill>
                  <a:schemeClr val="accent6">
                    <a:lumMod val="60000"/>
                    <a:lumOff val="40000"/>
                  </a:schemeClr>
                </a:solidFill>
              </a:rPr>
              <a:t> A reflection agent has a deliberate self-critique loop — it generates output, then a second pass (or a separate "critic" prompt) evaluates that output and suggests improvements, and the agent revises accordingly. This code has none of that. The LLM never looks back at its own output to judge or improve it.</a:t>
            </a:r>
          </a:p>
        </p:txBody>
      </p:sp>
      <p:sp>
        <p:nvSpPr>
          <p:cNvPr id="2" name="TextBox 1">
            <a:extLst>
              <a:ext uri="{FF2B5EF4-FFF2-40B4-BE49-F238E27FC236}">
                <a16:creationId xmlns:a16="http://schemas.microsoft.com/office/drawing/2014/main" id="{01EF499D-6B4D-520D-6C66-85ACC6E69C42}"/>
              </a:ext>
            </a:extLst>
          </p:cNvPr>
          <p:cNvSpPr txBox="1"/>
          <p:nvPr/>
        </p:nvSpPr>
        <p:spPr>
          <a:xfrm>
            <a:off x="3012948" y="181094"/>
            <a:ext cx="6190488" cy="461665"/>
          </a:xfrm>
          <a:prstGeom prst="rect">
            <a:avLst/>
          </a:prstGeom>
          <a:noFill/>
        </p:spPr>
        <p:txBody>
          <a:bodyPr wrap="square">
            <a:spAutoFit/>
          </a:bodyPr>
          <a:lstStyle/>
          <a:p>
            <a:r>
              <a:rPr lang="en-US" sz="2400" b="0" i="0" dirty="0" err="1">
                <a:solidFill>
                  <a:schemeClr val="accent6">
                    <a:lumMod val="60000"/>
                    <a:lumOff val="40000"/>
                  </a:schemeClr>
                </a:solidFill>
                <a:effectLst/>
                <a:latin typeface="Anthropic Sans"/>
              </a:rPr>
              <a:t>ReAct</a:t>
            </a:r>
            <a:r>
              <a:rPr lang="en-US" sz="2400" b="0" i="0" dirty="0">
                <a:solidFill>
                  <a:schemeClr val="accent6">
                    <a:lumMod val="60000"/>
                    <a:lumOff val="40000"/>
                  </a:schemeClr>
                </a:solidFill>
                <a:effectLst/>
                <a:latin typeface="Anthropic Sans"/>
              </a:rPr>
              <a:t> Agent (zero-shot-react-description)</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3323825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DD89-49A4-9D86-B4F2-88108A3576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651A3A-DBCE-D1B5-2D50-9C9AB933F166}"/>
              </a:ext>
            </a:extLst>
          </p:cNvPr>
          <p:cNvSpPr txBox="1"/>
          <p:nvPr/>
        </p:nvSpPr>
        <p:spPr>
          <a:xfrm>
            <a:off x="630936" y="-99048"/>
            <a:ext cx="11045952" cy="6740307"/>
          </a:xfrm>
          <a:prstGeom prst="rect">
            <a:avLst/>
          </a:prstGeom>
          <a:noFill/>
        </p:spPr>
        <p:txBody>
          <a:bodyPr wrap="square">
            <a:spAutoFit/>
          </a:bodyPr>
          <a:lstStyle/>
          <a:p>
            <a:pPr>
              <a:buNone/>
            </a:pPr>
            <a:r>
              <a:rPr lang="en-US" sz="2400" b="1" dirty="0">
                <a:solidFill>
                  <a:schemeClr val="accent6">
                    <a:lumMod val="60000"/>
                    <a:lumOff val="40000"/>
                  </a:schemeClr>
                </a:solidFill>
              </a:rPr>
              <a:t>Key things to understand about the </a:t>
            </a:r>
            <a:r>
              <a:rPr lang="en-US" sz="2400" b="1" dirty="0" err="1">
                <a:solidFill>
                  <a:schemeClr val="accent6">
                    <a:lumMod val="60000"/>
                    <a:lumOff val="40000"/>
                  </a:schemeClr>
                </a:solidFill>
              </a:rPr>
              <a:t>ReAct</a:t>
            </a:r>
            <a:r>
              <a:rPr lang="en-US" sz="2400" b="1" dirty="0">
                <a:solidFill>
                  <a:schemeClr val="accent6">
                    <a:lumMod val="60000"/>
                    <a:lumOff val="40000"/>
                  </a:schemeClr>
                </a:solidFill>
              </a:rPr>
              <a:t> architecture:</a:t>
            </a:r>
            <a:endParaRPr lang="en-US" sz="2400" dirty="0">
              <a:solidFill>
                <a:schemeClr val="accent6">
                  <a:lumMod val="60000"/>
                  <a:lumOff val="40000"/>
                </a:schemeClr>
              </a:solidFill>
            </a:endParaRPr>
          </a:p>
          <a:p>
            <a:pPr>
              <a:buNone/>
            </a:pPr>
            <a:r>
              <a:rPr lang="en-US" sz="2400" i="1" dirty="0">
                <a:solidFill>
                  <a:schemeClr val="accent6">
                    <a:lumMod val="60000"/>
                    <a:lumOff val="40000"/>
                  </a:schemeClr>
                </a:solidFill>
              </a:rPr>
              <a:t>zero-shot</a:t>
            </a:r>
            <a:r>
              <a:rPr lang="en-US" sz="2400" dirty="0">
                <a:solidFill>
                  <a:schemeClr val="accent6">
                    <a:lumMod val="60000"/>
                    <a:lumOff val="40000"/>
                  </a:schemeClr>
                </a:solidFill>
              </a:rPr>
              <a:t> means the agent gets no worked examples — it figures out which tool to use purely from the tool's </a:t>
            </a:r>
            <a:r>
              <a:rPr lang="en-US" sz="2400" dirty="0">
                <a:solidFill>
                  <a:schemeClr val="accent6">
                    <a:lumMod val="60000"/>
                    <a:lumOff val="40000"/>
                  </a:schemeClr>
                </a:solidFill>
                <a:latin typeface="Courier New" panose="02070309020205020404" pitchFamily="49" charset="0"/>
              </a:rPr>
              <a:t>description</a:t>
            </a:r>
            <a:r>
              <a:rPr lang="en-US" sz="2400" dirty="0">
                <a:solidFill>
                  <a:schemeClr val="accent6">
                    <a:lumMod val="60000"/>
                    <a:lumOff val="40000"/>
                  </a:schemeClr>
                </a:solidFill>
              </a:rPr>
              <a:t> string. This is why writing good tool descriptions is critical.</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The agent has no real memory. Each time the LLM is called, the entire conversation history — every Thought, Action, and Observation so far — is concatenated into a single prompt and sent again. This is why long agent runs get expensive fast.</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The loop is bounded by </a:t>
            </a:r>
            <a:r>
              <a:rPr lang="en-US" sz="2400" dirty="0" err="1">
                <a:solidFill>
                  <a:schemeClr val="accent6">
                    <a:lumMod val="60000"/>
                    <a:lumOff val="40000"/>
                  </a:schemeClr>
                </a:solidFill>
                <a:latin typeface="Courier New" panose="02070309020205020404" pitchFamily="49" charset="0"/>
              </a:rPr>
              <a:t>max_iterations</a:t>
            </a:r>
            <a:r>
              <a:rPr lang="en-US" sz="2400" dirty="0">
                <a:solidFill>
                  <a:schemeClr val="accent6">
                    <a:lumMod val="60000"/>
                    <a:lumOff val="40000"/>
                  </a:schemeClr>
                </a:solidFill>
              </a:rPr>
              <a:t> (default 15 in </a:t>
            </a:r>
            <a:r>
              <a:rPr lang="en-US" sz="2400" dirty="0" err="1">
                <a:solidFill>
                  <a:schemeClr val="accent6">
                    <a:lumMod val="60000"/>
                    <a:lumOff val="40000"/>
                  </a:schemeClr>
                </a:solidFill>
              </a:rPr>
              <a:t>LangChain</a:t>
            </a:r>
            <a:r>
              <a:rPr lang="en-US" sz="2400" dirty="0">
                <a:solidFill>
                  <a:schemeClr val="accent6">
                    <a:lumMod val="60000"/>
                    <a:lumOff val="40000"/>
                  </a:schemeClr>
                </a:solidFill>
              </a:rPr>
              <a:t>). If the agent hasn't reached a Final Answer by then, it stops forcibly. This prevents infinite loops but can also cut off complex tasks.</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The two tools in our code have a natural chain: </a:t>
            </a:r>
          </a:p>
          <a:p>
            <a:pPr>
              <a:buNone/>
            </a:pPr>
            <a:r>
              <a:rPr lang="en-US" sz="2400" dirty="0" err="1">
                <a:solidFill>
                  <a:schemeClr val="accent6">
                    <a:lumMod val="60000"/>
                    <a:lumOff val="40000"/>
                  </a:schemeClr>
                </a:solidFill>
                <a:latin typeface="Courier New" panose="02070309020205020404" pitchFamily="49" charset="0"/>
              </a:rPr>
              <a:t>code_generator</a:t>
            </a:r>
            <a:r>
              <a:rPr lang="en-US" sz="2400" dirty="0">
                <a:solidFill>
                  <a:schemeClr val="accent6">
                    <a:lumMod val="60000"/>
                    <a:lumOff val="40000"/>
                  </a:schemeClr>
                </a:solidFill>
              </a:rPr>
              <a:t> → LLM writes code → </a:t>
            </a:r>
            <a:r>
              <a:rPr lang="en-US" sz="2400" dirty="0" err="1">
                <a:solidFill>
                  <a:schemeClr val="accent6">
                    <a:lumMod val="60000"/>
                    <a:lumOff val="40000"/>
                  </a:schemeClr>
                </a:solidFill>
                <a:latin typeface="Courier New" panose="02070309020205020404" pitchFamily="49" charset="0"/>
              </a:rPr>
              <a:t>code_executor</a:t>
            </a:r>
            <a:r>
              <a:rPr lang="en-US" sz="2400" dirty="0">
                <a:solidFill>
                  <a:schemeClr val="accent6">
                    <a:lumMod val="60000"/>
                    <a:lumOff val="40000"/>
                  </a:schemeClr>
                </a:solidFill>
              </a:rPr>
              <a:t> → LLM sees output → decides if it's correct.</a:t>
            </a:r>
          </a:p>
          <a:p>
            <a:pPr>
              <a:buNone/>
            </a:pPr>
            <a:r>
              <a:rPr lang="en-US" sz="2400" dirty="0">
                <a:solidFill>
                  <a:schemeClr val="accent6">
                    <a:lumMod val="60000"/>
                    <a:lumOff val="40000"/>
                  </a:schemeClr>
                </a:solidFill>
              </a:rPr>
              <a:t>This is not reflection (no self-critique prompt), but it is multi-step tool chaining, which is a key </a:t>
            </a:r>
            <a:r>
              <a:rPr lang="en-US" sz="2400" dirty="0" err="1">
                <a:solidFill>
                  <a:schemeClr val="accent6">
                    <a:lumMod val="60000"/>
                    <a:lumOff val="40000"/>
                  </a:schemeClr>
                </a:solidFill>
              </a:rPr>
              <a:t>ReAct</a:t>
            </a:r>
            <a:r>
              <a:rPr lang="en-US" sz="2400" dirty="0">
                <a:solidFill>
                  <a:schemeClr val="accent6">
                    <a:lumMod val="60000"/>
                    <a:lumOff val="40000"/>
                  </a:schemeClr>
                </a:solidFill>
              </a:rPr>
              <a:t> strength.</a:t>
            </a:r>
          </a:p>
        </p:txBody>
      </p:sp>
    </p:spTree>
    <p:extLst>
      <p:ext uri="{BB962C8B-B14F-4D97-AF65-F5344CB8AC3E}">
        <p14:creationId xmlns:p14="http://schemas.microsoft.com/office/powerpoint/2010/main" val="1021669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1131</TotalTime>
  <Words>471</Words>
  <Application>Microsoft Office PowerPoint</Application>
  <PresentationFormat>Widescreen</PresentationFormat>
  <Paragraphs>39</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Anthropic Sans</vt:lpstr>
      <vt:lpstr>Arial</vt:lpstr>
      <vt:lpstr>Calibri</vt:lpstr>
      <vt:lpstr>Calibri Light</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204</cp:revision>
  <dcterms:created xsi:type="dcterms:W3CDTF">2025-09-22T02:44:38Z</dcterms:created>
  <dcterms:modified xsi:type="dcterms:W3CDTF">2026-03-29T05:03:14Z</dcterms:modified>
</cp:coreProperties>
</file>