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0"/>
  </p:handoutMasterIdLst>
  <p:sldIdLst>
    <p:sldId id="257" r:id="rId2"/>
    <p:sldId id="260" r:id="rId3"/>
    <p:sldId id="265" r:id="rId4"/>
    <p:sldId id="287" r:id="rId5"/>
    <p:sldId id="267" r:id="rId6"/>
    <p:sldId id="268" r:id="rId7"/>
    <p:sldId id="269" r:id="rId8"/>
    <p:sldId id="266" r:id="rId9"/>
    <p:sldId id="271" r:id="rId10"/>
    <p:sldId id="272" r:id="rId11"/>
    <p:sldId id="273" r:id="rId12"/>
    <p:sldId id="274" r:id="rId13"/>
    <p:sldId id="262" r:id="rId14"/>
    <p:sldId id="286" r:id="rId15"/>
    <p:sldId id="270" r:id="rId16"/>
    <p:sldId id="277" r:id="rId17"/>
    <p:sldId id="280" r:id="rId18"/>
    <p:sldId id="281" r:id="rId19"/>
    <p:sldId id="282" r:id="rId20"/>
    <p:sldId id="283" r:id="rId21"/>
    <p:sldId id="284" r:id="rId22"/>
    <p:sldId id="278" r:id="rId23"/>
    <p:sldId id="285" r:id="rId24"/>
    <p:sldId id="276" r:id="rId25"/>
    <p:sldId id="279" r:id="rId26"/>
    <p:sldId id="263" r:id="rId27"/>
    <p:sldId id="259" r:id="rId28"/>
    <p:sldId id="261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AEF386B-0558-DE65-7873-1EB91A8212BB}"/>
              </a:ext>
            </a:extLst>
          </p:cNvPr>
          <p:cNvSpPr txBox="1"/>
          <p:nvPr/>
        </p:nvSpPr>
        <p:spPr>
          <a:xfrm>
            <a:off x="238124" y="2021979"/>
            <a:ext cx="1130160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Full Batch gradient descent </a:t>
            </a:r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vs </a:t>
            </a:r>
          </a:p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Stochastics Gradient Descent </a:t>
            </a:r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vs </a:t>
            </a:r>
          </a:p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Mini Batch gradient Descent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15635" y="245750"/>
            <a:ext cx="8097429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Gradient Descent (Key Idea):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Gradient Descent is an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optimization algorithm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used to: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Minimize a loss (error) function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by updating model parameters.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try to find parameters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alibri (Body)"/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that minimize error: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alibri (Body)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alibri (Body)"/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alibri (Body)"/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idea: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Calculate slope (gradient) of loss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Move parameters in opposite direction of slope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Repeat until minimum error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6C81BE-BE5A-14E8-05FC-B8EFEC038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5422" y="2463238"/>
            <a:ext cx="1352739" cy="4191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5BA220-F571-AA03-3291-29EEF3FFB9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9491" y="3434978"/>
            <a:ext cx="3553321" cy="8859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3FD069D-2388-3251-F1D7-CEB6F6615A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9352" y="2097607"/>
            <a:ext cx="4854631" cy="3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642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6DF74-8EF1-18E2-3208-C895AA231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5B34B22-5673-2317-C778-FEB1092B473D}"/>
              </a:ext>
            </a:extLst>
          </p:cNvPr>
          <p:cNvSpPr/>
          <p:nvPr/>
        </p:nvSpPr>
        <p:spPr>
          <a:xfrm>
            <a:off x="415635" y="245750"/>
            <a:ext cx="1017311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Full Gradient Descent (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AKA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Batch Gradient Descent)</a:t>
            </a: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Idea: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ALL training data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compute gradient before updating parameters.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3807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A6C0E-6C18-0AF3-F3D0-3CA53378B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AFEE4F-608B-67D6-8FB1-B53474B7A757}"/>
              </a:ext>
            </a:extLst>
          </p:cNvPr>
          <p:cNvSpPr/>
          <p:nvPr/>
        </p:nvSpPr>
        <p:spPr>
          <a:xfrm>
            <a:off x="415635" y="245750"/>
            <a:ext cx="7475637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Working Algorithm (Step-by-Step)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Assume dataset: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 — Initialize parameters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we are working with linear regression model.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needs m and b.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 = random number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 = random number</a:t>
            </a: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learning_rate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= α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8C2F77-36F3-0219-F2A9-1F94B9956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774" y="948267"/>
            <a:ext cx="1257475" cy="15908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158048-39D8-B350-0D62-9391A89BA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272" y="3921557"/>
            <a:ext cx="2686897" cy="55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705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FB0A1-7075-AB09-D027-3E6A43F98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E7D80B6-D63D-F97C-5930-3ACE37FEEC0A}"/>
              </a:ext>
            </a:extLst>
          </p:cNvPr>
          <p:cNvSpPr/>
          <p:nvPr/>
        </p:nvSpPr>
        <p:spPr>
          <a:xfrm>
            <a:off x="415635" y="245750"/>
            <a:ext cx="1041086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 — Loop until convergence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2.1: Predict for ALL data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2.2: Compute total loss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2.3: Compute gradients using ALL samples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BDB763-8156-09B4-00E4-34EAAEAD6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091" y="1510302"/>
            <a:ext cx="5590803" cy="6724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E4B05F-34CB-1220-5AEF-AE90C4872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7095" y="2639878"/>
            <a:ext cx="4539302" cy="10272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4AD4B3-CFB7-5757-F6A0-1894B1D60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6630" y="4770065"/>
            <a:ext cx="5938740" cy="10272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F32B461-F580-0426-06F2-9216560910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6630" y="5853782"/>
            <a:ext cx="5302678" cy="9344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CA864D-0355-1F12-6C6F-EFBDB6BE11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8478" y="189315"/>
            <a:ext cx="1257475" cy="15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002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34EEA-4568-A028-2659-FB5B539FF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9CA916-63B9-7176-C170-01BAC73846A2}"/>
              </a:ext>
            </a:extLst>
          </p:cNvPr>
          <p:cNvSpPr/>
          <p:nvPr/>
        </p:nvSpPr>
        <p:spPr>
          <a:xfrm>
            <a:off x="415635" y="245750"/>
            <a:ext cx="1041086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2.4: Update parameters ONCE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one forward pass. That is, one epoch.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2.5: Repeat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NOTE: Here, one update = one full dataset pass = one epoch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C36756-97AC-7992-C7EC-D5AD5B838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4992" y="813816"/>
            <a:ext cx="3351462" cy="176116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7C7F78A-05B3-54C4-19FD-5F2B75F083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8478" y="189315"/>
            <a:ext cx="1257475" cy="15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769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A1A17-9146-0357-4336-C6D8610E5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C7B9B88-842B-5907-7F30-A6C11DC6EB2E}"/>
              </a:ext>
            </a:extLst>
          </p:cNvPr>
          <p:cNvSpPr/>
          <p:nvPr/>
        </p:nvSpPr>
        <p:spPr>
          <a:xfrm>
            <a:off x="415635" y="245750"/>
            <a:ext cx="10840629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Disadvantages: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Very slow for large datasets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High memory usage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we have 100K samples, then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do forward pass for 100K samples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compute loss for 100K samples.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we have 10 features, then we have to compute 100K x 10 =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200K derivatives.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just for one pass.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do this for many pass. That 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lot of computations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6C92820-7023-C043-DB9C-843590049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8478" y="189315"/>
            <a:ext cx="1257475" cy="15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446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7CD7E-E60D-B721-070D-97F14A4E5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620368-F082-970D-AE50-1C9B44672623}"/>
              </a:ext>
            </a:extLst>
          </p:cNvPr>
          <p:cNvSpPr txBox="1"/>
          <p:nvPr/>
        </p:nvSpPr>
        <p:spPr>
          <a:xfrm>
            <a:off x="3012948" y="71366"/>
            <a:ext cx="61904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Stochastic Gradient Descent (SGD)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156003-44EC-9ACD-0EC7-F63955B9217D}"/>
              </a:ext>
            </a:extLst>
          </p:cNvPr>
          <p:cNvSpPr txBox="1"/>
          <p:nvPr/>
        </p:nvSpPr>
        <p:spPr>
          <a:xfrm>
            <a:off x="283464" y="1870055"/>
            <a:ext cx="105796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Idea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 of using all data, update parameters using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ONE training example at a time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0CF378E-F17B-AA2E-2D6F-8DF723F36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2288" y="279158"/>
            <a:ext cx="1257475" cy="15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071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ADBD2-6C18-EC27-9B2E-D9CA29897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B2443E-72C5-7145-DD08-AA5082CAEA88}"/>
              </a:ext>
            </a:extLst>
          </p:cNvPr>
          <p:cNvSpPr txBox="1"/>
          <p:nvPr/>
        </p:nvSpPr>
        <p:spPr>
          <a:xfrm>
            <a:off x="3012948" y="117086"/>
            <a:ext cx="61904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Stochastic Gradient Descent (SGD)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330456-C2CB-5E8A-E38C-6D68A16FC0A4}"/>
              </a:ext>
            </a:extLst>
          </p:cNvPr>
          <p:cNvSpPr txBox="1"/>
          <p:nvPr/>
        </p:nvSpPr>
        <p:spPr>
          <a:xfrm>
            <a:off x="283464" y="1449431"/>
            <a:ext cx="838504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Algorithm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 — Initialize parameters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 = random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  = random</a:t>
            </a: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learning_rate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α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 — Shuffle dataset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Important to avoid bias.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209997E-9374-5FE4-726B-60DF3F760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2288" y="279158"/>
            <a:ext cx="1257475" cy="15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281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45AB2-06C3-D4E3-CBD3-38B38B498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B31A0F6-5B25-BEA6-C151-D510CBCDA2E3}"/>
                  </a:ext>
                </a:extLst>
              </p:cNvPr>
              <p:cNvSpPr txBox="1"/>
              <p:nvPr/>
            </p:nvSpPr>
            <p:spPr>
              <a:xfrm>
                <a:off x="283464" y="672191"/>
                <a:ext cx="10579608" cy="37856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Step3 : For EACH sample: 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For every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2400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2400" i="1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 i="1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2400" i="1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ar-AE" sz="2400" i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ar-AE" sz="2400" i="1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 i="1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ar-AE" sz="2400" i="1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</a:t>
                </a:r>
              </a:p>
              <a:p>
                <a:br>
                  <a:rPr lang="ar-AE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</a:br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Step 3.1: Predict</a:t>
                </a:r>
              </a:p>
              <a:p>
                <a:endParaRPr lang="en-US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Step 3.2: Compute loss (single sample)</a:t>
                </a:r>
              </a:p>
              <a:p>
                <a:endParaRPr lang="en-US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Step 3.3: Compute gradient (single point)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B31A0F6-5B25-BEA6-C151-D510CBCDA2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464" y="672191"/>
                <a:ext cx="10579608" cy="3785652"/>
              </a:xfrm>
              <a:prstGeom prst="rect">
                <a:avLst/>
              </a:prstGeom>
              <a:blipFill>
                <a:blip r:embed="rId2"/>
                <a:stretch>
                  <a:fillRect l="-922" t="-1449" b="-2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FD8F4F9A-82DD-1890-03F5-43E998A95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2059" y="1559208"/>
            <a:ext cx="4318066" cy="7932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232CD1-3A1A-4A14-121E-B91E63F194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0742" y="2610584"/>
            <a:ext cx="4897611" cy="86831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3720F98-BC99-F000-35CB-6330F0BFF958}"/>
              </a:ext>
            </a:extLst>
          </p:cNvPr>
          <p:cNvSpPr txBox="1"/>
          <p:nvPr/>
        </p:nvSpPr>
        <p:spPr>
          <a:xfrm>
            <a:off x="3012948" y="117086"/>
            <a:ext cx="61904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Stochastic Gradient Descent (SGD)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24D504E-D3BB-C65C-3C43-8ABA56E1E8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1508" y="4457843"/>
            <a:ext cx="4823519" cy="91078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6C0B349-B536-E977-608D-25011DD5E7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7888" y="5543782"/>
            <a:ext cx="4885708" cy="10194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38CC1BE-7144-9D06-E38F-CD20202FBF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62288" y="279158"/>
            <a:ext cx="1257475" cy="15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115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4727B-BB7E-BD6A-3476-F1113B682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CB0B5D1-F4D5-805A-07FB-76C13120F145}"/>
              </a:ext>
            </a:extLst>
          </p:cNvPr>
          <p:cNvSpPr txBox="1"/>
          <p:nvPr/>
        </p:nvSpPr>
        <p:spPr>
          <a:xfrm>
            <a:off x="283464" y="955655"/>
            <a:ext cx="688543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3.4: Update immediately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Parameters change after EVERY sample.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4 — Continue next random sample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NOTE: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Many small updates instead of one big update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791C0D-5787-BB3B-9F3E-5ADA99ECDE37}"/>
              </a:ext>
            </a:extLst>
          </p:cNvPr>
          <p:cNvSpPr txBox="1"/>
          <p:nvPr/>
        </p:nvSpPr>
        <p:spPr>
          <a:xfrm>
            <a:off x="3012948" y="117086"/>
            <a:ext cx="61904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Stochastic Gradient Descent (SGD)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8F0D5E-A87F-8DB7-A493-1F672EFBF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052" y="1092815"/>
            <a:ext cx="3719089" cy="16742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50DC26-229A-5FBF-653F-F337E1511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7332" y="171645"/>
            <a:ext cx="1895740" cy="18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008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66FAB-804B-46AB-BDB1-73A1F287D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D718C3-8E06-51DC-AF70-D6392C587616}"/>
              </a:ext>
            </a:extLst>
          </p:cNvPr>
          <p:cNvSpPr txBox="1"/>
          <p:nvPr/>
        </p:nvSpPr>
        <p:spPr>
          <a:xfrm>
            <a:off x="292608" y="1005840"/>
            <a:ext cx="111648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Full Batch GD, we approach minima smoothly but it is slow.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Stochastic GD, we approach minima in zig-zag path because we are randomly taking points. But it is fast.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D185C5-B54C-8712-F60A-5ED300719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368" y="3762305"/>
            <a:ext cx="6140924" cy="2935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645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7161" y="45413"/>
            <a:ext cx="754902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Advantages of SGD</a:t>
            </a:r>
          </a:p>
          <a:p>
            <a:pPr fontAlgn="base"/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fontAlgn="base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Efficiency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Because it uses only one or a few data points to calculate the gradient, SGD can be much faster, especially for large datasets. Each step requires fewer computations, leading to quicker convergence.</a:t>
            </a:r>
          </a:p>
          <a:p>
            <a:pPr fontAlgn="base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fontAlgn="base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fontAlgn="base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fontAlgn="base"/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fontAlgn="base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Escaping Local Minima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The noisy updates in SGD, caused by the stochastic nature of the algorithm, can help the model escape local minima or saddle points, potentially leading to better solutions in non-convex optimization problems.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3ED2220-1D73-3B2E-C33A-2B8502CD4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6181" y="245148"/>
            <a:ext cx="4411762" cy="21092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34914F-DAD9-51F5-745B-6578345A30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5546" y="3726339"/>
            <a:ext cx="2733031" cy="228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4708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64A13-83F2-27A5-F6D2-EBB7F8F36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DE6FC5F-5E1F-B926-E0DE-D62EA4315206}"/>
              </a:ext>
            </a:extLst>
          </p:cNvPr>
          <p:cNvSpPr/>
          <p:nvPr/>
        </p:nvSpPr>
        <p:spPr>
          <a:xfrm>
            <a:off x="137161" y="438605"/>
            <a:ext cx="7534655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Advantages of SGD</a:t>
            </a:r>
          </a:p>
          <a:p>
            <a:pPr fontAlgn="base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fontAlgn="base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Online Learning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SGD is well-suited for online learning where the model is trained incrementally as new data comes in, rather than on a static dataset.</a:t>
            </a:r>
          </a:p>
          <a:p>
            <a:pPr fontAlgn="base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fontAlgn="base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fontAlgn="base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fontAlgn="base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fontAlgn="base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Memory Efficiency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Since it does not require storing the entire dataset in memory for each iteration, SGD can handle much larger datasets than traditional gradient descent.</a:t>
            </a:r>
          </a:p>
        </p:txBody>
      </p:sp>
    </p:spTree>
    <p:extLst>
      <p:ext uri="{BB962C8B-B14F-4D97-AF65-F5344CB8AC3E}">
        <p14:creationId xmlns:p14="http://schemas.microsoft.com/office/powerpoint/2010/main" val="6249279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06DC2-7C9D-E695-6BD0-3CA220625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526CD5D-5D79-7122-A266-A1C113D180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2269616"/>
              </p:ext>
            </p:extLst>
          </p:nvPr>
        </p:nvGraphicFramePr>
        <p:xfrm>
          <a:off x="429768" y="1203230"/>
          <a:ext cx="10860024" cy="3200400"/>
        </p:xfrm>
        <a:graphic>
          <a:graphicData uri="http://schemas.openxmlformats.org/drawingml/2006/table">
            <a:tbl>
              <a:tblPr/>
              <a:tblGrid>
                <a:gridCol w="3191256">
                  <a:extLst>
                    <a:ext uri="{9D8B030D-6E8A-4147-A177-3AD203B41FA5}">
                      <a16:colId xmlns:a16="http://schemas.microsoft.com/office/drawing/2014/main" val="1339006652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312184016"/>
                    </a:ext>
                  </a:extLst>
                </a:gridCol>
                <a:gridCol w="4102608">
                  <a:extLst>
                    <a:ext uri="{9D8B030D-6E8A-4147-A177-3AD203B41FA5}">
                      <a16:colId xmlns:a16="http://schemas.microsoft.com/office/drawing/2014/main" val="17024723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Full Gradient Descent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Stochastic Gradient Descent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311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Data 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Entire dataset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One sample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25024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Updates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Many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0715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Speed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147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Memory Consumption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8338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Large datasets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Poor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Excellent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2506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Escapes local minima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Easier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3723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28440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B8A9E-6712-241A-B82F-4D7250082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FDAACA3-32A4-5209-32D8-AF392D96BF1F}"/>
              </a:ext>
            </a:extLst>
          </p:cNvPr>
          <p:cNvSpPr txBox="1"/>
          <p:nvPr/>
        </p:nvSpPr>
        <p:spPr>
          <a:xfrm>
            <a:off x="2862072" y="150983"/>
            <a:ext cx="6885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Mini-Batch Gradient Descent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601FC9-EEE6-B97F-EA81-E8B4455D7A9C}"/>
              </a:ext>
            </a:extLst>
          </p:cNvPr>
          <p:cNvSpPr txBox="1"/>
          <p:nvPr/>
        </p:nvSpPr>
        <p:spPr>
          <a:xfrm>
            <a:off x="493776" y="1452110"/>
            <a:ext cx="1052474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Used in Industry.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 of ALL samples or ONE sample, we  use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small group of samples (batch)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Batch size =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32 / 64 / 128 / 256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samples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426BF7D-51F3-4FDF-1D8A-86C30C1B6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2288" y="279158"/>
            <a:ext cx="1257475" cy="15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451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3A55B-FE6B-19A6-17C4-AEA464E51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E9DBF4-F45D-5755-D5CE-D17914A2A6B4}"/>
              </a:ext>
            </a:extLst>
          </p:cNvPr>
          <p:cNvSpPr txBox="1"/>
          <p:nvPr/>
        </p:nvSpPr>
        <p:spPr>
          <a:xfrm>
            <a:off x="2862072" y="150983"/>
            <a:ext cx="6885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Mini-Batch Gradient Descent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2325A2-D763-8A2D-0F2B-2D1AC5322C02}"/>
              </a:ext>
            </a:extLst>
          </p:cNvPr>
          <p:cNvSpPr txBox="1"/>
          <p:nvPr/>
        </p:nvSpPr>
        <p:spPr>
          <a:xfrm>
            <a:off x="493776" y="976622"/>
            <a:ext cx="789127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Algorithm: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 — Initialize parameters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 = random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 = random</a:t>
            </a: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learning_rate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α</a:t>
            </a: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batch_size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k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we have 1000 samples, and k=10 batch.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 — Shuffle Dataset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13E872-FAF2-C057-335E-A7012875A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2288" y="279158"/>
            <a:ext cx="1257475" cy="15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8804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E38C7-FF30-951C-77C3-34CFAEC9A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90AC181-59A3-B6ED-6CEB-721C773A7E1F}"/>
              </a:ext>
            </a:extLst>
          </p:cNvPr>
          <p:cNvSpPr txBox="1"/>
          <p:nvPr/>
        </p:nvSpPr>
        <p:spPr>
          <a:xfrm>
            <a:off x="2862072" y="150983"/>
            <a:ext cx="6885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Mini-Batch Gradient Descent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9F4993-D071-042A-0B68-886493D5A179}"/>
              </a:ext>
            </a:extLst>
          </p:cNvPr>
          <p:cNvSpPr txBox="1"/>
          <p:nvPr/>
        </p:nvSpPr>
        <p:spPr>
          <a:xfrm>
            <a:off x="210312" y="1378958"/>
            <a:ext cx="1034186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 — Split into Mini-Batches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we have 1000 samples and 10 batch, so each batch will have 100 samples: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Batch 1 → 100 samples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Batch 2 → 100 samples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Batch 3 → 100 samples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…..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46FA08-B211-D83E-1F09-7F0DD14DA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594" y="3949442"/>
            <a:ext cx="4383673" cy="25190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5605D3C-14CF-C2B0-4BD6-E396867AA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2288" y="279158"/>
            <a:ext cx="1257475" cy="15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14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50988-B4CA-F30A-A6FE-410780525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76C809A-BDF6-302D-153C-41CF82C46500}"/>
              </a:ext>
            </a:extLst>
          </p:cNvPr>
          <p:cNvSpPr txBox="1"/>
          <p:nvPr/>
        </p:nvSpPr>
        <p:spPr>
          <a:xfrm>
            <a:off x="2862072" y="150983"/>
            <a:ext cx="6885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Mini-Batch Gradient Descent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32EDCF-8AA5-EEAA-7658-36CF2F65964C}"/>
              </a:ext>
            </a:extLst>
          </p:cNvPr>
          <p:cNvSpPr txBox="1"/>
          <p:nvPr/>
        </p:nvSpPr>
        <p:spPr>
          <a:xfrm>
            <a:off x="210312" y="1378958"/>
            <a:ext cx="602589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4 — For EACH mini-batch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batch contains k samples.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4.1 — Predict for batch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(Compute predictions for all k samples)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4.2 — Compute batch loss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Here, only the batch data is used.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CA991F-7F5E-793C-AC94-33BB32A71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5" y="2417451"/>
            <a:ext cx="4660377" cy="7795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C55FE8-C18F-E5BF-C1AE-39E125A0F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8556" y="4014432"/>
            <a:ext cx="6025896" cy="105333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E68B12B-6905-3073-9776-DE2BAF2019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2288" y="279158"/>
            <a:ext cx="1257475" cy="15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5496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37064-D67B-B3E5-ABDA-357483C62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75C8A89-415F-D463-F120-B4EF2BDF455F}"/>
              </a:ext>
            </a:extLst>
          </p:cNvPr>
          <p:cNvSpPr txBox="1"/>
          <p:nvPr/>
        </p:nvSpPr>
        <p:spPr>
          <a:xfrm>
            <a:off x="2862072" y="150983"/>
            <a:ext cx="6885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Mini-Batch Gradient Descent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1212BF-1EF5-F453-5836-B6473EE8EA0E}"/>
              </a:ext>
            </a:extLst>
          </p:cNvPr>
          <p:cNvSpPr txBox="1"/>
          <p:nvPr/>
        </p:nvSpPr>
        <p:spPr>
          <a:xfrm>
            <a:off x="210312" y="1378958"/>
            <a:ext cx="673912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4.3 — Compute gradients (batch average)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4.4 — Update parameters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Update happens after each mini-batch.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DADCC8-D899-3832-27E6-6E0B0074F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5451" y="1901186"/>
            <a:ext cx="5299692" cy="19786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95C9CAA-F0EC-5C3A-16C7-48E8A865D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5467" y="4296990"/>
            <a:ext cx="3877546" cy="19786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054E520-6D4B-4D7C-AA4A-C299ECEFEB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2288" y="279158"/>
            <a:ext cx="1257475" cy="15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4523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2DFDE-4F89-3307-0B86-16371BDE2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F22D386-303D-3216-D192-3812EE18C334}"/>
              </a:ext>
            </a:extLst>
          </p:cNvPr>
          <p:cNvSpPr txBox="1"/>
          <p:nvPr/>
        </p:nvSpPr>
        <p:spPr>
          <a:xfrm>
            <a:off x="2862072" y="150983"/>
            <a:ext cx="6885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Mini-Batch Gradient Descent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098BEF-F56D-CDA5-7330-064FC89E7A2C}"/>
              </a:ext>
            </a:extLst>
          </p:cNvPr>
          <p:cNvSpPr txBox="1"/>
          <p:nvPr/>
        </p:nvSpPr>
        <p:spPr>
          <a:xfrm>
            <a:off x="210312" y="1378958"/>
            <a:ext cx="77175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5 — Move to next batch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Repeat until all batches finished →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 epoch complete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EFC3ED-9324-8B23-99FA-77B6BAC8F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2288" y="279158"/>
            <a:ext cx="1257475" cy="15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5483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2A8B2-152F-7195-1EE2-20AF9B7FA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36D6F6E-2B6F-38E0-5BFA-61C65A45DC19}"/>
              </a:ext>
            </a:extLst>
          </p:cNvPr>
          <p:cNvSpPr txBox="1"/>
          <p:nvPr/>
        </p:nvSpPr>
        <p:spPr>
          <a:xfrm>
            <a:off x="2862072" y="150983"/>
            <a:ext cx="6885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Mini-Batch Gradient Descent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EC3410E-E0AC-7E75-A91A-51172E02A4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9911502"/>
              </p:ext>
            </p:extLst>
          </p:nvPr>
        </p:nvGraphicFramePr>
        <p:xfrm>
          <a:off x="3069336" y="1956816"/>
          <a:ext cx="5370576" cy="1828800"/>
        </p:xfrm>
        <a:graphic>
          <a:graphicData uri="http://schemas.openxmlformats.org/drawingml/2006/table">
            <a:tbl>
              <a:tblPr/>
              <a:tblGrid>
                <a:gridCol w="2535936">
                  <a:extLst>
                    <a:ext uri="{9D8B030D-6E8A-4147-A177-3AD203B41FA5}">
                      <a16:colId xmlns:a16="http://schemas.microsoft.com/office/drawing/2014/main" val="290692185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9155548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Batch Size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Effect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7195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Small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Better generalization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4378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Large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Faster computation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4485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Too large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Poor learning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5939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8041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7630E-D52C-8970-53CD-B142EFCAB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AC13EE3-900C-4443-69DC-893E37D10B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0108745"/>
              </p:ext>
            </p:extLst>
          </p:nvPr>
        </p:nvGraphicFramePr>
        <p:xfrm>
          <a:off x="838200" y="2428526"/>
          <a:ext cx="10515600" cy="27432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75813411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3630684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627027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992319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Batch GD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SGD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Mini-Batch GD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204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Data 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 sample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Small batch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180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Speed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Very 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9953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Very stable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Noisy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Balanced 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2920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GPU friendly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Poor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Poor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Excellent 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7398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Industry usage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Standard</a:t>
                      </a: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 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8534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06326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D2BCC-6CA2-4612-1C44-7A0FD5BC3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53681B-BEA4-591E-EBCF-A8F7CD34AF20}"/>
              </a:ext>
            </a:extLst>
          </p:cNvPr>
          <p:cNvSpPr txBox="1"/>
          <p:nvPr/>
        </p:nvSpPr>
        <p:spPr>
          <a:xfrm>
            <a:off x="3483864" y="969264"/>
            <a:ext cx="8278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1412361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94083-78DF-C18B-29FA-6F55E0B23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2733CF2-17E1-657A-8CF3-20FE3944ECBE}"/>
              </a:ext>
            </a:extLst>
          </p:cNvPr>
          <p:cNvSpPr txBox="1"/>
          <p:nvPr/>
        </p:nvSpPr>
        <p:spPr>
          <a:xfrm>
            <a:off x="2862072" y="150983"/>
            <a:ext cx="6885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Mini-Batch Gradient Descent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66B4BB-63A6-FCF8-E646-9A11A7682F04}"/>
              </a:ext>
            </a:extLst>
          </p:cNvPr>
          <p:cNvSpPr txBox="1"/>
          <p:nvPr/>
        </p:nvSpPr>
        <p:spPr>
          <a:xfrm>
            <a:off x="1051560" y="1139643"/>
            <a:ext cx="815187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Deep Learning Uses Mini-Batch GD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Neural networks require: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millions of samples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GPU parallelism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frequent updates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Mini-batch enables: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matrix operations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GPU acceleration</a:t>
            </a:r>
          </a:p>
        </p:txBody>
      </p:sp>
    </p:spTree>
    <p:extLst>
      <p:ext uri="{BB962C8B-B14F-4D97-AF65-F5344CB8AC3E}">
        <p14:creationId xmlns:p14="http://schemas.microsoft.com/office/powerpoint/2010/main" val="38601832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81395" y="1005533"/>
            <a:ext cx="10631979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Challenges of SGD</a:t>
            </a:r>
          </a:p>
          <a:p>
            <a:pPr fontAlgn="base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Noisy Convergence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Since the gradient is estimated based on a single data point (or a small batch), the updates can be noisy, causing the cost function to fluctuate rather than steadily decrease. This makes convergence slower and more erratic than in batch gradient descent.</a:t>
            </a:r>
          </a:p>
          <a:p>
            <a:pPr fontAlgn="base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fontAlgn="base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Learning Rate Tuning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SGD is highly sensitive to the choice of learning rate. A learning rate that is too large may cause the algorithm to diverge while one that is too small can slow down convergence. Adaptive methods like Adam and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RMSprop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address this by adjusting the learning rate dynamically during training.</a:t>
            </a:r>
          </a:p>
          <a:p>
            <a:pPr fontAlgn="base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fontAlgn="base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Long Training Times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While each individual update is fast, the convergence might take a longer time overall since the steps are more erratic compared to batch gradient descent.</a:t>
            </a:r>
          </a:p>
        </p:txBody>
      </p:sp>
    </p:spTree>
    <p:extLst>
      <p:ext uri="{BB962C8B-B14F-4D97-AF65-F5344CB8AC3E}">
        <p14:creationId xmlns:p14="http://schemas.microsoft.com/office/powerpoint/2010/main" val="2821956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2FE76-D580-9068-C451-7535C32C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52EEE62-CF19-9EE0-E4D2-7F9C16B8046B}"/>
              </a:ext>
            </a:extLst>
          </p:cNvPr>
          <p:cNvSpPr txBox="1"/>
          <p:nvPr/>
        </p:nvSpPr>
        <p:spPr>
          <a:xfrm>
            <a:off x="3028950" y="85725"/>
            <a:ext cx="64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Heading Goes Here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60ACD6-1EC9-227E-5DA1-EBD6C3DF7290}"/>
              </a:ext>
            </a:extLst>
          </p:cNvPr>
          <p:cNvSpPr txBox="1"/>
          <p:nvPr/>
        </p:nvSpPr>
        <p:spPr>
          <a:xfrm>
            <a:off x="238125" y="1244739"/>
            <a:ext cx="5029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Fhdsklf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Fjdsklf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Fjskldf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3765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16378" y="-12408920"/>
            <a:ext cx="11538065" cy="205902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import </a:t>
            </a:r>
            <a:r>
              <a:rPr lang="en-US" sz="12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numpy</a:t>
            </a:r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as np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def</a:t>
            </a:r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stochastic_gradient_descent</a:t>
            </a:r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(X, y, </a:t>
            </a:r>
            <a:r>
              <a:rPr lang="en-US" sz="12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lr</a:t>
            </a:r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=0.01, epochs=100, </a:t>
            </a:r>
            <a:r>
              <a:rPr lang="en-US" sz="12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tol</a:t>
            </a:r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=1e-6):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“””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Perform Stochastic Gradient Descent (SGD) to fit a line y = w*x + b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Parameters: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X (</a:t>
            </a:r>
            <a:r>
              <a:rPr lang="en-US" sz="12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ndarray</a:t>
            </a:r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): Input features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y (</a:t>
            </a:r>
            <a:r>
              <a:rPr lang="en-US" sz="12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ndarray</a:t>
            </a:r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): Target values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</a:t>
            </a:r>
            <a:r>
              <a:rPr lang="en-US" sz="12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lr</a:t>
            </a:r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(float): Learning rate (step size for updates)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epochs (</a:t>
            </a:r>
            <a:r>
              <a:rPr lang="en-US" sz="12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int</a:t>
            </a:r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): Number of iterations through the dataset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Returns: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w (float): Learned weight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b (float): Learned bias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“””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# Initialize parameters randomly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w = </a:t>
            </a:r>
            <a:r>
              <a:rPr lang="en-US" sz="12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np.random.randn</a:t>
            </a:r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()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b = </a:t>
            </a:r>
            <a:r>
              <a:rPr lang="en-US" sz="12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np.random.randn</a:t>
            </a:r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()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n = </a:t>
            </a:r>
            <a:r>
              <a:rPr lang="en-US" sz="12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len</a:t>
            </a:r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(X)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</a:t>
            </a:r>
            <a:r>
              <a:rPr lang="en-US" sz="12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prev_loss</a:t>
            </a:r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float(‘</a:t>
            </a:r>
            <a:r>
              <a:rPr lang="en-US" sz="12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inf</a:t>
            </a:r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’)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for epoch in range(epochs):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# Shuffle the data for each epoch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indices = </a:t>
            </a:r>
            <a:r>
              <a:rPr lang="en-US" sz="12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np.arange</a:t>
            </a:r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(n)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</a:t>
            </a:r>
            <a:r>
              <a:rPr lang="en-US" sz="12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np.random.shuffle</a:t>
            </a:r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(indices)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for </a:t>
            </a:r>
            <a:r>
              <a:rPr lang="en-US" sz="12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</a:t>
            </a:r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indices: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xi = X[</a:t>
            </a:r>
            <a:r>
              <a:rPr lang="en-US" sz="12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</a:t>
            </a:r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]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</a:t>
            </a:r>
            <a:r>
              <a:rPr lang="en-US" sz="12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yi</a:t>
            </a:r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y[</a:t>
            </a:r>
            <a:r>
              <a:rPr lang="en-US" sz="12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</a:t>
            </a:r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]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# Prediction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</a:t>
            </a:r>
            <a:r>
              <a:rPr lang="en-US" sz="12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y_pred</a:t>
            </a:r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w * xi + b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# Compute gradients (derivatives)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</a:t>
            </a:r>
            <a:r>
              <a:rPr lang="en-US" sz="12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dw</a:t>
            </a:r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-2 * xi * (</a:t>
            </a:r>
            <a:r>
              <a:rPr lang="en-US" sz="12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yi</a:t>
            </a:r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- </a:t>
            </a:r>
            <a:r>
              <a:rPr lang="en-US" sz="12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y_pred</a:t>
            </a:r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  # derivative </a:t>
            </a:r>
            <a:r>
              <a:rPr lang="en-US" sz="12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wrt</a:t>
            </a:r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</a:t>
            </a:r>
            <a:r>
              <a:rPr lang="en-US" sz="12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db</a:t>
            </a:r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-2 * (</a:t>
            </a:r>
            <a:r>
              <a:rPr lang="en-US" sz="12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yi</a:t>
            </a:r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- </a:t>
            </a:r>
            <a:r>
              <a:rPr lang="en-US" sz="12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y_pred</a:t>
            </a:r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       # derivative </a:t>
            </a:r>
            <a:r>
              <a:rPr lang="en-US" sz="12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wrt</a:t>
            </a:r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# Update parameters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w -= </a:t>
            </a:r>
            <a:r>
              <a:rPr lang="en-US" sz="12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lr</a:t>
            </a:r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* </a:t>
            </a:r>
            <a:r>
              <a:rPr lang="en-US" sz="12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dw</a:t>
            </a:r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b -= </a:t>
            </a:r>
            <a:r>
              <a:rPr lang="en-US" sz="12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lr</a:t>
            </a:r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* </a:t>
            </a:r>
            <a:r>
              <a:rPr lang="en-US" sz="12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db</a:t>
            </a:r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# Compute loss at the end of the epoch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loss = </a:t>
            </a:r>
            <a:r>
              <a:rPr lang="en-US" sz="12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np.mean</a:t>
            </a:r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((y - (w*X + b))**2)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# Check stopping condition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if abs(</a:t>
            </a:r>
            <a:r>
              <a:rPr lang="en-US" sz="12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prev_loss</a:t>
            </a:r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- loss) &lt; </a:t>
            </a:r>
            <a:r>
              <a:rPr lang="en-US" sz="12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tol</a:t>
            </a:r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print(</a:t>
            </a:r>
            <a:r>
              <a:rPr lang="en-US" sz="12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f”Stopped</a:t>
            </a:r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early at epoch {epoch+1}”)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break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 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</a:t>
            </a:r>
            <a:r>
              <a:rPr lang="en-US" sz="12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prev_loss</a:t>
            </a:r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loss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return w, b</a:t>
            </a:r>
          </a:p>
        </p:txBody>
      </p:sp>
    </p:spTree>
    <p:extLst>
      <p:ext uri="{BB962C8B-B14F-4D97-AF65-F5344CB8AC3E}">
        <p14:creationId xmlns:p14="http://schemas.microsoft.com/office/powerpoint/2010/main" val="3228533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274</TotalTime>
  <Words>1401</Words>
  <Application>Microsoft Office PowerPoint</Application>
  <PresentationFormat>Widescreen</PresentationFormat>
  <Paragraphs>372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Calibri (Body)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64</cp:revision>
  <dcterms:created xsi:type="dcterms:W3CDTF">2025-09-22T02:44:38Z</dcterms:created>
  <dcterms:modified xsi:type="dcterms:W3CDTF">2026-02-25T03:04:59Z</dcterms:modified>
</cp:coreProperties>
</file>