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57" r:id="rId2"/>
    <p:sldId id="399" r:id="rId3"/>
    <p:sldId id="404" r:id="rId4"/>
    <p:sldId id="406" r:id="rId5"/>
    <p:sldId id="403" r:id="rId6"/>
    <p:sldId id="270" r:id="rId7"/>
    <p:sldId id="271" r:id="rId8"/>
    <p:sldId id="405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3028950" y="1247013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R-Square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2AD5D-00C9-794D-F72A-AF30B703F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BFF8D721-5363-FF21-D77E-5775BE398D6B}"/>
              </a:ext>
            </a:extLst>
          </p:cNvPr>
          <p:cNvSpPr txBox="1"/>
          <p:nvPr/>
        </p:nvSpPr>
        <p:spPr>
          <a:xfrm>
            <a:off x="91440" y="234304"/>
            <a:ext cx="99943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Coefficient of Determination (R² Score):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R-square measures how much of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variance in Y is explained by the model.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A5B49B2-35A1-54A0-E0A2-009E3CA69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496" y="1644858"/>
            <a:ext cx="2061799" cy="75961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9EC3063-AD15-652D-C379-0D488365E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593" y="1657120"/>
            <a:ext cx="5185167" cy="7596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2A224C-C7C3-BFCF-1E41-BF4088644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02" y="2878726"/>
            <a:ext cx="4308509" cy="31250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C3796A-458B-3709-FB34-0508C0BA2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1839" y="2878727"/>
            <a:ext cx="4804348" cy="312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70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50EFE-7DDB-01EF-4266-7700C61FC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44924B5-EC7B-2733-0DF1-3D3CCA0F01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0175134"/>
                  </p:ext>
                </p:extLst>
              </p:nvPr>
            </p:nvGraphicFramePr>
            <p:xfrm>
              <a:off x="121920" y="266502"/>
              <a:ext cx="4632960" cy="2690495"/>
            </p:xfrm>
            <a:graphic>
              <a:graphicData uri="http://schemas.openxmlformats.org/drawingml/2006/table">
                <a:tbl>
                  <a:tblPr>
                    <a:tableStyleId>{72833802-FEF1-4C79-8D5D-14CF1EAF98D9}</a:tableStyleId>
                  </a:tblPr>
                  <a:tblGrid>
                    <a:gridCol w="1495431">
                      <a:extLst>
                        <a:ext uri="{9D8B030D-6E8A-4147-A177-3AD203B41FA5}">
                          <a16:colId xmlns:a16="http://schemas.microsoft.com/office/drawing/2014/main" val="2329463219"/>
                        </a:ext>
                      </a:extLst>
                    </a:gridCol>
                    <a:gridCol w="975097">
                      <a:extLst>
                        <a:ext uri="{9D8B030D-6E8A-4147-A177-3AD203B41FA5}">
                          <a16:colId xmlns:a16="http://schemas.microsoft.com/office/drawing/2014/main" val="169865549"/>
                        </a:ext>
                      </a:extLst>
                    </a:gridCol>
                    <a:gridCol w="2162432">
                      <a:extLst>
                        <a:ext uri="{9D8B030D-6E8A-4147-A177-3AD203B41FA5}">
                          <a16:colId xmlns:a16="http://schemas.microsoft.com/office/drawing/2014/main" val="115860103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Hours Studied (x)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Score (y)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Predicted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US" sz="2000" b="1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135567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74463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8764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6579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837029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08966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44924B5-EC7B-2733-0DF1-3D3CCA0F01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0175134"/>
                  </p:ext>
                </p:extLst>
              </p:nvPr>
            </p:nvGraphicFramePr>
            <p:xfrm>
              <a:off x="121920" y="266502"/>
              <a:ext cx="4632960" cy="2690495"/>
            </p:xfrm>
            <a:graphic>
              <a:graphicData uri="http://schemas.openxmlformats.org/drawingml/2006/table">
                <a:tbl>
                  <a:tblPr>
                    <a:tableStyleId>{72833802-FEF1-4C79-8D5D-14CF1EAF98D9}</a:tableStyleId>
                  </a:tblPr>
                  <a:tblGrid>
                    <a:gridCol w="1495431">
                      <a:extLst>
                        <a:ext uri="{9D8B030D-6E8A-4147-A177-3AD203B41FA5}">
                          <a16:colId xmlns:a16="http://schemas.microsoft.com/office/drawing/2014/main" val="2329463219"/>
                        </a:ext>
                      </a:extLst>
                    </a:gridCol>
                    <a:gridCol w="975097">
                      <a:extLst>
                        <a:ext uri="{9D8B030D-6E8A-4147-A177-3AD203B41FA5}">
                          <a16:colId xmlns:a16="http://schemas.microsoft.com/office/drawing/2014/main" val="169865549"/>
                        </a:ext>
                      </a:extLst>
                    </a:gridCol>
                    <a:gridCol w="2162432">
                      <a:extLst>
                        <a:ext uri="{9D8B030D-6E8A-4147-A177-3AD203B41FA5}">
                          <a16:colId xmlns:a16="http://schemas.microsoft.com/office/drawing/2014/main" val="1158601032"/>
                        </a:ext>
                      </a:extLst>
                    </a:gridCol>
                  </a:tblGrid>
                  <a:tr h="70929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Hours Studied (x)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Score (y)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085" t="-4274" b="-2931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55671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744638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87644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6579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837029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08966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6AC9C96-1903-6B75-5A4F-3E9DE8D2336F}"/>
              </a:ext>
            </a:extLst>
          </p:cNvPr>
          <p:cNvSpPr txBox="1"/>
          <p:nvPr/>
        </p:nvSpPr>
        <p:spPr>
          <a:xfrm>
            <a:off x="7013448" y="1389888"/>
            <a:ext cx="3743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R-square value ?</a:t>
            </a:r>
          </a:p>
        </p:txBody>
      </p:sp>
    </p:spTree>
    <p:extLst>
      <p:ext uri="{BB962C8B-B14F-4D97-AF65-F5344CB8AC3E}">
        <p14:creationId xmlns:p14="http://schemas.microsoft.com/office/powerpoint/2010/main" val="274944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2558A-8992-0568-CB2C-0486207EA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EBC5157-AB61-E61E-0BDF-3DE715CBA6C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1920" y="266502"/>
              <a:ext cx="8912352" cy="3086735"/>
            </p:xfrm>
            <a:graphic>
              <a:graphicData uri="http://schemas.openxmlformats.org/drawingml/2006/table">
                <a:tbl>
                  <a:tblPr>
                    <a:tableStyleId>{72833802-FEF1-4C79-8D5D-14CF1EAF98D9}</a:tableStyleId>
                  </a:tblPr>
                  <a:tblGrid>
                    <a:gridCol w="1495431">
                      <a:extLst>
                        <a:ext uri="{9D8B030D-6E8A-4147-A177-3AD203B41FA5}">
                          <a16:colId xmlns:a16="http://schemas.microsoft.com/office/drawing/2014/main" val="2329463219"/>
                        </a:ext>
                      </a:extLst>
                    </a:gridCol>
                    <a:gridCol w="975097">
                      <a:extLst>
                        <a:ext uri="{9D8B030D-6E8A-4147-A177-3AD203B41FA5}">
                          <a16:colId xmlns:a16="http://schemas.microsoft.com/office/drawing/2014/main" val="169865549"/>
                        </a:ext>
                      </a:extLst>
                    </a:gridCol>
                    <a:gridCol w="2162432">
                      <a:extLst>
                        <a:ext uri="{9D8B030D-6E8A-4147-A177-3AD203B41FA5}">
                          <a16:colId xmlns:a16="http://schemas.microsoft.com/office/drawing/2014/main" val="1158601032"/>
                        </a:ext>
                      </a:extLst>
                    </a:gridCol>
                    <a:gridCol w="2395728">
                      <a:extLst>
                        <a:ext uri="{9D8B030D-6E8A-4147-A177-3AD203B41FA5}">
                          <a16:colId xmlns:a16="http://schemas.microsoft.com/office/drawing/2014/main" val="4210339888"/>
                        </a:ext>
                      </a:extLst>
                    </a:gridCol>
                    <a:gridCol w="1883664">
                      <a:extLst>
                        <a:ext uri="{9D8B030D-6E8A-4147-A177-3AD203B41FA5}">
                          <a16:colId xmlns:a16="http://schemas.microsoft.com/office/drawing/2014/main" val="407974008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Hours Studied (x)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Score (y)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Predicted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acc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  <m:r>
                                <a:rPr lang="en-US" sz="2000" b="1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chemeClr val="accent4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chemeClr val="accent4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chemeClr val="accent4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chemeClr val="accent4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chemeClr val="accent4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chemeClr val="accent4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chemeClr val="accent4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2000" b="1" i="0" smtClean="0">
                                    <a:solidFill>
                                      <a:schemeClr val="accent4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1" i="1">
                                        <a:solidFill>
                                          <a:schemeClr val="accent4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b="1" i="1">
                                            <a:solidFill>
                                              <a:schemeClr val="accent4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1" i="1" smtClean="0">
                                            <a:solidFill>
                                              <a:schemeClr val="accent4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chemeClr val="accent4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1" dirty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b="1" i="0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b="1" i="1" baseline="0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0" baseline="0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𝐘</m:t>
                                  </m:r>
                                </m:e>
                              </m:acc>
                            </m:oMath>
                          </a14:m>
                          <a:endParaRPr lang="en-US" sz="2000" b="1" dirty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135567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=  5 – 7   = - 2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 – 31 = -26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74463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=  30 – 19 = + 11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30 – 31 = -1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8764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=  20 – 31 = - 11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20 – 31 = -11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6579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=  40 – 43 = - 3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40 – 31 = 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837029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lang="en-US" sz="2000" b="1" i="1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=  60 – 55 = + 5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60 – 31 = 29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089661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20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b="1" i="1" baseline="0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0" baseline="0" smtClean="0">
                                      <a:solidFill>
                                        <a:schemeClr val="accent4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𝐘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b="1" baseline="0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= 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2000" b="1" dirty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RSS = 280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TSS = 1720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011712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EBC5157-AB61-E61E-0BDF-3DE715CBA6C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1920" y="266502"/>
              <a:ext cx="8912352" cy="3086735"/>
            </p:xfrm>
            <a:graphic>
              <a:graphicData uri="http://schemas.openxmlformats.org/drawingml/2006/table">
                <a:tbl>
                  <a:tblPr>
                    <a:tableStyleId>{72833802-FEF1-4C79-8D5D-14CF1EAF98D9}</a:tableStyleId>
                  </a:tblPr>
                  <a:tblGrid>
                    <a:gridCol w="1495431">
                      <a:extLst>
                        <a:ext uri="{9D8B030D-6E8A-4147-A177-3AD203B41FA5}">
                          <a16:colId xmlns:a16="http://schemas.microsoft.com/office/drawing/2014/main" val="2329463219"/>
                        </a:ext>
                      </a:extLst>
                    </a:gridCol>
                    <a:gridCol w="975097">
                      <a:extLst>
                        <a:ext uri="{9D8B030D-6E8A-4147-A177-3AD203B41FA5}">
                          <a16:colId xmlns:a16="http://schemas.microsoft.com/office/drawing/2014/main" val="169865549"/>
                        </a:ext>
                      </a:extLst>
                    </a:gridCol>
                    <a:gridCol w="2162432">
                      <a:extLst>
                        <a:ext uri="{9D8B030D-6E8A-4147-A177-3AD203B41FA5}">
                          <a16:colId xmlns:a16="http://schemas.microsoft.com/office/drawing/2014/main" val="1158601032"/>
                        </a:ext>
                      </a:extLst>
                    </a:gridCol>
                    <a:gridCol w="2395728">
                      <a:extLst>
                        <a:ext uri="{9D8B030D-6E8A-4147-A177-3AD203B41FA5}">
                          <a16:colId xmlns:a16="http://schemas.microsoft.com/office/drawing/2014/main" val="4210339888"/>
                        </a:ext>
                      </a:extLst>
                    </a:gridCol>
                    <a:gridCol w="1883664">
                      <a:extLst>
                        <a:ext uri="{9D8B030D-6E8A-4147-A177-3AD203B41FA5}">
                          <a16:colId xmlns:a16="http://schemas.microsoft.com/office/drawing/2014/main" val="4079740086"/>
                        </a:ext>
                      </a:extLst>
                    </a:gridCol>
                  </a:tblGrid>
                  <a:tr h="70929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Hours Studied (x)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Score (y)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085" t="-4274" r="-197746" b="-348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3384" t="-4274" r="-78626" b="-348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3139" t="-4274" b="-3487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55671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3384" t="-187692" r="-78626" b="-5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 – 31 = -26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744638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19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3384" t="-287692" r="-78626" b="-4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30 – 31 = -1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587644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31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3384" t="-387692" r="-78626" b="-3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20 – 31 = -11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65790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3384" t="-480303" r="-78626" b="-2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40 – 31 = 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2837029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60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55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3384" t="-589231" r="-78626" b="-1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60 – 31 = 29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089661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20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3125" t="-689231" r="-660625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2000" b="1" dirty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RSS = 280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TSS = 1720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901171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46B9EE2-A62C-D4A2-670E-D248DE0D6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" y="3426390"/>
            <a:ext cx="8632371" cy="20967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D2EBD2-9B1D-AC2B-46E6-A8A1C5DD2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56" y="5843017"/>
            <a:ext cx="3308921" cy="706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9FFBBC-7AEB-1455-0AEC-C1B026858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515" y="6071483"/>
            <a:ext cx="1394100" cy="21890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A7B09F8-0611-55AD-8212-800ECA706D5E}"/>
              </a:ext>
            </a:extLst>
          </p:cNvPr>
          <p:cNvSpPr txBox="1"/>
          <p:nvPr/>
        </p:nvSpPr>
        <p:spPr>
          <a:xfrm>
            <a:off x="5724144" y="5768078"/>
            <a:ext cx="4480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explains about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83.72%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the variance in scores.</a:t>
            </a:r>
          </a:p>
        </p:txBody>
      </p:sp>
    </p:spTree>
    <p:extLst>
      <p:ext uri="{BB962C8B-B14F-4D97-AF65-F5344CB8AC3E}">
        <p14:creationId xmlns:p14="http://schemas.microsoft.com/office/powerpoint/2010/main" val="2177385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4C472-F592-1C52-2D7C-BB6ABC9BD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93D628DE-B86B-C96D-DE2D-A2E34692436B}"/>
              </a:ext>
            </a:extLst>
          </p:cNvPr>
          <p:cNvSpPr txBox="1"/>
          <p:nvPr/>
        </p:nvSpPr>
        <p:spPr>
          <a:xfrm>
            <a:off x="91440" y="234304"/>
            <a:ext cx="112745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Ranges from -∞ to 1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(Higher is better)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R² = 1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Perfect model (explains all variance).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R² = 0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Model performs as badly as the mean prediction model (i.e. Mean of target).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R² &lt; 0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Model performs worse than a simple mean prediction (bad model).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Above 0.9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Excellent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0.7 - 0.9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→ Good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0.5 - 0.7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→ Moderate</a:t>
            </a:r>
          </a:p>
          <a:p>
            <a:r>
              <a:rPr lang="en-US" sz="2400" b="1" dirty="0">
                <a:solidFill>
                  <a:srgbClr val="FFC000"/>
                </a:solidFill>
              </a:rPr>
              <a:t>&lt; 0.5</a:t>
            </a:r>
            <a:r>
              <a:rPr lang="en-US" sz="2400" dirty="0">
                <a:solidFill>
                  <a:srgbClr val="FFC000"/>
                </a:solidFill>
              </a:rPr>
              <a:t>         → Poor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105BDB-5930-9C1B-5B97-9C724C56A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766" y="234304"/>
            <a:ext cx="2061799" cy="75961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9AE867-299B-C522-EE7E-806896C5D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019583"/>
              </p:ext>
            </p:extLst>
          </p:nvPr>
        </p:nvGraphicFramePr>
        <p:xfrm>
          <a:off x="6267450" y="3059763"/>
          <a:ext cx="4687062" cy="338328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1468374">
                  <a:extLst>
                    <a:ext uri="{9D8B030D-6E8A-4147-A177-3AD203B41FA5}">
                      <a16:colId xmlns:a16="http://schemas.microsoft.com/office/drawing/2014/main" val="2329463219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169865549"/>
                    </a:ext>
                  </a:extLst>
                </a:gridCol>
                <a:gridCol w="1819656">
                  <a:extLst>
                    <a:ext uri="{9D8B030D-6E8A-4147-A177-3AD203B41FA5}">
                      <a16:colId xmlns:a16="http://schemas.microsoft.com/office/drawing/2014/main" val="1158601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Hours </a:t>
                      </a:r>
                    </a:p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Studied</a:t>
                      </a:r>
                    </a:p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(x)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Score</a:t>
                      </a:r>
                    </a:p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(y)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Baseline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Predicted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(Mean)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556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744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876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657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370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89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Mean = 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510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61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216" y="256032"/>
            <a:ext cx="7429782" cy="61462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002" y="242190"/>
            <a:ext cx="2976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from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n/b</a:t>
            </a:r>
          </a:p>
        </p:txBody>
      </p:sp>
    </p:spTree>
    <p:extLst>
      <p:ext uri="{BB962C8B-B14F-4D97-AF65-F5344CB8AC3E}">
        <p14:creationId xmlns:p14="http://schemas.microsoft.com/office/powerpoint/2010/main" val="645220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613" y="1402138"/>
            <a:ext cx="7192076" cy="46568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B12164-9541-BD7A-D5D8-E560F4D7F5CD}"/>
              </a:ext>
            </a:extLst>
          </p:cNvPr>
          <p:cNvSpPr txBox="1"/>
          <p:nvPr/>
        </p:nvSpPr>
        <p:spPr>
          <a:xfrm>
            <a:off x="151002" y="242190"/>
            <a:ext cx="29768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from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n/b</a:t>
            </a:r>
          </a:p>
        </p:txBody>
      </p:sp>
    </p:spTree>
    <p:extLst>
      <p:ext uri="{BB962C8B-B14F-4D97-AF65-F5344CB8AC3E}">
        <p14:creationId xmlns:p14="http://schemas.microsoft.com/office/powerpoint/2010/main" val="3227640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35C7-66CB-8351-DD78-75F793E3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350C87-E619-795C-228B-B6A02828CE18}"/>
              </a:ext>
            </a:extLst>
          </p:cNvPr>
          <p:cNvSpPr txBox="1"/>
          <p:nvPr/>
        </p:nvSpPr>
        <p:spPr>
          <a:xfrm>
            <a:off x="151002" y="242190"/>
            <a:ext cx="1226104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R-square 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R-square when target scale is large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target values are large (like revenue in millions, billions,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etc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), MAE might look large numerically.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R² is scale-free, so easier to compare.</a:t>
            </a:r>
          </a:p>
        </p:txBody>
      </p:sp>
    </p:spTree>
    <p:extLst>
      <p:ext uri="{BB962C8B-B14F-4D97-AF65-F5344CB8AC3E}">
        <p14:creationId xmlns:p14="http://schemas.microsoft.com/office/powerpoint/2010/main" val="330302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325</TotalTime>
  <Words>365</Words>
  <Application>Microsoft Office PowerPoint</Application>
  <PresentationFormat>Widescreen</PresentationFormat>
  <Paragraphs>108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67</cp:revision>
  <dcterms:created xsi:type="dcterms:W3CDTF">2025-09-22T02:44:38Z</dcterms:created>
  <dcterms:modified xsi:type="dcterms:W3CDTF">2026-03-05T10:29:57Z</dcterms:modified>
</cp:coreProperties>
</file>