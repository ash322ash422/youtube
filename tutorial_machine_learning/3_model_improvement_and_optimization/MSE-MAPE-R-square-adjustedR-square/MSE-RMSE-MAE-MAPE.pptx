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7" r:id="rId2"/>
    <p:sldId id="393" r:id="rId3"/>
    <p:sldId id="406" r:id="rId4"/>
    <p:sldId id="411" r:id="rId5"/>
    <p:sldId id="404" r:id="rId6"/>
    <p:sldId id="400" r:id="rId7"/>
    <p:sldId id="405" r:id="rId8"/>
    <p:sldId id="401" r:id="rId9"/>
    <p:sldId id="264" r:id="rId10"/>
    <p:sldId id="408" r:id="rId11"/>
    <p:sldId id="412" r:id="rId12"/>
    <p:sldId id="259" r:id="rId13"/>
    <p:sldId id="385" r:id="rId14"/>
    <p:sldId id="409" r:id="rId15"/>
    <p:sldId id="4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1115568" y="1247013"/>
            <a:ext cx="938174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MSE – Mean Squared Error</a:t>
            </a:r>
          </a:p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RMSE – Root Mean Squared Error</a:t>
            </a:r>
          </a:p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MAE – Mean Absolute Error</a:t>
            </a:r>
          </a:p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MAPE – Mean Absolute Percentage Error</a:t>
            </a:r>
          </a:p>
          <a:p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2BC3F-51B8-F54D-C61C-5979EF493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1074CE76-101D-DF3B-2DDB-8144F63303CC}"/>
              </a:ext>
            </a:extLst>
          </p:cNvPr>
          <p:cNvSpPr txBox="1"/>
          <p:nvPr/>
        </p:nvSpPr>
        <p:spPr>
          <a:xfrm>
            <a:off x="0" y="152008"/>
            <a:ext cx="1044244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Baseline Model: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baseline model is a simple model used as a reference to determine whether a more complex model is an improvement.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A model that predicts the mean of the target variable for all observations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Any model should give results better than baseline model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A2C14B-312C-50A2-4F58-B348A1F15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458637"/>
              </p:ext>
            </p:extLst>
          </p:nvPr>
        </p:nvGraphicFramePr>
        <p:xfrm>
          <a:off x="5023866" y="2428827"/>
          <a:ext cx="4687062" cy="368808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1057731">
                  <a:extLst>
                    <a:ext uri="{9D8B030D-6E8A-4147-A177-3AD203B41FA5}">
                      <a16:colId xmlns:a16="http://schemas.microsoft.com/office/drawing/2014/main" val="2329463219"/>
                    </a:ext>
                  </a:extLst>
                </a:gridCol>
                <a:gridCol w="1007781">
                  <a:extLst>
                    <a:ext uri="{9D8B030D-6E8A-4147-A177-3AD203B41FA5}">
                      <a16:colId xmlns:a16="http://schemas.microsoft.com/office/drawing/2014/main" val="169865549"/>
                    </a:ext>
                  </a:extLst>
                </a:gridCol>
                <a:gridCol w="1310775">
                  <a:extLst>
                    <a:ext uri="{9D8B030D-6E8A-4147-A177-3AD203B41FA5}">
                      <a16:colId xmlns:a16="http://schemas.microsoft.com/office/drawing/2014/main" val="1158601032"/>
                    </a:ext>
                  </a:extLst>
                </a:gridCol>
                <a:gridCol w="1310775">
                  <a:extLst>
                    <a:ext uri="{9D8B030D-6E8A-4147-A177-3AD203B41FA5}">
                      <a16:colId xmlns:a16="http://schemas.microsoft.com/office/drawing/2014/main" val="37271433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Hours </a:t>
                      </a:r>
                    </a:p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Studied</a:t>
                      </a:r>
                    </a:p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Score</a:t>
                      </a:r>
                    </a:p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(y)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Baseline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Predicted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Some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556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44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876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657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370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89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Mean = 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510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531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11B1F-F815-80C8-75F5-804012552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C28549-6781-2B4C-5C17-A08A84C3DC19}"/>
                  </a:ext>
                </a:extLst>
              </p:cNvPr>
              <p:cNvSpPr txBox="1"/>
              <p:nvPr/>
            </p:nvSpPr>
            <p:spPr>
              <a:xfrm>
                <a:off x="318900" y="4920651"/>
                <a:ext cx="8678796" cy="1202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M</m:t>
                      </m:r>
                      <m:r>
                        <m:rPr>
                          <m:nor/>
                        </m:rPr>
                        <a:rPr lang="en-US" sz="2400" b="1" i="0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S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E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5−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30−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+…+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60−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56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C28549-6781-2B4C-5C17-A08A84C3D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00" y="4920651"/>
                <a:ext cx="8678796" cy="1202765"/>
              </a:xfrm>
              <a:prstGeom prst="rect">
                <a:avLst/>
              </a:prstGeom>
              <a:blipFill>
                <a:blip r:embed="rId2"/>
                <a:stretch>
                  <a:fillRect l="-1053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AB5E194A-20CA-5549-1CD7-635A1AEB0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933" y="650054"/>
            <a:ext cx="2962150" cy="8909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7D025CB-16FC-AFDC-8FA8-F9F029D4AB88}"/>
              </a:ext>
            </a:extLst>
          </p:cNvPr>
          <p:cNvSpPr txBox="1"/>
          <p:nvPr/>
        </p:nvSpPr>
        <p:spPr>
          <a:xfrm>
            <a:off x="0" y="152008"/>
            <a:ext cx="4107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Squared Error: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C73B387-1EC3-4277-8E3F-A67FD3528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727" y="0"/>
            <a:ext cx="5681273" cy="41854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D09FAAA-BDE8-5E1B-CAC8-367E16EF25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20995"/>
                  </p:ext>
                </p:extLst>
              </p:nvPr>
            </p:nvGraphicFramePr>
            <p:xfrm>
              <a:off x="49530" y="1733883"/>
              <a:ext cx="4623055" cy="2987040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276350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176273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Studied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Model Predict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D09FAAA-BDE8-5E1B-CAC8-367E16EF25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20995"/>
                  </p:ext>
                </p:extLst>
              </p:nvPr>
            </p:nvGraphicFramePr>
            <p:xfrm>
              <a:off x="49530" y="1733883"/>
              <a:ext cx="4623055" cy="2987040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276350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176273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Studied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605" t="-3030" b="-207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02290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57174-85FB-C46C-A244-43F85925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3702B1-863E-5E8E-8281-0CA1B60C0610}"/>
                  </a:ext>
                </a:extLst>
              </p:cNvPr>
              <p:cNvSpPr txBox="1"/>
              <p:nvPr/>
            </p:nvSpPr>
            <p:spPr>
              <a:xfrm>
                <a:off x="318900" y="4920651"/>
                <a:ext cx="8678796" cy="1943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M</m:t>
                      </m:r>
                      <m:r>
                        <m:rPr>
                          <m:nor/>
                        </m:rPr>
                        <a:rPr lang="en-US" sz="2400" b="1" i="0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S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E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5−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30−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+…+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60−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56</m:t>
                      </m:r>
                    </m:oMath>
                  </m:oMathPara>
                </a14:m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MSE</m:t>
                      </m:r>
                      <m:r>
                        <m:rPr>
                          <m:nor/>
                        </m:rPr>
                        <a:rPr lang="en-US" sz="2400" b="0" i="0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Baseline</m:t>
                      </m:r>
                      <m:r>
                        <m:rPr>
                          <m:nor/>
                        </m:rPr>
                        <a:rPr lang="en-US" sz="2400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5−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30−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+…+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60−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344.  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3702B1-863E-5E8E-8281-0CA1B60C0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00" y="4920651"/>
                <a:ext cx="8678796" cy="1943865"/>
              </a:xfrm>
              <a:prstGeom prst="rect">
                <a:avLst/>
              </a:prstGeom>
              <a:blipFill>
                <a:blip r:embed="rId2"/>
                <a:stretch>
                  <a:fillRect l="-1053" t="-2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5048C154-66B9-F5E2-89C4-563F12FE4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933" y="650054"/>
            <a:ext cx="2962150" cy="8909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99A33C9-5849-9970-807A-B9CA383F8561}"/>
              </a:ext>
            </a:extLst>
          </p:cNvPr>
          <p:cNvSpPr txBox="1"/>
          <p:nvPr/>
        </p:nvSpPr>
        <p:spPr>
          <a:xfrm>
            <a:off x="0" y="152008"/>
            <a:ext cx="6327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let’s compare MSE with baseline model: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DD948A7-BFB7-DC43-E5AC-A5FF715C8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727" y="0"/>
            <a:ext cx="5681273" cy="41854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092432B-CC72-D2EA-9A29-C665A2D4CC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0851426"/>
                  </p:ext>
                </p:extLst>
              </p:nvPr>
            </p:nvGraphicFramePr>
            <p:xfrm>
              <a:off x="49530" y="1733883"/>
              <a:ext cx="5802631" cy="2987040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276350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176273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  <a:gridCol w="1179576">
                      <a:extLst>
                        <a:ext uri="{9D8B030D-6E8A-4147-A177-3AD203B41FA5}">
                          <a16:colId xmlns:a16="http://schemas.microsoft.com/office/drawing/2014/main" val="420816264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Studied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Model Predict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Baseline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Model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092432B-CC72-D2EA-9A29-C665A2D4CC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0851426"/>
                  </p:ext>
                </p:extLst>
              </p:nvPr>
            </p:nvGraphicFramePr>
            <p:xfrm>
              <a:off x="49530" y="1733883"/>
              <a:ext cx="5802631" cy="2987040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276350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176273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  <a:gridCol w="1179576">
                      <a:extLst>
                        <a:ext uri="{9D8B030D-6E8A-4147-A177-3AD203B41FA5}">
                          <a16:colId xmlns:a16="http://schemas.microsoft.com/office/drawing/2014/main" val="4208162647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Studied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605" t="-3030" r="-54062" b="-2078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Baseline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Model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8DEBA6D-813A-149F-38A0-61667A16DD89}"/>
              </a:ext>
            </a:extLst>
          </p:cNvPr>
          <p:cNvSpPr txBox="1"/>
          <p:nvPr/>
        </p:nvSpPr>
        <p:spPr>
          <a:xfrm>
            <a:off x="8604504" y="5029200"/>
            <a:ext cx="2729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is better than baseline</a:t>
            </a:r>
          </a:p>
        </p:txBody>
      </p:sp>
    </p:spTree>
    <p:extLst>
      <p:ext uri="{BB962C8B-B14F-4D97-AF65-F5344CB8AC3E}">
        <p14:creationId xmlns:p14="http://schemas.microsoft.com/office/powerpoint/2010/main" val="1841670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01A40-0A22-D100-3D17-00EB98D1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09D9D2A-A0D6-E662-01B2-C2A4E3CD9C45}"/>
              </a:ext>
            </a:extLst>
          </p:cNvPr>
          <p:cNvSpPr txBox="1"/>
          <p:nvPr/>
        </p:nvSpPr>
        <p:spPr>
          <a:xfrm>
            <a:off x="81156" y="1740825"/>
            <a:ext cx="115774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unit is squared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so it’s harder to interpret directly.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Sensitive to large errors,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errors are squared. Outliers influences its value — a single big error can dominate the loss.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Penalizes larger errors more strongly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(because of squaring). If you want your model to care a lot about outliers or big mistakes, MSE is better.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Mathematically convenient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differentiable and smooth everywhere, which makes it easier for gradient-based optimization.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2EA20B-B8E6-1412-B736-5E1A77E59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933" y="714062"/>
            <a:ext cx="2962150" cy="8909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EF5E54D-AFDF-DD8F-3D64-AE1B2A84F6AC}"/>
              </a:ext>
            </a:extLst>
          </p:cNvPr>
          <p:cNvSpPr txBox="1"/>
          <p:nvPr/>
        </p:nvSpPr>
        <p:spPr>
          <a:xfrm>
            <a:off x="0" y="152008"/>
            <a:ext cx="4107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Squared Error:</a:t>
            </a:r>
          </a:p>
        </p:txBody>
      </p:sp>
    </p:spTree>
    <p:extLst>
      <p:ext uri="{BB962C8B-B14F-4D97-AF65-F5344CB8AC3E}">
        <p14:creationId xmlns:p14="http://schemas.microsoft.com/office/powerpoint/2010/main" val="238420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EDF5-9CF4-9DCE-547A-1F6C43B7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CD8953-E7B9-D43E-92EF-1D95D3F94538}"/>
                  </a:ext>
                </a:extLst>
              </p:cNvPr>
              <p:cNvSpPr txBox="1"/>
              <p:nvPr/>
            </p:nvSpPr>
            <p:spPr>
              <a:xfrm>
                <a:off x="264036" y="4813209"/>
                <a:ext cx="7023732" cy="161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MSE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5−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30−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+…+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60−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dirty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=56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RMSE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𝑀𝑆</m:t>
                        </m:r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rad>
                    <m:r>
                      <a:rPr lang="en-US" sz="2400" b="0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e>
                    </m:rad>
                    <m:r>
                      <a:rPr lang="en-US" sz="2400" b="0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=7.48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CD8953-E7B9-D43E-92EF-1D95D3F94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36" y="4813209"/>
                <a:ext cx="7023732" cy="1610634"/>
              </a:xfrm>
              <a:prstGeom prst="rect">
                <a:avLst/>
              </a:prstGeom>
              <a:blipFill>
                <a:blip r:embed="rId2"/>
                <a:stretch>
                  <a:fillRect l="-1301" t="-3030" b="-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4491C884-C2EF-1DE2-1B14-66103E778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288" y="683482"/>
            <a:ext cx="3105616" cy="9122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5CF2AB0-4FD5-51B0-108C-5A6FE6998733}"/>
              </a:ext>
            </a:extLst>
          </p:cNvPr>
          <p:cNvSpPr txBox="1"/>
          <p:nvPr/>
        </p:nvSpPr>
        <p:spPr>
          <a:xfrm>
            <a:off x="0" y="152008"/>
            <a:ext cx="4107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Root Mean Squared Error: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FFCD658-A67F-50A3-D7FE-3FF46E734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023" y="152008"/>
            <a:ext cx="5581977" cy="41122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74E0E98-F715-2B39-C01E-E2653BB4C2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8168077"/>
                  </p:ext>
                </p:extLst>
              </p:nvPr>
            </p:nvGraphicFramePr>
            <p:xfrm>
              <a:off x="49530" y="1660731"/>
              <a:ext cx="4623054" cy="2987040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276350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176272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Studied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Model Predict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74E0E98-F715-2B39-C01E-E2653BB4C2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8168077"/>
                  </p:ext>
                </p:extLst>
              </p:nvPr>
            </p:nvGraphicFramePr>
            <p:xfrm>
              <a:off x="49530" y="1660731"/>
              <a:ext cx="4623054" cy="2987040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276350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176272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Studied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605" t="-3030" b="-207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596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D7EF2-D3D8-47DA-0C73-BC11DE70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6739799-FFAF-EE83-6A68-CFCEA2B74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744" y="884097"/>
            <a:ext cx="3105616" cy="9122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E09AFDA-AD99-5C88-03CA-E377E1B569E7}"/>
              </a:ext>
            </a:extLst>
          </p:cNvPr>
          <p:cNvSpPr txBox="1"/>
          <p:nvPr/>
        </p:nvSpPr>
        <p:spPr>
          <a:xfrm>
            <a:off x="0" y="152008"/>
            <a:ext cx="4107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Root Mean Squared Error: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E29A18-0ABF-029D-CAE8-8A895E0E2212}"/>
              </a:ext>
            </a:extLst>
          </p:cNvPr>
          <p:cNvSpPr txBox="1"/>
          <p:nvPr/>
        </p:nvSpPr>
        <p:spPr>
          <a:xfrm>
            <a:off x="81156" y="1740825"/>
            <a:ext cx="104527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in same units as the target variable. So easy to interpret.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Robust to outliers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treats all errors linearly, so a few extreme values don’t overly affect the model.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85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BF7BE-B6FC-1E22-487F-BA0FB2D3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CB41A0-7F99-0A14-9DA7-D616C367A190}"/>
                  </a:ext>
                </a:extLst>
              </p:cNvPr>
              <p:cNvSpPr txBox="1"/>
              <p:nvPr/>
            </p:nvSpPr>
            <p:spPr>
              <a:xfrm>
                <a:off x="72012" y="4273713"/>
                <a:ext cx="8151014" cy="22714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 </a:t>
                </a: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MAE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=</m:t>
                      </m:r>
                      <m:r>
                        <m:rPr>
                          <m:nor/>
                        </m:rPr>
                        <a:rPr lang="en-US" sz="2400" b="0" i="0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5−7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| + |30−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19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| + |20−31| + |40−43| + |60−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55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|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=6.2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</a:rPr>
                  <a:t>Note: MAE is in the same unit as the target variable.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CB41A0-7F99-0A14-9DA7-D616C367A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2" y="4273713"/>
                <a:ext cx="8151014" cy="2271456"/>
              </a:xfrm>
              <a:prstGeom prst="rect">
                <a:avLst/>
              </a:prstGeom>
              <a:blipFill>
                <a:blip r:embed="rId2"/>
                <a:stretch>
                  <a:fillRect l="-1197" t="-2145" b="-5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E2AB63A2-D566-2506-D0FD-474199D62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039" y="367818"/>
            <a:ext cx="2879122" cy="9258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D079BB4-9693-884F-956F-BAEDE527AB7B}"/>
              </a:ext>
            </a:extLst>
          </p:cNvPr>
          <p:cNvSpPr txBox="1"/>
          <p:nvPr/>
        </p:nvSpPr>
        <p:spPr>
          <a:xfrm>
            <a:off x="64008" y="136986"/>
            <a:ext cx="4107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Absolute Error: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72F546B-EDD0-9F84-74D3-956471CA4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579" y="0"/>
            <a:ext cx="5647413" cy="41604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4CE41E7-D5B7-8491-ABBA-E842AC16BE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711598"/>
                  </p:ext>
                </p:extLst>
              </p:nvPr>
            </p:nvGraphicFramePr>
            <p:xfrm>
              <a:off x="113538" y="1276683"/>
              <a:ext cx="4687062" cy="2987040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468374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932688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Studied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Model Predict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4CE41E7-D5B7-8491-ABBA-E842AC16BE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711598"/>
                  </p:ext>
                </p:extLst>
              </p:nvPr>
            </p:nvGraphicFramePr>
            <p:xfrm>
              <a:off x="113538" y="1276683"/>
              <a:ext cx="4687062" cy="2987040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468374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932688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Studied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4787" t="-3030" b="-207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368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828" y="27668"/>
            <a:ext cx="8178220" cy="766989"/>
          </a:xfrm>
        </p:spPr>
        <p:txBody>
          <a:bodyPr>
            <a:normAutofit/>
          </a:bodyPr>
          <a:lstStyle/>
          <a:p>
            <a:r>
              <a:rPr lang="en-US" sz="2400" dirty="0"/>
              <a:t>Mean Absolute Percentage Error (</a:t>
            </a:r>
            <a:r>
              <a:rPr lang="en-US" sz="2400" b="1" dirty="0"/>
              <a:t>MAPE)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EB7876-51D9-9BDA-9869-A5519E3F0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10" y="637340"/>
            <a:ext cx="3305636" cy="10478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44BBBA2-7D61-A751-58DB-14BF6AFD1D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3514108"/>
                  </p:ext>
                </p:extLst>
              </p:nvPr>
            </p:nvGraphicFramePr>
            <p:xfrm>
              <a:off x="206828" y="1048083"/>
              <a:ext cx="4687062" cy="2987040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468374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972748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245940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Studied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Predicted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44BBBA2-7D61-A751-58DB-14BF6AFD1D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3514108"/>
                  </p:ext>
                </p:extLst>
              </p:nvPr>
            </p:nvGraphicFramePr>
            <p:xfrm>
              <a:off x="206828" y="1048083"/>
              <a:ext cx="4687062" cy="2987040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468374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972748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245940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Studied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8672" t="-3030" b="-208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CE6E6B5F-69F8-7B1B-00E9-559D7AC2E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18" y="4204922"/>
            <a:ext cx="9438744" cy="11503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4C78F13-C39C-0E5F-AA24-51D16882E0A2}"/>
              </a:ext>
            </a:extLst>
          </p:cNvPr>
          <p:cNvSpPr txBox="1"/>
          <p:nvPr/>
        </p:nvSpPr>
        <p:spPr>
          <a:xfrm>
            <a:off x="123444" y="5804654"/>
            <a:ext cx="8389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model’s predictions are off by about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29.5% on average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4959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C2BF7-0A4A-97C3-A658-9C678E161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1C76-EBC3-D6A7-C0CA-1C600D3FA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8" y="27668"/>
            <a:ext cx="8178220" cy="766989"/>
          </a:xfrm>
        </p:spPr>
        <p:txBody>
          <a:bodyPr>
            <a:normAutofit/>
          </a:bodyPr>
          <a:lstStyle/>
          <a:p>
            <a:r>
              <a:rPr lang="en-US" sz="2400" dirty="0"/>
              <a:t>Mean Absolute Percentage Error (</a:t>
            </a:r>
            <a:r>
              <a:rPr lang="en-US" sz="2400" b="1" dirty="0"/>
              <a:t>MAPE)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8EF00-9141-9FD8-D61B-3D237638E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10" y="637340"/>
            <a:ext cx="3305636" cy="1047896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AB50C781-EC46-4908-4871-EBA089CC5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14720"/>
            <a:ext cx="1200974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2 things to consider when using MAPE: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(Body)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Data should not contain zeros (Division by 0 gives error)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(Body)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All values 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should be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reasonably large, otherwise it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inflate percentage error (division by small number  -&gt; big number).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222495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94E54-1D69-2657-4258-3BA9C0E0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9103-DEA1-0C20-0710-5F241FE9C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8" y="27668"/>
            <a:ext cx="8178220" cy="766989"/>
          </a:xfrm>
        </p:spPr>
        <p:txBody>
          <a:bodyPr>
            <a:normAutofit/>
          </a:bodyPr>
          <a:lstStyle/>
          <a:p>
            <a:r>
              <a:rPr lang="en-US" sz="2400" dirty="0"/>
              <a:t>Mean Absolute Percentage Error (</a:t>
            </a:r>
            <a:r>
              <a:rPr lang="en-US" sz="2400" b="1" dirty="0"/>
              <a:t>MAPE)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7CAC88-FA80-5E86-BCF8-7DEB31A05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10" y="637340"/>
            <a:ext cx="3305636" cy="104789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9FE5A9-7406-8A84-F5DC-B02C6C48C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273823"/>
              </p:ext>
            </p:extLst>
          </p:nvPr>
        </p:nvGraphicFramePr>
        <p:xfrm>
          <a:off x="54062" y="2542216"/>
          <a:ext cx="11433048" cy="3017520"/>
        </p:xfrm>
        <a:graphic>
          <a:graphicData uri="http://schemas.openxmlformats.org/drawingml/2006/table">
            <a:tbl>
              <a:tblPr/>
              <a:tblGrid>
                <a:gridCol w="3009178">
                  <a:extLst>
                    <a:ext uri="{9D8B030D-6E8A-4147-A177-3AD203B41FA5}">
                      <a16:colId xmlns:a16="http://schemas.microsoft.com/office/drawing/2014/main" val="4233644137"/>
                    </a:ext>
                  </a:extLst>
                </a:gridCol>
                <a:gridCol w="2791166">
                  <a:extLst>
                    <a:ext uri="{9D8B030D-6E8A-4147-A177-3AD203B41FA5}">
                      <a16:colId xmlns:a16="http://schemas.microsoft.com/office/drawing/2014/main" val="756018603"/>
                    </a:ext>
                  </a:extLst>
                </a:gridCol>
                <a:gridCol w="5632704">
                  <a:extLst>
                    <a:ext uri="{9D8B030D-6E8A-4147-A177-3AD203B41FA5}">
                      <a16:colId xmlns:a16="http://schemas.microsoft.com/office/drawing/2014/main" val="3963909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MAPE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 in Plain English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842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&lt; 10%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Predictions are very close to actual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600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10% – 20%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is accurate and reliable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42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20% – 50%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Reasonable / 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has noticeable error but may still be usable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85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50% – 100% </a:t>
                      </a:r>
                    </a:p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 &gt; 100%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Predictions are highly inaccurate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054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168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7C719-8B83-F1B9-B843-8EBA2106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132F-6EAE-E211-22A5-DB875545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85" y="106540"/>
            <a:ext cx="3319733" cy="359288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When to Use Which?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DA26E-E0DD-B15D-83E2-A8D55F082CB1}"/>
              </a:ext>
            </a:extLst>
          </p:cNvPr>
          <p:cNvSpPr txBox="1"/>
          <p:nvPr/>
        </p:nvSpPr>
        <p:spPr>
          <a:xfrm>
            <a:off x="219074" y="749409"/>
            <a:ext cx="1014412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Squared Error (MSE)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penalize large errors more heavily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(squaring effect).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error distribution is expected to be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Gaussian (normal noise)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mathematical convenience (e.g., closed-form solution in linear regression).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for: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models where you want sensitivity to outliers.</a:t>
            </a:r>
          </a:p>
        </p:txBody>
      </p:sp>
    </p:spTree>
    <p:extLst>
      <p:ext uri="{BB962C8B-B14F-4D97-AF65-F5344CB8AC3E}">
        <p14:creationId xmlns:p14="http://schemas.microsoft.com/office/powerpoint/2010/main" val="1346100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20779-108E-C834-5824-53803ABB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505DB-02DB-C53F-9EA9-00AE52802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85" y="106540"/>
            <a:ext cx="3319733" cy="359288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When to Use Which?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E40C8-EDBB-7479-5EFF-ED7B154C855D}"/>
              </a:ext>
            </a:extLst>
          </p:cNvPr>
          <p:cNvSpPr txBox="1"/>
          <p:nvPr/>
        </p:nvSpPr>
        <p:spPr>
          <a:xfrm>
            <a:off x="238125" y="776318"/>
            <a:ext cx="11734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Absolute Error (MAE)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outliers or heavy-tailed distributions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you don’t want them to dominate.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typical/median error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rather than being skewed by large mistakes.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Robustness is more important than punishing big deviations.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for: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Noisy or messy datasets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where outliers are common.</a:t>
            </a:r>
          </a:p>
        </p:txBody>
      </p:sp>
    </p:spTree>
    <p:extLst>
      <p:ext uri="{BB962C8B-B14F-4D97-AF65-F5344CB8AC3E}">
        <p14:creationId xmlns:p14="http://schemas.microsoft.com/office/powerpoint/2010/main" val="1148454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CCCB-C4A4-13DD-310A-CB1D7496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686C-DC6A-C2E7-E4BB-BE81F562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85" y="106540"/>
            <a:ext cx="3319733" cy="359288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When to Use Which?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C2E2C-2BE5-7644-A675-F70E1B6391FF}"/>
              </a:ext>
            </a:extLst>
          </p:cNvPr>
          <p:cNvSpPr txBox="1"/>
          <p:nvPr/>
        </p:nvSpPr>
        <p:spPr>
          <a:xfrm>
            <a:off x="238125" y="776318"/>
            <a:ext cx="11734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Root Mean Square Error (RMSE)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the error in the same units as the target variable (interpretable).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care about both sensitivity to large errors (like MSE) and readability.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a metric that’s easier to communicate (e.g., "average prediction is off by 3 units").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for: Reporting model performance in real-world units.</a:t>
            </a:r>
          </a:p>
        </p:txBody>
      </p:sp>
    </p:spTree>
    <p:extLst>
      <p:ext uri="{BB962C8B-B14F-4D97-AF65-F5344CB8AC3E}">
        <p14:creationId xmlns:p14="http://schemas.microsoft.com/office/powerpoint/2010/main" val="3553067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339</TotalTime>
  <Words>847</Words>
  <Application>Microsoft Office PowerPoint</Application>
  <PresentationFormat>Widescreen</PresentationFormat>
  <Paragraphs>252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(Body)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Mean Absolute Percentage Error (MAPE) :</vt:lpstr>
      <vt:lpstr>Mean Absolute Percentage Error (MAPE) :</vt:lpstr>
      <vt:lpstr>Mean Absolute Percentage Error (MAPE) :</vt:lpstr>
      <vt:lpstr>PowerPoint Presentation</vt:lpstr>
      <vt:lpstr>When to Use Which?</vt:lpstr>
      <vt:lpstr>When to Use Which?</vt:lpstr>
      <vt:lpstr>When to Use Which?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75</cp:revision>
  <dcterms:created xsi:type="dcterms:W3CDTF">2025-09-22T02:44:38Z</dcterms:created>
  <dcterms:modified xsi:type="dcterms:W3CDTF">2026-03-05T08:45:46Z</dcterms:modified>
</cp:coreProperties>
</file>