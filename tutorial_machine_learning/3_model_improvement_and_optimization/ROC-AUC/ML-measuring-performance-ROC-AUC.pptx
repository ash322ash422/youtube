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280" r:id="rId3"/>
    <p:sldId id="281" r:id="rId4"/>
    <p:sldId id="282" r:id="rId5"/>
    <p:sldId id="283" r:id="rId6"/>
    <p:sldId id="288" r:id="rId7"/>
    <p:sldId id="287" r:id="rId8"/>
    <p:sldId id="285" r:id="rId9"/>
    <p:sldId id="286" r:id="rId10"/>
    <p:sldId id="289" r:id="rId11"/>
    <p:sldId id="290" r:id="rId12"/>
    <p:sldId id="271" r:id="rId13"/>
    <p:sldId id="278" r:id="rId14"/>
    <p:sldId id="284" r:id="rId15"/>
    <p:sldId id="268" r:id="rId16"/>
    <p:sldId id="260" r:id="rId17"/>
    <p:sldId id="261" r:id="rId18"/>
    <p:sldId id="262" r:id="rId19"/>
    <p:sldId id="263" r:id="rId20"/>
    <p:sldId id="264" r:id="rId21"/>
    <p:sldId id="265" r:id="rId22"/>
    <p:sldId id="275" r:id="rId23"/>
    <p:sldId id="274" r:id="rId24"/>
    <p:sldId id="276" r:id="rId25"/>
    <p:sldId id="266" r:id="rId26"/>
    <p:sldId id="267" r:id="rId27"/>
    <p:sldId id="25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2/23/2026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9BF98B-CC9A-4949-9A16-7BB52223EACF}"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F2EF9-39C5-4B9D-BC41-703B66EC3384}" type="slidenum">
              <a:rPr lang="en-US" smtClean="0"/>
              <a:t>‹#›</a:t>
            </a:fld>
            <a:endParaRPr lang="en-US"/>
          </a:p>
        </p:txBody>
      </p:sp>
    </p:spTree>
    <p:extLst>
      <p:ext uri="{BB962C8B-B14F-4D97-AF65-F5344CB8AC3E}">
        <p14:creationId xmlns:p14="http://schemas.microsoft.com/office/powerpoint/2010/main" val="45575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F2EF9-39C5-4B9D-BC41-703B66EC3384}" type="slidenum">
              <a:rPr lang="en-US" smtClean="0"/>
              <a:t>9</a:t>
            </a:fld>
            <a:endParaRPr lang="en-US"/>
          </a:p>
        </p:txBody>
      </p:sp>
    </p:spTree>
    <p:extLst>
      <p:ext uri="{BB962C8B-B14F-4D97-AF65-F5344CB8AC3E}">
        <p14:creationId xmlns:p14="http://schemas.microsoft.com/office/powerpoint/2010/main" val="3025407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92CE-7F2F-25DE-7134-153AA9559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EF1B9-CA71-601D-D1AA-A570BC761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C463E-7B6D-44F2-617D-9BC388A0EA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44646A-7CF7-6118-5ACD-6C7601B3DA89}"/>
              </a:ext>
            </a:extLst>
          </p:cNvPr>
          <p:cNvSpPr>
            <a:spLocks noGrp="1"/>
          </p:cNvSpPr>
          <p:nvPr>
            <p:ph type="sldNum" sz="quarter" idx="5"/>
          </p:nvPr>
        </p:nvSpPr>
        <p:spPr/>
        <p:txBody>
          <a:bodyPr/>
          <a:lstStyle/>
          <a:p>
            <a:fld id="{1CFF2EF9-39C5-4B9D-BC41-703B66EC3384}" type="slidenum">
              <a:rPr lang="en-US" smtClean="0"/>
              <a:t>10</a:t>
            </a:fld>
            <a:endParaRPr lang="en-US"/>
          </a:p>
        </p:txBody>
      </p:sp>
    </p:spTree>
    <p:extLst>
      <p:ext uri="{BB962C8B-B14F-4D97-AF65-F5344CB8AC3E}">
        <p14:creationId xmlns:p14="http://schemas.microsoft.com/office/powerpoint/2010/main" val="380500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2/23/2026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evidentlyai.com/classification-metrics/accuracy-precision-recal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3192" y="1122363"/>
            <a:ext cx="11292840" cy="2387600"/>
          </a:xfrm>
        </p:spPr>
        <p:txBody>
          <a:bodyPr>
            <a:normAutofit fontScale="90000"/>
          </a:bodyPr>
          <a:lstStyle/>
          <a:p>
            <a:r>
              <a:rPr lang="en-US" dirty="0"/>
              <a:t>ROC AUC</a:t>
            </a:r>
            <a:br>
              <a:rPr lang="en-US" dirty="0"/>
            </a:br>
            <a:r>
              <a:rPr lang="en-US" dirty="0"/>
              <a:t>Receiver Operating Characteristic </a:t>
            </a:r>
            <a:br>
              <a:rPr lang="en-US" dirty="0"/>
            </a:br>
            <a:r>
              <a:rPr lang="en-US" dirty="0"/>
              <a:t> Area under Curve</a:t>
            </a:r>
          </a:p>
        </p:txBody>
      </p:sp>
    </p:spTree>
    <p:extLst>
      <p:ext uri="{BB962C8B-B14F-4D97-AF65-F5344CB8AC3E}">
        <p14:creationId xmlns:p14="http://schemas.microsoft.com/office/powerpoint/2010/main" val="1361689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5DA6E-92AD-917C-874F-7BA6E0EB17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C80C72-EDA9-6EBB-B2BC-67185394F6B7}"/>
              </a:ext>
            </a:extLst>
          </p:cNvPr>
          <p:cNvSpPr txBox="1"/>
          <p:nvPr/>
        </p:nvSpPr>
        <p:spPr>
          <a:xfrm>
            <a:off x="301752" y="1017860"/>
            <a:ext cx="11558016" cy="1569660"/>
          </a:xfrm>
          <a:prstGeom prst="rect">
            <a:avLst/>
          </a:prstGeom>
          <a:noFill/>
        </p:spPr>
        <p:txBody>
          <a:bodyPr wrap="square">
            <a:spAutoFit/>
          </a:bodyPr>
          <a:lstStyle/>
          <a:p>
            <a:r>
              <a:rPr lang="en-US" sz="2400" dirty="0">
                <a:solidFill>
                  <a:schemeClr val="accent6">
                    <a:lumMod val="60000"/>
                    <a:lumOff val="40000"/>
                  </a:schemeClr>
                </a:solidFill>
              </a:rPr>
              <a:t>The ROC is a metric to evaluate the performance of </a:t>
            </a:r>
            <a:r>
              <a:rPr lang="en-US" sz="2400" b="1" dirty="0">
                <a:solidFill>
                  <a:schemeClr val="accent6">
                    <a:lumMod val="60000"/>
                    <a:lumOff val="40000"/>
                  </a:schemeClr>
                </a:solidFill>
              </a:rPr>
              <a:t>binary classifiers</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ROC compares </a:t>
            </a:r>
            <a:r>
              <a:rPr lang="en-US" sz="2400" b="1" dirty="0">
                <a:solidFill>
                  <a:schemeClr val="accent6">
                    <a:lumMod val="60000"/>
                    <a:lumOff val="40000"/>
                  </a:schemeClr>
                </a:solidFill>
              </a:rPr>
              <a:t>how many good positives we capture(TPR) vs how many mistakes we make(FPR)</a:t>
            </a:r>
            <a:r>
              <a:rPr lang="en-US" sz="2400" dirty="0">
                <a:solidFill>
                  <a:schemeClr val="accent6">
                    <a:lumMod val="60000"/>
                    <a:lumOff val="40000"/>
                  </a:schemeClr>
                </a:solidFill>
              </a:rPr>
              <a:t>.</a:t>
            </a:r>
          </a:p>
        </p:txBody>
      </p:sp>
      <p:pic>
        <p:nvPicPr>
          <p:cNvPr id="4" name="Picture 3">
            <a:extLst>
              <a:ext uri="{FF2B5EF4-FFF2-40B4-BE49-F238E27FC236}">
                <a16:creationId xmlns:a16="http://schemas.microsoft.com/office/drawing/2014/main" id="{1B9FB068-8514-38A7-C763-1787EDEAA4FD}"/>
              </a:ext>
            </a:extLst>
          </p:cNvPr>
          <p:cNvPicPr>
            <a:picLocks noChangeAspect="1"/>
          </p:cNvPicPr>
          <p:nvPr/>
        </p:nvPicPr>
        <p:blipFill>
          <a:blip r:embed="rId2"/>
          <a:stretch>
            <a:fillRect/>
          </a:stretch>
        </p:blipFill>
        <p:spPr>
          <a:xfrm>
            <a:off x="6279103" y="2802866"/>
            <a:ext cx="5675153" cy="2052597"/>
          </a:xfrm>
          <a:prstGeom prst="rect">
            <a:avLst/>
          </a:prstGeom>
        </p:spPr>
      </p:pic>
      <p:pic>
        <p:nvPicPr>
          <p:cNvPr id="7" name="Picture 6">
            <a:extLst>
              <a:ext uri="{FF2B5EF4-FFF2-40B4-BE49-F238E27FC236}">
                <a16:creationId xmlns:a16="http://schemas.microsoft.com/office/drawing/2014/main" id="{4D1D62DF-1D87-0C2B-54FE-D895E260645F}"/>
              </a:ext>
            </a:extLst>
          </p:cNvPr>
          <p:cNvPicPr>
            <a:picLocks noChangeAspect="1"/>
          </p:cNvPicPr>
          <p:nvPr/>
        </p:nvPicPr>
        <p:blipFill>
          <a:blip r:embed="rId3"/>
          <a:stretch>
            <a:fillRect/>
          </a:stretch>
        </p:blipFill>
        <p:spPr>
          <a:xfrm>
            <a:off x="724398" y="3044334"/>
            <a:ext cx="5065061" cy="1569660"/>
          </a:xfrm>
          <a:prstGeom prst="rect">
            <a:avLst/>
          </a:prstGeom>
        </p:spPr>
      </p:pic>
    </p:spTree>
    <p:extLst>
      <p:ext uri="{BB962C8B-B14F-4D97-AF65-F5344CB8AC3E}">
        <p14:creationId xmlns:p14="http://schemas.microsoft.com/office/powerpoint/2010/main" val="275831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C96-EE73-6172-7B88-5E0AF36A30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906C584-DD0F-5EBA-79D1-02ED47A28832}"/>
              </a:ext>
            </a:extLst>
          </p:cNvPr>
          <p:cNvSpPr txBox="1"/>
          <p:nvPr/>
        </p:nvSpPr>
        <p:spPr>
          <a:xfrm>
            <a:off x="301752" y="432644"/>
            <a:ext cx="11558016" cy="1200329"/>
          </a:xfrm>
          <a:prstGeom prst="rect">
            <a:avLst/>
          </a:prstGeom>
          <a:noFill/>
        </p:spPr>
        <p:txBody>
          <a:bodyPr wrap="square">
            <a:spAutoFit/>
          </a:bodyPr>
          <a:lstStyle/>
          <a:p>
            <a:r>
              <a:rPr lang="en-US" sz="2400" b="1" dirty="0">
                <a:solidFill>
                  <a:schemeClr val="accent6">
                    <a:lumMod val="60000"/>
                    <a:lumOff val="40000"/>
                  </a:schemeClr>
                </a:solidFill>
              </a:rPr>
              <a:t>Why ROC Exists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Most beginners think models output labels. But </a:t>
            </a:r>
            <a:r>
              <a:rPr lang="en-US" sz="2400" b="1" dirty="0">
                <a:solidFill>
                  <a:schemeClr val="accent6">
                    <a:lumMod val="60000"/>
                    <a:lumOff val="40000"/>
                  </a:schemeClr>
                </a:solidFill>
              </a:rPr>
              <a:t>models actually output probability.</a:t>
            </a:r>
          </a:p>
        </p:txBody>
      </p:sp>
      <p:graphicFrame>
        <p:nvGraphicFramePr>
          <p:cNvPr id="2" name="Table 1">
            <a:extLst>
              <a:ext uri="{FF2B5EF4-FFF2-40B4-BE49-F238E27FC236}">
                <a16:creationId xmlns:a16="http://schemas.microsoft.com/office/drawing/2014/main" id="{3A54C6ED-D127-21E6-2FA5-D65C4D3B2956}"/>
              </a:ext>
            </a:extLst>
          </p:cNvPr>
          <p:cNvGraphicFramePr>
            <a:graphicFrameLocks noGrp="1"/>
          </p:cNvGraphicFramePr>
          <p:nvPr>
            <p:extLst>
              <p:ext uri="{D42A27DB-BD31-4B8C-83A1-F6EECF244321}">
                <p14:modId xmlns:p14="http://schemas.microsoft.com/office/powerpoint/2010/main" val="551741249"/>
              </p:ext>
            </p:extLst>
          </p:nvPr>
        </p:nvGraphicFramePr>
        <p:xfrm>
          <a:off x="865632" y="1834166"/>
          <a:ext cx="4684776" cy="1981200"/>
        </p:xfrm>
        <a:graphic>
          <a:graphicData uri="http://schemas.openxmlformats.org/drawingml/2006/table">
            <a:tbl>
              <a:tblPr/>
              <a:tblGrid>
                <a:gridCol w="1091184">
                  <a:extLst>
                    <a:ext uri="{9D8B030D-6E8A-4147-A177-3AD203B41FA5}">
                      <a16:colId xmlns:a16="http://schemas.microsoft.com/office/drawing/2014/main" val="2010117664"/>
                    </a:ext>
                  </a:extLst>
                </a:gridCol>
                <a:gridCol w="3593592">
                  <a:extLst>
                    <a:ext uri="{9D8B030D-6E8A-4147-A177-3AD203B41FA5}">
                      <a16:colId xmlns:a16="http://schemas.microsoft.com/office/drawing/2014/main" val="2405721794"/>
                    </a:ext>
                  </a:extLst>
                </a:gridCol>
              </a:tblGrid>
              <a:tr h="0">
                <a:tc>
                  <a:txBody>
                    <a:bodyPr/>
                    <a:lstStyle/>
                    <a:p>
                      <a:pPr algn="ctr">
                        <a:buNone/>
                      </a:pPr>
                      <a:r>
                        <a:rPr lang="en-US" sz="2000" b="1" u="sng" dirty="0">
                          <a:solidFill>
                            <a:schemeClr val="accent6">
                              <a:lumMod val="60000"/>
                              <a:lumOff val="40000"/>
                            </a:schemeClr>
                          </a:solidFill>
                        </a:rPr>
                        <a:t>Person</a:t>
                      </a:r>
                    </a:p>
                  </a:txBody>
                  <a:tcPr anchor="ctr">
                    <a:lnL>
                      <a:noFill/>
                    </a:lnL>
                    <a:lnR>
                      <a:noFill/>
                    </a:lnR>
                    <a:lnT>
                      <a:noFill/>
                    </a:lnT>
                    <a:lnB>
                      <a:noFill/>
                    </a:lnB>
                    <a:noFill/>
                  </a:tcPr>
                </a:tc>
                <a:tc>
                  <a:txBody>
                    <a:bodyPr/>
                    <a:lstStyle/>
                    <a:p>
                      <a:pPr algn="ctr">
                        <a:buNone/>
                      </a:pPr>
                      <a:r>
                        <a:rPr lang="en-US" sz="2000" b="1" u="sng" dirty="0">
                          <a:solidFill>
                            <a:schemeClr val="accent6">
                              <a:lumMod val="60000"/>
                              <a:lumOff val="40000"/>
                            </a:schemeClr>
                          </a:solidFill>
                        </a:rPr>
                        <a:t>Model Probability (of Cancer)</a:t>
                      </a:r>
                    </a:p>
                  </a:txBody>
                  <a:tcPr anchor="ctr">
                    <a:lnL>
                      <a:noFill/>
                    </a:lnL>
                    <a:lnR>
                      <a:noFill/>
                    </a:lnR>
                    <a:lnT>
                      <a:noFill/>
                    </a:lnT>
                    <a:lnB>
                      <a:noFill/>
                    </a:lnB>
                    <a:noFill/>
                  </a:tcPr>
                </a:tc>
                <a:extLst>
                  <a:ext uri="{0D108BD9-81ED-4DB2-BD59-A6C34878D82A}">
                    <a16:rowId xmlns:a16="http://schemas.microsoft.com/office/drawing/2014/main" val="3908729699"/>
                  </a:ext>
                </a:extLst>
              </a:tr>
              <a:tr h="0">
                <a:tc>
                  <a:txBody>
                    <a:bodyPr/>
                    <a:lstStyle/>
                    <a:p>
                      <a:pPr algn="ctr">
                        <a:buNone/>
                      </a:pPr>
                      <a:r>
                        <a:rPr lang="en-US" sz="2000" dirty="0">
                          <a:solidFill>
                            <a:schemeClr val="accent6">
                              <a:lumMod val="60000"/>
                              <a:lumOff val="40000"/>
                            </a:schemeClr>
                          </a:solidFill>
                        </a:rPr>
                        <a:t>A</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0.95</a:t>
                      </a:r>
                    </a:p>
                  </a:txBody>
                  <a:tcPr anchor="ctr">
                    <a:lnL>
                      <a:noFill/>
                    </a:lnL>
                    <a:lnR>
                      <a:noFill/>
                    </a:lnR>
                    <a:lnT>
                      <a:noFill/>
                    </a:lnT>
                    <a:lnB>
                      <a:noFill/>
                    </a:lnB>
                    <a:noFill/>
                  </a:tcPr>
                </a:tc>
                <a:extLst>
                  <a:ext uri="{0D108BD9-81ED-4DB2-BD59-A6C34878D82A}">
                    <a16:rowId xmlns:a16="http://schemas.microsoft.com/office/drawing/2014/main" val="2872991892"/>
                  </a:ext>
                </a:extLst>
              </a:tr>
              <a:tr h="0">
                <a:tc>
                  <a:txBody>
                    <a:bodyPr/>
                    <a:lstStyle/>
                    <a:p>
                      <a:pPr algn="ctr">
                        <a:buNone/>
                      </a:pPr>
                      <a:r>
                        <a:rPr lang="en-US" sz="2000">
                          <a:solidFill>
                            <a:schemeClr val="accent6">
                              <a:lumMod val="60000"/>
                              <a:lumOff val="40000"/>
                            </a:schemeClr>
                          </a:solidFill>
                        </a:rPr>
                        <a:t>B</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0.80</a:t>
                      </a:r>
                    </a:p>
                  </a:txBody>
                  <a:tcPr anchor="ctr">
                    <a:lnL>
                      <a:noFill/>
                    </a:lnL>
                    <a:lnR>
                      <a:noFill/>
                    </a:lnR>
                    <a:lnT>
                      <a:noFill/>
                    </a:lnT>
                    <a:lnB>
                      <a:noFill/>
                    </a:lnB>
                    <a:noFill/>
                  </a:tcPr>
                </a:tc>
                <a:extLst>
                  <a:ext uri="{0D108BD9-81ED-4DB2-BD59-A6C34878D82A}">
                    <a16:rowId xmlns:a16="http://schemas.microsoft.com/office/drawing/2014/main" val="2554695326"/>
                  </a:ext>
                </a:extLst>
              </a:tr>
              <a:tr h="0">
                <a:tc>
                  <a:txBody>
                    <a:bodyPr/>
                    <a:lstStyle/>
                    <a:p>
                      <a:pPr algn="ctr">
                        <a:buNone/>
                      </a:pPr>
                      <a:r>
                        <a:rPr lang="en-US" sz="2000">
                          <a:solidFill>
                            <a:schemeClr val="accent6">
                              <a:lumMod val="60000"/>
                              <a:lumOff val="40000"/>
                            </a:schemeClr>
                          </a:solidFill>
                        </a:rPr>
                        <a:t>C</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0.60</a:t>
                      </a:r>
                    </a:p>
                  </a:txBody>
                  <a:tcPr anchor="ctr">
                    <a:lnL>
                      <a:noFill/>
                    </a:lnL>
                    <a:lnR>
                      <a:noFill/>
                    </a:lnR>
                    <a:lnT>
                      <a:noFill/>
                    </a:lnT>
                    <a:lnB>
                      <a:noFill/>
                    </a:lnB>
                    <a:noFill/>
                  </a:tcPr>
                </a:tc>
                <a:extLst>
                  <a:ext uri="{0D108BD9-81ED-4DB2-BD59-A6C34878D82A}">
                    <a16:rowId xmlns:a16="http://schemas.microsoft.com/office/drawing/2014/main" val="3100745251"/>
                  </a:ext>
                </a:extLst>
              </a:tr>
              <a:tr h="0">
                <a:tc>
                  <a:txBody>
                    <a:bodyPr/>
                    <a:lstStyle/>
                    <a:p>
                      <a:pPr algn="ctr">
                        <a:buNone/>
                      </a:pPr>
                      <a:r>
                        <a:rPr lang="en-US" sz="2000">
                          <a:solidFill>
                            <a:schemeClr val="accent6">
                              <a:lumMod val="60000"/>
                              <a:lumOff val="40000"/>
                            </a:schemeClr>
                          </a:solidFill>
                        </a:rPr>
                        <a:t>D</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0.30</a:t>
                      </a:r>
                    </a:p>
                  </a:txBody>
                  <a:tcPr anchor="ctr">
                    <a:lnL>
                      <a:noFill/>
                    </a:lnL>
                    <a:lnR>
                      <a:noFill/>
                    </a:lnR>
                    <a:lnT>
                      <a:noFill/>
                    </a:lnT>
                    <a:lnB>
                      <a:noFill/>
                    </a:lnB>
                    <a:noFill/>
                  </a:tcPr>
                </a:tc>
                <a:extLst>
                  <a:ext uri="{0D108BD9-81ED-4DB2-BD59-A6C34878D82A}">
                    <a16:rowId xmlns:a16="http://schemas.microsoft.com/office/drawing/2014/main" val="4169549579"/>
                  </a:ext>
                </a:extLst>
              </a:tr>
            </a:tbl>
          </a:graphicData>
        </a:graphic>
      </p:graphicFrame>
      <p:sp>
        <p:nvSpPr>
          <p:cNvPr id="4" name="TextBox 3">
            <a:extLst>
              <a:ext uri="{FF2B5EF4-FFF2-40B4-BE49-F238E27FC236}">
                <a16:creationId xmlns:a16="http://schemas.microsoft.com/office/drawing/2014/main" id="{6E07A97E-8FFB-6A0D-4F54-4C8245B305B8}"/>
              </a:ext>
            </a:extLst>
          </p:cNvPr>
          <p:cNvSpPr txBox="1"/>
          <p:nvPr/>
        </p:nvSpPr>
        <p:spPr>
          <a:xfrm>
            <a:off x="489204" y="4030718"/>
            <a:ext cx="9742932" cy="1938992"/>
          </a:xfrm>
          <a:prstGeom prst="rect">
            <a:avLst/>
          </a:prstGeom>
          <a:noFill/>
        </p:spPr>
        <p:txBody>
          <a:bodyPr wrap="square">
            <a:spAutoFit/>
          </a:bodyPr>
          <a:lstStyle/>
          <a:p>
            <a:r>
              <a:rPr lang="en-US" sz="2400" dirty="0">
                <a:solidFill>
                  <a:schemeClr val="accent6">
                    <a:lumMod val="60000"/>
                    <a:lumOff val="40000"/>
                  </a:schemeClr>
                </a:solidFill>
              </a:rPr>
              <a:t>We convert probability → class using a </a:t>
            </a:r>
            <a:r>
              <a:rPr lang="en-US" sz="2400" b="1" dirty="0">
                <a:solidFill>
                  <a:schemeClr val="accent6">
                    <a:lumMod val="60000"/>
                    <a:lumOff val="40000"/>
                  </a:schemeClr>
                </a:solidFill>
              </a:rPr>
              <a:t>threshold</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threshold is generally </a:t>
            </a:r>
            <a:r>
              <a:rPr lang="en-US" sz="2400" b="1" dirty="0">
                <a:solidFill>
                  <a:schemeClr val="accent6">
                    <a:lumMod val="60000"/>
                    <a:lumOff val="40000"/>
                  </a:schemeClr>
                </a:solidFill>
              </a:rPr>
              <a:t>0.5:  </a:t>
            </a:r>
            <a:r>
              <a:rPr lang="en-US" sz="2400" dirty="0">
                <a:solidFill>
                  <a:schemeClr val="accent6">
                    <a:lumMod val="60000"/>
                    <a:lumOff val="40000"/>
                  </a:schemeClr>
                </a:solidFill>
              </a:rPr>
              <a:t>If prob. &gt; 0.5, then cancer.</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Based on this threshold: A,B,C have cancer and D does NOT have cancer</a:t>
            </a:r>
          </a:p>
        </p:txBody>
      </p:sp>
    </p:spTree>
    <p:extLst>
      <p:ext uri="{BB962C8B-B14F-4D97-AF65-F5344CB8AC3E}">
        <p14:creationId xmlns:p14="http://schemas.microsoft.com/office/powerpoint/2010/main" val="125787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72181-99DC-7C49-CDE6-5225F3C258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FB6867-F26D-571B-515C-19AF0B4936E5}"/>
              </a:ext>
            </a:extLst>
          </p:cNvPr>
          <p:cNvSpPr txBox="1"/>
          <p:nvPr/>
        </p:nvSpPr>
        <p:spPr>
          <a:xfrm>
            <a:off x="489204" y="555998"/>
            <a:ext cx="8791956" cy="1200329"/>
          </a:xfrm>
          <a:prstGeom prst="rect">
            <a:avLst/>
          </a:prstGeom>
          <a:noFill/>
        </p:spPr>
        <p:txBody>
          <a:bodyPr wrap="square">
            <a:spAutoFit/>
          </a:bodyPr>
          <a:lstStyle/>
          <a:p>
            <a:r>
              <a:rPr lang="en-US" sz="2400" dirty="0">
                <a:solidFill>
                  <a:schemeClr val="accent6">
                    <a:lumMod val="60000"/>
                    <a:lumOff val="40000"/>
                  </a:schemeClr>
                </a:solidFill>
              </a:rPr>
              <a:t>ROC shows </a:t>
            </a:r>
            <a:r>
              <a:rPr lang="en-US" sz="2400" b="1" dirty="0">
                <a:solidFill>
                  <a:schemeClr val="accent6">
                    <a:lumMod val="60000"/>
                    <a:lumOff val="40000"/>
                  </a:schemeClr>
                </a:solidFill>
              </a:rPr>
              <a:t>what happens when we change the threshold?</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Threshold Intuition </a:t>
            </a:r>
            <a:endParaRPr lang="en-US" sz="2400" b="1" dirty="0">
              <a:solidFill>
                <a:schemeClr val="accent6">
                  <a:lumMod val="60000"/>
                  <a:lumOff val="40000"/>
                </a:schemeClr>
              </a:solidFill>
            </a:endParaRPr>
          </a:p>
        </p:txBody>
      </p:sp>
      <p:graphicFrame>
        <p:nvGraphicFramePr>
          <p:cNvPr id="3" name="Table 2">
            <a:extLst>
              <a:ext uri="{FF2B5EF4-FFF2-40B4-BE49-F238E27FC236}">
                <a16:creationId xmlns:a16="http://schemas.microsoft.com/office/drawing/2014/main" id="{5CE5AEC8-1074-793C-E7A3-25C0CDE4E277}"/>
              </a:ext>
            </a:extLst>
          </p:cNvPr>
          <p:cNvGraphicFramePr>
            <a:graphicFrameLocks noGrp="1"/>
          </p:cNvGraphicFramePr>
          <p:nvPr>
            <p:extLst>
              <p:ext uri="{D42A27DB-BD31-4B8C-83A1-F6EECF244321}">
                <p14:modId xmlns:p14="http://schemas.microsoft.com/office/powerpoint/2010/main" val="3130957092"/>
              </p:ext>
            </p:extLst>
          </p:nvPr>
        </p:nvGraphicFramePr>
        <p:xfrm>
          <a:off x="838200" y="2684558"/>
          <a:ext cx="4757928" cy="1584960"/>
        </p:xfrm>
        <a:graphic>
          <a:graphicData uri="http://schemas.openxmlformats.org/drawingml/2006/table">
            <a:tbl>
              <a:tblPr/>
              <a:tblGrid>
                <a:gridCol w="2124456">
                  <a:extLst>
                    <a:ext uri="{9D8B030D-6E8A-4147-A177-3AD203B41FA5}">
                      <a16:colId xmlns:a16="http://schemas.microsoft.com/office/drawing/2014/main" val="1655406429"/>
                    </a:ext>
                  </a:extLst>
                </a:gridCol>
                <a:gridCol w="2633472">
                  <a:extLst>
                    <a:ext uri="{9D8B030D-6E8A-4147-A177-3AD203B41FA5}">
                      <a16:colId xmlns:a16="http://schemas.microsoft.com/office/drawing/2014/main" val="3813685798"/>
                    </a:ext>
                  </a:extLst>
                </a:gridCol>
              </a:tblGrid>
              <a:tr h="0">
                <a:tc>
                  <a:txBody>
                    <a:bodyPr/>
                    <a:lstStyle/>
                    <a:p>
                      <a:pPr algn="ctr">
                        <a:buNone/>
                      </a:pPr>
                      <a:r>
                        <a:rPr lang="en-US" sz="2000" b="1" u="sng" dirty="0">
                          <a:solidFill>
                            <a:schemeClr val="accent6">
                              <a:lumMod val="60000"/>
                              <a:lumOff val="40000"/>
                            </a:schemeClr>
                          </a:solidFill>
                        </a:rPr>
                        <a:t>Threshold</a:t>
                      </a:r>
                    </a:p>
                  </a:txBody>
                  <a:tcPr anchor="ctr">
                    <a:lnL>
                      <a:noFill/>
                    </a:lnL>
                    <a:lnR>
                      <a:noFill/>
                    </a:lnR>
                    <a:lnT>
                      <a:noFill/>
                    </a:lnT>
                    <a:lnB>
                      <a:noFill/>
                    </a:lnB>
                    <a:noFill/>
                  </a:tcPr>
                </a:tc>
                <a:tc>
                  <a:txBody>
                    <a:bodyPr/>
                    <a:lstStyle/>
                    <a:p>
                      <a:pPr algn="ctr">
                        <a:buNone/>
                      </a:pPr>
                      <a:r>
                        <a:rPr lang="en-US" sz="2000" b="1" u="sng" dirty="0">
                          <a:solidFill>
                            <a:schemeClr val="accent6">
                              <a:lumMod val="60000"/>
                              <a:lumOff val="40000"/>
                            </a:schemeClr>
                          </a:solidFill>
                        </a:rPr>
                        <a:t>Result</a:t>
                      </a:r>
                    </a:p>
                  </a:txBody>
                  <a:tcPr anchor="ctr">
                    <a:lnL>
                      <a:noFill/>
                    </a:lnL>
                    <a:lnR>
                      <a:noFill/>
                    </a:lnR>
                    <a:lnT>
                      <a:noFill/>
                    </a:lnT>
                    <a:lnB>
                      <a:noFill/>
                    </a:lnB>
                    <a:noFill/>
                  </a:tcPr>
                </a:tc>
                <a:extLst>
                  <a:ext uri="{0D108BD9-81ED-4DB2-BD59-A6C34878D82A}">
                    <a16:rowId xmlns:a16="http://schemas.microsoft.com/office/drawing/2014/main" val="3872544955"/>
                  </a:ext>
                </a:extLst>
              </a:tr>
              <a:tr h="0">
                <a:tc>
                  <a:txBody>
                    <a:bodyPr/>
                    <a:lstStyle/>
                    <a:p>
                      <a:pPr algn="ctr">
                        <a:buNone/>
                      </a:pPr>
                      <a:r>
                        <a:rPr lang="en-US" sz="2000" dirty="0">
                          <a:solidFill>
                            <a:schemeClr val="accent6">
                              <a:lumMod val="60000"/>
                              <a:lumOff val="40000"/>
                            </a:schemeClr>
                          </a:solidFill>
                        </a:rPr>
                        <a:t>0.9</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Very strict</a:t>
                      </a:r>
                    </a:p>
                  </a:txBody>
                  <a:tcPr anchor="ctr">
                    <a:lnL>
                      <a:noFill/>
                    </a:lnL>
                    <a:lnR>
                      <a:noFill/>
                    </a:lnR>
                    <a:lnT>
                      <a:noFill/>
                    </a:lnT>
                    <a:lnB>
                      <a:noFill/>
                    </a:lnB>
                    <a:noFill/>
                  </a:tcPr>
                </a:tc>
                <a:extLst>
                  <a:ext uri="{0D108BD9-81ED-4DB2-BD59-A6C34878D82A}">
                    <a16:rowId xmlns:a16="http://schemas.microsoft.com/office/drawing/2014/main" val="2834654155"/>
                  </a:ext>
                </a:extLst>
              </a:tr>
              <a:tr h="0">
                <a:tc>
                  <a:txBody>
                    <a:bodyPr/>
                    <a:lstStyle/>
                    <a:p>
                      <a:pPr algn="ctr">
                        <a:buNone/>
                      </a:pPr>
                      <a:r>
                        <a:rPr lang="en-US" sz="2000" dirty="0">
                          <a:solidFill>
                            <a:schemeClr val="accent6">
                              <a:lumMod val="60000"/>
                              <a:lumOff val="40000"/>
                            </a:schemeClr>
                          </a:solidFill>
                        </a:rPr>
                        <a:t>0.5</a:t>
                      </a:r>
                    </a:p>
                  </a:txBody>
                  <a:tcPr anchor="ctr">
                    <a:lnL>
                      <a:noFill/>
                    </a:lnL>
                    <a:lnR>
                      <a:noFill/>
                    </a:lnR>
                    <a:lnT>
                      <a:noFill/>
                    </a:lnT>
                    <a:lnB>
                      <a:noFill/>
                    </a:lnB>
                    <a:noFill/>
                  </a:tcPr>
                </a:tc>
                <a:tc>
                  <a:txBody>
                    <a:bodyPr/>
                    <a:lstStyle/>
                    <a:p>
                      <a:pPr algn="ctr">
                        <a:buNone/>
                      </a:pPr>
                      <a:r>
                        <a:rPr lang="en-US" sz="2000">
                          <a:solidFill>
                            <a:schemeClr val="accent6">
                              <a:lumMod val="60000"/>
                              <a:lumOff val="40000"/>
                            </a:schemeClr>
                          </a:solidFill>
                        </a:rPr>
                        <a:t>Balanced</a:t>
                      </a:r>
                    </a:p>
                  </a:txBody>
                  <a:tcPr anchor="ctr">
                    <a:lnL>
                      <a:noFill/>
                    </a:lnL>
                    <a:lnR>
                      <a:noFill/>
                    </a:lnR>
                    <a:lnT>
                      <a:noFill/>
                    </a:lnT>
                    <a:lnB>
                      <a:noFill/>
                    </a:lnB>
                    <a:noFill/>
                  </a:tcPr>
                </a:tc>
                <a:extLst>
                  <a:ext uri="{0D108BD9-81ED-4DB2-BD59-A6C34878D82A}">
                    <a16:rowId xmlns:a16="http://schemas.microsoft.com/office/drawing/2014/main" val="2871327958"/>
                  </a:ext>
                </a:extLst>
              </a:tr>
              <a:tr h="0">
                <a:tc>
                  <a:txBody>
                    <a:bodyPr/>
                    <a:lstStyle/>
                    <a:p>
                      <a:pPr algn="ctr">
                        <a:buNone/>
                      </a:pPr>
                      <a:r>
                        <a:rPr lang="en-US" sz="2000">
                          <a:solidFill>
                            <a:schemeClr val="accent6">
                              <a:lumMod val="60000"/>
                              <a:lumOff val="40000"/>
                            </a:schemeClr>
                          </a:solidFill>
                        </a:rPr>
                        <a:t>0.1</a:t>
                      </a:r>
                    </a:p>
                  </a:txBody>
                  <a:tcPr anchor="ctr">
                    <a:lnL>
                      <a:noFill/>
                    </a:lnL>
                    <a:lnR>
                      <a:noFill/>
                    </a:lnR>
                    <a:lnT>
                      <a:noFill/>
                    </a:lnT>
                    <a:lnB>
                      <a:noFill/>
                    </a:lnB>
                    <a:noFill/>
                  </a:tcPr>
                </a:tc>
                <a:tc>
                  <a:txBody>
                    <a:bodyPr/>
                    <a:lstStyle/>
                    <a:p>
                      <a:pPr algn="ctr">
                        <a:buNone/>
                      </a:pPr>
                      <a:r>
                        <a:rPr lang="en-US" sz="2000" dirty="0">
                          <a:solidFill>
                            <a:schemeClr val="accent6">
                              <a:lumMod val="60000"/>
                              <a:lumOff val="40000"/>
                            </a:schemeClr>
                          </a:solidFill>
                        </a:rPr>
                        <a:t>Very lenient</a:t>
                      </a:r>
                    </a:p>
                  </a:txBody>
                  <a:tcPr anchor="ctr">
                    <a:lnL>
                      <a:noFill/>
                    </a:lnL>
                    <a:lnR>
                      <a:noFill/>
                    </a:lnR>
                    <a:lnT>
                      <a:noFill/>
                    </a:lnT>
                    <a:lnB>
                      <a:noFill/>
                    </a:lnB>
                    <a:noFill/>
                  </a:tcPr>
                </a:tc>
                <a:extLst>
                  <a:ext uri="{0D108BD9-81ED-4DB2-BD59-A6C34878D82A}">
                    <a16:rowId xmlns:a16="http://schemas.microsoft.com/office/drawing/2014/main" val="3123933277"/>
                  </a:ext>
                </a:extLst>
              </a:tr>
            </a:tbl>
          </a:graphicData>
        </a:graphic>
      </p:graphicFrame>
      <p:sp>
        <p:nvSpPr>
          <p:cNvPr id="7" name="TextBox 6">
            <a:extLst>
              <a:ext uri="{FF2B5EF4-FFF2-40B4-BE49-F238E27FC236}">
                <a16:creationId xmlns:a16="http://schemas.microsoft.com/office/drawing/2014/main" id="{C958E243-C88E-7474-04F5-BD772C889272}"/>
              </a:ext>
            </a:extLst>
          </p:cNvPr>
          <p:cNvSpPr txBox="1"/>
          <p:nvPr/>
        </p:nvSpPr>
        <p:spPr>
          <a:xfrm>
            <a:off x="1037844" y="4942439"/>
            <a:ext cx="6190488" cy="1200329"/>
          </a:xfrm>
          <a:prstGeom prst="rect">
            <a:avLst/>
          </a:prstGeom>
          <a:noFill/>
        </p:spPr>
        <p:txBody>
          <a:bodyPr wrap="square">
            <a:spAutoFit/>
          </a:bodyPr>
          <a:lstStyle/>
          <a:p>
            <a:pPr>
              <a:buNone/>
            </a:pPr>
            <a:r>
              <a:rPr lang="en-US" sz="2400" dirty="0">
                <a:solidFill>
                  <a:schemeClr val="accent6">
                    <a:lumMod val="60000"/>
                    <a:lumOff val="40000"/>
                  </a:schemeClr>
                </a:solidFill>
              </a:rPr>
              <a:t>Lower threshold (0.1) ⇒</a:t>
            </a:r>
          </a:p>
          <a:p>
            <a:pPr marL="342900" indent="-342900">
              <a:buFont typeface="Arial" panose="020B0604020202020204" pitchFamily="34" charset="0"/>
              <a:buChar char="•"/>
            </a:pPr>
            <a:r>
              <a:rPr lang="en-US" sz="2400" dirty="0">
                <a:solidFill>
                  <a:schemeClr val="accent6">
                    <a:lumMod val="60000"/>
                    <a:lumOff val="40000"/>
                  </a:schemeClr>
                </a:solidFill>
              </a:rPr>
              <a:t>Catch more positives ✅</a:t>
            </a:r>
          </a:p>
          <a:p>
            <a:pPr marL="342900" indent="-342900">
              <a:buFont typeface="Arial" panose="020B0604020202020204" pitchFamily="34" charset="0"/>
              <a:buChar char="•"/>
            </a:pPr>
            <a:r>
              <a:rPr lang="en-US" sz="2400" dirty="0">
                <a:solidFill>
                  <a:schemeClr val="accent6">
                    <a:lumMod val="60000"/>
                    <a:lumOff val="40000"/>
                  </a:schemeClr>
                </a:solidFill>
              </a:rPr>
              <a:t>But increase false alarms ❌</a:t>
            </a:r>
          </a:p>
        </p:txBody>
      </p:sp>
    </p:spTree>
    <p:extLst>
      <p:ext uri="{BB962C8B-B14F-4D97-AF65-F5344CB8AC3E}">
        <p14:creationId xmlns:p14="http://schemas.microsoft.com/office/powerpoint/2010/main" val="316935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7FC14-CB76-7B16-ACDE-AB4003C33A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528CD7-F9AC-44D6-EECA-6858217D757B}"/>
              </a:ext>
            </a:extLst>
          </p:cNvPr>
          <p:cNvSpPr txBox="1"/>
          <p:nvPr/>
        </p:nvSpPr>
        <p:spPr>
          <a:xfrm>
            <a:off x="242316" y="1086350"/>
            <a:ext cx="6697980" cy="4154984"/>
          </a:xfrm>
          <a:prstGeom prst="rect">
            <a:avLst/>
          </a:prstGeom>
          <a:noFill/>
        </p:spPr>
        <p:txBody>
          <a:bodyPr wrap="square">
            <a:spAutoFit/>
          </a:bodyPr>
          <a:lstStyle/>
          <a:p>
            <a:r>
              <a:rPr lang="en-US" sz="2400" b="1" dirty="0">
                <a:solidFill>
                  <a:schemeClr val="accent6">
                    <a:lumMod val="60000"/>
                    <a:lumOff val="40000"/>
                  </a:schemeClr>
                </a:solidFill>
              </a:rPr>
              <a:t>What is ROC Curve?</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ROC = </a:t>
            </a:r>
            <a:r>
              <a:rPr lang="en-US" sz="2400" b="1" dirty="0">
                <a:solidFill>
                  <a:schemeClr val="accent6">
                    <a:lumMod val="60000"/>
                    <a:lumOff val="40000"/>
                  </a:schemeClr>
                </a:solidFill>
              </a:rPr>
              <a:t>Receiver Operating Characteristic</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term comes from radar systems in WWII</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ROC Curve plots</a:t>
            </a:r>
          </a:p>
          <a:p>
            <a:pPr marL="342900" indent="-342900">
              <a:buFont typeface="Arial" panose="020B0604020202020204" pitchFamily="34" charset="0"/>
              <a:buChar char="•"/>
            </a:pPr>
            <a:r>
              <a:rPr lang="en-US" sz="2400" dirty="0">
                <a:solidFill>
                  <a:schemeClr val="accent6">
                    <a:lumMod val="60000"/>
                    <a:lumOff val="40000"/>
                  </a:schemeClr>
                </a:solidFill>
              </a:rPr>
              <a:t>X-axis → False Positive Rate (FPR)</a:t>
            </a:r>
          </a:p>
          <a:p>
            <a:pPr marL="342900" indent="-342900">
              <a:buFont typeface="Arial" panose="020B0604020202020204" pitchFamily="34" charset="0"/>
              <a:buChar char="•"/>
            </a:pPr>
            <a:r>
              <a:rPr lang="en-US" sz="2400" dirty="0">
                <a:solidFill>
                  <a:schemeClr val="accent6">
                    <a:lumMod val="60000"/>
                    <a:lumOff val="40000"/>
                  </a:schemeClr>
                </a:solidFill>
              </a:rPr>
              <a:t>Y-axis → True Positive Rate (TPR)</a:t>
            </a:r>
          </a:p>
          <a:p>
            <a:r>
              <a:rPr lang="en-US" sz="2400" dirty="0">
                <a:solidFill>
                  <a:schemeClr val="accent6">
                    <a:lumMod val="60000"/>
                    <a:lumOff val="40000"/>
                  </a:schemeClr>
                </a:solidFill>
              </a:rPr>
              <a:t>for </a:t>
            </a:r>
            <a:r>
              <a:rPr lang="en-US" sz="2400" b="1" dirty="0">
                <a:solidFill>
                  <a:schemeClr val="accent6">
                    <a:lumMod val="60000"/>
                    <a:lumOff val="40000"/>
                  </a:schemeClr>
                </a:solidFill>
              </a:rPr>
              <a:t>different thresholds</a:t>
            </a:r>
            <a:r>
              <a:rPr lang="en-US" sz="2400" dirty="0">
                <a:solidFill>
                  <a:schemeClr val="accent6">
                    <a:lumMod val="60000"/>
                    <a:lumOff val="40000"/>
                  </a:schemeClr>
                </a:solidFill>
              </a:rPr>
              <a:t>.</a:t>
            </a:r>
          </a:p>
        </p:txBody>
      </p:sp>
      <p:pic>
        <p:nvPicPr>
          <p:cNvPr id="9" name="Picture 8">
            <a:extLst>
              <a:ext uri="{FF2B5EF4-FFF2-40B4-BE49-F238E27FC236}">
                <a16:creationId xmlns:a16="http://schemas.microsoft.com/office/drawing/2014/main" id="{64F48A38-60D3-EADE-5CDC-723A4D8AD913}"/>
              </a:ext>
            </a:extLst>
          </p:cNvPr>
          <p:cNvPicPr>
            <a:picLocks noChangeAspect="1"/>
          </p:cNvPicPr>
          <p:nvPr/>
        </p:nvPicPr>
        <p:blipFill>
          <a:blip r:embed="rId2"/>
          <a:stretch>
            <a:fillRect/>
          </a:stretch>
        </p:blipFill>
        <p:spPr>
          <a:xfrm>
            <a:off x="7522654" y="1305626"/>
            <a:ext cx="4427030" cy="3716431"/>
          </a:xfrm>
          <a:prstGeom prst="rect">
            <a:avLst/>
          </a:prstGeom>
        </p:spPr>
      </p:pic>
    </p:spTree>
    <p:extLst>
      <p:ext uri="{BB962C8B-B14F-4D97-AF65-F5344CB8AC3E}">
        <p14:creationId xmlns:p14="http://schemas.microsoft.com/office/powerpoint/2010/main" val="51642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4FB8-1036-7596-2F23-38446E3196B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109CF5C-936D-A7F1-1296-2D207BC5CC82}"/>
              </a:ext>
            </a:extLst>
          </p:cNvPr>
          <p:cNvPicPr>
            <a:picLocks noChangeAspect="1"/>
          </p:cNvPicPr>
          <p:nvPr/>
        </p:nvPicPr>
        <p:blipFill>
          <a:blip r:embed="rId2"/>
          <a:stretch>
            <a:fillRect/>
          </a:stretch>
        </p:blipFill>
        <p:spPr>
          <a:xfrm>
            <a:off x="6516847" y="1540994"/>
            <a:ext cx="5675153" cy="2052597"/>
          </a:xfrm>
          <a:prstGeom prst="rect">
            <a:avLst/>
          </a:prstGeom>
        </p:spPr>
      </p:pic>
      <p:sp>
        <p:nvSpPr>
          <p:cNvPr id="3" name="TextBox 2">
            <a:extLst>
              <a:ext uri="{FF2B5EF4-FFF2-40B4-BE49-F238E27FC236}">
                <a16:creationId xmlns:a16="http://schemas.microsoft.com/office/drawing/2014/main" id="{453249A4-1B4B-8E6E-F97E-77ED19C77A31}"/>
              </a:ext>
            </a:extLst>
          </p:cNvPr>
          <p:cNvSpPr txBox="1"/>
          <p:nvPr/>
        </p:nvSpPr>
        <p:spPr>
          <a:xfrm>
            <a:off x="138543" y="500849"/>
            <a:ext cx="7240665" cy="5262979"/>
          </a:xfrm>
          <a:prstGeom prst="rect">
            <a:avLst/>
          </a:prstGeom>
          <a:noFill/>
        </p:spPr>
        <p:txBody>
          <a:bodyPr wrap="square" rtlCol="0">
            <a:spAutoFit/>
          </a:bodyPr>
          <a:lstStyle/>
          <a:p>
            <a:r>
              <a:rPr lang="en-US" sz="2400" b="1" dirty="0">
                <a:solidFill>
                  <a:schemeClr val="accent6">
                    <a:lumMod val="60000"/>
                    <a:lumOff val="40000"/>
                  </a:schemeClr>
                </a:solidFill>
              </a:rPr>
              <a:t>TPR and FPR</a:t>
            </a:r>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You can derive TPR and FPR from a confusion matrix.</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In the example confusion matrix for threshold=0.5:</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TPR = 600 / ( 600 + 300) = 0.67</a:t>
            </a:r>
          </a:p>
          <a:p>
            <a:r>
              <a:rPr lang="en-US" sz="2400" dirty="0">
                <a:solidFill>
                  <a:schemeClr val="accent6">
                    <a:lumMod val="60000"/>
                    <a:lumOff val="40000"/>
                  </a:schemeClr>
                </a:solidFill>
              </a:rPr>
              <a:t>The model </a:t>
            </a:r>
            <a:r>
              <a:rPr lang="en-US" sz="2400" b="1" dirty="0">
                <a:solidFill>
                  <a:schemeClr val="accent6">
                    <a:lumMod val="60000"/>
                    <a:lumOff val="40000"/>
                  </a:schemeClr>
                </a:solidFill>
              </a:rPr>
              <a:t>successfully</a:t>
            </a:r>
            <a:r>
              <a:rPr lang="en-US" sz="2400" dirty="0">
                <a:solidFill>
                  <a:schemeClr val="accent6">
                    <a:lumMod val="60000"/>
                    <a:lumOff val="40000"/>
                  </a:schemeClr>
                </a:solidFill>
              </a:rPr>
              <a:t> detected 67% of all spam (A) emails</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FPR = 100 / (100 + 9000) = 0.01</a:t>
            </a:r>
          </a:p>
          <a:p>
            <a:r>
              <a:rPr lang="en-US" sz="2400" dirty="0">
                <a:solidFill>
                  <a:schemeClr val="accent6">
                    <a:lumMod val="60000"/>
                    <a:lumOff val="40000"/>
                  </a:schemeClr>
                </a:solidFill>
              </a:rPr>
              <a:t>The model </a:t>
            </a:r>
            <a:r>
              <a:rPr lang="en-US" sz="2400" b="1" dirty="0">
                <a:solidFill>
                  <a:schemeClr val="accent6">
                    <a:lumMod val="60000"/>
                    <a:lumOff val="40000"/>
                  </a:schemeClr>
                </a:solidFill>
              </a:rPr>
              <a:t>falsely</a:t>
            </a:r>
            <a:r>
              <a:rPr lang="en-US" sz="2400" dirty="0">
                <a:solidFill>
                  <a:schemeClr val="accent6">
                    <a:lumMod val="60000"/>
                    <a:lumOff val="40000"/>
                  </a:schemeClr>
                </a:solidFill>
              </a:rPr>
              <a:t> flagged 1% of legitimate emails (B) as spam</a:t>
            </a:r>
          </a:p>
        </p:txBody>
      </p:sp>
    </p:spTree>
    <p:extLst>
      <p:ext uri="{BB962C8B-B14F-4D97-AF65-F5344CB8AC3E}">
        <p14:creationId xmlns:p14="http://schemas.microsoft.com/office/powerpoint/2010/main" val="2168288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C4757-C151-93C1-EECB-1420BDB829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06EDA2-3653-7633-925E-61DC9CC4E2D9}"/>
              </a:ext>
            </a:extLst>
          </p:cNvPr>
          <p:cNvSpPr txBox="1"/>
          <p:nvPr/>
        </p:nvSpPr>
        <p:spPr>
          <a:xfrm>
            <a:off x="242316" y="866894"/>
            <a:ext cx="11949684" cy="3785652"/>
          </a:xfrm>
          <a:prstGeom prst="rect">
            <a:avLst/>
          </a:prstGeom>
          <a:noFill/>
        </p:spPr>
        <p:txBody>
          <a:bodyPr wrap="square">
            <a:spAutoFit/>
          </a:bodyPr>
          <a:lstStyle/>
          <a:p>
            <a:r>
              <a:rPr lang="en-US" sz="2400" dirty="0">
                <a:solidFill>
                  <a:schemeClr val="accent6">
                    <a:lumMod val="60000"/>
                    <a:lumOff val="40000"/>
                  </a:schemeClr>
                </a:solidFill>
              </a:rPr>
              <a:t>The</a:t>
            </a:r>
            <a:r>
              <a:rPr lang="en-US" sz="2400" b="1" dirty="0">
                <a:solidFill>
                  <a:schemeClr val="accent6">
                    <a:lumMod val="60000"/>
                    <a:lumOff val="40000"/>
                  </a:schemeClr>
                </a:solidFill>
              </a:rPr>
              <a:t> ROC curve </a:t>
            </a:r>
            <a:r>
              <a:rPr lang="en-US" sz="2400" dirty="0">
                <a:solidFill>
                  <a:schemeClr val="accent6">
                    <a:lumMod val="60000"/>
                    <a:lumOff val="40000"/>
                  </a:schemeClr>
                </a:solidFill>
              </a:rPr>
              <a:t>shows the performance of a binary classifier with </a:t>
            </a:r>
            <a:r>
              <a:rPr lang="en-US" sz="2400" b="1" dirty="0">
                <a:solidFill>
                  <a:schemeClr val="accent6">
                    <a:lumMod val="60000"/>
                    <a:lumOff val="40000"/>
                  </a:schemeClr>
                </a:solidFill>
              </a:rPr>
              <a:t>different decision thresholds</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That is , it plots (FPR,TPR) for various thresholds.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Example:</a:t>
            </a:r>
          </a:p>
          <a:p>
            <a:r>
              <a:rPr lang="en-US" sz="2400" dirty="0">
                <a:solidFill>
                  <a:schemeClr val="accent6">
                    <a:lumMod val="60000"/>
                    <a:lumOff val="40000"/>
                  </a:schemeClr>
                </a:solidFill>
              </a:rPr>
              <a:t>For threshold=0.3, </a:t>
            </a:r>
          </a:p>
          <a:p>
            <a:r>
              <a:rPr lang="en-US" sz="2400" dirty="0">
                <a:solidFill>
                  <a:schemeClr val="accent6">
                    <a:lumMod val="60000"/>
                    <a:lumOff val="40000"/>
                  </a:schemeClr>
                </a:solidFill>
              </a:rPr>
              <a:t> (FPR, TPR) = (0.2, 0.6)</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For threshold=0.7, </a:t>
            </a:r>
          </a:p>
          <a:p>
            <a:r>
              <a:rPr lang="en-US" sz="2400" dirty="0">
                <a:solidFill>
                  <a:schemeClr val="accent6">
                    <a:lumMod val="60000"/>
                    <a:lumOff val="40000"/>
                  </a:schemeClr>
                </a:solidFill>
              </a:rPr>
              <a:t> (FPR, TPR) = (0.6, 0.8)</a:t>
            </a:r>
          </a:p>
        </p:txBody>
      </p:sp>
      <p:pic>
        <p:nvPicPr>
          <p:cNvPr id="7" name="Picture 6">
            <a:extLst>
              <a:ext uri="{FF2B5EF4-FFF2-40B4-BE49-F238E27FC236}">
                <a16:creationId xmlns:a16="http://schemas.microsoft.com/office/drawing/2014/main" id="{DBDFAFB8-0ACE-0514-73DB-DCB07EDE73EF}"/>
              </a:ext>
            </a:extLst>
          </p:cNvPr>
          <p:cNvPicPr>
            <a:picLocks noChangeAspect="1"/>
          </p:cNvPicPr>
          <p:nvPr/>
        </p:nvPicPr>
        <p:blipFill>
          <a:blip r:embed="rId2"/>
          <a:stretch>
            <a:fillRect/>
          </a:stretch>
        </p:blipFill>
        <p:spPr>
          <a:xfrm>
            <a:off x="5410229" y="1929384"/>
            <a:ext cx="4328141" cy="4562888"/>
          </a:xfrm>
          <a:prstGeom prst="rect">
            <a:avLst/>
          </a:prstGeom>
        </p:spPr>
      </p:pic>
    </p:spTree>
    <p:extLst>
      <p:ext uri="{BB962C8B-B14F-4D97-AF65-F5344CB8AC3E}">
        <p14:creationId xmlns:p14="http://schemas.microsoft.com/office/powerpoint/2010/main" val="2420357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0F17-DB63-569C-6045-905F0A51C0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861090-5F19-534C-3B0D-5CF4F7A84888}"/>
              </a:ext>
            </a:extLst>
          </p:cNvPr>
          <p:cNvSpPr txBox="1"/>
          <p:nvPr/>
        </p:nvSpPr>
        <p:spPr>
          <a:xfrm>
            <a:off x="242316" y="98798"/>
            <a:ext cx="10986516" cy="2677656"/>
          </a:xfrm>
          <a:prstGeom prst="rect">
            <a:avLst/>
          </a:prstGeom>
          <a:noFill/>
        </p:spPr>
        <p:txBody>
          <a:bodyPr wrap="square">
            <a:spAutoFit/>
          </a:bodyPr>
          <a:lstStyle/>
          <a:p>
            <a:r>
              <a:rPr lang="en-US" sz="2400" b="1" dirty="0">
                <a:solidFill>
                  <a:schemeClr val="accent6">
                    <a:lumMod val="60000"/>
                    <a:lumOff val="40000"/>
                  </a:schemeClr>
                </a:solidFill>
              </a:rPr>
              <a:t>What is AUC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AUC = </a:t>
            </a:r>
            <a:r>
              <a:rPr lang="en-US" sz="2400" b="1" dirty="0">
                <a:solidFill>
                  <a:schemeClr val="accent6">
                    <a:lumMod val="60000"/>
                    <a:lumOff val="40000"/>
                  </a:schemeClr>
                </a:solidFill>
              </a:rPr>
              <a:t>Area Under the Curve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measures </a:t>
            </a:r>
            <a:r>
              <a:rPr lang="en-US" sz="2400" b="1" dirty="0">
                <a:solidFill>
                  <a:schemeClr val="accent6">
                    <a:lumMod val="60000"/>
                    <a:lumOff val="40000"/>
                  </a:schemeClr>
                </a:solidFill>
              </a:rPr>
              <a:t>how good the model is at separating classes.</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The ROC AUC score is a metric to evaluate the performance of </a:t>
            </a:r>
            <a:r>
              <a:rPr lang="en-US" sz="2400" b="1" dirty="0">
                <a:solidFill>
                  <a:schemeClr val="accent6">
                    <a:lumMod val="60000"/>
                    <a:lumOff val="40000"/>
                  </a:schemeClr>
                </a:solidFill>
              </a:rPr>
              <a:t>binary classifiers</a:t>
            </a:r>
            <a:r>
              <a:rPr lang="en-US" sz="2400" dirty="0">
                <a:solidFill>
                  <a:schemeClr val="accent6">
                    <a:lumMod val="60000"/>
                    <a:lumOff val="40000"/>
                  </a:schemeClr>
                </a:solidFill>
              </a:rPr>
              <a:t>.</a:t>
            </a:r>
          </a:p>
        </p:txBody>
      </p:sp>
      <p:pic>
        <p:nvPicPr>
          <p:cNvPr id="10" name="Picture 9">
            <a:extLst>
              <a:ext uri="{FF2B5EF4-FFF2-40B4-BE49-F238E27FC236}">
                <a16:creationId xmlns:a16="http://schemas.microsoft.com/office/drawing/2014/main" id="{C0E752BE-73DD-2EC9-1D4E-E444BE09A444}"/>
              </a:ext>
            </a:extLst>
          </p:cNvPr>
          <p:cNvPicPr>
            <a:picLocks noChangeAspect="1"/>
          </p:cNvPicPr>
          <p:nvPr/>
        </p:nvPicPr>
        <p:blipFill>
          <a:blip r:embed="rId2"/>
          <a:stretch>
            <a:fillRect/>
          </a:stretch>
        </p:blipFill>
        <p:spPr>
          <a:xfrm>
            <a:off x="3538728" y="3120306"/>
            <a:ext cx="3858189" cy="3638896"/>
          </a:xfrm>
          <a:prstGeom prst="rect">
            <a:avLst/>
          </a:prstGeom>
        </p:spPr>
      </p:pic>
    </p:spTree>
    <p:extLst>
      <p:ext uri="{BB962C8B-B14F-4D97-AF65-F5344CB8AC3E}">
        <p14:creationId xmlns:p14="http://schemas.microsoft.com/office/powerpoint/2010/main" val="1139281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50588-9426-EFC0-57F7-5EE47E211D7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0F5B126-8F6F-7F00-A850-D9F98AEF7FFA}"/>
              </a:ext>
            </a:extLst>
          </p:cNvPr>
          <p:cNvGraphicFramePr>
            <a:graphicFrameLocks noGrp="1"/>
          </p:cNvGraphicFramePr>
          <p:nvPr>
            <p:extLst>
              <p:ext uri="{D42A27DB-BD31-4B8C-83A1-F6EECF244321}">
                <p14:modId xmlns:p14="http://schemas.microsoft.com/office/powerpoint/2010/main" val="3203396975"/>
              </p:ext>
            </p:extLst>
          </p:nvPr>
        </p:nvGraphicFramePr>
        <p:xfrm>
          <a:off x="344424" y="1194086"/>
          <a:ext cx="4511040" cy="2743200"/>
        </p:xfrm>
        <a:graphic>
          <a:graphicData uri="http://schemas.openxmlformats.org/drawingml/2006/table">
            <a:tbl>
              <a:tblPr/>
              <a:tblGrid>
                <a:gridCol w="1694688">
                  <a:extLst>
                    <a:ext uri="{9D8B030D-6E8A-4147-A177-3AD203B41FA5}">
                      <a16:colId xmlns:a16="http://schemas.microsoft.com/office/drawing/2014/main" val="4153357110"/>
                    </a:ext>
                  </a:extLst>
                </a:gridCol>
                <a:gridCol w="2816352">
                  <a:extLst>
                    <a:ext uri="{9D8B030D-6E8A-4147-A177-3AD203B41FA5}">
                      <a16:colId xmlns:a16="http://schemas.microsoft.com/office/drawing/2014/main" val="1765818207"/>
                    </a:ext>
                  </a:extLst>
                </a:gridCol>
              </a:tblGrid>
              <a:tr h="0">
                <a:tc>
                  <a:txBody>
                    <a:bodyPr/>
                    <a:lstStyle/>
                    <a:p>
                      <a:pPr algn="ctr">
                        <a:buNone/>
                      </a:pPr>
                      <a:r>
                        <a:rPr lang="en-US" sz="2400" b="1" u="sng" dirty="0">
                          <a:solidFill>
                            <a:schemeClr val="accent6">
                              <a:lumMod val="60000"/>
                              <a:lumOff val="40000"/>
                            </a:schemeClr>
                          </a:solidFill>
                        </a:rPr>
                        <a:t>AUC</a:t>
                      </a:r>
                    </a:p>
                  </a:txBody>
                  <a:tcPr anchor="ctr">
                    <a:lnL>
                      <a:noFill/>
                    </a:lnL>
                    <a:lnR>
                      <a:noFill/>
                    </a:lnR>
                    <a:lnT>
                      <a:noFill/>
                    </a:lnT>
                    <a:lnB>
                      <a:noFill/>
                    </a:lnB>
                    <a:noFill/>
                  </a:tcPr>
                </a:tc>
                <a:tc>
                  <a:txBody>
                    <a:bodyPr/>
                    <a:lstStyle/>
                    <a:p>
                      <a:pPr algn="ctr">
                        <a:buNone/>
                      </a:pPr>
                      <a:r>
                        <a:rPr lang="en-US" sz="2400" b="1" u="sng" dirty="0">
                          <a:solidFill>
                            <a:schemeClr val="accent6">
                              <a:lumMod val="60000"/>
                              <a:lumOff val="40000"/>
                            </a:schemeClr>
                          </a:solidFill>
                        </a:rPr>
                        <a:t>Meaning</a:t>
                      </a:r>
                    </a:p>
                  </a:txBody>
                  <a:tcPr anchor="ctr">
                    <a:lnL>
                      <a:noFill/>
                    </a:lnL>
                    <a:lnR>
                      <a:noFill/>
                    </a:lnR>
                    <a:lnT>
                      <a:noFill/>
                    </a:lnT>
                    <a:lnB>
                      <a:noFill/>
                    </a:lnB>
                    <a:noFill/>
                  </a:tcPr>
                </a:tc>
                <a:extLst>
                  <a:ext uri="{0D108BD9-81ED-4DB2-BD59-A6C34878D82A}">
                    <a16:rowId xmlns:a16="http://schemas.microsoft.com/office/drawing/2014/main" val="4271268376"/>
                  </a:ext>
                </a:extLst>
              </a:tr>
              <a:tr h="0">
                <a:tc>
                  <a:txBody>
                    <a:bodyPr/>
                    <a:lstStyle/>
                    <a:p>
                      <a:pPr algn="ctr">
                        <a:buNone/>
                      </a:pPr>
                      <a:r>
                        <a:rPr lang="en-US" sz="2400" dirty="0">
                          <a:solidFill>
                            <a:schemeClr val="accent6">
                              <a:lumMod val="60000"/>
                              <a:lumOff val="40000"/>
                            </a:schemeClr>
                          </a:solidFill>
                        </a:rPr>
                        <a:t>1.0</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Perfect model</a:t>
                      </a:r>
                    </a:p>
                  </a:txBody>
                  <a:tcPr anchor="ctr">
                    <a:lnL>
                      <a:noFill/>
                    </a:lnL>
                    <a:lnR>
                      <a:noFill/>
                    </a:lnR>
                    <a:lnT>
                      <a:noFill/>
                    </a:lnT>
                    <a:lnB>
                      <a:noFill/>
                    </a:lnB>
                    <a:noFill/>
                  </a:tcPr>
                </a:tc>
                <a:extLst>
                  <a:ext uri="{0D108BD9-81ED-4DB2-BD59-A6C34878D82A}">
                    <a16:rowId xmlns:a16="http://schemas.microsoft.com/office/drawing/2014/main" val="2231027199"/>
                  </a:ext>
                </a:extLst>
              </a:tr>
              <a:tr h="0">
                <a:tc>
                  <a:txBody>
                    <a:bodyPr/>
                    <a:lstStyle/>
                    <a:p>
                      <a:pPr algn="ctr">
                        <a:buNone/>
                      </a:pPr>
                      <a:r>
                        <a:rPr lang="en-US" sz="2400">
                          <a:solidFill>
                            <a:schemeClr val="accent6">
                              <a:lumMod val="60000"/>
                              <a:lumOff val="40000"/>
                            </a:schemeClr>
                          </a:solidFill>
                        </a:rPr>
                        <a:t>0.9</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Excellent</a:t>
                      </a:r>
                    </a:p>
                  </a:txBody>
                  <a:tcPr anchor="ctr">
                    <a:lnL>
                      <a:noFill/>
                    </a:lnL>
                    <a:lnR>
                      <a:noFill/>
                    </a:lnR>
                    <a:lnT>
                      <a:noFill/>
                    </a:lnT>
                    <a:lnB>
                      <a:noFill/>
                    </a:lnB>
                    <a:noFill/>
                  </a:tcPr>
                </a:tc>
                <a:extLst>
                  <a:ext uri="{0D108BD9-81ED-4DB2-BD59-A6C34878D82A}">
                    <a16:rowId xmlns:a16="http://schemas.microsoft.com/office/drawing/2014/main" val="1437413772"/>
                  </a:ext>
                </a:extLst>
              </a:tr>
              <a:tr h="0">
                <a:tc>
                  <a:txBody>
                    <a:bodyPr/>
                    <a:lstStyle/>
                    <a:p>
                      <a:pPr algn="ctr">
                        <a:buNone/>
                      </a:pPr>
                      <a:r>
                        <a:rPr lang="en-US" sz="2400">
                          <a:solidFill>
                            <a:schemeClr val="accent6">
                              <a:lumMod val="60000"/>
                              <a:lumOff val="40000"/>
                            </a:schemeClr>
                          </a:solidFill>
                        </a:rPr>
                        <a:t>0.8</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Good</a:t>
                      </a:r>
                    </a:p>
                  </a:txBody>
                  <a:tcPr anchor="ctr">
                    <a:lnL>
                      <a:noFill/>
                    </a:lnL>
                    <a:lnR>
                      <a:noFill/>
                    </a:lnR>
                    <a:lnT>
                      <a:noFill/>
                    </a:lnT>
                    <a:lnB>
                      <a:noFill/>
                    </a:lnB>
                    <a:noFill/>
                  </a:tcPr>
                </a:tc>
                <a:extLst>
                  <a:ext uri="{0D108BD9-81ED-4DB2-BD59-A6C34878D82A}">
                    <a16:rowId xmlns:a16="http://schemas.microsoft.com/office/drawing/2014/main" val="364576766"/>
                  </a:ext>
                </a:extLst>
              </a:tr>
              <a:tr h="0">
                <a:tc>
                  <a:txBody>
                    <a:bodyPr/>
                    <a:lstStyle/>
                    <a:p>
                      <a:pPr algn="ctr">
                        <a:buNone/>
                      </a:pPr>
                      <a:r>
                        <a:rPr lang="en-US" sz="2400">
                          <a:solidFill>
                            <a:schemeClr val="accent6">
                              <a:lumMod val="60000"/>
                              <a:lumOff val="40000"/>
                            </a:schemeClr>
                          </a:solidFill>
                        </a:rPr>
                        <a:t>0.5</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Random guessing</a:t>
                      </a:r>
                    </a:p>
                  </a:txBody>
                  <a:tcPr anchor="ctr">
                    <a:lnL>
                      <a:noFill/>
                    </a:lnL>
                    <a:lnR>
                      <a:noFill/>
                    </a:lnR>
                    <a:lnT>
                      <a:noFill/>
                    </a:lnT>
                    <a:lnB>
                      <a:noFill/>
                    </a:lnB>
                    <a:noFill/>
                  </a:tcPr>
                </a:tc>
                <a:extLst>
                  <a:ext uri="{0D108BD9-81ED-4DB2-BD59-A6C34878D82A}">
                    <a16:rowId xmlns:a16="http://schemas.microsoft.com/office/drawing/2014/main" val="50363190"/>
                  </a:ext>
                </a:extLst>
              </a:tr>
              <a:tr h="0">
                <a:tc>
                  <a:txBody>
                    <a:bodyPr/>
                    <a:lstStyle/>
                    <a:p>
                      <a:pPr algn="ctr">
                        <a:buNone/>
                      </a:pPr>
                      <a:r>
                        <a:rPr lang="en-US" sz="2400" dirty="0">
                          <a:solidFill>
                            <a:schemeClr val="accent6">
                              <a:lumMod val="60000"/>
                              <a:lumOff val="40000"/>
                            </a:schemeClr>
                          </a:solidFill>
                        </a:rPr>
                        <a:t>&lt; 0.5</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Worse than random</a:t>
                      </a:r>
                    </a:p>
                  </a:txBody>
                  <a:tcPr anchor="ctr">
                    <a:lnL>
                      <a:noFill/>
                    </a:lnL>
                    <a:lnR>
                      <a:noFill/>
                    </a:lnR>
                    <a:lnT>
                      <a:noFill/>
                    </a:lnT>
                    <a:lnB>
                      <a:noFill/>
                    </a:lnB>
                    <a:noFill/>
                  </a:tcPr>
                </a:tc>
                <a:extLst>
                  <a:ext uri="{0D108BD9-81ED-4DB2-BD59-A6C34878D82A}">
                    <a16:rowId xmlns:a16="http://schemas.microsoft.com/office/drawing/2014/main" val="3131436941"/>
                  </a:ext>
                </a:extLst>
              </a:tr>
            </a:tbl>
          </a:graphicData>
        </a:graphic>
      </p:graphicFrame>
      <p:pic>
        <p:nvPicPr>
          <p:cNvPr id="6" name="Picture 5">
            <a:extLst>
              <a:ext uri="{FF2B5EF4-FFF2-40B4-BE49-F238E27FC236}">
                <a16:creationId xmlns:a16="http://schemas.microsoft.com/office/drawing/2014/main" id="{B2DC1766-6A03-396F-6389-44DF5D72CB2F}"/>
              </a:ext>
            </a:extLst>
          </p:cNvPr>
          <p:cNvPicPr>
            <a:picLocks noChangeAspect="1"/>
          </p:cNvPicPr>
          <p:nvPr/>
        </p:nvPicPr>
        <p:blipFill>
          <a:blip r:embed="rId3"/>
          <a:stretch>
            <a:fillRect/>
          </a:stretch>
        </p:blipFill>
        <p:spPr>
          <a:xfrm>
            <a:off x="6437310" y="2351636"/>
            <a:ext cx="3443057" cy="1983700"/>
          </a:xfrm>
          <a:prstGeom prst="rect">
            <a:avLst/>
          </a:prstGeom>
        </p:spPr>
      </p:pic>
      <p:pic>
        <p:nvPicPr>
          <p:cNvPr id="8" name="Picture 7">
            <a:extLst>
              <a:ext uri="{FF2B5EF4-FFF2-40B4-BE49-F238E27FC236}">
                <a16:creationId xmlns:a16="http://schemas.microsoft.com/office/drawing/2014/main" id="{16BD7CF6-4CC3-3DD5-B5F3-27AAEF289693}"/>
              </a:ext>
            </a:extLst>
          </p:cNvPr>
          <p:cNvPicPr>
            <a:picLocks noChangeAspect="1"/>
          </p:cNvPicPr>
          <p:nvPr/>
        </p:nvPicPr>
        <p:blipFill>
          <a:blip r:embed="rId4"/>
          <a:stretch>
            <a:fillRect/>
          </a:stretch>
        </p:blipFill>
        <p:spPr>
          <a:xfrm>
            <a:off x="6371487" y="4577004"/>
            <a:ext cx="3574702" cy="2096225"/>
          </a:xfrm>
          <a:prstGeom prst="rect">
            <a:avLst/>
          </a:prstGeom>
        </p:spPr>
      </p:pic>
      <p:pic>
        <p:nvPicPr>
          <p:cNvPr id="10" name="Picture 9">
            <a:extLst>
              <a:ext uri="{FF2B5EF4-FFF2-40B4-BE49-F238E27FC236}">
                <a16:creationId xmlns:a16="http://schemas.microsoft.com/office/drawing/2014/main" id="{F674529D-67C0-04F7-FFAC-DF67DD4A0D1E}"/>
              </a:ext>
            </a:extLst>
          </p:cNvPr>
          <p:cNvPicPr>
            <a:picLocks noChangeAspect="1"/>
          </p:cNvPicPr>
          <p:nvPr/>
        </p:nvPicPr>
        <p:blipFill>
          <a:blip r:embed="rId5"/>
          <a:stretch>
            <a:fillRect/>
          </a:stretch>
        </p:blipFill>
        <p:spPr>
          <a:xfrm>
            <a:off x="6190488" y="32809"/>
            <a:ext cx="3552719" cy="2096225"/>
          </a:xfrm>
          <a:prstGeom prst="rect">
            <a:avLst/>
          </a:prstGeom>
        </p:spPr>
      </p:pic>
      <p:sp>
        <p:nvSpPr>
          <p:cNvPr id="12" name="TextBox 11">
            <a:extLst>
              <a:ext uri="{FF2B5EF4-FFF2-40B4-BE49-F238E27FC236}">
                <a16:creationId xmlns:a16="http://schemas.microsoft.com/office/drawing/2014/main" id="{9556D30B-A80F-1438-C78A-1231EC531BEE}"/>
              </a:ext>
            </a:extLst>
          </p:cNvPr>
          <p:cNvSpPr txBox="1"/>
          <p:nvPr/>
        </p:nvSpPr>
        <p:spPr>
          <a:xfrm>
            <a:off x="32004" y="4613255"/>
            <a:ext cx="6190488"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Perfect model </a:t>
            </a:r>
            <a:r>
              <a:rPr lang="en-US" sz="2400" dirty="0">
                <a:solidFill>
                  <a:schemeClr val="accent6">
                    <a:lumMod val="60000"/>
                    <a:lumOff val="40000"/>
                  </a:schemeClr>
                </a:solidFill>
              </a:rPr>
              <a:t>would have an AUC of 1.</a:t>
            </a:r>
          </a:p>
          <a:p>
            <a:pPr marL="342900" indent="-342900">
              <a:buFont typeface="Arial" panose="020B0604020202020204" pitchFamily="34" charset="0"/>
              <a:buChar char="•"/>
            </a:pPr>
            <a:r>
              <a:rPr lang="en-US" sz="2400" b="1" dirty="0">
                <a:solidFill>
                  <a:schemeClr val="accent6">
                    <a:lumMod val="60000"/>
                    <a:lumOff val="40000"/>
                  </a:schemeClr>
                </a:solidFill>
              </a:rPr>
              <a:t>Random model </a:t>
            </a:r>
            <a:r>
              <a:rPr lang="en-US" sz="2400" dirty="0">
                <a:solidFill>
                  <a:schemeClr val="accent6">
                    <a:lumMod val="60000"/>
                    <a:lumOff val="40000"/>
                  </a:schemeClr>
                </a:solidFill>
              </a:rPr>
              <a:t>would have an AUC of 0.5.</a:t>
            </a:r>
          </a:p>
          <a:p>
            <a:pPr marL="342900" indent="-342900">
              <a:buFont typeface="Arial" panose="020B0604020202020204" pitchFamily="34" charset="0"/>
              <a:buChar char="•"/>
            </a:pPr>
            <a:r>
              <a:rPr lang="en-US" sz="2400" b="1" dirty="0">
                <a:solidFill>
                  <a:schemeClr val="accent6">
                    <a:lumMod val="60000"/>
                    <a:lumOff val="40000"/>
                  </a:schemeClr>
                </a:solidFill>
              </a:rPr>
              <a:t>Bad model </a:t>
            </a:r>
            <a:r>
              <a:rPr lang="en-US" sz="2400" dirty="0">
                <a:solidFill>
                  <a:schemeClr val="accent6">
                    <a:lumMod val="60000"/>
                    <a:lumOff val="40000"/>
                  </a:schemeClr>
                </a:solidFill>
              </a:rPr>
              <a:t>would have AUC &lt; 0.5</a:t>
            </a:r>
          </a:p>
        </p:txBody>
      </p:sp>
    </p:spTree>
    <p:extLst>
      <p:ext uri="{BB962C8B-B14F-4D97-AF65-F5344CB8AC3E}">
        <p14:creationId xmlns:p14="http://schemas.microsoft.com/office/powerpoint/2010/main" val="2131984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E9398-40C1-151A-C8E5-3FEE4823BB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20959B-55F4-9940-136C-A5E0E6824C85}"/>
              </a:ext>
            </a:extLst>
          </p:cNvPr>
          <p:cNvSpPr txBox="1"/>
          <p:nvPr/>
        </p:nvSpPr>
        <p:spPr>
          <a:xfrm>
            <a:off x="299968" y="687566"/>
            <a:ext cx="11468360" cy="2308324"/>
          </a:xfrm>
          <a:prstGeom prst="rect">
            <a:avLst/>
          </a:prstGeom>
          <a:noFill/>
        </p:spPr>
        <p:txBody>
          <a:bodyPr wrap="square" rtlCol="0">
            <a:spAutoFit/>
          </a:bodyPr>
          <a:lstStyle/>
          <a:p>
            <a:r>
              <a:rPr lang="en-US" sz="2400" dirty="0">
                <a:solidFill>
                  <a:schemeClr val="accent6">
                    <a:lumMod val="60000"/>
                    <a:lumOff val="40000"/>
                  </a:schemeClr>
                </a:solidFill>
              </a:rPr>
              <a:t>If our model is correct in all the predictions, all the time, it means that the TPR is always 1.0, and FPR is 0.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finds all the cases and never gives false alarms.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Here AUC = 1.</a:t>
            </a:r>
          </a:p>
        </p:txBody>
      </p:sp>
      <p:pic>
        <p:nvPicPr>
          <p:cNvPr id="11" name="Picture 10">
            <a:extLst>
              <a:ext uri="{FF2B5EF4-FFF2-40B4-BE49-F238E27FC236}">
                <a16:creationId xmlns:a16="http://schemas.microsoft.com/office/drawing/2014/main" id="{279E4218-10A8-7BE2-79A5-EF7B5F2AE0DD}"/>
              </a:ext>
            </a:extLst>
          </p:cNvPr>
          <p:cNvPicPr>
            <a:picLocks noChangeAspect="1"/>
          </p:cNvPicPr>
          <p:nvPr/>
        </p:nvPicPr>
        <p:blipFill>
          <a:blip r:embed="rId3"/>
          <a:stretch>
            <a:fillRect/>
          </a:stretch>
        </p:blipFill>
        <p:spPr>
          <a:xfrm>
            <a:off x="3290512" y="2892539"/>
            <a:ext cx="5487271" cy="3858935"/>
          </a:xfrm>
          <a:prstGeom prst="rect">
            <a:avLst/>
          </a:prstGeom>
        </p:spPr>
      </p:pic>
    </p:spTree>
    <p:extLst>
      <p:ext uri="{BB962C8B-B14F-4D97-AF65-F5344CB8AC3E}">
        <p14:creationId xmlns:p14="http://schemas.microsoft.com/office/powerpoint/2010/main" val="73904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9538-381C-9F1C-ECE4-F1C0B9694FA2}"/>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F943BD3-DEB2-5B87-DE90-0507E58E3086}"/>
              </a:ext>
            </a:extLst>
          </p:cNvPr>
          <p:cNvGraphicFramePr>
            <a:graphicFrameLocks noGrp="1"/>
          </p:cNvGraphicFramePr>
          <p:nvPr>
            <p:extLst>
              <p:ext uri="{D42A27DB-BD31-4B8C-83A1-F6EECF244321}">
                <p14:modId xmlns:p14="http://schemas.microsoft.com/office/powerpoint/2010/main" val="2936789240"/>
              </p:ext>
            </p:extLst>
          </p:nvPr>
        </p:nvGraphicFramePr>
        <p:xfrm>
          <a:off x="5309616" y="758952"/>
          <a:ext cx="5599176" cy="1828800"/>
        </p:xfrm>
        <a:graphic>
          <a:graphicData uri="http://schemas.openxmlformats.org/drawingml/2006/table">
            <a:tbl>
              <a:tblPr/>
              <a:tblGrid>
                <a:gridCol w="2974848">
                  <a:extLst>
                    <a:ext uri="{9D8B030D-6E8A-4147-A177-3AD203B41FA5}">
                      <a16:colId xmlns:a16="http://schemas.microsoft.com/office/drawing/2014/main" val="3489990036"/>
                    </a:ext>
                  </a:extLst>
                </a:gridCol>
                <a:gridCol w="2624328">
                  <a:extLst>
                    <a:ext uri="{9D8B030D-6E8A-4147-A177-3AD203B41FA5}">
                      <a16:colId xmlns:a16="http://schemas.microsoft.com/office/drawing/2014/main" val="33916457"/>
                    </a:ext>
                  </a:extLst>
                </a:gridCol>
              </a:tblGrid>
              <a:tr h="0">
                <a:tc>
                  <a:txBody>
                    <a:bodyPr/>
                    <a:lstStyle/>
                    <a:p>
                      <a:pPr algn="ctr">
                        <a:buNone/>
                      </a:pPr>
                      <a:r>
                        <a:rPr lang="en-US" sz="2400" b="1" u="sng" dirty="0">
                          <a:solidFill>
                            <a:schemeClr val="accent6">
                              <a:lumMod val="60000"/>
                              <a:lumOff val="40000"/>
                            </a:schemeClr>
                          </a:solidFill>
                        </a:rPr>
                        <a:t>Model</a:t>
                      </a:r>
                    </a:p>
                  </a:txBody>
                  <a:tcPr anchor="ctr">
                    <a:lnL>
                      <a:noFill/>
                    </a:lnL>
                    <a:lnR>
                      <a:noFill/>
                    </a:lnR>
                    <a:lnT>
                      <a:noFill/>
                    </a:lnT>
                    <a:lnB>
                      <a:noFill/>
                    </a:lnB>
                    <a:noFill/>
                  </a:tcPr>
                </a:tc>
                <a:tc>
                  <a:txBody>
                    <a:bodyPr/>
                    <a:lstStyle/>
                    <a:p>
                      <a:pPr algn="ctr">
                        <a:buNone/>
                      </a:pPr>
                      <a:r>
                        <a:rPr lang="en-US" sz="2400" b="1" u="sng" dirty="0">
                          <a:solidFill>
                            <a:schemeClr val="accent6">
                              <a:lumMod val="60000"/>
                              <a:lumOff val="40000"/>
                            </a:schemeClr>
                          </a:solidFill>
                        </a:rPr>
                        <a:t>AUC</a:t>
                      </a:r>
                    </a:p>
                  </a:txBody>
                  <a:tcPr anchor="ctr">
                    <a:lnL>
                      <a:noFill/>
                    </a:lnL>
                    <a:lnR>
                      <a:noFill/>
                    </a:lnR>
                    <a:lnT>
                      <a:noFill/>
                    </a:lnT>
                    <a:lnB>
                      <a:noFill/>
                    </a:lnB>
                    <a:noFill/>
                  </a:tcPr>
                </a:tc>
                <a:extLst>
                  <a:ext uri="{0D108BD9-81ED-4DB2-BD59-A6C34878D82A}">
                    <a16:rowId xmlns:a16="http://schemas.microsoft.com/office/drawing/2014/main" val="3424987218"/>
                  </a:ext>
                </a:extLst>
              </a:tr>
              <a:tr h="0">
                <a:tc>
                  <a:txBody>
                    <a:bodyPr/>
                    <a:lstStyle/>
                    <a:p>
                      <a:pPr algn="ctr">
                        <a:buNone/>
                      </a:pPr>
                      <a:r>
                        <a:rPr lang="en-US" sz="2400" dirty="0">
                          <a:solidFill>
                            <a:schemeClr val="accent6">
                              <a:lumMod val="60000"/>
                              <a:lumOff val="40000"/>
                            </a:schemeClr>
                          </a:solidFill>
                        </a:rPr>
                        <a:t>Logistic Regression</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0.78</a:t>
                      </a:r>
                    </a:p>
                  </a:txBody>
                  <a:tcPr anchor="ctr">
                    <a:lnL>
                      <a:noFill/>
                    </a:lnL>
                    <a:lnR>
                      <a:noFill/>
                    </a:lnR>
                    <a:lnT>
                      <a:noFill/>
                    </a:lnT>
                    <a:lnB>
                      <a:noFill/>
                    </a:lnB>
                    <a:noFill/>
                  </a:tcPr>
                </a:tc>
                <a:extLst>
                  <a:ext uri="{0D108BD9-81ED-4DB2-BD59-A6C34878D82A}">
                    <a16:rowId xmlns:a16="http://schemas.microsoft.com/office/drawing/2014/main" val="3081801022"/>
                  </a:ext>
                </a:extLst>
              </a:tr>
              <a:tr h="0">
                <a:tc>
                  <a:txBody>
                    <a:bodyPr/>
                    <a:lstStyle/>
                    <a:p>
                      <a:pPr algn="ctr">
                        <a:buNone/>
                      </a:pPr>
                      <a:r>
                        <a:rPr lang="en-US" sz="2400" dirty="0">
                          <a:solidFill>
                            <a:schemeClr val="accent6">
                              <a:lumMod val="60000"/>
                              <a:lumOff val="40000"/>
                            </a:schemeClr>
                          </a:solidFill>
                        </a:rPr>
                        <a:t>Random Forest</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0.86</a:t>
                      </a:r>
                    </a:p>
                  </a:txBody>
                  <a:tcPr anchor="ctr">
                    <a:lnL>
                      <a:noFill/>
                    </a:lnL>
                    <a:lnR>
                      <a:noFill/>
                    </a:lnR>
                    <a:lnT>
                      <a:noFill/>
                    </a:lnT>
                    <a:lnB>
                      <a:noFill/>
                    </a:lnB>
                    <a:noFill/>
                  </a:tcPr>
                </a:tc>
                <a:extLst>
                  <a:ext uri="{0D108BD9-81ED-4DB2-BD59-A6C34878D82A}">
                    <a16:rowId xmlns:a16="http://schemas.microsoft.com/office/drawing/2014/main" val="2817735286"/>
                  </a:ext>
                </a:extLst>
              </a:tr>
              <a:tr h="0">
                <a:tc>
                  <a:txBody>
                    <a:bodyPr/>
                    <a:lstStyle/>
                    <a:p>
                      <a:pPr algn="ctr">
                        <a:buNone/>
                      </a:pPr>
                      <a:r>
                        <a:rPr lang="en-US" sz="2400">
                          <a:solidFill>
                            <a:schemeClr val="accent6">
                              <a:lumMod val="60000"/>
                              <a:lumOff val="40000"/>
                            </a:schemeClr>
                          </a:solidFill>
                        </a:rPr>
                        <a:t>XGBoost</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0.91 ✅</a:t>
                      </a:r>
                    </a:p>
                  </a:txBody>
                  <a:tcPr anchor="ctr">
                    <a:lnL>
                      <a:noFill/>
                    </a:lnL>
                    <a:lnR>
                      <a:noFill/>
                    </a:lnR>
                    <a:lnT>
                      <a:noFill/>
                    </a:lnT>
                    <a:lnB>
                      <a:noFill/>
                    </a:lnB>
                    <a:noFill/>
                  </a:tcPr>
                </a:tc>
                <a:extLst>
                  <a:ext uri="{0D108BD9-81ED-4DB2-BD59-A6C34878D82A}">
                    <a16:rowId xmlns:a16="http://schemas.microsoft.com/office/drawing/2014/main" val="3719784404"/>
                  </a:ext>
                </a:extLst>
              </a:tr>
            </a:tbl>
          </a:graphicData>
        </a:graphic>
      </p:graphicFrame>
      <p:sp>
        <p:nvSpPr>
          <p:cNvPr id="3" name="TextBox 2">
            <a:extLst>
              <a:ext uri="{FF2B5EF4-FFF2-40B4-BE49-F238E27FC236}">
                <a16:creationId xmlns:a16="http://schemas.microsoft.com/office/drawing/2014/main" id="{11DB5652-96A4-7C03-4C5F-9E8CCAE230CC}"/>
              </a:ext>
            </a:extLst>
          </p:cNvPr>
          <p:cNvSpPr txBox="1"/>
          <p:nvPr/>
        </p:nvSpPr>
        <p:spPr>
          <a:xfrm>
            <a:off x="299968" y="440678"/>
            <a:ext cx="4208024" cy="3785652"/>
          </a:xfrm>
          <a:prstGeom prst="rect">
            <a:avLst/>
          </a:prstGeom>
          <a:noFill/>
        </p:spPr>
        <p:txBody>
          <a:bodyPr wrap="square" rtlCol="0">
            <a:spAutoFit/>
          </a:bodyPr>
          <a:lstStyle/>
          <a:p>
            <a:r>
              <a:rPr lang="en-US" sz="2400" dirty="0">
                <a:solidFill>
                  <a:schemeClr val="accent6">
                    <a:lumMod val="60000"/>
                    <a:lumOff val="40000"/>
                  </a:schemeClr>
                </a:solidFill>
              </a:rPr>
              <a:t>How to use AUC ?</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Train multiple models</a:t>
            </a:r>
          </a:p>
          <a:p>
            <a:r>
              <a:rPr lang="en-US" sz="2400" dirty="0">
                <a:solidFill>
                  <a:schemeClr val="accent6">
                    <a:lumMod val="60000"/>
                    <a:lumOff val="40000"/>
                  </a:schemeClr>
                </a:solidFill>
              </a:rPr>
              <a:t>        ↓</a:t>
            </a:r>
          </a:p>
          <a:p>
            <a:r>
              <a:rPr lang="en-US" sz="2400" dirty="0">
                <a:solidFill>
                  <a:schemeClr val="accent6">
                    <a:lumMod val="60000"/>
                    <a:lumOff val="40000"/>
                  </a:schemeClr>
                </a:solidFill>
              </a:rPr>
              <a:t>Compare AUC scores</a:t>
            </a:r>
          </a:p>
          <a:p>
            <a:r>
              <a:rPr lang="en-US" sz="2400" dirty="0">
                <a:solidFill>
                  <a:schemeClr val="accent6">
                    <a:lumMod val="60000"/>
                    <a:lumOff val="40000"/>
                  </a:schemeClr>
                </a:solidFill>
              </a:rPr>
              <a:t>        ↓</a:t>
            </a:r>
          </a:p>
          <a:p>
            <a:r>
              <a:rPr lang="en-US" sz="2400" dirty="0">
                <a:solidFill>
                  <a:schemeClr val="accent6">
                    <a:lumMod val="60000"/>
                    <a:lumOff val="40000"/>
                  </a:schemeClr>
                </a:solidFill>
              </a:rPr>
              <a:t>Choose best ranking model</a:t>
            </a:r>
          </a:p>
          <a:p>
            <a:r>
              <a:rPr lang="en-US" sz="2400" dirty="0">
                <a:solidFill>
                  <a:schemeClr val="accent6">
                    <a:lumMod val="60000"/>
                    <a:lumOff val="40000"/>
                  </a:schemeClr>
                </a:solidFill>
              </a:rPr>
              <a:t>        ↓</a:t>
            </a:r>
          </a:p>
          <a:p>
            <a:r>
              <a:rPr lang="en-US" sz="2400" dirty="0">
                <a:solidFill>
                  <a:schemeClr val="accent6">
                    <a:lumMod val="60000"/>
                    <a:lumOff val="40000"/>
                  </a:schemeClr>
                </a:solidFill>
              </a:rPr>
              <a:t>Business selects threshold later</a:t>
            </a:r>
          </a:p>
        </p:txBody>
      </p:sp>
      <p:pic>
        <p:nvPicPr>
          <p:cNvPr id="6" name="Picture 5">
            <a:extLst>
              <a:ext uri="{FF2B5EF4-FFF2-40B4-BE49-F238E27FC236}">
                <a16:creationId xmlns:a16="http://schemas.microsoft.com/office/drawing/2014/main" id="{FEA52B98-AC36-1431-806C-C96D89CC14CD}"/>
              </a:ext>
            </a:extLst>
          </p:cNvPr>
          <p:cNvPicPr>
            <a:picLocks noChangeAspect="1"/>
          </p:cNvPicPr>
          <p:nvPr/>
        </p:nvPicPr>
        <p:blipFill>
          <a:blip r:embed="rId2"/>
          <a:stretch>
            <a:fillRect/>
          </a:stretch>
        </p:blipFill>
        <p:spPr>
          <a:xfrm>
            <a:off x="4752381" y="3209544"/>
            <a:ext cx="7439619" cy="3442860"/>
          </a:xfrm>
          <a:prstGeom prst="rect">
            <a:avLst/>
          </a:prstGeom>
        </p:spPr>
      </p:pic>
    </p:spTree>
    <p:extLst>
      <p:ext uri="{BB962C8B-B14F-4D97-AF65-F5344CB8AC3E}">
        <p14:creationId xmlns:p14="http://schemas.microsoft.com/office/powerpoint/2010/main" val="1434358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C01581F-DAF3-1004-97C7-4D201DBF1110}"/>
              </a:ext>
            </a:extLst>
          </p:cNvPr>
          <p:cNvSpPr txBox="1"/>
          <p:nvPr/>
        </p:nvSpPr>
        <p:spPr>
          <a:xfrm>
            <a:off x="256031" y="1036612"/>
            <a:ext cx="11462641" cy="461665"/>
          </a:xfrm>
          <a:prstGeom prst="rect">
            <a:avLst/>
          </a:prstGeom>
          <a:noFill/>
        </p:spPr>
        <p:txBody>
          <a:bodyPr wrap="square">
            <a:spAutoFit/>
          </a:bodyPr>
          <a:lstStyle/>
          <a:p>
            <a:r>
              <a:rPr lang="en-US" sz="2400" b="1" dirty="0">
                <a:solidFill>
                  <a:schemeClr val="accent6">
                    <a:lumMod val="60000"/>
                    <a:lumOff val="40000"/>
                  </a:schemeClr>
                </a:solidFill>
              </a:rPr>
              <a:t>STOP</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15462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28D5-5CF6-44C4-CF2A-78C39E2CACFC}"/>
            </a:ext>
          </a:extLst>
        </p:cNvPr>
        <p:cNvGrpSpPr/>
        <p:nvPr/>
      </p:nvGrpSpPr>
      <p:grpSpPr>
        <a:xfrm>
          <a:off x="0" y="0"/>
          <a:ext cx="0" cy="0"/>
          <a:chOff x="0" y="0"/>
          <a:chExt cx="0" cy="0"/>
        </a:xfrm>
      </p:grpSpPr>
    </p:spTree>
    <p:extLst>
      <p:ext uri="{BB962C8B-B14F-4D97-AF65-F5344CB8AC3E}">
        <p14:creationId xmlns:p14="http://schemas.microsoft.com/office/powerpoint/2010/main" val="3096703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E1715-4DDB-0A8E-8CB2-7C4506A036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926DA3-AC86-6865-22F2-BDE0B3E41F62}"/>
              </a:ext>
            </a:extLst>
          </p:cNvPr>
          <p:cNvSpPr txBox="1"/>
          <p:nvPr/>
        </p:nvSpPr>
        <p:spPr>
          <a:xfrm>
            <a:off x="242316" y="1086350"/>
            <a:ext cx="6697980" cy="1569660"/>
          </a:xfrm>
          <a:prstGeom prst="rect">
            <a:avLst/>
          </a:prstGeom>
          <a:noFill/>
        </p:spPr>
        <p:txBody>
          <a:bodyPr wrap="square">
            <a:spAutoFit/>
          </a:bodyPr>
          <a:lstStyle/>
          <a:p>
            <a:r>
              <a:rPr lang="en-US" sz="2400" b="1" dirty="0">
                <a:solidFill>
                  <a:schemeClr val="accent6">
                    <a:lumMod val="60000"/>
                    <a:lumOff val="40000"/>
                  </a:schemeClr>
                </a:solidFill>
              </a:rPr>
              <a:t>ROC vs Precision-Recall Curve</a:t>
            </a:r>
          </a:p>
          <a:p>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Use ROC for balanced datasets</a:t>
            </a:r>
          </a:p>
          <a:p>
            <a:pPr marL="342900" indent="-342900">
              <a:buFont typeface="Arial" panose="020B0604020202020204" pitchFamily="34" charset="0"/>
              <a:buChar char="•"/>
            </a:pPr>
            <a:r>
              <a:rPr lang="en-US" sz="2400" dirty="0">
                <a:solidFill>
                  <a:schemeClr val="accent6">
                    <a:lumMod val="60000"/>
                    <a:lumOff val="40000"/>
                  </a:schemeClr>
                </a:solidFill>
              </a:rPr>
              <a:t>Use PR Curve for highly imbalanced datasets</a:t>
            </a:r>
          </a:p>
        </p:txBody>
      </p:sp>
      <p:pic>
        <p:nvPicPr>
          <p:cNvPr id="7" name="Picture 6">
            <a:extLst>
              <a:ext uri="{FF2B5EF4-FFF2-40B4-BE49-F238E27FC236}">
                <a16:creationId xmlns:a16="http://schemas.microsoft.com/office/drawing/2014/main" id="{85B2DEF0-1B38-D7A0-75E5-D11BB756B68B}"/>
              </a:ext>
            </a:extLst>
          </p:cNvPr>
          <p:cNvPicPr>
            <a:picLocks noChangeAspect="1"/>
          </p:cNvPicPr>
          <p:nvPr/>
        </p:nvPicPr>
        <p:blipFill>
          <a:blip r:embed="rId2"/>
          <a:stretch>
            <a:fillRect/>
          </a:stretch>
        </p:blipFill>
        <p:spPr>
          <a:xfrm>
            <a:off x="7645154" y="1520492"/>
            <a:ext cx="4546846" cy="3817015"/>
          </a:xfrm>
          <a:prstGeom prst="rect">
            <a:avLst/>
          </a:prstGeom>
        </p:spPr>
      </p:pic>
    </p:spTree>
    <p:extLst>
      <p:ext uri="{BB962C8B-B14F-4D97-AF65-F5344CB8AC3E}">
        <p14:creationId xmlns:p14="http://schemas.microsoft.com/office/powerpoint/2010/main" val="1376514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64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63080"/>
            <a:ext cx="11049000" cy="4464337"/>
          </a:xfrm>
        </p:spPr>
        <p:txBody>
          <a:bodyPr>
            <a:normAutofit/>
          </a:bodyPr>
          <a:lstStyle/>
          <a:p>
            <a:r>
              <a:rPr lang="en-US" dirty="0"/>
              <a:t>A probabilistic classification model returns a number from 0 to 1 for each object. For example, for each email, it predicts how likely this email is spam. For a given email, it can be 0.1, 0.55, 0.99, or any other number. </a:t>
            </a:r>
          </a:p>
          <a:p>
            <a:pPr marL="0" indent="0">
              <a:buNone/>
            </a:pPr>
            <a:r>
              <a:rPr lang="en-US" dirty="0"/>
              <a:t>You then have to decide at which probability you</a:t>
            </a:r>
            <a:r>
              <a:rPr lang="en-US" b="1" dirty="0"/>
              <a:t> convert this prediction to a label</a:t>
            </a:r>
            <a:r>
              <a:rPr lang="en-US" dirty="0"/>
              <a:t>. For instance, you can label all emails with a predicted probability of over 0.5 as spam. Or, you can only apply this decision when the score is 0.8 or higher. </a:t>
            </a:r>
          </a:p>
          <a:p>
            <a:pPr marL="0" indent="0">
              <a:buNone/>
            </a:pPr>
            <a:r>
              <a:rPr lang="en-US" dirty="0"/>
              <a:t>This choice is what sets the classification threshold. </a:t>
            </a:r>
          </a:p>
          <a:p>
            <a:pPr marL="0" indent="0">
              <a:buNone/>
            </a:pPr>
            <a:r>
              <a:rPr lang="en-US" dirty="0"/>
              <a:t>As you </a:t>
            </a:r>
            <a:r>
              <a:rPr lang="en-US" b="1" dirty="0"/>
              <a:t>change the threshold</a:t>
            </a:r>
            <a:r>
              <a:rPr lang="en-US" dirty="0"/>
              <a:t>, you will usually get new combinations of errors of different types (and new confusion matrices)!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5518" y="4656316"/>
            <a:ext cx="5852538" cy="1962598"/>
          </a:xfrm>
          <a:prstGeom prst="rect">
            <a:avLst/>
          </a:prstGeom>
        </p:spPr>
      </p:pic>
    </p:spTree>
    <p:extLst>
      <p:ext uri="{BB962C8B-B14F-4D97-AF65-F5344CB8AC3E}">
        <p14:creationId xmlns:p14="http://schemas.microsoft.com/office/powerpoint/2010/main" val="3524800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3" y="2462927"/>
            <a:ext cx="11817927" cy="4228819"/>
          </a:xfrm>
        </p:spPr>
        <p:txBody>
          <a:bodyPr>
            <a:normAutofit fontScale="62500" lnSpcReduction="20000"/>
          </a:bodyPr>
          <a:lstStyle/>
          <a:p>
            <a:r>
              <a:rPr lang="en-US" dirty="0"/>
              <a:t>When you </a:t>
            </a:r>
            <a:r>
              <a:rPr lang="en-US" b="1" dirty="0"/>
              <a:t>set the threshold higher</a:t>
            </a:r>
            <a:r>
              <a:rPr lang="en-US" dirty="0"/>
              <a:t>, you make the model "more conservative." It assigns the </a:t>
            </a:r>
            <a:r>
              <a:rPr lang="en-US" i="1" dirty="0"/>
              <a:t>True</a:t>
            </a:r>
            <a:r>
              <a:rPr lang="en-US" dirty="0"/>
              <a:t> label when it is "more confident." But as a consequence, you typically lower recall: you detect fewer examples of the target class overall.</a:t>
            </a:r>
          </a:p>
          <a:p>
            <a:r>
              <a:rPr lang="en-US" dirty="0"/>
              <a:t>When you </a:t>
            </a:r>
            <a:r>
              <a:rPr lang="en-US" b="1" dirty="0"/>
              <a:t>set the threshold lower</a:t>
            </a:r>
            <a:r>
              <a:rPr lang="en-US" dirty="0"/>
              <a:t>, you make the model "less strict." It assigns the </a:t>
            </a:r>
            <a:r>
              <a:rPr lang="en-US" i="1" dirty="0"/>
              <a:t>True</a:t>
            </a:r>
            <a:r>
              <a:rPr lang="en-US" dirty="0"/>
              <a:t> label more often, even when "less confident." Consequently, you increase </a:t>
            </a:r>
            <a:r>
              <a:rPr lang="en-US" dirty="0">
                <a:hlinkClick r:id="rId2">
                  <a:extLst>
                    <a:ext uri="{A12FA001-AC4F-418D-AE19-62706E023703}">
                      <ahyp:hlinkClr xmlns:ahyp="http://schemas.microsoft.com/office/drawing/2018/hyperlinkcolor" val="tx"/>
                    </a:ext>
                  </a:extLst>
                </a:hlinkClick>
              </a:rPr>
              <a:t>recall</a:t>
            </a:r>
            <a:r>
              <a:rPr lang="en-US" dirty="0"/>
              <a:t>: you will detect more examples of the target class. However, this may also lead to lower </a:t>
            </a:r>
            <a:r>
              <a:rPr lang="en-US" dirty="0">
                <a:hlinkClick r:id="rId2">
                  <a:extLst>
                    <a:ext uri="{A12FA001-AC4F-418D-AE19-62706E023703}">
                      <ahyp:hlinkClr xmlns:ahyp="http://schemas.microsoft.com/office/drawing/2018/hyperlinkcolor" val="tx"/>
                    </a:ext>
                  </a:extLst>
                </a:hlinkClick>
              </a:rPr>
              <a:t>precision</a:t>
            </a:r>
            <a:r>
              <a:rPr lang="en-US" dirty="0"/>
              <a:t>, as the model may make more False Positive predictions. </a:t>
            </a:r>
          </a:p>
          <a:p>
            <a:r>
              <a:rPr lang="en-US" dirty="0"/>
              <a:t>TPR and FPR change in the same direction. The higher the recall (TPR), the higher the rate of false positive errors (FPR). The lower the recall, the fewer false alarms the model gives.</a:t>
            </a:r>
          </a:p>
          <a:p>
            <a:pPr marL="0" indent="0">
              <a:buNone/>
            </a:pPr>
            <a:r>
              <a:rPr lang="en-US" dirty="0"/>
              <a:t>In the example above, the recall (TPR) decreases as we set the different decision higher:</a:t>
            </a:r>
            <a:br>
              <a:rPr lang="en-US" dirty="0"/>
            </a:br>
            <a:br>
              <a:rPr lang="en-US" dirty="0"/>
            </a:br>
            <a:r>
              <a:rPr lang="en-US" dirty="0"/>
              <a:t>- 0.5 threshold: 800/(800+100)=0.89</a:t>
            </a:r>
            <a:br>
              <a:rPr lang="en-US" dirty="0"/>
            </a:br>
            <a:r>
              <a:rPr lang="en-US" dirty="0"/>
              <a:t>- 0.8 threshold: 600/(600+300)=0.67</a:t>
            </a:r>
            <a:br>
              <a:rPr lang="en-US" dirty="0"/>
            </a:br>
            <a:r>
              <a:rPr lang="en-US" dirty="0"/>
              <a:t>- 0.95 threshold: 200/(200+700)=0.22</a:t>
            </a:r>
          </a:p>
          <a:p>
            <a:pPr marL="0" indent="0">
              <a:buNone/>
            </a:pPr>
            <a:endParaRPr lang="en-US" dirty="0"/>
          </a:p>
          <a:p>
            <a:pPr marL="0" indent="0">
              <a:buNone/>
            </a:pPr>
            <a:r>
              <a:rPr lang="en-US" dirty="0"/>
              <a:t>The FPR also goes down:</a:t>
            </a:r>
            <a:br>
              <a:rPr lang="en-US" dirty="0"/>
            </a:br>
            <a:br>
              <a:rPr lang="en-US" dirty="0"/>
            </a:br>
            <a:r>
              <a:rPr lang="en-US" dirty="0"/>
              <a:t>- 0.5 threshold: 500/(500+8600)=0.06</a:t>
            </a:r>
            <a:br>
              <a:rPr lang="en-US" dirty="0"/>
            </a:br>
            <a:r>
              <a:rPr lang="en-US" dirty="0"/>
              <a:t>- 0.8 threshold: 100/(100+9000)=0.01</a:t>
            </a:r>
            <a:br>
              <a:rPr lang="en-US" dirty="0"/>
            </a:br>
            <a:r>
              <a:rPr lang="en-US" dirty="0"/>
              <a:t>- 0.95 threshold: 10/(10+9090)=0.001</a:t>
            </a:r>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178" y="251671"/>
            <a:ext cx="5938969" cy="1991582"/>
          </a:xfrm>
          <a:prstGeom prst="rect">
            <a:avLst/>
          </a:prstGeom>
        </p:spPr>
      </p:pic>
    </p:spTree>
    <p:extLst>
      <p:ext uri="{BB962C8B-B14F-4D97-AF65-F5344CB8AC3E}">
        <p14:creationId xmlns:p14="http://schemas.microsoft.com/office/powerpoint/2010/main" val="4083110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084" y="230901"/>
            <a:ext cx="5218652" cy="757113"/>
          </a:xfrm>
        </p:spPr>
        <p:txBody>
          <a:bodyPr/>
          <a:lstStyle/>
          <a:p>
            <a:r>
              <a:rPr lang="en-US" b="1" dirty="0"/>
              <a:t>Plotting the ROC curve</a:t>
            </a:r>
            <a:endParaRPr lang="en-US" dirty="0"/>
          </a:p>
        </p:txBody>
      </p:sp>
      <p:sp>
        <p:nvSpPr>
          <p:cNvPr id="3" name="Content Placeholder 2"/>
          <p:cNvSpPr>
            <a:spLocks noGrp="1"/>
          </p:cNvSpPr>
          <p:nvPr>
            <p:ph idx="1"/>
          </p:nvPr>
        </p:nvSpPr>
        <p:spPr>
          <a:xfrm>
            <a:off x="360218" y="1326859"/>
            <a:ext cx="11485418" cy="2746375"/>
          </a:xfrm>
        </p:spPr>
        <p:txBody>
          <a:bodyPr>
            <a:normAutofit fontScale="77500" lnSpcReduction="20000"/>
          </a:bodyPr>
          <a:lstStyle/>
          <a:p>
            <a:pPr marL="0" indent="0">
              <a:buNone/>
            </a:pPr>
            <a:r>
              <a:rPr lang="en-US" dirty="0"/>
              <a:t>The ROC curve illustrates this trade-off between the TPR and FPR we just explored. Unless your model is near-perfect, you have to balance the two. As you try to increase the TPR (i.e., correctly identify more positive cases), the FPR may also increase (i.e., you get more false alarms). </a:t>
            </a:r>
          </a:p>
          <a:p>
            <a:pPr marL="0" indent="0">
              <a:buNone/>
            </a:pPr>
            <a:r>
              <a:rPr lang="en-US" dirty="0"/>
              <a:t>For example, the more spam you want to detect, the more legitimate emails you falsely flag as suspicious. </a:t>
            </a:r>
          </a:p>
          <a:p>
            <a:pPr marL="0" indent="0">
              <a:buNone/>
            </a:pPr>
            <a:r>
              <a:rPr lang="en-US" dirty="0"/>
              <a:t>The ROC curve is a visual representation of this choice. Each point on the curve corresponds to a combination of TPR and FPR values at a specific decision threshold. </a:t>
            </a:r>
          </a:p>
          <a:p>
            <a:pPr marL="0" indent="0">
              <a:buNone/>
            </a:pPr>
            <a:r>
              <a:rPr lang="en-US" dirty="0"/>
              <a:t>To create the curve, you should plot the FPR values as the x-axis and the TPR values as the y-axis.</a:t>
            </a:r>
          </a:p>
          <a:p>
            <a:pPr marL="0" indent="0">
              <a:buNone/>
            </a:pPr>
            <a:r>
              <a:rPr lang="en-US" dirty="0"/>
              <a:t>If we continue with the example above, here is how it can look.</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7088" y="3963549"/>
            <a:ext cx="4141998" cy="2800678"/>
          </a:xfrm>
          <a:prstGeom prst="rect">
            <a:avLst/>
          </a:prstGeom>
        </p:spPr>
      </p:pic>
      <p:sp>
        <p:nvSpPr>
          <p:cNvPr id="5" name="TextBox 4"/>
          <p:cNvSpPr txBox="1"/>
          <p:nvPr/>
        </p:nvSpPr>
        <p:spPr>
          <a:xfrm>
            <a:off x="234892" y="4516581"/>
            <a:ext cx="7292196" cy="1815882"/>
          </a:xfrm>
          <a:prstGeom prst="rect">
            <a:avLst/>
          </a:prstGeom>
          <a:noFill/>
        </p:spPr>
        <p:txBody>
          <a:bodyPr wrap="square" rtlCol="0">
            <a:spAutoFit/>
          </a:bodyPr>
          <a:lstStyle/>
          <a:p>
            <a:r>
              <a:rPr lang="en-US" sz="1400" dirty="0">
                <a:solidFill>
                  <a:schemeClr val="accent6">
                    <a:lumMod val="60000"/>
                    <a:lumOff val="40000"/>
                  </a:schemeClr>
                </a:solidFill>
              </a:rPr>
              <a:t>Since our imaginary model does fairly well, most values are "crowded" to the left. </a:t>
            </a:r>
          </a:p>
          <a:p>
            <a:r>
              <a:rPr lang="en-US" sz="1400" dirty="0">
                <a:solidFill>
                  <a:schemeClr val="accent6">
                    <a:lumMod val="60000"/>
                    <a:lumOff val="40000"/>
                  </a:schemeClr>
                </a:solidFill>
              </a:rPr>
              <a:t>The </a:t>
            </a:r>
            <a:r>
              <a:rPr lang="en-US" sz="1400" b="1" dirty="0">
                <a:solidFill>
                  <a:schemeClr val="accent6">
                    <a:lumMod val="60000"/>
                    <a:lumOff val="40000"/>
                  </a:schemeClr>
                </a:solidFill>
              </a:rPr>
              <a:t>left side</a:t>
            </a:r>
            <a:r>
              <a:rPr lang="en-US" sz="1400" dirty="0">
                <a:solidFill>
                  <a:schemeClr val="accent6">
                    <a:lumMod val="60000"/>
                    <a:lumOff val="40000"/>
                  </a:schemeClr>
                </a:solidFill>
              </a:rPr>
              <a:t> of the curve corresponds to the more "confident" thresholds: a higher threshold leads to lower recall and fewer false positive errors. The extreme point is when both recall and FPR are 0. In this case, there are no correct detections but also no false ones. </a:t>
            </a:r>
          </a:p>
          <a:p>
            <a:r>
              <a:rPr lang="en-US" sz="1400" dirty="0">
                <a:solidFill>
                  <a:schemeClr val="accent6">
                    <a:lumMod val="60000"/>
                    <a:lumOff val="40000"/>
                  </a:schemeClr>
                </a:solidFill>
              </a:rPr>
              <a:t>The </a:t>
            </a:r>
            <a:r>
              <a:rPr lang="en-US" sz="1400" b="1" dirty="0">
                <a:solidFill>
                  <a:schemeClr val="accent6">
                    <a:lumMod val="60000"/>
                    <a:lumOff val="40000"/>
                  </a:schemeClr>
                </a:solidFill>
              </a:rPr>
              <a:t>right side</a:t>
            </a:r>
            <a:r>
              <a:rPr lang="en-US" sz="1400" dirty="0">
                <a:solidFill>
                  <a:schemeClr val="accent6">
                    <a:lumMod val="60000"/>
                    <a:lumOff val="40000"/>
                  </a:schemeClr>
                </a:solidFill>
              </a:rPr>
              <a:t> of the curve represents the "less strict" scenarios when the threshold is low. Both recall and False Positive rates are higher, ultimately reaching 100%. If you put the threshold at 0, the model will always predict a positive class: both recall, and the FPR will be 1.</a:t>
            </a:r>
          </a:p>
          <a:p>
            <a:endParaRPr lang="en-US" sz="1400" dirty="0">
              <a:solidFill>
                <a:schemeClr val="accent6">
                  <a:lumMod val="60000"/>
                  <a:lumOff val="40000"/>
                </a:schemeClr>
              </a:solidFill>
            </a:endParaRPr>
          </a:p>
        </p:txBody>
      </p:sp>
    </p:spTree>
    <p:extLst>
      <p:ext uri="{BB962C8B-B14F-4D97-AF65-F5344CB8AC3E}">
        <p14:creationId xmlns:p14="http://schemas.microsoft.com/office/powerpoint/2010/main" val="1781658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426314"/>
            <a:ext cx="6552502" cy="790090"/>
          </a:xfrm>
        </p:spPr>
        <p:txBody>
          <a:bodyPr>
            <a:noAutofit/>
          </a:bodyPr>
          <a:lstStyle/>
          <a:p>
            <a:pPr marL="0" indent="0">
              <a:buNone/>
            </a:pPr>
            <a:r>
              <a:rPr lang="en-US" sz="1600" dirty="0"/>
              <a:t>When you increase the threshold, you move left on the curve. If you decrease the threshold, you move to the right.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8205" y="326040"/>
            <a:ext cx="3122495" cy="2136015"/>
          </a:xfrm>
          <a:prstGeom prst="rect">
            <a:avLst/>
          </a:prstGeom>
        </p:spPr>
      </p:pic>
      <p:sp>
        <p:nvSpPr>
          <p:cNvPr id="5" name="TextBox 4"/>
          <p:cNvSpPr txBox="1"/>
          <p:nvPr/>
        </p:nvSpPr>
        <p:spPr>
          <a:xfrm>
            <a:off x="299968" y="2781542"/>
            <a:ext cx="7610850" cy="738664"/>
          </a:xfrm>
          <a:prstGeom prst="rect">
            <a:avLst/>
          </a:prstGeom>
          <a:noFill/>
        </p:spPr>
        <p:txBody>
          <a:bodyPr wrap="square" rtlCol="0">
            <a:spAutoFit/>
          </a:bodyPr>
          <a:lstStyle/>
          <a:p>
            <a:r>
              <a:rPr lang="en-US" sz="1400" dirty="0">
                <a:solidFill>
                  <a:schemeClr val="accent6">
                    <a:lumMod val="60000"/>
                    <a:lumOff val="40000"/>
                  </a:schemeClr>
                </a:solidFill>
              </a:rPr>
              <a:t>If our model is correct in all the predictions, all the time, it means that the TPR is always 1.0, and FPR is 0. It finds all the cases and never gives false alarms. </a:t>
            </a:r>
          </a:p>
          <a:p>
            <a:r>
              <a:rPr lang="en-US" sz="1400" dirty="0">
                <a:solidFill>
                  <a:schemeClr val="accent6">
                    <a:lumMod val="60000"/>
                    <a:lumOff val="40000"/>
                  </a:schemeClr>
                </a:solidFill>
              </a:rPr>
              <a:t>Here AUC = 1</a:t>
            </a:r>
          </a:p>
        </p:txBody>
      </p:sp>
      <p:sp>
        <p:nvSpPr>
          <p:cNvPr id="7" name="TextBox 6"/>
          <p:cNvSpPr txBox="1"/>
          <p:nvPr/>
        </p:nvSpPr>
        <p:spPr>
          <a:xfrm>
            <a:off x="358257" y="1297304"/>
            <a:ext cx="5737743" cy="923330"/>
          </a:xfrm>
          <a:prstGeom prst="rect">
            <a:avLst/>
          </a:prstGeom>
          <a:noFill/>
        </p:spPr>
        <p:txBody>
          <a:bodyPr wrap="square" rtlCol="0">
            <a:spAutoFit/>
          </a:bodyPr>
          <a:lstStyle/>
          <a:p>
            <a:r>
              <a:rPr lang="en-US" dirty="0">
                <a:solidFill>
                  <a:schemeClr val="accent6">
                    <a:lumMod val="60000"/>
                    <a:lumOff val="40000"/>
                  </a:schemeClr>
                </a:solidFill>
              </a:rPr>
              <a:t>Continue from here: https://www.evidentlyai.com/classification-metrics/explain-roc-curve</a:t>
            </a:r>
          </a:p>
        </p:txBody>
      </p:sp>
      <p:sp>
        <p:nvSpPr>
          <p:cNvPr id="8" name="TextBox 7"/>
          <p:cNvSpPr txBox="1"/>
          <p:nvPr/>
        </p:nvSpPr>
        <p:spPr>
          <a:xfrm>
            <a:off x="159391" y="3909270"/>
            <a:ext cx="7667538" cy="2462213"/>
          </a:xfrm>
          <a:prstGeom prst="rect">
            <a:avLst/>
          </a:prstGeom>
          <a:noFill/>
        </p:spPr>
        <p:txBody>
          <a:bodyPr wrap="square" rtlCol="0">
            <a:spAutoFit/>
          </a:bodyPr>
          <a:lstStyle/>
          <a:p>
            <a:r>
              <a:rPr lang="en-US" sz="1400" dirty="0">
                <a:solidFill>
                  <a:schemeClr val="accent6">
                    <a:lumMod val="60000"/>
                    <a:lumOff val="40000"/>
                  </a:schemeClr>
                </a:solidFill>
              </a:rPr>
              <a:t>The worst-case scenario. </a:t>
            </a:r>
          </a:p>
          <a:p>
            <a:r>
              <a:rPr lang="en-US" sz="1400" dirty="0">
                <a:solidFill>
                  <a:schemeClr val="accent6">
                    <a:lumMod val="60000"/>
                    <a:lumOff val="40000"/>
                  </a:schemeClr>
                </a:solidFill>
              </a:rPr>
              <a:t>Let’s say our model is </a:t>
            </a:r>
            <a:r>
              <a:rPr lang="en-US" sz="1400" b="1" dirty="0">
                <a:solidFill>
                  <a:schemeClr val="accent6">
                    <a:lumMod val="60000"/>
                    <a:lumOff val="40000"/>
                  </a:schemeClr>
                </a:solidFill>
              </a:rPr>
              <a:t>random</a:t>
            </a:r>
            <a:r>
              <a:rPr lang="en-US" sz="1400" dirty="0">
                <a:solidFill>
                  <a:schemeClr val="accent6">
                    <a:lumMod val="60000"/>
                    <a:lumOff val="40000"/>
                  </a:schemeClr>
                </a:solidFill>
              </a:rPr>
              <a:t>. In other words, it cannot distinguish between the two classes, and its predictions are no better than chance.</a:t>
            </a:r>
          </a:p>
          <a:p>
            <a:r>
              <a:rPr lang="en-US" sz="1400" dirty="0">
                <a:solidFill>
                  <a:schemeClr val="accent6">
                    <a:lumMod val="60000"/>
                    <a:lumOff val="40000"/>
                  </a:schemeClr>
                </a:solidFill>
              </a:rPr>
              <a:t>A genuinely random model will predict the positive and negative classes with equal probability. </a:t>
            </a:r>
          </a:p>
          <a:p>
            <a:r>
              <a:rPr lang="en-US" sz="1400" dirty="0">
                <a:solidFill>
                  <a:schemeClr val="accent6">
                    <a:lumMod val="60000"/>
                    <a:lumOff val="40000"/>
                  </a:schemeClr>
                </a:solidFill>
              </a:rPr>
              <a:t>The ROC curve, in this case, will look like a diagonal line connecting points (0,0) and (1,1). For a random classifier, the TPR is equal to the FPR because it makes the same number of true and false positive predictions for any threshold value. As the classification threshold changes, the TPR goes up or down in the same proportion as the FPR.</a:t>
            </a:r>
          </a:p>
          <a:p>
            <a:r>
              <a:rPr lang="en-US" sz="1400" b="1" dirty="0">
                <a:solidFill>
                  <a:schemeClr val="accent6">
                    <a:lumMod val="60000"/>
                    <a:lumOff val="40000"/>
                  </a:schemeClr>
                </a:solidFill>
              </a:rPr>
              <a:t>Most real-world models will fall somewhere between the two extremes. </a:t>
            </a:r>
            <a:r>
              <a:rPr lang="en-US" sz="1400" dirty="0">
                <a:solidFill>
                  <a:schemeClr val="accent6">
                    <a:lumMod val="60000"/>
                    <a:lumOff val="40000"/>
                  </a:schemeClr>
                </a:solidFill>
              </a:rPr>
              <a:t>The better the model can distinguish between positive and negative classes, the closer the curve is to the top left corner of the graph.</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5562" y="2466821"/>
            <a:ext cx="2037631" cy="1993968"/>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6437" y="4681767"/>
            <a:ext cx="2079672" cy="2010859"/>
          </a:xfrm>
          <a:prstGeom prst="rect">
            <a:avLst/>
          </a:prstGeom>
        </p:spPr>
      </p:pic>
    </p:spTree>
    <p:extLst>
      <p:ext uri="{BB962C8B-B14F-4D97-AF65-F5344CB8AC3E}">
        <p14:creationId xmlns:p14="http://schemas.microsoft.com/office/powerpoint/2010/main" val="3657054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world scenario</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1561" y="3644415"/>
            <a:ext cx="4057112" cy="2447407"/>
          </a:xfrm>
          <a:prstGeom prst="rect">
            <a:avLst/>
          </a:prstGeom>
        </p:spPr>
      </p:pic>
      <p:sp>
        <p:nvSpPr>
          <p:cNvPr id="6" name="TextBox 5">
            <a:extLst>
              <a:ext uri="{FF2B5EF4-FFF2-40B4-BE49-F238E27FC236}">
                <a16:creationId xmlns:a16="http://schemas.microsoft.com/office/drawing/2014/main" id="{E1C5BB31-1A0F-9134-1E91-523FA89AB659}"/>
              </a:ext>
            </a:extLst>
          </p:cNvPr>
          <p:cNvSpPr txBox="1"/>
          <p:nvPr/>
        </p:nvSpPr>
        <p:spPr>
          <a:xfrm>
            <a:off x="256031" y="1749844"/>
            <a:ext cx="11462641" cy="1200329"/>
          </a:xfrm>
          <a:prstGeom prst="rect">
            <a:avLst/>
          </a:prstGeom>
          <a:noFill/>
        </p:spPr>
        <p:txBody>
          <a:bodyPr wrap="square">
            <a:spAutoFit/>
          </a:bodyPr>
          <a:lstStyle/>
          <a:p>
            <a:r>
              <a:rPr lang="en-US" sz="2400" b="1" dirty="0">
                <a:solidFill>
                  <a:schemeClr val="accent6">
                    <a:lumMod val="60000"/>
                    <a:lumOff val="40000"/>
                  </a:schemeClr>
                </a:solidFill>
              </a:rPr>
              <a:t>Most real-world models will fall somewhere between the two extremes. </a:t>
            </a:r>
          </a:p>
          <a:p>
            <a:r>
              <a:rPr lang="en-US" sz="2400" dirty="0">
                <a:solidFill>
                  <a:schemeClr val="accent6">
                    <a:lumMod val="60000"/>
                    <a:lumOff val="40000"/>
                  </a:schemeClr>
                </a:solidFill>
              </a:rPr>
              <a:t>The better the model can distinguish between positive and negative classes, the closer the curve is to the top left corner of the graph.</a:t>
            </a:r>
          </a:p>
        </p:txBody>
      </p:sp>
    </p:spTree>
    <p:extLst>
      <p:ext uri="{BB962C8B-B14F-4D97-AF65-F5344CB8AC3E}">
        <p14:creationId xmlns:p14="http://schemas.microsoft.com/office/powerpoint/2010/main" val="2202524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881"/>
            <a:ext cx="4002248" cy="510515"/>
          </a:xfrm>
        </p:spPr>
        <p:txBody>
          <a:bodyPr>
            <a:normAutofit fontScale="90000"/>
          </a:bodyPr>
          <a:lstStyle/>
          <a:p>
            <a:r>
              <a:rPr lang="en-US" sz="3600" b="1" dirty="0"/>
              <a:t>ROC AUC pros</a:t>
            </a:r>
            <a:endParaRPr lang="en-US" sz="3600" dirty="0"/>
          </a:p>
        </p:txBody>
      </p:sp>
      <p:sp>
        <p:nvSpPr>
          <p:cNvPr id="5" name="TextBox 4">
            <a:extLst>
              <a:ext uri="{FF2B5EF4-FFF2-40B4-BE49-F238E27FC236}">
                <a16:creationId xmlns:a16="http://schemas.microsoft.com/office/drawing/2014/main" id="{02ED9CC1-FB15-43CA-F28B-FB064848A1E3}"/>
              </a:ext>
            </a:extLst>
          </p:cNvPr>
          <p:cNvSpPr txBox="1"/>
          <p:nvPr/>
        </p:nvSpPr>
        <p:spPr>
          <a:xfrm>
            <a:off x="109728" y="840427"/>
            <a:ext cx="12518136" cy="3046988"/>
          </a:xfrm>
          <a:prstGeom prst="rect">
            <a:avLst/>
          </a:prstGeom>
          <a:noFill/>
        </p:spPr>
        <p:txBody>
          <a:bodyPr wrap="square">
            <a:spAutoFit/>
          </a:bodyPr>
          <a:lstStyle/>
          <a:p>
            <a:r>
              <a:rPr lang="en-US" sz="2400" b="1" dirty="0">
                <a:solidFill>
                  <a:schemeClr val="accent6">
                    <a:lumMod val="60000"/>
                    <a:lumOff val="40000"/>
                  </a:schemeClr>
                </a:solidFill>
              </a:rPr>
              <a:t>A single number.</a:t>
            </a:r>
            <a:r>
              <a:rPr lang="en-US" sz="2400" dirty="0">
                <a:solidFill>
                  <a:schemeClr val="accent6">
                    <a:lumMod val="60000"/>
                    <a:lumOff val="40000"/>
                  </a:schemeClr>
                </a:solidFill>
              </a:rPr>
              <a:t> ROC AUC reflects the model quality in one number. It is convenient to use a single metric, especially when comparing multiple models.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Does not change with the classification threshold.</a:t>
            </a:r>
            <a:r>
              <a:rPr lang="en-US" sz="2400" dirty="0">
                <a:solidFill>
                  <a:schemeClr val="accent6">
                    <a:lumMod val="60000"/>
                    <a:lumOff val="40000"/>
                  </a:schemeClr>
                </a:solidFill>
              </a:rPr>
              <a:t> Unlike precision and recall, ROC AUC stays the same. In fact, it sums up the performance across the different classification thresholds. It is a valuable "overall" quality measure, whereas precision and recall provide a quality "snapshot" at a given decision threshold.</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420274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7E8A5-7D3D-CAF6-ABA3-009046500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AB849-7CEF-C2EF-D3E9-31073CC9F872}"/>
              </a:ext>
            </a:extLst>
          </p:cNvPr>
          <p:cNvSpPr>
            <a:spLocks noGrp="1"/>
          </p:cNvSpPr>
          <p:nvPr>
            <p:ph type="title"/>
          </p:nvPr>
        </p:nvSpPr>
        <p:spPr>
          <a:xfrm>
            <a:off x="838200" y="101881"/>
            <a:ext cx="4002248" cy="510515"/>
          </a:xfrm>
        </p:spPr>
        <p:txBody>
          <a:bodyPr>
            <a:normAutofit fontScale="90000"/>
          </a:bodyPr>
          <a:lstStyle/>
          <a:p>
            <a:r>
              <a:rPr lang="en-US" sz="3600" b="1" dirty="0"/>
              <a:t>ROC AUC pros</a:t>
            </a:r>
            <a:endParaRPr lang="en-US" sz="3600" dirty="0"/>
          </a:p>
        </p:txBody>
      </p:sp>
      <p:sp>
        <p:nvSpPr>
          <p:cNvPr id="5" name="TextBox 4">
            <a:extLst>
              <a:ext uri="{FF2B5EF4-FFF2-40B4-BE49-F238E27FC236}">
                <a16:creationId xmlns:a16="http://schemas.microsoft.com/office/drawing/2014/main" id="{0A3F9FC2-F2EE-69E8-BD22-730CB6E88B27}"/>
              </a:ext>
            </a:extLst>
          </p:cNvPr>
          <p:cNvSpPr txBox="1"/>
          <p:nvPr/>
        </p:nvSpPr>
        <p:spPr>
          <a:xfrm>
            <a:off x="109728" y="840427"/>
            <a:ext cx="11759184" cy="4893647"/>
          </a:xfrm>
          <a:prstGeom prst="rect">
            <a:avLst/>
          </a:prstGeom>
          <a:noFill/>
        </p:spPr>
        <p:txBody>
          <a:bodyPr wrap="square">
            <a:spAutoFit/>
          </a:bodyPr>
          <a:lstStyle/>
          <a:p>
            <a:r>
              <a:rPr lang="en-US" sz="2400" b="1" dirty="0">
                <a:solidFill>
                  <a:schemeClr val="accent6">
                    <a:lumMod val="60000"/>
                    <a:lumOff val="40000"/>
                  </a:schemeClr>
                </a:solidFill>
              </a:rPr>
              <a:t>More tolerant to the drift in class balance.</a:t>
            </a:r>
            <a:r>
              <a:rPr lang="en-US" sz="2400" dirty="0">
                <a:solidFill>
                  <a:schemeClr val="accent6">
                    <a:lumMod val="60000"/>
                    <a:lumOff val="40000"/>
                  </a:schemeClr>
                </a:solidFill>
              </a:rPr>
              <a:t> The ROC AUC generally remains more stable if the distribution of classes changes. This often happens in production use, for example, when fraud rates vary month-by-month. If they change significantly, the earlier chosen decision threshold might become inadequate. For example, if fraud becomes more prevalent, the recall of the fraud detection model might drop, as this metric uses the absolute number of actual fraud cases in the denominator. However, ROC AUC might remain stable, indicating that the model can still differentiate between the two classes despite the changes in their relative frequencies.</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Scale-invariant. </a:t>
            </a:r>
            <a:r>
              <a:rPr lang="en-US" sz="2400" dirty="0">
                <a:solidFill>
                  <a:schemeClr val="accent6">
                    <a:lumMod val="60000"/>
                    <a:lumOff val="40000"/>
                  </a:schemeClr>
                </a:solidFill>
              </a:rPr>
              <a:t>ROC AUC measures how well predictions are ranked rather than their absolute values. This way, it helps compare the quality of models that might output "different ranges" of predicted probabilities. It is typically relevant when you experiment with different models during the model training stage.</a:t>
            </a:r>
          </a:p>
        </p:txBody>
      </p:sp>
    </p:spTree>
    <p:extLst>
      <p:ext uri="{BB962C8B-B14F-4D97-AF65-F5344CB8AC3E}">
        <p14:creationId xmlns:p14="http://schemas.microsoft.com/office/powerpoint/2010/main" val="384904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49DB-8894-6E26-CA77-6955DA029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0159A-8015-74AB-7FDB-DB520FC60DA6}"/>
              </a:ext>
            </a:extLst>
          </p:cNvPr>
          <p:cNvSpPr>
            <a:spLocks noGrp="1"/>
          </p:cNvSpPr>
          <p:nvPr>
            <p:ph type="title"/>
          </p:nvPr>
        </p:nvSpPr>
        <p:spPr>
          <a:xfrm>
            <a:off x="838200" y="101881"/>
            <a:ext cx="4002248" cy="510515"/>
          </a:xfrm>
        </p:spPr>
        <p:txBody>
          <a:bodyPr>
            <a:normAutofit fontScale="90000"/>
          </a:bodyPr>
          <a:lstStyle/>
          <a:p>
            <a:r>
              <a:rPr lang="en-US" sz="3600" b="1" dirty="0"/>
              <a:t>ROC AUC cons</a:t>
            </a:r>
            <a:endParaRPr lang="en-US" sz="3600" dirty="0"/>
          </a:p>
        </p:txBody>
      </p:sp>
      <p:sp>
        <p:nvSpPr>
          <p:cNvPr id="5" name="TextBox 4">
            <a:extLst>
              <a:ext uri="{FF2B5EF4-FFF2-40B4-BE49-F238E27FC236}">
                <a16:creationId xmlns:a16="http://schemas.microsoft.com/office/drawing/2014/main" id="{B094846D-92A2-B263-BB1D-38F10AEAB0C0}"/>
              </a:ext>
            </a:extLst>
          </p:cNvPr>
          <p:cNvSpPr txBox="1"/>
          <p:nvPr/>
        </p:nvSpPr>
        <p:spPr>
          <a:xfrm>
            <a:off x="0" y="726913"/>
            <a:ext cx="11932920" cy="3046988"/>
          </a:xfrm>
          <a:prstGeom prst="rect">
            <a:avLst/>
          </a:prstGeom>
          <a:noFill/>
        </p:spPr>
        <p:txBody>
          <a:bodyPr wrap="square">
            <a:spAutoFit/>
          </a:bodyPr>
          <a:lstStyle/>
          <a:p>
            <a:r>
              <a:rPr lang="en-US" sz="2400" b="1" dirty="0">
                <a:solidFill>
                  <a:schemeClr val="accent6">
                    <a:lumMod val="60000"/>
                    <a:lumOff val="40000"/>
                  </a:schemeClr>
                </a:solidFill>
              </a:rPr>
              <a:t>ROC AUC is not intuitive. </a:t>
            </a:r>
            <a:r>
              <a:rPr lang="en-US" sz="2400" dirty="0">
                <a:solidFill>
                  <a:schemeClr val="accent6">
                    <a:lumMod val="60000"/>
                    <a:lumOff val="40000"/>
                  </a:schemeClr>
                </a:solidFill>
              </a:rPr>
              <a:t>This metric can be hard to explain to business stakeholders and does not have an immediately interpretable meaning.</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It does not consider the cost of errors.</a:t>
            </a:r>
            <a:r>
              <a:rPr lang="en-US" sz="2400" dirty="0">
                <a:solidFill>
                  <a:schemeClr val="accent6">
                    <a:lumMod val="60000"/>
                    <a:lumOff val="40000"/>
                  </a:schemeClr>
                </a:solidFill>
              </a:rPr>
              <a:t> ROC AUC does not account for different types of errors and their consequences. In many scenarios, false negatives can be more costly than false positives, or vice versa. In this case, working to </a:t>
            </a:r>
            <a:r>
              <a:rPr lang="en-US" sz="2400" b="1" dirty="0">
                <a:solidFill>
                  <a:schemeClr val="accent6">
                    <a:lumMod val="60000"/>
                    <a:lumOff val="40000"/>
                  </a:schemeClr>
                </a:solidFill>
              </a:rPr>
              <a:t>balance precision and recall</a:t>
            </a:r>
            <a:r>
              <a:rPr lang="en-US" sz="2400" dirty="0">
                <a:solidFill>
                  <a:schemeClr val="accent6">
                    <a:lumMod val="60000"/>
                    <a:lumOff val="40000"/>
                  </a:schemeClr>
                </a:solidFill>
              </a:rPr>
              <a:t> and setting the appropriate classification threshold to minimize a certain type of error is often a more suitable approach. ROC AUC is not useful for this type of optimization.</a:t>
            </a:r>
          </a:p>
        </p:txBody>
      </p:sp>
    </p:spTree>
    <p:extLst>
      <p:ext uri="{BB962C8B-B14F-4D97-AF65-F5344CB8AC3E}">
        <p14:creationId xmlns:p14="http://schemas.microsoft.com/office/powerpoint/2010/main" val="534350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5A71-F04E-50EA-0F7E-2BC5DB024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0531A-E4DE-EC24-4F65-5602BBC47F0C}"/>
              </a:ext>
            </a:extLst>
          </p:cNvPr>
          <p:cNvSpPr>
            <a:spLocks noGrp="1"/>
          </p:cNvSpPr>
          <p:nvPr>
            <p:ph type="title"/>
          </p:nvPr>
        </p:nvSpPr>
        <p:spPr>
          <a:xfrm>
            <a:off x="838200" y="101881"/>
            <a:ext cx="4002248" cy="510515"/>
          </a:xfrm>
        </p:spPr>
        <p:txBody>
          <a:bodyPr>
            <a:normAutofit fontScale="90000"/>
          </a:bodyPr>
          <a:lstStyle/>
          <a:p>
            <a:r>
              <a:rPr lang="en-US" sz="3600" b="1" dirty="0"/>
              <a:t>ROC AUC cons</a:t>
            </a:r>
            <a:endParaRPr lang="en-US" sz="3600" dirty="0"/>
          </a:p>
        </p:txBody>
      </p:sp>
      <p:sp>
        <p:nvSpPr>
          <p:cNvPr id="5" name="TextBox 4">
            <a:extLst>
              <a:ext uri="{FF2B5EF4-FFF2-40B4-BE49-F238E27FC236}">
                <a16:creationId xmlns:a16="http://schemas.microsoft.com/office/drawing/2014/main" id="{CC872A39-287A-F48D-D30E-02A9A25007AC}"/>
              </a:ext>
            </a:extLst>
          </p:cNvPr>
          <p:cNvSpPr txBox="1"/>
          <p:nvPr/>
        </p:nvSpPr>
        <p:spPr>
          <a:xfrm>
            <a:off x="0" y="726913"/>
            <a:ext cx="11932920" cy="3785652"/>
          </a:xfrm>
          <a:prstGeom prst="rect">
            <a:avLst/>
          </a:prstGeom>
          <a:noFill/>
        </p:spPr>
        <p:txBody>
          <a:bodyPr wrap="square">
            <a:spAutoFit/>
          </a:bodyPr>
          <a:lstStyle/>
          <a:p>
            <a:r>
              <a:rPr lang="en-US" sz="2400" b="1" dirty="0">
                <a:solidFill>
                  <a:schemeClr val="accent6">
                    <a:lumMod val="60000"/>
                    <a:lumOff val="40000"/>
                  </a:schemeClr>
                </a:solidFill>
              </a:rPr>
              <a:t>It can be misleading if the class imbalance is severe. </a:t>
            </a:r>
            <a:r>
              <a:rPr lang="en-US" sz="2400" dirty="0">
                <a:solidFill>
                  <a:schemeClr val="accent6">
                    <a:lumMod val="60000"/>
                    <a:lumOff val="40000"/>
                  </a:schemeClr>
                </a:solidFill>
              </a:rPr>
              <a:t>When the positive class is very small, ROC AUC can give a false impression of high quality.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Imagine that a classifier predicts almost all instances as negative. TPR and FPR will be close to 0 because there are few positive predictions. As a result, the ROC curve will appear to "hug" the top left corner of the plot, giving the impression that the classifier is performing well and definitely better than random. However, though it correctly classifies most of the negative instances, it may miss most of the positives, which is likely more important for the model performance. In this case, it may be more appropriate to look at the precision-recall curve and rely on metrics like precision, recall, or F1-score to evaluate ML model quality.</a:t>
            </a:r>
          </a:p>
        </p:txBody>
      </p:sp>
    </p:spTree>
    <p:extLst>
      <p:ext uri="{BB962C8B-B14F-4D97-AF65-F5344CB8AC3E}">
        <p14:creationId xmlns:p14="http://schemas.microsoft.com/office/powerpoint/2010/main" val="1563019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7BF28D-B436-C7CF-300A-CDC36EF54026}"/>
              </a:ext>
            </a:extLst>
          </p:cNvPr>
          <p:cNvSpPr txBox="1"/>
          <p:nvPr/>
        </p:nvSpPr>
        <p:spPr>
          <a:xfrm>
            <a:off x="521208" y="1665744"/>
            <a:ext cx="10832592" cy="1569660"/>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accent6">
                    <a:lumMod val="60000"/>
                    <a:lumOff val="40000"/>
                  </a:schemeClr>
                </a:solidFill>
              </a:rPr>
              <a:t>During model training, it helps </a:t>
            </a:r>
            <a:r>
              <a:rPr lang="en-US" sz="2400" b="1" dirty="0">
                <a:solidFill>
                  <a:schemeClr val="accent6">
                    <a:lumMod val="60000"/>
                    <a:lumOff val="40000"/>
                  </a:schemeClr>
                </a:solidFill>
              </a:rPr>
              <a:t>compare multiple ML models</a:t>
            </a:r>
            <a:r>
              <a:rPr lang="en-US" sz="2400" dirty="0">
                <a:solidFill>
                  <a:schemeClr val="accent6">
                    <a:lumMod val="60000"/>
                    <a:lumOff val="40000"/>
                  </a:schemeClr>
                </a:solidFill>
              </a:rPr>
              <a:t> against each other.</a:t>
            </a:r>
          </a:p>
          <a:p>
            <a:endParaRPr lang="en-US" sz="2400" dirty="0">
              <a:solidFill>
                <a:schemeClr val="accent6">
                  <a:lumMod val="60000"/>
                  <a:lumOff val="40000"/>
                </a:schemeClr>
              </a:solidFill>
            </a:endParaRPr>
          </a:p>
          <a:p>
            <a:pPr marL="285750" indent="-285750">
              <a:buFont typeface="Arial" panose="020B0604020202020204" pitchFamily="34" charset="0"/>
              <a:buChar char="•"/>
            </a:pPr>
            <a:r>
              <a:rPr lang="en-US" sz="2400" dirty="0">
                <a:solidFill>
                  <a:schemeClr val="accent6">
                    <a:lumMod val="60000"/>
                    <a:lumOff val="40000"/>
                  </a:schemeClr>
                </a:solidFill>
              </a:rPr>
              <a:t>ROC AUC is particularly useful when the goal is to </a:t>
            </a:r>
            <a:r>
              <a:rPr lang="en-US" sz="2400" b="1" dirty="0">
                <a:solidFill>
                  <a:schemeClr val="accent6">
                    <a:lumMod val="60000"/>
                    <a:lumOff val="40000"/>
                  </a:schemeClr>
                </a:solidFill>
              </a:rPr>
              <a:t>rank predictions </a:t>
            </a:r>
            <a:r>
              <a:rPr lang="en-US" sz="2400" dirty="0">
                <a:solidFill>
                  <a:schemeClr val="accent6">
                    <a:lumMod val="60000"/>
                    <a:lumOff val="40000"/>
                  </a:schemeClr>
                </a:solidFill>
              </a:rPr>
              <a:t>in order of their confidence level rather than produce well-calibrated probability estimates.</a:t>
            </a:r>
          </a:p>
        </p:txBody>
      </p:sp>
      <p:sp>
        <p:nvSpPr>
          <p:cNvPr id="9" name="TextBox 8">
            <a:extLst>
              <a:ext uri="{FF2B5EF4-FFF2-40B4-BE49-F238E27FC236}">
                <a16:creationId xmlns:a16="http://schemas.microsoft.com/office/drawing/2014/main" id="{58B1DC62-36FE-9AE7-CB6D-0F900243A661}"/>
              </a:ext>
            </a:extLst>
          </p:cNvPr>
          <p:cNvSpPr txBox="1"/>
          <p:nvPr/>
        </p:nvSpPr>
        <p:spPr>
          <a:xfrm>
            <a:off x="3012948" y="537710"/>
            <a:ext cx="6190488" cy="461665"/>
          </a:xfrm>
          <a:prstGeom prst="rect">
            <a:avLst/>
          </a:prstGeom>
          <a:noFill/>
        </p:spPr>
        <p:txBody>
          <a:bodyPr wrap="square">
            <a:spAutoFit/>
          </a:bodyPr>
          <a:lstStyle/>
          <a:p>
            <a:r>
              <a:rPr lang="en-US" sz="2400" b="1" dirty="0">
                <a:solidFill>
                  <a:schemeClr val="accent6">
                    <a:lumMod val="60000"/>
                    <a:lumOff val="40000"/>
                  </a:schemeClr>
                </a:solidFill>
              </a:rPr>
              <a:t>When to use ROC AUC </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97238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ROC AUC ?</a:t>
            </a:r>
          </a:p>
        </p:txBody>
      </p:sp>
      <p:sp>
        <p:nvSpPr>
          <p:cNvPr id="5" name="TextBox 4">
            <a:extLst>
              <a:ext uri="{FF2B5EF4-FFF2-40B4-BE49-F238E27FC236}">
                <a16:creationId xmlns:a16="http://schemas.microsoft.com/office/drawing/2014/main" id="{E6286F98-E038-9EB8-0D71-4D32C21B3784}"/>
              </a:ext>
            </a:extLst>
          </p:cNvPr>
          <p:cNvSpPr txBox="1"/>
          <p:nvPr/>
        </p:nvSpPr>
        <p:spPr>
          <a:xfrm>
            <a:off x="838200" y="1693640"/>
            <a:ext cx="10774680" cy="461665"/>
          </a:xfrm>
          <a:prstGeom prst="rect">
            <a:avLst/>
          </a:prstGeom>
          <a:noFill/>
        </p:spPr>
        <p:txBody>
          <a:bodyPr wrap="square">
            <a:spAutoFit/>
          </a:bodyPr>
          <a:lstStyle/>
          <a:p>
            <a:pPr marL="0" indent="0">
              <a:buNone/>
            </a:pPr>
            <a:r>
              <a:rPr lang="en-US" sz="2400" dirty="0">
                <a:solidFill>
                  <a:schemeClr val="accent6">
                    <a:lumMod val="60000"/>
                    <a:lumOff val="40000"/>
                  </a:schemeClr>
                </a:solidFill>
              </a:rPr>
              <a:t>The ROC AUC score should be used with other metrics, such as </a:t>
            </a:r>
            <a:r>
              <a:rPr lang="en-US" sz="2400" b="1" dirty="0">
                <a:solidFill>
                  <a:schemeClr val="accent6">
                    <a:lumMod val="60000"/>
                    <a:lumOff val="40000"/>
                  </a:schemeClr>
                </a:solidFill>
              </a:rPr>
              <a:t>precision and recall</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608036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FE76-D580-9068-C451-7535C32C327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52EEE62-CF19-9EE0-E4D2-7F9C16B8046B}"/>
              </a:ext>
            </a:extLst>
          </p:cNvPr>
          <p:cNvSpPr txBox="1"/>
          <p:nvPr/>
        </p:nvSpPr>
        <p:spPr>
          <a:xfrm>
            <a:off x="3028950" y="85725"/>
            <a:ext cx="6400800" cy="707886"/>
          </a:xfrm>
          <a:prstGeom prst="rect">
            <a:avLst/>
          </a:prstGeom>
          <a:noFill/>
        </p:spPr>
        <p:txBody>
          <a:bodyPr wrap="square" rtlCol="0">
            <a:spAutoFit/>
          </a:bodyPr>
          <a:lstStyle/>
          <a:p>
            <a:pPr algn="ctr"/>
            <a:r>
              <a:rPr lang="en-US" sz="4000" dirty="0">
                <a:solidFill>
                  <a:schemeClr val="accent6">
                    <a:lumMod val="60000"/>
                    <a:lumOff val="40000"/>
                  </a:schemeClr>
                </a:solidFill>
              </a:rPr>
              <a:t>Heading Goes Here</a:t>
            </a:r>
          </a:p>
        </p:txBody>
      </p:sp>
      <p:sp>
        <p:nvSpPr>
          <p:cNvPr id="9" name="TextBox 8">
            <a:extLst>
              <a:ext uri="{FF2B5EF4-FFF2-40B4-BE49-F238E27FC236}">
                <a16:creationId xmlns:a16="http://schemas.microsoft.com/office/drawing/2014/main" id="{7F60ACD6-1EC9-227E-5DA1-EBD6C3DF7290}"/>
              </a:ext>
            </a:extLst>
          </p:cNvPr>
          <p:cNvSpPr txBox="1"/>
          <p:nvPr/>
        </p:nvSpPr>
        <p:spPr>
          <a:xfrm>
            <a:off x="238125" y="1244739"/>
            <a:ext cx="5029200" cy="1200329"/>
          </a:xfrm>
          <a:prstGeom prst="rect">
            <a:avLst/>
          </a:prstGeom>
          <a:noFill/>
        </p:spPr>
        <p:txBody>
          <a:bodyPr wrap="square" rtlCol="0">
            <a:spAutoFit/>
          </a:bodyPr>
          <a:lstStyle/>
          <a:p>
            <a:r>
              <a:rPr lang="en-US" dirty="0" err="1">
                <a:solidFill>
                  <a:schemeClr val="accent6">
                    <a:lumMod val="60000"/>
                    <a:lumOff val="40000"/>
                  </a:schemeClr>
                </a:solidFill>
              </a:rPr>
              <a:t>Fhdsklf</a:t>
            </a:r>
            <a:endParaRPr lang="en-US" dirty="0">
              <a:solidFill>
                <a:schemeClr val="accent6">
                  <a:lumMod val="60000"/>
                  <a:lumOff val="40000"/>
                </a:schemeClr>
              </a:solidFill>
            </a:endParaRPr>
          </a:p>
          <a:p>
            <a:r>
              <a:rPr lang="en-US" dirty="0" err="1">
                <a:solidFill>
                  <a:schemeClr val="accent6">
                    <a:lumMod val="60000"/>
                    <a:lumOff val="40000"/>
                  </a:schemeClr>
                </a:solidFill>
              </a:rPr>
              <a:t>Fjdsklf</a:t>
            </a:r>
            <a:endParaRPr lang="en-US" dirty="0">
              <a:solidFill>
                <a:schemeClr val="accent6">
                  <a:lumMod val="60000"/>
                  <a:lumOff val="40000"/>
                </a:schemeClr>
              </a:solidFill>
            </a:endParaRPr>
          </a:p>
          <a:p>
            <a:r>
              <a:rPr lang="en-US" dirty="0" err="1">
                <a:solidFill>
                  <a:schemeClr val="accent6">
                    <a:lumMod val="60000"/>
                    <a:lumOff val="40000"/>
                  </a:schemeClr>
                </a:solidFill>
              </a:rPr>
              <a:t>Fjskldf</a:t>
            </a:r>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380376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607</TotalTime>
  <Words>2049</Words>
  <Application>Microsoft Office PowerPoint</Application>
  <PresentationFormat>Widescreen</PresentationFormat>
  <Paragraphs>178</Paragraphs>
  <Slides>27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ROC AUC Receiver Operating Characteristic   Area under Curve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Plotting the ROC curve</vt:lpstr>
      <vt:lpstr>PowerPoint Presentation</vt:lpstr>
      <vt:lpstr>Real world scenario</vt:lpstr>
      <vt:lpstr>ROC AUC pros</vt:lpstr>
      <vt:lpstr>ROC AUC pros</vt:lpstr>
      <vt:lpstr>ROC AUC cons</vt:lpstr>
      <vt:lpstr>ROC AUC cons</vt:lpstr>
      <vt:lpstr>PowerPoint Presentation</vt:lpstr>
      <vt:lpstr>How to use ROC AUC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84</cp:revision>
  <dcterms:created xsi:type="dcterms:W3CDTF">2025-09-22T02:44:38Z</dcterms:created>
  <dcterms:modified xsi:type="dcterms:W3CDTF">2026-02-23T16:17:13Z</dcterms:modified>
</cp:coreProperties>
</file>