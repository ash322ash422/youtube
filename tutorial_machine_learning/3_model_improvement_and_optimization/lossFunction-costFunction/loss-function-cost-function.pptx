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8"/>
  </p:handoutMasterIdLst>
  <p:sldIdLst>
    <p:sldId id="259" r:id="rId2"/>
    <p:sldId id="270" r:id="rId3"/>
    <p:sldId id="261" r:id="rId4"/>
    <p:sldId id="279" r:id="rId5"/>
    <p:sldId id="268" r:id="rId6"/>
    <p:sldId id="278" r:id="rId7"/>
    <p:sldId id="263" r:id="rId8"/>
    <p:sldId id="276" r:id="rId9"/>
    <p:sldId id="277" r:id="rId10"/>
    <p:sldId id="262" r:id="rId11"/>
    <p:sldId id="269" r:id="rId12"/>
    <p:sldId id="264" r:id="rId13"/>
    <p:sldId id="265" r:id="rId14"/>
    <p:sldId id="257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2EEE62-CF19-9EE0-E4D2-7F9C16B8046B}"/>
              </a:ext>
            </a:extLst>
          </p:cNvPr>
          <p:cNvSpPr txBox="1"/>
          <p:nvPr/>
        </p:nvSpPr>
        <p:spPr>
          <a:xfrm>
            <a:off x="3028950" y="12573"/>
            <a:ext cx="640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function – Cost Function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60ACD6-1EC9-227E-5DA1-EBD6C3DF7290}"/>
              </a:ext>
            </a:extLst>
          </p:cNvPr>
          <p:cNvSpPr txBox="1"/>
          <p:nvPr/>
        </p:nvSpPr>
        <p:spPr>
          <a:xfrm>
            <a:off x="238124" y="705243"/>
            <a:ext cx="115576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Function is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error for ONE data point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Function is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average error for ALL data points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376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C62-4A18-7907-40D4-118E40131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415266A-29B7-DFDF-0464-8C4CE6DD1607}"/>
              </a:ext>
            </a:extLst>
          </p:cNvPr>
          <p:cNvSpPr txBox="1"/>
          <p:nvPr/>
        </p:nvSpPr>
        <p:spPr>
          <a:xfrm>
            <a:off x="3028950" y="12573"/>
            <a:ext cx="640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function – Cost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02AE3B-9542-C72F-A919-C64AFE4CB8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593141"/>
                  </p:ext>
                </p:extLst>
              </p:nvPr>
            </p:nvGraphicFramePr>
            <p:xfrm>
              <a:off x="158360" y="3668791"/>
              <a:ext cx="7979800" cy="2651760"/>
            </p:xfrm>
            <a:graphic>
              <a:graphicData uri="http://schemas.openxmlformats.org/drawingml/2006/table">
                <a:tbl>
                  <a:tblPr/>
                  <a:tblGrid>
                    <a:gridCol w="920632">
                      <a:extLst>
                        <a:ext uri="{9D8B030D-6E8A-4147-A177-3AD203B41FA5}">
                          <a16:colId xmlns:a16="http://schemas.microsoft.com/office/drawing/2014/main" val="3253366794"/>
                        </a:ext>
                      </a:extLst>
                    </a:gridCol>
                    <a:gridCol w="2212848">
                      <a:extLst>
                        <a:ext uri="{9D8B030D-6E8A-4147-A177-3AD203B41FA5}">
                          <a16:colId xmlns:a16="http://schemas.microsoft.com/office/drawing/2014/main" val="783942809"/>
                        </a:ext>
                      </a:extLst>
                    </a:gridCol>
                    <a:gridCol w="1764792">
                      <a:extLst>
                        <a:ext uri="{9D8B030D-6E8A-4147-A177-3AD203B41FA5}">
                          <a16:colId xmlns:a16="http://schemas.microsoft.com/office/drawing/2014/main" val="1748168047"/>
                        </a:ext>
                      </a:extLst>
                    </a:gridCol>
                    <a:gridCol w="3081528">
                      <a:extLst>
                        <a:ext uri="{9D8B030D-6E8A-4147-A177-3AD203B41FA5}">
                          <a16:colId xmlns:a16="http://schemas.microsoft.com/office/drawing/2014/main" val="988651161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 err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y_actual</a:t>
                          </a:r>
                          <a:endParaRPr lang="en-US" sz="2400" b="1" u="sng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 err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y_predict</a:t>
                          </a:r>
                          <a:endParaRPr lang="en-US" sz="2400" b="1" u="sng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Loss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037258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5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i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−5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= 9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962547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0" smtClean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en-US" sz="2400" i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b="0" i="1" smtClean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= 16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4664459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0" smtClean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r>
                                        <a:rPr lang="en-US" sz="2400" i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b="0" i="1" smtClean="0">
                                          <a:solidFill>
                                            <a:schemeClr val="accent6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9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= 36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285812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Cost = (9 + 16 + 36)/3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= 20.3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574253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02AE3B-9542-C72F-A919-C64AFE4CB8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593141"/>
                  </p:ext>
                </p:extLst>
              </p:nvPr>
            </p:nvGraphicFramePr>
            <p:xfrm>
              <a:off x="158360" y="3668791"/>
              <a:ext cx="7979800" cy="2651760"/>
            </p:xfrm>
            <a:graphic>
              <a:graphicData uri="http://schemas.openxmlformats.org/drawingml/2006/table">
                <a:tbl>
                  <a:tblPr/>
                  <a:tblGrid>
                    <a:gridCol w="920632">
                      <a:extLst>
                        <a:ext uri="{9D8B030D-6E8A-4147-A177-3AD203B41FA5}">
                          <a16:colId xmlns:a16="http://schemas.microsoft.com/office/drawing/2014/main" val="3253366794"/>
                        </a:ext>
                      </a:extLst>
                    </a:gridCol>
                    <a:gridCol w="2212848">
                      <a:extLst>
                        <a:ext uri="{9D8B030D-6E8A-4147-A177-3AD203B41FA5}">
                          <a16:colId xmlns:a16="http://schemas.microsoft.com/office/drawing/2014/main" val="783942809"/>
                        </a:ext>
                      </a:extLst>
                    </a:gridCol>
                    <a:gridCol w="1764792">
                      <a:extLst>
                        <a:ext uri="{9D8B030D-6E8A-4147-A177-3AD203B41FA5}">
                          <a16:colId xmlns:a16="http://schemas.microsoft.com/office/drawing/2014/main" val="1748168047"/>
                        </a:ext>
                      </a:extLst>
                    </a:gridCol>
                    <a:gridCol w="3081528">
                      <a:extLst>
                        <a:ext uri="{9D8B030D-6E8A-4147-A177-3AD203B41FA5}">
                          <a16:colId xmlns:a16="http://schemas.microsoft.com/office/drawing/2014/main" val="988651161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 err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y_actual</a:t>
                          </a:r>
                          <a:endParaRPr lang="en-US" sz="2400" b="1" u="sng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 err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y_predict</a:t>
                          </a:r>
                          <a:endParaRPr lang="en-US" sz="2400" b="1" u="sng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Loss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0372583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5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8893" t="-109333" b="-41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96254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8893" t="-206579" b="-306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664459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8893" t="-310667" b="-2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2858129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Cost = (9 + 16 + 36)/3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= 20.3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574253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A3EFE8C-1503-EC72-704C-A3BEE18265C0}"/>
              </a:ext>
            </a:extLst>
          </p:cNvPr>
          <p:cNvSpPr txBox="1"/>
          <p:nvPr/>
        </p:nvSpPr>
        <p:spPr>
          <a:xfrm>
            <a:off x="342900" y="578858"/>
            <a:ext cx="46954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Linear Regression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(Squared Error):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1 data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Cost(Mean Squared Error – MSE)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all 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F37D56-E895-1BB7-EFED-AE444126D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84" y="1315732"/>
            <a:ext cx="6806800" cy="179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949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61254-A6B8-94FD-9742-B8EC8CEF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E8A076-7E5F-57BC-EC37-C5CE4AA22AE6}"/>
              </a:ext>
            </a:extLst>
          </p:cNvPr>
          <p:cNvSpPr txBox="1"/>
          <p:nvPr/>
        </p:nvSpPr>
        <p:spPr>
          <a:xfrm>
            <a:off x="342900" y="533138"/>
            <a:ext cx="859078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Loss function: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Squared Error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SE (Used in Linear regression):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Cost Function -&gt;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 Squared Error - MSE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the average of squared error for all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samples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in house price prediction, salary prediction,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Penalizes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errors heavily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(because of square)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Smooth and differentiable → good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gradient descent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Sensitive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outliers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482B9C-6E39-6814-1EEC-830F38893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944" y="1128890"/>
            <a:ext cx="2347376" cy="6754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2070B5F-8E25-65AA-4FFA-0F96A5A41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576" y="1895726"/>
            <a:ext cx="2077295" cy="11240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050945-F688-164A-9B99-85C80E817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144" y="3838198"/>
            <a:ext cx="3559727" cy="101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10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E2096-14E5-85AC-A4C1-931BBB9E0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BB8F797-6633-8BF7-4A31-5676E0F3D870}"/>
              </a:ext>
            </a:extLst>
          </p:cNvPr>
          <p:cNvSpPr txBox="1"/>
          <p:nvPr/>
        </p:nvSpPr>
        <p:spPr>
          <a:xfrm>
            <a:off x="3028950" y="12573"/>
            <a:ext cx="640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function – Cost Function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2E362A-068E-5BF2-8E29-A96A3449EC46}"/>
              </a:ext>
            </a:extLst>
          </p:cNvPr>
          <p:cNvSpPr txBox="1"/>
          <p:nvPr/>
        </p:nvSpPr>
        <p:spPr>
          <a:xfrm>
            <a:off x="342900" y="578858"/>
            <a:ext cx="1034643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Some authors define loss function to be same as cost function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 is, loss function =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average error for ALL data points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5FA6EB-57A9-0387-CFA7-A293681A4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032" y="2410336"/>
            <a:ext cx="3559727" cy="101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592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A230-CA78-E874-F5D7-44862F6FD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D1297C-B412-4343-E9BC-CAAE28ADA790}"/>
              </a:ext>
            </a:extLst>
          </p:cNvPr>
          <p:cNvSpPr txBox="1"/>
          <p:nvPr/>
        </p:nvSpPr>
        <p:spPr>
          <a:xfrm>
            <a:off x="342900" y="533138"/>
            <a:ext cx="73531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Absolute Error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–AE (Used in Linear regression):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Cost Function -&gt;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 Absolute Error - MAE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the average of absolute error for all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samples</a:t>
            </a:r>
          </a:p>
          <a:p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D8F57A-2F89-BE22-7DF4-84C491B64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03" y="1059382"/>
            <a:ext cx="2011586" cy="5155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A2FC9C-E038-CE7A-49CF-530F32760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1789367"/>
            <a:ext cx="2221955" cy="1202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01E523-1672-A240-BAA4-353E6D36F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792" y="3316068"/>
            <a:ext cx="2810267" cy="84784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6DCC59-F1E2-6A96-5201-0004AF3A7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646360"/>
              </p:ext>
            </p:extLst>
          </p:nvPr>
        </p:nvGraphicFramePr>
        <p:xfrm>
          <a:off x="214884" y="4271911"/>
          <a:ext cx="6903720" cy="2286000"/>
        </p:xfrm>
        <a:graphic>
          <a:graphicData uri="http://schemas.openxmlformats.org/drawingml/2006/table">
            <a:tbl>
              <a:tblPr/>
              <a:tblGrid>
                <a:gridCol w="649224">
                  <a:extLst>
                    <a:ext uri="{9D8B030D-6E8A-4147-A177-3AD203B41FA5}">
                      <a16:colId xmlns:a16="http://schemas.microsoft.com/office/drawing/2014/main" val="325336679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783942809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1748168047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988651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u="sng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y_actual</a:t>
                      </a:r>
                      <a:endParaRPr lang="en-US" sz="2000" b="1" u="sng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u="sng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y_predict</a:t>
                      </a:r>
                      <a:endParaRPr lang="en-US" sz="2000" b="1" u="sng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725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| 2 – 5 |= 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625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| 4 – 8 |= 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644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| 3 – 9 |= 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858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Cost (MAE) = (3 + 4 + 6)/3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= 4.3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742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4986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7C570-D331-06AE-95FA-C9BC24D47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FB396D-9F2C-4B12-2D6D-20767470A573}"/>
              </a:ext>
            </a:extLst>
          </p:cNvPr>
          <p:cNvSpPr txBox="1"/>
          <p:nvPr/>
        </p:nvSpPr>
        <p:spPr>
          <a:xfrm>
            <a:off x="342900" y="533138"/>
            <a:ext cx="73531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 Absolute Error - MAE</a:t>
            </a:r>
          </a:p>
          <a:p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71BCF1-8875-D1E6-A5BA-FE802C1C410D}"/>
              </a:ext>
            </a:extLst>
          </p:cNvPr>
          <p:cNvSpPr txBox="1"/>
          <p:nvPr/>
        </p:nvSpPr>
        <p:spPr>
          <a:xfrm>
            <a:off x="196596" y="1621828"/>
            <a:ext cx="70088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Less sensitive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outliers,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because there no squaring 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C61FCD-3EF6-ED41-6108-272A2A7DF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03" y="1059382"/>
            <a:ext cx="2011586" cy="5155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075269-66D5-DCF6-C7B0-AF48233B7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1789367"/>
            <a:ext cx="2221955" cy="12023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117DC6-D668-7F12-84C4-35F623066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0919" y="3610246"/>
            <a:ext cx="2810267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677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42F54-94D5-8EEF-960E-1059A1B36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1F0A69-6BB7-AC88-27DE-1857488D7286}"/>
              </a:ext>
            </a:extLst>
          </p:cNvPr>
          <p:cNvSpPr txBox="1"/>
          <p:nvPr/>
        </p:nvSpPr>
        <p:spPr>
          <a:xfrm>
            <a:off x="342900" y="533138"/>
            <a:ext cx="968806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Binary Cross Entropy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(Used in classification):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Here y is 0 or 1.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Cost Function: It is the average of binary cross entropy for all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case: Spam detection, Disease prediction, Fraud detection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Penalizes confident wrong predictions heavily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48BB5D-28D1-5365-51AB-A18B03E25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974311"/>
            <a:ext cx="5511375" cy="6413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B8A0E6-4C08-102D-15F7-4C60A876F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4077393"/>
            <a:ext cx="5118739" cy="93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6C95BE-8D19-A47F-7E89-04104FE2A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056847"/>
            <a:ext cx="4081230" cy="120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43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75042-26E6-C9BC-0CF6-3D3EEA204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42A53D-5C6D-FC91-C2C7-F225E6DAB76C}"/>
                  </a:ext>
                </a:extLst>
              </p:cNvPr>
              <p:cNvSpPr txBox="1"/>
              <p:nvPr/>
            </p:nvSpPr>
            <p:spPr>
              <a:xfrm>
                <a:off x="342900" y="533138"/>
                <a:ext cx="9688068" cy="4893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Binary Cross Entropy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 1 (Correct Prediction)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True label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Model predicted probability (of class 1)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Plug into formula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2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ar-AE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</m:d>
                            </m:e>
                          </m:func>
                          <m:r>
                            <a:rPr lang="ar-AE" sz="2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ar-AE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ar-AE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105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this is low loss → good prediction</a:t>
                </a:r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42A53D-5C6D-FC91-C2C7-F225E6DAB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533138"/>
                <a:ext cx="9688068" cy="4893647"/>
              </a:xfrm>
              <a:prstGeom prst="rect">
                <a:avLst/>
              </a:prstGeom>
              <a:blipFill>
                <a:blip r:embed="rId2"/>
                <a:stretch>
                  <a:fillRect l="-943" t="-996" b="-1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C3DE3C7D-8EA7-A2B0-6DF0-2664934BB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72" y="974311"/>
            <a:ext cx="5511375" cy="6413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7168AB-F8ED-7101-A4CB-9C57FC241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300" y="2093530"/>
            <a:ext cx="4145238" cy="121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78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E5EB0-68FB-8489-F9C1-562D12A7C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04427D-7975-667D-B514-04C2A0FCD410}"/>
                  </a:ext>
                </a:extLst>
              </p:cNvPr>
              <p:cNvSpPr txBox="1"/>
              <p:nvPr/>
            </p:nvSpPr>
            <p:spPr>
              <a:xfrm>
                <a:off x="342900" y="533138"/>
                <a:ext cx="10611612" cy="6001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Binary Cross Entropy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 2 (Bad Prediction)</a:t>
                </a:r>
              </a:p>
              <a:p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True label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Model predicted probability (of class 1)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Plug into the formula: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func>
                            <m:func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ar-AE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</m:func>
                          <m:r>
                            <a:rPr lang="ar-AE" sz="2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ar-AE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ar-AE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ar-AE" sz="240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302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this is high loss → bad prediction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the model had high confidence for wrong prediction (prob of class 0 = 0.9),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BCE penalizes strongly this </a:t>
                </a: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confident wrong predictions</a:t>
                </a:r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04427D-7975-667D-B514-04C2A0FCD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533138"/>
                <a:ext cx="10611612" cy="6001643"/>
              </a:xfrm>
              <a:prstGeom prst="rect">
                <a:avLst/>
              </a:prstGeom>
              <a:blipFill>
                <a:blip r:embed="rId2"/>
                <a:stretch>
                  <a:fillRect l="-862" t="-812" b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81947D6-13AA-3493-6A58-C22A9B332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974311"/>
            <a:ext cx="5511375" cy="6413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794D42-85E1-4630-52D8-2FB4124CB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300" y="2093530"/>
            <a:ext cx="4145238" cy="121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112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49A5D-4C7E-68E2-1EC7-E27781534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64167-3401-A419-441E-1DE60A2D9217}"/>
              </a:ext>
            </a:extLst>
          </p:cNvPr>
          <p:cNvSpPr txBox="1"/>
          <p:nvPr/>
        </p:nvSpPr>
        <p:spPr>
          <a:xfrm>
            <a:off x="342900" y="533138"/>
            <a:ext cx="1031900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Categorical Cross Entropy Loss: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in multi-class classification, i.e. there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than 2 classes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example, in digit recognition (0 – 9), animal classification (dog-cat-snake)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065CB9-635B-F3FE-7DE9-09E1A3C00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082" y="1325880"/>
            <a:ext cx="2812025" cy="10058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AED3A-138B-3605-D754-70E504AE3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615" y="2507229"/>
            <a:ext cx="3834485" cy="1441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700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DB77F-ACE3-E15D-E329-A7310F136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8D03B2-6252-6EE5-605E-D3D6AA88E83E}"/>
                  </a:ext>
                </a:extLst>
              </p:cNvPr>
              <p:cNvSpPr txBox="1"/>
              <p:nvPr/>
            </p:nvSpPr>
            <p:spPr>
              <a:xfrm>
                <a:off x="342900" y="533138"/>
                <a:ext cx="8590788" cy="4893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5) Hinge Loss 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(Used in classification by SVM):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 If </a:t>
                </a:r>
                <a:r>
                  <a:rPr lang="en-US" sz="24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y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1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ar-AE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3, then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Loss = max( 0, 1 – 1x0.3 )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= max( 0, 0.7)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= 0.7</a:t>
                </a:r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8D03B2-6252-6EE5-605E-D3D6AA88E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533138"/>
                <a:ext cx="8590788" cy="4893647"/>
              </a:xfrm>
              <a:prstGeom prst="rect">
                <a:avLst/>
              </a:prstGeom>
              <a:blipFill>
                <a:blip r:embed="rId2"/>
                <a:stretch>
                  <a:fillRect l="-1064" t="-996" b="-1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DA21B9E-37D6-59E7-89D9-E2B3FE438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2681" y="1471319"/>
            <a:ext cx="3670064" cy="52429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61F6CD-C426-98A5-289B-2FB2F4F05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6944" y="2228639"/>
            <a:ext cx="4081230" cy="120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599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74E7-F598-85C2-43C0-4F93683FD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2566BE-FF9A-E1D1-C614-F737A1AC2347}"/>
              </a:ext>
            </a:extLst>
          </p:cNvPr>
          <p:cNvSpPr txBox="1"/>
          <p:nvPr/>
        </p:nvSpPr>
        <p:spPr>
          <a:xfrm>
            <a:off x="342900" y="533138"/>
            <a:ext cx="103190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6) Huber Loss (Regression):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combines advantages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MSE + MAE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7A8507-62DF-57BC-56CF-FD4B4C8DE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109" y="2409683"/>
            <a:ext cx="4534533" cy="10193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EDEA8-ECD7-CF96-6305-CFB6A4FCF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165" y="4094680"/>
            <a:ext cx="2343477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074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3A9D7-3447-BBBE-394F-5B0075918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553DAA-63A8-C6E1-DF28-54C3AA9D5282}"/>
              </a:ext>
            </a:extLst>
          </p:cNvPr>
          <p:cNvSpPr txBox="1"/>
          <p:nvPr/>
        </p:nvSpPr>
        <p:spPr>
          <a:xfrm>
            <a:off x="342900" y="533138"/>
            <a:ext cx="1031900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7) KL Divergence Loss: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difference between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distributions.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used in, VAEs, Generative AI, Knowledge distillation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essentially tells you how much information is lost when using Q instead of P.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624A67-EEF1-3253-81C2-85D8906A2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661" y="1991070"/>
            <a:ext cx="3982006" cy="771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C702EF-C560-3554-E13E-9522A222B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724" y="3103354"/>
            <a:ext cx="3334215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57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AEF386B-0558-DE65-7873-1EB91A8212BB}"/>
              </a:ext>
            </a:extLst>
          </p:cNvPr>
          <p:cNvSpPr txBox="1"/>
          <p:nvPr/>
        </p:nvSpPr>
        <p:spPr>
          <a:xfrm>
            <a:off x="2396109" y="686955"/>
            <a:ext cx="502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0A372-8580-6758-BC88-CAE6C1D74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19804-DE99-8C2D-9F7B-1B8F4E8CC645}"/>
              </a:ext>
            </a:extLst>
          </p:cNvPr>
          <p:cNvSpPr txBox="1"/>
          <p:nvPr/>
        </p:nvSpPr>
        <p:spPr>
          <a:xfrm>
            <a:off x="342900" y="533138"/>
            <a:ext cx="103190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8) Focal Loss: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used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imbalanced classification problems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Cancer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1FC1E5-76AD-B6D1-A53C-DF51D099F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206" y="3729955"/>
            <a:ext cx="3715268" cy="495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9C12DE-DCC7-A68E-C167-B79AF04D5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111" y="4629175"/>
            <a:ext cx="4915586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089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ACCF-FF96-0AB4-AA27-73E1C247A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208F86-8978-E8B8-03A1-231A0625B77E}"/>
              </a:ext>
            </a:extLst>
          </p:cNvPr>
          <p:cNvSpPr txBox="1"/>
          <p:nvPr/>
        </p:nvSpPr>
        <p:spPr>
          <a:xfrm>
            <a:off x="342900" y="533138"/>
            <a:ext cx="103190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9) Dice Loss (Image Segmentation):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overlap between prediction and ground truth.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66D4B-205E-C452-09A4-BFE800CD0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899" y="2264796"/>
            <a:ext cx="2229161" cy="8287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EEED5A-14FB-84AD-6D85-3FD467AC1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402" y="3516729"/>
            <a:ext cx="2124371" cy="4953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D78F3B-03F2-01CE-9D41-AC42B4BEB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333" y="4291116"/>
            <a:ext cx="273405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580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907</TotalTime>
  <Words>622</Words>
  <Application>Microsoft Office PowerPoint</Application>
  <PresentationFormat>Widescreen</PresentationFormat>
  <Paragraphs>174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101</cp:revision>
  <dcterms:created xsi:type="dcterms:W3CDTF">2025-09-22T02:44:38Z</dcterms:created>
  <dcterms:modified xsi:type="dcterms:W3CDTF">2026-03-09T08:35:16Z</dcterms:modified>
</cp:coreProperties>
</file>