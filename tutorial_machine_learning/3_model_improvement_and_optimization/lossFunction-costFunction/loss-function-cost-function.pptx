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2"/>
  </p:handoutMasterIdLst>
  <p:sldIdLst>
    <p:sldId id="259" r:id="rId2"/>
    <p:sldId id="260" r:id="rId3"/>
    <p:sldId id="261" r:id="rId4"/>
    <p:sldId id="263" r:id="rId5"/>
    <p:sldId id="262" r:id="rId6"/>
    <p:sldId id="264" r:id="rId7"/>
    <p:sldId id="265" r:id="rId8"/>
    <p:sldId id="266" r:id="rId9"/>
    <p:sldId id="267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12573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– Cost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4" y="705243"/>
            <a:ext cx="11557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Function is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error for ONE data point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Function is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 error for ALL data points</a:t>
            </a: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BC62-4A18-7907-40D4-118E40131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15266A-29B7-DFDF-0464-8C4CE6DD1607}"/>
              </a:ext>
            </a:extLst>
          </p:cNvPr>
          <p:cNvSpPr txBox="1"/>
          <p:nvPr/>
        </p:nvSpPr>
        <p:spPr>
          <a:xfrm>
            <a:off x="3028950" y="12573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– 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502AE3B-9542-C72F-A919-C64AFE4CB8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224163"/>
                  </p:ext>
                </p:extLst>
              </p:nvPr>
            </p:nvGraphicFramePr>
            <p:xfrm>
              <a:off x="85208" y="3334833"/>
              <a:ext cx="10567552" cy="2286000"/>
            </p:xfrm>
            <a:graphic>
              <a:graphicData uri="http://schemas.openxmlformats.org/drawingml/2006/table">
                <a:tbl>
                  <a:tblPr/>
                  <a:tblGrid>
                    <a:gridCol w="1417756">
                      <a:extLst>
                        <a:ext uri="{9D8B030D-6E8A-4147-A177-3AD203B41FA5}">
                          <a16:colId xmlns:a16="http://schemas.microsoft.com/office/drawing/2014/main" val="3253366794"/>
                        </a:ext>
                      </a:extLst>
                    </a:gridCol>
                    <a:gridCol w="2105919">
                      <a:extLst>
                        <a:ext uri="{9D8B030D-6E8A-4147-A177-3AD203B41FA5}">
                          <a16:colId xmlns:a16="http://schemas.microsoft.com/office/drawing/2014/main" val="783942809"/>
                        </a:ext>
                      </a:extLst>
                    </a:gridCol>
                    <a:gridCol w="2389375">
                      <a:extLst>
                        <a:ext uri="{9D8B030D-6E8A-4147-A177-3AD203B41FA5}">
                          <a16:colId xmlns:a16="http://schemas.microsoft.com/office/drawing/2014/main" val="1748168047"/>
                        </a:ext>
                      </a:extLst>
                    </a:gridCol>
                    <a:gridCol w="4654502">
                      <a:extLst>
                        <a:ext uri="{9D8B030D-6E8A-4147-A177-3AD203B41FA5}">
                          <a16:colId xmlns:a16="http://schemas.microsoft.com/office/drawing/2014/main" val="98865116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b="1" u="sng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y_actual</a:t>
                          </a:r>
                          <a:endParaRPr lang="en-US" sz="2400" b="1" u="sng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b="1" u="sng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y_predicted</a:t>
                          </a:r>
                          <a:endParaRPr lang="en-US" sz="2400" b="1" u="sng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Loss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37258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400" i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−1.5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= 0.25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254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3.4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0" smtClean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sz="2400" i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0" smtClean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sz="2400" i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= 0.36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6445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3.9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0" smtClean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sz="2400" i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0" smtClean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sz="2400" i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= 0.81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28581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Cost = (0.25 + 0.36 + 0.81)/3 = 0.47 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57425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502AE3B-9542-C72F-A919-C64AFE4CB8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224163"/>
                  </p:ext>
                </p:extLst>
              </p:nvPr>
            </p:nvGraphicFramePr>
            <p:xfrm>
              <a:off x="85208" y="3334833"/>
              <a:ext cx="10567552" cy="2286000"/>
            </p:xfrm>
            <a:graphic>
              <a:graphicData uri="http://schemas.openxmlformats.org/drawingml/2006/table">
                <a:tbl>
                  <a:tblPr/>
                  <a:tblGrid>
                    <a:gridCol w="1417756">
                      <a:extLst>
                        <a:ext uri="{9D8B030D-6E8A-4147-A177-3AD203B41FA5}">
                          <a16:colId xmlns:a16="http://schemas.microsoft.com/office/drawing/2014/main" val="3253366794"/>
                        </a:ext>
                      </a:extLst>
                    </a:gridCol>
                    <a:gridCol w="2105919">
                      <a:extLst>
                        <a:ext uri="{9D8B030D-6E8A-4147-A177-3AD203B41FA5}">
                          <a16:colId xmlns:a16="http://schemas.microsoft.com/office/drawing/2014/main" val="783942809"/>
                        </a:ext>
                      </a:extLst>
                    </a:gridCol>
                    <a:gridCol w="2389375">
                      <a:extLst>
                        <a:ext uri="{9D8B030D-6E8A-4147-A177-3AD203B41FA5}">
                          <a16:colId xmlns:a16="http://schemas.microsoft.com/office/drawing/2014/main" val="1748168047"/>
                        </a:ext>
                      </a:extLst>
                    </a:gridCol>
                    <a:gridCol w="4654502">
                      <a:extLst>
                        <a:ext uri="{9D8B030D-6E8A-4147-A177-3AD203B41FA5}">
                          <a16:colId xmlns:a16="http://schemas.microsoft.com/office/drawing/2014/main" val="98865116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b="1" u="sng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y_actual</a:t>
                          </a:r>
                          <a:endParaRPr lang="en-US" sz="2400" b="1" u="sng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b="1" u="sng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y_predicted</a:t>
                          </a:r>
                          <a:endParaRPr lang="en-US" sz="2400" b="1" u="sng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Loss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372583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27094" t="-110667" b="-3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96254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3.4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27094" t="-207895" b="-22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64459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3.9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27094" t="-312000" b="-1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285812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Cost = (0.25 + 0.36 + 0.81)/3 = 0.47 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57425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A3EFE8C-1503-EC72-704C-A3BEE18265C0}"/>
              </a:ext>
            </a:extLst>
          </p:cNvPr>
          <p:cNvSpPr txBox="1"/>
          <p:nvPr/>
        </p:nvSpPr>
        <p:spPr>
          <a:xfrm>
            <a:off x="342900" y="780026"/>
            <a:ext cx="4695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Linear Regression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37D56-E895-1BB7-EFED-AE444126D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388" y="895215"/>
            <a:ext cx="6806800" cy="17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993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61254-A6B8-94FD-9742-B8EC8CEF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E8A076-7E5F-57BC-EC37-C5CE4AA22AE6}"/>
              </a:ext>
            </a:extLst>
          </p:cNvPr>
          <p:cNvSpPr txBox="1"/>
          <p:nvPr/>
        </p:nvSpPr>
        <p:spPr>
          <a:xfrm>
            <a:off x="342900" y="533138"/>
            <a:ext cx="85907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Loss function: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Squared Error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MSE (Used in Linear regression):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used in house price prediction, salary prediction, etc.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Absolute Error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–MAE (Used in Linear regression):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82B9C-6E39-6814-1EEC-830F38893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782" y="1606772"/>
            <a:ext cx="2347376" cy="6754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E7CCD5-4D13-9FE6-F759-8B7641890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934" y="3075489"/>
            <a:ext cx="2187755" cy="5606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AF2ABA-59A5-DD6D-CBE6-D51367430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42" y="4462272"/>
            <a:ext cx="2722509" cy="147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1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42F54-94D5-8EEF-960E-1059A1B36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1F0A69-6BB7-AC88-27DE-1857488D7286}"/>
              </a:ext>
            </a:extLst>
          </p:cNvPr>
          <p:cNvSpPr txBox="1"/>
          <p:nvPr/>
        </p:nvSpPr>
        <p:spPr>
          <a:xfrm>
            <a:off x="342900" y="533138"/>
            <a:ext cx="85907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Loss function: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Cross Entropy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(Used in classification):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Here y is 0 or 1.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Hinge Loss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(Used in classification by SVM):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Here y is 0 or 1.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48BB5D-28D1-5365-51AB-A18B03E25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97855"/>
            <a:ext cx="5511375" cy="6413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3A3AF4-5C20-7381-1E3C-06EE155E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81" y="3641787"/>
            <a:ext cx="3670064" cy="5242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A04628-B7B1-67BE-40AE-6D6FB6B82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006" y="4471966"/>
            <a:ext cx="2722509" cy="147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43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49A5D-4C7E-68E2-1EC7-E27781534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64167-3401-A419-441E-1DE60A2D9217}"/>
              </a:ext>
            </a:extLst>
          </p:cNvPr>
          <p:cNvSpPr txBox="1"/>
          <p:nvPr/>
        </p:nvSpPr>
        <p:spPr>
          <a:xfrm>
            <a:off x="342900" y="533138"/>
            <a:ext cx="103190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Loss function: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Cross Entropy Loss: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multi-class classification, i.e. there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than 2 classes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in digit recognition (0 – 9), animal classification (dog-cat-snake)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065CB9-635B-F3FE-7DE9-09E1A3C00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66" y="3035808"/>
            <a:ext cx="2812025" cy="1005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5AED3A-138B-3605-D754-70E504AE3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466" y="4499609"/>
            <a:ext cx="3834485" cy="144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0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74E7-F598-85C2-43C0-4F93683FD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2566BE-FF9A-E1D1-C614-F737A1AC2347}"/>
              </a:ext>
            </a:extLst>
          </p:cNvPr>
          <p:cNvSpPr txBox="1"/>
          <p:nvPr/>
        </p:nvSpPr>
        <p:spPr>
          <a:xfrm>
            <a:off x="342900" y="533138"/>
            <a:ext cx="103190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Loss function: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Huber Loss (Regression):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combines advantages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MSE + MAE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A8507-62DF-57BC-56CF-FD4B4C8DE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109" y="2409683"/>
            <a:ext cx="4534533" cy="1019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EEDEA8-ECD7-CF96-6305-CFB6A4FCF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165" y="4094680"/>
            <a:ext cx="2343477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74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3A9D7-3447-BBBE-394F-5B0075918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553DAA-63A8-C6E1-DF28-54C3AA9D5282}"/>
              </a:ext>
            </a:extLst>
          </p:cNvPr>
          <p:cNvSpPr txBox="1"/>
          <p:nvPr/>
        </p:nvSpPr>
        <p:spPr>
          <a:xfrm>
            <a:off x="342900" y="533138"/>
            <a:ext cx="103190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Loss function: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KL Divergence Loss: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Measures difference between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distributions.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used in, VAEs, Generative AI, Knowledge distillation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essentially tells you how much information is lost when using Q instead of 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624A67-EEF1-3253-81C2-85D8906A2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661" y="2841462"/>
            <a:ext cx="3982006" cy="771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C702EF-C560-3554-E13E-9522A222B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724" y="3953746"/>
            <a:ext cx="3334215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5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0A372-8580-6758-BC88-CAE6C1D74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E19804-DE99-8C2D-9F7B-1B8F4E8CC645}"/>
              </a:ext>
            </a:extLst>
          </p:cNvPr>
          <p:cNvSpPr txBox="1"/>
          <p:nvPr/>
        </p:nvSpPr>
        <p:spPr>
          <a:xfrm>
            <a:off x="342900" y="533138"/>
            <a:ext cx="103190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Loss function: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Focal Loss: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used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imbalanced classification problems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Cancer detection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FC1E5-76AD-B6D1-A53C-DF51D099F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206" y="3729955"/>
            <a:ext cx="3715268" cy="495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9C12DE-DCC7-A68E-C167-B79AF04D5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111" y="4629175"/>
            <a:ext cx="4915586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89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0ACCF-FF96-0AB4-AA27-73E1C247A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208F86-8978-E8B8-03A1-231A0625B77E}"/>
              </a:ext>
            </a:extLst>
          </p:cNvPr>
          <p:cNvSpPr txBox="1"/>
          <p:nvPr/>
        </p:nvSpPr>
        <p:spPr>
          <a:xfrm>
            <a:off x="342900" y="533138"/>
            <a:ext cx="103190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Loss function: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Dice Loss (Image Segmentation):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Measures overlap between prediction and ground truth.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66D4B-205E-C452-09A4-BFE800CD0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899" y="2264796"/>
            <a:ext cx="2229161" cy="828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EEED5A-14FB-84AD-6D85-3FD467AC1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402" y="3516729"/>
            <a:ext cx="2124371" cy="495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D78F3B-03F2-01CE-9D41-AC42B4BEB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333" y="4291116"/>
            <a:ext cx="2734057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80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EF386B-0558-DE65-7873-1EB91A8212BB}"/>
              </a:ext>
            </a:extLst>
          </p:cNvPr>
          <p:cNvSpPr txBox="1"/>
          <p:nvPr/>
        </p:nvSpPr>
        <p:spPr>
          <a:xfrm>
            <a:off x="2396109" y="686955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321</TotalTime>
  <Words>301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66</cp:revision>
  <dcterms:created xsi:type="dcterms:W3CDTF">2025-09-22T02:44:38Z</dcterms:created>
  <dcterms:modified xsi:type="dcterms:W3CDTF">2026-02-25T05:39:12Z</dcterms:modified>
</cp:coreProperties>
</file>