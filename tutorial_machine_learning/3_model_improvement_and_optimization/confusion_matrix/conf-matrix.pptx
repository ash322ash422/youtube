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2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60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AFF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E36E9-04A7-4623-BB50-4729D461677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488EA-DF0D-41E6-86CC-A39624B8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3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488EA-DF0D-41E6-86CC-A39624B8A6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11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24AD5-A6BB-09DB-DD64-204BD68B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86702-C92C-B96D-772C-BAA233F76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82CCB-E2A1-95D7-71B3-48DCCD1CF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A07E1-9E91-6B7E-C53E-76EEA7269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488EA-DF0D-41E6-86CC-A39624B8A6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50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D7CF7-0629-5611-D37C-98422CA9F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F49F6-5E47-2020-554F-E99E2AF22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6D31C-46FA-6D84-C782-E0CA92182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368B0-4FC7-824A-7CFD-5B180AA82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488EA-DF0D-41E6-86CC-A39624B8A6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84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A02EC-0756-A284-A727-E948207F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11AAC-2B79-7BE9-E309-3117E0738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A3FD7-4A46-A9A9-DC19-BFA7AAB18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8D471-CD11-3BBA-6877-5BF64B393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488EA-DF0D-41E6-86CC-A39624B8A6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55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28F9C-BBDB-EF14-E83F-54BF58922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713A18-C81E-7869-C30F-91514051F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FCE48-75FF-42C4-B21C-8861E2F9B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8688B-8B12-6CF9-7455-CEE29EB7A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488EA-DF0D-41E6-86CC-A39624B8A6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17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916D-1467-6AC5-E2BE-BB5A4332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D021A-9E79-D1DA-2488-CA8ABEFB5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336D5-E168-66F9-7495-AB2912111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36888-DAC7-ED1B-8F1D-D700BB446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488EA-DF0D-41E6-86CC-A39624B8A6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55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C5C8-996D-7B81-AC28-604AFAAB8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F165E-F79A-069C-42A1-688CB9247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DF13F-D313-A3E1-37A6-C1AD23247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71F9C-B736-7D4F-34BE-C1D1FF60A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488EA-DF0D-41E6-86CC-A39624B8A6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49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82657-E1CB-4D9A-B25C-007A9F31C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3CD9A-EEE3-CFDC-97C9-BF2E41F24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AB4FE-34C0-9780-4362-22A1ABB58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138A5-5501-6716-59D1-51E460387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488EA-DF0D-41E6-86CC-A39624B8A6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15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EF386B-0558-DE65-7873-1EB91A8212BB}"/>
              </a:ext>
            </a:extLst>
          </p:cNvPr>
          <p:cNvSpPr txBox="1"/>
          <p:nvPr/>
        </p:nvSpPr>
        <p:spPr>
          <a:xfrm>
            <a:off x="238124" y="769251"/>
            <a:ext cx="11575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following 16 labelled data that you feed to a classification ML model.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EC2A86-3388-5EC1-0E37-B8F701D8B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642497"/>
              </p:ext>
            </p:extLst>
          </p:nvPr>
        </p:nvGraphicFramePr>
        <p:xfrm>
          <a:off x="238125" y="1471607"/>
          <a:ext cx="4415328" cy="5233110"/>
        </p:xfrm>
        <a:graphic>
          <a:graphicData uri="http://schemas.openxmlformats.org/drawingml/2006/table">
            <a:tbl>
              <a:tblPr/>
              <a:tblGrid>
                <a:gridCol w="1471776">
                  <a:extLst>
                    <a:ext uri="{9D8B030D-6E8A-4147-A177-3AD203B41FA5}">
                      <a16:colId xmlns:a16="http://schemas.microsoft.com/office/drawing/2014/main" val="1069152409"/>
                    </a:ext>
                  </a:extLst>
                </a:gridCol>
                <a:gridCol w="1471776">
                  <a:extLst>
                    <a:ext uri="{9D8B030D-6E8A-4147-A177-3AD203B41FA5}">
                      <a16:colId xmlns:a16="http://schemas.microsoft.com/office/drawing/2014/main" val="2276110005"/>
                    </a:ext>
                  </a:extLst>
                </a:gridCol>
                <a:gridCol w="1471776">
                  <a:extLst>
                    <a:ext uri="{9D8B030D-6E8A-4147-A177-3AD203B41FA5}">
                      <a16:colId xmlns:a16="http://schemas.microsoft.com/office/drawing/2014/main" val="1530711215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Feature_1 (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ht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Feature_2 (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wt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Actual_Target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24741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1.2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02038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3.1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00999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3.3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2.9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60350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0.8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0.5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1473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52027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3.0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3.5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39924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63399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2.7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54154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3.6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3.0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5041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2.9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1.9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42005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0.9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41044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0.6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26700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2.7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09333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12011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3.1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71785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2.0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0.7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3369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AAAD900-6E6E-7213-B506-79A0244BC149}"/>
              </a:ext>
            </a:extLst>
          </p:cNvPr>
          <p:cNvSpPr txBox="1"/>
          <p:nvPr/>
        </p:nvSpPr>
        <p:spPr>
          <a:xfrm>
            <a:off x="3028950" y="8572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F3AA8-4CE6-F3B4-35E1-56018AABF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271911-EE1D-BB66-6B70-71BF8E4B191A}"/>
              </a:ext>
            </a:extLst>
          </p:cNvPr>
          <p:cNvSpPr txBox="1"/>
          <p:nvPr/>
        </p:nvSpPr>
        <p:spPr>
          <a:xfrm>
            <a:off x="3028950" y="8572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91021-F01F-EAA8-BEA6-7B5B98B09086}"/>
              </a:ext>
            </a:extLst>
          </p:cNvPr>
          <p:cNvSpPr txBox="1"/>
          <p:nvPr/>
        </p:nvSpPr>
        <p:spPr>
          <a:xfrm>
            <a:off x="238124" y="586371"/>
            <a:ext cx="11575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following labelled data that you feed to a classification ML model.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makes a prediction.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compare the predicted target with the actual target. You find 4 misclassified targets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97A2BB-A2A4-A4BF-44C0-888A1C8A4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42" y="1809798"/>
            <a:ext cx="9163308" cy="49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89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A4142-EC9C-DBAD-3D28-F59B3103E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6A0BB7C-5F15-33F1-9126-6974084DB9AE}"/>
              </a:ext>
            </a:extLst>
          </p:cNvPr>
          <p:cNvSpPr txBox="1"/>
          <p:nvPr/>
        </p:nvSpPr>
        <p:spPr>
          <a:xfrm>
            <a:off x="3028950" y="85725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E69D8A-B100-8DE4-8ADD-657CEBC7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254155"/>
              </p:ext>
            </p:extLst>
          </p:nvPr>
        </p:nvGraphicFramePr>
        <p:xfrm>
          <a:off x="238125" y="1471607"/>
          <a:ext cx="6007227" cy="5233110"/>
        </p:xfrm>
        <a:graphic>
          <a:graphicData uri="http://schemas.openxmlformats.org/drawingml/2006/table">
            <a:tbl>
              <a:tblPr/>
              <a:tblGrid>
                <a:gridCol w="1471776">
                  <a:extLst>
                    <a:ext uri="{9D8B030D-6E8A-4147-A177-3AD203B41FA5}">
                      <a16:colId xmlns:a16="http://schemas.microsoft.com/office/drawing/2014/main" val="1069152409"/>
                    </a:ext>
                  </a:extLst>
                </a:gridCol>
                <a:gridCol w="1471776">
                  <a:extLst>
                    <a:ext uri="{9D8B030D-6E8A-4147-A177-3AD203B41FA5}">
                      <a16:colId xmlns:a16="http://schemas.microsoft.com/office/drawing/2014/main" val="2276110005"/>
                    </a:ext>
                  </a:extLst>
                </a:gridCol>
                <a:gridCol w="1471776">
                  <a:extLst>
                    <a:ext uri="{9D8B030D-6E8A-4147-A177-3AD203B41FA5}">
                      <a16:colId xmlns:a16="http://schemas.microsoft.com/office/drawing/2014/main" val="1530711215"/>
                    </a:ext>
                  </a:extLst>
                </a:gridCol>
                <a:gridCol w="1591899">
                  <a:extLst>
                    <a:ext uri="{9D8B030D-6E8A-4147-A177-3AD203B41FA5}">
                      <a16:colId xmlns:a16="http://schemas.microsoft.com/office/drawing/2014/main" val="1096728843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Feature_1 (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ht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Feature_2 (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wt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Actual_Target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Predicted_Target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24741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02038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3.1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00999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3.3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2.9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60350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0.8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0.5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1473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52027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3.0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3.5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39924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63399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2.7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54154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3.6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3.0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5041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2.9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1.9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42005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0.9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41044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0.6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26700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2.7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09333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1.0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12011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3.1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2.8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71785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2.0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0.7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3369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A080D50-B225-863F-5062-B4005DB34BF5}"/>
              </a:ext>
            </a:extLst>
          </p:cNvPr>
          <p:cNvSpPr txBox="1"/>
          <p:nvPr/>
        </p:nvSpPr>
        <p:spPr>
          <a:xfrm>
            <a:off x="7007352" y="1618488"/>
            <a:ext cx="49465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create a matrix that show how many were classified correctly and incorrectly: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A9AA50-AB5E-E18F-46D8-E91EFCCF5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514080"/>
              </p:ext>
            </p:extLst>
          </p:nvPr>
        </p:nvGraphicFramePr>
        <p:xfrm>
          <a:off x="6803136" y="3452654"/>
          <a:ext cx="4550664" cy="1584960"/>
        </p:xfrm>
        <a:graphic>
          <a:graphicData uri="http://schemas.openxmlformats.org/drawingml/2006/table">
            <a:tbl>
              <a:tblPr/>
              <a:tblGrid>
                <a:gridCol w="1137666">
                  <a:extLst>
                    <a:ext uri="{9D8B030D-6E8A-4147-A177-3AD203B41FA5}">
                      <a16:colId xmlns:a16="http://schemas.microsoft.com/office/drawing/2014/main" val="1636740053"/>
                    </a:ext>
                  </a:extLst>
                </a:gridCol>
                <a:gridCol w="1137666">
                  <a:extLst>
                    <a:ext uri="{9D8B030D-6E8A-4147-A177-3AD203B41FA5}">
                      <a16:colId xmlns:a16="http://schemas.microsoft.com/office/drawing/2014/main" val="2358891116"/>
                    </a:ext>
                  </a:extLst>
                </a:gridCol>
                <a:gridCol w="1137666">
                  <a:extLst>
                    <a:ext uri="{9D8B030D-6E8A-4147-A177-3AD203B41FA5}">
                      <a16:colId xmlns:a16="http://schemas.microsoft.com/office/drawing/2014/main" val="3894049008"/>
                    </a:ext>
                  </a:extLst>
                </a:gridCol>
                <a:gridCol w="1137666">
                  <a:extLst>
                    <a:ext uri="{9D8B030D-6E8A-4147-A177-3AD203B41FA5}">
                      <a16:colId xmlns:a16="http://schemas.microsoft.com/office/drawing/2014/main" val="17866490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Predicted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011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96434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Actual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20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AFFD23"/>
                          </a:solidFill>
                        </a:rPr>
                        <a:t>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5199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20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AFFD23"/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9106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3C20A22-6C3A-C3CF-CD3B-986D5E957B11}"/>
              </a:ext>
            </a:extLst>
          </p:cNvPr>
          <p:cNvSpPr txBox="1"/>
          <p:nvPr/>
        </p:nvSpPr>
        <p:spPr>
          <a:xfrm>
            <a:off x="6269736" y="5466788"/>
            <a:ext cx="55713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on-diagonal were classified correctly.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off-diagonal were misclassified.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matrix is called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1773315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8F1D9-0418-58A1-4A8B-2AAAE8FD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C3BF855-03E1-9EE6-6A4A-D377D4E2B62E}"/>
              </a:ext>
            </a:extLst>
          </p:cNvPr>
          <p:cNvSpPr txBox="1"/>
          <p:nvPr/>
        </p:nvSpPr>
        <p:spPr>
          <a:xfrm>
            <a:off x="3028950" y="85725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CFF9B-B491-3D78-39FE-691625E2A942}"/>
              </a:ext>
            </a:extLst>
          </p:cNvPr>
          <p:cNvSpPr txBox="1"/>
          <p:nvPr/>
        </p:nvSpPr>
        <p:spPr>
          <a:xfrm>
            <a:off x="402336" y="1618488"/>
            <a:ext cx="10707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 tells you how many were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correctly classified (i.e. True Negative and True Positive)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incorrectly classified (i.e. False Negative and False Positive)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3ECE347-03BF-62E5-F2DD-1499EBE21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481327"/>
              </p:ext>
            </p:extLst>
          </p:nvPr>
        </p:nvGraphicFramePr>
        <p:xfrm>
          <a:off x="1901952" y="3452654"/>
          <a:ext cx="4910328" cy="1828800"/>
        </p:xfrm>
        <a:graphic>
          <a:graphicData uri="http://schemas.openxmlformats.org/drawingml/2006/table">
            <a:tbl>
              <a:tblPr/>
              <a:tblGrid>
                <a:gridCol w="1227582">
                  <a:extLst>
                    <a:ext uri="{9D8B030D-6E8A-4147-A177-3AD203B41FA5}">
                      <a16:colId xmlns:a16="http://schemas.microsoft.com/office/drawing/2014/main" val="1636740053"/>
                    </a:ext>
                  </a:extLst>
                </a:gridCol>
                <a:gridCol w="1227582">
                  <a:extLst>
                    <a:ext uri="{9D8B030D-6E8A-4147-A177-3AD203B41FA5}">
                      <a16:colId xmlns:a16="http://schemas.microsoft.com/office/drawing/2014/main" val="2358891116"/>
                    </a:ext>
                  </a:extLst>
                </a:gridCol>
                <a:gridCol w="1227582">
                  <a:extLst>
                    <a:ext uri="{9D8B030D-6E8A-4147-A177-3AD203B41FA5}">
                      <a16:colId xmlns:a16="http://schemas.microsoft.com/office/drawing/2014/main" val="3894049008"/>
                    </a:ext>
                  </a:extLst>
                </a:gridCol>
                <a:gridCol w="1227582">
                  <a:extLst>
                    <a:ext uri="{9D8B030D-6E8A-4147-A177-3AD203B41FA5}">
                      <a16:colId xmlns:a16="http://schemas.microsoft.com/office/drawing/2014/main" val="1786649017"/>
                    </a:ext>
                  </a:extLst>
                </a:gridCol>
              </a:tblGrid>
              <a:tr h="4467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Predicted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011828"/>
                  </a:ext>
                </a:extLst>
              </a:tr>
              <a:tr h="4467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964348"/>
                  </a:ext>
                </a:extLst>
              </a:tr>
              <a:tr h="44671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Actual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24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rgbClr val="AFFD23"/>
                          </a:solidFill>
                        </a:rPr>
                        <a:t> TN =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FP =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519997"/>
                  </a:ext>
                </a:extLst>
              </a:tr>
              <a:tr h="446715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24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FN =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rgbClr val="AFFD23"/>
                          </a:solidFill>
                        </a:rPr>
                        <a:t>TP =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910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FAFE89E-ADC1-FC98-32D5-DA5D9D39FFFB}"/>
              </a:ext>
            </a:extLst>
          </p:cNvPr>
          <p:cNvSpPr txBox="1"/>
          <p:nvPr/>
        </p:nvSpPr>
        <p:spPr>
          <a:xfrm>
            <a:off x="8430768" y="3840480"/>
            <a:ext cx="2017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Here,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TN = True Negative,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FP = False Positive,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etc..</a:t>
            </a:r>
          </a:p>
        </p:txBody>
      </p:sp>
    </p:spTree>
    <p:extLst>
      <p:ext uri="{BB962C8B-B14F-4D97-AF65-F5344CB8AC3E}">
        <p14:creationId xmlns:p14="http://schemas.microsoft.com/office/powerpoint/2010/main" val="4173728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6E61-AD43-6270-21B6-4FE9DF1C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02D234-516B-277E-2C56-7DECED6744AD}"/>
              </a:ext>
            </a:extLst>
          </p:cNvPr>
          <p:cNvSpPr txBox="1"/>
          <p:nvPr/>
        </p:nvSpPr>
        <p:spPr>
          <a:xfrm>
            <a:off x="3028950" y="85725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427D0-006F-53FB-51A7-E488DE2BEF5C}"/>
              </a:ext>
            </a:extLst>
          </p:cNvPr>
          <p:cNvSpPr txBox="1"/>
          <p:nvPr/>
        </p:nvSpPr>
        <p:spPr>
          <a:xfrm>
            <a:off x="402336" y="1618488"/>
            <a:ext cx="10707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you can see the percentage instead of raw numbers.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you divide by total records, 16.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493D67B-E23D-D0D9-7CBC-D2D5F7749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386615"/>
              </p:ext>
            </p:extLst>
          </p:nvPr>
        </p:nvGraphicFramePr>
        <p:xfrm>
          <a:off x="384048" y="3452654"/>
          <a:ext cx="6848856" cy="2208207"/>
        </p:xfrm>
        <a:graphic>
          <a:graphicData uri="http://schemas.openxmlformats.org/drawingml/2006/table">
            <a:tbl>
              <a:tblPr/>
              <a:tblGrid>
                <a:gridCol w="1712214">
                  <a:extLst>
                    <a:ext uri="{9D8B030D-6E8A-4147-A177-3AD203B41FA5}">
                      <a16:colId xmlns:a16="http://schemas.microsoft.com/office/drawing/2014/main" val="1636740053"/>
                    </a:ext>
                  </a:extLst>
                </a:gridCol>
                <a:gridCol w="1712214">
                  <a:extLst>
                    <a:ext uri="{9D8B030D-6E8A-4147-A177-3AD203B41FA5}">
                      <a16:colId xmlns:a16="http://schemas.microsoft.com/office/drawing/2014/main" val="2358891116"/>
                    </a:ext>
                  </a:extLst>
                </a:gridCol>
                <a:gridCol w="1712214">
                  <a:extLst>
                    <a:ext uri="{9D8B030D-6E8A-4147-A177-3AD203B41FA5}">
                      <a16:colId xmlns:a16="http://schemas.microsoft.com/office/drawing/2014/main" val="3894049008"/>
                    </a:ext>
                  </a:extLst>
                </a:gridCol>
                <a:gridCol w="1712214">
                  <a:extLst>
                    <a:ext uri="{9D8B030D-6E8A-4147-A177-3AD203B41FA5}">
                      <a16:colId xmlns:a16="http://schemas.microsoft.com/office/drawing/2014/main" val="1786649017"/>
                    </a:ext>
                  </a:extLst>
                </a:gridCol>
              </a:tblGrid>
              <a:tr h="522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Predicted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011828"/>
                  </a:ext>
                </a:extLst>
              </a:tr>
              <a:tr h="4137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964348"/>
                  </a:ext>
                </a:extLst>
              </a:tr>
              <a:tr h="749006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Actual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20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AFFD23"/>
                          </a:solidFill>
                        </a:rPr>
                        <a:t> 6/16 = 37.5%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2/16 = 12.5%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519997"/>
                  </a:ext>
                </a:extLst>
              </a:tr>
              <a:tr h="522735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20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2/16 = 12.5%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AFFD23"/>
                          </a:solidFill>
                        </a:rPr>
                        <a:t>6/16 = 37.5%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91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334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11A6A-A8D8-6F3B-B505-56DF99FB9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5CA179D-B68C-0D74-21AD-613A2D70AB34}"/>
              </a:ext>
            </a:extLst>
          </p:cNvPr>
          <p:cNvSpPr txBox="1"/>
          <p:nvPr/>
        </p:nvSpPr>
        <p:spPr>
          <a:xfrm>
            <a:off x="3028950" y="85725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CFC34-A436-4ED6-D496-7A11EE34D792}"/>
              </a:ext>
            </a:extLst>
          </p:cNvPr>
          <p:cNvSpPr txBox="1"/>
          <p:nvPr/>
        </p:nvSpPr>
        <p:spPr>
          <a:xfrm>
            <a:off x="402336" y="1618488"/>
            <a:ext cx="10707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 is not about accuracy — it is about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errors.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EB394F-812E-166F-D6E4-F472B3B57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026679"/>
              </p:ext>
            </p:extLst>
          </p:nvPr>
        </p:nvGraphicFramePr>
        <p:xfrm>
          <a:off x="384048" y="3452654"/>
          <a:ext cx="6848856" cy="2208207"/>
        </p:xfrm>
        <a:graphic>
          <a:graphicData uri="http://schemas.openxmlformats.org/drawingml/2006/table">
            <a:tbl>
              <a:tblPr/>
              <a:tblGrid>
                <a:gridCol w="1712214">
                  <a:extLst>
                    <a:ext uri="{9D8B030D-6E8A-4147-A177-3AD203B41FA5}">
                      <a16:colId xmlns:a16="http://schemas.microsoft.com/office/drawing/2014/main" val="1636740053"/>
                    </a:ext>
                  </a:extLst>
                </a:gridCol>
                <a:gridCol w="1712214">
                  <a:extLst>
                    <a:ext uri="{9D8B030D-6E8A-4147-A177-3AD203B41FA5}">
                      <a16:colId xmlns:a16="http://schemas.microsoft.com/office/drawing/2014/main" val="2358891116"/>
                    </a:ext>
                  </a:extLst>
                </a:gridCol>
                <a:gridCol w="1712214">
                  <a:extLst>
                    <a:ext uri="{9D8B030D-6E8A-4147-A177-3AD203B41FA5}">
                      <a16:colId xmlns:a16="http://schemas.microsoft.com/office/drawing/2014/main" val="3894049008"/>
                    </a:ext>
                  </a:extLst>
                </a:gridCol>
                <a:gridCol w="1712214">
                  <a:extLst>
                    <a:ext uri="{9D8B030D-6E8A-4147-A177-3AD203B41FA5}">
                      <a16:colId xmlns:a16="http://schemas.microsoft.com/office/drawing/2014/main" val="1786649017"/>
                    </a:ext>
                  </a:extLst>
                </a:gridCol>
              </a:tblGrid>
              <a:tr h="522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Predicted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011828"/>
                  </a:ext>
                </a:extLst>
              </a:tr>
              <a:tr h="4137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964348"/>
                  </a:ext>
                </a:extLst>
              </a:tr>
              <a:tr h="749006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Actual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20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AFFD23"/>
                          </a:solidFill>
                        </a:rPr>
                        <a:t> 6/16 = 37.5%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2/16 = 12.5%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519997"/>
                  </a:ext>
                </a:extLst>
              </a:tr>
              <a:tr h="522735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200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2/16 = 12.5%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rgbClr val="AFFD23"/>
                          </a:solidFill>
                        </a:rPr>
                        <a:t>6/16 = 37.5%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91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25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20C7-A117-B190-27F1-0A1465C6F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7A7E573-855E-E432-CC28-2EF8B647AA96}"/>
              </a:ext>
            </a:extLst>
          </p:cNvPr>
          <p:cNvSpPr txBox="1"/>
          <p:nvPr/>
        </p:nvSpPr>
        <p:spPr>
          <a:xfrm>
            <a:off x="3028950" y="85725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7BE795-7520-A717-E9A3-9553E713E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4" y="1216152"/>
            <a:ext cx="11600303" cy="37000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F0D895-C05F-8E9B-606D-612921474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64" y="5018167"/>
            <a:ext cx="9733659" cy="178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35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BFB0B-4EAC-6F50-29DE-27C2725E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27C7389-33C2-D46B-92B2-7B0AADB4407F}"/>
              </a:ext>
            </a:extLst>
          </p:cNvPr>
          <p:cNvSpPr txBox="1"/>
          <p:nvPr/>
        </p:nvSpPr>
        <p:spPr>
          <a:xfrm>
            <a:off x="3028950" y="85725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5F5E2D-9B93-1F3C-C5CB-1467E508A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1" y="732056"/>
            <a:ext cx="7602011" cy="2372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B9130F-22FD-5D1B-0A1B-B3C9E1F81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" y="3125378"/>
            <a:ext cx="4036113" cy="364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736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C4FBF-E631-1E5F-9DCD-E4BCEAC6D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A7A7788-1B2C-0464-2837-DA692BDD24BD}"/>
              </a:ext>
            </a:extLst>
          </p:cNvPr>
          <p:cNvSpPr txBox="1"/>
          <p:nvPr/>
        </p:nvSpPr>
        <p:spPr>
          <a:xfrm>
            <a:off x="3028950" y="85725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Matrix: 4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D6F0A-951A-C08E-280F-C59AD2BB7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21" y="1449642"/>
            <a:ext cx="9002381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15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65D2-768A-0730-70A7-BE6376A5E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D278D5B-9A57-E569-459E-D37D542C81BA}"/>
              </a:ext>
            </a:extLst>
          </p:cNvPr>
          <p:cNvSpPr txBox="1"/>
          <p:nvPr/>
        </p:nvSpPr>
        <p:spPr>
          <a:xfrm>
            <a:off x="3028950" y="85725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Matrix: 4 classes</a:t>
            </a:r>
          </a:p>
        </p:txBody>
      </p:sp>
    </p:spTree>
    <p:extLst>
      <p:ext uri="{BB962C8B-B14F-4D97-AF65-F5344CB8AC3E}">
        <p14:creationId xmlns:p14="http://schemas.microsoft.com/office/powerpoint/2010/main" val="3592359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5D7-F473-4B9C-33AB-4E67BE27C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78D9B38-81F6-3696-E0FB-D2ED3047B79D}"/>
              </a:ext>
            </a:extLst>
          </p:cNvPr>
          <p:cNvSpPr txBox="1"/>
          <p:nvPr/>
        </p:nvSpPr>
        <p:spPr>
          <a:xfrm>
            <a:off x="3028950" y="85725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Confusion Matrix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7CA7A-40EE-8D91-CF4B-E6D3C9E8EA17}"/>
              </a:ext>
            </a:extLst>
          </p:cNvPr>
          <p:cNvSpPr txBox="1"/>
          <p:nvPr/>
        </p:nvSpPr>
        <p:spPr>
          <a:xfrm>
            <a:off x="238125" y="1244739"/>
            <a:ext cx="502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Fcsdf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194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164</TotalTime>
  <Words>427</Words>
  <Application>Microsoft Office PowerPoint</Application>
  <PresentationFormat>Widescreen</PresentationFormat>
  <Paragraphs>201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32</cp:revision>
  <dcterms:created xsi:type="dcterms:W3CDTF">2025-09-22T02:44:38Z</dcterms:created>
  <dcterms:modified xsi:type="dcterms:W3CDTF">2026-01-20T19:48:14Z</dcterms:modified>
</cp:coreProperties>
</file>