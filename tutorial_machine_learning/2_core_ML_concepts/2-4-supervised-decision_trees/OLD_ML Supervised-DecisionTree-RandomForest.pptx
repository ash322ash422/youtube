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300" r:id="rId3"/>
    <p:sldId id="265" r:id="rId4"/>
    <p:sldId id="342" r:id="rId5"/>
    <p:sldId id="394" r:id="rId6"/>
    <p:sldId id="267" r:id="rId7"/>
    <p:sldId id="372" r:id="rId8"/>
    <p:sldId id="375" r:id="rId9"/>
    <p:sldId id="376" r:id="rId10"/>
    <p:sldId id="377" r:id="rId11"/>
    <p:sldId id="378" r:id="rId12"/>
    <p:sldId id="379" r:id="rId13"/>
    <p:sldId id="371" r:id="rId14"/>
    <p:sldId id="380" r:id="rId15"/>
    <p:sldId id="381" r:id="rId16"/>
    <p:sldId id="382" r:id="rId17"/>
    <p:sldId id="383" r:id="rId18"/>
    <p:sldId id="384" r:id="rId19"/>
    <p:sldId id="385" r:id="rId20"/>
    <p:sldId id="386" r:id="rId21"/>
    <p:sldId id="387" r:id="rId22"/>
    <p:sldId id="388" r:id="rId23"/>
    <p:sldId id="389" r:id="rId24"/>
    <p:sldId id="390" r:id="rId25"/>
    <p:sldId id="391" r:id="rId26"/>
    <p:sldId id="392" r:id="rId27"/>
    <p:sldId id="393" r:id="rId28"/>
    <p:sldId id="320" r:id="rId29"/>
    <p:sldId id="321" r:id="rId30"/>
    <p:sldId id="333" r:id="rId31"/>
    <p:sldId id="33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53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72ECE3B-1E5D-49C0-BB6E-08799D01DE86}"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E57EE1-7508-45FC-8281-DCA4DFF37E8E}" type="slidenum">
              <a:rPr lang="en-US" smtClean="0"/>
              <a:t>‹#›</a:t>
            </a:fld>
            <a:endParaRPr lang="en-US"/>
          </a:p>
        </p:txBody>
      </p:sp>
    </p:spTree>
    <p:extLst>
      <p:ext uri="{BB962C8B-B14F-4D97-AF65-F5344CB8AC3E}">
        <p14:creationId xmlns:p14="http://schemas.microsoft.com/office/powerpoint/2010/main" val="4231192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2ECE3B-1E5D-49C0-BB6E-08799D01DE86}"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E57EE1-7508-45FC-8281-DCA4DFF37E8E}" type="slidenum">
              <a:rPr lang="en-US" smtClean="0"/>
              <a:t>‹#›</a:t>
            </a:fld>
            <a:endParaRPr lang="en-US"/>
          </a:p>
        </p:txBody>
      </p:sp>
    </p:spTree>
    <p:extLst>
      <p:ext uri="{BB962C8B-B14F-4D97-AF65-F5344CB8AC3E}">
        <p14:creationId xmlns:p14="http://schemas.microsoft.com/office/powerpoint/2010/main" val="526659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72ECE3B-1E5D-49C0-BB6E-08799D01DE86}"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E57EE1-7508-45FC-8281-DCA4DFF37E8E}" type="slidenum">
              <a:rPr lang="en-US" smtClean="0"/>
              <a:t>‹#›</a:t>
            </a:fld>
            <a:endParaRPr lang="en-US"/>
          </a:p>
        </p:txBody>
      </p:sp>
    </p:spTree>
    <p:extLst>
      <p:ext uri="{BB962C8B-B14F-4D97-AF65-F5344CB8AC3E}">
        <p14:creationId xmlns:p14="http://schemas.microsoft.com/office/powerpoint/2010/main" val="2154071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72ECE3B-1E5D-49C0-BB6E-08799D01DE86}" type="datetimeFigureOut">
              <a:rPr lang="en-US" smtClean="0"/>
              <a:t>8/2/2025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E57EE1-7508-45FC-8281-DCA4DFF37E8E}" type="slidenum">
              <a:rPr lang="en-US" smtClean="0"/>
              <a:t>‹#›</a:t>
            </a:fld>
            <a:endParaRPr lang="en-US"/>
          </a:p>
        </p:txBody>
      </p:sp>
    </p:spTree>
    <p:extLst>
      <p:ext uri="{BB962C8B-B14F-4D97-AF65-F5344CB8AC3E}">
        <p14:creationId xmlns:p14="http://schemas.microsoft.com/office/powerpoint/2010/main" val="293369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72ECE3B-1E5D-49C0-BB6E-08799D01DE86}" type="datetimeFigureOut">
              <a:rPr lang="en-US" smtClean="0"/>
              <a:t>8/2/2025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BE57EE1-7508-45FC-8281-DCA4DFF37E8E}" type="slidenum">
              <a:rPr lang="en-US" smtClean="0"/>
              <a:t>‹#›</a:t>
            </a:fld>
            <a:endParaRPr lang="en-US"/>
          </a:p>
        </p:txBody>
      </p:sp>
    </p:spTree>
    <p:extLst>
      <p:ext uri="{BB962C8B-B14F-4D97-AF65-F5344CB8AC3E}">
        <p14:creationId xmlns:p14="http://schemas.microsoft.com/office/powerpoint/2010/main" val="3787461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72ECE3B-1E5D-49C0-BB6E-08799D01DE86}" type="datetimeFigureOut">
              <a:rPr lang="en-US" smtClean="0"/>
              <a:t>8/2/2025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BE57EE1-7508-45FC-8281-DCA4DFF37E8E}" type="slidenum">
              <a:rPr lang="en-US" smtClean="0"/>
              <a:t>‹#›</a:t>
            </a:fld>
            <a:endParaRPr lang="en-US"/>
          </a:p>
        </p:txBody>
      </p:sp>
    </p:spTree>
    <p:extLst>
      <p:ext uri="{BB962C8B-B14F-4D97-AF65-F5344CB8AC3E}">
        <p14:creationId xmlns:p14="http://schemas.microsoft.com/office/powerpoint/2010/main" val="545445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ECE3B-1E5D-49C0-BB6E-08799D01DE86}" type="datetimeFigureOut">
              <a:rPr lang="en-US" smtClean="0"/>
              <a:t>8/2/2025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BE57EE1-7508-45FC-8281-DCA4DFF37E8E}" type="slidenum">
              <a:rPr lang="en-US" smtClean="0"/>
              <a:t>‹#›</a:t>
            </a:fld>
            <a:endParaRPr lang="en-US"/>
          </a:p>
        </p:txBody>
      </p:sp>
    </p:spTree>
    <p:extLst>
      <p:ext uri="{BB962C8B-B14F-4D97-AF65-F5344CB8AC3E}">
        <p14:creationId xmlns:p14="http://schemas.microsoft.com/office/powerpoint/2010/main" val="4002957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72ECE3B-1E5D-49C0-BB6E-08799D01DE86}" type="datetimeFigureOut">
              <a:rPr lang="en-US" smtClean="0"/>
              <a:t>8/2/2025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E57EE1-7508-45FC-8281-DCA4DFF37E8E}" type="slidenum">
              <a:rPr lang="en-US" smtClean="0"/>
              <a:t>‹#›</a:t>
            </a:fld>
            <a:endParaRPr lang="en-US"/>
          </a:p>
        </p:txBody>
      </p:sp>
    </p:spTree>
    <p:extLst>
      <p:ext uri="{BB962C8B-B14F-4D97-AF65-F5344CB8AC3E}">
        <p14:creationId xmlns:p14="http://schemas.microsoft.com/office/powerpoint/2010/main" val="3194830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72ECE3B-1E5D-49C0-BB6E-08799D01DE86}" type="datetimeFigureOut">
              <a:rPr lang="en-US" smtClean="0"/>
              <a:t>8/2/2025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E57EE1-7508-45FC-8281-DCA4DFF37E8E}" type="slidenum">
              <a:rPr lang="en-US" smtClean="0"/>
              <a:t>‹#›</a:t>
            </a:fld>
            <a:endParaRPr lang="en-US"/>
          </a:p>
        </p:txBody>
      </p:sp>
    </p:spTree>
    <p:extLst>
      <p:ext uri="{BB962C8B-B14F-4D97-AF65-F5344CB8AC3E}">
        <p14:creationId xmlns:p14="http://schemas.microsoft.com/office/powerpoint/2010/main" val="1977718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2ECE3B-1E5D-49C0-BB6E-08799D01DE86}"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E57EE1-7508-45FC-8281-DCA4DFF37E8E}" type="slidenum">
              <a:rPr lang="en-US" smtClean="0"/>
              <a:t>‹#›</a:t>
            </a:fld>
            <a:endParaRPr lang="en-US"/>
          </a:p>
        </p:txBody>
      </p:sp>
    </p:spTree>
    <p:extLst>
      <p:ext uri="{BB962C8B-B14F-4D97-AF65-F5344CB8AC3E}">
        <p14:creationId xmlns:p14="http://schemas.microsoft.com/office/powerpoint/2010/main" val="628627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2ECE3B-1E5D-49C0-BB6E-08799D01DE86}" type="datetimeFigureOut">
              <a:rPr lang="en-US" smtClean="0"/>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E57EE1-7508-45FC-8281-DCA4DFF37E8E}" type="slidenum">
              <a:rPr lang="en-US" smtClean="0"/>
              <a:t>‹#›</a:t>
            </a:fld>
            <a:endParaRPr lang="en-US"/>
          </a:p>
        </p:txBody>
      </p:sp>
    </p:spTree>
    <p:extLst>
      <p:ext uri="{BB962C8B-B14F-4D97-AF65-F5344CB8AC3E}">
        <p14:creationId xmlns:p14="http://schemas.microsoft.com/office/powerpoint/2010/main" val="699613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2ECE3B-1E5D-49C0-BB6E-08799D01DE86}" type="datetimeFigureOut">
              <a:rPr lang="en-US" smtClean="0"/>
              <a:t>8/2/2025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E57EE1-7508-45FC-8281-DCA4DFF37E8E}" type="slidenum">
              <a:rPr lang="en-US" smtClean="0"/>
              <a:t>‹#›</a:t>
            </a:fld>
            <a:endParaRPr lang="en-US"/>
          </a:p>
        </p:txBody>
      </p:sp>
    </p:spTree>
    <p:extLst>
      <p:ext uri="{BB962C8B-B14F-4D97-AF65-F5344CB8AC3E}">
        <p14:creationId xmlns:p14="http://schemas.microsoft.com/office/powerpoint/2010/main" val="7070494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389"/>
          </a:xfrm>
        </p:spPr>
        <p:txBody>
          <a:bodyPr/>
          <a:lstStyle/>
          <a:p>
            <a:r>
              <a:rPr lang="en-US" dirty="0"/>
              <a:t>Decision Tree: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0216" y="2465548"/>
            <a:ext cx="7738266" cy="4170144"/>
          </a:xfrm>
          <a:prstGeom prst="rect">
            <a:avLst/>
          </a:prstGeom>
        </p:spPr>
      </p:pic>
      <p:sp>
        <p:nvSpPr>
          <p:cNvPr id="5" name="TextBox 4"/>
          <p:cNvSpPr txBox="1"/>
          <p:nvPr/>
        </p:nvSpPr>
        <p:spPr>
          <a:xfrm>
            <a:off x="1057013" y="1132513"/>
            <a:ext cx="10947997" cy="923330"/>
          </a:xfrm>
          <a:prstGeom prst="rect">
            <a:avLst/>
          </a:prstGeom>
          <a:noFill/>
        </p:spPr>
        <p:txBody>
          <a:bodyPr wrap="none" rtlCol="0">
            <a:spAutoFit/>
          </a:bodyPr>
          <a:lstStyle/>
          <a:p>
            <a:r>
              <a:rPr lang="en-US" dirty="0"/>
              <a:t>Following is an example of decision tree that is already constructed:  Root node starts with age, then in left node it </a:t>
            </a:r>
          </a:p>
          <a:p>
            <a:r>
              <a:rPr lang="en-US" dirty="0"/>
              <a:t>decides based on wt. Right node decides based on smoker.</a:t>
            </a:r>
          </a:p>
          <a:p>
            <a:r>
              <a:rPr lang="en-US" dirty="0"/>
              <a:t>Features are age, wt. and smoker. The response variable is High/Low risk of heart attack</a:t>
            </a:r>
          </a:p>
        </p:txBody>
      </p:sp>
    </p:spTree>
    <p:extLst>
      <p:ext uri="{BB962C8B-B14F-4D97-AF65-F5344CB8AC3E}">
        <p14:creationId xmlns:p14="http://schemas.microsoft.com/office/powerpoint/2010/main" val="2355748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7229" y="478172"/>
            <a:ext cx="3576364" cy="369332"/>
          </a:xfrm>
          <a:prstGeom prst="rect">
            <a:avLst/>
          </a:prstGeom>
          <a:noFill/>
        </p:spPr>
        <p:txBody>
          <a:bodyPr wrap="none" rtlCol="0">
            <a:spAutoFit/>
          </a:bodyPr>
          <a:lstStyle/>
          <a:p>
            <a:r>
              <a:rPr lang="en-US" dirty="0"/>
              <a:t>Another example: Buy or Not to Buy</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1976" y="877004"/>
            <a:ext cx="5035424" cy="374991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6189" y="532344"/>
            <a:ext cx="5377694" cy="2929313"/>
          </a:xfrm>
          <a:prstGeom prst="rect">
            <a:avLst/>
          </a:prstGeom>
        </p:spPr>
      </p:pic>
      <p:sp>
        <p:nvSpPr>
          <p:cNvPr id="6" name="TextBox 5"/>
          <p:cNvSpPr txBox="1"/>
          <p:nvPr/>
        </p:nvSpPr>
        <p:spPr>
          <a:xfrm>
            <a:off x="7662936" y="3765654"/>
            <a:ext cx="3564758" cy="369332"/>
          </a:xfrm>
          <a:prstGeom prst="rect">
            <a:avLst/>
          </a:prstGeom>
          <a:noFill/>
        </p:spPr>
        <p:txBody>
          <a:bodyPr wrap="none" rtlCol="0">
            <a:spAutoFit/>
          </a:bodyPr>
          <a:lstStyle/>
          <a:p>
            <a:r>
              <a:rPr lang="en-US" dirty="0"/>
              <a:t>Another example: Accept or Decline</a:t>
            </a:r>
          </a:p>
        </p:txBody>
      </p:sp>
    </p:spTree>
    <p:extLst>
      <p:ext uri="{BB962C8B-B14F-4D97-AF65-F5344CB8AC3E}">
        <p14:creationId xmlns:p14="http://schemas.microsoft.com/office/powerpoint/2010/main" val="2532820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Tree:</a:t>
            </a:r>
          </a:p>
        </p:txBody>
      </p:sp>
      <p:sp>
        <p:nvSpPr>
          <p:cNvPr id="3" name="Content Placeholder 2"/>
          <p:cNvSpPr>
            <a:spLocks noGrp="1"/>
          </p:cNvSpPr>
          <p:nvPr>
            <p:ph idx="1"/>
          </p:nvPr>
        </p:nvSpPr>
        <p:spPr/>
        <p:txBody>
          <a:bodyPr>
            <a:normAutofit fontScale="92500" lnSpcReduction="10000"/>
          </a:bodyPr>
          <a:lstStyle/>
          <a:p>
            <a:r>
              <a:rPr lang="en-US" b="1" dirty="0"/>
              <a:t>Interpretable</a:t>
            </a:r>
            <a:r>
              <a:rPr lang="en-US" dirty="0"/>
              <a:t> by humans</a:t>
            </a:r>
          </a:p>
          <a:p>
            <a:r>
              <a:rPr lang="en-US" dirty="0"/>
              <a:t>Have </a:t>
            </a:r>
            <a:r>
              <a:rPr lang="en-US" b="1" dirty="0"/>
              <a:t>sufficiently complex decision boundaries. </a:t>
            </a:r>
            <a:r>
              <a:rPr lang="en-US" dirty="0"/>
              <a:t>So, can easily capture Non-linear patterns </a:t>
            </a:r>
          </a:p>
          <a:p>
            <a:r>
              <a:rPr lang="en-US" dirty="0"/>
              <a:t>Decision boundaries are </a:t>
            </a:r>
            <a:r>
              <a:rPr lang="en-US" b="1" dirty="0"/>
              <a:t>locally linear</a:t>
            </a:r>
            <a:r>
              <a:rPr lang="en-US" dirty="0"/>
              <a:t>, each component of the decision boundary is simple to describe mathematically. </a:t>
            </a:r>
          </a:p>
          <a:p>
            <a:r>
              <a:rPr lang="en-US" dirty="0"/>
              <a:t>Formally, a decision tree model is one in which the final outcome of the model is based on a </a:t>
            </a:r>
            <a:r>
              <a:rPr lang="en-US" b="1" dirty="0"/>
              <a:t>series of comparisons </a:t>
            </a:r>
            <a:r>
              <a:rPr lang="en-US" dirty="0"/>
              <a:t>of the values of predictors against threshold values. </a:t>
            </a:r>
          </a:p>
          <a:p>
            <a:r>
              <a:rPr lang="en-US" dirty="0"/>
              <a:t>In a graphical representation (flow chart),  </a:t>
            </a:r>
            <a:r>
              <a:rPr lang="en-US" b="1" dirty="0"/>
              <a:t>the internal nodes of the tree represent attribute testing</a:t>
            </a:r>
            <a:r>
              <a:rPr lang="en-US" dirty="0"/>
              <a:t> , </a:t>
            </a:r>
            <a:r>
              <a:rPr lang="en-US" b="1" dirty="0"/>
              <a:t>branching in the next level is determined by attribute value</a:t>
            </a:r>
            <a:r>
              <a:rPr lang="en-US" dirty="0"/>
              <a:t> , </a:t>
            </a:r>
            <a:r>
              <a:rPr lang="en-US" b="1" dirty="0"/>
              <a:t>leaf nodes represent class assignments </a:t>
            </a:r>
          </a:p>
        </p:txBody>
      </p:sp>
    </p:spTree>
    <p:extLst>
      <p:ext uri="{BB962C8B-B14F-4D97-AF65-F5344CB8AC3E}">
        <p14:creationId xmlns:p14="http://schemas.microsoft.com/office/powerpoint/2010/main" val="4002852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617232039"/>
              </p:ext>
            </p:extLst>
          </p:nvPr>
        </p:nvGraphicFramePr>
        <p:xfrm>
          <a:off x="555170" y="1034137"/>
          <a:ext cx="6882693" cy="3660525"/>
        </p:xfrm>
        <a:graphic>
          <a:graphicData uri="http://schemas.openxmlformats.org/drawingml/2006/table">
            <a:tbl>
              <a:tblPr>
                <a:tableStyleId>{5C22544A-7EE6-4342-B048-85BDC9FD1C3A}</a:tableStyleId>
              </a:tblPr>
              <a:tblGrid>
                <a:gridCol w="1310989">
                  <a:extLst>
                    <a:ext uri="{9D8B030D-6E8A-4147-A177-3AD203B41FA5}">
                      <a16:colId xmlns:a16="http://schemas.microsoft.com/office/drawing/2014/main" val="3370925495"/>
                    </a:ext>
                  </a:extLst>
                </a:gridCol>
                <a:gridCol w="1310989">
                  <a:extLst>
                    <a:ext uri="{9D8B030D-6E8A-4147-A177-3AD203B41FA5}">
                      <a16:colId xmlns:a16="http://schemas.microsoft.com/office/drawing/2014/main" val="3523440229"/>
                    </a:ext>
                  </a:extLst>
                </a:gridCol>
                <a:gridCol w="1638737">
                  <a:extLst>
                    <a:ext uri="{9D8B030D-6E8A-4147-A177-3AD203B41FA5}">
                      <a16:colId xmlns:a16="http://schemas.microsoft.com/office/drawing/2014/main" val="1759817601"/>
                    </a:ext>
                  </a:extLst>
                </a:gridCol>
                <a:gridCol w="1310989">
                  <a:extLst>
                    <a:ext uri="{9D8B030D-6E8A-4147-A177-3AD203B41FA5}">
                      <a16:colId xmlns:a16="http://schemas.microsoft.com/office/drawing/2014/main" val="3706011505"/>
                    </a:ext>
                  </a:extLst>
                </a:gridCol>
                <a:gridCol w="1310989">
                  <a:extLst>
                    <a:ext uri="{9D8B030D-6E8A-4147-A177-3AD203B41FA5}">
                      <a16:colId xmlns:a16="http://schemas.microsoft.com/office/drawing/2014/main" val="1015250577"/>
                    </a:ext>
                  </a:extLst>
                </a:gridCol>
              </a:tblGrid>
              <a:tr h="406725">
                <a:tc>
                  <a:txBody>
                    <a:bodyPr/>
                    <a:lstStyle/>
                    <a:p>
                      <a:pPr algn="ctr" fontAlgn="b"/>
                      <a:r>
                        <a:rPr lang="en-US" sz="2000" b="1" u="none" strike="noStrike" dirty="0">
                          <a:effectLst/>
                        </a:rPr>
                        <a:t>color</a:t>
                      </a:r>
                      <a:endParaRPr lang="en-US"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2000" b="1" u="none" strike="noStrike" dirty="0" err="1">
                          <a:effectLst/>
                        </a:rPr>
                        <a:t>wt</a:t>
                      </a:r>
                      <a:endParaRPr lang="en-US"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2000" b="1" u="none" strike="noStrike" dirty="0">
                          <a:effectLst/>
                        </a:rPr>
                        <a:t>shape</a:t>
                      </a:r>
                      <a:endParaRPr lang="en-US"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2000" b="1" u="none" strike="noStrike" dirty="0">
                          <a:effectLst/>
                        </a:rPr>
                        <a:t>sweet</a:t>
                      </a:r>
                      <a:endParaRPr lang="en-US"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2000" b="1" u="none" strike="noStrike" dirty="0" err="1">
                          <a:effectLst/>
                        </a:rPr>
                        <a:t>fruit_type</a:t>
                      </a:r>
                      <a:endParaRPr lang="en-US" sz="2000" b="1"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3700032929"/>
                  </a:ext>
                </a:extLst>
              </a:tr>
              <a:tr h="406725">
                <a:tc>
                  <a:txBody>
                    <a:bodyPr/>
                    <a:lstStyle/>
                    <a:p>
                      <a:pPr algn="ctr" fontAlgn="b"/>
                      <a:r>
                        <a:rPr lang="en-US" sz="1800" u="none" strike="noStrike" dirty="0">
                          <a:effectLst/>
                        </a:rPr>
                        <a:t>red</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a:effectLst/>
                        </a:rPr>
                        <a:t>0.1</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a:effectLst/>
                        </a:rPr>
                        <a:t>round</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a:effectLst/>
                        </a:rPr>
                        <a:t>y</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apple</a:t>
                      </a:r>
                      <a:endParaRPr lang="en-US" sz="18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43172962"/>
                  </a:ext>
                </a:extLst>
              </a:tr>
              <a:tr h="406725">
                <a:tc>
                  <a:txBody>
                    <a:bodyPr/>
                    <a:lstStyle/>
                    <a:p>
                      <a:pPr algn="ctr" fontAlgn="b"/>
                      <a:r>
                        <a:rPr lang="en-US" sz="1800" u="none" strike="noStrike" dirty="0">
                          <a:effectLst/>
                        </a:rPr>
                        <a:t>red</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0.2</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round</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a:effectLst/>
                        </a:rPr>
                        <a:t>y</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apple</a:t>
                      </a:r>
                      <a:endParaRPr lang="en-US" sz="18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2694948896"/>
                  </a:ext>
                </a:extLst>
              </a:tr>
              <a:tr h="406725">
                <a:tc>
                  <a:txBody>
                    <a:bodyPr/>
                    <a:lstStyle/>
                    <a:p>
                      <a:pPr algn="ctr" fontAlgn="b"/>
                      <a:r>
                        <a:rPr lang="en-US" sz="1800" u="none" strike="noStrike" dirty="0">
                          <a:effectLst/>
                        </a:rPr>
                        <a:t>green</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0.1</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round</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a:effectLst/>
                        </a:rPr>
                        <a:t>n</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apple</a:t>
                      </a:r>
                      <a:endParaRPr lang="en-US" sz="18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2676067232"/>
                  </a:ext>
                </a:extLst>
              </a:tr>
              <a:tr h="406725">
                <a:tc>
                  <a:txBody>
                    <a:bodyPr/>
                    <a:lstStyle/>
                    <a:p>
                      <a:pPr algn="ctr" fontAlgn="b"/>
                      <a:r>
                        <a:rPr lang="en-US" sz="1800" u="none" strike="noStrike">
                          <a:effectLst/>
                        </a:rPr>
                        <a:t>green</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0.5</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elongated</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a:effectLst/>
                        </a:rPr>
                        <a:t>y</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banana</a:t>
                      </a:r>
                      <a:endParaRPr lang="en-US" sz="18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2803034809"/>
                  </a:ext>
                </a:extLst>
              </a:tr>
              <a:tr h="406725">
                <a:tc>
                  <a:txBody>
                    <a:bodyPr/>
                    <a:lstStyle/>
                    <a:p>
                      <a:pPr algn="ctr" fontAlgn="b"/>
                      <a:r>
                        <a:rPr lang="en-US" sz="1800" u="none" strike="noStrike">
                          <a:effectLst/>
                        </a:rPr>
                        <a:t>yellow</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a:effectLst/>
                        </a:rPr>
                        <a:t>0.6</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elongated</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n</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banana</a:t>
                      </a:r>
                      <a:endParaRPr lang="en-US" sz="18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895215611"/>
                  </a:ext>
                </a:extLst>
              </a:tr>
              <a:tr h="406725">
                <a:tc>
                  <a:txBody>
                    <a:bodyPr/>
                    <a:lstStyle/>
                    <a:p>
                      <a:pPr algn="ctr" fontAlgn="b"/>
                      <a:r>
                        <a:rPr lang="en-US" sz="1800" u="none" strike="noStrike">
                          <a:effectLst/>
                        </a:rPr>
                        <a:t>black</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a:effectLst/>
                        </a:rPr>
                        <a:t>0.1</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elongated</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y</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banana</a:t>
                      </a:r>
                      <a:endParaRPr lang="en-US" sz="18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2278074629"/>
                  </a:ext>
                </a:extLst>
              </a:tr>
              <a:tr h="406725">
                <a:tc>
                  <a:txBody>
                    <a:bodyPr/>
                    <a:lstStyle/>
                    <a:p>
                      <a:pPr algn="ctr" fontAlgn="b"/>
                      <a:r>
                        <a:rPr lang="en-US" sz="1800" u="none" strike="noStrike">
                          <a:effectLst/>
                        </a:rPr>
                        <a:t>yellow</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0.6</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a:effectLst/>
                        </a:rPr>
                        <a:t>elongated</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n</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banana</a:t>
                      </a:r>
                      <a:endParaRPr lang="en-US" sz="18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3788163230"/>
                  </a:ext>
                </a:extLst>
              </a:tr>
              <a:tr h="406725">
                <a:tc>
                  <a:txBody>
                    <a:bodyPr/>
                    <a:lstStyle/>
                    <a:p>
                      <a:pPr algn="ctr" fontAlgn="b"/>
                      <a:r>
                        <a:rPr lang="en-US" sz="1800" u="none" strike="noStrike">
                          <a:effectLst/>
                        </a:rPr>
                        <a:t>green</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a:effectLst/>
                        </a:rPr>
                        <a:t>0.5</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a:effectLst/>
                        </a:rPr>
                        <a:t>elongated</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y</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banana</a:t>
                      </a:r>
                    </a:p>
                  </a:txBody>
                  <a:tcPr marL="9525" marR="9525" marT="9525" marB="0" anchor="b">
                    <a:solidFill>
                      <a:schemeClr val="accent2">
                        <a:lumMod val="40000"/>
                        <a:lumOff val="60000"/>
                      </a:schemeClr>
                    </a:solidFill>
                  </a:tcPr>
                </a:tc>
                <a:extLst>
                  <a:ext uri="{0D108BD9-81ED-4DB2-BD59-A6C34878D82A}">
                    <a16:rowId xmlns:a16="http://schemas.microsoft.com/office/drawing/2014/main" val="885590436"/>
                  </a:ext>
                </a:extLst>
              </a:tr>
            </a:tbl>
          </a:graphicData>
        </a:graphic>
      </p:graphicFrame>
      <p:sp>
        <p:nvSpPr>
          <p:cNvPr id="3" name="TextBox 2"/>
          <p:cNvSpPr txBox="1"/>
          <p:nvPr/>
        </p:nvSpPr>
        <p:spPr>
          <a:xfrm>
            <a:off x="413658" y="4887687"/>
            <a:ext cx="11551602" cy="1815882"/>
          </a:xfrm>
          <a:prstGeom prst="rect">
            <a:avLst/>
          </a:prstGeom>
          <a:noFill/>
        </p:spPr>
        <p:txBody>
          <a:bodyPr wrap="square" rtlCol="0">
            <a:spAutoFit/>
          </a:bodyPr>
          <a:lstStyle/>
          <a:p>
            <a:pPr marL="285750" indent="-285750">
              <a:buFont typeface="Arial" panose="020B0604020202020204" pitchFamily="34" charset="0"/>
              <a:buChar char="•"/>
            </a:pPr>
            <a:r>
              <a:rPr lang="en-US" sz="1600" dirty="0"/>
              <a:t>Here </a:t>
            </a:r>
            <a:r>
              <a:rPr lang="en-US" sz="1600" b="1" dirty="0"/>
              <a:t>target</a:t>
            </a:r>
            <a:r>
              <a:rPr lang="en-US" sz="1600" dirty="0"/>
              <a:t> variable(aka, </a:t>
            </a:r>
            <a:r>
              <a:rPr lang="en-US" sz="1600" b="1" dirty="0"/>
              <a:t>response</a:t>
            </a:r>
            <a:r>
              <a:rPr lang="en-US" sz="1600" dirty="0"/>
              <a:t> variable) is </a:t>
            </a:r>
            <a:r>
              <a:rPr lang="en-US" sz="1600" b="1" dirty="0" err="1"/>
              <a:t>fruit_type</a:t>
            </a:r>
            <a:r>
              <a:rPr lang="en-US" sz="1600" b="1" dirty="0"/>
              <a:t>: </a:t>
            </a:r>
            <a:r>
              <a:rPr lang="en-US" sz="1600" dirty="0"/>
              <a:t>apple or banana</a:t>
            </a:r>
          </a:p>
          <a:p>
            <a:pPr marL="285750" indent="-285750">
              <a:buFont typeface="Arial" panose="020B0604020202020204" pitchFamily="34" charset="0"/>
              <a:buChar char="•"/>
            </a:pPr>
            <a:r>
              <a:rPr lang="en-US" sz="1600" dirty="0"/>
              <a:t>If u notice, the </a:t>
            </a:r>
            <a:r>
              <a:rPr lang="en-US" sz="1600" b="1" dirty="0"/>
              <a:t>shape</a:t>
            </a:r>
            <a:r>
              <a:rPr lang="en-US" sz="1600" dirty="0"/>
              <a:t> is best feature that determines the type of fruit. So this feature has most </a:t>
            </a:r>
            <a:r>
              <a:rPr lang="en-US" sz="1600" b="1" dirty="0"/>
              <a:t>information gain</a:t>
            </a:r>
            <a:r>
              <a:rPr lang="en-US" sz="1600" dirty="0"/>
              <a:t> among all.</a:t>
            </a:r>
          </a:p>
          <a:p>
            <a:pPr marL="285750" indent="-285750">
              <a:buFont typeface="Arial" panose="020B0604020202020204" pitchFamily="34" charset="0"/>
              <a:buChar char="•"/>
            </a:pPr>
            <a:r>
              <a:rPr lang="en-US" sz="1600" dirty="0"/>
              <a:t>Feature </a:t>
            </a:r>
            <a:r>
              <a:rPr lang="en-US" sz="1600" b="1" dirty="0"/>
              <a:t>sweet</a:t>
            </a:r>
            <a:r>
              <a:rPr lang="en-US" sz="1600" dirty="0"/>
              <a:t> has almost no correlation with </a:t>
            </a:r>
            <a:r>
              <a:rPr lang="en-US" sz="1600" b="1" dirty="0" err="1"/>
              <a:t>fruit_type</a:t>
            </a:r>
            <a:endParaRPr lang="en-US" sz="1600" b="1" dirty="0"/>
          </a:p>
          <a:p>
            <a:pPr marL="285750" indent="-285750">
              <a:buFont typeface="Arial" panose="020B0604020202020204" pitchFamily="34" charset="0"/>
              <a:buChar char="•"/>
            </a:pPr>
            <a:r>
              <a:rPr lang="en-US" sz="1600" dirty="0"/>
              <a:t>So start by asking if the fruit </a:t>
            </a:r>
            <a:r>
              <a:rPr lang="en-US" sz="1600" b="1" dirty="0"/>
              <a:t>shape </a:t>
            </a:r>
            <a:r>
              <a:rPr lang="en-US" sz="1600" dirty="0"/>
              <a:t>is elongated or round, we can quickly determine the </a:t>
            </a:r>
            <a:r>
              <a:rPr lang="en-US" sz="1600" b="1" dirty="0"/>
              <a:t>type</a:t>
            </a:r>
            <a:r>
              <a:rPr lang="en-US" sz="1600" dirty="0"/>
              <a:t> of fruit. So this would be good candidate for splitting.</a:t>
            </a:r>
            <a:endParaRPr lang="en-US" sz="1600" b="1" dirty="0"/>
          </a:p>
          <a:p>
            <a:pPr marL="285750" indent="-285750">
              <a:buFont typeface="Arial" panose="020B0604020202020204" pitchFamily="34" charset="0"/>
              <a:buChar char="•"/>
            </a:pPr>
            <a:r>
              <a:rPr lang="en-US" sz="1600" dirty="0"/>
              <a:t>The </a:t>
            </a:r>
            <a:r>
              <a:rPr lang="en-US" sz="1600" b="1" dirty="0" err="1"/>
              <a:t>wt</a:t>
            </a:r>
            <a:r>
              <a:rPr lang="en-US" sz="1600" dirty="0"/>
              <a:t> could also indicate the type of fruit. If </a:t>
            </a:r>
            <a:r>
              <a:rPr lang="en-US" sz="1600" dirty="0" err="1"/>
              <a:t>wt</a:t>
            </a:r>
            <a:r>
              <a:rPr lang="en-US" sz="1600" dirty="0"/>
              <a:t> &lt; 0.3, then </a:t>
            </a:r>
            <a:r>
              <a:rPr lang="en-US" sz="1600" b="1" dirty="0" err="1"/>
              <a:t>fruit_type</a:t>
            </a:r>
            <a:r>
              <a:rPr lang="en-US" sz="1600" dirty="0"/>
              <a:t> is apple, else it is banana. This could be another candidate for splitting</a:t>
            </a:r>
          </a:p>
        </p:txBody>
      </p:sp>
      <p:sp>
        <p:nvSpPr>
          <p:cNvPr id="4" name="TextBox 3"/>
          <p:cNvSpPr txBox="1"/>
          <p:nvPr/>
        </p:nvSpPr>
        <p:spPr>
          <a:xfrm>
            <a:off x="685800" y="566057"/>
            <a:ext cx="5806718" cy="369332"/>
          </a:xfrm>
          <a:prstGeom prst="rect">
            <a:avLst/>
          </a:prstGeom>
          <a:noFill/>
        </p:spPr>
        <p:txBody>
          <a:bodyPr wrap="none" rtlCol="0">
            <a:spAutoFit/>
          </a:bodyPr>
          <a:lstStyle/>
          <a:p>
            <a:r>
              <a:rPr lang="en-US" dirty="0"/>
              <a:t>How do you determine which feature to use when splitting?</a:t>
            </a:r>
          </a:p>
        </p:txBody>
      </p:sp>
    </p:spTree>
    <p:extLst>
      <p:ext uri="{BB962C8B-B14F-4D97-AF65-F5344CB8AC3E}">
        <p14:creationId xmlns:p14="http://schemas.microsoft.com/office/powerpoint/2010/main" val="1661767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26128" y="1098956"/>
            <a:ext cx="2390863" cy="185396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lus 6"/>
          <p:cNvSpPr/>
          <p:nvPr/>
        </p:nvSpPr>
        <p:spPr>
          <a:xfrm>
            <a:off x="1442906" y="1241570"/>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lus 7"/>
          <p:cNvSpPr/>
          <p:nvPr/>
        </p:nvSpPr>
        <p:spPr>
          <a:xfrm>
            <a:off x="1402359" y="2568430"/>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lus 8"/>
          <p:cNvSpPr/>
          <p:nvPr/>
        </p:nvSpPr>
        <p:spPr>
          <a:xfrm>
            <a:off x="2183934" y="1395368"/>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lus 9"/>
          <p:cNvSpPr/>
          <p:nvPr/>
        </p:nvSpPr>
        <p:spPr>
          <a:xfrm>
            <a:off x="1816216" y="2403446"/>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lus 10"/>
          <p:cNvSpPr/>
          <p:nvPr/>
        </p:nvSpPr>
        <p:spPr>
          <a:xfrm>
            <a:off x="2656514" y="1851170"/>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lus 11"/>
          <p:cNvSpPr/>
          <p:nvPr/>
        </p:nvSpPr>
        <p:spPr>
          <a:xfrm>
            <a:off x="1754697" y="1586917"/>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lus 12"/>
          <p:cNvSpPr/>
          <p:nvPr/>
        </p:nvSpPr>
        <p:spPr>
          <a:xfrm>
            <a:off x="3140280" y="1772873"/>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lus 13"/>
          <p:cNvSpPr/>
          <p:nvPr/>
        </p:nvSpPr>
        <p:spPr>
          <a:xfrm>
            <a:off x="2831285" y="2411835"/>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lus 14"/>
          <p:cNvSpPr/>
          <p:nvPr/>
        </p:nvSpPr>
        <p:spPr>
          <a:xfrm>
            <a:off x="1440109" y="1943449"/>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lus 15"/>
          <p:cNvSpPr/>
          <p:nvPr/>
        </p:nvSpPr>
        <p:spPr>
          <a:xfrm>
            <a:off x="2213295" y="2389464"/>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Minus 17"/>
          <p:cNvSpPr/>
          <p:nvPr/>
        </p:nvSpPr>
        <p:spPr>
          <a:xfrm>
            <a:off x="2656514" y="1395368"/>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Minus 18"/>
          <p:cNvSpPr/>
          <p:nvPr/>
        </p:nvSpPr>
        <p:spPr>
          <a:xfrm>
            <a:off x="1894513" y="1161874"/>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Minus 19"/>
          <p:cNvSpPr/>
          <p:nvPr/>
        </p:nvSpPr>
        <p:spPr>
          <a:xfrm>
            <a:off x="2575420" y="1079382"/>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Minus 20"/>
          <p:cNvSpPr/>
          <p:nvPr/>
        </p:nvSpPr>
        <p:spPr>
          <a:xfrm>
            <a:off x="2048311" y="1852568"/>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Minus 21"/>
          <p:cNvSpPr/>
          <p:nvPr/>
        </p:nvSpPr>
        <p:spPr>
          <a:xfrm>
            <a:off x="3266114" y="2231471"/>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Minus 22"/>
          <p:cNvSpPr/>
          <p:nvPr/>
        </p:nvSpPr>
        <p:spPr>
          <a:xfrm>
            <a:off x="3418514" y="1242967"/>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Minus 23"/>
          <p:cNvSpPr/>
          <p:nvPr/>
        </p:nvSpPr>
        <p:spPr>
          <a:xfrm>
            <a:off x="2808914" y="1547768"/>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Minus 24"/>
          <p:cNvSpPr/>
          <p:nvPr/>
        </p:nvSpPr>
        <p:spPr>
          <a:xfrm>
            <a:off x="2365695" y="2002172"/>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Minus 25"/>
          <p:cNvSpPr/>
          <p:nvPr/>
        </p:nvSpPr>
        <p:spPr>
          <a:xfrm>
            <a:off x="2618763" y="2565633"/>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7517940" y="1167466"/>
            <a:ext cx="2390863" cy="185396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Plus 27"/>
          <p:cNvSpPr/>
          <p:nvPr/>
        </p:nvSpPr>
        <p:spPr>
          <a:xfrm>
            <a:off x="7534718" y="1310080"/>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Plus 28"/>
          <p:cNvSpPr/>
          <p:nvPr/>
        </p:nvSpPr>
        <p:spPr>
          <a:xfrm>
            <a:off x="7494171" y="2636940"/>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Plus 29"/>
          <p:cNvSpPr/>
          <p:nvPr/>
        </p:nvSpPr>
        <p:spPr>
          <a:xfrm>
            <a:off x="8275746" y="1463878"/>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Plus 30"/>
          <p:cNvSpPr/>
          <p:nvPr/>
        </p:nvSpPr>
        <p:spPr>
          <a:xfrm>
            <a:off x="7908028" y="2471956"/>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lus 31"/>
          <p:cNvSpPr/>
          <p:nvPr/>
        </p:nvSpPr>
        <p:spPr>
          <a:xfrm>
            <a:off x="8748326" y="1919680"/>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lus 32"/>
          <p:cNvSpPr/>
          <p:nvPr/>
        </p:nvSpPr>
        <p:spPr>
          <a:xfrm>
            <a:off x="7846509" y="1655427"/>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Plus 33"/>
          <p:cNvSpPr/>
          <p:nvPr/>
        </p:nvSpPr>
        <p:spPr>
          <a:xfrm>
            <a:off x="9232092" y="1841383"/>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Plus 34"/>
          <p:cNvSpPr/>
          <p:nvPr/>
        </p:nvSpPr>
        <p:spPr>
          <a:xfrm>
            <a:off x="8923097" y="2480345"/>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Plus 35"/>
          <p:cNvSpPr/>
          <p:nvPr/>
        </p:nvSpPr>
        <p:spPr>
          <a:xfrm>
            <a:off x="7531921" y="2011959"/>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Plus 36"/>
          <p:cNvSpPr/>
          <p:nvPr/>
        </p:nvSpPr>
        <p:spPr>
          <a:xfrm>
            <a:off x="8305107" y="2457974"/>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Minus 37"/>
          <p:cNvSpPr/>
          <p:nvPr/>
        </p:nvSpPr>
        <p:spPr>
          <a:xfrm>
            <a:off x="8748326" y="1463878"/>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Minus 38"/>
          <p:cNvSpPr/>
          <p:nvPr/>
        </p:nvSpPr>
        <p:spPr>
          <a:xfrm>
            <a:off x="7986325" y="1230384"/>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Minus 39"/>
          <p:cNvSpPr/>
          <p:nvPr/>
        </p:nvSpPr>
        <p:spPr>
          <a:xfrm>
            <a:off x="8667232" y="1147892"/>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Minus 40"/>
          <p:cNvSpPr/>
          <p:nvPr/>
        </p:nvSpPr>
        <p:spPr>
          <a:xfrm>
            <a:off x="8140123" y="1921078"/>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Minus 41"/>
          <p:cNvSpPr/>
          <p:nvPr/>
        </p:nvSpPr>
        <p:spPr>
          <a:xfrm>
            <a:off x="9357926" y="2299981"/>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Minus 42"/>
          <p:cNvSpPr/>
          <p:nvPr/>
        </p:nvSpPr>
        <p:spPr>
          <a:xfrm>
            <a:off x="9510326" y="1311477"/>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Minus 43"/>
          <p:cNvSpPr/>
          <p:nvPr/>
        </p:nvSpPr>
        <p:spPr>
          <a:xfrm>
            <a:off x="8900726" y="1616278"/>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Minus 44"/>
          <p:cNvSpPr/>
          <p:nvPr/>
        </p:nvSpPr>
        <p:spPr>
          <a:xfrm>
            <a:off x="8457507" y="2070682"/>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Minus 45"/>
          <p:cNvSpPr/>
          <p:nvPr/>
        </p:nvSpPr>
        <p:spPr>
          <a:xfrm>
            <a:off x="8710575" y="2634143"/>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328567" y="3818390"/>
            <a:ext cx="2390863" cy="185396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3197605" y="3818390"/>
            <a:ext cx="2390863" cy="185396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6579770" y="3819788"/>
            <a:ext cx="2390863" cy="185396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9348140" y="3819788"/>
            <a:ext cx="2390863" cy="185396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Plus 50"/>
          <p:cNvSpPr/>
          <p:nvPr/>
        </p:nvSpPr>
        <p:spPr>
          <a:xfrm>
            <a:off x="429235" y="4153951"/>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Plus 51"/>
          <p:cNvSpPr/>
          <p:nvPr/>
        </p:nvSpPr>
        <p:spPr>
          <a:xfrm>
            <a:off x="1076586" y="4415408"/>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Plus 52"/>
          <p:cNvSpPr/>
          <p:nvPr/>
        </p:nvSpPr>
        <p:spPr>
          <a:xfrm>
            <a:off x="2058099" y="4306351"/>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Plus 53"/>
          <p:cNvSpPr/>
          <p:nvPr/>
        </p:nvSpPr>
        <p:spPr>
          <a:xfrm>
            <a:off x="482365" y="4618142"/>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Plus 54"/>
          <p:cNvSpPr/>
          <p:nvPr/>
        </p:nvSpPr>
        <p:spPr>
          <a:xfrm>
            <a:off x="886435" y="4804098"/>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Minus 55"/>
          <p:cNvSpPr/>
          <p:nvPr/>
        </p:nvSpPr>
        <p:spPr>
          <a:xfrm>
            <a:off x="1579925" y="4823672"/>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Minus 56"/>
          <p:cNvSpPr/>
          <p:nvPr/>
        </p:nvSpPr>
        <p:spPr>
          <a:xfrm>
            <a:off x="1757492" y="3952614"/>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Minus 57"/>
          <p:cNvSpPr/>
          <p:nvPr/>
        </p:nvSpPr>
        <p:spPr>
          <a:xfrm>
            <a:off x="817924" y="4061671"/>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Minus 58"/>
          <p:cNvSpPr/>
          <p:nvPr/>
        </p:nvSpPr>
        <p:spPr>
          <a:xfrm>
            <a:off x="4215469" y="4976072"/>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Plus 59"/>
          <p:cNvSpPr/>
          <p:nvPr/>
        </p:nvSpPr>
        <p:spPr>
          <a:xfrm>
            <a:off x="3663194" y="4174923"/>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Minus 60"/>
          <p:cNvSpPr/>
          <p:nvPr/>
        </p:nvSpPr>
        <p:spPr>
          <a:xfrm>
            <a:off x="349538" y="5203973"/>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Plus 61"/>
          <p:cNvSpPr/>
          <p:nvPr/>
        </p:nvSpPr>
        <p:spPr>
          <a:xfrm>
            <a:off x="3815594" y="4545437"/>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Plus 62"/>
          <p:cNvSpPr/>
          <p:nvPr/>
        </p:nvSpPr>
        <p:spPr>
          <a:xfrm>
            <a:off x="4595771" y="4327323"/>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Plus 63"/>
          <p:cNvSpPr/>
          <p:nvPr/>
        </p:nvSpPr>
        <p:spPr>
          <a:xfrm>
            <a:off x="4973276" y="5384337"/>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Plus 64"/>
          <p:cNvSpPr/>
          <p:nvPr/>
        </p:nvSpPr>
        <p:spPr>
          <a:xfrm>
            <a:off x="3521979" y="5107500"/>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Minus 65"/>
          <p:cNvSpPr/>
          <p:nvPr/>
        </p:nvSpPr>
        <p:spPr>
          <a:xfrm>
            <a:off x="4367869" y="4029513"/>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Minus 66"/>
          <p:cNvSpPr/>
          <p:nvPr/>
        </p:nvSpPr>
        <p:spPr>
          <a:xfrm>
            <a:off x="3235354" y="4507686"/>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Minus 67"/>
          <p:cNvSpPr/>
          <p:nvPr/>
        </p:nvSpPr>
        <p:spPr>
          <a:xfrm>
            <a:off x="4963488" y="4641910"/>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Minus 68"/>
          <p:cNvSpPr/>
          <p:nvPr/>
        </p:nvSpPr>
        <p:spPr>
          <a:xfrm>
            <a:off x="3302466" y="3819788"/>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Down Arrow 69"/>
          <p:cNvSpPr/>
          <p:nvPr/>
        </p:nvSpPr>
        <p:spPr>
          <a:xfrm rot="1577651">
            <a:off x="1915485" y="3103927"/>
            <a:ext cx="408265" cy="444616"/>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Down Arrow 70"/>
          <p:cNvSpPr/>
          <p:nvPr/>
        </p:nvSpPr>
        <p:spPr>
          <a:xfrm rot="19969063">
            <a:off x="3267512" y="3172437"/>
            <a:ext cx="408265" cy="444616"/>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p:cNvSpPr txBox="1"/>
          <p:nvPr/>
        </p:nvSpPr>
        <p:spPr>
          <a:xfrm>
            <a:off x="1076586" y="6409189"/>
            <a:ext cx="3755965" cy="369332"/>
          </a:xfrm>
          <a:prstGeom prst="rect">
            <a:avLst/>
          </a:prstGeom>
          <a:noFill/>
        </p:spPr>
        <p:txBody>
          <a:bodyPr wrap="none" rtlCol="0">
            <a:spAutoFit/>
          </a:bodyPr>
          <a:lstStyle/>
          <a:p>
            <a:r>
              <a:rPr lang="en-US" dirty="0"/>
              <a:t>Less Information Gain from Question1</a:t>
            </a:r>
          </a:p>
        </p:txBody>
      </p:sp>
      <p:cxnSp>
        <p:nvCxnSpPr>
          <p:cNvPr id="74" name="Straight Connector 73"/>
          <p:cNvCxnSpPr/>
          <p:nvPr/>
        </p:nvCxnSpPr>
        <p:spPr>
          <a:xfrm>
            <a:off x="5914239" y="796954"/>
            <a:ext cx="0" cy="5461233"/>
          </a:xfrm>
          <a:prstGeom prst="line">
            <a:avLst/>
          </a:prstGeom>
          <a:ln/>
        </p:spPr>
        <p:style>
          <a:lnRef idx="3">
            <a:schemeClr val="dk1"/>
          </a:lnRef>
          <a:fillRef idx="0">
            <a:schemeClr val="dk1"/>
          </a:fillRef>
          <a:effectRef idx="2">
            <a:schemeClr val="dk1"/>
          </a:effectRef>
          <a:fontRef idx="minor">
            <a:schemeClr val="tx1"/>
          </a:fontRef>
        </p:style>
      </p:cxnSp>
      <p:sp>
        <p:nvSpPr>
          <p:cNvPr id="76" name="Plus 75"/>
          <p:cNvSpPr/>
          <p:nvPr/>
        </p:nvSpPr>
        <p:spPr>
          <a:xfrm>
            <a:off x="6663660" y="4121793"/>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Plus 76"/>
          <p:cNvSpPr/>
          <p:nvPr/>
        </p:nvSpPr>
        <p:spPr>
          <a:xfrm>
            <a:off x="7076119" y="4500696"/>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Plus 77"/>
          <p:cNvSpPr/>
          <p:nvPr/>
        </p:nvSpPr>
        <p:spPr>
          <a:xfrm>
            <a:off x="7646571" y="4869812"/>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Plus 78"/>
          <p:cNvSpPr/>
          <p:nvPr/>
        </p:nvSpPr>
        <p:spPr>
          <a:xfrm>
            <a:off x="7160009" y="4047690"/>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Plus 79"/>
          <p:cNvSpPr/>
          <p:nvPr/>
        </p:nvSpPr>
        <p:spPr>
          <a:xfrm>
            <a:off x="6816060" y="4987258"/>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Plus 80"/>
          <p:cNvSpPr/>
          <p:nvPr/>
        </p:nvSpPr>
        <p:spPr>
          <a:xfrm>
            <a:off x="8376414" y="4282582"/>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Plus 81"/>
          <p:cNvSpPr/>
          <p:nvPr/>
        </p:nvSpPr>
        <p:spPr>
          <a:xfrm>
            <a:off x="7923408" y="3980578"/>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Plus 82"/>
          <p:cNvSpPr/>
          <p:nvPr/>
        </p:nvSpPr>
        <p:spPr>
          <a:xfrm>
            <a:off x="7252288" y="5264095"/>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Plus 83"/>
          <p:cNvSpPr/>
          <p:nvPr/>
        </p:nvSpPr>
        <p:spPr>
          <a:xfrm>
            <a:off x="8250579" y="5121482"/>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Minus 84"/>
          <p:cNvSpPr/>
          <p:nvPr/>
        </p:nvSpPr>
        <p:spPr>
          <a:xfrm>
            <a:off x="7720673" y="4370666"/>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Minus 85"/>
          <p:cNvSpPr/>
          <p:nvPr/>
        </p:nvSpPr>
        <p:spPr>
          <a:xfrm>
            <a:off x="9727042" y="4271396"/>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Minus 86"/>
          <p:cNvSpPr/>
          <p:nvPr/>
        </p:nvSpPr>
        <p:spPr>
          <a:xfrm>
            <a:off x="10416338" y="5019415"/>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Minus 87"/>
          <p:cNvSpPr/>
          <p:nvPr/>
        </p:nvSpPr>
        <p:spPr>
          <a:xfrm>
            <a:off x="11188126" y="4423796"/>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Minus 88"/>
          <p:cNvSpPr/>
          <p:nvPr/>
        </p:nvSpPr>
        <p:spPr>
          <a:xfrm>
            <a:off x="9745218" y="5271085"/>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Minus 89"/>
          <p:cNvSpPr/>
          <p:nvPr/>
        </p:nvSpPr>
        <p:spPr>
          <a:xfrm>
            <a:off x="10860955" y="3937234"/>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Minus 90"/>
          <p:cNvSpPr/>
          <p:nvPr/>
        </p:nvSpPr>
        <p:spPr>
          <a:xfrm>
            <a:off x="9879442" y="4683855"/>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Minus 91"/>
          <p:cNvSpPr/>
          <p:nvPr/>
        </p:nvSpPr>
        <p:spPr>
          <a:xfrm>
            <a:off x="10970012" y="5170417"/>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Minus 92"/>
          <p:cNvSpPr/>
          <p:nvPr/>
        </p:nvSpPr>
        <p:spPr>
          <a:xfrm>
            <a:off x="10533784" y="4423796"/>
            <a:ext cx="352338" cy="377505"/>
          </a:xfrm>
          <a:prstGeom prst="mathMinus">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Plus 93"/>
          <p:cNvSpPr/>
          <p:nvPr/>
        </p:nvSpPr>
        <p:spPr>
          <a:xfrm>
            <a:off x="9665523" y="3885502"/>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Plus 94"/>
          <p:cNvSpPr/>
          <p:nvPr/>
        </p:nvSpPr>
        <p:spPr>
          <a:xfrm>
            <a:off x="10757491" y="4910358"/>
            <a:ext cx="352338" cy="28522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p:cNvSpPr txBox="1"/>
          <p:nvPr/>
        </p:nvSpPr>
        <p:spPr>
          <a:xfrm>
            <a:off x="7596161" y="6418976"/>
            <a:ext cx="3791231" cy="369332"/>
          </a:xfrm>
          <a:prstGeom prst="rect">
            <a:avLst/>
          </a:prstGeom>
          <a:noFill/>
        </p:spPr>
        <p:txBody>
          <a:bodyPr wrap="none" rtlCol="0">
            <a:spAutoFit/>
          </a:bodyPr>
          <a:lstStyle/>
          <a:p>
            <a:r>
              <a:rPr lang="en-US" dirty="0"/>
              <a:t>High Information Gain from Question2</a:t>
            </a:r>
          </a:p>
        </p:txBody>
      </p:sp>
      <p:sp>
        <p:nvSpPr>
          <p:cNvPr id="97" name="Down Arrow 96"/>
          <p:cNvSpPr/>
          <p:nvPr/>
        </p:nvSpPr>
        <p:spPr>
          <a:xfrm rot="1577651">
            <a:off x="7663348" y="3197604"/>
            <a:ext cx="408265" cy="444616"/>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Down Arrow 97"/>
          <p:cNvSpPr/>
          <p:nvPr/>
        </p:nvSpPr>
        <p:spPr>
          <a:xfrm rot="19969063">
            <a:off x="9283823" y="3182224"/>
            <a:ext cx="408265" cy="444616"/>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Box 98"/>
          <p:cNvSpPr txBox="1"/>
          <p:nvPr/>
        </p:nvSpPr>
        <p:spPr>
          <a:xfrm>
            <a:off x="1761688" y="453005"/>
            <a:ext cx="2265044" cy="523220"/>
          </a:xfrm>
          <a:prstGeom prst="rect">
            <a:avLst/>
          </a:prstGeom>
          <a:noFill/>
        </p:spPr>
        <p:txBody>
          <a:bodyPr wrap="none" rtlCol="0">
            <a:spAutoFit/>
          </a:bodyPr>
          <a:lstStyle/>
          <a:p>
            <a:r>
              <a:rPr lang="en-US" sz="1400" dirty="0"/>
              <a:t>10 positive labels (apple)</a:t>
            </a:r>
          </a:p>
          <a:p>
            <a:r>
              <a:rPr lang="en-US" sz="1400" dirty="0"/>
              <a:t>9 negative labels (not-apple)</a:t>
            </a:r>
          </a:p>
        </p:txBody>
      </p:sp>
      <p:sp>
        <p:nvSpPr>
          <p:cNvPr id="100" name="TextBox 99"/>
          <p:cNvSpPr txBox="1"/>
          <p:nvPr/>
        </p:nvSpPr>
        <p:spPr>
          <a:xfrm>
            <a:off x="680905" y="5764640"/>
            <a:ext cx="1404231" cy="523220"/>
          </a:xfrm>
          <a:prstGeom prst="rect">
            <a:avLst/>
          </a:prstGeom>
          <a:noFill/>
        </p:spPr>
        <p:txBody>
          <a:bodyPr wrap="none" rtlCol="0">
            <a:spAutoFit/>
          </a:bodyPr>
          <a:lstStyle/>
          <a:p>
            <a:r>
              <a:rPr lang="en-US" sz="1400" dirty="0"/>
              <a:t>5 positive labels</a:t>
            </a:r>
          </a:p>
          <a:p>
            <a:r>
              <a:rPr lang="en-US" sz="1400" dirty="0"/>
              <a:t>4 negative labels</a:t>
            </a:r>
          </a:p>
        </p:txBody>
      </p:sp>
      <p:sp>
        <p:nvSpPr>
          <p:cNvPr id="101" name="TextBox 100"/>
          <p:cNvSpPr txBox="1"/>
          <p:nvPr/>
        </p:nvSpPr>
        <p:spPr>
          <a:xfrm>
            <a:off x="3735899" y="5774427"/>
            <a:ext cx="1404231" cy="523220"/>
          </a:xfrm>
          <a:prstGeom prst="rect">
            <a:avLst/>
          </a:prstGeom>
          <a:noFill/>
        </p:spPr>
        <p:txBody>
          <a:bodyPr wrap="none" rtlCol="0">
            <a:spAutoFit/>
          </a:bodyPr>
          <a:lstStyle/>
          <a:p>
            <a:r>
              <a:rPr lang="en-US" sz="1400" dirty="0"/>
              <a:t>5 positive labels</a:t>
            </a:r>
          </a:p>
          <a:p>
            <a:r>
              <a:rPr lang="en-US" sz="1400" dirty="0"/>
              <a:t>5 negative labels</a:t>
            </a:r>
          </a:p>
        </p:txBody>
      </p:sp>
      <p:sp>
        <p:nvSpPr>
          <p:cNvPr id="103" name="TextBox 102"/>
          <p:cNvSpPr txBox="1"/>
          <p:nvPr/>
        </p:nvSpPr>
        <p:spPr>
          <a:xfrm>
            <a:off x="3603073" y="117446"/>
            <a:ext cx="3441904" cy="369332"/>
          </a:xfrm>
          <a:prstGeom prst="rect">
            <a:avLst/>
          </a:prstGeom>
          <a:noFill/>
        </p:spPr>
        <p:txBody>
          <a:bodyPr wrap="none" rtlCol="0">
            <a:spAutoFit/>
          </a:bodyPr>
          <a:lstStyle/>
          <a:p>
            <a:r>
              <a:rPr lang="en-US" dirty="0"/>
              <a:t>Visual concept of Information Gain</a:t>
            </a:r>
          </a:p>
        </p:txBody>
      </p:sp>
      <p:sp>
        <p:nvSpPr>
          <p:cNvPr id="104" name="TextBox 103"/>
          <p:cNvSpPr txBox="1"/>
          <p:nvPr/>
        </p:nvSpPr>
        <p:spPr>
          <a:xfrm>
            <a:off x="6923719" y="5724093"/>
            <a:ext cx="1404231" cy="523220"/>
          </a:xfrm>
          <a:prstGeom prst="rect">
            <a:avLst/>
          </a:prstGeom>
          <a:noFill/>
        </p:spPr>
        <p:txBody>
          <a:bodyPr wrap="none" rtlCol="0">
            <a:spAutoFit/>
          </a:bodyPr>
          <a:lstStyle/>
          <a:p>
            <a:r>
              <a:rPr lang="en-US" sz="1400" dirty="0"/>
              <a:t>8 positive labels</a:t>
            </a:r>
          </a:p>
          <a:p>
            <a:r>
              <a:rPr lang="en-US" sz="1400" dirty="0"/>
              <a:t>1 negative labels</a:t>
            </a:r>
          </a:p>
        </p:txBody>
      </p:sp>
      <p:sp>
        <p:nvSpPr>
          <p:cNvPr id="105" name="TextBox 104"/>
          <p:cNvSpPr txBox="1"/>
          <p:nvPr/>
        </p:nvSpPr>
        <p:spPr>
          <a:xfrm>
            <a:off x="9910203" y="5757649"/>
            <a:ext cx="1404231" cy="523220"/>
          </a:xfrm>
          <a:prstGeom prst="rect">
            <a:avLst/>
          </a:prstGeom>
          <a:noFill/>
        </p:spPr>
        <p:txBody>
          <a:bodyPr wrap="none" rtlCol="0">
            <a:spAutoFit/>
          </a:bodyPr>
          <a:lstStyle/>
          <a:p>
            <a:r>
              <a:rPr lang="en-US" sz="1400" dirty="0"/>
              <a:t>2 positive labels</a:t>
            </a:r>
          </a:p>
          <a:p>
            <a:r>
              <a:rPr lang="en-US" sz="1400" dirty="0"/>
              <a:t>8 negative labels</a:t>
            </a:r>
          </a:p>
        </p:txBody>
      </p:sp>
      <p:sp>
        <p:nvSpPr>
          <p:cNvPr id="106" name="TextBox 105"/>
          <p:cNvSpPr txBox="1"/>
          <p:nvPr/>
        </p:nvSpPr>
        <p:spPr>
          <a:xfrm>
            <a:off x="7601830" y="513126"/>
            <a:ext cx="2265044" cy="523220"/>
          </a:xfrm>
          <a:prstGeom prst="rect">
            <a:avLst/>
          </a:prstGeom>
          <a:noFill/>
        </p:spPr>
        <p:txBody>
          <a:bodyPr wrap="none" rtlCol="0">
            <a:spAutoFit/>
          </a:bodyPr>
          <a:lstStyle/>
          <a:p>
            <a:r>
              <a:rPr lang="en-US" sz="1400" dirty="0"/>
              <a:t>10 positive labels (apple)</a:t>
            </a:r>
          </a:p>
          <a:p>
            <a:r>
              <a:rPr lang="en-US" sz="1400" dirty="0"/>
              <a:t>9 negative labels (not-apple)</a:t>
            </a:r>
          </a:p>
        </p:txBody>
      </p:sp>
      <p:sp>
        <p:nvSpPr>
          <p:cNvPr id="2" name="TextBox 1">
            <a:extLst>
              <a:ext uri="{FF2B5EF4-FFF2-40B4-BE49-F238E27FC236}">
                <a16:creationId xmlns:a16="http://schemas.microsoft.com/office/drawing/2014/main" id="{87A8E7C3-E212-60D6-D2C5-30CFFA7C1FFC}"/>
              </a:ext>
            </a:extLst>
          </p:cNvPr>
          <p:cNvSpPr txBox="1"/>
          <p:nvPr/>
        </p:nvSpPr>
        <p:spPr>
          <a:xfrm>
            <a:off x="212948" y="3209728"/>
            <a:ext cx="1907061" cy="646331"/>
          </a:xfrm>
          <a:prstGeom prst="rect">
            <a:avLst/>
          </a:prstGeom>
          <a:noFill/>
        </p:spPr>
        <p:txBody>
          <a:bodyPr wrap="none" rtlCol="0">
            <a:spAutoFit/>
          </a:bodyPr>
          <a:lstStyle/>
          <a:p>
            <a:r>
              <a:rPr lang="en-US" dirty="0"/>
              <a:t>Ask a question1</a:t>
            </a:r>
          </a:p>
          <a:p>
            <a:r>
              <a:rPr lang="en-IN" dirty="0"/>
              <a:t>e.g.: Is </a:t>
            </a:r>
            <a:r>
              <a:rPr lang="en-IN" dirty="0" err="1"/>
              <a:t>color</a:t>
            </a:r>
            <a:r>
              <a:rPr lang="en-IN" dirty="0"/>
              <a:t> green</a:t>
            </a:r>
          </a:p>
        </p:txBody>
      </p:sp>
      <p:sp>
        <p:nvSpPr>
          <p:cNvPr id="3" name="TextBox 2">
            <a:extLst>
              <a:ext uri="{FF2B5EF4-FFF2-40B4-BE49-F238E27FC236}">
                <a16:creationId xmlns:a16="http://schemas.microsoft.com/office/drawing/2014/main" id="{825AB4CA-AFC1-09D0-2FD6-E502CF915659}"/>
              </a:ext>
            </a:extLst>
          </p:cNvPr>
          <p:cNvSpPr txBox="1"/>
          <p:nvPr/>
        </p:nvSpPr>
        <p:spPr>
          <a:xfrm>
            <a:off x="6047690" y="3212837"/>
            <a:ext cx="1669816" cy="646331"/>
          </a:xfrm>
          <a:prstGeom prst="rect">
            <a:avLst/>
          </a:prstGeom>
          <a:noFill/>
        </p:spPr>
        <p:txBody>
          <a:bodyPr wrap="none" rtlCol="0">
            <a:spAutoFit/>
          </a:bodyPr>
          <a:lstStyle/>
          <a:p>
            <a:r>
              <a:rPr lang="en-US" dirty="0"/>
              <a:t>Ask a question2</a:t>
            </a:r>
          </a:p>
          <a:p>
            <a:r>
              <a:rPr lang="en-IN" dirty="0"/>
              <a:t>e.g.: Is </a:t>
            </a:r>
            <a:r>
              <a:rPr lang="en-IN" dirty="0" err="1"/>
              <a:t>wt</a:t>
            </a:r>
            <a:r>
              <a:rPr lang="en-IN" dirty="0"/>
              <a:t> &gt; .2</a:t>
            </a:r>
          </a:p>
        </p:txBody>
      </p:sp>
    </p:spTree>
    <p:extLst>
      <p:ext uri="{BB962C8B-B14F-4D97-AF65-F5344CB8AC3E}">
        <p14:creationId xmlns:p14="http://schemas.microsoft.com/office/powerpoint/2010/main" val="1602805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4407"/>
            <a:ext cx="10515600" cy="669669"/>
          </a:xfrm>
        </p:spPr>
        <p:txBody>
          <a:bodyPr>
            <a:normAutofit fontScale="90000"/>
          </a:bodyPr>
          <a:lstStyle/>
          <a:p>
            <a:r>
              <a:rPr lang="en-US" dirty="0"/>
              <a:t>Math of Decision tree:</a:t>
            </a:r>
          </a:p>
        </p:txBody>
      </p:sp>
      <p:sp>
        <p:nvSpPr>
          <p:cNvPr id="3" name="Content Placeholder 2"/>
          <p:cNvSpPr>
            <a:spLocks noGrp="1"/>
          </p:cNvSpPr>
          <p:nvPr>
            <p:ph idx="1"/>
          </p:nvPr>
        </p:nvSpPr>
        <p:spPr>
          <a:xfrm>
            <a:off x="298879" y="834703"/>
            <a:ext cx="11666379" cy="1536980"/>
          </a:xfrm>
        </p:spPr>
        <p:txBody>
          <a:bodyPr>
            <a:normAutofit fontScale="85000" lnSpcReduction="10000"/>
          </a:bodyPr>
          <a:lstStyle/>
          <a:p>
            <a:r>
              <a:rPr lang="en-US" dirty="0"/>
              <a:t>Root node consist of all data points. </a:t>
            </a:r>
          </a:p>
          <a:p>
            <a:r>
              <a:rPr lang="en-US" dirty="0"/>
              <a:t>You split each node based on numerical value of </a:t>
            </a:r>
            <a:r>
              <a:rPr lang="en-US" b="1" dirty="0"/>
              <a:t>Information Gain </a:t>
            </a:r>
            <a:r>
              <a:rPr lang="en-US" dirty="0"/>
              <a:t>for a certain feature:</a:t>
            </a:r>
          </a:p>
          <a:p>
            <a:pPr marL="0" indent="0">
              <a:buNone/>
            </a:pPr>
            <a:r>
              <a:rPr lang="en-US" dirty="0"/>
              <a:t>A feature/attribute A with d distinct values divides the training set E into subsets E1,...,Ed. Each subset </a:t>
            </a:r>
            <a:r>
              <a:rPr lang="en-US" dirty="0" err="1"/>
              <a:t>Ek</a:t>
            </a:r>
            <a:r>
              <a:rPr lang="en-US" dirty="0"/>
              <a:t> has </a:t>
            </a:r>
            <a:r>
              <a:rPr lang="en-US" dirty="0" err="1"/>
              <a:t>pk</a:t>
            </a:r>
            <a:r>
              <a:rPr lang="en-US" dirty="0"/>
              <a:t> positive examples and </a:t>
            </a:r>
            <a:r>
              <a:rPr lang="en-US" dirty="0" err="1"/>
              <a:t>nk</a:t>
            </a:r>
            <a:r>
              <a:rPr lang="en-US" dirty="0"/>
              <a:t> negative examples.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192" y="2586419"/>
            <a:ext cx="6639021" cy="796021"/>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26" y="4106119"/>
            <a:ext cx="3451000" cy="672166"/>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333" y="3627863"/>
            <a:ext cx="2985052" cy="289109"/>
          </a:xfrm>
          <a:prstGeom prst="rect">
            <a:avLst/>
          </a:prstGeom>
        </p:spPr>
      </p:pic>
      <p:sp>
        <p:nvSpPr>
          <p:cNvPr id="7" name="TextBox 6"/>
          <p:cNvSpPr txBox="1"/>
          <p:nvPr/>
        </p:nvSpPr>
        <p:spPr>
          <a:xfrm>
            <a:off x="184557" y="5817868"/>
            <a:ext cx="10053398"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Another def.:  Info. Gain = </a:t>
            </a:r>
            <a:r>
              <a:rPr lang="en-US" sz="1600" b="1" dirty="0"/>
              <a:t>Entropy before split – Entropy after split</a:t>
            </a:r>
            <a:r>
              <a:rPr lang="en-US" sz="1600" dirty="0"/>
              <a:t> </a:t>
            </a:r>
          </a:p>
          <a:p>
            <a:r>
              <a:rPr lang="en-US" sz="1600" dirty="0"/>
              <a:t>                                                  = </a:t>
            </a:r>
            <a:r>
              <a:rPr lang="en-US" sz="1600" b="1" dirty="0"/>
              <a:t>Entropy of Parent    – Avg. Entropy of child nodes</a:t>
            </a:r>
            <a:endParaRPr lang="en-US" sz="1600" dirty="0"/>
          </a:p>
          <a:p>
            <a:pPr marL="285750" indent="-285750">
              <a:buFont typeface="Arial" panose="020B0604020202020204" pitchFamily="34" charset="0"/>
              <a:buChar char="•"/>
            </a:pPr>
            <a:r>
              <a:rPr lang="en-US" sz="1600" dirty="0"/>
              <a:t>At each node you find the IG of each feature, and then choose the feature to use for splitting that has </a:t>
            </a:r>
            <a:r>
              <a:rPr lang="en-US" sz="1600" b="1" dirty="0"/>
              <a:t>highest IG</a:t>
            </a:r>
            <a:r>
              <a:rPr lang="en-US" sz="1600" dirty="0"/>
              <a:t>. </a:t>
            </a:r>
          </a:p>
        </p:txBody>
      </p:sp>
      <p:sp>
        <p:nvSpPr>
          <p:cNvPr id="9" name="TextBox 8"/>
          <p:cNvSpPr txBox="1"/>
          <p:nvPr/>
        </p:nvSpPr>
        <p:spPr>
          <a:xfrm>
            <a:off x="10237954" y="6425967"/>
            <a:ext cx="1655453" cy="369332"/>
          </a:xfrm>
          <a:prstGeom prst="rect">
            <a:avLst/>
          </a:prstGeom>
          <a:noFill/>
        </p:spPr>
        <p:txBody>
          <a:bodyPr wrap="none" rtlCol="0">
            <a:spAutoFit/>
          </a:bodyPr>
          <a:lstStyle/>
          <a:p>
            <a:r>
              <a:rPr lang="en-US" b="1" dirty="0"/>
              <a:t>Example next-&gt;</a:t>
            </a:r>
          </a:p>
        </p:txBody>
      </p:sp>
      <p:cxnSp>
        <p:nvCxnSpPr>
          <p:cNvPr id="11" name="Straight Arrow Connector 10"/>
          <p:cNvCxnSpPr/>
          <p:nvPr/>
        </p:nvCxnSpPr>
        <p:spPr>
          <a:xfrm flipH="1" flipV="1">
            <a:off x="2885813" y="4664279"/>
            <a:ext cx="1585519" cy="129190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4" name="Straight Arrow Connector 13"/>
          <p:cNvCxnSpPr/>
          <p:nvPr/>
        </p:nvCxnSpPr>
        <p:spPr>
          <a:xfrm flipH="1" flipV="1">
            <a:off x="1937857" y="3916972"/>
            <a:ext cx="1620473" cy="200705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893998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5401"/>
            <a:ext cx="10515600" cy="409500"/>
          </a:xfrm>
        </p:spPr>
        <p:txBody>
          <a:bodyPr>
            <a:normAutofit fontScale="90000"/>
          </a:bodyPr>
          <a:lstStyle/>
          <a:p>
            <a:r>
              <a:rPr lang="en-US" dirty="0"/>
              <a:t>Example of calculating IG:</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787" y="774625"/>
            <a:ext cx="7835319" cy="5625989"/>
          </a:xfrm>
          <a:prstGeom prst="rect">
            <a:avLst/>
          </a:prstGeom>
        </p:spPr>
      </p:pic>
      <p:cxnSp>
        <p:nvCxnSpPr>
          <p:cNvPr id="6" name="Straight Connector 5"/>
          <p:cNvCxnSpPr/>
          <p:nvPr/>
        </p:nvCxnSpPr>
        <p:spPr>
          <a:xfrm>
            <a:off x="1577130" y="3942826"/>
            <a:ext cx="0" cy="176168"/>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p:cNvCxnSpPr/>
          <p:nvPr/>
        </p:nvCxnSpPr>
        <p:spPr>
          <a:xfrm>
            <a:off x="1501629" y="4035104"/>
            <a:ext cx="184558" cy="8389"/>
          </a:xfrm>
          <a:prstGeom prst="line">
            <a:avLst/>
          </a:prstGeom>
        </p:spPr>
        <p:style>
          <a:lnRef idx="2">
            <a:schemeClr val="accent2"/>
          </a:lnRef>
          <a:fillRef idx="0">
            <a:schemeClr val="accent2"/>
          </a:fillRef>
          <a:effectRef idx="1">
            <a:schemeClr val="accent2"/>
          </a:effectRef>
          <a:fontRef idx="minor">
            <a:schemeClr val="tx1"/>
          </a:fontRef>
        </p:style>
      </p:cxnSp>
      <p:sp>
        <p:nvSpPr>
          <p:cNvPr id="9" name="TextBox 8"/>
          <p:cNvSpPr txBox="1"/>
          <p:nvPr/>
        </p:nvSpPr>
        <p:spPr>
          <a:xfrm>
            <a:off x="5939406" y="6476301"/>
            <a:ext cx="5897768" cy="261610"/>
          </a:xfrm>
          <a:prstGeom prst="rect">
            <a:avLst/>
          </a:prstGeom>
          <a:noFill/>
        </p:spPr>
        <p:txBody>
          <a:bodyPr wrap="none" rtlCol="0">
            <a:spAutoFit/>
          </a:bodyPr>
          <a:lstStyle/>
          <a:p>
            <a:r>
              <a:rPr lang="en-US" sz="1100" dirty="0"/>
              <a:t>Source: https://courses.cs.washington.edu/courses/cse446/20wi/Lecture3/03_InformationGain.pdf</a:t>
            </a:r>
          </a:p>
        </p:txBody>
      </p:sp>
    </p:spTree>
    <p:extLst>
      <p:ext uri="{BB962C8B-B14F-4D97-AF65-F5344CB8AC3E}">
        <p14:creationId xmlns:p14="http://schemas.microsoft.com/office/powerpoint/2010/main" val="2974092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8623"/>
            <a:ext cx="5403209" cy="540888"/>
          </a:xfrm>
        </p:spPr>
        <p:txBody>
          <a:bodyPr>
            <a:normAutofit fontScale="90000"/>
          </a:bodyPr>
          <a:lstStyle/>
          <a:p>
            <a:r>
              <a:rPr lang="en-US" dirty="0"/>
              <a:t>Steps to calculate IG(p1):</a:t>
            </a:r>
          </a:p>
        </p:txBody>
      </p:sp>
      <p:sp>
        <p:nvSpPr>
          <p:cNvPr id="7" name="TextBox 6"/>
          <p:cNvSpPr txBox="1"/>
          <p:nvPr/>
        </p:nvSpPr>
        <p:spPr>
          <a:xfrm>
            <a:off x="243281" y="1442905"/>
            <a:ext cx="4026715" cy="3693319"/>
          </a:xfrm>
          <a:prstGeom prst="rect">
            <a:avLst/>
          </a:prstGeom>
          <a:noFill/>
        </p:spPr>
        <p:txBody>
          <a:bodyPr wrap="square" rtlCol="0">
            <a:spAutoFit/>
          </a:bodyPr>
          <a:lstStyle/>
          <a:p>
            <a:r>
              <a:rPr lang="en-US" dirty="0"/>
              <a:t>This is an example related to predicting heart disease in patients. At this node, there are 3 features where split could be made:</a:t>
            </a:r>
          </a:p>
          <a:p>
            <a:r>
              <a:rPr lang="en-US" dirty="0"/>
              <a:t>1) </a:t>
            </a:r>
            <a:r>
              <a:rPr lang="en-US" b="1" dirty="0"/>
              <a:t>Age Group</a:t>
            </a:r>
            <a:r>
              <a:rPr lang="en-US" dirty="0"/>
              <a:t> Split: Older individuals are more prone to heart disease.</a:t>
            </a:r>
          </a:p>
          <a:p>
            <a:r>
              <a:rPr lang="en-US" dirty="0"/>
              <a:t>2) </a:t>
            </a:r>
            <a:r>
              <a:rPr lang="en-US" b="1" dirty="0"/>
              <a:t>Smoking Status</a:t>
            </a:r>
            <a:r>
              <a:rPr lang="en-US" dirty="0"/>
              <a:t> Split: Smokers have a higher risk.</a:t>
            </a:r>
          </a:p>
          <a:p>
            <a:r>
              <a:rPr lang="en-US" dirty="0"/>
              <a:t>3) </a:t>
            </a:r>
            <a:r>
              <a:rPr lang="en-US" b="1" dirty="0"/>
              <a:t>Exercise Habit</a:t>
            </a:r>
            <a:r>
              <a:rPr lang="en-US" dirty="0"/>
              <a:t> Split: Lack of exercise increases risk significantly.</a:t>
            </a:r>
          </a:p>
          <a:p>
            <a:endParaRPr lang="en-US" dirty="0"/>
          </a:p>
          <a:p>
            <a:r>
              <a:rPr lang="en-US" dirty="0"/>
              <a:t>Lets determine on which feature the split should be made.</a:t>
            </a:r>
          </a:p>
        </p:txBody>
      </p:sp>
      <p:graphicFrame>
        <p:nvGraphicFramePr>
          <p:cNvPr id="9" name="Table 8"/>
          <p:cNvGraphicFramePr>
            <a:graphicFrameLocks noGrp="1"/>
          </p:cNvGraphicFramePr>
          <p:nvPr>
            <p:extLst>
              <p:ext uri="{D42A27DB-BD31-4B8C-83A1-F6EECF244321}">
                <p14:modId xmlns:p14="http://schemas.microsoft.com/office/powerpoint/2010/main" val="2112102403"/>
              </p:ext>
            </p:extLst>
          </p:nvPr>
        </p:nvGraphicFramePr>
        <p:xfrm>
          <a:off x="6310090" y="582794"/>
          <a:ext cx="3662852" cy="6122564"/>
        </p:xfrm>
        <a:graphic>
          <a:graphicData uri="http://schemas.openxmlformats.org/drawingml/2006/table">
            <a:tbl>
              <a:tblPr>
                <a:tableStyleId>{5C22544A-7EE6-4342-B048-85BDC9FD1C3A}</a:tableStyleId>
              </a:tblPr>
              <a:tblGrid>
                <a:gridCol w="278717">
                  <a:extLst>
                    <a:ext uri="{9D8B030D-6E8A-4147-A177-3AD203B41FA5}">
                      <a16:colId xmlns:a16="http://schemas.microsoft.com/office/drawing/2014/main" val="122306676"/>
                    </a:ext>
                  </a:extLst>
                </a:gridCol>
                <a:gridCol w="982767">
                  <a:extLst>
                    <a:ext uri="{9D8B030D-6E8A-4147-A177-3AD203B41FA5}">
                      <a16:colId xmlns:a16="http://schemas.microsoft.com/office/drawing/2014/main" val="4121113295"/>
                    </a:ext>
                  </a:extLst>
                </a:gridCol>
                <a:gridCol w="1059678">
                  <a:extLst>
                    <a:ext uri="{9D8B030D-6E8A-4147-A177-3AD203B41FA5}">
                      <a16:colId xmlns:a16="http://schemas.microsoft.com/office/drawing/2014/main" val="1367091033"/>
                    </a:ext>
                  </a:extLst>
                </a:gridCol>
                <a:gridCol w="786213">
                  <a:extLst>
                    <a:ext uri="{9D8B030D-6E8A-4147-A177-3AD203B41FA5}">
                      <a16:colId xmlns:a16="http://schemas.microsoft.com/office/drawing/2014/main" val="2786975412"/>
                    </a:ext>
                  </a:extLst>
                </a:gridCol>
                <a:gridCol w="555477">
                  <a:extLst>
                    <a:ext uri="{9D8B030D-6E8A-4147-A177-3AD203B41FA5}">
                      <a16:colId xmlns:a16="http://schemas.microsoft.com/office/drawing/2014/main" val="687380656"/>
                    </a:ext>
                  </a:extLst>
                </a:gridCol>
              </a:tblGrid>
              <a:tr h="289292">
                <a:tc>
                  <a:txBody>
                    <a:bodyPr/>
                    <a:lstStyle/>
                    <a:p>
                      <a:pPr algn="ctr" fontAlgn="ctr"/>
                      <a:r>
                        <a:rPr lang="en-US" sz="1100" u="none" strike="noStrike">
                          <a:effectLst/>
                        </a:rPr>
                        <a:t>ID</a:t>
                      </a:r>
                      <a:endParaRPr lang="en-US" sz="1100" b="1" i="0" u="none" strike="noStrike">
                        <a:solidFill>
                          <a:srgbClr val="000000"/>
                        </a:solidFill>
                        <a:effectLst/>
                        <a:latin typeface="Calibri" panose="020F0502020204030204" pitchFamily="34" charset="0"/>
                      </a:endParaRPr>
                    </a:p>
                  </a:txBody>
                  <a:tcPr marL="3956" marR="3956" marT="3956" marB="0" anchor="ctr"/>
                </a:tc>
                <a:tc>
                  <a:txBody>
                    <a:bodyPr/>
                    <a:lstStyle/>
                    <a:p>
                      <a:pPr algn="ctr" fontAlgn="ctr"/>
                      <a:r>
                        <a:rPr lang="en-US" sz="1100" u="none" strike="noStrike">
                          <a:effectLst/>
                        </a:rPr>
                        <a:t>Age Group</a:t>
                      </a:r>
                      <a:endParaRPr lang="en-US" sz="1100" b="1" i="0" u="none" strike="noStrike">
                        <a:solidFill>
                          <a:srgbClr val="000000"/>
                        </a:solidFill>
                        <a:effectLst/>
                        <a:latin typeface="Calibri" panose="020F0502020204030204" pitchFamily="34" charset="0"/>
                      </a:endParaRPr>
                    </a:p>
                  </a:txBody>
                  <a:tcPr marL="3956" marR="3956" marT="3956" marB="0" anchor="ctr"/>
                </a:tc>
                <a:tc>
                  <a:txBody>
                    <a:bodyPr/>
                    <a:lstStyle/>
                    <a:p>
                      <a:pPr algn="ctr" fontAlgn="ctr"/>
                      <a:r>
                        <a:rPr lang="en-US" sz="1100" u="none" strike="noStrike">
                          <a:effectLst/>
                        </a:rPr>
                        <a:t>Smoking Status</a:t>
                      </a:r>
                      <a:endParaRPr lang="en-US" sz="1100" b="1" i="0" u="none" strike="noStrike">
                        <a:solidFill>
                          <a:srgbClr val="000000"/>
                        </a:solidFill>
                        <a:effectLst/>
                        <a:latin typeface="Calibri" panose="020F0502020204030204" pitchFamily="34" charset="0"/>
                      </a:endParaRPr>
                    </a:p>
                  </a:txBody>
                  <a:tcPr marL="3956" marR="3956" marT="3956" marB="0" anchor="ctr"/>
                </a:tc>
                <a:tc>
                  <a:txBody>
                    <a:bodyPr/>
                    <a:lstStyle/>
                    <a:p>
                      <a:pPr algn="ctr" fontAlgn="ctr"/>
                      <a:r>
                        <a:rPr lang="en-US" sz="1100" u="none" strike="noStrike">
                          <a:effectLst/>
                        </a:rPr>
                        <a:t>Exercise Habit</a:t>
                      </a:r>
                      <a:endParaRPr lang="en-US" sz="1100" b="1" i="0" u="none" strike="noStrike">
                        <a:solidFill>
                          <a:srgbClr val="000000"/>
                        </a:solidFill>
                        <a:effectLst/>
                        <a:latin typeface="Calibri" panose="020F0502020204030204" pitchFamily="34" charset="0"/>
                      </a:endParaRPr>
                    </a:p>
                  </a:txBody>
                  <a:tcPr marL="3956" marR="3956" marT="3956" marB="0" anchor="ctr"/>
                </a:tc>
                <a:tc>
                  <a:txBody>
                    <a:bodyPr/>
                    <a:lstStyle/>
                    <a:p>
                      <a:pPr algn="ctr" fontAlgn="ctr"/>
                      <a:r>
                        <a:rPr lang="en-US" sz="1100" u="none" strike="noStrike">
                          <a:effectLst/>
                        </a:rPr>
                        <a:t>Heart Disease (Label)</a:t>
                      </a:r>
                      <a:endParaRPr lang="en-US" sz="1100" b="1"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1148240145"/>
                  </a:ext>
                </a:extLst>
              </a:tr>
              <a:tr h="97699">
                <a:tc>
                  <a:txBody>
                    <a:bodyPr/>
                    <a:lstStyle/>
                    <a:p>
                      <a:pPr algn="r" fontAlgn="ctr"/>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Younger (&lt;40)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Regular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dirty="0">
                          <a:effectLst/>
                        </a:rPr>
                        <a:t>Positive</a:t>
                      </a:r>
                      <a:endParaRPr lang="en-US" sz="1100" b="0" i="0" u="none" strike="noStrike" dirty="0">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2739852755"/>
                  </a:ext>
                </a:extLst>
              </a:tr>
              <a:tr h="97699">
                <a:tc>
                  <a:txBody>
                    <a:bodyPr/>
                    <a:lstStyle/>
                    <a:p>
                      <a:pPr algn="r" fontAlgn="ctr"/>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Younger (&lt;40)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Regular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Positive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1701968471"/>
                  </a:ext>
                </a:extLst>
              </a:tr>
              <a:tr h="97699">
                <a:tc>
                  <a:txBody>
                    <a:bodyPr/>
                    <a:lstStyle/>
                    <a:p>
                      <a:pPr algn="r" fontAlgn="ctr"/>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dirty="0">
                          <a:effectLst/>
                        </a:rPr>
                        <a:t>Younger (&lt;40)</a:t>
                      </a:r>
                      <a:endParaRPr lang="en-US" sz="1100" b="0" i="0" u="none" strike="noStrike" dirty="0">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Regular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Positive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3497270688"/>
                  </a:ext>
                </a:extLst>
              </a:tr>
              <a:tr h="192860">
                <a:tc>
                  <a:txBody>
                    <a:bodyPr/>
                    <a:lstStyle/>
                    <a:p>
                      <a:pPr algn="r" fontAlgn="ctr"/>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Younger (&lt;40)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Positive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902200656"/>
                  </a:ext>
                </a:extLst>
              </a:tr>
              <a:tr h="192860">
                <a:tc>
                  <a:txBody>
                    <a:bodyPr/>
                    <a:lstStyle/>
                    <a:p>
                      <a:pPr algn="r" fontAlgn="ctr"/>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dirty="0">
                          <a:effectLst/>
                        </a:rPr>
                        <a:t>Younger (&lt;40)</a:t>
                      </a:r>
                      <a:endParaRPr lang="en-US" sz="1100" b="0" i="0" u="none" strike="noStrike" dirty="0">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dirty="0">
                          <a:effectLst/>
                        </a:rPr>
                        <a:t>Smoker</a:t>
                      </a:r>
                      <a:endParaRPr lang="en-US" sz="1100" b="0" i="0" u="none" strike="noStrike" dirty="0">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Positive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1176525758"/>
                  </a:ext>
                </a:extLst>
              </a:tr>
              <a:tr h="97699">
                <a:tc>
                  <a:txBody>
                    <a:bodyPr/>
                    <a:lstStyle/>
                    <a:p>
                      <a:pPr algn="r" fontAlgn="ctr"/>
                      <a:r>
                        <a:rPr lang="en-US" sz="1100" u="none" strike="noStrike">
                          <a:effectLst/>
                        </a:rPr>
                        <a:t>6</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Younger (&lt;40)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Non-Smoker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Regular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Positive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2119136106"/>
                  </a:ext>
                </a:extLst>
              </a:tr>
              <a:tr h="97699">
                <a:tc>
                  <a:txBody>
                    <a:bodyPr/>
                    <a:lstStyle/>
                    <a:p>
                      <a:pPr algn="r" fontAlgn="ctr"/>
                      <a:r>
                        <a:rPr lang="en-US" sz="1100" u="none" strike="noStrike">
                          <a:effectLst/>
                        </a:rPr>
                        <a:t>7</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Younger (&lt;40)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Non-Smoker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Regular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Positive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874954916"/>
                  </a:ext>
                </a:extLst>
              </a:tr>
              <a:tr h="97699">
                <a:tc>
                  <a:txBody>
                    <a:bodyPr/>
                    <a:lstStyle/>
                    <a:p>
                      <a:pPr algn="r" fontAlgn="ctr"/>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Younger (&lt;40)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Non-Smoker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Regular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Positive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1352381127"/>
                  </a:ext>
                </a:extLst>
              </a:tr>
              <a:tr h="192860">
                <a:tc>
                  <a:txBody>
                    <a:bodyPr/>
                    <a:lstStyle/>
                    <a:p>
                      <a:pPr algn="r" fontAlgn="ctr"/>
                      <a:r>
                        <a:rPr lang="en-US" sz="1100" u="none" strike="noStrike">
                          <a:effectLst/>
                        </a:rPr>
                        <a:t>9</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Younger (&lt;40)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Non-Smoker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Positive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446044888"/>
                  </a:ext>
                </a:extLst>
              </a:tr>
              <a:tr h="192860">
                <a:tc>
                  <a:txBody>
                    <a:bodyPr/>
                    <a:lstStyle/>
                    <a:p>
                      <a:pPr algn="r" fontAlgn="ctr"/>
                      <a:r>
                        <a:rPr lang="en-US" sz="1100" u="none" strike="noStrike">
                          <a:effectLst/>
                        </a:rPr>
                        <a:t>10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Younger (&lt;40)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Non-Smoker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Positive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3752521547"/>
                  </a:ext>
                </a:extLst>
              </a:tr>
              <a:tr h="192860">
                <a:tc>
                  <a:txBody>
                    <a:bodyPr/>
                    <a:lstStyle/>
                    <a:p>
                      <a:pPr algn="r" fontAlgn="ctr"/>
                      <a:r>
                        <a:rPr lang="en-US" sz="1100" u="none" strike="noStrike">
                          <a:effectLst/>
                        </a:rPr>
                        <a:t>11</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Younger (&lt;40)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Negative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153817564"/>
                  </a:ext>
                </a:extLst>
              </a:tr>
              <a:tr h="192860">
                <a:tc>
                  <a:txBody>
                    <a:bodyPr/>
                    <a:lstStyle/>
                    <a:p>
                      <a:pPr algn="r" fontAlgn="ctr"/>
                      <a:r>
                        <a:rPr lang="en-US" sz="1100" u="none" strike="noStrike">
                          <a:effectLst/>
                        </a:rPr>
                        <a:t>12</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Younger (&lt;40)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Negative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1643692874"/>
                  </a:ext>
                </a:extLst>
              </a:tr>
              <a:tr h="192860">
                <a:tc>
                  <a:txBody>
                    <a:bodyPr/>
                    <a:lstStyle/>
                    <a:p>
                      <a:pPr algn="r" fontAlgn="ctr"/>
                      <a:r>
                        <a:rPr lang="en-US" sz="1100" u="none" strike="noStrike">
                          <a:effectLst/>
                        </a:rPr>
                        <a:t>13</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Younger (&lt;40)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dirty="0">
                          <a:effectLst/>
                        </a:rPr>
                        <a:t>Non-Smoker</a:t>
                      </a:r>
                      <a:endParaRPr lang="en-US" sz="1100" b="0" i="0" u="none" strike="noStrike" dirty="0">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Negative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1965149365"/>
                  </a:ext>
                </a:extLst>
              </a:tr>
              <a:tr h="192860">
                <a:tc>
                  <a:txBody>
                    <a:bodyPr/>
                    <a:lstStyle/>
                    <a:p>
                      <a:pPr algn="r" fontAlgn="ctr"/>
                      <a:r>
                        <a:rPr lang="en-US" sz="1100" u="none" strike="noStrike">
                          <a:effectLst/>
                        </a:rPr>
                        <a:t>14</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Younger (&lt;40)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Non-Smoker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Negative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1325885907"/>
                  </a:ext>
                </a:extLst>
              </a:tr>
              <a:tr h="192860">
                <a:tc>
                  <a:txBody>
                    <a:bodyPr/>
                    <a:lstStyle/>
                    <a:p>
                      <a:pPr algn="r" fontAlgn="ctr"/>
                      <a:r>
                        <a:rPr lang="en-US" sz="1100" u="none" strike="noStrike">
                          <a:effectLst/>
                        </a:rPr>
                        <a:t>15</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Younger (&lt;40)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Non-Smoker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Negative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2435949248"/>
                  </a:ext>
                </a:extLst>
              </a:tr>
              <a:tr h="192860">
                <a:tc>
                  <a:txBody>
                    <a:bodyPr/>
                    <a:lstStyle/>
                    <a:p>
                      <a:pPr algn="r" fontAlgn="ctr"/>
                      <a:r>
                        <a:rPr lang="en-US" sz="1100" u="none" strike="noStrike">
                          <a:effectLst/>
                        </a:rPr>
                        <a:t>16</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Older (≥40)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Positive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4238517998"/>
                  </a:ext>
                </a:extLst>
              </a:tr>
              <a:tr h="192860">
                <a:tc>
                  <a:txBody>
                    <a:bodyPr/>
                    <a:lstStyle/>
                    <a:p>
                      <a:pPr algn="r" fontAlgn="ctr"/>
                      <a:r>
                        <a:rPr lang="en-US" sz="1100" u="none" strike="noStrike">
                          <a:effectLst/>
                        </a:rPr>
                        <a:t>17</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Older (≥40)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Positive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3430053074"/>
                  </a:ext>
                </a:extLst>
              </a:tr>
              <a:tr h="97699">
                <a:tc>
                  <a:txBody>
                    <a:bodyPr/>
                    <a:lstStyle/>
                    <a:p>
                      <a:pPr algn="r" fontAlgn="ctr"/>
                      <a:r>
                        <a:rPr lang="en-US" sz="1100" u="none" strike="noStrike">
                          <a:effectLst/>
                        </a:rPr>
                        <a:t>18</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Older (≥40)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Non-Smoker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Regular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Positive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577231678"/>
                  </a:ext>
                </a:extLst>
              </a:tr>
              <a:tr h="97699">
                <a:tc>
                  <a:txBody>
                    <a:bodyPr/>
                    <a:lstStyle/>
                    <a:p>
                      <a:pPr algn="r" fontAlgn="ctr"/>
                      <a:r>
                        <a:rPr lang="en-US" sz="1100" u="none" strike="noStrike">
                          <a:effectLst/>
                        </a:rPr>
                        <a:t>19</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Older (≥40)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Non-Smoker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Regular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Positive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2026130519"/>
                  </a:ext>
                </a:extLst>
              </a:tr>
              <a:tr h="192860">
                <a:tc>
                  <a:txBody>
                    <a:bodyPr/>
                    <a:lstStyle/>
                    <a:p>
                      <a:pPr algn="r" fontAlgn="ctr"/>
                      <a:r>
                        <a:rPr lang="en-US" sz="1100" u="none" strike="noStrike">
                          <a:effectLst/>
                        </a:rPr>
                        <a:t>20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Older (≥40)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Negative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3220566667"/>
                  </a:ext>
                </a:extLst>
              </a:tr>
              <a:tr h="192860">
                <a:tc>
                  <a:txBody>
                    <a:bodyPr/>
                    <a:lstStyle/>
                    <a:p>
                      <a:pPr algn="r" fontAlgn="ctr"/>
                      <a:r>
                        <a:rPr lang="en-US" sz="1100" u="none" strike="noStrike">
                          <a:effectLst/>
                        </a:rPr>
                        <a:t>21</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Older (≥40)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Negative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4109118106"/>
                  </a:ext>
                </a:extLst>
              </a:tr>
              <a:tr h="192860">
                <a:tc>
                  <a:txBody>
                    <a:bodyPr/>
                    <a:lstStyle/>
                    <a:p>
                      <a:pPr algn="r" fontAlgn="ctr"/>
                      <a:r>
                        <a:rPr lang="en-US" sz="1100" u="none" strike="noStrike">
                          <a:effectLst/>
                        </a:rPr>
                        <a:t>22</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Older (≥40)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Negative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2113772046"/>
                  </a:ext>
                </a:extLst>
              </a:tr>
              <a:tr h="192860">
                <a:tc>
                  <a:txBody>
                    <a:bodyPr/>
                    <a:lstStyle/>
                    <a:p>
                      <a:pPr algn="r" fontAlgn="ctr"/>
                      <a:r>
                        <a:rPr lang="en-US" sz="1100" u="none" strike="noStrike">
                          <a:effectLst/>
                        </a:rPr>
                        <a:t>23</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Older (≥40)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Negative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4093221159"/>
                  </a:ext>
                </a:extLst>
              </a:tr>
              <a:tr h="192860">
                <a:tc>
                  <a:txBody>
                    <a:bodyPr/>
                    <a:lstStyle/>
                    <a:p>
                      <a:pPr algn="r" fontAlgn="ctr"/>
                      <a:r>
                        <a:rPr lang="en-US" sz="1100" u="none" strike="noStrike">
                          <a:effectLst/>
                        </a:rPr>
                        <a:t>24</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Older (≥40)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Negative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2334723120"/>
                  </a:ext>
                </a:extLst>
              </a:tr>
              <a:tr h="192860">
                <a:tc>
                  <a:txBody>
                    <a:bodyPr/>
                    <a:lstStyle/>
                    <a:p>
                      <a:pPr algn="r" fontAlgn="ctr"/>
                      <a:r>
                        <a:rPr lang="en-US" sz="1100" u="none" strike="noStrike">
                          <a:effectLst/>
                        </a:rPr>
                        <a:t>25</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Older (≥40)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Negative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638208828"/>
                  </a:ext>
                </a:extLst>
              </a:tr>
              <a:tr h="192860">
                <a:tc>
                  <a:txBody>
                    <a:bodyPr/>
                    <a:lstStyle/>
                    <a:p>
                      <a:pPr algn="r" fontAlgn="ctr"/>
                      <a:r>
                        <a:rPr lang="en-US" sz="1100" u="none" strike="noStrike">
                          <a:effectLst/>
                        </a:rPr>
                        <a:t>26</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Older (≥40)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Negative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1315136989"/>
                  </a:ext>
                </a:extLst>
              </a:tr>
              <a:tr h="192860">
                <a:tc>
                  <a:txBody>
                    <a:bodyPr/>
                    <a:lstStyle/>
                    <a:p>
                      <a:pPr algn="r" fontAlgn="ctr"/>
                      <a:r>
                        <a:rPr lang="en-US" sz="1100" u="none" strike="noStrike">
                          <a:effectLst/>
                        </a:rPr>
                        <a:t>27</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Older (≥40)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Non-Smoker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Negative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989331718"/>
                  </a:ext>
                </a:extLst>
              </a:tr>
              <a:tr h="192860">
                <a:tc>
                  <a:txBody>
                    <a:bodyPr/>
                    <a:lstStyle/>
                    <a:p>
                      <a:pPr algn="r" fontAlgn="ctr"/>
                      <a:r>
                        <a:rPr lang="en-US" sz="1100" u="none" strike="noStrike">
                          <a:effectLst/>
                        </a:rPr>
                        <a:t>28</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Older (≥40)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Non-Smoker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Negative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1528963917"/>
                  </a:ext>
                </a:extLst>
              </a:tr>
              <a:tr h="192860">
                <a:tc>
                  <a:txBody>
                    <a:bodyPr/>
                    <a:lstStyle/>
                    <a:p>
                      <a:pPr algn="r" fontAlgn="ctr"/>
                      <a:r>
                        <a:rPr lang="en-US" sz="1100" u="none" strike="noStrike">
                          <a:effectLst/>
                        </a:rPr>
                        <a:t>29</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Older (≥40)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Non-Smoker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Negative</a:t>
                      </a:r>
                      <a:endParaRPr lang="en-US" sz="1100" b="0" i="0" u="none" strike="noStrike">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3204461847"/>
                  </a:ext>
                </a:extLst>
              </a:tr>
              <a:tr h="192860">
                <a:tc>
                  <a:txBody>
                    <a:bodyPr/>
                    <a:lstStyle/>
                    <a:p>
                      <a:pPr algn="r" fontAlgn="ctr"/>
                      <a:r>
                        <a:rPr lang="en-US" sz="1100" u="none" strike="noStrike">
                          <a:effectLst/>
                        </a:rPr>
                        <a:t>30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Older (≥40)</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Non-Smoker</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a:effectLst/>
                        </a:rPr>
                        <a:t>No Exercise</a:t>
                      </a:r>
                      <a:endParaRPr lang="en-US" sz="1100" b="0" i="0" u="none" strike="noStrike">
                        <a:solidFill>
                          <a:srgbClr val="000000"/>
                        </a:solidFill>
                        <a:effectLst/>
                        <a:latin typeface="Calibri" panose="020F0502020204030204" pitchFamily="34" charset="0"/>
                      </a:endParaRPr>
                    </a:p>
                  </a:txBody>
                  <a:tcPr marL="3956" marR="3956" marT="3956" marB="0" anchor="ctr"/>
                </a:tc>
                <a:tc>
                  <a:txBody>
                    <a:bodyPr/>
                    <a:lstStyle/>
                    <a:p>
                      <a:pPr algn="l" fontAlgn="ctr"/>
                      <a:r>
                        <a:rPr lang="en-US" sz="1100" u="none" strike="noStrike" dirty="0">
                          <a:effectLst/>
                        </a:rPr>
                        <a:t>Negative</a:t>
                      </a:r>
                      <a:endParaRPr lang="en-US" sz="1100" b="0" i="0" u="none" strike="noStrike" dirty="0">
                        <a:solidFill>
                          <a:srgbClr val="000000"/>
                        </a:solidFill>
                        <a:effectLst/>
                        <a:latin typeface="Calibri" panose="020F0502020204030204" pitchFamily="34" charset="0"/>
                      </a:endParaRPr>
                    </a:p>
                  </a:txBody>
                  <a:tcPr marL="3956" marR="3956" marT="3956" marB="0" anchor="ctr"/>
                </a:tc>
                <a:extLst>
                  <a:ext uri="{0D108BD9-81ED-4DB2-BD59-A6C34878D82A}">
                    <a16:rowId xmlns:a16="http://schemas.microsoft.com/office/drawing/2014/main" val="3460942109"/>
                  </a:ext>
                </a:extLst>
              </a:tr>
            </a:tbl>
          </a:graphicData>
        </a:graphic>
      </p:graphicFrame>
    </p:spTree>
    <p:extLst>
      <p:ext uri="{BB962C8B-B14F-4D97-AF65-F5344CB8AC3E}">
        <p14:creationId xmlns:p14="http://schemas.microsoft.com/office/powerpoint/2010/main" val="3641958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8623"/>
            <a:ext cx="5403209" cy="540888"/>
          </a:xfrm>
        </p:spPr>
        <p:txBody>
          <a:bodyPr>
            <a:normAutofit fontScale="90000"/>
          </a:bodyPr>
          <a:lstStyle/>
          <a:p>
            <a:r>
              <a:rPr lang="en-US" dirty="0"/>
              <a:t>Steps to calculate IG(p2):</a:t>
            </a:r>
          </a:p>
        </p:txBody>
      </p:sp>
      <p:sp>
        <p:nvSpPr>
          <p:cNvPr id="4" name="TextBox 3"/>
          <p:cNvSpPr txBox="1"/>
          <p:nvPr/>
        </p:nvSpPr>
        <p:spPr>
          <a:xfrm>
            <a:off x="562062" y="3103928"/>
            <a:ext cx="4477508" cy="3139321"/>
          </a:xfrm>
          <a:prstGeom prst="rect">
            <a:avLst/>
          </a:prstGeom>
          <a:noFill/>
        </p:spPr>
        <p:txBody>
          <a:bodyPr wrap="none" rtlCol="0">
            <a:spAutoFit/>
          </a:bodyPr>
          <a:lstStyle/>
          <a:p>
            <a:r>
              <a:rPr lang="en-US" b="1" dirty="0"/>
              <a:t>Step 1: Calculate Entropy of the Parent Node</a:t>
            </a:r>
          </a:p>
          <a:p>
            <a:endParaRPr lang="en-US" b="1" dirty="0"/>
          </a:p>
          <a:p>
            <a:r>
              <a:rPr lang="en-US" dirty="0"/>
              <a:t>positive cases(Has heart disease)  = 14</a:t>
            </a:r>
          </a:p>
          <a:p>
            <a:r>
              <a:rPr lang="en-US" dirty="0"/>
              <a:t>negative cases(Has no heart disease) = 16</a:t>
            </a:r>
          </a:p>
          <a:p>
            <a:r>
              <a:rPr lang="en-US" dirty="0"/>
              <a:t>Total case = 30</a:t>
            </a:r>
          </a:p>
          <a:p>
            <a:endParaRPr lang="en-US" dirty="0"/>
          </a:p>
          <a:p>
            <a:r>
              <a:rPr lang="en-US" dirty="0"/>
              <a:t>Entropy of parent </a:t>
            </a:r>
          </a:p>
          <a:p>
            <a:r>
              <a:rPr lang="en-US" dirty="0"/>
              <a:t>= Entropy before split </a:t>
            </a:r>
          </a:p>
          <a:p>
            <a:r>
              <a:rPr lang="en-US" dirty="0"/>
              <a:t>=  −[ (14/30 * ​log​(14/30)​ + 16/30*​log(16/30​) ]</a:t>
            </a:r>
          </a:p>
          <a:p>
            <a:r>
              <a:rPr lang="en-US" dirty="0"/>
              <a:t>= −(0.466×−1.099+0.533×−0.912) = </a:t>
            </a:r>
            <a:r>
              <a:rPr lang="en-US" b="1" dirty="0"/>
              <a:t>0.999</a:t>
            </a:r>
          </a:p>
          <a:p>
            <a:r>
              <a:rPr lang="en-US" dirty="0"/>
              <a:t>This is almost 1…so </a:t>
            </a:r>
            <a:r>
              <a:rPr lang="en-US" b="1" dirty="0"/>
              <a:t>high entropy.</a:t>
            </a:r>
          </a:p>
        </p:txBody>
      </p:sp>
      <p:sp>
        <p:nvSpPr>
          <p:cNvPr id="5" name="Rectangle 4"/>
          <p:cNvSpPr/>
          <p:nvPr/>
        </p:nvSpPr>
        <p:spPr>
          <a:xfrm>
            <a:off x="1610686" y="956345"/>
            <a:ext cx="2994870" cy="1728132"/>
          </a:xfrm>
          <a:prstGeom prst="rect">
            <a:avLst/>
          </a:prstGeom>
          <a:solidFill>
            <a:schemeClr val="bg1"/>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lus 7"/>
          <p:cNvSpPr/>
          <p:nvPr/>
        </p:nvSpPr>
        <p:spPr>
          <a:xfrm>
            <a:off x="1795244" y="10654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Minus 8"/>
          <p:cNvSpPr/>
          <p:nvPr/>
        </p:nvSpPr>
        <p:spPr>
          <a:xfrm>
            <a:off x="2877423" y="10234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lus 9"/>
          <p:cNvSpPr/>
          <p:nvPr/>
        </p:nvSpPr>
        <p:spPr>
          <a:xfrm>
            <a:off x="1947644" y="12178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lus 10"/>
          <p:cNvSpPr/>
          <p:nvPr/>
        </p:nvSpPr>
        <p:spPr>
          <a:xfrm>
            <a:off x="2100044" y="13702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lus 11"/>
          <p:cNvSpPr/>
          <p:nvPr/>
        </p:nvSpPr>
        <p:spPr>
          <a:xfrm>
            <a:off x="2252444" y="15226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lus 12"/>
          <p:cNvSpPr/>
          <p:nvPr/>
        </p:nvSpPr>
        <p:spPr>
          <a:xfrm>
            <a:off x="2404844" y="16750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lus 13"/>
          <p:cNvSpPr/>
          <p:nvPr/>
        </p:nvSpPr>
        <p:spPr>
          <a:xfrm>
            <a:off x="2557244" y="18274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lus 14"/>
          <p:cNvSpPr/>
          <p:nvPr/>
        </p:nvSpPr>
        <p:spPr>
          <a:xfrm>
            <a:off x="2709644" y="19798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lus 15"/>
          <p:cNvSpPr/>
          <p:nvPr/>
        </p:nvSpPr>
        <p:spPr>
          <a:xfrm>
            <a:off x="2862044" y="21322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lus 16"/>
          <p:cNvSpPr/>
          <p:nvPr/>
        </p:nvSpPr>
        <p:spPr>
          <a:xfrm>
            <a:off x="3014444" y="22846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lus 18"/>
          <p:cNvSpPr/>
          <p:nvPr/>
        </p:nvSpPr>
        <p:spPr>
          <a:xfrm>
            <a:off x="3166844" y="24370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lus 19"/>
          <p:cNvSpPr/>
          <p:nvPr/>
        </p:nvSpPr>
        <p:spPr>
          <a:xfrm>
            <a:off x="2186729" y="1037437"/>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lus 20"/>
          <p:cNvSpPr/>
          <p:nvPr/>
        </p:nvSpPr>
        <p:spPr>
          <a:xfrm>
            <a:off x="2362898" y="1196828"/>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lus 21"/>
          <p:cNvSpPr/>
          <p:nvPr/>
        </p:nvSpPr>
        <p:spPr>
          <a:xfrm>
            <a:off x="2515298" y="1349228"/>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Plus 22"/>
          <p:cNvSpPr/>
          <p:nvPr/>
        </p:nvSpPr>
        <p:spPr>
          <a:xfrm>
            <a:off x="2667698" y="1501628"/>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Minus 23"/>
          <p:cNvSpPr/>
          <p:nvPr/>
        </p:nvSpPr>
        <p:spPr>
          <a:xfrm>
            <a:off x="3029823" y="11758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Minus 24"/>
          <p:cNvSpPr/>
          <p:nvPr/>
        </p:nvSpPr>
        <p:spPr>
          <a:xfrm>
            <a:off x="3182223" y="13282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Minus 25"/>
          <p:cNvSpPr/>
          <p:nvPr/>
        </p:nvSpPr>
        <p:spPr>
          <a:xfrm>
            <a:off x="3334623" y="14806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Minus 26"/>
          <p:cNvSpPr/>
          <p:nvPr/>
        </p:nvSpPr>
        <p:spPr>
          <a:xfrm>
            <a:off x="3487023" y="16330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Minus 27"/>
          <p:cNvSpPr/>
          <p:nvPr/>
        </p:nvSpPr>
        <p:spPr>
          <a:xfrm>
            <a:off x="3639423" y="17854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Minus 28"/>
          <p:cNvSpPr/>
          <p:nvPr/>
        </p:nvSpPr>
        <p:spPr>
          <a:xfrm>
            <a:off x="3791823" y="19378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Minus 29"/>
          <p:cNvSpPr/>
          <p:nvPr/>
        </p:nvSpPr>
        <p:spPr>
          <a:xfrm>
            <a:off x="3944223" y="20902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Minus 30"/>
          <p:cNvSpPr/>
          <p:nvPr/>
        </p:nvSpPr>
        <p:spPr>
          <a:xfrm>
            <a:off x="4096623" y="22426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Minus 31"/>
          <p:cNvSpPr/>
          <p:nvPr/>
        </p:nvSpPr>
        <p:spPr>
          <a:xfrm>
            <a:off x="4249023" y="23950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Minus 32"/>
          <p:cNvSpPr/>
          <p:nvPr/>
        </p:nvSpPr>
        <p:spPr>
          <a:xfrm>
            <a:off x="4401423" y="25474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Minus 33"/>
          <p:cNvSpPr/>
          <p:nvPr/>
        </p:nvSpPr>
        <p:spPr>
          <a:xfrm>
            <a:off x="3270306" y="10304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Minus 34"/>
          <p:cNvSpPr/>
          <p:nvPr/>
        </p:nvSpPr>
        <p:spPr>
          <a:xfrm>
            <a:off x="3422706" y="11828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Minus 35"/>
          <p:cNvSpPr/>
          <p:nvPr/>
        </p:nvSpPr>
        <p:spPr>
          <a:xfrm>
            <a:off x="3575106" y="13352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Minus 36"/>
          <p:cNvSpPr/>
          <p:nvPr/>
        </p:nvSpPr>
        <p:spPr>
          <a:xfrm>
            <a:off x="3727506" y="14876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Minus 37"/>
          <p:cNvSpPr/>
          <p:nvPr/>
        </p:nvSpPr>
        <p:spPr>
          <a:xfrm>
            <a:off x="3879906" y="16400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Minus 38"/>
          <p:cNvSpPr/>
          <p:nvPr/>
        </p:nvSpPr>
        <p:spPr>
          <a:xfrm>
            <a:off x="4032306" y="17924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8830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8623"/>
            <a:ext cx="5403209" cy="540888"/>
          </a:xfrm>
        </p:spPr>
        <p:txBody>
          <a:bodyPr>
            <a:normAutofit fontScale="90000"/>
          </a:bodyPr>
          <a:lstStyle/>
          <a:p>
            <a:r>
              <a:rPr lang="en-US" dirty="0"/>
              <a:t>Steps to calculate IG(p3):</a:t>
            </a:r>
          </a:p>
        </p:txBody>
      </p:sp>
      <p:sp>
        <p:nvSpPr>
          <p:cNvPr id="4" name="TextBox 3"/>
          <p:cNvSpPr txBox="1"/>
          <p:nvPr/>
        </p:nvSpPr>
        <p:spPr>
          <a:xfrm>
            <a:off x="4773340" y="1201036"/>
            <a:ext cx="6917307" cy="923330"/>
          </a:xfrm>
          <a:prstGeom prst="rect">
            <a:avLst/>
          </a:prstGeom>
          <a:noFill/>
        </p:spPr>
        <p:txBody>
          <a:bodyPr wrap="square" rtlCol="0">
            <a:spAutoFit/>
          </a:bodyPr>
          <a:lstStyle/>
          <a:p>
            <a:r>
              <a:rPr lang="en-US" b="1" dirty="0"/>
              <a:t>Split 1: Based on Age Group (Younger vs. Older)</a:t>
            </a:r>
          </a:p>
          <a:p>
            <a:r>
              <a:rPr lang="en-US" dirty="0"/>
              <a:t>We split the data based on whether a person is younger (&lt;40 years) or older (≥40 years).</a:t>
            </a:r>
          </a:p>
        </p:txBody>
      </p:sp>
      <p:sp>
        <p:nvSpPr>
          <p:cNvPr id="5" name="Rectangle 4"/>
          <p:cNvSpPr/>
          <p:nvPr/>
        </p:nvSpPr>
        <p:spPr>
          <a:xfrm>
            <a:off x="1610686" y="956345"/>
            <a:ext cx="2994870" cy="1728132"/>
          </a:xfrm>
          <a:prstGeom prst="rect">
            <a:avLst/>
          </a:prstGeom>
          <a:solidFill>
            <a:schemeClr val="bg1"/>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lus 7"/>
          <p:cNvSpPr/>
          <p:nvPr/>
        </p:nvSpPr>
        <p:spPr>
          <a:xfrm>
            <a:off x="1795244" y="10654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Minus 8"/>
          <p:cNvSpPr/>
          <p:nvPr/>
        </p:nvSpPr>
        <p:spPr>
          <a:xfrm>
            <a:off x="2877423" y="10234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lus 9"/>
          <p:cNvSpPr/>
          <p:nvPr/>
        </p:nvSpPr>
        <p:spPr>
          <a:xfrm>
            <a:off x="1947644" y="12178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lus 10"/>
          <p:cNvSpPr/>
          <p:nvPr/>
        </p:nvSpPr>
        <p:spPr>
          <a:xfrm>
            <a:off x="2100044" y="13702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lus 11"/>
          <p:cNvSpPr/>
          <p:nvPr/>
        </p:nvSpPr>
        <p:spPr>
          <a:xfrm>
            <a:off x="2252444" y="15226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lus 12"/>
          <p:cNvSpPr/>
          <p:nvPr/>
        </p:nvSpPr>
        <p:spPr>
          <a:xfrm>
            <a:off x="2404844" y="16750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lus 13"/>
          <p:cNvSpPr/>
          <p:nvPr/>
        </p:nvSpPr>
        <p:spPr>
          <a:xfrm>
            <a:off x="2557244" y="18274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lus 14"/>
          <p:cNvSpPr/>
          <p:nvPr/>
        </p:nvSpPr>
        <p:spPr>
          <a:xfrm>
            <a:off x="2709644" y="19798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lus 15"/>
          <p:cNvSpPr/>
          <p:nvPr/>
        </p:nvSpPr>
        <p:spPr>
          <a:xfrm>
            <a:off x="2862044" y="21322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lus 16"/>
          <p:cNvSpPr/>
          <p:nvPr/>
        </p:nvSpPr>
        <p:spPr>
          <a:xfrm>
            <a:off x="3014444" y="22846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lus 18"/>
          <p:cNvSpPr/>
          <p:nvPr/>
        </p:nvSpPr>
        <p:spPr>
          <a:xfrm>
            <a:off x="3166844" y="24370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lus 19"/>
          <p:cNvSpPr/>
          <p:nvPr/>
        </p:nvSpPr>
        <p:spPr>
          <a:xfrm>
            <a:off x="2186729" y="1037437"/>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lus 20"/>
          <p:cNvSpPr/>
          <p:nvPr/>
        </p:nvSpPr>
        <p:spPr>
          <a:xfrm>
            <a:off x="2362898" y="1196828"/>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lus 21"/>
          <p:cNvSpPr/>
          <p:nvPr/>
        </p:nvSpPr>
        <p:spPr>
          <a:xfrm>
            <a:off x="2515298" y="1349228"/>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Plus 22"/>
          <p:cNvSpPr/>
          <p:nvPr/>
        </p:nvSpPr>
        <p:spPr>
          <a:xfrm>
            <a:off x="2667698" y="1501628"/>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Minus 23"/>
          <p:cNvSpPr/>
          <p:nvPr/>
        </p:nvSpPr>
        <p:spPr>
          <a:xfrm>
            <a:off x="3029823" y="11758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Minus 24"/>
          <p:cNvSpPr/>
          <p:nvPr/>
        </p:nvSpPr>
        <p:spPr>
          <a:xfrm>
            <a:off x="3182223" y="13282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Minus 25"/>
          <p:cNvSpPr/>
          <p:nvPr/>
        </p:nvSpPr>
        <p:spPr>
          <a:xfrm>
            <a:off x="3334623" y="14806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Minus 26"/>
          <p:cNvSpPr/>
          <p:nvPr/>
        </p:nvSpPr>
        <p:spPr>
          <a:xfrm>
            <a:off x="3487023" y="16330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Minus 27"/>
          <p:cNvSpPr/>
          <p:nvPr/>
        </p:nvSpPr>
        <p:spPr>
          <a:xfrm>
            <a:off x="3639423" y="17854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Minus 28"/>
          <p:cNvSpPr/>
          <p:nvPr/>
        </p:nvSpPr>
        <p:spPr>
          <a:xfrm>
            <a:off x="3791823" y="19378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Minus 29"/>
          <p:cNvSpPr/>
          <p:nvPr/>
        </p:nvSpPr>
        <p:spPr>
          <a:xfrm>
            <a:off x="3944223" y="20902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Minus 30"/>
          <p:cNvSpPr/>
          <p:nvPr/>
        </p:nvSpPr>
        <p:spPr>
          <a:xfrm>
            <a:off x="4096623" y="22426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Minus 31"/>
          <p:cNvSpPr/>
          <p:nvPr/>
        </p:nvSpPr>
        <p:spPr>
          <a:xfrm>
            <a:off x="4249023" y="23950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Minus 32"/>
          <p:cNvSpPr/>
          <p:nvPr/>
        </p:nvSpPr>
        <p:spPr>
          <a:xfrm>
            <a:off x="4401423" y="25474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Minus 33"/>
          <p:cNvSpPr/>
          <p:nvPr/>
        </p:nvSpPr>
        <p:spPr>
          <a:xfrm>
            <a:off x="3270306" y="10304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Minus 34"/>
          <p:cNvSpPr/>
          <p:nvPr/>
        </p:nvSpPr>
        <p:spPr>
          <a:xfrm>
            <a:off x="3422706" y="11828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Minus 35"/>
          <p:cNvSpPr/>
          <p:nvPr/>
        </p:nvSpPr>
        <p:spPr>
          <a:xfrm>
            <a:off x="3575106" y="13352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Minus 36"/>
          <p:cNvSpPr/>
          <p:nvPr/>
        </p:nvSpPr>
        <p:spPr>
          <a:xfrm>
            <a:off x="3727506" y="14876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Minus 37"/>
          <p:cNvSpPr/>
          <p:nvPr/>
        </p:nvSpPr>
        <p:spPr>
          <a:xfrm>
            <a:off x="3879906" y="16400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Minus 38"/>
          <p:cNvSpPr/>
          <p:nvPr/>
        </p:nvSpPr>
        <p:spPr>
          <a:xfrm>
            <a:off x="4032306" y="17924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p:cNvGraphicFramePr>
            <a:graphicFrameLocks noGrp="1"/>
          </p:cNvGraphicFramePr>
          <p:nvPr>
            <p:extLst>
              <p:ext uri="{D42A27DB-BD31-4B8C-83A1-F6EECF244321}">
                <p14:modId xmlns:p14="http://schemas.microsoft.com/office/powerpoint/2010/main" val="4203563239"/>
              </p:ext>
            </p:extLst>
          </p:nvPr>
        </p:nvGraphicFramePr>
        <p:xfrm>
          <a:off x="6771901" y="2159173"/>
          <a:ext cx="3619500" cy="1143000"/>
        </p:xfrm>
        <a:graphic>
          <a:graphicData uri="http://schemas.openxmlformats.org/drawingml/2006/table">
            <a:tbl>
              <a:tblPr>
                <a:tableStyleId>{5C22544A-7EE6-4342-B048-85BDC9FD1C3A}</a:tableStyleId>
              </a:tblPr>
              <a:tblGrid>
                <a:gridCol w="965200">
                  <a:extLst>
                    <a:ext uri="{9D8B030D-6E8A-4147-A177-3AD203B41FA5}">
                      <a16:colId xmlns:a16="http://schemas.microsoft.com/office/drawing/2014/main" val="2372354148"/>
                    </a:ext>
                  </a:extLst>
                </a:gridCol>
                <a:gridCol w="901700">
                  <a:extLst>
                    <a:ext uri="{9D8B030D-6E8A-4147-A177-3AD203B41FA5}">
                      <a16:colId xmlns:a16="http://schemas.microsoft.com/office/drawing/2014/main" val="134270633"/>
                    </a:ext>
                  </a:extLst>
                </a:gridCol>
                <a:gridCol w="1143000">
                  <a:extLst>
                    <a:ext uri="{9D8B030D-6E8A-4147-A177-3AD203B41FA5}">
                      <a16:colId xmlns:a16="http://schemas.microsoft.com/office/drawing/2014/main" val="3731710336"/>
                    </a:ext>
                  </a:extLst>
                </a:gridCol>
                <a:gridCol w="609600">
                  <a:extLst>
                    <a:ext uri="{9D8B030D-6E8A-4147-A177-3AD203B41FA5}">
                      <a16:colId xmlns:a16="http://schemas.microsoft.com/office/drawing/2014/main" val="3512902301"/>
                    </a:ext>
                  </a:extLst>
                </a:gridCol>
              </a:tblGrid>
              <a:tr h="381000">
                <a:tc>
                  <a:txBody>
                    <a:bodyPr/>
                    <a:lstStyle/>
                    <a:p>
                      <a:pPr algn="ctr" fontAlgn="ctr"/>
                      <a:r>
                        <a:rPr lang="en-US" sz="1100" u="none" strike="noStrike" dirty="0">
                          <a:effectLst/>
                        </a:rPr>
                        <a:t>Age Group</a:t>
                      </a:r>
                      <a:endParaRPr lang="en-US"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u="none" strike="noStrike" dirty="0">
                          <a:effectLst/>
                        </a:rPr>
                        <a:t>Positive Cases</a:t>
                      </a:r>
                      <a:endParaRPr lang="en-US"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u="none" strike="noStrike">
                          <a:effectLst/>
                        </a:rPr>
                        <a:t>Negative Cases</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u="none" strike="noStrike">
                          <a:effectLst/>
                        </a:rPr>
                        <a:t>Total</a:t>
                      </a:r>
                      <a:endParaRPr lang="en-US" sz="1100" b="1"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76445769"/>
                  </a:ext>
                </a:extLst>
              </a:tr>
              <a:tr h="381000">
                <a:tc>
                  <a:txBody>
                    <a:bodyPr/>
                    <a:lstStyle/>
                    <a:p>
                      <a:pPr algn="l" fontAlgn="ctr"/>
                      <a:r>
                        <a:rPr lang="en-US" sz="1100" u="none" strike="noStrike">
                          <a:effectLst/>
                        </a:rPr>
                        <a:t>Younger (&lt;40)</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dirty="0">
                          <a:effectLst/>
                        </a:rPr>
                        <a:t>10</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a:effectLst/>
                        </a:rPr>
                        <a:t>15</a:t>
                      </a:r>
                      <a:endParaRPr lang="en-US"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71854100"/>
                  </a:ext>
                </a:extLst>
              </a:tr>
              <a:tr h="381000">
                <a:tc>
                  <a:txBody>
                    <a:bodyPr/>
                    <a:lstStyle/>
                    <a:p>
                      <a:pPr algn="l" fontAlgn="ctr"/>
                      <a:r>
                        <a:rPr lang="en-US" sz="1100" u="none" strike="noStrike">
                          <a:effectLst/>
                        </a:rPr>
                        <a:t>Older (≥40)</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a:effectLst/>
                        </a:rPr>
                        <a:t>11</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dirty="0">
                          <a:effectLst/>
                        </a:rPr>
                        <a:t>15</a:t>
                      </a: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8449450"/>
                  </a:ext>
                </a:extLst>
              </a:tr>
            </a:tbl>
          </a:graphicData>
        </a:graphic>
      </p:graphicFrame>
      <p:sp>
        <p:nvSpPr>
          <p:cNvPr id="6" name="TextBox 5"/>
          <p:cNvSpPr txBox="1"/>
          <p:nvPr/>
        </p:nvSpPr>
        <p:spPr>
          <a:xfrm>
            <a:off x="352336" y="620783"/>
            <a:ext cx="6644081" cy="369332"/>
          </a:xfrm>
          <a:prstGeom prst="rect">
            <a:avLst/>
          </a:prstGeom>
          <a:noFill/>
        </p:spPr>
        <p:txBody>
          <a:bodyPr wrap="square" rtlCol="0">
            <a:spAutoFit/>
          </a:bodyPr>
          <a:lstStyle/>
          <a:p>
            <a:r>
              <a:rPr lang="en-US" b="1" dirty="0"/>
              <a:t>Step 2: Perform 3 Different Splits &amp; Calculate Information Gain</a:t>
            </a:r>
          </a:p>
        </p:txBody>
      </p:sp>
      <p:sp>
        <p:nvSpPr>
          <p:cNvPr id="7" name="TextBox 6"/>
          <p:cNvSpPr txBox="1"/>
          <p:nvPr/>
        </p:nvSpPr>
        <p:spPr>
          <a:xfrm>
            <a:off x="5050564" y="3478136"/>
            <a:ext cx="4388958" cy="3293209"/>
          </a:xfrm>
          <a:prstGeom prst="rect">
            <a:avLst/>
          </a:prstGeom>
          <a:noFill/>
        </p:spPr>
        <p:txBody>
          <a:bodyPr wrap="none" rtlCol="0">
            <a:spAutoFit/>
          </a:bodyPr>
          <a:lstStyle/>
          <a:p>
            <a:r>
              <a:rPr lang="en-US" sz="1600" dirty="0"/>
              <a:t>Entropy of younger Node </a:t>
            </a:r>
          </a:p>
          <a:p>
            <a:r>
              <a:rPr lang="en-US" sz="1600" dirty="0"/>
              <a:t>= −[10/15 * ​log​(10/15)​+5/15*​log(5/15​) ]</a:t>
            </a:r>
          </a:p>
          <a:p>
            <a:r>
              <a:rPr lang="en-US" sz="1600" dirty="0"/>
              <a:t>= −(0.666×−0.585+0.333×−1.585) = 0.918 </a:t>
            </a:r>
          </a:p>
          <a:p>
            <a:r>
              <a:rPr lang="en-US" sz="1600" dirty="0"/>
              <a:t>Entropy of older Node </a:t>
            </a:r>
          </a:p>
          <a:p>
            <a:r>
              <a:rPr lang="en-US" sz="1600" dirty="0"/>
              <a:t>= −[4/15 * ​log​(4/15)​+11/15*​log(11/15​) ] </a:t>
            </a:r>
          </a:p>
          <a:p>
            <a:r>
              <a:rPr lang="en-US" sz="1600" dirty="0"/>
              <a:t>=  −(0.266×−1.907+0.733×−0.448) = 0.836</a:t>
            </a:r>
          </a:p>
          <a:p>
            <a:r>
              <a:rPr lang="en-US" sz="1600" dirty="0"/>
              <a:t> </a:t>
            </a:r>
          </a:p>
          <a:p>
            <a:r>
              <a:rPr lang="en-US" sz="1600" dirty="0"/>
              <a:t>Entropy after split on Age group </a:t>
            </a:r>
          </a:p>
          <a:p>
            <a:r>
              <a:rPr lang="en-US" sz="1600" dirty="0"/>
              <a:t>= (15/30​×0.918)+(15/30​×0.836) = 0.877</a:t>
            </a:r>
          </a:p>
          <a:p>
            <a:endParaRPr lang="en-US" sz="1600" dirty="0"/>
          </a:p>
          <a:p>
            <a:r>
              <a:rPr lang="en-US" sz="1600" dirty="0"/>
              <a:t>Info gain = Entropy before split - Entropy after split</a:t>
            </a:r>
          </a:p>
          <a:p>
            <a:r>
              <a:rPr lang="en-US" sz="1600" dirty="0"/>
              <a:t>= Entropy of parent - Entropy after split</a:t>
            </a:r>
          </a:p>
          <a:p>
            <a:r>
              <a:rPr lang="en-US" sz="1600" dirty="0"/>
              <a:t>= 0.999−0.877= </a:t>
            </a:r>
            <a:r>
              <a:rPr lang="en-US" sz="1600" b="1" dirty="0"/>
              <a:t>0.122</a:t>
            </a:r>
          </a:p>
        </p:txBody>
      </p:sp>
      <p:sp>
        <p:nvSpPr>
          <p:cNvPr id="40" name="Rectangle 39"/>
          <p:cNvSpPr/>
          <p:nvPr/>
        </p:nvSpPr>
        <p:spPr>
          <a:xfrm>
            <a:off x="580237" y="3138883"/>
            <a:ext cx="1626068" cy="1508618"/>
          </a:xfrm>
          <a:prstGeom prst="rect">
            <a:avLst/>
          </a:prstGeom>
          <a:solidFill>
            <a:schemeClr val="bg1"/>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a:off x="2871832" y="3131892"/>
            <a:ext cx="1626068" cy="1508618"/>
          </a:xfrm>
          <a:prstGeom prst="rect">
            <a:avLst/>
          </a:prstGeom>
          <a:solidFill>
            <a:schemeClr val="bg1"/>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Plus 41"/>
          <p:cNvSpPr/>
          <p:nvPr/>
        </p:nvSpPr>
        <p:spPr>
          <a:xfrm>
            <a:off x="693487" y="32773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lus 43"/>
          <p:cNvSpPr/>
          <p:nvPr/>
        </p:nvSpPr>
        <p:spPr>
          <a:xfrm>
            <a:off x="845887" y="34297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Plus 44"/>
          <p:cNvSpPr/>
          <p:nvPr/>
        </p:nvSpPr>
        <p:spPr>
          <a:xfrm>
            <a:off x="998287" y="35821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lus 45"/>
          <p:cNvSpPr/>
          <p:nvPr/>
        </p:nvSpPr>
        <p:spPr>
          <a:xfrm>
            <a:off x="1150687" y="37345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Plus 46"/>
          <p:cNvSpPr/>
          <p:nvPr/>
        </p:nvSpPr>
        <p:spPr>
          <a:xfrm>
            <a:off x="1303087" y="38869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Plus 47"/>
          <p:cNvSpPr/>
          <p:nvPr/>
        </p:nvSpPr>
        <p:spPr>
          <a:xfrm>
            <a:off x="1455487" y="40393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Plus 48"/>
          <p:cNvSpPr/>
          <p:nvPr/>
        </p:nvSpPr>
        <p:spPr>
          <a:xfrm>
            <a:off x="1607887" y="41917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Plus 49"/>
          <p:cNvSpPr/>
          <p:nvPr/>
        </p:nvSpPr>
        <p:spPr>
          <a:xfrm>
            <a:off x="1760287" y="43441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Plus 50"/>
          <p:cNvSpPr/>
          <p:nvPr/>
        </p:nvSpPr>
        <p:spPr>
          <a:xfrm>
            <a:off x="1912687" y="44965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Plus 51"/>
          <p:cNvSpPr/>
          <p:nvPr/>
        </p:nvSpPr>
        <p:spPr>
          <a:xfrm>
            <a:off x="1075185" y="3935835"/>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Minus 52"/>
          <p:cNvSpPr/>
          <p:nvPr/>
        </p:nvSpPr>
        <p:spPr>
          <a:xfrm>
            <a:off x="1139500" y="322836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Minus 53"/>
          <p:cNvSpPr/>
          <p:nvPr/>
        </p:nvSpPr>
        <p:spPr>
          <a:xfrm>
            <a:off x="1291900" y="338076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Minus 54"/>
          <p:cNvSpPr/>
          <p:nvPr/>
        </p:nvSpPr>
        <p:spPr>
          <a:xfrm>
            <a:off x="1444300" y="353316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Minus 55"/>
          <p:cNvSpPr/>
          <p:nvPr/>
        </p:nvSpPr>
        <p:spPr>
          <a:xfrm>
            <a:off x="1596700" y="368556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Minus 56"/>
          <p:cNvSpPr/>
          <p:nvPr/>
        </p:nvSpPr>
        <p:spPr>
          <a:xfrm>
            <a:off x="1749100" y="383796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Plus 57"/>
          <p:cNvSpPr/>
          <p:nvPr/>
        </p:nvSpPr>
        <p:spPr>
          <a:xfrm>
            <a:off x="2933350" y="3185021"/>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Plus 58"/>
          <p:cNvSpPr/>
          <p:nvPr/>
        </p:nvSpPr>
        <p:spPr>
          <a:xfrm>
            <a:off x="3085750" y="3337421"/>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Plus 59"/>
          <p:cNvSpPr/>
          <p:nvPr/>
        </p:nvSpPr>
        <p:spPr>
          <a:xfrm>
            <a:off x="3238150" y="3489821"/>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Plus 60"/>
          <p:cNvSpPr/>
          <p:nvPr/>
        </p:nvSpPr>
        <p:spPr>
          <a:xfrm>
            <a:off x="3390550" y="3642221"/>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Minus 69"/>
          <p:cNvSpPr/>
          <p:nvPr/>
        </p:nvSpPr>
        <p:spPr>
          <a:xfrm>
            <a:off x="3245139" y="3186419"/>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Minus 70"/>
          <p:cNvSpPr/>
          <p:nvPr/>
        </p:nvSpPr>
        <p:spPr>
          <a:xfrm>
            <a:off x="3397539" y="3338819"/>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Minus 71"/>
          <p:cNvSpPr/>
          <p:nvPr/>
        </p:nvSpPr>
        <p:spPr>
          <a:xfrm>
            <a:off x="3549939" y="3491219"/>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Minus 72"/>
          <p:cNvSpPr/>
          <p:nvPr/>
        </p:nvSpPr>
        <p:spPr>
          <a:xfrm>
            <a:off x="3702339" y="3643619"/>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Minus 73"/>
          <p:cNvSpPr/>
          <p:nvPr/>
        </p:nvSpPr>
        <p:spPr>
          <a:xfrm>
            <a:off x="3854739" y="3796019"/>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Minus 74"/>
          <p:cNvSpPr/>
          <p:nvPr/>
        </p:nvSpPr>
        <p:spPr>
          <a:xfrm>
            <a:off x="4007139" y="3948419"/>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Minus 75"/>
          <p:cNvSpPr/>
          <p:nvPr/>
        </p:nvSpPr>
        <p:spPr>
          <a:xfrm>
            <a:off x="4159539" y="4100819"/>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Minus 76"/>
          <p:cNvSpPr/>
          <p:nvPr/>
        </p:nvSpPr>
        <p:spPr>
          <a:xfrm>
            <a:off x="4311939" y="4253219"/>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Minus 77"/>
          <p:cNvSpPr/>
          <p:nvPr/>
        </p:nvSpPr>
        <p:spPr>
          <a:xfrm>
            <a:off x="3868720" y="3323438"/>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Minus 78"/>
          <p:cNvSpPr/>
          <p:nvPr/>
        </p:nvSpPr>
        <p:spPr>
          <a:xfrm>
            <a:off x="4121788" y="3442282"/>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Minus 79"/>
          <p:cNvSpPr/>
          <p:nvPr/>
        </p:nvSpPr>
        <p:spPr>
          <a:xfrm>
            <a:off x="3628235" y="3192010"/>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p:cNvCxnSpPr/>
          <p:nvPr/>
        </p:nvCxnSpPr>
        <p:spPr>
          <a:xfrm flipH="1">
            <a:off x="1795244" y="2723626"/>
            <a:ext cx="320180" cy="2880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3014444" y="2808916"/>
            <a:ext cx="167779" cy="2556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677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8623"/>
            <a:ext cx="5403209" cy="540888"/>
          </a:xfrm>
        </p:spPr>
        <p:txBody>
          <a:bodyPr>
            <a:normAutofit fontScale="90000"/>
          </a:bodyPr>
          <a:lstStyle/>
          <a:p>
            <a:r>
              <a:rPr lang="en-US" dirty="0"/>
              <a:t>Steps to calculate IG(p4):</a:t>
            </a:r>
          </a:p>
        </p:txBody>
      </p:sp>
      <p:sp>
        <p:nvSpPr>
          <p:cNvPr id="4" name="TextBox 3"/>
          <p:cNvSpPr txBox="1"/>
          <p:nvPr/>
        </p:nvSpPr>
        <p:spPr>
          <a:xfrm>
            <a:off x="4773340" y="1201036"/>
            <a:ext cx="6917307" cy="646331"/>
          </a:xfrm>
          <a:prstGeom prst="rect">
            <a:avLst/>
          </a:prstGeom>
          <a:noFill/>
        </p:spPr>
        <p:txBody>
          <a:bodyPr wrap="square" rtlCol="0">
            <a:spAutoFit/>
          </a:bodyPr>
          <a:lstStyle/>
          <a:p>
            <a:r>
              <a:rPr lang="en-US" b="1" dirty="0"/>
              <a:t>Split 2: Based on Smoking Status (Smoker vs. Non-Smoker)</a:t>
            </a:r>
          </a:p>
          <a:p>
            <a:r>
              <a:rPr lang="en-US" dirty="0"/>
              <a:t>We split the data based on whether a person is smoker or not</a:t>
            </a:r>
          </a:p>
        </p:txBody>
      </p:sp>
      <p:sp>
        <p:nvSpPr>
          <p:cNvPr id="5" name="Rectangle 4"/>
          <p:cNvSpPr/>
          <p:nvPr/>
        </p:nvSpPr>
        <p:spPr>
          <a:xfrm>
            <a:off x="1610686" y="956345"/>
            <a:ext cx="2994870" cy="1728132"/>
          </a:xfrm>
          <a:prstGeom prst="rect">
            <a:avLst/>
          </a:prstGeom>
          <a:solidFill>
            <a:schemeClr val="bg1"/>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lus 7"/>
          <p:cNvSpPr/>
          <p:nvPr/>
        </p:nvSpPr>
        <p:spPr>
          <a:xfrm>
            <a:off x="1795244" y="10654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Minus 8"/>
          <p:cNvSpPr/>
          <p:nvPr/>
        </p:nvSpPr>
        <p:spPr>
          <a:xfrm>
            <a:off x="2877423" y="10234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lus 9"/>
          <p:cNvSpPr/>
          <p:nvPr/>
        </p:nvSpPr>
        <p:spPr>
          <a:xfrm>
            <a:off x="1947644" y="12178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lus 10"/>
          <p:cNvSpPr/>
          <p:nvPr/>
        </p:nvSpPr>
        <p:spPr>
          <a:xfrm>
            <a:off x="2100044" y="13702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lus 11"/>
          <p:cNvSpPr/>
          <p:nvPr/>
        </p:nvSpPr>
        <p:spPr>
          <a:xfrm>
            <a:off x="2252444" y="15226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lus 12"/>
          <p:cNvSpPr/>
          <p:nvPr/>
        </p:nvSpPr>
        <p:spPr>
          <a:xfrm>
            <a:off x="2404844" y="16750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lus 13"/>
          <p:cNvSpPr/>
          <p:nvPr/>
        </p:nvSpPr>
        <p:spPr>
          <a:xfrm>
            <a:off x="2557244" y="18274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lus 14"/>
          <p:cNvSpPr/>
          <p:nvPr/>
        </p:nvSpPr>
        <p:spPr>
          <a:xfrm>
            <a:off x="2709644" y="19798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lus 15"/>
          <p:cNvSpPr/>
          <p:nvPr/>
        </p:nvSpPr>
        <p:spPr>
          <a:xfrm>
            <a:off x="2862044" y="21322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lus 16"/>
          <p:cNvSpPr/>
          <p:nvPr/>
        </p:nvSpPr>
        <p:spPr>
          <a:xfrm>
            <a:off x="3014444" y="22846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lus 18"/>
          <p:cNvSpPr/>
          <p:nvPr/>
        </p:nvSpPr>
        <p:spPr>
          <a:xfrm>
            <a:off x="3166844" y="24370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lus 19"/>
          <p:cNvSpPr/>
          <p:nvPr/>
        </p:nvSpPr>
        <p:spPr>
          <a:xfrm>
            <a:off x="2186729" y="1037437"/>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lus 20"/>
          <p:cNvSpPr/>
          <p:nvPr/>
        </p:nvSpPr>
        <p:spPr>
          <a:xfrm>
            <a:off x="2362898" y="1196828"/>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lus 21"/>
          <p:cNvSpPr/>
          <p:nvPr/>
        </p:nvSpPr>
        <p:spPr>
          <a:xfrm>
            <a:off x="2515298" y="1349228"/>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Plus 22"/>
          <p:cNvSpPr/>
          <p:nvPr/>
        </p:nvSpPr>
        <p:spPr>
          <a:xfrm>
            <a:off x="2667698" y="1501628"/>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Minus 23"/>
          <p:cNvSpPr/>
          <p:nvPr/>
        </p:nvSpPr>
        <p:spPr>
          <a:xfrm>
            <a:off x="3029823" y="11758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Minus 24"/>
          <p:cNvSpPr/>
          <p:nvPr/>
        </p:nvSpPr>
        <p:spPr>
          <a:xfrm>
            <a:off x="3182223" y="13282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Minus 25"/>
          <p:cNvSpPr/>
          <p:nvPr/>
        </p:nvSpPr>
        <p:spPr>
          <a:xfrm>
            <a:off x="3334623" y="14806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Minus 26"/>
          <p:cNvSpPr/>
          <p:nvPr/>
        </p:nvSpPr>
        <p:spPr>
          <a:xfrm>
            <a:off x="3487023" y="16330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Minus 27"/>
          <p:cNvSpPr/>
          <p:nvPr/>
        </p:nvSpPr>
        <p:spPr>
          <a:xfrm>
            <a:off x="3639423" y="17854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Minus 28"/>
          <p:cNvSpPr/>
          <p:nvPr/>
        </p:nvSpPr>
        <p:spPr>
          <a:xfrm>
            <a:off x="3791823" y="19378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Minus 29"/>
          <p:cNvSpPr/>
          <p:nvPr/>
        </p:nvSpPr>
        <p:spPr>
          <a:xfrm>
            <a:off x="3944223" y="20902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Minus 30"/>
          <p:cNvSpPr/>
          <p:nvPr/>
        </p:nvSpPr>
        <p:spPr>
          <a:xfrm>
            <a:off x="4096623" y="22426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Minus 31"/>
          <p:cNvSpPr/>
          <p:nvPr/>
        </p:nvSpPr>
        <p:spPr>
          <a:xfrm>
            <a:off x="4249023" y="23950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Minus 32"/>
          <p:cNvSpPr/>
          <p:nvPr/>
        </p:nvSpPr>
        <p:spPr>
          <a:xfrm>
            <a:off x="4401423" y="25474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Minus 33"/>
          <p:cNvSpPr/>
          <p:nvPr/>
        </p:nvSpPr>
        <p:spPr>
          <a:xfrm>
            <a:off x="3270306" y="10304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Minus 34"/>
          <p:cNvSpPr/>
          <p:nvPr/>
        </p:nvSpPr>
        <p:spPr>
          <a:xfrm>
            <a:off x="3422706" y="11828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Minus 35"/>
          <p:cNvSpPr/>
          <p:nvPr/>
        </p:nvSpPr>
        <p:spPr>
          <a:xfrm>
            <a:off x="3575106" y="13352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Minus 36"/>
          <p:cNvSpPr/>
          <p:nvPr/>
        </p:nvSpPr>
        <p:spPr>
          <a:xfrm>
            <a:off x="3727506" y="14876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Minus 37"/>
          <p:cNvSpPr/>
          <p:nvPr/>
        </p:nvSpPr>
        <p:spPr>
          <a:xfrm>
            <a:off x="3879906" y="16400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Minus 38"/>
          <p:cNvSpPr/>
          <p:nvPr/>
        </p:nvSpPr>
        <p:spPr>
          <a:xfrm>
            <a:off x="4032306" y="17924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5050564" y="3478136"/>
            <a:ext cx="4388958" cy="3077766"/>
          </a:xfrm>
          <a:prstGeom prst="rect">
            <a:avLst/>
          </a:prstGeom>
          <a:noFill/>
        </p:spPr>
        <p:txBody>
          <a:bodyPr wrap="none" rtlCol="0">
            <a:spAutoFit/>
          </a:bodyPr>
          <a:lstStyle/>
          <a:p>
            <a:r>
              <a:rPr lang="en-US" sz="1600" dirty="0"/>
              <a:t>Entropy of smoker Node </a:t>
            </a:r>
          </a:p>
          <a:p>
            <a:r>
              <a:rPr lang="en-US" sz="1600" dirty="0"/>
              <a:t>= −[6/18 * ​log​(6/18)​+12/18*​log(12/18​) ]</a:t>
            </a:r>
          </a:p>
          <a:p>
            <a:r>
              <a:rPr lang="en-US" sz="1600" dirty="0"/>
              <a:t>= −(0.333×−1.585+0.666×−0.585) = 0.918 </a:t>
            </a:r>
          </a:p>
          <a:p>
            <a:r>
              <a:rPr lang="en-US" sz="1600" dirty="0"/>
              <a:t>Entropy of non smoker Node </a:t>
            </a:r>
          </a:p>
          <a:p>
            <a:r>
              <a:rPr lang="en-US" sz="1600" dirty="0"/>
              <a:t>= −[8/12 * ​log​(8/12)​+4/12*​log(4/12​) ] = 0.918 </a:t>
            </a:r>
          </a:p>
          <a:p>
            <a:r>
              <a:rPr lang="en-US" sz="1600" dirty="0"/>
              <a:t> </a:t>
            </a:r>
          </a:p>
          <a:p>
            <a:r>
              <a:rPr lang="en-US" sz="1600" dirty="0"/>
              <a:t>Entropy after split on smoking status </a:t>
            </a:r>
          </a:p>
          <a:p>
            <a:r>
              <a:rPr lang="en-US" sz="1600" dirty="0"/>
              <a:t>= (18/30​ × 0.918) + (12/30​ × 0.918)=0.918</a:t>
            </a:r>
          </a:p>
          <a:p>
            <a:endParaRPr lang="en-US" sz="1600" dirty="0"/>
          </a:p>
          <a:p>
            <a:r>
              <a:rPr lang="en-US" sz="1600" dirty="0"/>
              <a:t>Info gain = Entropy before split - Entropy after split</a:t>
            </a:r>
          </a:p>
          <a:p>
            <a:r>
              <a:rPr lang="en-US" sz="1600" dirty="0"/>
              <a:t>= Entropy of parent - Entropy after split</a:t>
            </a:r>
          </a:p>
          <a:p>
            <a:r>
              <a:rPr lang="en-US" sz="1600" dirty="0"/>
              <a:t>= 0.999 − 0.918 </a:t>
            </a:r>
            <a:r>
              <a:rPr lang="en-US" sz="1600" b="1" dirty="0"/>
              <a:t>= 0.081</a:t>
            </a:r>
          </a:p>
        </p:txBody>
      </p:sp>
      <p:sp>
        <p:nvSpPr>
          <p:cNvPr id="40" name="Rectangle 39"/>
          <p:cNvSpPr/>
          <p:nvPr/>
        </p:nvSpPr>
        <p:spPr>
          <a:xfrm>
            <a:off x="580237" y="3138883"/>
            <a:ext cx="1626068" cy="1508618"/>
          </a:xfrm>
          <a:prstGeom prst="rect">
            <a:avLst/>
          </a:prstGeom>
          <a:solidFill>
            <a:schemeClr val="bg1"/>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a:off x="2871832" y="3131892"/>
            <a:ext cx="1626068" cy="1508618"/>
          </a:xfrm>
          <a:prstGeom prst="rect">
            <a:avLst/>
          </a:prstGeom>
          <a:solidFill>
            <a:schemeClr val="bg1"/>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Plus 41"/>
          <p:cNvSpPr/>
          <p:nvPr/>
        </p:nvSpPr>
        <p:spPr>
          <a:xfrm>
            <a:off x="693487" y="32773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lus 43"/>
          <p:cNvSpPr/>
          <p:nvPr/>
        </p:nvSpPr>
        <p:spPr>
          <a:xfrm>
            <a:off x="845887" y="34297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Plus 44"/>
          <p:cNvSpPr/>
          <p:nvPr/>
        </p:nvSpPr>
        <p:spPr>
          <a:xfrm>
            <a:off x="998287" y="35821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lus 45"/>
          <p:cNvSpPr/>
          <p:nvPr/>
        </p:nvSpPr>
        <p:spPr>
          <a:xfrm>
            <a:off x="1150687" y="37345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Plus 46"/>
          <p:cNvSpPr/>
          <p:nvPr/>
        </p:nvSpPr>
        <p:spPr>
          <a:xfrm>
            <a:off x="1303087" y="38869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Plus 47"/>
          <p:cNvSpPr/>
          <p:nvPr/>
        </p:nvSpPr>
        <p:spPr>
          <a:xfrm>
            <a:off x="1455487" y="40393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Minus 52"/>
          <p:cNvSpPr/>
          <p:nvPr/>
        </p:nvSpPr>
        <p:spPr>
          <a:xfrm>
            <a:off x="1139500" y="322836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Minus 53"/>
          <p:cNvSpPr/>
          <p:nvPr/>
        </p:nvSpPr>
        <p:spPr>
          <a:xfrm>
            <a:off x="1291900" y="338076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Minus 54"/>
          <p:cNvSpPr/>
          <p:nvPr/>
        </p:nvSpPr>
        <p:spPr>
          <a:xfrm>
            <a:off x="1444300" y="353316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Minus 55"/>
          <p:cNvSpPr/>
          <p:nvPr/>
        </p:nvSpPr>
        <p:spPr>
          <a:xfrm>
            <a:off x="1596700" y="368556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Minus 56"/>
          <p:cNvSpPr/>
          <p:nvPr/>
        </p:nvSpPr>
        <p:spPr>
          <a:xfrm>
            <a:off x="1749100" y="383796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Plus 57"/>
          <p:cNvSpPr/>
          <p:nvPr/>
        </p:nvSpPr>
        <p:spPr>
          <a:xfrm>
            <a:off x="2933350" y="3185021"/>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Plus 58"/>
          <p:cNvSpPr/>
          <p:nvPr/>
        </p:nvSpPr>
        <p:spPr>
          <a:xfrm>
            <a:off x="3085750" y="3337421"/>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Plus 59"/>
          <p:cNvSpPr/>
          <p:nvPr/>
        </p:nvSpPr>
        <p:spPr>
          <a:xfrm>
            <a:off x="3238150" y="3489821"/>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Plus 60"/>
          <p:cNvSpPr/>
          <p:nvPr/>
        </p:nvSpPr>
        <p:spPr>
          <a:xfrm>
            <a:off x="3390550" y="3642221"/>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Minus 69"/>
          <p:cNvSpPr/>
          <p:nvPr/>
        </p:nvSpPr>
        <p:spPr>
          <a:xfrm>
            <a:off x="3245139" y="3186419"/>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Minus 70"/>
          <p:cNvSpPr/>
          <p:nvPr/>
        </p:nvSpPr>
        <p:spPr>
          <a:xfrm>
            <a:off x="3397539" y="3338819"/>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Minus 71"/>
          <p:cNvSpPr/>
          <p:nvPr/>
        </p:nvSpPr>
        <p:spPr>
          <a:xfrm>
            <a:off x="3549939" y="3491219"/>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Minus 72"/>
          <p:cNvSpPr/>
          <p:nvPr/>
        </p:nvSpPr>
        <p:spPr>
          <a:xfrm>
            <a:off x="3702339" y="3643619"/>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p:cNvCxnSpPr/>
          <p:nvPr/>
        </p:nvCxnSpPr>
        <p:spPr>
          <a:xfrm flipH="1">
            <a:off x="1795244" y="2723626"/>
            <a:ext cx="320180" cy="2880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3014444" y="2808916"/>
            <a:ext cx="167779" cy="2556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62" name="Table 61"/>
          <p:cNvGraphicFramePr>
            <a:graphicFrameLocks noGrp="1"/>
          </p:cNvGraphicFramePr>
          <p:nvPr>
            <p:extLst>
              <p:ext uri="{D42A27DB-BD31-4B8C-83A1-F6EECF244321}">
                <p14:modId xmlns:p14="http://schemas.microsoft.com/office/powerpoint/2010/main" val="732686535"/>
              </p:ext>
            </p:extLst>
          </p:nvPr>
        </p:nvGraphicFramePr>
        <p:xfrm>
          <a:off x="5218070" y="2167155"/>
          <a:ext cx="3937000" cy="762000"/>
        </p:xfrm>
        <a:graphic>
          <a:graphicData uri="http://schemas.openxmlformats.org/drawingml/2006/table">
            <a:tbl>
              <a:tblPr>
                <a:tableStyleId>{5C22544A-7EE6-4342-B048-85BDC9FD1C3A}</a:tableStyleId>
              </a:tblPr>
              <a:tblGrid>
                <a:gridCol w="965200">
                  <a:extLst>
                    <a:ext uri="{9D8B030D-6E8A-4147-A177-3AD203B41FA5}">
                      <a16:colId xmlns:a16="http://schemas.microsoft.com/office/drawing/2014/main" val="2753522945"/>
                    </a:ext>
                  </a:extLst>
                </a:gridCol>
                <a:gridCol w="901700">
                  <a:extLst>
                    <a:ext uri="{9D8B030D-6E8A-4147-A177-3AD203B41FA5}">
                      <a16:colId xmlns:a16="http://schemas.microsoft.com/office/drawing/2014/main" val="4065473497"/>
                    </a:ext>
                  </a:extLst>
                </a:gridCol>
                <a:gridCol w="1143000">
                  <a:extLst>
                    <a:ext uri="{9D8B030D-6E8A-4147-A177-3AD203B41FA5}">
                      <a16:colId xmlns:a16="http://schemas.microsoft.com/office/drawing/2014/main" val="2768458961"/>
                    </a:ext>
                  </a:extLst>
                </a:gridCol>
                <a:gridCol w="927100">
                  <a:extLst>
                    <a:ext uri="{9D8B030D-6E8A-4147-A177-3AD203B41FA5}">
                      <a16:colId xmlns:a16="http://schemas.microsoft.com/office/drawing/2014/main" val="1406932289"/>
                    </a:ext>
                  </a:extLst>
                </a:gridCol>
              </a:tblGrid>
              <a:tr h="381000">
                <a:tc>
                  <a:txBody>
                    <a:bodyPr/>
                    <a:lstStyle/>
                    <a:p>
                      <a:pPr algn="ctr" fontAlgn="ctr"/>
                      <a:r>
                        <a:rPr lang="en-US" sz="1100" u="none" strike="noStrike">
                          <a:effectLst/>
                        </a:rPr>
                        <a:t>Smoking Status</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u="none" strike="noStrike">
                          <a:effectLst/>
                        </a:rPr>
                        <a:t>Positive Cases</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u="none" strike="noStrike">
                          <a:effectLst/>
                        </a:rPr>
                        <a:t>Negative Cases</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u="none" strike="noStrike">
                          <a:effectLst/>
                        </a:rPr>
                        <a:t>Total</a:t>
                      </a:r>
                      <a:endParaRPr lang="en-US" sz="1100" b="1"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94079323"/>
                  </a:ext>
                </a:extLst>
              </a:tr>
              <a:tr h="190500">
                <a:tc>
                  <a:txBody>
                    <a:bodyPr/>
                    <a:lstStyle/>
                    <a:p>
                      <a:pPr algn="l" fontAlgn="ctr"/>
                      <a:r>
                        <a:rPr lang="en-US" sz="1100" u="none" strike="noStrike" dirty="0">
                          <a:effectLst/>
                        </a:rPr>
                        <a:t>Smoker</a:t>
                      </a:r>
                      <a:endParaRPr lang="en-US"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a:effectLst/>
                        </a:rPr>
                        <a:t>6</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a:effectLst/>
                        </a:rPr>
                        <a:t>12</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a:effectLst/>
                        </a:rPr>
                        <a:t>18</a:t>
                      </a:r>
                      <a:endParaRPr lang="en-US"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806773919"/>
                  </a:ext>
                </a:extLst>
              </a:tr>
              <a:tr h="190500">
                <a:tc>
                  <a:txBody>
                    <a:bodyPr/>
                    <a:lstStyle/>
                    <a:p>
                      <a:pPr algn="l" fontAlgn="ctr"/>
                      <a:r>
                        <a:rPr lang="en-US" sz="1100" u="none" strike="noStrike">
                          <a:effectLst/>
                        </a:rPr>
                        <a:t>Non-Smoker</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dirty="0">
                          <a:effectLst/>
                        </a:rPr>
                        <a:t>12</a:t>
                      </a: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63634750"/>
                  </a:ext>
                </a:extLst>
              </a:tr>
            </a:tbl>
          </a:graphicData>
        </a:graphic>
      </p:graphicFrame>
      <p:sp>
        <p:nvSpPr>
          <p:cNvPr id="82" name="Minus 81"/>
          <p:cNvSpPr/>
          <p:nvPr/>
        </p:nvSpPr>
        <p:spPr>
          <a:xfrm>
            <a:off x="1901500" y="399036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Minus 83"/>
          <p:cNvSpPr/>
          <p:nvPr/>
        </p:nvSpPr>
        <p:spPr>
          <a:xfrm>
            <a:off x="1458281" y="321997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Minus 84"/>
          <p:cNvSpPr/>
          <p:nvPr/>
        </p:nvSpPr>
        <p:spPr>
          <a:xfrm>
            <a:off x="1610681" y="337237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Minus 85"/>
          <p:cNvSpPr/>
          <p:nvPr/>
        </p:nvSpPr>
        <p:spPr>
          <a:xfrm>
            <a:off x="1763081" y="352477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Minus 86"/>
          <p:cNvSpPr/>
          <p:nvPr/>
        </p:nvSpPr>
        <p:spPr>
          <a:xfrm>
            <a:off x="1915481" y="367717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Minus 87"/>
          <p:cNvSpPr/>
          <p:nvPr/>
        </p:nvSpPr>
        <p:spPr>
          <a:xfrm>
            <a:off x="1765877" y="322556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Minus 88"/>
          <p:cNvSpPr/>
          <p:nvPr/>
        </p:nvSpPr>
        <p:spPr>
          <a:xfrm>
            <a:off x="1908490" y="3376568"/>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Plus 89"/>
          <p:cNvSpPr/>
          <p:nvPr/>
        </p:nvSpPr>
        <p:spPr>
          <a:xfrm>
            <a:off x="3542950" y="3794621"/>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Plus 90"/>
          <p:cNvSpPr/>
          <p:nvPr/>
        </p:nvSpPr>
        <p:spPr>
          <a:xfrm>
            <a:off x="3695350" y="3947021"/>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Plus 91"/>
          <p:cNvSpPr/>
          <p:nvPr/>
        </p:nvSpPr>
        <p:spPr>
          <a:xfrm>
            <a:off x="3847750" y="4099421"/>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Plus 92"/>
          <p:cNvSpPr/>
          <p:nvPr/>
        </p:nvSpPr>
        <p:spPr>
          <a:xfrm>
            <a:off x="4000150" y="4251821"/>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0539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8623"/>
            <a:ext cx="5403209" cy="540888"/>
          </a:xfrm>
        </p:spPr>
        <p:txBody>
          <a:bodyPr>
            <a:normAutofit fontScale="90000"/>
          </a:bodyPr>
          <a:lstStyle/>
          <a:p>
            <a:r>
              <a:rPr lang="en-US" dirty="0"/>
              <a:t>Steps to calculate IG(p5):</a:t>
            </a:r>
          </a:p>
        </p:txBody>
      </p:sp>
      <p:sp>
        <p:nvSpPr>
          <p:cNvPr id="4" name="TextBox 3"/>
          <p:cNvSpPr txBox="1"/>
          <p:nvPr/>
        </p:nvSpPr>
        <p:spPr>
          <a:xfrm>
            <a:off x="4899175" y="714474"/>
            <a:ext cx="6917307" cy="646331"/>
          </a:xfrm>
          <a:prstGeom prst="rect">
            <a:avLst/>
          </a:prstGeom>
          <a:noFill/>
        </p:spPr>
        <p:txBody>
          <a:bodyPr wrap="square" rtlCol="0">
            <a:spAutoFit/>
          </a:bodyPr>
          <a:lstStyle/>
          <a:p>
            <a:r>
              <a:rPr lang="en-US" b="1" dirty="0"/>
              <a:t>Split 3: Based on Exercise Habit (Regular vs. No Exercise)</a:t>
            </a:r>
          </a:p>
          <a:p>
            <a:r>
              <a:rPr lang="en-US" dirty="0"/>
              <a:t>We split the data based on exercise habit</a:t>
            </a:r>
          </a:p>
        </p:txBody>
      </p:sp>
      <p:sp>
        <p:nvSpPr>
          <p:cNvPr id="5" name="Rectangle 4"/>
          <p:cNvSpPr/>
          <p:nvPr/>
        </p:nvSpPr>
        <p:spPr>
          <a:xfrm>
            <a:off x="1610686" y="956345"/>
            <a:ext cx="2994870" cy="1728132"/>
          </a:xfrm>
          <a:prstGeom prst="rect">
            <a:avLst/>
          </a:prstGeom>
          <a:solidFill>
            <a:schemeClr val="bg1"/>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lus 7"/>
          <p:cNvSpPr/>
          <p:nvPr/>
        </p:nvSpPr>
        <p:spPr>
          <a:xfrm>
            <a:off x="1795244" y="10654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Minus 8"/>
          <p:cNvSpPr/>
          <p:nvPr/>
        </p:nvSpPr>
        <p:spPr>
          <a:xfrm>
            <a:off x="2877423" y="10234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lus 9"/>
          <p:cNvSpPr/>
          <p:nvPr/>
        </p:nvSpPr>
        <p:spPr>
          <a:xfrm>
            <a:off x="1947644" y="12178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lus 10"/>
          <p:cNvSpPr/>
          <p:nvPr/>
        </p:nvSpPr>
        <p:spPr>
          <a:xfrm>
            <a:off x="2100044" y="13702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lus 11"/>
          <p:cNvSpPr/>
          <p:nvPr/>
        </p:nvSpPr>
        <p:spPr>
          <a:xfrm>
            <a:off x="2252444" y="15226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lus 12"/>
          <p:cNvSpPr/>
          <p:nvPr/>
        </p:nvSpPr>
        <p:spPr>
          <a:xfrm>
            <a:off x="2404844" y="16750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lus 13"/>
          <p:cNvSpPr/>
          <p:nvPr/>
        </p:nvSpPr>
        <p:spPr>
          <a:xfrm>
            <a:off x="2557244" y="18274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lus 14"/>
          <p:cNvSpPr/>
          <p:nvPr/>
        </p:nvSpPr>
        <p:spPr>
          <a:xfrm>
            <a:off x="2709644" y="19798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lus 15"/>
          <p:cNvSpPr/>
          <p:nvPr/>
        </p:nvSpPr>
        <p:spPr>
          <a:xfrm>
            <a:off x="2862044" y="21322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lus 16"/>
          <p:cNvSpPr/>
          <p:nvPr/>
        </p:nvSpPr>
        <p:spPr>
          <a:xfrm>
            <a:off x="3014444" y="22846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lus 18"/>
          <p:cNvSpPr/>
          <p:nvPr/>
        </p:nvSpPr>
        <p:spPr>
          <a:xfrm>
            <a:off x="3166844" y="243700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lus 19"/>
          <p:cNvSpPr/>
          <p:nvPr/>
        </p:nvSpPr>
        <p:spPr>
          <a:xfrm>
            <a:off x="2186729" y="1037437"/>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lus 20"/>
          <p:cNvSpPr/>
          <p:nvPr/>
        </p:nvSpPr>
        <p:spPr>
          <a:xfrm>
            <a:off x="2362898" y="1196828"/>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lus 21"/>
          <p:cNvSpPr/>
          <p:nvPr/>
        </p:nvSpPr>
        <p:spPr>
          <a:xfrm>
            <a:off x="2515298" y="1349228"/>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Plus 22"/>
          <p:cNvSpPr/>
          <p:nvPr/>
        </p:nvSpPr>
        <p:spPr>
          <a:xfrm>
            <a:off x="2667698" y="1501628"/>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Minus 23"/>
          <p:cNvSpPr/>
          <p:nvPr/>
        </p:nvSpPr>
        <p:spPr>
          <a:xfrm>
            <a:off x="3029823" y="11758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Minus 24"/>
          <p:cNvSpPr/>
          <p:nvPr/>
        </p:nvSpPr>
        <p:spPr>
          <a:xfrm>
            <a:off x="3182223" y="13282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Minus 25"/>
          <p:cNvSpPr/>
          <p:nvPr/>
        </p:nvSpPr>
        <p:spPr>
          <a:xfrm>
            <a:off x="3334623" y="14806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Minus 26"/>
          <p:cNvSpPr/>
          <p:nvPr/>
        </p:nvSpPr>
        <p:spPr>
          <a:xfrm>
            <a:off x="3487023" y="16330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Minus 27"/>
          <p:cNvSpPr/>
          <p:nvPr/>
        </p:nvSpPr>
        <p:spPr>
          <a:xfrm>
            <a:off x="3639423" y="17854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Minus 28"/>
          <p:cNvSpPr/>
          <p:nvPr/>
        </p:nvSpPr>
        <p:spPr>
          <a:xfrm>
            <a:off x="3791823" y="19378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Minus 29"/>
          <p:cNvSpPr/>
          <p:nvPr/>
        </p:nvSpPr>
        <p:spPr>
          <a:xfrm>
            <a:off x="3944223" y="20902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Minus 30"/>
          <p:cNvSpPr/>
          <p:nvPr/>
        </p:nvSpPr>
        <p:spPr>
          <a:xfrm>
            <a:off x="4096623" y="22426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Minus 31"/>
          <p:cNvSpPr/>
          <p:nvPr/>
        </p:nvSpPr>
        <p:spPr>
          <a:xfrm>
            <a:off x="4249023" y="23950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Minus 32"/>
          <p:cNvSpPr/>
          <p:nvPr/>
        </p:nvSpPr>
        <p:spPr>
          <a:xfrm>
            <a:off x="4401423" y="2547457"/>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Minus 33"/>
          <p:cNvSpPr/>
          <p:nvPr/>
        </p:nvSpPr>
        <p:spPr>
          <a:xfrm>
            <a:off x="3270306" y="10304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Minus 34"/>
          <p:cNvSpPr/>
          <p:nvPr/>
        </p:nvSpPr>
        <p:spPr>
          <a:xfrm>
            <a:off x="3422706" y="11828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Minus 35"/>
          <p:cNvSpPr/>
          <p:nvPr/>
        </p:nvSpPr>
        <p:spPr>
          <a:xfrm>
            <a:off x="3575106" y="13352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Minus 36"/>
          <p:cNvSpPr/>
          <p:nvPr/>
        </p:nvSpPr>
        <p:spPr>
          <a:xfrm>
            <a:off x="3727506" y="14876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Minus 37"/>
          <p:cNvSpPr/>
          <p:nvPr/>
        </p:nvSpPr>
        <p:spPr>
          <a:xfrm>
            <a:off x="3879906" y="16400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Minus 38"/>
          <p:cNvSpPr/>
          <p:nvPr/>
        </p:nvSpPr>
        <p:spPr>
          <a:xfrm>
            <a:off x="4032306" y="1792446"/>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5050564" y="2278509"/>
            <a:ext cx="4923946" cy="3046988"/>
          </a:xfrm>
          <a:prstGeom prst="rect">
            <a:avLst/>
          </a:prstGeom>
          <a:noFill/>
        </p:spPr>
        <p:txBody>
          <a:bodyPr wrap="square" rtlCol="0">
            <a:spAutoFit/>
          </a:bodyPr>
          <a:lstStyle/>
          <a:p>
            <a:r>
              <a:rPr lang="en-US" sz="1600" dirty="0"/>
              <a:t>Entropy of regular-exercise Node </a:t>
            </a:r>
          </a:p>
          <a:p>
            <a:r>
              <a:rPr lang="en-US" sz="1600" dirty="0"/>
              <a:t>= −[9/12 * ​log​(9/12)​+3/12*​log(3/12​) ] = 0.811</a:t>
            </a:r>
          </a:p>
          <a:p>
            <a:endParaRPr lang="en-US" sz="1600" dirty="0"/>
          </a:p>
          <a:p>
            <a:r>
              <a:rPr lang="en-US" sz="1600" dirty="0"/>
              <a:t>Entropy of no-exercise Node </a:t>
            </a:r>
          </a:p>
          <a:p>
            <a:r>
              <a:rPr lang="en-US" sz="1600" dirty="0"/>
              <a:t>= −[5/18 * ​log​(5/18)​+13/18*​log(13/18​) ] = 0.850 </a:t>
            </a:r>
          </a:p>
          <a:p>
            <a:r>
              <a:rPr lang="en-US" sz="1600" dirty="0"/>
              <a:t> </a:t>
            </a:r>
          </a:p>
          <a:p>
            <a:r>
              <a:rPr lang="en-US" sz="1600" dirty="0"/>
              <a:t>Entropy after split on exercise habit status </a:t>
            </a:r>
          </a:p>
          <a:p>
            <a:r>
              <a:rPr lang="en-US" sz="1600" dirty="0"/>
              <a:t>= (12/30​×0.811) + (18/30​×0.850) = 0.835</a:t>
            </a:r>
          </a:p>
          <a:p>
            <a:endParaRPr lang="en-US" sz="1600" dirty="0"/>
          </a:p>
          <a:p>
            <a:r>
              <a:rPr lang="en-US" sz="1600" dirty="0"/>
              <a:t>Info gain = Entropy before split - Entropy after split</a:t>
            </a:r>
          </a:p>
          <a:p>
            <a:r>
              <a:rPr lang="en-US" sz="1600" dirty="0"/>
              <a:t>= Entropy of parent - Entropy after split</a:t>
            </a:r>
          </a:p>
          <a:p>
            <a:r>
              <a:rPr lang="en-US" sz="1600" dirty="0"/>
              <a:t>= 0.999 −  0.835 = </a:t>
            </a:r>
            <a:r>
              <a:rPr lang="en-US" sz="1600" b="1" dirty="0"/>
              <a:t>0.164</a:t>
            </a:r>
          </a:p>
        </p:txBody>
      </p:sp>
      <p:sp>
        <p:nvSpPr>
          <p:cNvPr id="40" name="Rectangle 39"/>
          <p:cNvSpPr/>
          <p:nvPr/>
        </p:nvSpPr>
        <p:spPr>
          <a:xfrm>
            <a:off x="580237" y="3138883"/>
            <a:ext cx="1626068" cy="1508618"/>
          </a:xfrm>
          <a:prstGeom prst="rect">
            <a:avLst/>
          </a:prstGeom>
          <a:solidFill>
            <a:schemeClr val="bg1"/>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a:off x="2871832" y="3131892"/>
            <a:ext cx="1626068" cy="1508618"/>
          </a:xfrm>
          <a:prstGeom prst="rect">
            <a:avLst/>
          </a:prstGeom>
          <a:solidFill>
            <a:schemeClr val="bg1"/>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Plus 41"/>
          <p:cNvSpPr/>
          <p:nvPr/>
        </p:nvSpPr>
        <p:spPr>
          <a:xfrm>
            <a:off x="693487" y="32773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lus 43"/>
          <p:cNvSpPr/>
          <p:nvPr/>
        </p:nvSpPr>
        <p:spPr>
          <a:xfrm>
            <a:off x="845887" y="34297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Plus 44"/>
          <p:cNvSpPr/>
          <p:nvPr/>
        </p:nvSpPr>
        <p:spPr>
          <a:xfrm>
            <a:off x="998287" y="35821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lus 45"/>
          <p:cNvSpPr/>
          <p:nvPr/>
        </p:nvSpPr>
        <p:spPr>
          <a:xfrm>
            <a:off x="1150687" y="37345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Plus 46"/>
          <p:cNvSpPr/>
          <p:nvPr/>
        </p:nvSpPr>
        <p:spPr>
          <a:xfrm>
            <a:off x="1303087" y="38869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Plus 47"/>
          <p:cNvSpPr/>
          <p:nvPr/>
        </p:nvSpPr>
        <p:spPr>
          <a:xfrm>
            <a:off x="1455487" y="40393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Minus 52"/>
          <p:cNvSpPr/>
          <p:nvPr/>
        </p:nvSpPr>
        <p:spPr>
          <a:xfrm>
            <a:off x="1139500" y="322836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Minus 53"/>
          <p:cNvSpPr/>
          <p:nvPr/>
        </p:nvSpPr>
        <p:spPr>
          <a:xfrm>
            <a:off x="1291900" y="338076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Minus 54"/>
          <p:cNvSpPr/>
          <p:nvPr/>
        </p:nvSpPr>
        <p:spPr>
          <a:xfrm>
            <a:off x="1444300" y="353316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Plus 57"/>
          <p:cNvSpPr/>
          <p:nvPr/>
        </p:nvSpPr>
        <p:spPr>
          <a:xfrm>
            <a:off x="2933350" y="3185021"/>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Plus 58"/>
          <p:cNvSpPr/>
          <p:nvPr/>
        </p:nvSpPr>
        <p:spPr>
          <a:xfrm>
            <a:off x="3085750" y="3337421"/>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Plus 59"/>
          <p:cNvSpPr/>
          <p:nvPr/>
        </p:nvSpPr>
        <p:spPr>
          <a:xfrm>
            <a:off x="3238150" y="3489821"/>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Plus 60"/>
          <p:cNvSpPr/>
          <p:nvPr/>
        </p:nvSpPr>
        <p:spPr>
          <a:xfrm>
            <a:off x="3390550" y="3642221"/>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Minus 69"/>
          <p:cNvSpPr/>
          <p:nvPr/>
        </p:nvSpPr>
        <p:spPr>
          <a:xfrm>
            <a:off x="3245139" y="3186419"/>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Minus 70"/>
          <p:cNvSpPr/>
          <p:nvPr/>
        </p:nvSpPr>
        <p:spPr>
          <a:xfrm>
            <a:off x="3397539" y="3338819"/>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Minus 71"/>
          <p:cNvSpPr/>
          <p:nvPr/>
        </p:nvSpPr>
        <p:spPr>
          <a:xfrm>
            <a:off x="3549939" y="3491219"/>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Minus 72"/>
          <p:cNvSpPr/>
          <p:nvPr/>
        </p:nvSpPr>
        <p:spPr>
          <a:xfrm>
            <a:off x="3702339" y="3643619"/>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p:cNvCxnSpPr/>
          <p:nvPr/>
        </p:nvCxnSpPr>
        <p:spPr>
          <a:xfrm flipH="1">
            <a:off x="1795244" y="2723626"/>
            <a:ext cx="320180" cy="2880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3014444" y="2808916"/>
            <a:ext cx="167779" cy="2556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0" name="Plus 89"/>
          <p:cNvSpPr/>
          <p:nvPr/>
        </p:nvSpPr>
        <p:spPr>
          <a:xfrm>
            <a:off x="3542950" y="3794621"/>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p:cNvGraphicFramePr>
            <a:graphicFrameLocks noGrp="1"/>
          </p:cNvGraphicFramePr>
          <p:nvPr>
            <p:extLst>
              <p:ext uri="{D42A27DB-BD31-4B8C-83A1-F6EECF244321}">
                <p14:modId xmlns:p14="http://schemas.microsoft.com/office/powerpoint/2010/main" val="3252207428"/>
              </p:ext>
            </p:extLst>
          </p:nvPr>
        </p:nvGraphicFramePr>
        <p:xfrm>
          <a:off x="5276793" y="1386978"/>
          <a:ext cx="3937000" cy="762000"/>
        </p:xfrm>
        <a:graphic>
          <a:graphicData uri="http://schemas.openxmlformats.org/drawingml/2006/table">
            <a:tbl>
              <a:tblPr>
                <a:tableStyleId>{5C22544A-7EE6-4342-B048-85BDC9FD1C3A}</a:tableStyleId>
              </a:tblPr>
              <a:tblGrid>
                <a:gridCol w="965200">
                  <a:extLst>
                    <a:ext uri="{9D8B030D-6E8A-4147-A177-3AD203B41FA5}">
                      <a16:colId xmlns:a16="http://schemas.microsoft.com/office/drawing/2014/main" val="2410797642"/>
                    </a:ext>
                  </a:extLst>
                </a:gridCol>
                <a:gridCol w="901700">
                  <a:extLst>
                    <a:ext uri="{9D8B030D-6E8A-4147-A177-3AD203B41FA5}">
                      <a16:colId xmlns:a16="http://schemas.microsoft.com/office/drawing/2014/main" val="2225609580"/>
                    </a:ext>
                  </a:extLst>
                </a:gridCol>
                <a:gridCol w="1143000">
                  <a:extLst>
                    <a:ext uri="{9D8B030D-6E8A-4147-A177-3AD203B41FA5}">
                      <a16:colId xmlns:a16="http://schemas.microsoft.com/office/drawing/2014/main" val="4205841430"/>
                    </a:ext>
                  </a:extLst>
                </a:gridCol>
                <a:gridCol w="927100">
                  <a:extLst>
                    <a:ext uri="{9D8B030D-6E8A-4147-A177-3AD203B41FA5}">
                      <a16:colId xmlns:a16="http://schemas.microsoft.com/office/drawing/2014/main" val="2519591345"/>
                    </a:ext>
                  </a:extLst>
                </a:gridCol>
              </a:tblGrid>
              <a:tr h="381000">
                <a:tc>
                  <a:txBody>
                    <a:bodyPr/>
                    <a:lstStyle/>
                    <a:p>
                      <a:pPr algn="ctr" fontAlgn="ctr"/>
                      <a:r>
                        <a:rPr lang="en-US" sz="1100" u="none" strike="noStrike">
                          <a:effectLst/>
                        </a:rPr>
                        <a:t>Exercise Habit</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u="none" strike="noStrike">
                          <a:effectLst/>
                        </a:rPr>
                        <a:t>Positive Cases</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u="none" strike="noStrike" dirty="0">
                          <a:effectLst/>
                        </a:rPr>
                        <a:t>Negative Cases</a:t>
                      </a:r>
                      <a:endParaRPr lang="en-US"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u="none" strike="noStrike">
                          <a:effectLst/>
                        </a:rPr>
                        <a:t>Total</a:t>
                      </a:r>
                      <a:endParaRPr lang="en-US" sz="1100" b="1"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637944923"/>
                  </a:ext>
                </a:extLst>
              </a:tr>
              <a:tr h="190500">
                <a:tc>
                  <a:txBody>
                    <a:bodyPr/>
                    <a:lstStyle/>
                    <a:p>
                      <a:pPr algn="l" fontAlgn="ctr"/>
                      <a:r>
                        <a:rPr lang="en-US" sz="1100" u="none" strike="noStrike" dirty="0">
                          <a:effectLst/>
                        </a:rPr>
                        <a:t>Regular</a:t>
                      </a:r>
                      <a:endParaRPr lang="en-US"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a:effectLst/>
                        </a:rPr>
                        <a:t>9</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a:effectLst/>
                        </a:rPr>
                        <a:t>12</a:t>
                      </a:r>
                      <a:endParaRPr lang="en-US"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607301425"/>
                  </a:ext>
                </a:extLst>
              </a:tr>
              <a:tr h="190500">
                <a:tc>
                  <a:txBody>
                    <a:bodyPr/>
                    <a:lstStyle/>
                    <a:p>
                      <a:pPr algn="l" fontAlgn="ctr"/>
                      <a:r>
                        <a:rPr lang="en-US" sz="1100" u="none" strike="noStrike">
                          <a:effectLst/>
                        </a:rPr>
                        <a:t>No Exercise</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a:effectLst/>
                        </a:rPr>
                        <a:t>13</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dirty="0">
                          <a:effectLst/>
                        </a:rPr>
                        <a:t>18</a:t>
                      </a: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43210420"/>
                  </a:ext>
                </a:extLst>
              </a:tr>
            </a:tbl>
          </a:graphicData>
        </a:graphic>
      </p:graphicFrame>
      <p:sp>
        <p:nvSpPr>
          <p:cNvPr id="74" name="Plus 73"/>
          <p:cNvSpPr/>
          <p:nvPr/>
        </p:nvSpPr>
        <p:spPr>
          <a:xfrm>
            <a:off x="1607887" y="41917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Plus 74"/>
          <p:cNvSpPr/>
          <p:nvPr/>
        </p:nvSpPr>
        <p:spPr>
          <a:xfrm>
            <a:off x="1760287" y="4344100"/>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Plus 75"/>
          <p:cNvSpPr/>
          <p:nvPr/>
        </p:nvSpPr>
        <p:spPr>
          <a:xfrm>
            <a:off x="1568738" y="4479722"/>
            <a:ext cx="167780" cy="151002"/>
          </a:xfrm>
          <a:prstGeom prst="mathPlus">
            <a:avLst/>
          </a:prstGeom>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Minus 76"/>
          <p:cNvSpPr/>
          <p:nvPr/>
        </p:nvSpPr>
        <p:spPr>
          <a:xfrm>
            <a:off x="3854739" y="3796019"/>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Minus 77"/>
          <p:cNvSpPr/>
          <p:nvPr/>
        </p:nvSpPr>
        <p:spPr>
          <a:xfrm>
            <a:off x="4007139" y="3948419"/>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Minus 78"/>
          <p:cNvSpPr/>
          <p:nvPr/>
        </p:nvSpPr>
        <p:spPr>
          <a:xfrm>
            <a:off x="4159539" y="4100819"/>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Minus 79"/>
          <p:cNvSpPr/>
          <p:nvPr/>
        </p:nvSpPr>
        <p:spPr>
          <a:xfrm>
            <a:off x="3582096" y="320459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Minus 93"/>
          <p:cNvSpPr/>
          <p:nvPr/>
        </p:nvSpPr>
        <p:spPr>
          <a:xfrm>
            <a:off x="3734496" y="335699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Minus 94"/>
          <p:cNvSpPr/>
          <p:nvPr/>
        </p:nvSpPr>
        <p:spPr>
          <a:xfrm>
            <a:off x="3886896" y="350939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Minus 95"/>
          <p:cNvSpPr/>
          <p:nvPr/>
        </p:nvSpPr>
        <p:spPr>
          <a:xfrm>
            <a:off x="4039296" y="366179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Minus 96"/>
          <p:cNvSpPr/>
          <p:nvPr/>
        </p:nvSpPr>
        <p:spPr>
          <a:xfrm>
            <a:off x="4191696" y="381419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Minus 97"/>
          <p:cNvSpPr/>
          <p:nvPr/>
        </p:nvSpPr>
        <p:spPr>
          <a:xfrm>
            <a:off x="4344096" y="3966594"/>
            <a:ext cx="184558" cy="176169"/>
          </a:xfrm>
          <a:prstGeom prst="mathMin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p:cNvGraphicFramePr>
            <a:graphicFrameLocks noGrp="1"/>
          </p:cNvGraphicFramePr>
          <p:nvPr>
            <p:extLst>
              <p:ext uri="{D42A27DB-BD31-4B8C-83A1-F6EECF244321}">
                <p14:modId xmlns:p14="http://schemas.microsoft.com/office/powerpoint/2010/main" val="4191456628"/>
              </p:ext>
            </p:extLst>
          </p:nvPr>
        </p:nvGraphicFramePr>
        <p:xfrm>
          <a:off x="4026716" y="5477896"/>
          <a:ext cx="4101284" cy="1314216"/>
        </p:xfrm>
        <a:graphic>
          <a:graphicData uri="http://schemas.openxmlformats.org/drawingml/2006/table">
            <a:tbl>
              <a:tblPr>
                <a:tableStyleId>{5C22544A-7EE6-4342-B048-85BDC9FD1C3A}</a:tableStyleId>
              </a:tblPr>
              <a:tblGrid>
                <a:gridCol w="2755287">
                  <a:extLst>
                    <a:ext uri="{9D8B030D-6E8A-4147-A177-3AD203B41FA5}">
                      <a16:colId xmlns:a16="http://schemas.microsoft.com/office/drawing/2014/main" val="4177279717"/>
                    </a:ext>
                  </a:extLst>
                </a:gridCol>
                <a:gridCol w="1345997">
                  <a:extLst>
                    <a:ext uri="{9D8B030D-6E8A-4147-A177-3AD203B41FA5}">
                      <a16:colId xmlns:a16="http://schemas.microsoft.com/office/drawing/2014/main" val="2920991027"/>
                    </a:ext>
                  </a:extLst>
                </a:gridCol>
              </a:tblGrid>
              <a:tr h="332324">
                <a:tc>
                  <a:txBody>
                    <a:bodyPr/>
                    <a:lstStyle/>
                    <a:p>
                      <a:pPr algn="ctr" fontAlgn="ctr"/>
                      <a:r>
                        <a:rPr lang="en-US" sz="1100" u="none" strike="noStrike">
                          <a:effectLst/>
                        </a:rPr>
                        <a:t>Split Criterion</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100" u="none" strike="noStrike">
                          <a:effectLst/>
                        </a:rPr>
                        <a:t>Information Gain (IG)</a:t>
                      </a:r>
                      <a:endParaRPr lang="en-US" sz="1100" b="1"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665361880"/>
                  </a:ext>
                </a:extLst>
              </a:tr>
              <a:tr h="216523">
                <a:tc>
                  <a:txBody>
                    <a:bodyPr/>
                    <a:lstStyle/>
                    <a:p>
                      <a:pPr algn="l" fontAlgn="ctr"/>
                      <a:r>
                        <a:rPr lang="en-US" sz="1100" u="none" strike="noStrike">
                          <a:effectLst/>
                        </a:rPr>
                        <a:t>Age Group (Young vs. Old)</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a:effectLst/>
                        </a:rPr>
                        <a:t>0.122</a:t>
                      </a:r>
                      <a:endParaRPr lang="en-US"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6083615"/>
                  </a:ext>
                </a:extLst>
              </a:tr>
              <a:tr h="433045">
                <a:tc>
                  <a:txBody>
                    <a:bodyPr/>
                    <a:lstStyle/>
                    <a:p>
                      <a:pPr algn="l" fontAlgn="ctr"/>
                      <a:r>
                        <a:rPr lang="en-US" sz="1100" u="none" strike="noStrike" dirty="0">
                          <a:effectLst/>
                        </a:rPr>
                        <a:t>Smoking Status (Smoker vs. Non-Smoker)</a:t>
                      </a:r>
                      <a:endParaRPr lang="en-US"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a:effectLst/>
                        </a:rPr>
                        <a:t>0.081</a:t>
                      </a:r>
                      <a:endParaRPr lang="en-US"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96894345"/>
                  </a:ext>
                </a:extLst>
              </a:tr>
              <a:tr h="332324">
                <a:tc>
                  <a:txBody>
                    <a:bodyPr/>
                    <a:lstStyle/>
                    <a:p>
                      <a:pPr algn="l" fontAlgn="ctr"/>
                      <a:r>
                        <a:rPr lang="pt-BR" sz="1100" u="none" strike="noStrike">
                          <a:effectLst/>
                        </a:rPr>
                        <a:t>Exercise Habit (Regular vs. No Exercise)</a:t>
                      </a:r>
                      <a:endParaRPr lang="pt-BR" sz="1100" b="1"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US" sz="1100" u="none" strike="noStrike" dirty="0">
                          <a:effectLst/>
                        </a:rPr>
                        <a:t>0.164</a:t>
                      </a: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62955875"/>
                  </a:ext>
                </a:extLst>
              </a:tr>
            </a:tbl>
          </a:graphicData>
        </a:graphic>
      </p:graphicFrame>
      <p:sp>
        <p:nvSpPr>
          <p:cNvPr id="18" name="TextBox 17"/>
          <p:cNvSpPr txBox="1"/>
          <p:nvPr/>
        </p:nvSpPr>
        <p:spPr>
          <a:xfrm>
            <a:off x="8581938" y="5595457"/>
            <a:ext cx="2989068" cy="954107"/>
          </a:xfrm>
          <a:prstGeom prst="rect">
            <a:avLst/>
          </a:prstGeom>
          <a:noFill/>
        </p:spPr>
        <p:txBody>
          <a:bodyPr wrap="square" rtlCol="0">
            <a:spAutoFit/>
          </a:bodyPr>
          <a:lstStyle/>
          <a:p>
            <a:r>
              <a:rPr lang="en-US" sz="1400" b="1" dirty="0"/>
              <a:t>Conclusion:</a:t>
            </a:r>
            <a:br>
              <a:rPr lang="en-US" sz="1400" dirty="0"/>
            </a:br>
            <a:r>
              <a:rPr lang="en-US" sz="1400" dirty="0"/>
              <a:t>The best attribute for the split is </a:t>
            </a:r>
            <a:r>
              <a:rPr lang="en-US" sz="1400" b="1" dirty="0"/>
              <a:t>Exercise Habit (IG = 0.164)</a:t>
            </a:r>
            <a:r>
              <a:rPr lang="en-US" sz="1400" dirty="0"/>
              <a:t> as it gives the highest Information Gain.</a:t>
            </a:r>
          </a:p>
        </p:txBody>
      </p:sp>
    </p:spTree>
    <p:extLst>
      <p:ext uri="{BB962C8B-B14F-4D97-AF65-F5344CB8AC3E}">
        <p14:creationId xmlns:p14="http://schemas.microsoft.com/office/powerpoint/2010/main" val="950214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2714" y="436567"/>
            <a:ext cx="6249761" cy="4706933"/>
          </a:xfrm>
          <a:prstGeom prst="rect">
            <a:avLst/>
          </a:prstGeom>
        </p:spPr>
      </p:pic>
      <p:sp>
        <p:nvSpPr>
          <p:cNvPr id="3" name="TextBox 2"/>
          <p:cNvSpPr txBox="1"/>
          <p:nvPr/>
        </p:nvSpPr>
        <p:spPr>
          <a:xfrm>
            <a:off x="718457" y="186192"/>
            <a:ext cx="5319405" cy="369332"/>
          </a:xfrm>
          <a:prstGeom prst="rect">
            <a:avLst/>
          </a:prstGeom>
          <a:noFill/>
        </p:spPr>
        <p:txBody>
          <a:bodyPr wrap="none" rtlCol="0">
            <a:spAutoFit/>
          </a:bodyPr>
          <a:lstStyle/>
          <a:p>
            <a:r>
              <a:rPr lang="en-US" dirty="0"/>
              <a:t>How is entropy related to probability of positive class ?</a:t>
            </a:r>
          </a:p>
        </p:txBody>
      </p:sp>
    </p:spTree>
    <p:extLst>
      <p:ext uri="{BB962C8B-B14F-4D97-AF65-F5344CB8AC3E}">
        <p14:creationId xmlns:p14="http://schemas.microsoft.com/office/powerpoint/2010/main" val="1185070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5735"/>
            <a:ext cx="5502779" cy="515718"/>
          </a:xfrm>
        </p:spPr>
        <p:txBody>
          <a:bodyPr>
            <a:noAutofit/>
          </a:bodyPr>
          <a:lstStyle/>
          <a:p>
            <a:r>
              <a:rPr lang="en-US" sz="3600" dirty="0"/>
              <a:t>Decision Tree </a:t>
            </a:r>
            <a:r>
              <a:rPr lang="en-US" sz="3600" dirty="0" err="1"/>
              <a:t>Regressor</a:t>
            </a:r>
            <a:r>
              <a:rPr lang="en-US" sz="3600" dirty="0"/>
              <a:t>(p1)</a:t>
            </a:r>
          </a:p>
        </p:txBody>
      </p:sp>
      <p:sp>
        <p:nvSpPr>
          <p:cNvPr id="3" name="Content Placeholder 2"/>
          <p:cNvSpPr>
            <a:spLocks noGrp="1"/>
          </p:cNvSpPr>
          <p:nvPr>
            <p:ph idx="1"/>
          </p:nvPr>
        </p:nvSpPr>
        <p:spPr>
          <a:xfrm>
            <a:off x="352338" y="911225"/>
            <a:ext cx="11551640" cy="570450"/>
          </a:xfrm>
        </p:spPr>
        <p:txBody>
          <a:bodyPr>
            <a:normAutofit lnSpcReduction="10000"/>
          </a:bodyPr>
          <a:lstStyle/>
          <a:p>
            <a:r>
              <a:rPr lang="en-US" sz="1800" dirty="0"/>
              <a:t>A Decision Tree for regression is a model that predicts numerical values using a tree-like structure (See </a:t>
            </a:r>
            <a:r>
              <a:rPr lang="en-US" sz="1800" dirty="0" err="1"/>
              <a:t>jupyter</a:t>
            </a:r>
            <a:r>
              <a:rPr lang="en-US" sz="1800" dirty="0"/>
              <a:t> notebook for the code)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2669" y="1481673"/>
            <a:ext cx="4170103" cy="4138889"/>
          </a:xfrm>
          <a:prstGeom prst="rect">
            <a:avLst/>
          </a:prstGeom>
        </p:spPr>
      </p:pic>
      <p:sp>
        <p:nvSpPr>
          <p:cNvPr id="5" name="TextBox 4"/>
          <p:cNvSpPr txBox="1"/>
          <p:nvPr/>
        </p:nvSpPr>
        <p:spPr>
          <a:xfrm>
            <a:off x="352338" y="1517539"/>
            <a:ext cx="6159557" cy="1754326"/>
          </a:xfrm>
          <a:prstGeom prst="rect">
            <a:avLst/>
          </a:prstGeom>
          <a:noFill/>
        </p:spPr>
        <p:txBody>
          <a:bodyPr wrap="square" rtlCol="0">
            <a:spAutoFit/>
          </a:bodyPr>
          <a:lstStyle/>
          <a:p>
            <a:r>
              <a:rPr lang="en-US" b="1" dirty="0"/>
              <a:t>Training Steps</a:t>
            </a:r>
          </a:p>
          <a:p>
            <a:r>
              <a:rPr lang="en-US" dirty="0"/>
              <a:t>We will explore the regression part in the decision tree algorithm CART (Classification and Regression Trees). We would use the data shown in right.</a:t>
            </a:r>
          </a:p>
          <a:p>
            <a:r>
              <a:rPr lang="en-US" dirty="0"/>
              <a:t>It builds binary trees and typically follows these steps:</a:t>
            </a:r>
          </a:p>
          <a:p>
            <a:r>
              <a:rPr lang="en-US" dirty="0"/>
              <a:t>1.Begin with all training samples in the root node.</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866" y="3261070"/>
            <a:ext cx="3415684" cy="3439026"/>
          </a:xfrm>
          <a:prstGeom prst="rect">
            <a:avLst/>
          </a:prstGeom>
        </p:spPr>
      </p:pic>
      <p:sp>
        <p:nvSpPr>
          <p:cNvPr id="7" name="TextBox 6"/>
          <p:cNvSpPr txBox="1"/>
          <p:nvPr/>
        </p:nvSpPr>
        <p:spPr>
          <a:xfrm>
            <a:off x="6278723" y="37084"/>
            <a:ext cx="5795176" cy="369332"/>
          </a:xfrm>
          <a:prstGeom prst="rect">
            <a:avLst/>
          </a:prstGeom>
          <a:noFill/>
        </p:spPr>
        <p:txBody>
          <a:bodyPr wrap="none" rtlCol="0">
            <a:spAutoFit/>
          </a:bodyPr>
          <a:lstStyle/>
          <a:p>
            <a:r>
              <a:rPr lang="en-US" sz="900" dirty="0"/>
              <a:t>Source:</a:t>
            </a:r>
          </a:p>
          <a:p>
            <a:r>
              <a:rPr lang="en-US" sz="900" dirty="0"/>
              <a:t>https://medium.com/data-science/decision-tree-regressor-explained-a-visual-guide-with-code-examples-fbd2836c3bef</a:t>
            </a:r>
          </a:p>
        </p:txBody>
      </p:sp>
      <p:sp>
        <p:nvSpPr>
          <p:cNvPr id="8" name="TextBox 7"/>
          <p:cNvSpPr txBox="1"/>
          <p:nvPr/>
        </p:nvSpPr>
        <p:spPr>
          <a:xfrm>
            <a:off x="8097890" y="6223218"/>
            <a:ext cx="1923925" cy="261610"/>
          </a:xfrm>
          <a:prstGeom prst="rect">
            <a:avLst/>
          </a:prstGeom>
          <a:noFill/>
        </p:spPr>
        <p:txBody>
          <a:bodyPr wrap="none" rtlCol="0">
            <a:spAutoFit/>
          </a:bodyPr>
          <a:lstStyle/>
          <a:p>
            <a:r>
              <a:rPr lang="en-US" sz="1100" dirty="0"/>
              <a:t>See </a:t>
            </a:r>
            <a:r>
              <a:rPr lang="en-US" sz="1100" dirty="0" err="1"/>
              <a:t>jupyter</a:t>
            </a:r>
            <a:r>
              <a:rPr lang="en-US" sz="1100" dirty="0"/>
              <a:t> notebook for code</a:t>
            </a:r>
            <a:endParaRPr lang="en-US" dirty="0"/>
          </a:p>
        </p:txBody>
      </p:sp>
      <p:cxnSp>
        <p:nvCxnSpPr>
          <p:cNvPr id="9" name="Straight Arrow Connector 8"/>
          <p:cNvCxnSpPr/>
          <p:nvPr/>
        </p:nvCxnSpPr>
        <p:spPr>
          <a:xfrm flipV="1">
            <a:off x="8769010" y="5904546"/>
            <a:ext cx="151001" cy="3186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86670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6678"/>
            <a:ext cx="10515600" cy="515718"/>
          </a:xfrm>
        </p:spPr>
        <p:txBody>
          <a:bodyPr>
            <a:normAutofit fontScale="90000"/>
          </a:bodyPr>
          <a:lstStyle/>
          <a:p>
            <a:r>
              <a:rPr lang="en-US" dirty="0"/>
              <a:t>Decision Tree </a:t>
            </a:r>
            <a:r>
              <a:rPr lang="en-US" dirty="0" err="1"/>
              <a:t>Regressor</a:t>
            </a:r>
            <a:r>
              <a:rPr lang="en-US" dirty="0"/>
              <a:t>(p2)</a:t>
            </a:r>
          </a:p>
        </p:txBody>
      </p:sp>
      <p:sp>
        <p:nvSpPr>
          <p:cNvPr id="3" name="Content Placeholder 2"/>
          <p:cNvSpPr>
            <a:spLocks noGrp="1"/>
          </p:cNvSpPr>
          <p:nvPr>
            <p:ph idx="1"/>
          </p:nvPr>
        </p:nvSpPr>
        <p:spPr>
          <a:xfrm>
            <a:off x="218114" y="693110"/>
            <a:ext cx="4991449" cy="1076967"/>
          </a:xfrm>
        </p:spPr>
        <p:txBody>
          <a:bodyPr>
            <a:noAutofit/>
          </a:bodyPr>
          <a:lstStyle/>
          <a:p>
            <a:pPr marL="0" indent="0">
              <a:buNone/>
            </a:pPr>
            <a:r>
              <a:rPr lang="en-US" sz="1800" dirty="0"/>
              <a:t>2.For each feature in the dataset:</a:t>
            </a:r>
            <a:br>
              <a:rPr lang="en-US" sz="1800" dirty="0"/>
            </a:br>
            <a:r>
              <a:rPr lang="en-US" sz="1800" dirty="0"/>
              <a:t>a. Sort the feature values in ascending order.</a:t>
            </a:r>
            <a:br>
              <a:rPr lang="en-US" sz="1800" dirty="0"/>
            </a:br>
            <a:r>
              <a:rPr lang="en-US" sz="1800" dirty="0"/>
              <a:t>b. Consider all midpoints between adjacent values as potential split points.</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912" y="1837188"/>
            <a:ext cx="4555012" cy="4966283"/>
          </a:xfrm>
          <a:prstGeom prst="rect">
            <a:avLst/>
          </a:prstGeom>
        </p:spPr>
      </p:pic>
      <p:sp>
        <p:nvSpPr>
          <p:cNvPr id="8" name="Content Placeholder 2"/>
          <p:cNvSpPr txBox="1">
            <a:spLocks/>
          </p:cNvSpPr>
          <p:nvPr/>
        </p:nvSpPr>
        <p:spPr>
          <a:xfrm>
            <a:off x="5914239" y="693110"/>
            <a:ext cx="6182686" cy="947680"/>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3. For each potential split point:</a:t>
            </a:r>
            <a:br>
              <a:rPr lang="en-US" dirty="0"/>
            </a:br>
            <a:r>
              <a:rPr lang="en-US" dirty="0"/>
              <a:t>a. Calculate the mean squared error (MSE) of the current node.</a:t>
            </a:r>
            <a:br>
              <a:rPr lang="en-US" dirty="0"/>
            </a:br>
            <a:r>
              <a:rPr lang="en-US" dirty="0"/>
              <a:t>b. Compute the weighted average of errors for the resulting split.</a:t>
            </a:r>
            <a:endParaRPr lang="en-US" sz="1800"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3549" y="1854945"/>
            <a:ext cx="4706761" cy="4630476"/>
          </a:xfrm>
          <a:prstGeom prst="rect">
            <a:avLst/>
          </a:prstGeom>
        </p:spPr>
      </p:pic>
      <p:cxnSp>
        <p:nvCxnSpPr>
          <p:cNvPr id="11" name="Straight Connector 10"/>
          <p:cNvCxnSpPr/>
          <p:nvPr/>
        </p:nvCxnSpPr>
        <p:spPr>
          <a:xfrm>
            <a:off x="5578679" y="973123"/>
            <a:ext cx="25167" cy="5444455"/>
          </a:xfrm>
          <a:prstGeom prst="line">
            <a:avLst/>
          </a:prstGeom>
        </p:spPr>
        <p:style>
          <a:lnRef idx="3">
            <a:schemeClr val="dk1"/>
          </a:lnRef>
          <a:fillRef idx="0">
            <a:schemeClr val="dk1"/>
          </a:fillRef>
          <a:effectRef idx="2">
            <a:schemeClr val="dk1"/>
          </a:effectRef>
          <a:fontRef idx="minor">
            <a:schemeClr val="tx1"/>
          </a:fontRef>
        </p:style>
      </p:cxnSp>
      <p:sp>
        <p:nvSpPr>
          <p:cNvPr id="12" name="TextBox 11"/>
          <p:cNvSpPr txBox="1"/>
          <p:nvPr/>
        </p:nvSpPr>
        <p:spPr>
          <a:xfrm>
            <a:off x="10109675" y="1640790"/>
            <a:ext cx="1547218" cy="430887"/>
          </a:xfrm>
          <a:prstGeom prst="rect">
            <a:avLst/>
          </a:prstGeom>
          <a:noFill/>
        </p:spPr>
        <p:txBody>
          <a:bodyPr wrap="none" rtlCol="0">
            <a:spAutoFit/>
          </a:bodyPr>
          <a:lstStyle/>
          <a:p>
            <a:r>
              <a:rPr lang="en-US" sz="1100" dirty="0"/>
              <a:t>(43 – 33.25)^2 = 95.06</a:t>
            </a:r>
          </a:p>
          <a:p>
            <a:r>
              <a:rPr lang="en-US" sz="1100" dirty="0"/>
              <a:t>(19 – 33.25)^2 = 203.06</a:t>
            </a:r>
          </a:p>
        </p:txBody>
      </p:sp>
      <p:cxnSp>
        <p:nvCxnSpPr>
          <p:cNvPr id="14" name="Straight Arrow Connector 13"/>
          <p:cNvCxnSpPr/>
          <p:nvPr/>
        </p:nvCxnSpPr>
        <p:spPr>
          <a:xfrm flipH="1">
            <a:off x="8879080" y="1914258"/>
            <a:ext cx="1136591" cy="589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9031480" y="2066658"/>
            <a:ext cx="1136591" cy="589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8899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5735"/>
            <a:ext cx="10515600" cy="515718"/>
          </a:xfrm>
        </p:spPr>
        <p:txBody>
          <a:bodyPr>
            <a:normAutofit fontScale="90000"/>
          </a:bodyPr>
          <a:lstStyle/>
          <a:p>
            <a:r>
              <a:rPr lang="en-US" dirty="0"/>
              <a:t>Decision Tree </a:t>
            </a:r>
            <a:r>
              <a:rPr lang="en-US" dirty="0" err="1"/>
              <a:t>Regressor</a:t>
            </a:r>
            <a:r>
              <a:rPr lang="en-US" dirty="0"/>
              <a:t>(p3)</a:t>
            </a:r>
          </a:p>
        </p:txBody>
      </p:sp>
      <p:sp>
        <p:nvSpPr>
          <p:cNvPr id="3" name="Content Placeholder 2"/>
          <p:cNvSpPr>
            <a:spLocks noGrp="1"/>
          </p:cNvSpPr>
          <p:nvPr>
            <p:ph idx="1"/>
          </p:nvPr>
        </p:nvSpPr>
        <p:spPr>
          <a:xfrm>
            <a:off x="5847128" y="911224"/>
            <a:ext cx="6056849" cy="816907"/>
          </a:xfrm>
        </p:spPr>
        <p:txBody>
          <a:bodyPr>
            <a:noAutofit/>
          </a:bodyPr>
          <a:lstStyle/>
          <a:p>
            <a:pPr marL="0" indent="0">
              <a:buNone/>
            </a:pPr>
            <a:r>
              <a:rPr lang="en-US" sz="1800" dirty="0"/>
              <a:t>4. After evaluating all features and split points, select the one with lowest weighted average of MSE.</a:t>
            </a:r>
            <a:endParaRPr lang="en-US" sz="11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970" y="2291793"/>
            <a:ext cx="4706761" cy="3689667"/>
          </a:xfrm>
          <a:prstGeom prst="rect">
            <a:avLst/>
          </a:prstGeom>
        </p:spPr>
      </p:pic>
      <p:cxnSp>
        <p:nvCxnSpPr>
          <p:cNvPr id="5" name="Straight Connector 4"/>
          <p:cNvCxnSpPr/>
          <p:nvPr/>
        </p:nvCxnSpPr>
        <p:spPr>
          <a:xfrm>
            <a:off x="5603846" y="973123"/>
            <a:ext cx="25167" cy="5444455"/>
          </a:xfrm>
          <a:prstGeom prst="line">
            <a:avLst/>
          </a:prstGeom>
        </p:spPr>
        <p:style>
          <a:lnRef idx="3">
            <a:schemeClr val="dk1"/>
          </a:lnRef>
          <a:fillRef idx="0">
            <a:schemeClr val="dk1"/>
          </a:fillRef>
          <a:effectRef idx="2">
            <a:schemeClr val="dk1"/>
          </a:effectRef>
          <a:fontRef idx="minor">
            <a:schemeClr val="tx1"/>
          </a:fontRef>
        </p:style>
      </p:cxn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5149" y="1643285"/>
            <a:ext cx="5859832" cy="2303783"/>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23833" y="4095660"/>
            <a:ext cx="2470982" cy="2756573"/>
          </a:xfrm>
          <a:prstGeom prst="rect">
            <a:avLst/>
          </a:prstGeom>
        </p:spPr>
      </p:pic>
      <p:sp>
        <p:nvSpPr>
          <p:cNvPr id="8" name="TextBox 7"/>
          <p:cNvSpPr txBox="1"/>
          <p:nvPr/>
        </p:nvSpPr>
        <p:spPr>
          <a:xfrm>
            <a:off x="645952" y="6300132"/>
            <a:ext cx="1923925" cy="261610"/>
          </a:xfrm>
          <a:prstGeom prst="rect">
            <a:avLst/>
          </a:prstGeom>
          <a:noFill/>
        </p:spPr>
        <p:txBody>
          <a:bodyPr wrap="none" rtlCol="0">
            <a:spAutoFit/>
          </a:bodyPr>
          <a:lstStyle/>
          <a:p>
            <a:r>
              <a:rPr lang="en-US" sz="1100" dirty="0"/>
              <a:t>See </a:t>
            </a:r>
            <a:r>
              <a:rPr lang="en-US" sz="1100" dirty="0" err="1"/>
              <a:t>jupyter</a:t>
            </a:r>
            <a:r>
              <a:rPr lang="en-US" sz="1100" dirty="0"/>
              <a:t> notebook for code</a:t>
            </a:r>
            <a:endParaRPr lang="en-US" dirty="0"/>
          </a:p>
        </p:txBody>
      </p:sp>
      <p:sp>
        <p:nvSpPr>
          <p:cNvPr id="9" name="TextBox 8"/>
          <p:cNvSpPr txBox="1"/>
          <p:nvPr/>
        </p:nvSpPr>
        <p:spPr>
          <a:xfrm>
            <a:off x="8818236" y="6452532"/>
            <a:ext cx="1923925" cy="261610"/>
          </a:xfrm>
          <a:prstGeom prst="rect">
            <a:avLst/>
          </a:prstGeom>
          <a:noFill/>
        </p:spPr>
        <p:txBody>
          <a:bodyPr wrap="none" rtlCol="0">
            <a:spAutoFit/>
          </a:bodyPr>
          <a:lstStyle/>
          <a:p>
            <a:r>
              <a:rPr lang="en-US" sz="1100" dirty="0"/>
              <a:t>See </a:t>
            </a:r>
            <a:r>
              <a:rPr lang="en-US" sz="1100" dirty="0" err="1"/>
              <a:t>jupyter</a:t>
            </a:r>
            <a:r>
              <a:rPr lang="en-US" sz="1100" dirty="0"/>
              <a:t> notebook for code</a:t>
            </a:r>
            <a:endParaRPr lang="en-US" dirty="0"/>
          </a:p>
        </p:txBody>
      </p:sp>
      <p:cxnSp>
        <p:nvCxnSpPr>
          <p:cNvPr id="11" name="Straight Arrow Connector 10"/>
          <p:cNvCxnSpPr/>
          <p:nvPr/>
        </p:nvCxnSpPr>
        <p:spPr>
          <a:xfrm flipV="1">
            <a:off x="1317072" y="5981460"/>
            <a:ext cx="151001" cy="3186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flipH="1" flipV="1">
            <a:off x="8662982" y="5922628"/>
            <a:ext cx="759262" cy="5299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57555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0726"/>
            <a:ext cx="5007123" cy="515718"/>
          </a:xfrm>
        </p:spPr>
        <p:txBody>
          <a:bodyPr>
            <a:noAutofit/>
          </a:bodyPr>
          <a:lstStyle/>
          <a:p>
            <a:r>
              <a:rPr lang="en-US" sz="3200" dirty="0"/>
              <a:t>Decision Tree </a:t>
            </a:r>
            <a:r>
              <a:rPr lang="en-US" sz="3200" dirty="0" err="1"/>
              <a:t>Regressor</a:t>
            </a:r>
            <a:r>
              <a:rPr lang="en-US" sz="3200" dirty="0"/>
              <a:t>(p4)</a:t>
            </a:r>
          </a:p>
        </p:txBody>
      </p:sp>
      <p:sp>
        <p:nvSpPr>
          <p:cNvPr id="3" name="Content Placeholder 2"/>
          <p:cNvSpPr>
            <a:spLocks noGrp="1"/>
          </p:cNvSpPr>
          <p:nvPr>
            <p:ph idx="1"/>
          </p:nvPr>
        </p:nvSpPr>
        <p:spPr>
          <a:xfrm>
            <a:off x="5452844" y="818945"/>
            <a:ext cx="6635692" cy="607183"/>
          </a:xfrm>
        </p:spPr>
        <p:txBody>
          <a:bodyPr>
            <a:noAutofit/>
          </a:bodyPr>
          <a:lstStyle/>
          <a:p>
            <a:pPr marL="0" indent="0">
              <a:buNone/>
            </a:pPr>
            <a:r>
              <a:rPr lang="en-US" sz="1800" dirty="0"/>
              <a:t>6. Recursively repeat steps 2–5 for each child node. (Continue until a stopping criterion is met.)</a:t>
            </a:r>
            <a:endParaRPr lang="en-US" sz="9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847" y="1786394"/>
            <a:ext cx="3783601" cy="4751297"/>
          </a:xfrm>
          <a:prstGeom prst="rect">
            <a:avLst/>
          </a:prstGeom>
        </p:spPr>
      </p:pic>
      <p:cxnSp>
        <p:nvCxnSpPr>
          <p:cNvPr id="5" name="Straight Connector 4"/>
          <p:cNvCxnSpPr/>
          <p:nvPr/>
        </p:nvCxnSpPr>
        <p:spPr>
          <a:xfrm>
            <a:off x="5259897" y="973123"/>
            <a:ext cx="25167" cy="5444455"/>
          </a:xfrm>
          <a:prstGeom prst="line">
            <a:avLst/>
          </a:prstGeom>
        </p:spPr>
        <p:style>
          <a:lnRef idx="3">
            <a:schemeClr val="dk1"/>
          </a:lnRef>
          <a:fillRef idx="0">
            <a:schemeClr val="dk1"/>
          </a:fillRef>
          <a:effectRef idx="2">
            <a:schemeClr val="dk1"/>
          </a:effectRef>
          <a:fontRef idx="minor">
            <a:schemeClr val="tx1"/>
          </a:fontRef>
        </p:style>
      </p:cxnSp>
      <p:sp>
        <p:nvSpPr>
          <p:cNvPr id="10" name="TextBox 9"/>
          <p:cNvSpPr txBox="1"/>
          <p:nvPr/>
        </p:nvSpPr>
        <p:spPr>
          <a:xfrm>
            <a:off x="444616" y="679507"/>
            <a:ext cx="4555222" cy="1077218"/>
          </a:xfrm>
          <a:prstGeom prst="rect">
            <a:avLst/>
          </a:prstGeom>
          <a:noFill/>
        </p:spPr>
        <p:txBody>
          <a:bodyPr wrap="square" rtlCol="0">
            <a:spAutoFit/>
          </a:bodyPr>
          <a:lstStyle/>
          <a:p>
            <a:r>
              <a:rPr lang="en-US" sz="1600" dirty="0"/>
              <a:t>5. Create two child nodes based on the chosen feature and split point:</a:t>
            </a:r>
            <a:br>
              <a:rPr lang="en-US" sz="1600" dirty="0"/>
            </a:br>
            <a:r>
              <a:rPr lang="en-US" sz="1600" dirty="0"/>
              <a:t>- Left child: samples with feature value &lt;= split point</a:t>
            </a:r>
            <a:br>
              <a:rPr lang="en-US" sz="1600" dirty="0"/>
            </a:br>
            <a:r>
              <a:rPr lang="en-US" sz="1600" dirty="0"/>
              <a:t>- Right child: samples with feature value &gt; split point</a:t>
            </a: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7521" y="1351000"/>
            <a:ext cx="4810955" cy="5449850"/>
          </a:xfrm>
          <a:prstGeom prst="rect">
            <a:avLst/>
          </a:prstGeom>
        </p:spPr>
      </p:pic>
    </p:spTree>
    <p:extLst>
      <p:ext uri="{BB962C8B-B14F-4D97-AF65-F5344CB8AC3E}">
        <p14:creationId xmlns:p14="http://schemas.microsoft.com/office/powerpoint/2010/main" val="399012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5067"/>
            <a:ext cx="5973661" cy="515718"/>
          </a:xfrm>
        </p:spPr>
        <p:txBody>
          <a:bodyPr>
            <a:normAutofit fontScale="90000"/>
          </a:bodyPr>
          <a:lstStyle/>
          <a:p>
            <a:r>
              <a:rPr lang="en-US" dirty="0"/>
              <a:t>Decision Tree </a:t>
            </a:r>
            <a:r>
              <a:rPr lang="en-US" dirty="0" err="1"/>
              <a:t>Regressor</a:t>
            </a:r>
            <a:r>
              <a:rPr lang="en-US" dirty="0"/>
              <a:t>(p5)</a:t>
            </a:r>
          </a:p>
        </p:txBody>
      </p:sp>
      <p:cxnSp>
        <p:nvCxnSpPr>
          <p:cNvPr id="5" name="Straight Connector 4"/>
          <p:cNvCxnSpPr/>
          <p:nvPr/>
        </p:nvCxnSpPr>
        <p:spPr>
          <a:xfrm>
            <a:off x="5259897" y="973123"/>
            <a:ext cx="25167" cy="5444455"/>
          </a:xfrm>
          <a:prstGeom prst="line">
            <a:avLst/>
          </a:prstGeom>
        </p:spPr>
        <p:style>
          <a:lnRef idx="3">
            <a:schemeClr val="dk1"/>
          </a:lnRef>
          <a:fillRef idx="0">
            <a:schemeClr val="dk1"/>
          </a:fillRef>
          <a:effectRef idx="2">
            <a:schemeClr val="dk1"/>
          </a:effectRef>
          <a:fontRef idx="minor">
            <a:schemeClr val="tx1"/>
          </a:fontRef>
        </p:style>
      </p:cxnSp>
      <p:sp>
        <p:nvSpPr>
          <p:cNvPr id="10" name="TextBox 9"/>
          <p:cNvSpPr txBox="1"/>
          <p:nvPr/>
        </p:nvSpPr>
        <p:spPr>
          <a:xfrm>
            <a:off x="444616" y="679507"/>
            <a:ext cx="4555222" cy="923330"/>
          </a:xfrm>
          <a:prstGeom prst="rect">
            <a:avLst/>
          </a:prstGeom>
          <a:noFill/>
        </p:spPr>
        <p:txBody>
          <a:bodyPr wrap="square" rtlCol="0">
            <a:spAutoFit/>
          </a:bodyPr>
          <a:lstStyle/>
          <a:p>
            <a:r>
              <a:rPr lang="en-US" dirty="0"/>
              <a:t>7. At each leaf node, assign the average target value of the samples in that node as the prediction.</a:t>
            </a:r>
            <a:endParaRPr lang="en-US" sz="16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105" y="1831200"/>
            <a:ext cx="4937624" cy="352687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9173" y="966087"/>
            <a:ext cx="6487344" cy="3429743"/>
          </a:xfrm>
          <a:prstGeom prst="rect">
            <a:avLst/>
          </a:prstGeom>
        </p:spPr>
      </p:pic>
      <p:sp>
        <p:nvSpPr>
          <p:cNvPr id="11" name="TextBox 10"/>
          <p:cNvSpPr txBox="1"/>
          <p:nvPr/>
        </p:nvSpPr>
        <p:spPr>
          <a:xfrm>
            <a:off x="6484696" y="4706222"/>
            <a:ext cx="1923925" cy="261610"/>
          </a:xfrm>
          <a:prstGeom prst="rect">
            <a:avLst/>
          </a:prstGeom>
          <a:noFill/>
        </p:spPr>
        <p:txBody>
          <a:bodyPr wrap="none" rtlCol="0">
            <a:spAutoFit/>
          </a:bodyPr>
          <a:lstStyle/>
          <a:p>
            <a:r>
              <a:rPr lang="en-US" sz="1100" dirty="0"/>
              <a:t>See </a:t>
            </a:r>
            <a:r>
              <a:rPr lang="en-US" sz="1100" dirty="0" err="1"/>
              <a:t>jupyter</a:t>
            </a:r>
            <a:r>
              <a:rPr lang="en-US" sz="1100" dirty="0"/>
              <a:t> notebook for code</a:t>
            </a:r>
            <a:endParaRPr lang="en-US" dirty="0"/>
          </a:p>
        </p:txBody>
      </p:sp>
      <p:cxnSp>
        <p:nvCxnSpPr>
          <p:cNvPr id="12" name="Straight Arrow Connector 11"/>
          <p:cNvCxnSpPr/>
          <p:nvPr/>
        </p:nvCxnSpPr>
        <p:spPr>
          <a:xfrm flipV="1">
            <a:off x="7155816" y="4387550"/>
            <a:ext cx="151001" cy="3186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57051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845"/>
            <a:ext cx="10515600" cy="515718"/>
          </a:xfrm>
        </p:spPr>
        <p:txBody>
          <a:bodyPr>
            <a:normAutofit fontScale="90000"/>
          </a:bodyPr>
          <a:lstStyle/>
          <a:p>
            <a:r>
              <a:rPr lang="en-US" dirty="0"/>
              <a:t>Decision Tree </a:t>
            </a:r>
            <a:r>
              <a:rPr lang="en-US" dirty="0" err="1"/>
              <a:t>Regressor</a:t>
            </a:r>
            <a:r>
              <a:rPr lang="en-US" dirty="0"/>
              <a:t>(p6)</a:t>
            </a:r>
          </a:p>
        </p:txBody>
      </p:sp>
      <p:cxnSp>
        <p:nvCxnSpPr>
          <p:cNvPr id="5" name="Straight Connector 4"/>
          <p:cNvCxnSpPr/>
          <p:nvPr/>
        </p:nvCxnSpPr>
        <p:spPr>
          <a:xfrm>
            <a:off x="5259897" y="973123"/>
            <a:ext cx="25167" cy="5444455"/>
          </a:xfrm>
          <a:prstGeom prst="line">
            <a:avLst/>
          </a:prstGeom>
        </p:spPr>
        <p:style>
          <a:lnRef idx="3">
            <a:schemeClr val="dk1"/>
          </a:lnRef>
          <a:fillRef idx="0">
            <a:schemeClr val="dk1"/>
          </a:fillRef>
          <a:effectRef idx="2">
            <a:schemeClr val="dk1"/>
          </a:effectRef>
          <a:fontRef idx="minor">
            <a:schemeClr val="tx1"/>
          </a:fontRef>
        </p:style>
      </p:cxnSp>
      <p:sp>
        <p:nvSpPr>
          <p:cNvPr id="10" name="TextBox 9"/>
          <p:cNvSpPr txBox="1"/>
          <p:nvPr/>
        </p:nvSpPr>
        <p:spPr>
          <a:xfrm>
            <a:off x="209725" y="679507"/>
            <a:ext cx="4991449" cy="2031325"/>
          </a:xfrm>
          <a:prstGeom prst="rect">
            <a:avLst/>
          </a:prstGeom>
          <a:noFill/>
        </p:spPr>
        <p:txBody>
          <a:bodyPr wrap="square" rtlCol="0">
            <a:spAutoFit/>
          </a:bodyPr>
          <a:lstStyle/>
          <a:p>
            <a:r>
              <a:rPr lang="en-US" sz="1400" b="1" dirty="0"/>
              <a:t>Regression/Prediction Step</a:t>
            </a:r>
          </a:p>
          <a:p>
            <a:r>
              <a:rPr lang="en-US" sz="1400" dirty="0"/>
              <a:t>Here’s how a regression tree makes predictions for new data:</a:t>
            </a:r>
            <a:br>
              <a:rPr lang="en-US" sz="1400" dirty="0"/>
            </a:br>
            <a:r>
              <a:rPr lang="en-US" sz="1400" dirty="0"/>
              <a:t>1. Start at the top (root) of the tree.</a:t>
            </a:r>
            <a:br>
              <a:rPr lang="en-US" sz="1400" dirty="0"/>
            </a:br>
            <a:r>
              <a:rPr lang="en-US" sz="1400" dirty="0"/>
              <a:t>2. At each decision point (node):</a:t>
            </a:r>
            <a:br>
              <a:rPr lang="en-US" sz="1400" dirty="0"/>
            </a:br>
            <a:r>
              <a:rPr lang="en-US" sz="1400" dirty="0"/>
              <a:t>- Look at the feature and split value.</a:t>
            </a:r>
            <a:br>
              <a:rPr lang="en-US" sz="1400" dirty="0"/>
            </a:br>
            <a:r>
              <a:rPr lang="en-US" sz="1400" dirty="0"/>
              <a:t>- If the data point’s feature value is smaller or equal, go left.</a:t>
            </a:r>
            <a:br>
              <a:rPr lang="en-US" sz="1400" dirty="0"/>
            </a:br>
            <a:r>
              <a:rPr lang="en-US" sz="1400" dirty="0"/>
              <a:t>- If it’s larger, go right.</a:t>
            </a:r>
            <a:br>
              <a:rPr lang="en-US" sz="1400" dirty="0"/>
            </a:br>
            <a:r>
              <a:rPr lang="en-US" sz="1400" dirty="0"/>
              <a:t>3. Keep moving down the tree until you reach the end (a leaf).</a:t>
            </a:r>
            <a:br>
              <a:rPr lang="en-US" sz="1400" dirty="0"/>
            </a:br>
            <a:r>
              <a:rPr lang="en-US" sz="1400" dirty="0"/>
              <a:t>4. The prediction is the average value stored in that leaf.</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6975" y="533606"/>
            <a:ext cx="3909264" cy="4815071"/>
          </a:xfrm>
          <a:prstGeom prst="rect">
            <a:avLst/>
          </a:prstGeom>
        </p:spPr>
      </p:pic>
      <p:sp>
        <p:nvSpPr>
          <p:cNvPr id="11" name="TextBox 10"/>
          <p:cNvSpPr txBox="1"/>
          <p:nvPr/>
        </p:nvSpPr>
        <p:spPr>
          <a:xfrm>
            <a:off x="5905855" y="5687735"/>
            <a:ext cx="1923925" cy="261610"/>
          </a:xfrm>
          <a:prstGeom prst="rect">
            <a:avLst/>
          </a:prstGeom>
          <a:noFill/>
        </p:spPr>
        <p:txBody>
          <a:bodyPr wrap="none" rtlCol="0">
            <a:spAutoFit/>
          </a:bodyPr>
          <a:lstStyle/>
          <a:p>
            <a:r>
              <a:rPr lang="en-US" sz="1100" dirty="0"/>
              <a:t>See </a:t>
            </a:r>
            <a:r>
              <a:rPr lang="en-US" sz="1100" dirty="0" err="1"/>
              <a:t>jupyter</a:t>
            </a:r>
            <a:r>
              <a:rPr lang="en-US" sz="1100" dirty="0"/>
              <a:t> notebook for code</a:t>
            </a:r>
            <a:endParaRPr lang="en-US" dirty="0"/>
          </a:p>
        </p:txBody>
      </p:sp>
      <p:cxnSp>
        <p:nvCxnSpPr>
          <p:cNvPr id="12" name="Straight Arrow Connector 11"/>
          <p:cNvCxnSpPr/>
          <p:nvPr/>
        </p:nvCxnSpPr>
        <p:spPr>
          <a:xfrm flipV="1">
            <a:off x="6576975" y="5369063"/>
            <a:ext cx="151001" cy="3186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289" y="2767606"/>
            <a:ext cx="3571803" cy="4098521"/>
          </a:xfrm>
          <a:prstGeom prst="rect">
            <a:avLst/>
          </a:prstGeom>
        </p:spPr>
      </p:pic>
    </p:spTree>
    <p:extLst>
      <p:ext uri="{BB962C8B-B14F-4D97-AF65-F5344CB8AC3E}">
        <p14:creationId xmlns:p14="http://schemas.microsoft.com/office/powerpoint/2010/main" val="1719154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845"/>
            <a:ext cx="10515600" cy="515718"/>
          </a:xfrm>
        </p:spPr>
        <p:txBody>
          <a:bodyPr>
            <a:normAutofit fontScale="90000"/>
          </a:bodyPr>
          <a:lstStyle/>
          <a:p>
            <a:r>
              <a:rPr lang="en-US" dirty="0"/>
              <a:t>Decision Tree </a:t>
            </a:r>
            <a:r>
              <a:rPr lang="en-US" dirty="0" err="1"/>
              <a:t>Regressor</a:t>
            </a:r>
            <a:r>
              <a:rPr lang="en-US" dirty="0"/>
              <a:t>(p7)</a:t>
            </a:r>
          </a:p>
        </p:txBody>
      </p:sp>
      <p:cxnSp>
        <p:nvCxnSpPr>
          <p:cNvPr id="5" name="Straight Connector 4"/>
          <p:cNvCxnSpPr/>
          <p:nvPr/>
        </p:nvCxnSpPr>
        <p:spPr>
          <a:xfrm>
            <a:off x="5259897" y="973123"/>
            <a:ext cx="25167" cy="5444455"/>
          </a:xfrm>
          <a:prstGeom prst="line">
            <a:avLst/>
          </a:prstGeom>
        </p:spPr>
        <p:style>
          <a:lnRef idx="3">
            <a:schemeClr val="dk1"/>
          </a:lnRef>
          <a:fillRef idx="0">
            <a:schemeClr val="dk1"/>
          </a:fillRef>
          <a:effectRef idx="2">
            <a:schemeClr val="dk1"/>
          </a:effectRef>
          <a:fontRef idx="minor">
            <a:schemeClr val="tx1"/>
          </a:fontRef>
        </p:style>
      </p:cxnSp>
      <p:sp>
        <p:nvSpPr>
          <p:cNvPr id="10" name="TextBox 9"/>
          <p:cNvSpPr txBox="1"/>
          <p:nvPr/>
        </p:nvSpPr>
        <p:spPr>
          <a:xfrm>
            <a:off x="209725" y="679507"/>
            <a:ext cx="4991449" cy="5109091"/>
          </a:xfrm>
          <a:prstGeom prst="rect">
            <a:avLst/>
          </a:prstGeom>
          <a:noFill/>
        </p:spPr>
        <p:txBody>
          <a:bodyPr wrap="square" rtlCol="0">
            <a:spAutoFit/>
          </a:bodyPr>
          <a:lstStyle/>
          <a:p>
            <a:r>
              <a:rPr lang="en-US" sz="2800" b="1" dirty="0"/>
              <a:t>Pre-pruning vs Post-pruning</a:t>
            </a:r>
          </a:p>
          <a:p>
            <a:r>
              <a:rPr lang="en-US" sz="1400" dirty="0"/>
              <a:t>After building the tree, the only thing we need to worry about is the method to make the tree smaller to prevent overfitting. In general, the method of pruning can be categorized as:</a:t>
            </a:r>
          </a:p>
          <a:p>
            <a:r>
              <a:rPr lang="en-US" b="1" dirty="0"/>
              <a:t>Pre-pruning</a:t>
            </a:r>
          </a:p>
          <a:p>
            <a:r>
              <a:rPr lang="en-US" sz="1400" dirty="0"/>
              <a:t>Pre-pruning, also known as early stopping, involves halting the growth of a decision tree during the training process based on certain predefined criteria. This approach aims to prevent the tree from becoming too complex and overfitting the training data. Common pre-pruning techniques include:</a:t>
            </a:r>
          </a:p>
          <a:p>
            <a:r>
              <a:rPr lang="en-US" sz="1400" b="1" dirty="0"/>
              <a:t>Maximum depth</a:t>
            </a:r>
            <a:r>
              <a:rPr lang="en-US" sz="1400" dirty="0"/>
              <a:t>: Limiting how deep the tree can grow.</a:t>
            </a:r>
          </a:p>
          <a:p>
            <a:r>
              <a:rPr lang="en-US" sz="1400" b="1" dirty="0"/>
              <a:t>Minimum samples for split</a:t>
            </a:r>
            <a:r>
              <a:rPr lang="en-US" sz="1400" dirty="0"/>
              <a:t>: Requiring a minimum number of samples to justify splitting a node.</a:t>
            </a:r>
          </a:p>
          <a:p>
            <a:r>
              <a:rPr lang="en-US" sz="1400" b="1" dirty="0"/>
              <a:t>Minimum samples per leaf</a:t>
            </a:r>
            <a:r>
              <a:rPr lang="en-US" sz="1400" dirty="0"/>
              <a:t>: Ensuring each leaf node has at least a certain number of samples.</a:t>
            </a:r>
          </a:p>
          <a:p>
            <a:r>
              <a:rPr lang="en-US" sz="1400" b="1" dirty="0"/>
              <a:t>Maximum number of leaf nodes</a:t>
            </a:r>
            <a:r>
              <a:rPr lang="en-US" sz="1400" dirty="0"/>
              <a:t>: Restricting the total number of leaf nodes in the tree.</a:t>
            </a:r>
          </a:p>
          <a:p>
            <a:r>
              <a:rPr lang="en-US" sz="1400" b="1" dirty="0"/>
              <a:t>Minimum impurity decrease</a:t>
            </a:r>
            <a:r>
              <a:rPr lang="en-US" sz="1400" dirty="0"/>
              <a:t>: Only allowing splits that decrease impurity by a specified amount.</a:t>
            </a:r>
          </a:p>
          <a:p>
            <a:r>
              <a:rPr lang="en-US" sz="1400" dirty="0"/>
              <a:t>These methods stop the tree’s growth when the specified conditions are met, effectively “pruning” the tree during its construction phase.</a:t>
            </a:r>
          </a:p>
        </p:txBody>
      </p:sp>
      <p:sp>
        <p:nvSpPr>
          <p:cNvPr id="11" name="TextBox 10"/>
          <p:cNvSpPr txBox="1"/>
          <p:nvPr/>
        </p:nvSpPr>
        <p:spPr>
          <a:xfrm>
            <a:off x="5486405" y="725447"/>
            <a:ext cx="6476296" cy="2585323"/>
          </a:xfrm>
          <a:prstGeom prst="rect">
            <a:avLst/>
          </a:prstGeom>
          <a:noFill/>
        </p:spPr>
        <p:txBody>
          <a:bodyPr wrap="square" rtlCol="0">
            <a:spAutoFit/>
          </a:bodyPr>
          <a:lstStyle/>
          <a:p>
            <a:r>
              <a:rPr lang="en-US" b="1" dirty="0"/>
              <a:t>Post-pruning</a:t>
            </a:r>
          </a:p>
          <a:p>
            <a:r>
              <a:rPr lang="en-US" sz="1600" dirty="0"/>
              <a:t>Post-pruning, on the other hand, allows the decision tree to grow to its full extent and then prunes it back to reduce complexity. This approach first builds a complete tree and then removes or collapses branches that don’t significantly contribute to the model’s performance. One common post-pruning technique is called </a:t>
            </a:r>
            <a:r>
              <a:rPr lang="en-US" sz="1600" b="1" dirty="0"/>
              <a:t>Cost-Complexity Pruning.</a:t>
            </a:r>
          </a:p>
          <a:p>
            <a:r>
              <a:rPr lang="en-US" sz="1600" b="1" dirty="0"/>
              <a:t>Cost Complexity Pruning</a:t>
            </a:r>
          </a:p>
          <a:p>
            <a:r>
              <a:rPr lang="en-US" sz="1600" b="1" dirty="0"/>
              <a:t>Step 1: Calculate the Impurity for Each Node</a:t>
            </a:r>
          </a:p>
          <a:p>
            <a:r>
              <a:rPr lang="en-US" sz="1600" dirty="0"/>
              <a:t>For each interim node, calculate the impurity (MSE for regression case). We then sorted this value from the lowest to highest.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1164" y="3348320"/>
            <a:ext cx="5172036" cy="3428369"/>
          </a:xfrm>
          <a:prstGeom prst="rect">
            <a:avLst/>
          </a:prstGeom>
        </p:spPr>
      </p:pic>
    </p:spTree>
    <p:extLst>
      <p:ext uri="{BB962C8B-B14F-4D97-AF65-F5344CB8AC3E}">
        <p14:creationId xmlns:p14="http://schemas.microsoft.com/office/powerpoint/2010/main" val="3768215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845"/>
            <a:ext cx="10515600" cy="515718"/>
          </a:xfrm>
        </p:spPr>
        <p:txBody>
          <a:bodyPr>
            <a:normAutofit fontScale="90000"/>
          </a:bodyPr>
          <a:lstStyle/>
          <a:p>
            <a:r>
              <a:rPr lang="en-US" dirty="0"/>
              <a:t>Decision Tree </a:t>
            </a:r>
            <a:r>
              <a:rPr lang="en-US" dirty="0" err="1"/>
              <a:t>Regressor</a:t>
            </a:r>
            <a:r>
              <a:rPr lang="en-US" dirty="0"/>
              <a:t>(p8)</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551" y="772817"/>
            <a:ext cx="11327091" cy="3646596"/>
          </a:xfrm>
          <a:prstGeom prst="rect">
            <a:avLst/>
          </a:prstGeom>
        </p:spPr>
      </p:pic>
      <p:sp>
        <p:nvSpPr>
          <p:cNvPr id="8" name="TextBox 7"/>
          <p:cNvSpPr txBox="1"/>
          <p:nvPr/>
        </p:nvSpPr>
        <p:spPr>
          <a:xfrm>
            <a:off x="3120707" y="4899169"/>
            <a:ext cx="1923925" cy="261610"/>
          </a:xfrm>
          <a:prstGeom prst="rect">
            <a:avLst/>
          </a:prstGeom>
          <a:noFill/>
        </p:spPr>
        <p:txBody>
          <a:bodyPr wrap="none" rtlCol="0">
            <a:spAutoFit/>
          </a:bodyPr>
          <a:lstStyle/>
          <a:p>
            <a:r>
              <a:rPr lang="en-US" sz="1100" dirty="0"/>
              <a:t>See </a:t>
            </a:r>
            <a:r>
              <a:rPr lang="en-US" sz="1100" dirty="0" err="1"/>
              <a:t>jupyter</a:t>
            </a:r>
            <a:r>
              <a:rPr lang="en-US" sz="1100" dirty="0"/>
              <a:t> notebook for code</a:t>
            </a:r>
            <a:endParaRPr lang="en-US" dirty="0"/>
          </a:p>
        </p:txBody>
      </p:sp>
      <p:cxnSp>
        <p:nvCxnSpPr>
          <p:cNvPr id="9" name="Straight Arrow Connector 8"/>
          <p:cNvCxnSpPr/>
          <p:nvPr/>
        </p:nvCxnSpPr>
        <p:spPr>
          <a:xfrm flipV="1">
            <a:off x="3791827" y="4580497"/>
            <a:ext cx="151001" cy="3186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5612235" y="4647501"/>
            <a:ext cx="5494774" cy="276999"/>
          </a:xfrm>
          <a:prstGeom prst="rect">
            <a:avLst/>
          </a:prstGeom>
          <a:noFill/>
        </p:spPr>
        <p:txBody>
          <a:bodyPr wrap="none" rtlCol="0">
            <a:spAutoFit/>
          </a:bodyPr>
          <a:lstStyle/>
          <a:p>
            <a:r>
              <a:rPr lang="en-US" sz="1200" dirty="0"/>
              <a:t>In this </a:t>
            </a:r>
            <a:r>
              <a:rPr lang="en-US" sz="1200" dirty="0" err="1"/>
              <a:t>scikit</a:t>
            </a:r>
            <a:r>
              <a:rPr lang="en-US" sz="1200" dirty="0"/>
              <a:t> learn output, the impurity are shown as “</a:t>
            </a:r>
            <a:r>
              <a:rPr lang="en-US" sz="1200" dirty="0" err="1"/>
              <a:t>squared_error</a:t>
            </a:r>
            <a:r>
              <a:rPr lang="en-US" sz="1200" dirty="0"/>
              <a:t>” for each nodes.</a:t>
            </a:r>
          </a:p>
        </p:txBody>
      </p:sp>
    </p:spTree>
    <p:extLst>
      <p:ext uri="{BB962C8B-B14F-4D97-AF65-F5344CB8AC3E}">
        <p14:creationId xmlns:p14="http://schemas.microsoft.com/office/powerpoint/2010/main" val="24272312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845"/>
            <a:ext cx="10515600" cy="515718"/>
          </a:xfrm>
        </p:spPr>
        <p:txBody>
          <a:bodyPr>
            <a:normAutofit fontScale="90000"/>
          </a:bodyPr>
          <a:lstStyle/>
          <a:p>
            <a:r>
              <a:rPr lang="en-US" dirty="0"/>
              <a:t>Decision Tree </a:t>
            </a:r>
            <a:r>
              <a:rPr lang="en-US" dirty="0" err="1"/>
              <a:t>Regressor</a:t>
            </a:r>
            <a:r>
              <a:rPr lang="en-US" dirty="0"/>
              <a:t>(p9)</a:t>
            </a:r>
          </a:p>
        </p:txBody>
      </p:sp>
      <p:cxnSp>
        <p:nvCxnSpPr>
          <p:cNvPr id="5" name="Straight Connector 4"/>
          <p:cNvCxnSpPr/>
          <p:nvPr/>
        </p:nvCxnSpPr>
        <p:spPr>
          <a:xfrm>
            <a:off x="5259897" y="973123"/>
            <a:ext cx="25167" cy="5444455"/>
          </a:xfrm>
          <a:prstGeom prst="line">
            <a:avLst/>
          </a:prstGeom>
        </p:spPr>
        <p:style>
          <a:lnRef idx="3">
            <a:schemeClr val="dk1"/>
          </a:lnRef>
          <a:fillRef idx="0">
            <a:schemeClr val="dk1"/>
          </a:fillRef>
          <a:effectRef idx="2">
            <a:schemeClr val="dk1"/>
          </a:effectRef>
          <a:fontRef idx="minor">
            <a:schemeClr val="tx1"/>
          </a:fontRef>
        </p:style>
      </p:cxnSp>
      <p:sp>
        <p:nvSpPr>
          <p:cNvPr id="11" name="TextBox 10"/>
          <p:cNvSpPr txBox="1"/>
          <p:nvPr/>
        </p:nvSpPr>
        <p:spPr>
          <a:xfrm>
            <a:off x="5486405" y="725447"/>
            <a:ext cx="6476296" cy="1200329"/>
          </a:xfrm>
          <a:prstGeom prst="rect">
            <a:avLst/>
          </a:prstGeom>
          <a:noFill/>
        </p:spPr>
        <p:txBody>
          <a:bodyPr wrap="square" rtlCol="0">
            <a:spAutoFit/>
          </a:bodyPr>
          <a:lstStyle/>
          <a:p>
            <a:r>
              <a:rPr lang="en-US" b="1" dirty="0"/>
              <a:t>Step 2: Create Subtrees by Trimming The Weakest Link</a:t>
            </a:r>
          </a:p>
          <a:p>
            <a:r>
              <a:rPr lang="en-US" dirty="0"/>
              <a:t>The goal is to gradually turn the interim nodes into leaves starting from the </a:t>
            </a:r>
            <a:r>
              <a:rPr lang="en-US" b="1" dirty="0"/>
              <a:t>node with the lowest MSE</a:t>
            </a:r>
            <a:r>
              <a:rPr lang="en-US" dirty="0"/>
              <a:t> (= weakest link). We can create a path of pruning based on that.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238" y="1543574"/>
            <a:ext cx="5004337" cy="3601848"/>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4423" y="1925776"/>
            <a:ext cx="3888988" cy="4932224"/>
          </a:xfrm>
          <a:prstGeom prst="rect">
            <a:avLst/>
          </a:prstGeom>
        </p:spPr>
      </p:pic>
    </p:spTree>
    <p:extLst>
      <p:ext uri="{BB962C8B-B14F-4D97-AF65-F5344CB8AC3E}">
        <p14:creationId xmlns:p14="http://schemas.microsoft.com/office/powerpoint/2010/main" val="33087679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845"/>
            <a:ext cx="10515600" cy="515718"/>
          </a:xfrm>
        </p:spPr>
        <p:txBody>
          <a:bodyPr>
            <a:normAutofit fontScale="90000"/>
          </a:bodyPr>
          <a:lstStyle/>
          <a:p>
            <a:r>
              <a:rPr lang="en-US" dirty="0"/>
              <a:t>Decision Tree </a:t>
            </a:r>
            <a:r>
              <a:rPr lang="en-US" dirty="0" err="1"/>
              <a:t>Regressor</a:t>
            </a:r>
            <a:r>
              <a:rPr lang="en-US" dirty="0"/>
              <a:t>(p10)</a:t>
            </a:r>
          </a:p>
        </p:txBody>
      </p:sp>
      <p:cxnSp>
        <p:nvCxnSpPr>
          <p:cNvPr id="5" name="Straight Connector 4"/>
          <p:cNvCxnSpPr/>
          <p:nvPr/>
        </p:nvCxnSpPr>
        <p:spPr>
          <a:xfrm>
            <a:off x="5259897" y="973123"/>
            <a:ext cx="25167" cy="5444455"/>
          </a:xfrm>
          <a:prstGeom prst="line">
            <a:avLst/>
          </a:prstGeom>
        </p:spPr>
        <p:style>
          <a:lnRef idx="3">
            <a:schemeClr val="dk1"/>
          </a:lnRef>
          <a:fillRef idx="0">
            <a:schemeClr val="dk1"/>
          </a:fillRef>
          <a:effectRef idx="2">
            <a:schemeClr val="dk1"/>
          </a:effectRef>
          <a:fontRef idx="minor">
            <a:schemeClr val="tx1"/>
          </a:fontRef>
        </p:style>
      </p:cxn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561" y="637562"/>
            <a:ext cx="4581512" cy="6150023"/>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7736" y="729842"/>
            <a:ext cx="5891783" cy="5975952"/>
          </a:xfrm>
          <a:prstGeom prst="rect">
            <a:avLst/>
          </a:prstGeom>
        </p:spPr>
      </p:pic>
    </p:spTree>
    <p:extLst>
      <p:ext uri="{BB962C8B-B14F-4D97-AF65-F5344CB8AC3E}">
        <p14:creationId xmlns:p14="http://schemas.microsoft.com/office/powerpoint/2010/main" val="1108492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845"/>
            <a:ext cx="10515600" cy="515718"/>
          </a:xfrm>
        </p:spPr>
        <p:txBody>
          <a:bodyPr>
            <a:normAutofit fontScale="90000"/>
          </a:bodyPr>
          <a:lstStyle/>
          <a:p>
            <a:r>
              <a:rPr lang="en-US" dirty="0"/>
              <a:t>Decision Tree </a:t>
            </a:r>
            <a:r>
              <a:rPr lang="en-US" dirty="0" err="1"/>
              <a:t>Regressor</a:t>
            </a:r>
            <a:r>
              <a:rPr lang="en-US" dirty="0"/>
              <a:t>(p11)</a:t>
            </a:r>
          </a:p>
        </p:txBody>
      </p:sp>
      <p:cxnSp>
        <p:nvCxnSpPr>
          <p:cNvPr id="5" name="Straight Connector 4"/>
          <p:cNvCxnSpPr/>
          <p:nvPr/>
        </p:nvCxnSpPr>
        <p:spPr>
          <a:xfrm>
            <a:off x="5360565" y="973123"/>
            <a:ext cx="25167" cy="5444455"/>
          </a:xfrm>
          <a:prstGeom prst="line">
            <a:avLst/>
          </a:prstGeom>
        </p:spPr>
        <p:style>
          <a:lnRef idx="3">
            <a:schemeClr val="dk1"/>
          </a:lnRef>
          <a:fillRef idx="0">
            <a:schemeClr val="dk1"/>
          </a:fillRef>
          <a:effectRef idx="2">
            <a:schemeClr val="dk1"/>
          </a:effectRef>
          <a:fontRef idx="minor">
            <a:schemeClr val="tx1"/>
          </a:fontRef>
        </p:style>
      </p:cxn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669" y="1090567"/>
            <a:ext cx="5178846" cy="4872258"/>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3831" y="1006679"/>
            <a:ext cx="6478141" cy="2869036"/>
          </a:xfrm>
          <a:prstGeom prst="rect">
            <a:avLst/>
          </a:prstGeom>
        </p:spPr>
      </p:pic>
    </p:spTree>
    <p:extLst>
      <p:ext uri="{BB962C8B-B14F-4D97-AF65-F5344CB8AC3E}">
        <p14:creationId xmlns:p14="http://schemas.microsoft.com/office/powerpoint/2010/main" val="18979122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845"/>
            <a:ext cx="10515600" cy="515718"/>
          </a:xfrm>
        </p:spPr>
        <p:txBody>
          <a:bodyPr>
            <a:normAutofit fontScale="90000"/>
          </a:bodyPr>
          <a:lstStyle/>
          <a:p>
            <a:r>
              <a:rPr lang="en-US" dirty="0"/>
              <a:t>Decision Tree </a:t>
            </a:r>
            <a:r>
              <a:rPr lang="en-US" dirty="0" err="1"/>
              <a:t>Regressor</a:t>
            </a:r>
            <a:r>
              <a:rPr lang="en-US" dirty="0"/>
              <a:t>(p12)</a:t>
            </a:r>
          </a:p>
        </p:txBody>
      </p:sp>
      <p:cxnSp>
        <p:nvCxnSpPr>
          <p:cNvPr id="5" name="Straight Connector 4"/>
          <p:cNvCxnSpPr/>
          <p:nvPr/>
        </p:nvCxnSpPr>
        <p:spPr>
          <a:xfrm>
            <a:off x="5360565" y="973123"/>
            <a:ext cx="25167" cy="5444455"/>
          </a:xfrm>
          <a:prstGeom prst="line">
            <a:avLst/>
          </a:prstGeom>
        </p:spPr>
        <p:style>
          <a:lnRef idx="3">
            <a:schemeClr val="dk1"/>
          </a:lnRef>
          <a:fillRef idx="0">
            <a:schemeClr val="dk1"/>
          </a:fillRef>
          <a:effectRef idx="2">
            <a:schemeClr val="dk1"/>
          </a:effectRef>
          <a:fontRef idx="minor">
            <a:schemeClr val="tx1"/>
          </a:fontRef>
        </p:style>
      </p:cxn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140" y="1435549"/>
            <a:ext cx="5154146" cy="2440166"/>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2253" y="973123"/>
            <a:ext cx="3786103" cy="5485601"/>
          </a:xfrm>
          <a:prstGeom prst="rect">
            <a:avLst/>
          </a:prstGeom>
        </p:spPr>
      </p:pic>
    </p:spTree>
    <p:extLst>
      <p:ext uri="{BB962C8B-B14F-4D97-AF65-F5344CB8AC3E}">
        <p14:creationId xmlns:p14="http://schemas.microsoft.com/office/powerpoint/2010/main" val="28729608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845"/>
            <a:ext cx="10515600" cy="515718"/>
          </a:xfrm>
        </p:spPr>
        <p:txBody>
          <a:bodyPr>
            <a:normAutofit fontScale="90000"/>
          </a:bodyPr>
          <a:lstStyle/>
          <a:p>
            <a:r>
              <a:rPr lang="en-US" dirty="0"/>
              <a:t>Decision Tree </a:t>
            </a:r>
            <a:r>
              <a:rPr lang="en-US" dirty="0" err="1"/>
              <a:t>Regressor</a:t>
            </a:r>
            <a:r>
              <a:rPr lang="en-US" dirty="0"/>
              <a:t>(p13)</a:t>
            </a:r>
          </a:p>
        </p:txBody>
      </p:sp>
      <p:cxnSp>
        <p:nvCxnSpPr>
          <p:cNvPr id="5" name="Straight Connector 4"/>
          <p:cNvCxnSpPr/>
          <p:nvPr/>
        </p:nvCxnSpPr>
        <p:spPr>
          <a:xfrm>
            <a:off x="5360565" y="973123"/>
            <a:ext cx="25167" cy="5444455"/>
          </a:xfrm>
          <a:prstGeom prst="line">
            <a:avLst/>
          </a:prstGeom>
        </p:spPr>
        <p:style>
          <a:lnRef idx="3">
            <a:schemeClr val="dk1"/>
          </a:lnRef>
          <a:fillRef idx="0">
            <a:schemeClr val="dk1"/>
          </a:fillRef>
          <a:effectRef idx="2">
            <a:schemeClr val="dk1"/>
          </a:effectRef>
          <a:fontRef idx="minor">
            <a:schemeClr val="tx1"/>
          </a:fontRef>
        </p:style>
      </p:cxnSp>
      <p:sp>
        <p:nvSpPr>
          <p:cNvPr id="7" name="TextBox 6"/>
          <p:cNvSpPr txBox="1"/>
          <p:nvPr/>
        </p:nvSpPr>
        <p:spPr>
          <a:xfrm>
            <a:off x="167780" y="796953"/>
            <a:ext cx="4496499" cy="1477328"/>
          </a:xfrm>
          <a:prstGeom prst="rect">
            <a:avLst/>
          </a:prstGeom>
          <a:noFill/>
        </p:spPr>
        <p:txBody>
          <a:bodyPr wrap="square" rtlCol="0">
            <a:spAutoFit/>
          </a:bodyPr>
          <a:lstStyle/>
          <a:p>
            <a:r>
              <a:rPr lang="en-US" b="1" dirty="0"/>
              <a:t>Step 5: Select the Alpha</a:t>
            </a:r>
          </a:p>
          <a:p>
            <a:r>
              <a:rPr lang="en-US" dirty="0"/>
              <a:t>The value of alpha control which subtree we will end up with. The </a:t>
            </a:r>
            <a:r>
              <a:rPr lang="en-US" b="1" dirty="0"/>
              <a:t>subtree with the lowest cost will be the final tree</a:t>
            </a:r>
            <a:r>
              <a:rPr lang="en-US" dirty="0"/>
              <a:t>.</a:t>
            </a:r>
          </a:p>
          <a:p>
            <a:endParaRPr lang="en-US"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115" y="2127873"/>
            <a:ext cx="4706224" cy="4645888"/>
          </a:xfrm>
          <a:prstGeom prst="rect">
            <a:avLst/>
          </a:prstGeom>
        </p:spPr>
      </p:pic>
      <p:sp>
        <p:nvSpPr>
          <p:cNvPr id="9" name="TextBox 8"/>
          <p:cNvSpPr txBox="1"/>
          <p:nvPr/>
        </p:nvSpPr>
        <p:spPr>
          <a:xfrm>
            <a:off x="5561901" y="813732"/>
            <a:ext cx="4787056" cy="923330"/>
          </a:xfrm>
          <a:prstGeom prst="rect">
            <a:avLst/>
          </a:prstGeom>
          <a:noFill/>
        </p:spPr>
        <p:txBody>
          <a:bodyPr wrap="square" rtlCol="0">
            <a:spAutoFit/>
          </a:bodyPr>
          <a:lstStyle/>
          <a:p>
            <a:r>
              <a:rPr lang="en-US" dirty="0"/>
              <a:t>While we can freely set the </a:t>
            </a:r>
            <a:r>
              <a:rPr lang="en-US" i="1" dirty="0"/>
              <a:t>α</a:t>
            </a:r>
            <a:r>
              <a:rPr lang="en-US" dirty="0"/>
              <a:t>, in </a:t>
            </a:r>
            <a:r>
              <a:rPr lang="en-US" dirty="0" err="1"/>
              <a:t>scikit</a:t>
            </a:r>
            <a:r>
              <a:rPr lang="en-US" dirty="0"/>
              <a:t>-learn, you can also get the smallest value of </a:t>
            </a:r>
            <a:r>
              <a:rPr lang="en-US" i="1" dirty="0"/>
              <a:t>α</a:t>
            </a:r>
            <a:r>
              <a:rPr lang="en-US" dirty="0"/>
              <a:t> to obtain a particular subtree. This is called </a:t>
            </a:r>
            <a:r>
              <a:rPr lang="en-US" b="1" dirty="0"/>
              <a:t>effective </a:t>
            </a:r>
            <a:r>
              <a:rPr lang="en-US" b="1" i="1" dirty="0"/>
              <a:t>α</a:t>
            </a:r>
            <a:r>
              <a:rPr lang="en-US" i="1" dirty="0"/>
              <a:t>.</a:t>
            </a:r>
            <a:endParaRPr lang="en-US"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7873" y="1996580"/>
            <a:ext cx="2603906" cy="4785351"/>
          </a:xfrm>
          <a:prstGeom prst="rect">
            <a:avLst/>
          </a:prstGeom>
        </p:spPr>
      </p:pic>
    </p:spTree>
    <p:extLst>
      <p:ext uri="{BB962C8B-B14F-4D97-AF65-F5344CB8AC3E}">
        <p14:creationId xmlns:p14="http://schemas.microsoft.com/office/powerpoint/2010/main" val="378859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845"/>
            <a:ext cx="10515600" cy="515718"/>
          </a:xfrm>
        </p:spPr>
        <p:txBody>
          <a:bodyPr>
            <a:normAutofit fontScale="90000"/>
          </a:bodyPr>
          <a:lstStyle/>
          <a:p>
            <a:r>
              <a:rPr lang="en-US" dirty="0"/>
              <a:t>Decision Tree </a:t>
            </a:r>
            <a:r>
              <a:rPr lang="en-US" dirty="0" err="1"/>
              <a:t>Regressor</a:t>
            </a:r>
            <a:r>
              <a:rPr lang="en-US" dirty="0"/>
              <a:t>(p14)</a:t>
            </a:r>
          </a:p>
        </p:txBody>
      </p:sp>
      <p:cxnSp>
        <p:nvCxnSpPr>
          <p:cNvPr id="5" name="Straight Connector 4"/>
          <p:cNvCxnSpPr/>
          <p:nvPr/>
        </p:nvCxnSpPr>
        <p:spPr>
          <a:xfrm>
            <a:off x="5360565" y="973123"/>
            <a:ext cx="25167" cy="5444455"/>
          </a:xfrm>
          <a:prstGeom prst="line">
            <a:avLst/>
          </a:prstGeom>
        </p:spPr>
        <p:style>
          <a:lnRef idx="3">
            <a:schemeClr val="dk1"/>
          </a:lnRef>
          <a:fillRef idx="0">
            <a:schemeClr val="dk1"/>
          </a:fillRef>
          <a:effectRef idx="2">
            <a:schemeClr val="dk1"/>
          </a:effectRef>
          <a:fontRef idx="minor">
            <a:schemeClr val="tx1"/>
          </a:fontRef>
        </p:style>
      </p:cxn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90" y="1001820"/>
            <a:ext cx="5169151" cy="2186038"/>
          </a:xfrm>
          <a:prstGeom prst="rect">
            <a:avLst/>
          </a:prstGeom>
        </p:spPr>
      </p:pic>
      <p:sp>
        <p:nvSpPr>
          <p:cNvPr id="4" name="TextBox 3"/>
          <p:cNvSpPr txBox="1"/>
          <p:nvPr/>
        </p:nvSpPr>
        <p:spPr>
          <a:xfrm>
            <a:off x="5629013" y="931178"/>
            <a:ext cx="5412153" cy="3539430"/>
          </a:xfrm>
          <a:prstGeom prst="rect">
            <a:avLst/>
          </a:prstGeom>
          <a:noFill/>
        </p:spPr>
        <p:txBody>
          <a:bodyPr wrap="square" rtlCol="0">
            <a:spAutoFit/>
          </a:bodyPr>
          <a:lstStyle/>
          <a:p>
            <a:r>
              <a:rPr lang="en-US" sz="1400" b="1" dirty="0"/>
              <a:t>Final Remarks</a:t>
            </a:r>
          </a:p>
          <a:p>
            <a:r>
              <a:rPr lang="en-US" sz="1400" dirty="0"/>
              <a:t>Pre-pruning methods are generally faster and more memory-efficient, as they prevent the tree from growing too large in the first place.</a:t>
            </a:r>
          </a:p>
          <a:p>
            <a:r>
              <a:rPr lang="en-US" sz="1400" dirty="0"/>
              <a:t>Post-pruning can potentially create more optimal trees, as it considers the entire tree structure before making pruning decisions. However, it can be more computationally expensive.</a:t>
            </a:r>
          </a:p>
          <a:p>
            <a:endParaRPr lang="en-US" sz="1400" dirty="0"/>
          </a:p>
          <a:p>
            <a:r>
              <a:rPr lang="en-US" sz="1400" dirty="0"/>
              <a:t>Both approaches aim to find a balance between model complexity and performance, with the goal of creating a model that generalizes well to unseen data. The choice between pre-pruning and post-pruning (or a combination of both) often depends on the specific dataset, the problem at hand, and of course, computational resources available.</a:t>
            </a:r>
          </a:p>
          <a:p>
            <a:r>
              <a:rPr lang="en-US" sz="1400" dirty="0"/>
              <a:t>In practice, it’s common to use a combination of these methods, like applying some pre-pruning criteria to prevent excessively large trees, and then using post-pruning for fine-tuning the model’s complexity.</a:t>
            </a:r>
          </a:p>
          <a:p>
            <a:endParaRPr lang="en-US" sz="1400" dirty="0"/>
          </a:p>
        </p:txBody>
      </p:sp>
      <p:sp>
        <p:nvSpPr>
          <p:cNvPr id="11" name="TextBox 10"/>
          <p:cNvSpPr txBox="1"/>
          <p:nvPr/>
        </p:nvSpPr>
        <p:spPr>
          <a:xfrm>
            <a:off x="973123" y="3464650"/>
            <a:ext cx="1923925" cy="261610"/>
          </a:xfrm>
          <a:prstGeom prst="rect">
            <a:avLst/>
          </a:prstGeom>
          <a:noFill/>
        </p:spPr>
        <p:txBody>
          <a:bodyPr wrap="none" rtlCol="0">
            <a:spAutoFit/>
          </a:bodyPr>
          <a:lstStyle/>
          <a:p>
            <a:r>
              <a:rPr lang="en-US" sz="1100" dirty="0"/>
              <a:t>See </a:t>
            </a:r>
            <a:r>
              <a:rPr lang="en-US" sz="1100" dirty="0" err="1"/>
              <a:t>jupyter</a:t>
            </a:r>
            <a:r>
              <a:rPr lang="en-US" sz="1100" dirty="0"/>
              <a:t> notebook for code</a:t>
            </a:r>
            <a:endParaRPr lang="en-US" dirty="0"/>
          </a:p>
        </p:txBody>
      </p:sp>
      <p:cxnSp>
        <p:nvCxnSpPr>
          <p:cNvPr id="12" name="Straight Arrow Connector 11"/>
          <p:cNvCxnSpPr/>
          <p:nvPr/>
        </p:nvCxnSpPr>
        <p:spPr>
          <a:xfrm flipV="1">
            <a:off x="1644243" y="3145978"/>
            <a:ext cx="151001" cy="3186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28569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98371" y="54428"/>
            <a:ext cx="4366003" cy="523220"/>
          </a:xfrm>
          <a:prstGeom prst="rect">
            <a:avLst/>
          </a:prstGeom>
          <a:noFill/>
        </p:spPr>
        <p:txBody>
          <a:bodyPr wrap="none" rtlCol="0">
            <a:spAutoFit/>
          </a:bodyPr>
          <a:lstStyle/>
          <a:p>
            <a:r>
              <a:rPr lang="en-US" sz="2800" dirty="0"/>
              <a:t>Random Forest Classifier(p1)</a:t>
            </a:r>
          </a:p>
        </p:txBody>
      </p:sp>
      <p:sp>
        <p:nvSpPr>
          <p:cNvPr id="3" name="TextBox 2"/>
          <p:cNvSpPr txBox="1"/>
          <p:nvPr/>
        </p:nvSpPr>
        <p:spPr>
          <a:xfrm>
            <a:off x="315686" y="751115"/>
            <a:ext cx="11756571" cy="2800767"/>
          </a:xfrm>
          <a:prstGeom prst="rect">
            <a:avLst/>
          </a:prstGeom>
          <a:noFill/>
        </p:spPr>
        <p:txBody>
          <a:bodyPr wrap="square" rtlCol="0">
            <a:spAutoFit/>
          </a:bodyPr>
          <a:lstStyle/>
          <a:p>
            <a:pPr marL="285750" indent="-285750">
              <a:buFont typeface="Arial" panose="020B0604020202020204" pitchFamily="34" charset="0"/>
              <a:buChar char="•"/>
            </a:pPr>
            <a:r>
              <a:rPr lang="en-US" sz="1600" dirty="0"/>
              <a:t>Random forest, an ensemble learning method,  merges the outputs of numerous decision trees to produce a single outcome.</a:t>
            </a:r>
          </a:p>
          <a:p>
            <a:pPr marL="285750" indent="-285750">
              <a:buFont typeface="Arial" panose="020B0604020202020204" pitchFamily="34" charset="0"/>
              <a:buChar char="•"/>
            </a:pPr>
            <a:r>
              <a:rPr lang="en-US" sz="1600" dirty="0"/>
              <a:t>It is suitable for both classification and regression tasks.</a:t>
            </a:r>
          </a:p>
          <a:p>
            <a:pPr marL="285750" indent="-285750">
              <a:buFont typeface="Arial" panose="020B0604020202020204" pitchFamily="34" charset="0"/>
              <a:buChar char="•"/>
            </a:pPr>
            <a:r>
              <a:rPr lang="en-US" sz="1600" dirty="0"/>
              <a:t>It can handle the data set containing continuous variables, as in the case of regression, and categorical variables, as in the case of classification.</a:t>
            </a:r>
          </a:p>
          <a:p>
            <a:endParaRPr lang="en-US" sz="1600" dirty="0"/>
          </a:p>
          <a:p>
            <a:r>
              <a:rPr lang="en-US" sz="1600" b="1" dirty="0"/>
              <a:t>Steps Involved in Random Forest Algorithm</a:t>
            </a:r>
          </a:p>
          <a:p>
            <a:r>
              <a:rPr lang="en-US" sz="1600" dirty="0"/>
              <a:t>Step 1: In this model, we select a subset of data points and a subset of features to construct each decision tree. Simply put, we take n random records and m features from a dataset containing k records.</a:t>
            </a:r>
          </a:p>
          <a:p>
            <a:r>
              <a:rPr lang="en-US" sz="1600" dirty="0"/>
              <a:t>Step 2: We construct individual decision trees for each sample.</a:t>
            </a:r>
          </a:p>
          <a:p>
            <a:r>
              <a:rPr lang="en-US" sz="1600" dirty="0"/>
              <a:t>Step 3: Each decision tree will generate an output.</a:t>
            </a:r>
          </a:p>
          <a:p>
            <a:r>
              <a:rPr lang="en-US" sz="1600" dirty="0"/>
              <a:t>Step 4: We consider the final output based on Majority Voting for classification and Averaging for regression, respectively.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6057" y="3847587"/>
            <a:ext cx="5626554" cy="2892711"/>
          </a:xfrm>
          <a:prstGeom prst="rect">
            <a:avLst/>
          </a:prstGeom>
        </p:spPr>
      </p:pic>
    </p:spTree>
    <p:extLst>
      <p:ext uri="{BB962C8B-B14F-4D97-AF65-F5344CB8AC3E}">
        <p14:creationId xmlns:p14="http://schemas.microsoft.com/office/powerpoint/2010/main" val="28945068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98371" y="54428"/>
            <a:ext cx="4366003" cy="523220"/>
          </a:xfrm>
          <a:prstGeom prst="rect">
            <a:avLst/>
          </a:prstGeom>
          <a:noFill/>
        </p:spPr>
        <p:txBody>
          <a:bodyPr wrap="none" rtlCol="0">
            <a:spAutoFit/>
          </a:bodyPr>
          <a:lstStyle/>
          <a:p>
            <a:r>
              <a:rPr lang="en-US" sz="2800" dirty="0"/>
              <a:t>Random Forest Classifier(p2)</a:t>
            </a:r>
          </a:p>
        </p:txBody>
      </p:sp>
      <p:sp>
        <p:nvSpPr>
          <p:cNvPr id="3" name="TextBox 2"/>
          <p:cNvSpPr txBox="1"/>
          <p:nvPr/>
        </p:nvSpPr>
        <p:spPr>
          <a:xfrm>
            <a:off x="435428" y="751115"/>
            <a:ext cx="11756571" cy="4524315"/>
          </a:xfrm>
          <a:prstGeom prst="rect">
            <a:avLst/>
          </a:prstGeom>
          <a:noFill/>
        </p:spPr>
        <p:txBody>
          <a:bodyPr wrap="square" rtlCol="0">
            <a:spAutoFit/>
          </a:bodyPr>
          <a:lstStyle/>
          <a:p>
            <a:r>
              <a:rPr lang="en-US" sz="1600" dirty="0"/>
              <a:t>Random Forest Classifier Parameters</a:t>
            </a:r>
          </a:p>
          <a:p>
            <a:pPr marL="285750" indent="-285750">
              <a:buFont typeface="Arial" panose="020B0604020202020204" pitchFamily="34" charset="0"/>
              <a:buChar char="•"/>
            </a:pPr>
            <a:r>
              <a:rPr lang="en-US" sz="1600" b="1" dirty="0" err="1"/>
              <a:t>n_estimators</a:t>
            </a:r>
            <a:r>
              <a:rPr lang="en-US" sz="1600" dirty="0"/>
              <a:t>: Number of trees in the forest. More trees generally lead to better performance, but at the cost of computational </a:t>
            </a:r>
            <a:r>
              <a:rPr lang="en-US" sz="1600" dirty="0" err="1"/>
              <a:t>time.Start</a:t>
            </a:r>
            <a:r>
              <a:rPr lang="en-US" sz="1600" dirty="0"/>
              <a:t> with a value of 100 and increase as needed.</a:t>
            </a:r>
          </a:p>
          <a:p>
            <a:endParaRPr lang="en-US" sz="1600" dirty="0"/>
          </a:p>
          <a:p>
            <a:pPr marL="285750" indent="-285750">
              <a:buFont typeface="Arial" panose="020B0604020202020204" pitchFamily="34" charset="0"/>
              <a:buChar char="•"/>
            </a:pPr>
            <a:r>
              <a:rPr lang="en-US" sz="1600" b="1" dirty="0" err="1"/>
              <a:t>max_depth</a:t>
            </a:r>
            <a:r>
              <a:rPr lang="en-US" sz="1600" dirty="0"/>
              <a:t>: Maximum depth of each tree. Deeper trees can capture more complex patterns, but also risk </a:t>
            </a:r>
            <a:r>
              <a:rPr lang="en-US" sz="1600" dirty="0" err="1"/>
              <a:t>overfitting.Experiment</a:t>
            </a:r>
            <a:r>
              <a:rPr lang="en-US" sz="1600" dirty="0"/>
              <a:t> with values between 5 and 15, and consider lower values for smaller datasets.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err="1"/>
              <a:t>max_features</a:t>
            </a:r>
            <a:r>
              <a:rPr lang="en-US" sz="1600" dirty="0"/>
              <a:t>: Number of features considered for splitting at each node. A common value is ‘</a:t>
            </a:r>
            <a:r>
              <a:rPr lang="en-US" sz="1600" dirty="0" err="1"/>
              <a:t>sqrt</a:t>
            </a:r>
            <a:r>
              <a:rPr lang="en-US" sz="1600" dirty="0"/>
              <a:t>’ (square root of the total number of features). Adjust based on dataset size and feature importance.</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criterion</a:t>
            </a:r>
            <a:r>
              <a:rPr lang="en-US" sz="1600" dirty="0"/>
              <a:t>: Function used to measure split quality (‘</a:t>
            </a:r>
            <a:r>
              <a:rPr lang="en-US" sz="1600" dirty="0" err="1"/>
              <a:t>gini</a:t>
            </a:r>
            <a:r>
              <a:rPr lang="en-US" sz="1600" dirty="0"/>
              <a:t>’ or ‘entropy’).Gini impurity is often slightly faster, but both are generally similar in performance.</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err="1"/>
              <a:t>min_samples_split</a:t>
            </a:r>
            <a:r>
              <a:rPr lang="en-US" sz="1600" dirty="0"/>
              <a:t>: Minimum samples required to split a node. Higher values can prevent overfitting, but too high can hinder model complexity. Start with 2 and adjust as needed.</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err="1"/>
              <a:t>min_samples_leaf</a:t>
            </a:r>
            <a:r>
              <a:rPr lang="en-US" sz="1600" dirty="0"/>
              <a:t>: Minimum samples required to be at a leaf node. Similar to </a:t>
            </a:r>
            <a:r>
              <a:rPr lang="en-US" sz="1600" dirty="0" err="1"/>
              <a:t>min_samples_split</a:t>
            </a:r>
            <a:r>
              <a:rPr lang="en-US" sz="1600" dirty="0"/>
              <a:t>, but focused on leaf nodes. Start with 1 and adjust as needed.</a:t>
            </a:r>
          </a:p>
        </p:txBody>
      </p:sp>
      <p:sp>
        <p:nvSpPr>
          <p:cNvPr id="5" name="TextBox 4"/>
          <p:cNvSpPr txBox="1"/>
          <p:nvPr/>
        </p:nvSpPr>
        <p:spPr>
          <a:xfrm>
            <a:off x="435428" y="5355777"/>
            <a:ext cx="11756571" cy="1077218"/>
          </a:xfrm>
          <a:prstGeom prst="rect">
            <a:avLst/>
          </a:prstGeom>
          <a:noFill/>
        </p:spPr>
        <p:txBody>
          <a:bodyPr wrap="square" rtlCol="0">
            <a:spAutoFit/>
          </a:bodyPr>
          <a:lstStyle/>
          <a:p>
            <a:r>
              <a:rPr lang="en-US" sz="1600" b="1" dirty="0"/>
              <a:t>Disadvantages of Random Forest Classifier:</a:t>
            </a:r>
          </a:p>
          <a:p>
            <a:pPr marL="285750" indent="-285750">
              <a:buFont typeface="Arial" panose="020B0604020202020204" pitchFamily="34" charset="0"/>
              <a:buChar char="•"/>
            </a:pPr>
            <a:r>
              <a:rPr lang="en-US" sz="1600" dirty="0"/>
              <a:t>RF can be computationally expensive due to the construction of multiple decision trees.</a:t>
            </a:r>
          </a:p>
          <a:p>
            <a:pPr marL="285750" indent="-285750">
              <a:buFont typeface="Arial" panose="020B0604020202020204" pitchFamily="34" charset="0"/>
              <a:buChar char="•"/>
            </a:pPr>
            <a:r>
              <a:rPr lang="en-US" sz="1600" dirty="0"/>
              <a:t>The ensemble nature makes it challenging to interpret the reasoning behind individual predictions compared to a single decision tree.</a:t>
            </a:r>
          </a:p>
          <a:p>
            <a:pPr marL="285750" indent="-285750">
              <a:buFont typeface="Arial" panose="020B0604020202020204" pitchFamily="34" charset="0"/>
              <a:buChar char="•"/>
            </a:pPr>
            <a:r>
              <a:rPr lang="en-US" sz="1600" dirty="0"/>
              <a:t>In imbalanced datasets</a:t>
            </a:r>
            <a:r>
              <a:rPr lang="en-US" sz="1600"/>
              <a:t>, RF </a:t>
            </a:r>
            <a:r>
              <a:rPr lang="en-US" sz="1600" dirty="0"/>
              <a:t>may be biased toward the majority class, impacting the predictive performance for minority classes.</a:t>
            </a:r>
          </a:p>
        </p:txBody>
      </p:sp>
    </p:spTree>
    <p:extLst>
      <p:ext uri="{BB962C8B-B14F-4D97-AF65-F5344CB8AC3E}">
        <p14:creationId xmlns:p14="http://schemas.microsoft.com/office/powerpoint/2010/main" val="16688134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1" y="103869"/>
            <a:ext cx="4125686" cy="418645"/>
          </a:xfrm>
        </p:spPr>
        <p:txBody>
          <a:bodyPr>
            <a:normAutofit fontScale="90000"/>
          </a:bodyPr>
          <a:lstStyle/>
          <a:p>
            <a:r>
              <a:rPr lang="en-US" sz="2400" b="1" dirty="0"/>
              <a:t>Random forest </a:t>
            </a:r>
            <a:r>
              <a:rPr lang="en-US" sz="2400" b="1" dirty="0" err="1"/>
              <a:t>regressor</a:t>
            </a:r>
            <a:r>
              <a:rPr lang="en-US" sz="2400" b="1" dirty="0"/>
              <a:t>(p1)</a:t>
            </a:r>
          </a:p>
        </p:txBody>
      </p:sp>
      <p:sp>
        <p:nvSpPr>
          <p:cNvPr id="3" name="Content Placeholder 2"/>
          <p:cNvSpPr>
            <a:spLocks noGrp="1"/>
          </p:cNvSpPr>
          <p:nvPr>
            <p:ph idx="1"/>
          </p:nvPr>
        </p:nvSpPr>
        <p:spPr>
          <a:xfrm>
            <a:off x="250371" y="587821"/>
            <a:ext cx="3795199" cy="5980347"/>
          </a:xfrm>
        </p:spPr>
        <p:txBody>
          <a:bodyPr>
            <a:normAutofit/>
          </a:bodyPr>
          <a:lstStyle/>
          <a:p>
            <a:pPr marL="0" indent="0" fontAlgn="base">
              <a:buNone/>
            </a:pPr>
            <a:r>
              <a:rPr lang="en-US" sz="1600" b="1" dirty="0"/>
              <a:t>Applications of Random Forest Regression</a:t>
            </a:r>
          </a:p>
          <a:p>
            <a:pPr fontAlgn="base"/>
            <a:r>
              <a:rPr lang="en-US" sz="1600" b="1" dirty="0"/>
              <a:t>Predicting continuous numerical values:</a:t>
            </a:r>
            <a:r>
              <a:rPr lang="en-US" sz="1600" dirty="0"/>
              <a:t> Predicting house prices, stock prices or customer lifetime value.</a:t>
            </a:r>
          </a:p>
          <a:p>
            <a:pPr fontAlgn="base"/>
            <a:r>
              <a:rPr lang="en-US" sz="1600" b="1" dirty="0"/>
              <a:t>Identifying risk factors:</a:t>
            </a:r>
            <a:r>
              <a:rPr lang="en-US" sz="1600" dirty="0"/>
              <a:t> Detecting risk factors for diseases, financial crises or other negative events.</a:t>
            </a:r>
          </a:p>
          <a:p>
            <a:pPr fontAlgn="base"/>
            <a:r>
              <a:rPr lang="en-US" sz="1600" b="1" dirty="0"/>
              <a:t>Handling high-dimensional data:</a:t>
            </a:r>
            <a:r>
              <a:rPr lang="en-US" sz="1600" dirty="0"/>
              <a:t> Analyzing datasets with a large number of input features.</a:t>
            </a:r>
          </a:p>
          <a:p>
            <a:pPr fontAlgn="base"/>
            <a:r>
              <a:rPr lang="en-US" sz="1600" b="1" dirty="0"/>
              <a:t>Capturing complex relationships:</a:t>
            </a:r>
            <a:r>
              <a:rPr lang="en-US" sz="1600" dirty="0"/>
              <a:t> Modeling complex relationships between input features and the target variable.</a:t>
            </a:r>
          </a:p>
          <a:p>
            <a:endParaRPr lang="en-US" sz="16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5570" y="925285"/>
            <a:ext cx="8114450" cy="5519057"/>
          </a:xfrm>
          <a:prstGeom prst="rect">
            <a:avLst/>
          </a:prstGeom>
        </p:spPr>
      </p:pic>
    </p:spTree>
    <p:extLst>
      <p:ext uri="{BB962C8B-B14F-4D97-AF65-F5344CB8AC3E}">
        <p14:creationId xmlns:p14="http://schemas.microsoft.com/office/powerpoint/2010/main" val="7777638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1" y="103869"/>
            <a:ext cx="4125686" cy="418645"/>
          </a:xfrm>
        </p:spPr>
        <p:txBody>
          <a:bodyPr>
            <a:normAutofit fontScale="90000"/>
          </a:bodyPr>
          <a:lstStyle/>
          <a:p>
            <a:r>
              <a:rPr lang="en-US" sz="2400" b="1" dirty="0"/>
              <a:t>Random forest </a:t>
            </a:r>
            <a:r>
              <a:rPr lang="en-US" sz="2400" b="1" dirty="0" err="1"/>
              <a:t>regressor</a:t>
            </a:r>
            <a:r>
              <a:rPr lang="en-US" sz="2400" b="1" dirty="0"/>
              <a:t>(p2)</a:t>
            </a:r>
          </a:p>
        </p:txBody>
      </p:sp>
      <p:sp>
        <p:nvSpPr>
          <p:cNvPr id="4" name="TextBox 3"/>
          <p:cNvSpPr txBox="1"/>
          <p:nvPr/>
        </p:nvSpPr>
        <p:spPr>
          <a:xfrm>
            <a:off x="163281" y="653134"/>
            <a:ext cx="11680375" cy="2554545"/>
          </a:xfrm>
          <a:prstGeom prst="rect">
            <a:avLst/>
          </a:prstGeom>
          <a:noFill/>
        </p:spPr>
        <p:txBody>
          <a:bodyPr wrap="square" rtlCol="0">
            <a:spAutoFit/>
          </a:bodyPr>
          <a:lstStyle/>
          <a:p>
            <a:pPr fontAlgn="base"/>
            <a:r>
              <a:rPr lang="en-US" sz="1600" b="1" dirty="0"/>
              <a:t>Advantages of RF Regression</a:t>
            </a:r>
          </a:p>
          <a:p>
            <a:pPr marL="285750" indent="-285750" fontAlgn="base">
              <a:buFont typeface="Arial" panose="020B0604020202020204" pitchFamily="34" charset="0"/>
              <a:buChar char="•"/>
            </a:pPr>
            <a:r>
              <a:rPr lang="en-US" sz="1600" b="1" dirty="0"/>
              <a:t>Handles Non-Linearity</a:t>
            </a:r>
            <a:r>
              <a:rPr lang="en-US" sz="1600" dirty="0"/>
              <a:t>:</a:t>
            </a:r>
          </a:p>
          <a:p>
            <a:pPr marL="285750" indent="-285750" fontAlgn="base">
              <a:buFont typeface="Arial" panose="020B0604020202020204" pitchFamily="34" charset="0"/>
              <a:buChar char="•"/>
            </a:pPr>
            <a:r>
              <a:rPr lang="en-US" sz="1600" b="1" dirty="0"/>
              <a:t>Reduces Overfitting</a:t>
            </a:r>
            <a:r>
              <a:rPr lang="en-US" sz="1600" dirty="0"/>
              <a:t>: By combining multiple decision trees and averaging predictions it reduces the risk of overfitting compared to a single Dec tree.</a:t>
            </a:r>
          </a:p>
          <a:p>
            <a:pPr marL="285750" indent="-285750" fontAlgn="base">
              <a:buFont typeface="Arial" panose="020B0604020202020204" pitchFamily="34" charset="0"/>
              <a:buChar char="•"/>
            </a:pPr>
            <a:r>
              <a:rPr lang="en-US" sz="1600" b="1" dirty="0"/>
              <a:t>Robust to Outliers</a:t>
            </a:r>
            <a:r>
              <a:rPr lang="en-US" sz="1600" dirty="0"/>
              <a:t>: Random Forest is less sensitive to outliers as it aggregates the predictions from multiple trees.</a:t>
            </a:r>
          </a:p>
          <a:p>
            <a:pPr marL="285750" indent="-285750" fontAlgn="base">
              <a:buFont typeface="Arial" panose="020B0604020202020204" pitchFamily="34" charset="0"/>
              <a:buChar char="•"/>
            </a:pPr>
            <a:r>
              <a:rPr lang="en-US" sz="1600" b="1" dirty="0"/>
              <a:t>Works Well with Large Datasets</a:t>
            </a:r>
            <a:r>
              <a:rPr lang="en-US" sz="1600" dirty="0"/>
              <a:t>: It can efficiently handle large datasets and high-dimensional data without a significant loss in performance.</a:t>
            </a:r>
          </a:p>
          <a:p>
            <a:pPr marL="285750" indent="-285750" fontAlgn="base">
              <a:buFont typeface="Arial" panose="020B0604020202020204" pitchFamily="34" charset="0"/>
              <a:buChar char="•"/>
            </a:pPr>
            <a:r>
              <a:rPr lang="en-US" sz="1600" b="1" dirty="0"/>
              <a:t>Handles Missing Data</a:t>
            </a:r>
            <a:r>
              <a:rPr lang="en-US" sz="1600" dirty="0"/>
              <a:t>: Random Forest can handle missing values by using surrogate splits and maintaining high accuracy even with incomplete data.</a:t>
            </a:r>
          </a:p>
          <a:p>
            <a:pPr marL="285750" indent="-285750" fontAlgn="base">
              <a:buFont typeface="Arial" panose="020B0604020202020204" pitchFamily="34" charset="0"/>
              <a:buChar char="•"/>
            </a:pPr>
            <a:r>
              <a:rPr lang="en-US" sz="1600" b="1" dirty="0"/>
              <a:t>No Need for Feature Scaling</a:t>
            </a:r>
            <a:r>
              <a:rPr lang="en-US" sz="1600" dirty="0"/>
              <a:t>: Unlike many other algorithms Random Forest does not require normalization or scaling of the data.</a:t>
            </a:r>
          </a:p>
        </p:txBody>
      </p:sp>
      <p:sp>
        <p:nvSpPr>
          <p:cNvPr id="6" name="Content Placeholder 3"/>
          <p:cNvSpPr txBox="1">
            <a:spLocks noGrp="1"/>
          </p:cNvSpPr>
          <p:nvPr>
            <p:ph idx="1"/>
          </p:nvPr>
        </p:nvSpPr>
        <p:spPr>
          <a:xfrm>
            <a:off x="381000" y="3396343"/>
            <a:ext cx="11604171" cy="3299365"/>
          </a:xfrm>
          <a:prstGeom prst="rect">
            <a:avLst/>
          </a:prstGeom>
          <a:noFill/>
        </p:spPr>
        <p:txBody>
          <a:bodyPr wrap="square" rtlCol="0">
            <a:spAutoFit/>
          </a:bodyPr>
          <a:lstStyle/>
          <a:p>
            <a:pPr marL="0" indent="0" fontAlgn="base">
              <a:buNone/>
            </a:pPr>
            <a:r>
              <a:rPr lang="en-US" sz="1600" b="1" dirty="0"/>
              <a:t>Disadvantages of RF Regression</a:t>
            </a:r>
          </a:p>
          <a:p>
            <a:pPr fontAlgn="base"/>
            <a:r>
              <a:rPr lang="en-US" sz="1600" b="1" dirty="0"/>
              <a:t>Complexity</a:t>
            </a:r>
            <a:r>
              <a:rPr lang="en-US" sz="1600" dirty="0"/>
              <a:t>: It can be computationally expensive and slow to train especially with a large number of trees and high-dimensional data.</a:t>
            </a:r>
          </a:p>
          <a:p>
            <a:pPr fontAlgn="base"/>
            <a:r>
              <a:rPr lang="en-US" sz="1600" b="1" dirty="0"/>
              <a:t>Less Interpretability</a:t>
            </a:r>
            <a:r>
              <a:rPr lang="en-US" sz="1600" dirty="0"/>
              <a:t>: Since it uses many trees it can be harder to interpret compared to simpler models like linear regression or decision trees.</a:t>
            </a:r>
          </a:p>
          <a:p>
            <a:pPr fontAlgn="base"/>
            <a:r>
              <a:rPr lang="en-US" sz="1600" b="1" dirty="0"/>
              <a:t>Memory Intensive</a:t>
            </a:r>
            <a:r>
              <a:rPr lang="en-US" sz="1600" dirty="0"/>
              <a:t>: Storing multiple decision trees for large datasets require significant memory resources.</a:t>
            </a:r>
          </a:p>
          <a:p>
            <a:pPr fontAlgn="base"/>
            <a:r>
              <a:rPr lang="en-US" sz="1600" b="1" dirty="0"/>
              <a:t>Overfitting on Noisy Data</a:t>
            </a:r>
            <a:r>
              <a:rPr lang="en-US" sz="1600" dirty="0"/>
              <a:t>: While Random Forest reduces overfitting, it can still </a:t>
            </a:r>
            <a:r>
              <a:rPr lang="en-US" sz="1600" dirty="0" err="1"/>
              <a:t>overfit</a:t>
            </a:r>
            <a:r>
              <a:rPr lang="en-US" sz="1600" dirty="0"/>
              <a:t> if the data is highly noisy, especially with a large number of trees.</a:t>
            </a:r>
          </a:p>
          <a:p>
            <a:pPr fontAlgn="base"/>
            <a:r>
              <a:rPr lang="en-US" sz="1600" b="1" dirty="0"/>
              <a:t>Sensitive to Imbalanced Data</a:t>
            </a:r>
            <a:r>
              <a:rPr lang="en-US" sz="1600" dirty="0"/>
              <a:t>: It may perform poorly if the dataset is highly imbalanced like one class is significantly more frequent than another.</a:t>
            </a:r>
          </a:p>
          <a:p>
            <a:pPr fontAlgn="base"/>
            <a:r>
              <a:rPr lang="en-US" sz="1600" b="1" dirty="0"/>
              <a:t>Difficulty in Real-Time Predictions</a:t>
            </a:r>
            <a:r>
              <a:rPr lang="en-US" sz="1600" dirty="0"/>
              <a:t>: Due to its complexity it may not be suitable for real-time predictions especially with a large number of trees.</a:t>
            </a:r>
          </a:p>
        </p:txBody>
      </p:sp>
    </p:spTree>
    <p:extLst>
      <p:ext uri="{BB962C8B-B14F-4D97-AF65-F5344CB8AC3E}">
        <p14:creationId xmlns:p14="http://schemas.microsoft.com/office/powerpoint/2010/main" val="17590312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5972</TotalTime>
  <Words>3473</Words>
  <Application>Microsoft Office PowerPoint</Application>
  <PresentationFormat>Widescreen</PresentationFormat>
  <Paragraphs>472</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Calibri Light</vt:lpstr>
      <vt:lpstr>Office Theme</vt:lpstr>
      <vt:lpstr>Decision Tree:</vt:lpstr>
      <vt:lpstr>PowerPoint Presentation</vt:lpstr>
      <vt:lpstr>Decision Tree:</vt:lpstr>
      <vt:lpstr>PowerPoint Presentation</vt:lpstr>
      <vt:lpstr>PowerPoint Presentation</vt:lpstr>
      <vt:lpstr>Math of Decision tree:</vt:lpstr>
      <vt:lpstr>Example of calculating IG:</vt:lpstr>
      <vt:lpstr>Steps to calculate IG(p1):</vt:lpstr>
      <vt:lpstr>Steps to calculate IG(p2):</vt:lpstr>
      <vt:lpstr>Steps to calculate IG(p3):</vt:lpstr>
      <vt:lpstr>Steps to calculate IG(p4):</vt:lpstr>
      <vt:lpstr>Steps to calculate IG(p5):</vt:lpstr>
      <vt:lpstr>PowerPoint Presentation</vt:lpstr>
      <vt:lpstr>Decision Tree Regressor(p1)</vt:lpstr>
      <vt:lpstr>Decision Tree Regressor(p2)</vt:lpstr>
      <vt:lpstr>Decision Tree Regressor(p3)</vt:lpstr>
      <vt:lpstr>Decision Tree Regressor(p4)</vt:lpstr>
      <vt:lpstr>Decision Tree Regressor(p5)</vt:lpstr>
      <vt:lpstr>Decision Tree Regressor(p6)</vt:lpstr>
      <vt:lpstr>Decision Tree Regressor(p7)</vt:lpstr>
      <vt:lpstr>Decision Tree Regressor(p8)</vt:lpstr>
      <vt:lpstr>Decision Tree Regressor(p9)</vt:lpstr>
      <vt:lpstr>Decision Tree Regressor(p10)</vt:lpstr>
      <vt:lpstr>Decision Tree Regressor(p11)</vt:lpstr>
      <vt:lpstr>Decision Tree Regressor(p12)</vt:lpstr>
      <vt:lpstr>Decision Tree Regressor(p13)</vt:lpstr>
      <vt:lpstr>Decision Tree Regressor(p14)</vt:lpstr>
      <vt:lpstr>PowerPoint Presentation</vt:lpstr>
      <vt:lpstr>PowerPoint Presentation</vt:lpstr>
      <vt:lpstr>Random forest regressor(p1)</vt:lpstr>
      <vt:lpstr>Random forest regressor(p2)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Applications:</dc:title>
  <dc:creator>hi</dc:creator>
  <cp:lastModifiedBy>Ashwani Kumar</cp:lastModifiedBy>
  <cp:revision>610</cp:revision>
  <dcterms:created xsi:type="dcterms:W3CDTF">2024-07-08T07:20:01Z</dcterms:created>
  <dcterms:modified xsi:type="dcterms:W3CDTF">2025-08-02T07:01:50Z</dcterms:modified>
</cp:coreProperties>
</file>