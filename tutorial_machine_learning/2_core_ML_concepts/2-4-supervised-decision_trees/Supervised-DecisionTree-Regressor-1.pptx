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0"/>
  </p:handoutMasterIdLst>
  <p:sldIdLst>
    <p:sldId id="257" r:id="rId2"/>
    <p:sldId id="266" r:id="rId3"/>
    <p:sldId id="397" r:id="rId4"/>
    <p:sldId id="398" r:id="rId5"/>
    <p:sldId id="399" r:id="rId6"/>
    <p:sldId id="400" r:id="rId7"/>
    <p:sldId id="401" r:id="rId8"/>
    <p:sldId id="402" r:id="rId9"/>
    <p:sldId id="403" r:id="rId10"/>
    <p:sldId id="409" r:id="rId11"/>
    <p:sldId id="395" r:id="rId12"/>
    <p:sldId id="405" r:id="rId13"/>
    <p:sldId id="406" r:id="rId14"/>
    <p:sldId id="407" r:id="rId15"/>
    <p:sldId id="408" r:id="rId16"/>
    <p:sldId id="404" r:id="rId17"/>
    <p:sldId id="396" r:id="rId18"/>
    <p:sldId id="38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8124" y="1244739"/>
            <a:ext cx="10844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supervised machine learning algorithm used for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classification and regression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63991-E87B-ADF0-DFA3-41D48A00E85A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 Regressor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D0830F-7129-D20D-2224-03CF631BA714}"/>
              </a:ext>
            </a:extLst>
          </p:cNvPr>
          <p:cNvSpPr txBox="1"/>
          <p:nvPr/>
        </p:nvSpPr>
        <p:spPr>
          <a:xfrm>
            <a:off x="466344" y="629150"/>
            <a:ext cx="88239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 Regression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Idea: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Splits data into regions and predicts average value per region.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5431F-1336-F8C6-781C-A81B7ED15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47" y="2295144"/>
            <a:ext cx="7220757" cy="416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74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05978-09B5-07E4-ECDE-457D88AF1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5A972C-89AB-F32C-A5D1-A41CCB82BE19}"/>
              </a:ext>
            </a:extLst>
          </p:cNvPr>
          <p:cNvSpPr txBox="1"/>
          <p:nvPr/>
        </p:nvSpPr>
        <p:spPr>
          <a:xfrm>
            <a:off x="219456" y="1049542"/>
            <a:ext cx="63916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 Statement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want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house price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based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Size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sqft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rooms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Age of house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Distance from city center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want output: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House Price (continuous value)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Therefore, this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Regression Problem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91F65A-9A30-0D36-1B8D-09332A24B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288" y="1020698"/>
            <a:ext cx="3995955" cy="408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41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19F5E-08EA-5A76-7A9D-1C0908DCF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25F3A5-E1B0-FBC6-3EF3-8A5AF1539F23}"/>
              </a:ext>
            </a:extLst>
          </p:cNvPr>
          <p:cNvSpPr txBox="1"/>
          <p:nvPr/>
        </p:nvSpPr>
        <p:spPr>
          <a:xfrm>
            <a:off x="219456" y="1049542"/>
            <a:ext cx="63916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it should be noted that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Larger size → higher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Less distance → higher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Newer houses → costly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6477D8-541B-729E-2DDC-C2A0D9A28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288" y="1020698"/>
            <a:ext cx="3995955" cy="408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531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9707-63F4-D436-A1B0-CAFF35E6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5C2BE-F456-10DF-1881-D62E17FB8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7" y="2788920"/>
            <a:ext cx="8944926" cy="40048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3B62AC-3B26-0850-4C35-5C657030BB26}"/>
              </a:ext>
            </a:extLst>
          </p:cNvPr>
          <p:cNvSpPr txBox="1"/>
          <p:nvPr/>
        </p:nvSpPr>
        <p:spPr>
          <a:xfrm>
            <a:off x="219456" y="720358"/>
            <a:ext cx="75620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you make series of decision splits based on features and their values that gives you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maximum information gain.</a:t>
            </a:r>
          </a:p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discussed in detail in DT classifier.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the end you get final DT shown below.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A918C7-4953-28B1-D415-03D21D8BB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88" y="1020698"/>
            <a:ext cx="3995955" cy="408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01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A751-B105-F197-2EAF-37806CEEC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F20C9E0-367F-7E30-18BA-E294F6C86249}"/>
              </a:ext>
            </a:extLst>
          </p:cNvPr>
          <p:cNvSpPr txBox="1"/>
          <p:nvPr/>
        </p:nvSpPr>
        <p:spPr>
          <a:xfrm>
            <a:off x="219456" y="153430"/>
            <a:ext cx="7562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does each value mean 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look at root node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B99ADD-81B5-F956-136F-6A7C28312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7" y="1216152"/>
            <a:ext cx="8782207" cy="56418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A8F323-3A7C-0944-ADF3-550DE67D4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735" y="2468880"/>
            <a:ext cx="3303265" cy="337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77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D9135-69DA-C0B8-7E7C-245BF872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202E74F-1FFA-D2D8-A615-4649C7AEF888}"/>
              </a:ext>
            </a:extLst>
          </p:cNvPr>
          <p:cNvSpPr txBox="1"/>
          <p:nvPr/>
        </p:nvSpPr>
        <p:spPr>
          <a:xfrm>
            <a:off x="219456" y="153430"/>
            <a:ext cx="7562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split at root node Size &lt;= 1350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BDE5DF-A8CA-8F45-035A-60ED2506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1102"/>
            <a:ext cx="11996928" cy="583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59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0D73E-05F8-DAF1-B01C-1AD037FCE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41E34D-C3C6-D943-56F6-13BA6F4ECC77}"/>
              </a:ext>
            </a:extLst>
          </p:cNvPr>
          <p:cNvSpPr txBox="1"/>
          <p:nvPr/>
        </p:nvSpPr>
        <p:spPr>
          <a:xfrm>
            <a:off x="219456" y="153430"/>
            <a:ext cx="7562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split at node Size&lt;=1050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F280BC-1ABE-0EE4-3745-AF98B6862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849241"/>
            <a:ext cx="11552181" cy="501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90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D3667-662F-792D-ED3C-896FD6E3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4F1FC5-421A-A782-8CEC-52921CCB6335}"/>
              </a:ext>
            </a:extLst>
          </p:cNvPr>
          <p:cNvSpPr txBox="1"/>
          <p:nvPr/>
        </p:nvSpPr>
        <p:spPr>
          <a:xfrm>
            <a:off x="219456" y="153430"/>
            <a:ext cx="7562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split at node Distance &lt;= 9.5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5E889-47D6-E8EA-5DD6-6AF8E266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" y="1145500"/>
            <a:ext cx="11688806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1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AC664-BB76-CC0B-7C87-41D9F622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6C55597-A16C-F809-2559-09D61781EE60}"/>
              </a:ext>
            </a:extLst>
          </p:cNvPr>
          <p:cNvSpPr txBox="1"/>
          <p:nvPr/>
        </p:nvSpPr>
        <p:spPr>
          <a:xfrm>
            <a:off x="219456" y="153430"/>
            <a:ext cx="41422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house price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(1400, 3, 6, 5):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size &lt;= 1350 -&gt; No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Age &lt;=4 -&gt; No</a:t>
            </a:r>
          </a:p>
          <a:p>
            <a:pPr marL="457200" indent="-457200">
              <a:buAutoNum type="arabicParenR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Distance &lt;=3.5 -&gt; No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you have reached leaf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Calculate the average of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samples in leaf node: 160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C71457-A373-79B2-8D3E-5526A4287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572" y="0"/>
            <a:ext cx="8360664" cy="516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32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3D1CC-1EF5-4770-1FD3-4665A6C2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82739D-10E9-6F40-3F51-3AD6C9640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7" y="971665"/>
            <a:ext cx="6898256" cy="52807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C62338-176A-F952-27F9-3679F09FE73A}"/>
              </a:ext>
            </a:extLst>
          </p:cNvPr>
          <p:cNvSpPr txBox="1"/>
          <p:nvPr/>
        </p:nvSpPr>
        <p:spPr>
          <a:xfrm>
            <a:off x="1892808" y="429768"/>
            <a:ext cx="2365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0450A-68BB-37AB-FFFF-A55E7A940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288" y="1020698"/>
            <a:ext cx="3995955" cy="408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389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10254-D99E-3F76-55B9-84CAB542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869F4F-9DB4-0C54-EABD-43B750E133A9}"/>
              </a:ext>
            </a:extLst>
          </p:cNvPr>
          <p:cNvSpPr txBox="1"/>
          <p:nvPr/>
        </p:nvSpPr>
        <p:spPr>
          <a:xfrm>
            <a:off x="1517904" y="256032"/>
            <a:ext cx="2365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AD1DD-49B8-C39B-E627-65D34ED12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288" y="1020698"/>
            <a:ext cx="3995955" cy="40814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725079-5EC8-7FA0-0A0E-D7EA33006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7" y="1272139"/>
            <a:ext cx="7197825" cy="431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64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FFD38-B6DC-44FF-8C78-23038A9B9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740088-C2AA-6287-EB8B-7810E948B1C1}"/>
              </a:ext>
            </a:extLst>
          </p:cNvPr>
          <p:cNvSpPr txBox="1"/>
          <p:nvPr/>
        </p:nvSpPr>
        <p:spPr>
          <a:xfrm>
            <a:off x="1517904" y="256032"/>
            <a:ext cx="2365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python code: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DD2C5F-0761-91F7-2006-229D86DDE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288" y="1020698"/>
            <a:ext cx="3995955" cy="40814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2B90AF-9852-8EC1-2EC1-CDE0C7E61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7" y="1408961"/>
            <a:ext cx="7131102" cy="330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79B3F-AE68-236B-E87D-F12869E79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85BBA9-CA2B-8805-5D8D-899AEA7B867E}"/>
              </a:ext>
            </a:extLst>
          </p:cNvPr>
          <p:cNvSpPr txBox="1"/>
          <p:nvPr/>
        </p:nvSpPr>
        <p:spPr>
          <a:xfrm>
            <a:off x="1517904" y="256032"/>
            <a:ext cx="2365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python code: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77B417-4ACE-4C06-7FB4-39444BAC8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7697"/>
            <a:ext cx="3945014" cy="330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36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A320-9EB7-D13A-A896-2F6555DE1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6F7544-8C7D-92E4-E2C2-8ABBC45B9215}"/>
              </a:ext>
            </a:extLst>
          </p:cNvPr>
          <p:cNvSpPr txBox="1"/>
          <p:nvPr/>
        </p:nvSpPr>
        <p:spPr>
          <a:xfrm>
            <a:off x="1517904" y="256032"/>
            <a:ext cx="23653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python code: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FD3F01-F4CB-F123-EBB2-09BFA609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397743"/>
            <a:ext cx="10270428" cy="450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27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E714-E263-4DA8-4E07-231A3AD2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1ED4F2-623E-9067-690B-14F21D18E434}"/>
              </a:ext>
            </a:extLst>
          </p:cNvPr>
          <p:cNvGraphicFramePr>
            <a:graphicFrameLocks noGrp="1"/>
          </p:cNvGraphicFramePr>
          <p:nvPr/>
        </p:nvGraphicFramePr>
        <p:xfrm>
          <a:off x="1789176" y="1294670"/>
          <a:ext cx="8150352" cy="3017520"/>
        </p:xfrm>
        <a:graphic>
          <a:graphicData uri="http://schemas.openxmlformats.org/drawingml/2006/table">
            <a:tbl>
              <a:tblPr/>
              <a:tblGrid>
                <a:gridCol w="4090416">
                  <a:extLst>
                    <a:ext uri="{9D8B030D-6E8A-4147-A177-3AD203B41FA5}">
                      <a16:colId xmlns:a16="http://schemas.microsoft.com/office/drawing/2014/main" val="1614231924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3315360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Advantage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253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 scaling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Works on raw data. No need to 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79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Nonlinear learning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Captures complex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973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Easy interpretation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Rule-based are easy to understand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836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Handles mixed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Numeric + categorical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790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02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3285A-296D-70BE-3C9F-79C694E4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D15E67-4889-18D9-EE06-D77A987685A3}"/>
              </a:ext>
            </a:extLst>
          </p:cNvPr>
          <p:cNvSpPr txBox="1"/>
          <p:nvPr/>
        </p:nvSpPr>
        <p:spPr>
          <a:xfrm>
            <a:off x="466344" y="629150"/>
            <a:ext cx="88239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Cases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estate pricing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Risk modeling</a:t>
            </a:r>
          </a:p>
        </p:txBody>
      </p:sp>
    </p:spTree>
    <p:extLst>
      <p:ext uri="{BB962C8B-B14F-4D97-AF65-F5344CB8AC3E}">
        <p14:creationId xmlns:p14="http://schemas.microsoft.com/office/powerpoint/2010/main" val="891895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97890" y="6223218"/>
            <a:ext cx="19239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See </a:t>
            </a:r>
            <a:r>
              <a:rPr lang="en-US" sz="11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 for code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8769010" y="5904546"/>
            <a:ext cx="151001" cy="3186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10801EA-2696-298D-361F-0C519CB28315}"/>
              </a:ext>
            </a:extLst>
          </p:cNvPr>
          <p:cNvSpPr txBox="1"/>
          <p:nvPr/>
        </p:nvSpPr>
        <p:spPr>
          <a:xfrm flipH="1">
            <a:off x="1444752" y="1344168"/>
            <a:ext cx="132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228667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214</TotalTime>
  <Words>280</Words>
  <Application>Microsoft Office PowerPoint</Application>
  <PresentationFormat>Widescreen</PresentationFormat>
  <Paragraphs>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46</cp:revision>
  <dcterms:created xsi:type="dcterms:W3CDTF">2025-09-22T02:44:38Z</dcterms:created>
  <dcterms:modified xsi:type="dcterms:W3CDTF">2026-02-28T10:24:08Z</dcterms:modified>
</cp:coreProperties>
</file>