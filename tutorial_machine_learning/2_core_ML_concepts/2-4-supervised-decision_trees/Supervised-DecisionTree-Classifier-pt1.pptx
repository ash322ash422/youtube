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3"/>
  </p:handoutMasterIdLst>
  <p:sldIdLst>
    <p:sldId id="405" r:id="rId2"/>
    <p:sldId id="257" r:id="rId3"/>
    <p:sldId id="397" r:id="rId4"/>
    <p:sldId id="396" r:id="rId5"/>
    <p:sldId id="398" r:id="rId6"/>
    <p:sldId id="400" r:id="rId7"/>
    <p:sldId id="404" r:id="rId8"/>
    <p:sldId id="411" r:id="rId9"/>
    <p:sldId id="401" r:id="rId10"/>
    <p:sldId id="342" r:id="rId11"/>
    <p:sldId id="394" r:id="rId12"/>
    <p:sldId id="406" r:id="rId13"/>
    <p:sldId id="407" r:id="rId14"/>
    <p:sldId id="408" r:id="rId15"/>
    <p:sldId id="266" r:id="rId16"/>
    <p:sldId id="409" r:id="rId17"/>
    <p:sldId id="410" r:id="rId18"/>
    <p:sldId id="412" r:id="rId19"/>
    <p:sldId id="413" r:id="rId20"/>
    <p:sldId id="414" r:id="rId21"/>
    <p:sldId id="415" r:id="rId22"/>
    <p:sldId id="395" r:id="rId23"/>
    <p:sldId id="265" r:id="rId24"/>
    <p:sldId id="416" r:id="rId25"/>
    <p:sldId id="375" r:id="rId26"/>
    <p:sldId id="376" r:id="rId27"/>
    <p:sldId id="377" r:id="rId28"/>
    <p:sldId id="378" r:id="rId29"/>
    <p:sldId id="379" r:id="rId30"/>
    <p:sldId id="371" r:id="rId31"/>
    <p:sldId id="25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3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16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0BBFF-B710-7836-ED34-C80B4435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09C569-9789-4E72-DE64-EDDA10D40B87}"/>
              </a:ext>
            </a:extLst>
          </p:cNvPr>
          <p:cNvSpPr txBox="1"/>
          <p:nvPr/>
        </p:nvSpPr>
        <p:spPr>
          <a:xfrm>
            <a:off x="210312" y="895241"/>
            <a:ext cx="60899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Problem: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are given following data that determines whether a person goes out and play based on following weather conditions: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Outlook, Humidity and Wind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this data,  construct a decision tree that would decide based on features (Outlook, Humidity and Wind) whether a person would play or not.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7C4E57-3D5A-1214-E497-07B30A95CD39}"/>
              </a:ext>
            </a:extLst>
          </p:cNvPr>
          <p:cNvSpPr txBox="1"/>
          <p:nvPr/>
        </p:nvSpPr>
        <p:spPr>
          <a:xfrm>
            <a:off x="3012948" y="115747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E5DE16-EB2B-99C6-48DC-B5C35BB6E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658177"/>
              </p:ext>
            </p:extLst>
          </p:nvPr>
        </p:nvGraphicFramePr>
        <p:xfrm>
          <a:off x="7205473" y="1536192"/>
          <a:ext cx="4764024" cy="3406932"/>
        </p:xfrm>
        <a:graphic>
          <a:graphicData uri="http://schemas.openxmlformats.org/drawingml/2006/table">
            <a:tbl>
              <a:tblPr/>
              <a:tblGrid>
                <a:gridCol w="724959">
                  <a:extLst>
                    <a:ext uri="{9D8B030D-6E8A-4147-A177-3AD203B41FA5}">
                      <a16:colId xmlns:a16="http://schemas.microsoft.com/office/drawing/2014/main" val="1391173621"/>
                    </a:ext>
                  </a:extLst>
                </a:gridCol>
                <a:gridCol w="1093194">
                  <a:extLst>
                    <a:ext uri="{9D8B030D-6E8A-4147-A177-3AD203B41FA5}">
                      <a16:colId xmlns:a16="http://schemas.microsoft.com/office/drawing/2014/main" val="2705999899"/>
                    </a:ext>
                  </a:extLst>
                </a:gridCol>
                <a:gridCol w="1196760">
                  <a:extLst>
                    <a:ext uri="{9D8B030D-6E8A-4147-A177-3AD203B41FA5}">
                      <a16:colId xmlns:a16="http://schemas.microsoft.com/office/drawing/2014/main" val="3936364278"/>
                    </a:ext>
                  </a:extLst>
                </a:gridCol>
                <a:gridCol w="978121">
                  <a:extLst>
                    <a:ext uri="{9D8B030D-6E8A-4147-A177-3AD203B41FA5}">
                      <a16:colId xmlns:a16="http://schemas.microsoft.com/office/drawing/2014/main" val="1391330924"/>
                    </a:ext>
                  </a:extLst>
                </a:gridCol>
                <a:gridCol w="770990">
                  <a:extLst>
                    <a:ext uri="{9D8B030D-6E8A-4147-A177-3AD203B41FA5}">
                      <a16:colId xmlns:a16="http://schemas.microsoft.com/office/drawing/2014/main" val="31573282"/>
                    </a:ext>
                  </a:extLst>
                </a:gridCol>
              </a:tblGrid>
              <a:tr h="378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Outlook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Humidity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Wind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Play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887583"/>
                  </a:ext>
                </a:extLst>
              </a:tr>
              <a:tr h="378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6298"/>
                  </a:ext>
                </a:extLst>
              </a:tr>
              <a:tr h="378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734744"/>
                  </a:ext>
                </a:extLst>
              </a:tr>
              <a:tr h="378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Overcast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92D050"/>
                          </a:solidFill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881185"/>
                  </a:ext>
                </a:extLst>
              </a:tr>
              <a:tr h="378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92D050"/>
                          </a:solidFill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49307"/>
                  </a:ext>
                </a:extLst>
              </a:tr>
              <a:tr h="378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92D050"/>
                          </a:solidFill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707162"/>
                  </a:ext>
                </a:extLst>
              </a:tr>
              <a:tr h="378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740529"/>
                  </a:ext>
                </a:extLst>
              </a:tr>
              <a:tr h="378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Overcast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92D050"/>
                          </a:solidFill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399333"/>
                  </a:ext>
                </a:extLst>
              </a:tr>
              <a:tr h="3785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92D050"/>
                          </a:solidFill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815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5462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EF386B-0558-DE65-7873-1EB91A8212BB}"/>
              </a:ext>
            </a:extLst>
          </p:cNvPr>
          <p:cNvSpPr txBox="1"/>
          <p:nvPr/>
        </p:nvSpPr>
        <p:spPr>
          <a:xfrm>
            <a:off x="238124" y="1244739"/>
            <a:ext cx="10844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supervised machine learning algorithm used for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classification and regression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663991-E87B-ADF0-DFA3-41D48A00E85A}"/>
              </a:ext>
            </a:extLst>
          </p:cNvPr>
          <p:cNvSpPr txBox="1"/>
          <p:nvPr/>
        </p:nvSpPr>
        <p:spPr>
          <a:xfrm>
            <a:off x="3012948" y="115747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3B43D-3F01-FE37-D6AD-F3CEA8EE4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6A65819-74D0-E2CF-D132-680642367D0B}"/>
              </a:ext>
            </a:extLst>
          </p:cNvPr>
          <p:cNvSpPr txBox="1"/>
          <p:nvPr/>
        </p:nvSpPr>
        <p:spPr>
          <a:xfrm>
            <a:off x="3012948" y="115747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Tree: Idea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FF84EF-1960-4C65-45ED-D58A740E6501}"/>
              </a:ext>
            </a:extLst>
          </p:cNvPr>
          <p:cNvSpPr txBox="1"/>
          <p:nvPr/>
        </p:nvSpPr>
        <p:spPr>
          <a:xfrm>
            <a:off x="237744" y="941832"/>
            <a:ext cx="10323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have to decide if you are going to play outside.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make your decision based on 2 features only: Humidity and Temperature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Humidity can be high or normal.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Temperature can be cool, mild or hot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AB3E65-3F05-2B74-D1BF-1437C0280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209119"/>
            <a:ext cx="7150608" cy="438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896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6E94-E43F-AF7F-2485-712EE58A1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595D27-67EF-071A-44B1-EEEE7BDCB86C}"/>
              </a:ext>
            </a:extLst>
          </p:cNvPr>
          <p:cNvSpPr txBox="1"/>
          <p:nvPr/>
        </p:nvSpPr>
        <p:spPr>
          <a:xfrm>
            <a:off x="228601" y="1132513"/>
            <a:ext cx="1177641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Following is another example of decision :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Features are age, weight and smoker.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Root node starts with age, then in left node it decides based on wt.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Right node decides based on smoker.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response variable is High/Low risk of heart attack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8E9903-BFF4-F6B6-2393-08C2914FE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606" y="2514600"/>
            <a:ext cx="7267194" cy="38926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65E899-F563-B352-09F3-69B85A3B9B68}"/>
              </a:ext>
            </a:extLst>
          </p:cNvPr>
          <p:cNvSpPr txBox="1"/>
          <p:nvPr/>
        </p:nvSpPr>
        <p:spPr>
          <a:xfrm>
            <a:off x="3012948" y="115747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</a:t>
            </a:r>
          </a:p>
        </p:txBody>
      </p:sp>
    </p:spTree>
    <p:extLst>
      <p:ext uri="{BB962C8B-B14F-4D97-AF65-F5344CB8AC3E}">
        <p14:creationId xmlns:p14="http://schemas.microsoft.com/office/powerpoint/2010/main" val="136951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1A0E-45CD-057C-B9AF-5027F858B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567E64-F4C0-10A3-EF9A-C9531205C73F}"/>
              </a:ext>
            </a:extLst>
          </p:cNvPr>
          <p:cNvSpPr txBox="1"/>
          <p:nvPr/>
        </p:nvSpPr>
        <p:spPr>
          <a:xfrm>
            <a:off x="329184" y="803329"/>
            <a:ext cx="1089050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is a decision tree constructed ?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constructed from training data.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Choose the Best Attribute: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algorithm evaluates all features using a metric such as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Gini impurity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entropy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or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gain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feature that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separates the classes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becomes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root node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(the first decision).</a:t>
            </a: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Split the Dataset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dataset is divided into groups based on the selected feature.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numerical features → 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threshold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used (e.g., in Iris dataset, </a:t>
            </a: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petal_length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&lt;=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2.5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categorical features → the data is split by categories (e.g., Temperature = Hot, Mild, Cool)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Repeat the Process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each new subset of data, the same steps are applied again: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the best feature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Split the data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new branches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continues until 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stopping rule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reached, such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All samples in a node belong to the same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features left to split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depth reached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Minimum samples per node reached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AB6884-1796-536B-50BE-91A1B33BE7A5}"/>
              </a:ext>
            </a:extLst>
          </p:cNvPr>
          <p:cNvSpPr txBox="1"/>
          <p:nvPr/>
        </p:nvSpPr>
        <p:spPr>
          <a:xfrm>
            <a:off x="3012948" y="115747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Tree: Algorithm</a:t>
            </a:r>
          </a:p>
        </p:txBody>
      </p:sp>
    </p:spTree>
    <p:extLst>
      <p:ext uri="{BB962C8B-B14F-4D97-AF65-F5344CB8AC3E}">
        <p14:creationId xmlns:p14="http://schemas.microsoft.com/office/powerpoint/2010/main" val="1051790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BDFFF-60C0-9E17-DDF7-3C2C4ECFC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9BE905E-307D-D5CD-3BC0-80A357B9E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0" y="1299541"/>
            <a:ext cx="2549498" cy="8647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26556EC-6F00-6140-4769-5310B53D61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2700321"/>
                  </p:ext>
                </p:extLst>
              </p:nvPr>
            </p:nvGraphicFramePr>
            <p:xfrm>
              <a:off x="2912364" y="1385336"/>
              <a:ext cx="6367272" cy="1341120"/>
            </p:xfrm>
            <a:graphic>
              <a:graphicData uri="http://schemas.openxmlformats.org/drawingml/2006/table">
                <a:tbl>
                  <a:tblPr/>
                  <a:tblGrid>
                    <a:gridCol w="1476566">
                      <a:extLst>
                        <a:ext uri="{9D8B030D-6E8A-4147-A177-3AD203B41FA5}">
                          <a16:colId xmlns:a16="http://schemas.microsoft.com/office/drawing/2014/main" val="1228940778"/>
                        </a:ext>
                      </a:extLst>
                    </a:gridCol>
                    <a:gridCol w="4890706">
                      <a:extLst>
                        <a:ext uri="{9D8B030D-6E8A-4147-A177-3AD203B41FA5}">
                          <a16:colId xmlns:a16="http://schemas.microsoft.com/office/drawing/2014/main" val="118326687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Symbol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Meaning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970824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S 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The dataset (Entire or subset)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40457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k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Number of class labels (e.g., Banana/Not-Banana → k=2)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245064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dirty="0" smtClean="0"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 dirty="0"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sz="1600" i="1" dirty="0"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The probability of class  </a:t>
                          </a:r>
                          <a:r>
                            <a:rPr lang="en-US" sz="1600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i</a:t>
                          </a:r>
                          <a: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in the dataset 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72702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26556EC-6F00-6140-4769-5310B53D61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2700321"/>
                  </p:ext>
                </p:extLst>
              </p:nvPr>
            </p:nvGraphicFramePr>
            <p:xfrm>
              <a:off x="2912364" y="1385336"/>
              <a:ext cx="6367272" cy="1341120"/>
            </p:xfrm>
            <a:graphic>
              <a:graphicData uri="http://schemas.openxmlformats.org/drawingml/2006/table">
                <a:tbl>
                  <a:tblPr/>
                  <a:tblGrid>
                    <a:gridCol w="1476566">
                      <a:extLst>
                        <a:ext uri="{9D8B030D-6E8A-4147-A177-3AD203B41FA5}">
                          <a16:colId xmlns:a16="http://schemas.microsoft.com/office/drawing/2014/main" val="1228940778"/>
                        </a:ext>
                      </a:extLst>
                    </a:gridCol>
                    <a:gridCol w="4890706">
                      <a:extLst>
                        <a:ext uri="{9D8B030D-6E8A-4147-A177-3AD203B41FA5}">
                          <a16:colId xmlns:a16="http://schemas.microsoft.com/office/drawing/2014/main" val="1183266870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Symbol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Meaning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79708243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S 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The dataset (Entire or subset)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340457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k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Number of class labels (e.g., Banana/Not-Banana → k=2)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2450642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307273" r="-330453" b="-2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The probability of class  </a:t>
                          </a:r>
                          <a:r>
                            <a:rPr lang="en-US" sz="1600" dirty="0" err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i</a:t>
                          </a:r>
                          <a:r>
                            <a:rPr lang="en-US" sz="16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in the dataset S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7727025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AFE3C27-C46A-C359-5943-37FC827584CC}"/>
              </a:ext>
            </a:extLst>
          </p:cNvPr>
          <p:cNvSpPr txBox="1"/>
          <p:nvPr/>
        </p:nvSpPr>
        <p:spPr>
          <a:xfrm>
            <a:off x="153350" y="3462044"/>
            <a:ext cx="6835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Suppose we have 2 class: + and -. Then the formula becomes,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1AAEF6-348D-DA68-ACC4-6B8C36BC7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856" y="4013208"/>
            <a:ext cx="4247558" cy="26830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89D1B4-6442-B730-4941-5FDCD3A8AA9A}"/>
              </a:ext>
            </a:extLst>
          </p:cNvPr>
          <p:cNvSpPr txBox="1"/>
          <p:nvPr/>
        </p:nvSpPr>
        <p:spPr>
          <a:xfrm>
            <a:off x="2877312" y="307848"/>
            <a:ext cx="4497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Entropy: It measures the randomness in data </a:t>
            </a:r>
          </a:p>
        </p:txBody>
      </p:sp>
    </p:spTree>
    <p:extLst>
      <p:ext uri="{BB962C8B-B14F-4D97-AF65-F5344CB8AC3E}">
        <p14:creationId xmlns:p14="http://schemas.microsoft.com/office/powerpoint/2010/main" val="4022243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0678C-94A7-B6C0-241E-8869B71A0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EA2EC7-5B90-64EF-EE2B-19C8097B8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918" y="1108721"/>
            <a:ext cx="3580994" cy="26499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C4F856-395D-951E-C070-5657D130B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9" y="820851"/>
            <a:ext cx="3580994" cy="29378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24CEAC-A864-0436-022A-3CE201601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89" y="4070206"/>
            <a:ext cx="3648456" cy="27877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0727D3-E46D-C0A8-7111-15A3411B32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5654" y="3902327"/>
            <a:ext cx="3970007" cy="295567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DDE40DB-7463-3460-E647-1BF0E4BD5319}"/>
              </a:ext>
            </a:extLst>
          </p:cNvPr>
          <p:cNvSpPr txBox="1"/>
          <p:nvPr/>
        </p:nvSpPr>
        <p:spPr>
          <a:xfrm>
            <a:off x="2026920" y="262128"/>
            <a:ext cx="7245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Below we see that as randomness is lowering, entropy H(S) is getting lower.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Binary class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 entropy ranges from 0 to +1.</a:t>
            </a:r>
          </a:p>
        </p:txBody>
      </p:sp>
    </p:spTree>
    <p:extLst>
      <p:ext uri="{BB962C8B-B14F-4D97-AF65-F5344CB8AC3E}">
        <p14:creationId xmlns:p14="http://schemas.microsoft.com/office/powerpoint/2010/main" val="2635379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BC5CB-C9C4-373D-A39B-6EF8A4240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00F873FF-FEC2-4AA4-C11D-D63A761D5B12}"/>
              </a:ext>
            </a:extLst>
          </p:cNvPr>
          <p:cNvSpPr txBox="1"/>
          <p:nvPr/>
        </p:nvSpPr>
        <p:spPr>
          <a:xfrm>
            <a:off x="2026920" y="262128"/>
            <a:ext cx="5237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Below we have 3 classes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tertiary class, the entropy ranges from 0 to +1.585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6DB9B6-C9C4-3130-3EB6-10B980BEA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8" y="1187376"/>
            <a:ext cx="1918972" cy="13448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7D21DF-7B5E-18A7-4E96-E1D30E267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395" y="3050102"/>
            <a:ext cx="5890771" cy="21822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CC4CDE-1032-75DC-D8BC-20EE4859D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3133" y="1463041"/>
            <a:ext cx="2416992" cy="828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21D9C7-BD28-93EA-A5C8-4462C7A1C2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8" y="3084032"/>
            <a:ext cx="4960050" cy="22907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FF26B2-60F4-C519-97EE-84A9E79E08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0512" y="1277204"/>
            <a:ext cx="1737241" cy="119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599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B5925-6518-8AE4-B1FA-063E20970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168513-160F-9DB6-4AB0-3CE4FC088D87}"/>
              </a:ext>
            </a:extLst>
          </p:cNvPr>
          <p:cNvSpPr txBox="1"/>
          <p:nvPr/>
        </p:nvSpPr>
        <p:spPr>
          <a:xfrm>
            <a:off x="239421" y="724660"/>
            <a:ext cx="10053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Gain =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Entropy before split – Entropy after split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           =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Entropy of Parent     – Weighted entropy of child nodes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AA746B-B095-5621-C368-A3921717E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3" y="1437268"/>
            <a:ext cx="4334341" cy="7722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6C2E934-96D9-8D96-77A3-4C69C367F7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6059444"/>
                  </p:ext>
                </p:extLst>
              </p:nvPr>
            </p:nvGraphicFramePr>
            <p:xfrm>
              <a:off x="5090977" y="1437268"/>
              <a:ext cx="4917795" cy="1828800"/>
            </p:xfrm>
            <a:graphic>
              <a:graphicData uri="http://schemas.openxmlformats.org/drawingml/2006/table">
                <a:tbl>
                  <a:tblPr/>
                  <a:tblGrid>
                    <a:gridCol w="1287627">
                      <a:extLst>
                        <a:ext uri="{9D8B030D-6E8A-4147-A177-3AD203B41FA5}">
                          <a16:colId xmlns:a16="http://schemas.microsoft.com/office/drawing/2014/main" val="381676454"/>
                        </a:ext>
                      </a:extLst>
                    </a:gridCol>
                    <a:gridCol w="3630168">
                      <a:extLst>
                        <a:ext uri="{9D8B030D-6E8A-4147-A177-3AD203B41FA5}">
                          <a16:colId xmlns:a16="http://schemas.microsoft.com/office/drawing/2014/main" val="292196223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Symbol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Meaning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012152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IG(S,A) 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Information Gain of attribute </a:t>
                          </a:r>
                          <a:r>
                            <a:rPr lang="en-US" sz="1400" b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A</a:t>
                          </a:r>
                          <a:endParaRPr lang="en-US" sz="1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8185445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H(S) 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Entropy of the original dataset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99910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Values(A) 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All possible values of attribute </a:t>
                          </a:r>
                          <a:r>
                            <a:rPr lang="en-US" sz="1400" b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A</a:t>
                          </a:r>
                          <a:endParaRPr lang="en-US" sz="1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43973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i="1" dirty="0" smtClean="0"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dirty="0" smtClean="0"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400" b="0" i="1" dirty="0" smtClean="0">
                                        <a:solidFill>
                                          <a:schemeClr val="accent6">
                                            <a:lumMod val="60000"/>
                                            <a:lumOff val="4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Subset of data where attribute A = v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385979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H(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dirty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dirty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400" b="0" i="1" dirty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Entropy of subset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i="1" dirty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dirty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1400" b="0" i="1" dirty="0" smtClean="0">
                                      <a:solidFill>
                                        <a:schemeClr val="accent6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</m:oMath>
                          </a14:m>
                          <a:endParaRPr lang="en-US" sz="1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4420434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6C2E934-96D9-8D96-77A3-4C69C367F7C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6059444"/>
                  </p:ext>
                </p:extLst>
              </p:nvPr>
            </p:nvGraphicFramePr>
            <p:xfrm>
              <a:off x="5090977" y="1437268"/>
              <a:ext cx="4917795" cy="1828800"/>
            </p:xfrm>
            <a:graphic>
              <a:graphicData uri="http://schemas.openxmlformats.org/drawingml/2006/table">
                <a:tbl>
                  <a:tblPr/>
                  <a:tblGrid>
                    <a:gridCol w="1287627">
                      <a:extLst>
                        <a:ext uri="{9D8B030D-6E8A-4147-A177-3AD203B41FA5}">
                          <a16:colId xmlns:a16="http://schemas.microsoft.com/office/drawing/2014/main" val="381676454"/>
                        </a:ext>
                      </a:extLst>
                    </a:gridCol>
                    <a:gridCol w="3630168">
                      <a:extLst>
                        <a:ext uri="{9D8B030D-6E8A-4147-A177-3AD203B41FA5}">
                          <a16:colId xmlns:a16="http://schemas.microsoft.com/office/drawing/2014/main" val="292196223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Symbol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b="1" u="sng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Meaning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012152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IG(S,A) 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Information Gain of attribute </a:t>
                          </a:r>
                          <a:r>
                            <a:rPr lang="en-US" sz="1400" b="1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A</a:t>
                          </a:r>
                          <a:endParaRPr lang="en-US" sz="140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8185445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 H(S) 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Entropy of the original dataset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999100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Values(A) 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All possible values of attribute </a:t>
                          </a:r>
                          <a:r>
                            <a:rPr lang="en-US" sz="1400" b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A</a:t>
                          </a:r>
                          <a:endParaRPr lang="en-US" sz="140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439737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404000" r="-282464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400" dirty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</a:rPr>
                            <a:t>Subset of data where attribute A = v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3859797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t="-504000" r="-282464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3"/>
                          <a:stretch>
                            <a:fillRect l="-35403" t="-504000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4420434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8116560-440E-12E5-CAE1-081C0B72F06A}"/>
              </a:ext>
            </a:extLst>
          </p:cNvPr>
          <p:cNvSpPr txBox="1"/>
          <p:nvPr/>
        </p:nvSpPr>
        <p:spPr>
          <a:xfrm>
            <a:off x="93117" y="3429000"/>
            <a:ext cx="7042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Suppose that S is split into 3 child nodes. Then formula for IG is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4DB912-9465-EF11-E68F-248FB3B1D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385" y="3826980"/>
            <a:ext cx="7573183" cy="29941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A78FCE-4DE2-D40D-AE09-EAA78D2E2BEA}"/>
              </a:ext>
            </a:extLst>
          </p:cNvPr>
          <p:cNvSpPr txBox="1"/>
          <p:nvPr/>
        </p:nvSpPr>
        <p:spPr>
          <a:xfrm>
            <a:off x="2592324" y="115747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gain</a:t>
            </a:r>
          </a:p>
        </p:txBody>
      </p:sp>
    </p:spTree>
    <p:extLst>
      <p:ext uri="{BB962C8B-B14F-4D97-AF65-F5344CB8AC3E}">
        <p14:creationId xmlns:p14="http://schemas.microsoft.com/office/powerpoint/2010/main" val="1916174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728" y="4805391"/>
            <a:ext cx="116855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target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variable(aka,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response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label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is </a:t>
            </a:r>
            <a:r>
              <a:rPr lang="en-US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is_banana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shape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best feature that determines the type of fruit. So, this feature has most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gain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among all. So, start by asking if the fruit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shape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elongated or round, we can quickly determine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fruit.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would be good candidate for splitting.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Feature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sweet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provides no useful information on the type of fruit.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0312" y="895241"/>
            <a:ext cx="57972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are given following training data. Here the features are weight, shape and sweetness. Using this data,  construct a decision tree that would decide based on features whether a fruit is a banana or not.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 any node, how do you determine which feature to use when splitting? 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B7FA34-B21A-4742-FFDD-5EB82117267C}"/>
              </a:ext>
            </a:extLst>
          </p:cNvPr>
          <p:cNvSpPr txBox="1"/>
          <p:nvPr/>
        </p:nvSpPr>
        <p:spPr>
          <a:xfrm>
            <a:off x="2592324" y="115747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gain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805F56-A857-9A0D-A0AE-9C863B46F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810028"/>
              </p:ext>
            </p:extLst>
          </p:nvPr>
        </p:nvGraphicFramePr>
        <p:xfrm>
          <a:off x="6615836" y="1573054"/>
          <a:ext cx="3550615" cy="2936240"/>
        </p:xfrm>
        <a:graphic>
          <a:graphicData uri="http://schemas.openxmlformats.org/drawingml/2006/table">
            <a:tbl>
              <a:tblPr/>
              <a:tblGrid>
                <a:gridCol w="795528">
                  <a:extLst>
                    <a:ext uri="{9D8B030D-6E8A-4147-A177-3AD203B41FA5}">
                      <a16:colId xmlns:a16="http://schemas.microsoft.com/office/drawing/2014/main" val="1853830245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971264632"/>
                    </a:ext>
                  </a:extLst>
                </a:gridCol>
                <a:gridCol w="724205">
                  <a:extLst>
                    <a:ext uri="{9D8B030D-6E8A-4147-A177-3AD203B41FA5}">
                      <a16:colId xmlns:a16="http://schemas.microsoft.com/office/drawing/2014/main" val="2081154262"/>
                    </a:ext>
                  </a:extLst>
                </a:gridCol>
                <a:gridCol w="1093622">
                  <a:extLst>
                    <a:ext uri="{9D8B030D-6E8A-4147-A177-3AD203B41FA5}">
                      <a16:colId xmlns:a16="http://schemas.microsoft.com/office/drawing/2014/main" val="20375430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600" b="1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  <a:endParaRPr lang="en-US" sz="1600">
                        <a:solidFill>
                          <a:srgbClr val="2D2D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600" b="1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shape</a:t>
                      </a:r>
                      <a:endParaRPr lang="en-US" sz="1600">
                        <a:solidFill>
                          <a:srgbClr val="2D2D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600" b="1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sweet</a:t>
                      </a:r>
                      <a:endParaRPr lang="en-US" sz="1600">
                        <a:solidFill>
                          <a:srgbClr val="2D2D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600" b="1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is_banana</a:t>
                      </a:r>
                      <a:endParaRPr lang="en-US" sz="1600">
                        <a:solidFill>
                          <a:srgbClr val="2B2B2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809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643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772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39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488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354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5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77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56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094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400" dirty="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359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1767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71"/>
          <p:cNvSpPr txBox="1"/>
          <p:nvPr/>
        </p:nvSpPr>
        <p:spPr>
          <a:xfrm>
            <a:off x="207907" y="5869693"/>
            <a:ext cx="30199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Less Information Gain from feature sweet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split is more impure.</a:t>
            </a:r>
          </a:p>
        </p:txBody>
      </p:sp>
      <p:cxnSp>
        <p:nvCxnSpPr>
          <p:cNvPr id="74" name="Straight Connector 73"/>
          <p:cNvCxnSpPr/>
          <p:nvPr/>
        </p:nvCxnSpPr>
        <p:spPr>
          <a:xfrm>
            <a:off x="5914239" y="796954"/>
            <a:ext cx="0" cy="546123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D0CBDA1-F96F-279B-329F-676C2FAFBBC8}"/>
              </a:ext>
            </a:extLst>
          </p:cNvPr>
          <p:cNvSpPr txBox="1"/>
          <p:nvPr/>
        </p:nvSpPr>
        <p:spPr>
          <a:xfrm>
            <a:off x="2957690" y="15038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gain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812BAD4-9071-830B-5D5B-5C6CC71E087B}"/>
              </a:ext>
            </a:extLst>
          </p:cNvPr>
          <p:cNvCxnSpPr/>
          <p:nvPr/>
        </p:nvCxnSpPr>
        <p:spPr>
          <a:xfrm>
            <a:off x="12211407" y="757330"/>
            <a:ext cx="0" cy="546123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6976898-7F43-0639-3550-80151356A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1" y="3553100"/>
            <a:ext cx="4229523" cy="210513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7918DCA-14BA-DA03-676A-2D2AAD1919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831132"/>
              </p:ext>
            </p:extLst>
          </p:nvPr>
        </p:nvGraphicFramePr>
        <p:xfrm>
          <a:off x="82844" y="923562"/>
          <a:ext cx="3550615" cy="2418080"/>
        </p:xfrm>
        <a:graphic>
          <a:graphicData uri="http://schemas.openxmlformats.org/drawingml/2006/table">
            <a:tbl>
              <a:tblPr/>
              <a:tblGrid>
                <a:gridCol w="795528">
                  <a:extLst>
                    <a:ext uri="{9D8B030D-6E8A-4147-A177-3AD203B41FA5}">
                      <a16:colId xmlns:a16="http://schemas.microsoft.com/office/drawing/2014/main" val="1853830245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971264632"/>
                    </a:ext>
                  </a:extLst>
                </a:gridCol>
                <a:gridCol w="724205">
                  <a:extLst>
                    <a:ext uri="{9D8B030D-6E8A-4147-A177-3AD203B41FA5}">
                      <a16:colId xmlns:a16="http://schemas.microsoft.com/office/drawing/2014/main" val="2081154262"/>
                    </a:ext>
                  </a:extLst>
                </a:gridCol>
                <a:gridCol w="1093622">
                  <a:extLst>
                    <a:ext uri="{9D8B030D-6E8A-4147-A177-3AD203B41FA5}">
                      <a16:colId xmlns:a16="http://schemas.microsoft.com/office/drawing/2014/main" val="20375430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200" b="1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  <a:endParaRPr lang="en-US" sz="1200">
                        <a:solidFill>
                          <a:srgbClr val="2D2D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200" b="1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shape</a:t>
                      </a:r>
                      <a:endParaRPr lang="en-US" sz="1200">
                        <a:solidFill>
                          <a:srgbClr val="2D2D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200" b="1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sweet</a:t>
                      </a:r>
                      <a:endParaRPr lang="en-US" sz="1200">
                        <a:solidFill>
                          <a:srgbClr val="2D2D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200" b="1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is_banana</a:t>
                      </a:r>
                      <a:endParaRPr lang="en-US" sz="1200">
                        <a:solidFill>
                          <a:srgbClr val="2B2B2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809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643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772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39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488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354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5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77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56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094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35934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3ED1CAC-A9AE-F4C1-6445-70AFE4D5C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080" y="1388558"/>
            <a:ext cx="5225112" cy="19089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6C1CF9-55FB-4B30-DFC4-6AFB70EC1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9503" y="599813"/>
            <a:ext cx="7345680" cy="7005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D92847-9A55-6AEF-855C-DB39A24C6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1021" y="3689123"/>
            <a:ext cx="3550615" cy="21805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F64BD8-D1E0-2B0A-6CD2-F757F8ADF8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0646" y="3429000"/>
            <a:ext cx="3471335" cy="21805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97C72D-3D19-A45C-1897-4DB0E1D285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7477" y="6156665"/>
            <a:ext cx="6179416" cy="59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805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83F58-2C80-0BC0-DFAD-ADEEC0446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1FC1338D-37CD-14E0-2FFF-5C1BCE10E950}"/>
              </a:ext>
            </a:extLst>
          </p:cNvPr>
          <p:cNvCxnSpPr/>
          <p:nvPr/>
        </p:nvCxnSpPr>
        <p:spPr>
          <a:xfrm>
            <a:off x="5914239" y="796954"/>
            <a:ext cx="0" cy="546123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D9993F3-99BE-04BD-73C4-6D6DB2802CC5}"/>
              </a:ext>
            </a:extLst>
          </p:cNvPr>
          <p:cNvSpPr txBox="1"/>
          <p:nvPr/>
        </p:nvSpPr>
        <p:spPr>
          <a:xfrm>
            <a:off x="2957690" y="15038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gain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49DEB1A-783B-81E3-3245-25E8F9D88E5A}"/>
              </a:ext>
            </a:extLst>
          </p:cNvPr>
          <p:cNvCxnSpPr/>
          <p:nvPr/>
        </p:nvCxnSpPr>
        <p:spPr>
          <a:xfrm>
            <a:off x="12211407" y="757330"/>
            <a:ext cx="0" cy="546123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98BD1A-0CED-826A-3D37-4E58D1673185}"/>
              </a:ext>
            </a:extLst>
          </p:cNvPr>
          <p:cNvGraphicFramePr>
            <a:graphicFrameLocks noGrp="1"/>
          </p:cNvGraphicFramePr>
          <p:nvPr/>
        </p:nvGraphicFramePr>
        <p:xfrm>
          <a:off x="82844" y="923562"/>
          <a:ext cx="3550615" cy="2418080"/>
        </p:xfrm>
        <a:graphic>
          <a:graphicData uri="http://schemas.openxmlformats.org/drawingml/2006/table">
            <a:tbl>
              <a:tblPr/>
              <a:tblGrid>
                <a:gridCol w="795528">
                  <a:extLst>
                    <a:ext uri="{9D8B030D-6E8A-4147-A177-3AD203B41FA5}">
                      <a16:colId xmlns:a16="http://schemas.microsoft.com/office/drawing/2014/main" val="1853830245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971264632"/>
                    </a:ext>
                  </a:extLst>
                </a:gridCol>
                <a:gridCol w="724205">
                  <a:extLst>
                    <a:ext uri="{9D8B030D-6E8A-4147-A177-3AD203B41FA5}">
                      <a16:colId xmlns:a16="http://schemas.microsoft.com/office/drawing/2014/main" val="2081154262"/>
                    </a:ext>
                  </a:extLst>
                </a:gridCol>
                <a:gridCol w="1093622">
                  <a:extLst>
                    <a:ext uri="{9D8B030D-6E8A-4147-A177-3AD203B41FA5}">
                      <a16:colId xmlns:a16="http://schemas.microsoft.com/office/drawing/2014/main" val="20375430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200" b="1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  <a:endParaRPr lang="en-US" sz="1200">
                        <a:solidFill>
                          <a:srgbClr val="2D2D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200" b="1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shape</a:t>
                      </a:r>
                      <a:endParaRPr lang="en-US" sz="1200">
                        <a:solidFill>
                          <a:srgbClr val="2D2D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200" b="1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sweet</a:t>
                      </a:r>
                      <a:endParaRPr lang="en-US" sz="1200">
                        <a:solidFill>
                          <a:srgbClr val="2D2D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200" b="1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is_banana</a:t>
                      </a:r>
                      <a:endParaRPr lang="en-US" sz="1200">
                        <a:solidFill>
                          <a:srgbClr val="2B2B2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809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643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772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39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488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354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5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77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56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094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35934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F32433BC-9FEF-7EC4-70B0-182BD568B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046" y="1374056"/>
            <a:ext cx="5711576" cy="20866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681323-B512-2189-6224-C899E1EE2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503" y="599813"/>
            <a:ext cx="7345680" cy="70057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FBE2362A-E449-85DB-44DC-FC2C197A0EE1}"/>
              </a:ext>
            </a:extLst>
          </p:cNvPr>
          <p:cNvSpPr txBox="1"/>
          <p:nvPr/>
        </p:nvSpPr>
        <p:spPr>
          <a:xfrm>
            <a:off x="308393" y="5897768"/>
            <a:ext cx="47439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Gain increases from feature weight.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split is less Impure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1B6776F-C27F-9C4A-D0F9-873C8E427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39" y="6026935"/>
            <a:ext cx="6223471" cy="6896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61EFDC-895D-891A-CABC-DCEC57D2C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046" y="3657889"/>
            <a:ext cx="3117278" cy="2183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EFCF3CC-3CE9-FA42-9647-F7529B3DDB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917" y="3559318"/>
            <a:ext cx="4111648" cy="20866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129D4F9-E87C-53BB-C2C1-A263E17886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1380" y="3559318"/>
            <a:ext cx="3840620" cy="210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03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B1E24-1CCB-84CA-3721-C367160FF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FCBB58A-04FA-2107-FCE2-2D93B6F9EF52}"/>
              </a:ext>
            </a:extLst>
          </p:cNvPr>
          <p:cNvCxnSpPr/>
          <p:nvPr/>
        </p:nvCxnSpPr>
        <p:spPr>
          <a:xfrm>
            <a:off x="5914239" y="796954"/>
            <a:ext cx="0" cy="546123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E27860C-22DC-63AC-B0E2-0BC81E13B9FB}"/>
              </a:ext>
            </a:extLst>
          </p:cNvPr>
          <p:cNvSpPr txBox="1"/>
          <p:nvPr/>
        </p:nvSpPr>
        <p:spPr>
          <a:xfrm>
            <a:off x="2957690" y="15038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gain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EE50D785-D691-8FD2-814F-45E8252BD36F}"/>
              </a:ext>
            </a:extLst>
          </p:cNvPr>
          <p:cNvCxnSpPr/>
          <p:nvPr/>
        </p:nvCxnSpPr>
        <p:spPr>
          <a:xfrm>
            <a:off x="12211407" y="757330"/>
            <a:ext cx="0" cy="546123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4BD526-9FDC-0FC6-6F2D-C6B9EADDA837}"/>
              </a:ext>
            </a:extLst>
          </p:cNvPr>
          <p:cNvGraphicFramePr>
            <a:graphicFrameLocks noGrp="1"/>
          </p:cNvGraphicFramePr>
          <p:nvPr/>
        </p:nvGraphicFramePr>
        <p:xfrm>
          <a:off x="82844" y="923562"/>
          <a:ext cx="3550615" cy="2418080"/>
        </p:xfrm>
        <a:graphic>
          <a:graphicData uri="http://schemas.openxmlformats.org/drawingml/2006/table">
            <a:tbl>
              <a:tblPr/>
              <a:tblGrid>
                <a:gridCol w="795528">
                  <a:extLst>
                    <a:ext uri="{9D8B030D-6E8A-4147-A177-3AD203B41FA5}">
                      <a16:colId xmlns:a16="http://schemas.microsoft.com/office/drawing/2014/main" val="1853830245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971264632"/>
                    </a:ext>
                  </a:extLst>
                </a:gridCol>
                <a:gridCol w="724205">
                  <a:extLst>
                    <a:ext uri="{9D8B030D-6E8A-4147-A177-3AD203B41FA5}">
                      <a16:colId xmlns:a16="http://schemas.microsoft.com/office/drawing/2014/main" val="2081154262"/>
                    </a:ext>
                  </a:extLst>
                </a:gridCol>
                <a:gridCol w="1093622">
                  <a:extLst>
                    <a:ext uri="{9D8B030D-6E8A-4147-A177-3AD203B41FA5}">
                      <a16:colId xmlns:a16="http://schemas.microsoft.com/office/drawing/2014/main" val="20375430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200" b="1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weight</a:t>
                      </a:r>
                      <a:endParaRPr lang="en-US" sz="1200">
                        <a:solidFill>
                          <a:srgbClr val="2D2D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200" b="1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shape</a:t>
                      </a:r>
                      <a:endParaRPr lang="en-US" sz="1200">
                        <a:solidFill>
                          <a:srgbClr val="2D2D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200" b="1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sweet</a:t>
                      </a:r>
                      <a:endParaRPr lang="en-US" sz="1200">
                        <a:solidFill>
                          <a:srgbClr val="2D2D2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200" b="1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is_banana</a:t>
                      </a:r>
                      <a:endParaRPr lang="en-US" sz="1200">
                        <a:solidFill>
                          <a:srgbClr val="2B2B2B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809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643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772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39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488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354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5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77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round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Not 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56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3094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elongated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effectLst/>
                          <a:latin typeface="Calibri" panose="020F0502020204030204" pitchFamily="34" charset="0"/>
                        </a:rPr>
                        <a:t>n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t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effectLst/>
                          <a:latin typeface="Calibri" panose="020F0502020204030204" pitchFamily="34" charset="0"/>
                        </a:rPr>
                        <a:t>Banana</a:t>
                      </a:r>
                    </a:p>
                  </a:txBody>
                  <a:tcPr marL="38100" marR="38100" marT="25400" marB="254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359340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9D762AC-D9E0-D236-7455-973A7D445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320" y="1342308"/>
            <a:ext cx="5711576" cy="20866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5CB86D-D3CF-EDB4-361B-CE9BD10C9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503" y="599813"/>
            <a:ext cx="7345680" cy="7005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1BBD0D-6DE0-A844-D9BB-661BBB8757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393" y="3516359"/>
            <a:ext cx="3837359" cy="2004335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CEFEC4AE-F409-43EE-F62C-EBEE90862F12}"/>
              </a:ext>
            </a:extLst>
          </p:cNvPr>
          <p:cNvSpPr txBox="1"/>
          <p:nvPr/>
        </p:nvSpPr>
        <p:spPr>
          <a:xfrm>
            <a:off x="134754" y="6080005"/>
            <a:ext cx="3854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information gain from shape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split is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pure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730495-7547-07B5-3CB0-3D235E7F8C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4585" y="3558907"/>
            <a:ext cx="2921078" cy="22607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7F3B3A-A9C8-550E-5F1C-446BD95940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9816" y="3558907"/>
            <a:ext cx="3073254" cy="21314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C085B5-614E-5D83-E7D5-306B7F0005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4928" y="6098170"/>
            <a:ext cx="4030184" cy="44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250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2F62F-AFC2-BD99-FB67-F8624F66E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BBEF87-CF69-1F26-0FF3-CA95CEBF8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4" y="1182362"/>
            <a:ext cx="3835393" cy="19089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401DA0-EAAD-2BFF-1F14-66525E1C6E12}"/>
              </a:ext>
            </a:extLst>
          </p:cNvPr>
          <p:cNvSpPr txBox="1"/>
          <p:nvPr/>
        </p:nvSpPr>
        <p:spPr>
          <a:xfrm>
            <a:off x="429768" y="3575304"/>
            <a:ext cx="2728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IG(Parent, ‘sweet’) = 0.029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8D9E48-7883-889C-83A7-907784B72DDF}"/>
              </a:ext>
            </a:extLst>
          </p:cNvPr>
          <p:cNvSpPr txBox="1"/>
          <p:nvPr/>
        </p:nvSpPr>
        <p:spPr>
          <a:xfrm>
            <a:off x="4731716" y="3575304"/>
            <a:ext cx="2930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IG(Parent, ‘weight’) = 0.2781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9A7AEF-1763-5BB7-7888-3DB485106FEC}"/>
              </a:ext>
            </a:extLst>
          </p:cNvPr>
          <p:cNvSpPr txBox="1"/>
          <p:nvPr/>
        </p:nvSpPr>
        <p:spPr>
          <a:xfrm>
            <a:off x="8805067" y="3575304"/>
            <a:ext cx="2314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IG(Parent, ‘shape’) = 1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5A2F3-F50E-CEE0-525A-20419AB2794A}"/>
              </a:ext>
            </a:extLst>
          </p:cNvPr>
          <p:cNvSpPr txBox="1"/>
          <p:nvPr/>
        </p:nvSpPr>
        <p:spPr>
          <a:xfrm>
            <a:off x="227533" y="5218176"/>
            <a:ext cx="7628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we choose shape as the attribute to split the parent as it gives maximum IG.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split is pure.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395B00-3661-2CB7-669E-7005158633BF}"/>
              </a:ext>
            </a:extLst>
          </p:cNvPr>
          <p:cNvSpPr txBox="1"/>
          <p:nvPr/>
        </p:nvSpPr>
        <p:spPr>
          <a:xfrm>
            <a:off x="2957690" y="15038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Information gain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D1617E-ED52-3889-2CCC-84FADF0C8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150" y="1285443"/>
            <a:ext cx="4042850" cy="18058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446E95-E023-BA58-D29D-93874DD4F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848" y="4839411"/>
            <a:ext cx="4042850" cy="18058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66D42A-7A2B-5C32-ECFB-7842FB1CD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724" y="1088644"/>
            <a:ext cx="3936551" cy="199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88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0D61856-B0AD-FE07-3277-8E652AD4C0B9}"/>
              </a:ext>
            </a:extLst>
          </p:cNvPr>
          <p:cNvSpPr txBox="1"/>
          <p:nvPr/>
        </p:nvSpPr>
        <p:spPr>
          <a:xfrm>
            <a:off x="2596896" y="115747"/>
            <a:ext cx="40050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8AF4B1E-22A9-732F-D490-E572B4190B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537256"/>
              </p:ext>
            </p:extLst>
          </p:nvPr>
        </p:nvGraphicFramePr>
        <p:xfrm>
          <a:off x="228601" y="2057400"/>
          <a:ext cx="3785615" cy="2743200"/>
        </p:xfrm>
        <a:graphic>
          <a:graphicData uri="http://schemas.openxmlformats.org/drawingml/2006/table">
            <a:tbl>
              <a:tblPr/>
              <a:tblGrid>
                <a:gridCol w="576071">
                  <a:extLst>
                    <a:ext uri="{9D8B030D-6E8A-4147-A177-3AD203B41FA5}">
                      <a16:colId xmlns:a16="http://schemas.microsoft.com/office/drawing/2014/main" val="139117362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705999899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3936364278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1391330924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315732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Outlook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Humidity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Wind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Play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887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6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734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Overcast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92D050"/>
                          </a:solidFill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881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92D050"/>
                          </a:solidFill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49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92D050"/>
                          </a:solidFill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707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740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Overcast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92D050"/>
                          </a:solidFill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399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92D050"/>
                          </a:solidFill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81517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D5E504C-1F2C-CEC0-4BFD-899BE2776FC8}"/>
              </a:ext>
            </a:extLst>
          </p:cNvPr>
          <p:cNvSpPr txBox="1"/>
          <p:nvPr/>
        </p:nvSpPr>
        <p:spPr>
          <a:xfrm>
            <a:off x="585216" y="1033272"/>
            <a:ext cx="5025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Create a decision tree from following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574077-ACED-360C-F97E-F30CCCA3B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4936" y="1536962"/>
            <a:ext cx="2042159" cy="12318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CE94D21-8D73-6623-9DBE-3F602A558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704" y="80018"/>
            <a:ext cx="1934752" cy="6562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B1B9D5-E1E8-B273-ED46-20BA34B0F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840249"/>
            <a:ext cx="3156442" cy="56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748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1B19C-04E1-D087-2D3E-FC4C10174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1CDE2B-52B3-AF0D-0D2B-8A9B19A36CF8}"/>
              </a:ext>
            </a:extLst>
          </p:cNvPr>
          <p:cNvSpPr txBox="1"/>
          <p:nvPr/>
        </p:nvSpPr>
        <p:spPr>
          <a:xfrm>
            <a:off x="187452" y="4149590"/>
            <a:ext cx="6190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 — Calculate Entropy of the Full Dataset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B247FA-FBEB-9692-0C70-1E5EBC50F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81" y="4665795"/>
            <a:ext cx="4353533" cy="4858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1C09A9-D460-F3CB-118A-0039E6A8B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338489"/>
            <a:ext cx="4907280" cy="6461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F0EC4B-5DFC-9EB0-0D42-C92107DDDA64}"/>
              </a:ext>
            </a:extLst>
          </p:cNvPr>
          <p:cNvSpPr txBox="1"/>
          <p:nvPr/>
        </p:nvSpPr>
        <p:spPr>
          <a:xfrm>
            <a:off x="397764" y="6225278"/>
            <a:ext cx="3083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entropy of parent = 0.954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E9BE313-D82A-1CA8-3CAC-B4C132719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36" y="1536962"/>
            <a:ext cx="2042159" cy="1231883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B618DDA-8922-B3DB-C66D-C2FBDC68C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7541"/>
              </p:ext>
            </p:extLst>
          </p:nvPr>
        </p:nvGraphicFramePr>
        <p:xfrm>
          <a:off x="374905" y="1139222"/>
          <a:ext cx="3785615" cy="2743200"/>
        </p:xfrm>
        <a:graphic>
          <a:graphicData uri="http://schemas.openxmlformats.org/drawingml/2006/table">
            <a:tbl>
              <a:tblPr/>
              <a:tblGrid>
                <a:gridCol w="576071">
                  <a:extLst>
                    <a:ext uri="{9D8B030D-6E8A-4147-A177-3AD203B41FA5}">
                      <a16:colId xmlns:a16="http://schemas.microsoft.com/office/drawing/2014/main" val="139117362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705999899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3936364278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1391330924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315732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Outlook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Humidity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Wind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u="sng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Play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887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6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734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Overcast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92D050"/>
                          </a:solidFill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881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92D050"/>
                          </a:solidFill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49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92D050"/>
                          </a:solidFill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707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740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Overcast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92D050"/>
                          </a:solidFill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399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>
                          <a:solidFill>
                            <a:srgbClr val="92D050"/>
                          </a:solidFill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81517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51A54CF-31B2-909E-9629-ADE0438688C7}"/>
              </a:ext>
            </a:extLst>
          </p:cNvPr>
          <p:cNvSpPr txBox="1"/>
          <p:nvPr/>
        </p:nvSpPr>
        <p:spPr>
          <a:xfrm>
            <a:off x="2596896" y="115747"/>
            <a:ext cx="40050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</a:t>
            </a:r>
          </a:p>
        </p:txBody>
      </p:sp>
    </p:spTree>
    <p:extLst>
      <p:ext uri="{BB962C8B-B14F-4D97-AF65-F5344CB8AC3E}">
        <p14:creationId xmlns:p14="http://schemas.microsoft.com/office/powerpoint/2010/main" val="343327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A3E25-34F2-9928-545E-DDFED837B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75C83E-82D3-7B86-36F1-1F1C50A329D0}"/>
              </a:ext>
            </a:extLst>
          </p:cNvPr>
          <p:cNvSpPr txBox="1"/>
          <p:nvPr/>
        </p:nvSpPr>
        <p:spPr>
          <a:xfrm>
            <a:off x="187452" y="775454"/>
            <a:ext cx="8782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 — Compute Information Gain for each feature: outlook, humidity and wind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F9D47E-B989-1FF4-89C0-457F21C1D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45" y="5497080"/>
            <a:ext cx="2226607" cy="2791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3C0DD4-77F0-1EEB-0E7D-169157153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" y="4162396"/>
            <a:ext cx="3669246" cy="11411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499508-F6A8-4C82-AC88-4274C6206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9371" y="1181160"/>
            <a:ext cx="3252457" cy="23198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533328-82EF-1387-FEAA-102C503787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2421" y="3945319"/>
            <a:ext cx="3817684" cy="11411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6B12A2-968F-6310-850F-BDA45F41D0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6467" y="5497080"/>
            <a:ext cx="2143866" cy="2791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AF66298-3097-3F08-8967-BDDA286346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7496" y="1449213"/>
            <a:ext cx="3252457" cy="214511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1F1C02D-A373-3DE7-5FB1-B33A553E99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3348" y="5521341"/>
            <a:ext cx="2226607" cy="30106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32DB27B-E970-CC67-2DB7-F3309D44ED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7496" y="4029227"/>
            <a:ext cx="3042847" cy="105721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6FE5DC5-D68E-3EF0-4914-22C0A3943C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5915" y="6297569"/>
            <a:ext cx="4706007" cy="31436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4A0B741-C5E4-D1FD-ABDD-179698211D6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7452" y="1301986"/>
            <a:ext cx="3250245" cy="248613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7F60804-EDB4-E6B7-EA5E-0B94C0F7BA7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12948" y="1408793"/>
            <a:ext cx="1199149" cy="2857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2A1807-EDE5-247C-C12F-007530F47FFD}"/>
              </a:ext>
            </a:extLst>
          </p:cNvPr>
          <p:cNvSpPr txBox="1"/>
          <p:nvPr/>
        </p:nvSpPr>
        <p:spPr>
          <a:xfrm>
            <a:off x="2596896" y="115747"/>
            <a:ext cx="40050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C8F85F-CF58-AE4A-4C2E-994D4F8E284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5690" y="157806"/>
            <a:ext cx="3364713" cy="59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363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74DB4-E63F-71B2-F1C9-B13AB72D6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200A7C-7651-C67F-9D19-8E1E28C87598}"/>
              </a:ext>
            </a:extLst>
          </p:cNvPr>
          <p:cNvSpPr txBox="1"/>
          <p:nvPr/>
        </p:nvSpPr>
        <p:spPr>
          <a:xfrm>
            <a:off x="187452" y="1077206"/>
            <a:ext cx="6190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 — a) Split the dataset on branch Outlook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Sunny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0E688-103F-0F5E-ADD6-1334CAE37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632" y="1371600"/>
            <a:ext cx="3614113" cy="23504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779779-2A46-6D54-B9EA-1060CEBDD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91" y="1673352"/>
            <a:ext cx="2982901" cy="25638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2E53666-2313-FC27-BD61-BE9DFBCA5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91" y="4671729"/>
            <a:ext cx="3471821" cy="18395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AE6C25F-006A-F8A6-B3F7-85A460ED6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8356" y="1916420"/>
            <a:ext cx="3471821" cy="8135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F31DE6-026B-B040-EA7F-918F7F9CF373}"/>
              </a:ext>
            </a:extLst>
          </p:cNvPr>
          <p:cNvSpPr txBox="1"/>
          <p:nvPr/>
        </p:nvSpPr>
        <p:spPr>
          <a:xfrm>
            <a:off x="2596896" y="115747"/>
            <a:ext cx="40050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B01D42-E1B1-36ED-A206-605D169E0C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5690" y="157806"/>
            <a:ext cx="3364713" cy="59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7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0B1FF-3519-F72F-D297-644C0D3D5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CD9DC6-E6BD-6D15-C4F0-5417B68DE26A}"/>
              </a:ext>
            </a:extLst>
          </p:cNvPr>
          <p:cNvSpPr txBox="1"/>
          <p:nvPr/>
        </p:nvSpPr>
        <p:spPr>
          <a:xfrm>
            <a:off x="187452" y="985766"/>
            <a:ext cx="61904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 — b) Split the dataset on branch Outlook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Overcast: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Overcast is pure. No split needed here.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C59144-715D-199D-1778-3761A9C3F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912" y="1208869"/>
            <a:ext cx="4266882" cy="33726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7B9480E-112F-C0DF-E6D2-DE5845988A01}"/>
              </a:ext>
            </a:extLst>
          </p:cNvPr>
          <p:cNvSpPr txBox="1"/>
          <p:nvPr/>
        </p:nvSpPr>
        <p:spPr>
          <a:xfrm>
            <a:off x="2596896" y="115747"/>
            <a:ext cx="40050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3C414A-42D9-9234-9CB7-B8A854172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690" y="157806"/>
            <a:ext cx="3364713" cy="59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1032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A073A-5876-BF04-80F9-00D9381B8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48E768-07D8-2554-1AEB-D84E947747DD}"/>
              </a:ext>
            </a:extLst>
          </p:cNvPr>
          <p:cNvSpPr txBox="1"/>
          <p:nvPr/>
        </p:nvSpPr>
        <p:spPr>
          <a:xfrm>
            <a:off x="187452" y="757166"/>
            <a:ext cx="6190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 — c) Split the dataset on branch Outlook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Rain: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DD6B8B-14FA-1228-8EE1-04323FA61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912" y="1208869"/>
            <a:ext cx="4266882" cy="33726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54FB00-7E93-EABA-FB4A-D638D85AE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06" y="1408176"/>
            <a:ext cx="3098261" cy="25782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67D220-5E0D-4CD5-B9D7-7455BF1CD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2948" y="1560551"/>
            <a:ext cx="3895562" cy="8234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343193-1580-164A-9486-FF6F3A1B18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4685679"/>
            <a:ext cx="3716888" cy="16454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033C91-426B-8B24-DF27-A975F4043BF5}"/>
              </a:ext>
            </a:extLst>
          </p:cNvPr>
          <p:cNvSpPr txBox="1"/>
          <p:nvPr/>
        </p:nvSpPr>
        <p:spPr>
          <a:xfrm>
            <a:off x="2596896" y="115747"/>
            <a:ext cx="40050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E4DEDD-EA17-2B69-FE2B-78FF99902F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5690" y="157806"/>
            <a:ext cx="3364713" cy="59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69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58177-3E47-59C7-98B5-02499DB39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6FEAAC-C3A2-B527-7BFD-30ADB97C67F7}"/>
              </a:ext>
            </a:extLst>
          </p:cNvPr>
          <p:cNvSpPr txBox="1"/>
          <p:nvPr/>
        </p:nvSpPr>
        <p:spPr>
          <a:xfrm>
            <a:off x="187452" y="912614"/>
            <a:ext cx="6190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 — All splits are pure. No further split required.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7C19AA-0C86-DC98-2D6D-5D355883F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546" y="1243584"/>
            <a:ext cx="4987310" cy="32552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556365-77BE-68CF-BBA0-C6727A38BA3C}"/>
              </a:ext>
            </a:extLst>
          </p:cNvPr>
          <p:cNvSpPr txBox="1"/>
          <p:nvPr/>
        </p:nvSpPr>
        <p:spPr>
          <a:xfrm>
            <a:off x="2596896" y="115747"/>
            <a:ext cx="40050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B4210B-C4AD-C52A-6358-09F74F4F7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690" y="157806"/>
            <a:ext cx="3364713" cy="599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521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7B7C8-A6CC-D207-88F2-0A76B6C2B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5C2970E-FFF2-51CD-DE3A-C962AC689E54}"/>
              </a:ext>
            </a:extLst>
          </p:cNvPr>
          <p:cNvSpPr txBox="1"/>
          <p:nvPr/>
        </p:nvSpPr>
        <p:spPr>
          <a:xfrm>
            <a:off x="795528" y="1052221"/>
            <a:ext cx="90342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Easy to understand, visualize, and explain: They use if-else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need for feature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Handles numerical &amp; categorical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Works well even with missing values and even if outliers exist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 training and prediction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2256E9-5BFC-7FFE-41EF-23C30B149AF5}"/>
              </a:ext>
            </a:extLst>
          </p:cNvPr>
          <p:cNvSpPr txBox="1"/>
          <p:nvPr/>
        </p:nvSpPr>
        <p:spPr>
          <a:xfrm>
            <a:off x="3012948" y="115747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Tree: Advantages</a:t>
            </a:r>
          </a:p>
        </p:txBody>
      </p:sp>
    </p:spTree>
    <p:extLst>
      <p:ext uri="{BB962C8B-B14F-4D97-AF65-F5344CB8AC3E}">
        <p14:creationId xmlns:p14="http://schemas.microsoft.com/office/powerpoint/2010/main" val="3730537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4E597E1-9D88-454A-649D-7CFCEEE0CBC5}"/>
              </a:ext>
            </a:extLst>
          </p:cNvPr>
          <p:cNvSpPr txBox="1"/>
          <p:nvPr/>
        </p:nvSpPr>
        <p:spPr>
          <a:xfrm>
            <a:off x="3012948" y="115747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Extra</a:t>
            </a:r>
            <a:endParaRPr lang="en-US" sz="32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852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F76E9-ACD5-2213-DD47-FFC84035D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141F0EB-7201-D323-4203-E6B346A9C847}"/>
              </a:ext>
            </a:extLst>
          </p:cNvPr>
          <p:cNvSpPr txBox="1"/>
          <p:nvPr/>
        </p:nvSpPr>
        <p:spPr>
          <a:xfrm>
            <a:off x="2957690" y="15038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Tree: Code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333EE1-E987-9D36-21E8-978CD2F14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748" y="3520440"/>
            <a:ext cx="4615793" cy="29219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035ABF-DE0E-09FE-7FAB-83BFF0DE1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022" y="1047698"/>
            <a:ext cx="4716919" cy="21069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39063AE-EA1B-ECD8-6139-5B68860FC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6" y="1235013"/>
            <a:ext cx="6230806" cy="540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436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76" y="138623"/>
            <a:ext cx="5580888" cy="540888"/>
          </a:xfrm>
        </p:spPr>
        <p:txBody>
          <a:bodyPr>
            <a:noAutofit/>
          </a:bodyPr>
          <a:lstStyle/>
          <a:p>
            <a:r>
              <a:rPr lang="en-US" sz="2800" b="1" dirty="0"/>
              <a:t>Steps to calculate IG on Heart disease: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3281" y="1442905"/>
            <a:ext cx="402671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an example related to predicting heart disease in patients. At this node, there are 3 features where split could be made: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 Group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Split: Older individuals are more prone to heart disease.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Smoking Status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Split: Smokers have a higher risk.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Exercise Habit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Split: Lack of exercise increases risk significantly.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determine on which feature the split should be made.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10090" y="582794"/>
          <a:ext cx="3662852" cy="6122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717">
                  <a:extLst>
                    <a:ext uri="{9D8B030D-6E8A-4147-A177-3AD203B41FA5}">
                      <a16:colId xmlns:a16="http://schemas.microsoft.com/office/drawing/2014/main" val="122306676"/>
                    </a:ext>
                  </a:extLst>
                </a:gridCol>
                <a:gridCol w="982767">
                  <a:extLst>
                    <a:ext uri="{9D8B030D-6E8A-4147-A177-3AD203B41FA5}">
                      <a16:colId xmlns:a16="http://schemas.microsoft.com/office/drawing/2014/main" val="4121113295"/>
                    </a:ext>
                  </a:extLst>
                </a:gridCol>
                <a:gridCol w="1059678">
                  <a:extLst>
                    <a:ext uri="{9D8B030D-6E8A-4147-A177-3AD203B41FA5}">
                      <a16:colId xmlns:a16="http://schemas.microsoft.com/office/drawing/2014/main" val="1367091033"/>
                    </a:ext>
                  </a:extLst>
                </a:gridCol>
                <a:gridCol w="786213">
                  <a:extLst>
                    <a:ext uri="{9D8B030D-6E8A-4147-A177-3AD203B41FA5}">
                      <a16:colId xmlns:a16="http://schemas.microsoft.com/office/drawing/2014/main" val="2786975412"/>
                    </a:ext>
                  </a:extLst>
                </a:gridCol>
                <a:gridCol w="555477">
                  <a:extLst>
                    <a:ext uri="{9D8B030D-6E8A-4147-A177-3AD203B41FA5}">
                      <a16:colId xmlns:a16="http://schemas.microsoft.com/office/drawing/2014/main" val="687380656"/>
                    </a:ext>
                  </a:extLst>
                </a:gridCol>
              </a:tblGrid>
              <a:tr h="28929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Age Group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Smoking Status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Exercise Habit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Heart Disease (Label)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1148240145"/>
                  </a:ext>
                </a:extLst>
              </a:tr>
              <a:tr h="9769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Younger (&lt;40)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Regular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Positive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2739852755"/>
                  </a:ext>
                </a:extLst>
              </a:tr>
              <a:tr h="9769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Younger (&lt;40)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Regular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Positive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1701968471"/>
                  </a:ext>
                </a:extLst>
              </a:tr>
              <a:tr h="9769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Younger (&lt;40)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Regular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Positive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3497270688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Younger (&lt;40)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Positive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902200656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Younger (&lt;40)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Smoker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Positive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1176525758"/>
                  </a:ext>
                </a:extLst>
              </a:tr>
              <a:tr h="9769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Younger (&lt;40)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Non-Smoker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Regular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Positive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2119136106"/>
                  </a:ext>
                </a:extLst>
              </a:tr>
              <a:tr h="9769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Younger (&lt;40)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Non-Smoker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Regular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Positive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874954916"/>
                  </a:ext>
                </a:extLst>
              </a:tr>
              <a:tr h="9769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Younger (&lt;40)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Non-Smoker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Regular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Positive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1352381127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Younger (&lt;40)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Non-Smoker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Positive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446044888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Younger (&lt;40)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Non-Smoker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Positive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3752521547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Younger (&lt;40)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Smoker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Negative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153817564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Younger (&lt;40)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Negative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1643692874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Younger (&lt;40)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Non-Smoker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Negative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1965149365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Younger (&lt;40)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Non-Smoker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Negative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1325885907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Younger (&lt;40)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Non-Smoker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Negative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2435949248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Older (≥40)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Positive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4238517998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Older (≥40)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Positive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3430053074"/>
                  </a:ext>
                </a:extLst>
              </a:tr>
              <a:tr h="9769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Older (≥40)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Non-Smoker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Regular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Positive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577231678"/>
                  </a:ext>
                </a:extLst>
              </a:tr>
              <a:tr h="97699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Older (≥40)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Non-Smoker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Regular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Positive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2026130519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Older (≥40)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Negative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3220566667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Older (≥40)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Negative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4109118106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Older (≥40)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Negative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2113772046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Older (≥40)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Negative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4093221159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Older (≥40)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Negative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2334723120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Older (≥40)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Negative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638208828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Older (≥40)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Negative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1315136989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Older (≥40)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Non-Smoker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Negative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989331718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Older (≥40)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Non-Smoker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Negative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1528963917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Older (≥40)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Non-Smoker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Negative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3204461847"/>
                  </a:ext>
                </a:extLst>
              </a:tr>
              <a:tr h="19286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Older (≥40)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Non-Smoker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Negative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56" marR="3956" marT="3956" marB="0" anchor="ctr"/>
                </a:tc>
                <a:extLst>
                  <a:ext uri="{0D108BD9-81ED-4DB2-BD59-A6C34878D82A}">
                    <a16:rowId xmlns:a16="http://schemas.microsoft.com/office/drawing/2014/main" val="3460942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958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623"/>
            <a:ext cx="5403209" cy="540888"/>
          </a:xfrm>
        </p:spPr>
        <p:txBody>
          <a:bodyPr>
            <a:normAutofit fontScale="90000"/>
          </a:bodyPr>
          <a:lstStyle/>
          <a:p>
            <a:r>
              <a:rPr lang="en-US" dirty="0"/>
              <a:t>Steps to calculate IG(p2):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062" y="3103928"/>
            <a:ext cx="447750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Calculate Entropy of the Parent Node</a:t>
            </a:r>
          </a:p>
          <a:p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positive cases(Has heart disease)  = 14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negative cases(Has no heart disease) = 16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case = 30</a:t>
            </a: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Entropy of parent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Entropy before split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 −[ (14/30 * ​log​(14/30)​ + 16/30*​log(16/30​) ]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−(0.466×−1.099+0.533×−0.912) =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0.999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almost 1…so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 entropy.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0686" y="956345"/>
            <a:ext cx="2994870" cy="1728132"/>
          </a:xfrm>
          <a:prstGeom prst="rect">
            <a:avLst/>
          </a:prstGeom>
          <a:solidFill>
            <a:schemeClr val="bg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Plus 7"/>
          <p:cNvSpPr/>
          <p:nvPr/>
        </p:nvSpPr>
        <p:spPr>
          <a:xfrm>
            <a:off x="1795244" y="10654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Minus 8"/>
          <p:cNvSpPr/>
          <p:nvPr/>
        </p:nvSpPr>
        <p:spPr>
          <a:xfrm>
            <a:off x="2877423" y="10234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Plus 9"/>
          <p:cNvSpPr/>
          <p:nvPr/>
        </p:nvSpPr>
        <p:spPr>
          <a:xfrm>
            <a:off x="1947644" y="12178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Plus 10"/>
          <p:cNvSpPr/>
          <p:nvPr/>
        </p:nvSpPr>
        <p:spPr>
          <a:xfrm>
            <a:off x="2100044" y="13702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Plus 11"/>
          <p:cNvSpPr/>
          <p:nvPr/>
        </p:nvSpPr>
        <p:spPr>
          <a:xfrm>
            <a:off x="2252444" y="15226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Plus 12"/>
          <p:cNvSpPr/>
          <p:nvPr/>
        </p:nvSpPr>
        <p:spPr>
          <a:xfrm>
            <a:off x="2404844" y="16750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Plus 13"/>
          <p:cNvSpPr/>
          <p:nvPr/>
        </p:nvSpPr>
        <p:spPr>
          <a:xfrm>
            <a:off x="2557244" y="18274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Plus 14"/>
          <p:cNvSpPr/>
          <p:nvPr/>
        </p:nvSpPr>
        <p:spPr>
          <a:xfrm>
            <a:off x="2709644" y="19798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Plus 15"/>
          <p:cNvSpPr/>
          <p:nvPr/>
        </p:nvSpPr>
        <p:spPr>
          <a:xfrm>
            <a:off x="2862044" y="21322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Plus 16"/>
          <p:cNvSpPr/>
          <p:nvPr/>
        </p:nvSpPr>
        <p:spPr>
          <a:xfrm>
            <a:off x="3014444" y="22846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Plus 18"/>
          <p:cNvSpPr/>
          <p:nvPr/>
        </p:nvSpPr>
        <p:spPr>
          <a:xfrm>
            <a:off x="3166844" y="24370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Plus 19"/>
          <p:cNvSpPr/>
          <p:nvPr/>
        </p:nvSpPr>
        <p:spPr>
          <a:xfrm>
            <a:off x="2186729" y="1037437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Plus 20"/>
          <p:cNvSpPr/>
          <p:nvPr/>
        </p:nvSpPr>
        <p:spPr>
          <a:xfrm>
            <a:off x="2362898" y="1196828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Plus 21"/>
          <p:cNvSpPr/>
          <p:nvPr/>
        </p:nvSpPr>
        <p:spPr>
          <a:xfrm>
            <a:off x="2515298" y="1349228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Plus 22"/>
          <p:cNvSpPr/>
          <p:nvPr/>
        </p:nvSpPr>
        <p:spPr>
          <a:xfrm>
            <a:off x="2667698" y="1501628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Minus 23"/>
          <p:cNvSpPr/>
          <p:nvPr/>
        </p:nvSpPr>
        <p:spPr>
          <a:xfrm>
            <a:off x="3029823" y="11758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Minus 24"/>
          <p:cNvSpPr/>
          <p:nvPr/>
        </p:nvSpPr>
        <p:spPr>
          <a:xfrm>
            <a:off x="3182223" y="13282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Minus 25"/>
          <p:cNvSpPr/>
          <p:nvPr/>
        </p:nvSpPr>
        <p:spPr>
          <a:xfrm>
            <a:off x="3334623" y="14806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Minus 26"/>
          <p:cNvSpPr/>
          <p:nvPr/>
        </p:nvSpPr>
        <p:spPr>
          <a:xfrm>
            <a:off x="3487023" y="16330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Minus 27"/>
          <p:cNvSpPr/>
          <p:nvPr/>
        </p:nvSpPr>
        <p:spPr>
          <a:xfrm>
            <a:off x="3639423" y="17854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Minus 28"/>
          <p:cNvSpPr/>
          <p:nvPr/>
        </p:nvSpPr>
        <p:spPr>
          <a:xfrm>
            <a:off x="3791823" y="19378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Minus 29"/>
          <p:cNvSpPr/>
          <p:nvPr/>
        </p:nvSpPr>
        <p:spPr>
          <a:xfrm>
            <a:off x="3944223" y="20902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Minus 30"/>
          <p:cNvSpPr/>
          <p:nvPr/>
        </p:nvSpPr>
        <p:spPr>
          <a:xfrm>
            <a:off x="4096623" y="22426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Minus 31"/>
          <p:cNvSpPr/>
          <p:nvPr/>
        </p:nvSpPr>
        <p:spPr>
          <a:xfrm>
            <a:off x="4249023" y="23950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Minus 32"/>
          <p:cNvSpPr/>
          <p:nvPr/>
        </p:nvSpPr>
        <p:spPr>
          <a:xfrm>
            <a:off x="4401423" y="25474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Minus 33"/>
          <p:cNvSpPr/>
          <p:nvPr/>
        </p:nvSpPr>
        <p:spPr>
          <a:xfrm>
            <a:off x="3270306" y="10304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Minus 34"/>
          <p:cNvSpPr/>
          <p:nvPr/>
        </p:nvSpPr>
        <p:spPr>
          <a:xfrm>
            <a:off x="3422706" y="11828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Minus 35"/>
          <p:cNvSpPr/>
          <p:nvPr/>
        </p:nvSpPr>
        <p:spPr>
          <a:xfrm>
            <a:off x="3575106" y="13352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Minus 36"/>
          <p:cNvSpPr/>
          <p:nvPr/>
        </p:nvSpPr>
        <p:spPr>
          <a:xfrm>
            <a:off x="3727506" y="14876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Minus 37"/>
          <p:cNvSpPr/>
          <p:nvPr/>
        </p:nvSpPr>
        <p:spPr>
          <a:xfrm>
            <a:off x="3879906" y="16400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Minus 38"/>
          <p:cNvSpPr/>
          <p:nvPr/>
        </p:nvSpPr>
        <p:spPr>
          <a:xfrm>
            <a:off x="4032306" y="17924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830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623"/>
            <a:ext cx="5403209" cy="540888"/>
          </a:xfrm>
        </p:spPr>
        <p:txBody>
          <a:bodyPr>
            <a:normAutofit fontScale="90000"/>
          </a:bodyPr>
          <a:lstStyle/>
          <a:p>
            <a:r>
              <a:rPr lang="en-US" dirty="0"/>
              <a:t>Steps to calculate IG(p3):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73340" y="1201036"/>
            <a:ext cx="69173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Split 1: Based on Age Group (Younger vs. Older)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split the data based on whether a person is younger (&lt;40 years) or older (≥40 years).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0686" y="956345"/>
            <a:ext cx="2994870" cy="1728132"/>
          </a:xfrm>
          <a:prstGeom prst="rect">
            <a:avLst/>
          </a:prstGeom>
          <a:solidFill>
            <a:schemeClr val="bg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Plus 7"/>
          <p:cNvSpPr/>
          <p:nvPr/>
        </p:nvSpPr>
        <p:spPr>
          <a:xfrm>
            <a:off x="1795244" y="10654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Minus 8"/>
          <p:cNvSpPr/>
          <p:nvPr/>
        </p:nvSpPr>
        <p:spPr>
          <a:xfrm>
            <a:off x="2877423" y="10234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Plus 9"/>
          <p:cNvSpPr/>
          <p:nvPr/>
        </p:nvSpPr>
        <p:spPr>
          <a:xfrm>
            <a:off x="1947644" y="12178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Plus 10"/>
          <p:cNvSpPr/>
          <p:nvPr/>
        </p:nvSpPr>
        <p:spPr>
          <a:xfrm>
            <a:off x="2100044" y="13702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Plus 11"/>
          <p:cNvSpPr/>
          <p:nvPr/>
        </p:nvSpPr>
        <p:spPr>
          <a:xfrm>
            <a:off x="2252444" y="15226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Plus 12"/>
          <p:cNvSpPr/>
          <p:nvPr/>
        </p:nvSpPr>
        <p:spPr>
          <a:xfrm>
            <a:off x="2404844" y="16750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Plus 13"/>
          <p:cNvSpPr/>
          <p:nvPr/>
        </p:nvSpPr>
        <p:spPr>
          <a:xfrm>
            <a:off x="2557244" y="18274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Plus 14"/>
          <p:cNvSpPr/>
          <p:nvPr/>
        </p:nvSpPr>
        <p:spPr>
          <a:xfrm>
            <a:off x="2709644" y="19798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Plus 15"/>
          <p:cNvSpPr/>
          <p:nvPr/>
        </p:nvSpPr>
        <p:spPr>
          <a:xfrm>
            <a:off x="2862044" y="21322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Plus 16"/>
          <p:cNvSpPr/>
          <p:nvPr/>
        </p:nvSpPr>
        <p:spPr>
          <a:xfrm>
            <a:off x="3014444" y="22846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Plus 18"/>
          <p:cNvSpPr/>
          <p:nvPr/>
        </p:nvSpPr>
        <p:spPr>
          <a:xfrm>
            <a:off x="3166844" y="24370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Plus 19"/>
          <p:cNvSpPr/>
          <p:nvPr/>
        </p:nvSpPr>
        <p:spPr>
          <a:xfrm>
            <a:off x="2186729" y="1037437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Plus 20"/>
          <p:cNvSpPr/>
          <p:nvPr/>
        </p:nvSpPr>
        <p:spPr>
          <a:xfrm>
            <a:off x="2362898" y="1196828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Plus 21"/>
          <p:cNvSpPr/>
          <p:nvPr/>
        </p:nvSpPr>
        <p:spPr>
          <a:xfrm>
            <a:off x="2515298" y="1349228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Plus 22"/>
          <p:cNvSpPr/>
          <p:nvPr/>
        </p:nvSpPr>
        <p:spPr>
          <a:xfrm>
            <a:off x="2667698" y="1501628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Minus 23"/>
          <p:cNvSpPr/>
          <p:nvPr/>
        </p:nvSpPr>
        <p:spPr>
          <a:xfrm>
            <a:off x="3029823" y="11758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Minus 24"/>
          <p:cNvSpPr/>
          <p:nvPr/>
        </p:nvSpPr>
        <p:spPr>
          <a:xfrm>
            <a:off x="3182223" y="13282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Minus 25"/>
          <p:cNvSpPr/>
          <p:nvPr/>
        </p:nvSpPr>
        <p:spPr>
          <a:xfrm>
            <a:off x="3334623" y="14806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Minus 26"/>
          <p:cNvSpPr/>
          <p:nvPr/>
        </p:nvSpPr>
        <p:spPr>
          <a:xfrm>
            <a:off x="3487023" y="16330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Minus 27"/>
          <p:cNvSpPr/>
          <p:nvPr/>
        </p:nvSpPr>
        <p:spPr>
          <a:xfrm>
            <a:off x="3639423" y="17854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Minus 28"/>
          <p:cNvSpPr/>
          <p:nvPr/>
        </p:nvSpPr>
        <p:spPr>
          <a:xfrm>
            <a:off x="3791823" y="19378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Minus 29"/>
          <p:cNvSpPr/>
          <p:nvPr/>
        </p:nvSpPr>
        <p:spPr>
          <a:xfrm>
            <a:off x="3944223" y="20902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Minus 30"/>
          <p:cNvSpPr/>
          <p:nvPr/>
        </p:nvSpPr>
        <p:spPr>
          <a:xfrm>
            <a:off x="4096623" y="22426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Minus 31"/>
          <p:cNvSpPr/>
          <p:nvPr/>
        </p:nvSpPr>
        <p:spPr>
          <a:xfrm>
            <a:off x="4249023" y="23950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Minus 32"/>
          <p:cNvSpPr/>
          <p:nvPr/>
        </p:nvSpPr>
        <p:spPr>
          <a:xfrm>
            <a:off x="4401423" y="25474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Minus 33"/>
          <p:cNvSpPr/>
          <p:nvPr/>
        </p:nvSpPr>
        <p:spPr>
          <a:xfrm>
            <a:off x="3270306" y="10304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Minus 34"/>
          <p:cNvSpPr/>
          <p:nvPr/>
        </p:nvSpPr>
        <p:spPr>
          <a:xfrm>
            <a:off x="3422706" y="11828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Minus 35"/>
          <p:cNvSpPr/>
          <p:nvPr/>
        </p:nvSpPr>
        <p:spPr>
          <a:xfrm>
            <a:off x="3575106" y="13352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Minus 36"/>
          <p:cNvSpPr/>
          <p:nvPr/>
        </p:nvSpPr>
        <p:spPr>
          <a:xfrm>
            <a:off x="3727506" y="14876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Minus 37"/>
          <p:cNvSpPr/>
          <p:nvPr/>
        </p:nvSpPr>
        <p:spPr>
          <a:xfrm>
            <a:off x="3879906" y="16400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Minus 38"/>
          <p:cNvSpPr/>
          <p:nvPr/>
        </p:nvSpPr>
        <p:spPr>
          <a:xfrm>
            <a:off x="4032306" y="17924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771901" y="2159173"/>
          <a:ext cx="3619500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372354148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13427063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73171033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129023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Age Group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Positive Cases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Negative Cases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Total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7644576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Younger (&lt;40)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 dirty="0">
                          <a:effectLst/>
                        </a:rPr>
                        <a:t>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718541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Older (≥40)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 dirty="0">
                          <a:effectLst/>
                        </a:rPr>
                        <a:t>15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844945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52336" y="620783"/>
            <a:ext cx="6644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Perform 3 Different Splits &amp; Calculate Information Gain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50564" y="3478136"/>
            <a:ext cx="4388958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Entropy of younger Node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−[10/15 * ​log​(10/15)​+5/15*​log(5/15​) ]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−(0.666×−0.585+0.333×−1.585) = 0.918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Entropy of older Node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−[4/15 * ​log​(4/15)​+11/15*​log(11/15​) ]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 −(0.266×−1.907+0.733×−0.448) = 0.836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Entropy after split on Age group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(15/30​×0.918)+(15/30​×0.836) = 0.877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 gain = Entropy before split - Entropy after split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Entropy of parent - Entropy after split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0.999−0.877=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0.122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237" y="3138883"/>
            <a:ext cx="1626068" cy="1508618"/>
          </a:xfrm>
          <a:prstGeom prst="rect">
            <a:avLst/>
          </a:prstGeom>
          <a:solidFill>
            <a:schemeClr val="bg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871832" y="3131892"/>
            <a:ext cx="1626068" cy="1508618"/>
          </a:xfrm>
          <a:prstGeom prst="rect">
            <a:avLst/>
          </a:prstGeom>
          <a:solidFill>
            <a:schemeClr val="bg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2" name="Plus 41"/>
          <p:cNvSpPr/>
          <p:nvPr/>
        </p:nvSpPr>
        <p:spPr>
          <a:xfrm>
            <a:off x="693487" y="32773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" name="Plus 43"/>
          <p:cNvSpPr/>
          <p:nvPr/>
        </p:nvSpPr>
        <p:spPr>
          <a:xfrm>
            <a:off x="845887" y="34297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Plus 44"/>
          <p:cNvSpPr/>
          <p:nvPr/>
        </p:nvSpPr>
        <p:spPr>
          <a:xfrm>
            <a:off x="998287" y="35821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Plus 45"/>
          <p:cNvSpPr/>
          <p:nvPr/>
        </p:nvSpPr>
        <p:spPr>
          <a:xfrm>
            <a:off x="1150687" y="37345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7" name="Plus 46"/>
          <p:cNvSpPr/>
          <p:nvPr/>
        </p:nvSpPr>
        <p:spPr>
          <a:xfrm>
            <a:off x="1303087" y="38869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Plus 47"/>
          <p:cNvSpPr/>
          <p:nvPr/>
        </p:nvSpPr>
        <p:spPr>
          <a:xfrm>
            <a:off x="1455487" y="40393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Plus 48"/>
          <p:cNvSpPr/>
          <p:nvPr/>
        </p:nvSpPr>
        <p:spPr>
          <a:xfrm>
            <a:off x="1607887" y="41917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Plus 49"/>
          <p:cNvSpPr/>
          <p:nvPr/>
        </p:nvSpPr>
        <p:spPr>
          <a:xfrm>
            <a:off x="1760287" y="43441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1" name="Plus 50"/>
          <p:cNvSpPr/>
          <p:nvPr/>
        </p:nvSpPr>
        <p:spPr>
          <a:xfrm>
            <a:off x="1912687" y="44965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2" name="Plus 51"/>
          <p:cNvSpPr/>
          <p:nvPr/>
        </p:nvSpPr>
        <p:spPr>
          <a:xfrm>
            <a:off x="1075185" y="3935835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" name="Minus 52"/>
          <p:cNvSpPr/>
          <p:nvPr/>
        </p:nvSpPr>
        <p:spPr>
          <a:xfrm>
            <a:off x="1139500" y="322836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Minus 53"/>
          <p:cNvSpPr/>
          <p:nvPr/>
        </p:nvSpPr>
        <p:spPr>
          <a:xfrm>
            <a:off x="1291900" y="338076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" name="Minus 54"/>
          <p:cNvSpPr/>
          <p:nvPr/>
        </p:nvSpPr>
        <p:spPr>
          <a:xfrm>
            <a:off x="1444300" y="353316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6" name="Minus 55"/>
          <p:cNvSpPr/>
          <p:nvPr/>
        </p:nvSpPr>
        <p:spPr>
          <a:xfrm>
            <a:off x="1596700" y="368556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7" name="Minus 56"/>
          <p:cNvSpPr/>
          <p:nvPr/>
        </p:nvSpPr>
        <p:spPr>
          <a:xfrm>
            <a:off x="1749100" y="383796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8" name="Plus 57"/>
          <p:cNvSpPr/>
          <p:nvPr/>
        </p:nvSpPr>
        <p:spPr>
          <a:xfrm>
            <a:off x="2933350" y="3185021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9" name="Plus 58"/>
          <p:cNvSpPr/>
          <p:nvPr/>
        </p:nvSpPr>
        <p:spPr>
          <a:xfrm>
            <a:off x="3085750" y="3337421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Plus 59"/>
          <p:cNvSpPr/>
          <p:nvPr/>
        </p:nvSpPr>
        <p:spPr>
          <a:xfrm>
            <a:off x="3238150" y="3489821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Plus 60"/>
          <p:cNvSpPr/>
          <p:nvPr/>
        </p:nvSpPr>
        <p:spPr>
          <a:xfrm>
            <a:off x="3390550" y="3642221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0" name="Minus 69"/>
          <p:cNvSpPr/>
          <p:nvPr/>
        </p:nvSpPr>
        <p:spPr>
          <a:xfrm>
            <a:off x="3245139" y="3186419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1" name="Minus 70"/>
          <p:cNvSpPr/>
          <p:nvPr/>
        </p:nvSpPr>
        <p:spPr>
          <a:xfrm>
            <a:off x="3397539" y="3338819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2" name="Minus 71"/>
          <p:cNvSpPr/>
          <p:nvPr/>
        </p:nvSpPr>
        <p:spPr>
          <a:xfrm>
            <a:off x="3549939" y="3491219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3" name="Minus 72"/>
          <p:cNvSpPr/>
          <p:nvPr/>
        </p:nvSpPr>
        <p:spPr>
          <a:xfrm>
            <a:off x="3702339" y="3643619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4" name="Minus 73"/>
          <p:cNvSpPr/>
          <p:nvPr/>
        </p:nvSpPr>
        <p:spPr>
          <a:xfrm>
            <a:off x="3854739" y="3796019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5" name="Minus 74"/>
          <p:cNvSpPr/>
          <p:nvPr/>
        </p:nvSpPr>
        <p:spPr>
          <a:xfrm>
            <a:off x="4007139" y="3948419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6" name="Minus 75"/>
          <p:cNvSpPr/>
          <p:nvPr/>
        </p:nvSpPr>
        <p:spPr>
          <a:xfrm>
            <a:off x="4159539" y="4100819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7" name="Minus 76"/>
          <p:cNvSpPr/>
          <p:nvPr/>
        </p:nvSpPr>
        <p:spPr>
          <a:xfrm>
            <a:off x="4311939" y="4253219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8" name="Minus 77"/>
          <p:cNvSpPr/>
          <p:nvPr/>
        </p:nvSpPr>
        <p:spPr>
          <a:xfrm>
            <a:off x="3868720" y="3323438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9" name="Minus 78"/>
          <p:cNvSpPr/>
          <p:nvPr/>
        </p:nvSpPr>
        <p:spPr>
          <a:xfrm>
            <a:off x="4121788" y="3442282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0" name="Minus 79"/>
          <p:cNvSpPr/>
          <p:nvPr/>
        </p:nvSpPr>
        <p:spPr>
          <a:xfrm>
            <a:off x="3628235" y="3192010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81" name="Straight Arrow Connector 80"/>
          <p:cNvCxnSpPr/>
          <p:nvPr/>
        </p:nvCxnSpPr>
        <p:spPr>
          <a:xfrm flipH="1">
            <a:off x="1795244" y="2723626"/>
            <a:ext cx="320180" cy="288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3014444" y="2808916"/>
            <a:ext cx="167779" cy="255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77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623"/>
            <a:ext cx="5403209" cy="540888"/>
          </a:xfrm>
        </p:spPr>
        <p:txBody>
          <a:bodyPr>
            <a:normAutofit fontScale="90000"/>
          </a:bodyPr>
          <a:lstStyle/>
          <a:p>
            <a:r>
              <a:rPr lang="en-US" dirty="0"/>
              <a:t>Steps to calculate IG(p4):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73340" y="1201036"/>
            <a:ext cx="6917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Split 2: Based on Smoking Status (Smoker vs. Non-Smoker)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split the data based on whether a person is smoker or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0686" y="956345"/>
            <a:ext cx="2994870" cy="1728132"/>
          </a:xfrm>
          <a:prstGeom prst="rect">
            <a:avLst/>
          </a:prstGeom>
          <a:solidFill>
            <a:schemeClr val="bg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Plus 7"/>
          <p:cNvSpPr/>
          <p:nvPr/>
        </p:nvSpPr>
        <p:spPr>
          <a:xfrm>
            <a:off x="1795244" y="10654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Minus 8"/>
          <p:cNvSpPr/>
          <p:nvPr/>
        </p:nvSpPr>
        <p:spPr>
          <a:xfrm>
            <a:off x="2877423" y="10234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Plus 9"/>
          <p:cNvSpPr/>
          <p:nvPr/>
        </p:nvSpPr>
        <p:spPr>
          <a:xfrm>
            <a:off x="1947644" y="12178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Plus 10"/>
          <p:cNvSpPr/>
          <p:nvPr/>
        </p:nvSpPr>
        <p:spPr>
          <a:xfrm>
            <a:off x="2100044" y="13702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Plus 11"/>
          <p:cNvSpPr/>
          <p:nvPr/>
        </p:nvSpPr>
        <p:spPr>
          <a:xfrm>
            <a:off x="2252444" y="15226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Plus 12"/>
          <p:cNvSpPr/>
          <p:nvPr/>
        </p:nvSpPr>
        <p:spPr>
          <a:xfrm>
            <a:off x="2404844" y="16750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Plus 13"/>
          <p:cNvSpPr/>
          <p:nvPr/>
        </p:nvSpPr>
        <p:spPr>
          <a:xfrm>
            <a:off x="2557244" y="18274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Plus 14"/>
          <p:cNvSpPr/>
          <p:nvPr/>
        </p:nvSpPr>
        <p:spPr>
          <a:xfrm>
            <a:off x="2709644" y="19798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Plus 15"/>
          <p:cNvSpPr/>
          <p:nvPr/>
        </p:nvSpPr>
        <p:spPr>
          <a:xfrm>
            <a:off x="2862044" y="21322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Plus 16"/>
          <p:cNvSpPr/>
          <p:nvPr/>
        </p:nvSpPr>
        <p:spPr>
          <a:xfrm>
            <a:off x="3014444" y="22846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Plus 18"/>
          <p:cNvSpPr/>
          <p:nvPr/>
        </p:nvSpPr>
        <p:spPr>
          <a:xfrm>
            <a:off x="3166844" y="24370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Plus 19"/>
          <p:cNvSpPr/>
          <p:nvPr/>
        </p:nvSpPr>
        <p:spPr>
          <a:xfrm>
            <a:off x="2186729" y="1037437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Plus 20"/>
          <p:cNvSpPr/>
          <p:nvPr/>
        </p:nvSpPr>
        <p:spPr>
          <a:xfrm>
            <a:off x="2362898" y="1196828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Plus 21"/>
          <p:cNvSpPr/>
          <p:nvPr/>
        </p:nvSpPr>
        <p:spPr>
          <a:xfrm>
            <a:off x="2515298" y="1349228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Plus 22"/>
          <p:cNvSpPr/>
          <p:nvPr/>
        </p:nvSpPr>
        <p:spPr>
          <a:xfrm>
            <a:off x="2667698" y="1501628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Minus 23"/>
          <p:cNvSpPr/>
          <p:nvPr/>
        </p:nvSpPr>
        <p:spPr>
          <a:xfrm>
            <a:off x="3029823" y="11758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Minus 24"/>
          <p:cNvSpPr/>
          <p:nvPr/>
        </p:nvSpPr>
        <p:spPr>
          <a:xfrm>
            <a:off x="3182223" y="13282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Minus 25"/>
          <p:cNvSpPr/>
          <p:nvPr/>
        </p:nvSpPr>
        <p:spPr>
          <a:xfrm>
            <a:off x="3334623" y="14806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Minus 26"/>
          <p:cNvSpPr/>
          <p:nvPr/>
        </p:nvSpPr>
        <p:spPr>
          <a:xfrm>
            <a:off x="3487023" y="16330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Minus 27"/>
          <p:cNvSpPr/>
          <p:nvPr/>
        </p:nvSpPr>
        <p:spPr>
          <a:xfrm>
            <a:off x="3639423" y="17854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Minus 28"/>
          <p:cNvSpPr/>
          <p:nvPr/>
        </p:nvSpPr>
        <p:spPr>
          <a:xfrm>
            <a:off x="3791823" y="19378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Minus 29"/>
          <p:cNvSpPr/>
          <p:nvPr/>
        </p:nvSpPr>
        <p:spPr>
          <a:xfrm>
            <a:off x="3944223" y="20902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Minus 30"/>
          <p:cNvSpPr/>
          <p:nvPr/>
        </p:nvSpPr>
        <p:spPr>
          <a:xfrm>
            <a:off x="4096623" y="22426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Minus 31"/>
          <p:cNvSpPr/>
          <p:nvPr/>
        </p:nvSpPr>
        <p:spPr>
          <a:xfrm>
            <a:off x="4249023" y="23950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Minus 32"/>
          <p:cNvSpPr/>
          <p:nvPr/>
        </p:nvSpPr>
        <p:spPr>
          <a:xfrm>
            <a:off x="4401423" y="25474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Minus 33"/>
          <p:cNvSpPr/>
          <p:nvPr/>
        </p:nvSpPr>
        <p:spPr>
          <a:xfrm>
            <a:off x="3270306" y="10304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Minus 34"/>
          <p:cNvSpPr/>
          <p:nvPr/>
        </p:nvSpPr>
        <p:spPr>
          <a:xfrm>
            <a:off x="3422706" y="11828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Minus 35"/>
          <p:cNvSpPr/>
          <p:nvPr/>
        </p:nvSpPr>
        <p:spPr>
          <a:xfrm>
            <a:off x="3575106" y="13352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Minus 36"/>
          <p:cNvSpPr/>
          <p:nvPr/>
        </p:nvSpPr>
        <p:spPr>
          <a:xfrm>
            <a:off x="3727506" y="14876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Minus 37"/>
          <p:cNvSpPr/>
          <p:nvPr/>
        </p:nvSpPr>
        <p:spPr>
          <a:xfrm>
            <a:off x="3879906" y="16400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Minus 38"/>
          <p:cNvSpPr/>
          <p:nvPr/>
        </p:nvSpPr>
        <p:spPr>
          <a:xfrm>
            <a:off x="4032306" y="17924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50564" y="3478136"/>
            <a:ext cx="4388958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Entropy of smoker Node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−[6/18 * ​log​(6/18)​+12/18*​log(12/18​) ]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−(0.333×−1.585+0.666×−0.585) = 0.918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Entropy of non smoker Node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−[8/12 * ​log​(8/12)​+4/12*​log(4/12​) ] = 0.918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Entropy after split on smoking status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(18/30​ × 0.918) + (12/30​ × 0.918)=0.918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 gain = Entropy before split - Entropy after split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Entropy of parent - Entropy after split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0.999 − 0.918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0.081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237" y="3138883"/>
            <a:ext cx="1626068" cy="1508618"/>
          </a:xfrm>
          <a:prstGeom prst="rect">
            <a:avLst/>
          </a:prstGeom>
          <a:solidFill>
            <a:schemeClr val="bg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871832" y="3131892"/>
            <a:ext cx="1626068" cy="1508618"/>
          </a:xfrm>
          <a:prstGeom prst="rect">
            <a:avLst/>
          </a:prstGeom>
          <a:solidFill>
            <a:schemeClr val="bg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2" name="Plus 41"/>
          <p:cNvSpPr/>
          <p:nvPr/>
        </p:nvSpPr>
        <p:spPr>
          <a:xfrm>
            <a:off x="693487" y="32773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" name="Plus 43"/>
          <p:cNvSpPr/>
          <p:nvPr/>
        </p:nvSpPr>
        <p:spPr>
          <a:xfrm>
            <a:off x="845887" y="34297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Plus 44"/>
          <p:cNvSpPr/>
          <p:nvPr/>
        </p:nvSpPr>
        <p:spPr>
          <a:xfrm>
            <a:off x="998287" y="35821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Plus 45"/>
          <p:cNvSpPr/>
          <p:nvPr/>
        </p:nvSpPr>
        <p:spPr>
          <a:xfrm>
            <a:off x="1150687" y="37345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7" name="Plus 46"/>
          <p:cNvSpPr/>
          <p:nvPr/>
        </p:nvSpPr>
        <p:spPr>
          <a:xfrm>
            <a:off x="1303087" y="38869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Plus 47"/>
          <p:cNvSpPr/>
          <p:nvPr/>
        </p:nvSpPr>
        <p:spPr>
          <a:xfrm>
            <a:off x="1455487" y="40393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" name="Minus 52"/>
          <p:cNvSpPr/>
          <p:nvPr/>
        </p:nvSpPr>
        <p:spPr>
          <a:xfrm>
            <a:off x="1139500" y="322836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Minus 53"/>
          <p:cNvSpPr/>
          <p:nvPr/>
        </p:nvSpPr>
        <p:spPr>
          <a:xfrm>
            <a:off x="1291900" y="338076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" name="Minus 54"/>
          <p:cNvSpPr/>
          <p:nvPr/>
        </p:nvSpPr>
        <p:spPr>
          <a:xfrm>
            <a:off x="1444300" y="353316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6" name="Minus 55"/>
          <p:cNvSpPr/>
          <p:nvPr/>
        </p:nvSpPr>
        <p:spPr>
          <a:xfrm>
            <a:off x="1596700" y="368556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7" name="Minus 56"/>
          <p:cNvSpPr/>
          <p:nvPr/>
        </p:nvSpPr>
        <p:spPr>
          <a:xfrm>
            <a:off x="1749100" y="383796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8" name="Plus 57"/>
          <p:cNvSpPr/>
          <p:nvPr/>
        </p:nvSpPr>
        <p:spPr>
          <a:xfrm>
            <a:off x="2933350" y="3185021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9" name="Plus 58"/>
          <p:cNvSpPr/>
          <p:nvPr/>
        </p:nvSpPr>
        <p:spPr>
          <a:xfrm>
            <a:off x="3085750" y="3337421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Plus 59"/>
          <p:cNvSpPr/>
          <p:nvPr/>
        </p:nvSpPr>
        <p:spPr>
          <a:xfrm>
            <a:off x="3238150" y="3489821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Plus 60"/>
          <p:cNvSpPr/>
          <p:nvPr/>
        </p:nvSpPr>
        <p:spPr>
          <a:xfrm>
            <a:off x="3390550" y="3642221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0" name="Minus 69"/>
          <p:cNvSpPr/>
          <p:nvPr/>
        </p:nvSpPr>
        <p:spPr>
          <a:xfrm>
            <a:off x="3245139" y="3186419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1" name="Minus 70"/>
          <p:cNvSpPr/>
          <p:nvPr/>
        </p:nvSpPr>
        <p:spPr>
          <a:xfrm>
            <a:off x="3397539" y="3338819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2" name="Minus 71"/>
          <p:cNvSpPr/>
          <p:nvPr/>
        </p:nvSpPr>
        <p:spPr>
          <a:xfrm>
            <a:off x="3549939" y="3491219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3" name="Minus 72"/>
          <p:cNvSpPr/>
          <p:nvPr/>
        </p:nvSpPr>
        <p:spPr>
          <a:xfrm>
            <a:off x="3702339" y="3643619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81" name="Straight Arrow Connector 80"/>
          <p:cNvCxnSpPr/>
          <p:nvPr/>
        </p:nvCxnSpPr>
        <p:spPr>
          <a:xfrm flipH="1">
            <a:off x="1795244" y="2723626"/>
            <a:ext cx="320180" cy="288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3014444" y="2808916"/>
            <a:ext cx="167779" cy="255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5218070" y="2167155"/>
          <a:ext cx="39370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753522945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406547349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768458961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140693228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Smoking Status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Positive Cases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Negative Cases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Total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940793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Smoker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067739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Non-Smoker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 dirty="0">
                          <a:effectLst/>
                        </a:rPr>
                        <a:t>12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634750"/>
                  </a:ext>
                </a:extLst>
              </a:tr>
            </a:tbl>
          </a:graphicData>
        </a:graphic>
      </p:graphicFrame>
      <p:sp>
        <p:nvSpPr>
          <p:cNvPr id="82" name="Minus 81"/>
          <p:cNvSpPr/>
          <p:nvPr/>
        </p:nvSpPr>
        <p:spPr>
          <a:xfrm>
            <a:off x="1901500" y="399036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4" name="Minus 83"/>
          <p:cNvSpPr/>
          <p:nvPr/>
        </p:nvSpPr>
        <p:spPr>
          <a:xfrm>
            <a:off x="1458281" y="321997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5" name="Minus 84"/>
          <p:cNvSpPr/>
          <p:nvPr/>
        </p:nvSpPr>
        <p:spPr>
          <a:xfrm>
            <a:off x="1610681" y="337237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6" name="Minus 85"/>
          <p:cNvSpPr/>
          <p:nvPr/>
        </p:nvSpPr>
        <p:spPr>
          <a:xfrm>
            <a:off x="1763081" y="352477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7" name="Minus 86"/>
          <p:cNvSpPr/>
          <p:nvPr/>
        </p:nvSpPr>
        <p:spPr>
          <a:xfrm>
            <a:off x="1915481" y="367717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8" name="Minus 87"/>
          <p:cNvSpPr/>
          <p:nvPr/>
        </p:nvSpPr>
        <p:spPr>
          <a:xfrm>
            <a:off x="1765877" y="322556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9" name="Minus 88"/>
          <p:cNvSpPr/>
          <p:nvPr/>
        </p:nvSpPr>
        <p:spPr>
          <a:xfrm>
            <a:off x="1908490" y="3376568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0" name="Plus 89"/>
          <p:cNvSpPr/>
          <p:nvPr/>
        </p:nvSpPr>
        <p:spPr>
          <a:xfrm>
            <a:off x="3542950" y="3794621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1" name="Plus 90"/>
          <p:cNvSpPr/>
          <p:nvPr/>
        </p:nvSpPr>
        <p:spPr>
          <a:xfrm>
            <a:off x="3695350" y="3947021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2" name="Plus 91"/>
          <p:cNvSpPr/>
          <p:nvPr/>
        </p:nvSpPr>
        <p:spPr>
          <a:xfrm>
            <a:off x="3847750" y="4099421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3" name="Plus 92"/>
          <p:cNvSpPr/>
          <p:nvPr/>
        </p:nvSpPr>
        <p:spPr>
          <a:xfrm>
            <a:off x="4000150" y="4251821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5397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623"/>
            <a:ext cx="5403209" cy="540888"/>
          </a:xfrm>
        </p:spPr>
        <p:txBody>
          <a:bodyPr>
            <a:normAutofit fontScale="90000"/>
          </a:bodyPr>
          <a:lstStyle/>
          <a:p>
            <a:r>
              <a:rPr lang="en-US" dirty="0"/>
              <a:t>Steps to calculate IG(p5):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99175" y="714474"/>
            <a:ext cx="6917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Split 3: Based on Exercise Habit (Regular vs. No Exercise)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split the data based on exercise habit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0686" y="956345"/>
            <a:ext cx="2994870" cy="1728132"/>
          </a:xfrm>
          <a:prstGeom prst="rect">
            <a:avLst/>
          </a:prstGeom>
          <a:solidFill>
            <a:schemeClr val="bg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Plus 7"/>
          <p:cNvSpPr/>
          <p:nvPr/>
        </p:nvSpPr>
        <p:spPr>
          <a:xfrm>
            <a:off x="1795244" y="10654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Minus 8"/>
          <p:cNvSpPr/>
          <p:nvPr/>
        </p:nvSpPr>
        <p:spPr>
          <a:xfrm>
            <a:off x="2877423" y="10234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Plus 9"/>
          <p:cNvSpPr/>
          <p:nvPr/>
        </p:nvSpPr>
        <p:spPr>
          <a:xfrm>
            <a:off x="1947644" y="12178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Plus 10"/>
          <p:cNvSpPr/>
          <p:nvPr/>
        </p:nvSpPr>
        <p:spPr>
          <a:xfrm>
            <a:off x="2100044" y="13702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Plus 11"/>
          <p:cNvSpPr/>
          <p:nvPr/>
        </p:nvSpPr>
        <p:spPr>
          <a:xfrm>
            <a:off x="2252444" y="15226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Plus 12"/>
          <p:cNvSpPr/>
          <p:nvPr/>
        </p:nvSpPr>
        <p:spPr>
          <a:xfrm>
            <a:off x="2404844" y="16750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Plus 13"/>
          <p:cNvSpPr/>
          <p:nvPr/>
        </p:nvSpPr>
        <p:spPr>
          <a:xfrm>
            <a:off x="2557244" y="18274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Plus 14"/>
          <p:cNvSpPr/>
          <p:nvPr/>
        </p:nvSpPr>
        <p:spPr>
          <a:xfrm>
            <a:off x="2709644" y="19798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Plus 15"/>
          <p:cNvSpPr/>
          <p:nvPr/>
        </p:nvSpPr>
        <p:spPr>
          <a:xfrm>
            <a:off x="2862044" y="21322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Plus 16"/>
          <p:cNvSpPr/>
          <p:nvPr/>
        </p:nvSpPr>
        <p:spPr>
          <a:xfrm>
            <a:off x="3014444" y="22846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Plus 18"/>
          <p:cNvSpPr/>
          <p:nvPr/>
        </p:nvSpPr>
        <p:spPr>
          <a:xfrm>
            <a:off x="3166844" y="243700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Plus 19"/>
          <p:cNvSpPr/>
          <p:nvPr/>
        </p:nvSpPr>
        <p:spPr>
          <a:xfrm>
            <a:off x="2186729" y="1037437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Plus 20"/>
          <p:cNvSpPr/>
          <p:nvPr/>
        </p:nvSpPr>
        <p:spPr>
          <a:xfrm>
            <a:off x="2362898" y="1196828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Plus 21"/>
          <p:cNvSpPr/>
          <p:nvPr/>
        </p:nvSpPr>
        <p:spPr>
          <a:xfrm>
            <a:off x="2515298" y="1349228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Plus 22"/>
          <p:cNvSpPr/>
          <p:nvPr/>
        </p:nvSpPr>
        <p:spPr>
          <a:xfrm>
            <a:off x="2667698" y="1501628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Minus 23"/>
          <p:cNvSpPr/>
          <p:nvPr/>
        </p:nvSpPr>
        <p:spPr>
          <a:xfrm>
            <a:off x="3029823" y="11758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Minus 24"/>
          <p:cNvSpPr/>
          <p:nvPr/>
        </p:nvSpPr>
        <p:spPr>
          <a:xfrm>
            <a:off x="3182223" y="13282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Minus 25"/>
          <p:cNvSpPr/>
          <p:nvPr/>
        </p:nvSpPr>
        <p:spPr>
          <a:xfrm>
            <a:off x="3334623" y="14806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Minus 26"/>
          <p:cNvSpPr/>
          <p:nvPr/>
        </p:nvSpPr>
        <p:spPr>
          <a:xfrm>
            <a:off x="3487023" y="16330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8" name="Minus 27"/>
          <p:cNvSpPr/>
          <p:nvPr/>
        </p:nvSpPr>
        <p:spPr>
          <a:xfrm>
            <a:off x="3639423" y="17854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Minus 28"/>
          <p:cNvSpPr/>
          <p:nvPr/>
        </p:nvSpPr>
        <p:spPr>
          <a:xfrm>
            <a:off x="3791823" y="19378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" name="Minus 29"/>
          <p:cNvSpPr/>
          <p:nvPr/>
        </p:nvSpPr>
        <p:spPr>
          <a:xfrm>
            <a:off x="3944223" y="20902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Minus 30"/>
          <p:cNvSpPr/>
          <p:nvPr/>
        </p:nvSpPr>
        <p:spPr>
          <a:xfrm>
            <a:off x="4096623" y="22426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2" name="Minus 31"/>
          <p:cNvSpPr/>
          <p:nvPr/>
        </p:nvSpPr>
        <p:spPr>
          <a:xfrm>
            <a:off x="4249023" y="23950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Minus 32"/>
          <p:cNvSpPr/>
          <p:nvPr/>
        </p:nvSpPr>
        <p:spPr>
          <a:xfrm>
            <a:off x="4401423" y="2547457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Minus 33"/>
          <p:cNvSpPr/>
          <p:nvPr/>
        </p:nvSpPr>
        <p:spPr>
          <a:xfrm>
            <a:off x="3270306" y="10304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5" name="Minus 34"/>
          <p:cNvSpPr/>
          <p:nvPr/>
        </p:nvSpPr>
        <p:spPr>
          <a:xfrm>
            <a:off x="3422706" y="11828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Minus 35"/>
          <p:cNvSpPr/>
          <p:nvPr/>
        </p:nvSpPr>
        <p:spPr>
          <a:xfrm>
            <a:off x="3575106" y="13352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7" name="Minus 36"/>
          <p:cNvSpPr/>
          <p:nvPr/>
        </p:nvSpPr>
        <p:spPr>
          <a:xfrm>
            <a:off x="3727506" y="14876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8" name="Minus 37"/>
          <p:cNvSpPr/>
          <p:nvPr/>
        </p:nvSpPr>
        <p:spPr>
          <a:xfrm>
            <a:off x="3879906" y="16400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Minus 38"/>
          <p:cNvSpPr/>
          <p:nvPr/>
        </p:nvSpPr>
        <p:spPr>
          <a:xfrm>
            <a:off x="4032306" y="1792446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50564" y="2278509"/>
            <a:ext cx="492394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Entropy of regular-exercise Node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−[9/12 * ​log​(9/12)​+3/12*​log(3/12​) ] = 0.811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Entropy of no-exercise Node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−[5/18 * ​log​(5/18)​+13/18*​log(13/18​) ] = 0.850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Entropy after split on exercise habit status 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(12/30​×0.811) + (18/30​×0.850) = 0.835</a:t>
            </a:r>
          </a:p>
          <a:p>
            <a:endParaRPr lang="en-US" sz="1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Info gain = Entropy before split - Entropy after split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Entropy of parent - Entropy after split</a:t>
            </a:r>
          </a:p>
          <a:p>
            <a:r>
              <a:rPr lang="en-US" sz="1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 0.999 −  0.835 = </a:t>
            </a:r>
            <a:r>
              <a:rPr lang="en-US" sz="1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0.164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237" y="3148027"/>
            <a:ext cx="1626068" cy="1508618"/>
          </a:xfrm>
          <a:prstGeom prst="rect">
            <a:avLst/>
          </a:prstGeom>
          <a:solidFill>
            <a:schemeClr val="bg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871832" y="3131892"/>
            <a:ext cx="1626068" cy="1508618"/>
          </a:xfrm>
          <a:prstGeom prst="rect">
            <a:avLst/>
          </a:prstGeom>
          <a:solidFill>
            <a:schemeClr val="bg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2" name="Plus 41"/>
          <p:cNvSpPr/>
          <p:nvPr/>
        </p:nvSpPr>
        <p:spPr>
          <a:xfrm>
            <a:off x="693487" y="32773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" name="Plus 43"/>
          <p:cNvSpPr/>
          <p:nvPr/>
        </p:nvSpPr>
        <p:spPr>
          <a:xfrm>
            <a:off x="845887" y="34297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5" name="Plus 44"/>
          <p:cNvSpPr/>
          <p:nvPr/>
        </p:nvSpPr>
        <p:spPr>
          <a:xfrm>
            <a:off x="998287" y="35821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Plus 45"/>
          <p:cNvSpPr/>
          <p:nvPr/>
        </p:nvSpPr>
        <p:spPr>
          <a:xfrm>
            <a:off x="1150687" y="37345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7" name="Plus 46"/>
          <p:cNvSpPr/>
          <p:nvPr/>
        </p:nvSpPr>
        <p:spPr>
          <a:xfrm>
            <a:off x="1303087" y="38869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8" name="Plus 47"/>
          <p:cNvSpPr/>
          <p:nvPr/>
        </p:nvSpPr>
        <p:spPr>
          <a:xfrm>
            <a:off x="1455487" y="40393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3" name="Minus 52"/>
          <p:cNvSpPr/>
          <p:nvPr/>
        </p:nvSpPr>
        <p:spPr>
          <a:xfrm>
            <a:off x="1139500" y="322836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4" name="Minus 53"/>
          <p:cNvSpPr/>
          <p:nvPr/>
        </p:nvSpPr>
        <p:spPr>
          <a:xfrm>
            <a:off x="1291900" y="338076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" name="Minus 54"/>
          <p:cNvSpPr/>
          <p:nvPr/>
        </p:nvSpPr>
        <p:spPr>
          <a:xfrm>
            <a:off x="1444300" y="353316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8" name="Plus 57"/>
          <p:cNvSpPr/>
          <p:nvPr/>
        </p:nvSpPr>
        <p:spPr>
          <a:xfrm>
            <a:off x="2933350" y="3185021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9" name="Plus 58"/>
          <p:cNvSpPr/>
          <p:nvPr/>
        </p:nvSpPr>
        <p:spPr>
          <a:xfrm>
            <a:off x="3085750" y="3337421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Plus 59"/>
          <p:cNvSpPr/>
          <p:nvPr/>
        </p:nvSpPr>
        <p:spPr>
          <a:xfrm>
            <a:off x="3238150" y="3489821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1" name="Plus 60"/>
          <p:cNvSpPr/>
          <p:nvPr/>
        </p:nvSpPr>
        <p:spPr>
          <a:xfrm>
            <a:off x="3390550" y="3642221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0" name="Minus 69"/>
          <p:cNvSpPr/>
          <p:nvPr/>
        </p:nvSpPr>
        <p:spPr>
          <a:xfrm>
            <a:off x="3245139" y="3186419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1" name="Minus 70"/>
          <p:cNvSpPr/>
          <p:nvPr/>
        </p:nvSpPr>
        <p:spPr>
          <a:xfrm>
            <a:off x="3397539" y="3338819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2" name="Minus 71"/>
          <p:cNvSpPr/>
          <p:nvPr/>
        </p:nvSpPr>
        <p:spPr>
          <a:xfrm>
            <a:off x="3549939" y="3491219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3" name="Minus 72"/>
          <p:cNvSpPr/>
          <p:nvPr/>
        </p:nvSpPr>
        <p:spPr>
          <a:xfrm>
            <a:off x="3702339" y="3643619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81" name="Straight Arrow Connector 80"/>
          <p:cNvCxnSpPr/>
          <p:nvPr/>
        </p:nvCxnSpPr>
        <p:spPr>
          <a:xfrm flipH="1">
            <a:off x="1795244" y="2723626"/>
            <a:ext cx="320180" cy="288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3014444" y="2808916"/>
            <a:ext cx="167779" cy="255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Plus 89"/>
          <p:cNvSpPr/>
          <p:nvPr/>
        </p:nvSpPr>
        <p:spPr>
          <a:xfrm>
            <a:off x="3542950" y="3794621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276793" y="1386978"/>
          <a:ext cx="39370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410797642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22560958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205841430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251959134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Exercise Habit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Positive Cases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Negative Cases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Total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79449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Regular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073014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No Exercise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 dirty="0">
                          <a:effectLst/>
                        </a:rPr>
                        <a:t>18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3210420"/>
                  </a:ext>
                </a:extLst>
              </a:tr>
            </a:tbl>
          </a:graphicData>
        </a:graphic>
      </p:graphicFrame>
      <p:sp>
        <p:nvSpPr>
          <p:cNvPr id="74" name="Plus 73"/>
          <p:cNvSpPr/>
          <p:nvPr/>
        </p:nvSpPr>
        <p:spPr>
          <a:xfrm>
            <a:off x="1607887" y="41917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5" name="Plus 74"/>
          <p:cNvSpPr/>
          <p:nvPr/>
        </p:nvSpPr>
        <p:spPr>
          <a:xfrm>
            <a:off x="1760287" y="4344100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6" name="Plus 75"/>
          <p:cNvSpPr/>
          <p:nvPr/>
        </p:nvSpPr>
        <p:spPr>
          <a:xfrm>
            <a:off x="1568738" y="4479722"/>
            <a:ext cx="167780" cy="151002"/>
          </a:xfrm>
          <a:prstGeom prst="mathPlus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7" name="Minus 76"/>
          <p:cNvSpPr/>
          <p:nvPr/>
        </p:nvSpPr>
        <p:spPr>
          <a:xfrm>
            <a:off x="3854739" y="3796019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8" name="Minus 77"/>
          <p:cNvSpPr/>
          <p:nvPr/>
        </p:nvSpPr>
        <p:spPr>
          <a:xfrm>
            <a:off x="4007139" y="3948419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9" name="Minus 78"/>
          <p:cNvSpPr/>
          <p:nvPr/>
        </p:nvSpPr>
        <p:spPr>
          <a:xfrm>
            <a:off x="4159539" y="4100819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0" name="Minus 79"/>
          <p:cNvSpPr/>
          <p:nvPr/>
        </p:nvSpPr>
        <p:spPr>
          <a:xfrm>
            <a:off x="3582096" y="320459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4" name="Minus 93"/>
          <p:cNvSpPr/>
          <p:nvPr/>
        </p:nvSpPr>
        <p:spPr>
          <a:xfrm>
            <a:off x="3734496" y="335699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5" name="Minus 94"/>
          <p:cNvSpPr/>
          <p:nvPr/>
        </p:nvSpPr>
        <p:spPr>
          <a:xfrm>
            <a:off x="3886896" y="350939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6" name="Minus 95"/>
          <p:cNvSpPr/>
          <p:nvPr/>
        </p:nvSpPr>
        <p:spPr>
          <a:xfrm>
            <a:off x="4039296" y="366179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7" name="Minus 96"/>
          <p:cNvSpPr/>
          <p:nvPr/>
        </p:nvSpPr>
        <p:spPr>
          <a:xfrm>
            <a:off x="4191696" y="381419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8" name="Minus 97"/>
          <p:cNvSpPr/>
          <p:nvPr/>
        </p:nvSpPr>
        <p:spPr>
          <a:xfrm>
            <a:off x="4344096" y="3966594"/>
            <a:ext cx="184558" cy="176169"/>
          </a:xfrm>
          <a:prstGeom prst="mathMinus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26716" y="5477896"/>
          <a:ext cx="4101284" cy="1314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55287">
                  <a:extLst>
                    <a:ext uri="{9D8B030D-6E8A-4147-A177-3AD203B41FA5}">
                      <a16:colId xmlns:a16="http://schemas.microsoft.com/office/drawing/2014/main" val="4177279717"/>
                    </a:ext>
                  </a:extLst>
                </a:gridCol>
                <a:gridCol w="1345997">
                  <a:extLst>
                    <a:ext uri="{9D8B030D-6E8A-4147-A177-3AD203B41FA5}">
                      <a16:colId xmlns:a16="http://schemas.microsoft.com/office/drawing/2014/main" val="2920991027"/>
                    </a:ext>
                  </a:extLst>
                </a:gridCol>
              </a:tblGrid>
              <a:tr h="3323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Split Criterion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Information Gain (IG)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65361880"/>
                  </a:ext>
                </a:extLst>
              </a:tr>
              <a:tr h="2165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Age Group (Young vs. Old)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0.122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083615"/>
                  </a:ext>
                </a:extLst>
              </a:tr>
              <a:tr h="43304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Smoking Status (Smoker vs. Non-Smoker)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>
                          <a:effectLst/>
                        </a:rPr>
                        <a:t>0.081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96894345"/>
                  </a:ext>
                </a:extLst>
              </a:tr>
              <a:tr h="33232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u="none" strike="noStrike">
                          <a:effectLst/>
                        </a:rPr>
                        <a:t>Exercise Habit (Regular vs. No Exercise)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u="none" strike="noStrike" dirty="0">
                          <a:effectLst/>
                        </a:rPr>
                        <a:t>0.164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62955875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581938" y="5595457"/>
            <a:ext cx="29890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Conclusion:</a:t>
            </a:r>
            <a:b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best attribute for the split is </a:t>
            </a:r>
            <a:r>
              <a:rPr lang="en-US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Exercise Habit (IG = 0.164)</a:t>
            </a:r>
            <a:r>
              <a:rPr lang="en-US" sz="1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as it gives the highest Information Gain.</a:t>
            </a:r>
          </a:p>
        </p:txBody>
      </p:sp>
    </p:spTree>
    <p:extLst>
      <p:ext uri="{BB962C8B-B14F-4D97-AF65-F5344CB8AC3E}">
        <p14:creationId xmlns:p14="http://schemas.microsoft.com/office/powerpoint/2010/main" val="9502143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858" y="866335"/>
            <a:ext cx="6249761" cy="47069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8457" y="186192"/>
            <a:ext cx="7578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is entropy related to probability of positive class  for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binary classification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850705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Heading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5" y="1244739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Fhdsklf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Fjskldf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2489</TotalTime>
  <Words>2353</Words>
  <Application>Microsoft Office PowerPoint</Application>
  <PresentationFormat>Widescreen</PresentationFormat>
  <Paragraphs>699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Steps to calculate IG on Heart disease:</vt:lpstr>
      <vt:lpstr>Steps to calculate IG(p2):</vt:lpstr>
      <vt:lpstr>Steps to calculate IG(p3):</vt:lpstr>
      <vt:lpstr>Steps to calculate IG(p4):</vt:lpstr>
      <vt:lpstr>Steps to calculate IG(p5):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79</cp:revision>
  <dcterms:created xsi:type="dcterms:W3CDTF">2025-09-22T02:44:38Z</dcterms:created>
  <dcterms:modified xsi:type="dcterms:W3CDTF">2025-11-28T20:36:06Z</dcterms:modified>
</cp:coreProperties>
</file>