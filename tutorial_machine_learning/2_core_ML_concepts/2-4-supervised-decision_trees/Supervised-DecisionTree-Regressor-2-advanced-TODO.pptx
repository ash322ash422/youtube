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9"/>
  </p:handoutMasterIdLst>
  <p:sldIdLst>
    <p:sldId id="257" r:id="rId2"/>
    <p:sldId id="266" r:id="rId3"/>
    <p:sldId id="394" r:id="rId4"/>
    <p:sldId id="381" r:id="rId5"/>
    <p:sldId id="382" r:id="rId6"/>
    <p:sldId id="383" r:id="rId7"/>
    <p:sldId id="384" r:id="rId8"/>
    <p:sldId id="385" r:id="rId9"/>
    <p:sldId id="386" r:id="rId10"/>
    <p:sldId id="387" r:id="rId11"/>
    <p:sldId id="388" r:id="rId12"/>
    <p:sldId id="389" r:id="rId13"/>
    <p:sldId id="390" r:id="rId14"/>
    <p:sldId id="391" r:id="rId15"/>
    <p:sldId id="392" r:id="rId16"/>
    <p:sldId id="393" r:id="rId17"/>
    <p:sldId id="38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2/28/2026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2/28/2026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2/28/2026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2/28/2026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2/28/2026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2/28/2026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2/28/2026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2/28/2026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2/28/2026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2/28/2026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2/28/2026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2/28/2026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2/28/2026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EF386B-0558-DE65-7873-1EB91A8212BB}"/>
              </a:ext>
            </a:extLst>
          </p:cNvPr>
          <p:cNvSpPr txBox="1"/>
          <p:nvPr/>
        </p:nvSpPr>
        <p:spPr>
          <a:xfrm>
            <a:off x="238124" y="1244739"/>
            <a:ext cx="10844404" cy="369332"/>
          </a:xfrm>
          <a:prstGeom prst="rect">
            <a:avLst/>
          </a:prstGeom>
          <a:noFill/>
        </p:spPr>
        <p:txBody>
          <a:bodyPr wrap="square" rtlCol="0">
            <a:spAutoFit/>
          </a:bodyPr>
          <a:lstStyle/>
          <a:p>
            <a:r>
              <a:rPr lang="en-US" dirty="0">
                <a:solidFill>
                  <a:schemeClr val="accent6">
                    <a:lumMod val="60000"/>
                    <a:lumOff val="40000"/>
                  </a:schemeClr>
                </a:solidFill>
              </a:rPr>
              <a:t>A </a:t>
            </a:r>
            <a:r>
              <a:rPr lang="en-US" b="1" dirty="0">
                <a:solidFill>
                  <a:schemeClr val="accent6">
                    <a:lumMod val="60000"/>
                    <a:lumOff val="40000"/>
                  </a:schemeClr>
                </a:solidFill>
              </a:rPr>
              <a:t>Decision Tree</a:t>
            </a:r>
            <a:r>
              <a:rPr lang="en-US" dirty="0">
                <a:solidFill>
                  <a:schemeClr val="accent6">
                    <a:lumMod val="60000"/>
                    <a:lumOff val="40000"/>
                  </a:schemeClr>
                </a:solidFill>
              </a:rPr>
              <a:t> is a supervised machine learning algorithm used for </a:t>
            </a:r>
            <a:r>
              <a:rPr lang="en-US" b="1" dirty="0">
                <a:solidFill>
                  <a:schemeClr val="accent6">
                    <a:lumMod val="60000"/>
                    <a:lumOff val="40000"/>
                  </a:schemeClr>
                </a:solidFill>
              </a:rPr>
              <a:t>classification and regression</a:t>
            </a:r>
            <a:r>
              <a:rPr lang="en-US" dirty="0">
                <a:solidFill>
                  <a:schemeClr val="accent6">
                    <a:lumMod val="60000"/>
                    <a:lumOff val="40000"/>
                  </a:schemeClr>
                </a:solidFill>
              </a:rPr>
              <a:t>.</a:t>
            </a:r>
          </a:p>
        </p:txBody>
      </p:sp>
      <p:sp>
        <p:nvSpPr>
          <p:cNvPr id="3" name="TextBox 2">
            <a:extLst>
              <a:ext uri="{FF2B5EF4-FFF2-40B4-BE49-F238E27FC236}">
                <a16:creationId xmlns:a16="http://schemas.microsoft.com/office/drawing/2014/main" id="{2D663991-E87B-ADF0-DFA3-41D48A00E85A}"/>
              </a:ext>
            </a:extLst>
          </p:cNvPr>
          <p:cNvSpPr txBox="1"/>
          <p:nvPr/>
        </p:nvSpPr>
        <p:spPr>
          <a:xfrm>
            <a:off x="3012948" y="115747"/>
            <a:ext cx="6190488" cy="584775"/>
          </a:xfrm>
          <a:prstGeom prst="rect">
            <a:avLst/>
          </a:prstGeom>
          <a:noFill/>
        </p:spPr>
        <p:txBody>
          <a:bodyPr wrap="square">
            <a:spAutoFit/>
          </a:bodyPr>
          <a:lstStyle/>
          <a:p>
            <a:pPr algn="ctr"/>
            <a:r>
              <a:rPr lang="en-US" sz="3200" b="1" dirty="0">
                <a:solidFill>
                  <a:schemeClr val="accent6">
                    <a:lumMod val="60000"/>
                    <a:lumOff val="40000"/>
                  </a:schemeClr>
                </a:solidFill>
              </a:rPr>
              <a:t>Decision Tree</a:t>
            </a: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D0830F-7129-D20D-2224-03CF631BA714}"/>
              </a:ext>
            </a:extLst>
          </p:cNvPr>
          <p:cNvSpPr txBox="1"/>
          <p:nvPr/>
        </p:nvSpPr>
        <p:spPr>
          <a:xfrm>
            <a:off x="466344" y="629150"/>
            <a:ext cx="8823960" cy="1938992"/>
          </a:xfrm>
          <a:prstGeom prst="rect">
            <a:avLst/>
          </a:prstGeom>
          <a:noFill/>
        </p:spPr>
        <p:txBody>
          <a:bodyPr wrap="square">
            <a:spAutoFit/>
          </a:bodyPr>
          <a:lstStyle/>
          <a:p>
            <a:r>
              <a:rPr lang="en-US" sz="2400" dirty="0">
                <a:solidFill>
                  <a:schemeClr val="accent6">
                    <a:lumMod val="60000"/>
                    <a:lumOff val="40000"/>
                  </a:schemeClr>
                </a:solidFill>
              </a:rPr>
              <a:t>Decision Tree Regression</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Idea:</a:t>
            </a:r>
            <a:br>
              <a:rPr lang="en-US" sz="2400" dirty="0">
                <a:solidFill>
                  <a:schemeClr val="accent6">
                    <a:lumMod val="60000"/>
                    <a:lumOff val="40000"/>
                  </a:schemeClr>
                </a:solidFill>
              </a:rPr>
            </a:br>
            <a:r>
              <a:rPr lang="en-US" sz="2400" dirty="0">
                <a:solidFill>
                  <a:schemeClr val="accent6">
                    <a:lumMod val="60000"/>
                    <a:lumOff val="40000"/>
                  </a:schemeClr>
                </a:solidFill>
              </a:rPr>
              <a:t>Splits data into regions and predicts average value per region.</a:t>
            </a:r>
          </a:p>
        </p:txBody>
      </p:sp>
    </p:spTree>
    <p:extLst>
      <p:ext uri="{BB962C8B-B14F-4D97-AF65-F5344CB8AC3E}">
        <p14:creationId xmlns:p14="http://schemas.microsoft.com/office/powerpoint/2010/main" val="2355748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1968D-87B5-1BB4-71C7-20AC59BE0E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6BE2B8-7989-7CDE-BA3A-39B9B588A208}"/>
              </a:ext>
            </a:extLst>
          </p:cNvPr>
          <p:cNvSpPr>
            <a:spLocks noGrp="1"/>
          </p:cNvSpPr>
          <p:nvPr>
            <p:ph type="title"/>
          </p:nvPr>
        </p:nvSpPr>
        <p:spPr>
          <a:xfrm>
            <a:off x="838200" y="205735"/>
            <a:ext cx="5502779" cy="515718"/>
          </a:xfrm>
        </p:spPr>
        <p:txBody>
          <a:bodyPr>
            <a:noAutofit/>
          </a:bodyPr>
          <a:lstStyle/>
          <a:p>
            <a:r>
              <a:rPr lang="en-US" sz="3600" dirty="0"/>
              <a:t>Decision Tree </a:t>
            </a:r>
            <a:r>
              <a:rPr lang="en-US" sz="3600" dirty="0" err="1"/>
              <a:t>Regressor</a:t>
            </a:r>
            <a:r>
              <a:rPr lang="en-US" sz="3600" dirty="0"/>
              <a:t>(p1)</a:t>
            </a:r>
          </a:p>
        </p:txBody>
      </p:sp>
      <p:sp>
        <p:nvSpPr>
          <p:cNvPr id="3" name="Content Placeholder 2">
            <a:extLst>
              <a:ext uri="{FF2B5EF4-FFF2-40B4-BE49-F238E27FC236}">
                <a16:creationId xmlns:a16="http://schemas.microsoft.com/office/drawing/2014/main" id="{484CFC49-C9F8-D2B0-31BF-62222DF07EC5}"/>
              </a:ext>
            </a:extLst>
          </p:cNvPr>
          <p:cNvSpPr>
            <a:spLocks noGrp="1"/>
          </p:cNvSpPr>
          <p:nvPr>
            <p:ph idx="1"/>
          </p:nvPr>
        </p:nvSpPr>
        <p:spPr>
          <a:xfrm>
            <a:off x="352338" y="911225"/>
            <a:ext cx="11551640" cy="570450"/>
          </a:xfrm>
        </p:spPr>
        <p:txBody>
          <a:bodyPr>
            <a:normAutofit lnSpcReduction="10000"/>
          </a:bodyPr>
          <a:lstStyle/>
          <a:p>
            <a:r>
              <a:rPr lang="en-US" sz="1800" dirty="0"/>
              <a:t>A Decision Tree for regression is a model that predicts numerical values using a tree-like structure (See </a:t>
            </a:r>
            <a:r>
              <a:rPr lang="en-US" sz="1800" dirty="0" err="1"/>
              <a:t>jupyter</a:t>
            </a:r>
            <a:r>
              <a:rPr lang="en-US" sz="1800" dirty="0"/>
              <a:t> notebook for the code)</a:t>
            </a:r>
          </a:p>
        </p:txBody>
      </p:sp>
      <p:pic>
        <p:nvPicPr>
          <p:cNvPr id="4" name="Picture 3">
            <a:extLst>
              <a:ext uri="{FF2B5EF4-FFF2-40B4-BE49-F238E27FC236}">
                <a16:creationId xmlns:a16="http://schemas.microsoft.com/office/drawing/2014/main" id="{4E138AD1-2C37-3542-AA06-0D58CB03EE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2669" y="1481673"/>
            <a:ext cx="4170103" cy="4138889"/>
          </a:xfrm>
          <a:prstGeom prst="rect">
            <a:avLst/>
          </a:prstGeom>
        </p:spPr>
      </p:pic>
      <p:sp>
        <p:nvSpPr>
          <p:cNvPr id="5" name="TextBox 4">
            <a:extLst>
              <a:ext uri="{FF2B5EF4-FFF2-40B4-BE49-F238E27FC236}">
                <a16:creationId xmlns:a16="http://schemas.microsoft.com/office/drawing/2014/main" id="{12A0C57D-8860-82DD-98DD-5B7AC7B50683}"/>
              </a:ext>
            </a:extLst>
          </p:cNvPr>
          <p:cNvSpPr txBox="1"/>
          <p:nvPr/>
        </p:nvSpPr>
        <p:spPr>
          <a:xfrm>
            <a:off x="352338" y="1517539"/>
            <a:ext cx="6159557" cy="1754326"/>
          </a:xfrm>
          <a:prstGeom prst="rect">
            <a:avLst/>
          </a:prstGeom>
          <a:noFill/>
        </p:spPr>
        <p:txBody>
          <a:bodyPr wrap="square" rtlCol="0">
            <a:spAutoFit/>
          </a:bodyPr>
          <a:lstStyle/>
          <a:p>
            <a:r>
              <a:rPr lang="en-US" b="1" dirty="0">
                <a:solidFill>
                  <a:schemeClr val="accent6">
                    <a:lumMod val="60000"/>
                    <a:lumOff val="40000"/>
                  </a:schemeClr>
                </a:solidFill>
              </a:rPr>
              <a:t>Training Steps</a:t>
            </a:r>
          </a:p>
          <a:p>
            <a:r>
              <a:rPr lang="en-US" dirty="0">
                <a:solidFill>
                  <a:schemeClr val="accent6">
                    <a:lumMod val="60000"/>
                    <a:lumOff val="40000"/>
                  </a:schemeClr>
                </a:solidFill>
              </a:rPr>
              <a:t>We will explore the regression part in the decision tree algorithm CART (Classification and Regression Trees). We would use the data shown in right.</a:t>
            </a:r>
          </a:p>
          <a:p>
            <a:r>
              <a:rPr lang="en-US" dirty="0">
                <a:solidFill>
                  <a:schemeClr val="accent6">
                    <a:lumMod val="60000"/>
                    <a:lumOff val="40000"/>
                  </a:schemeClr>
                </a:solidFill>
              </a:rPr>
              <a:t>It builds binary trees and typically follows these steps:</a:t>
            </a:r>
          </a:p>
          <a:p>
            <a:r>
              <a:rPr lang="en-US" dirty="0">
                <a:solidFill>
                  <a:schemeClr val="accent6">
                    <a:lumMod val="60000"/>
                    <a:lumOff val="40000"/>
                  </a:schemeClr>
                </a:solidFill>
              </a:rPr>
              <a:t>1.Begin with all training samples in the root node.</a:t>
            </a:r>
          </a:p>
        </p:txBody>
      </p:sp>
      <p:pic>
        <p:nvPicPr>
          <p:cNvPr id="6" name="Picture 5">
            <a:extLst>
              <a:ext uri="{FF2B5EF4-FFF2-40B4-BE49-F238E27FC236}">
                <a16:creationId xmlns:a16="http://schemas.microsoft.com/office/drawing/2014/main" id="{438DC5D7-0D42-9E54-EBB3-6DA6C5C74A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866" y="3261070"/>
            <a:ext cx="3415684" cy="3439026"/>
          </a:xfrm>
          <a:prstGeom prst="rect">
            <a:avLst/>
          </a:prstGeom>
        </p:spPr>
      </p:pic>
      <p:sp>
        <p:nvSpPr>
          <p:cNvPr id="7" name="TextBox 6">
            <a:extLst>
              <a:ext uri="{FF2B5EF4-FFF2-40B4-BE49-F238E27FC236}">
                <a16:creationId xmlns:a16="http://schemas.microsoft.com/office/drawing/2014/main" id="{DBFB9B46-88A6-3D8F-709F-14996526907A}"/>
              </a:ext>
            </a:extLst>
          </p:cNvPr>
          <p:cNvSpPr txBox="1"/>
          <p:nvPr/>
        </p:nvSpPr>
        <p:spPr>
          <a:xfrm>
            <a:off x="6278723" y="37084"/>
            <a:ext cx="5795176" cy="369332"/>
          </a:xfrm>
          <a:prstGeom prst="rect">
            <a:avLst/>
          </a:prstGeom>
          <a:noFill/>
        </p:spPr>
        <p:txBody>
          <a:bodyPr wrap="none" rtlCol="0">
            <a:spAutoFit/>
          </a:bodyPr>
          <a:lstStyle/>
          <a:p>
            <a:r>
              <a:rPr lang="en-US" sz="900" dirty="0">
                <a:solidFill>
                  <a:schemeClr val="accent6">
                    <a:lumMod val="60000"/>
                    <a:lumOff val="40000"/>
                  </a:schemeClr>
                </a:solidFill>
              </a:rPr>
              <a:t>Source:</a:t>
            </a:r>
          </a:p>
          <a:p>
            <a:r>
              <a:rPr lang="en-US" sz="900" dirty="0">
                <a:solidFill>
                  <a:schemeClr val="accent6">
                    <a:lumMod val="60000"/>
                    <a:lumOff val="40000"/>
                  </a:schemeClr>
                </a:solidFill>
              </a:rPr>
              <a:t>https://medium.com/data-science/decision-tree-regressor-explained-a-visual-guide-with-code-examples-fbd2836c3bef</a:t>
            </a:r>
          </a:p>
        </p:txBody>
      </p:sp>
      <p:sp>
        <p:nvSpPr>
          <p:cNvPr id="8" name="TextBox 7">
            <a:extLst>
              <a:ext uri="{FF2B5EF4-FFF2-40B4-BE49-F238E27FC236}">
                <a16:creationId xmlns:a16="http://schemas.microsoft.com/office/drawing/2014/main" id="{67BBE99E-FE3B-C4BF-CF8F-DBE671A94CFA}"/>
              </a:ext>
            </a:extLst>
          </p:cNvPr>
          <p:cNvSpPr txBox="1"/>
          <p:nvPr/>
        </p:nvSpPr>
        <p:spPr>
          <a:xfrm>
            <a:off x="8097890" y="6223218"/>
            <a:ext cx="1923925" cy="261610"/>
          </a:xfrm>
          <a:prstGeom prst="rect">
            <a:avLst/>
          </a:prstGeom>
          <a:noFill/>
        </p:spPr>
        <p:txBody>
          <a:bodyPr wrap="none" rtlCol="0">
            <a:spAutoFit/>
          </a:bodyPr>
          <a:lstStyle/>
          <a:p>
            <a:r>
              <a:rPr lang="en-US" sz="1100" dirty="0">
                <a:solidFill>
                  <a:schemeClr val="accent6">
                    <a:lumMod val="60000"/>
                    <a:lumOff val="40000"/>
                  </a:schemeClr>
                </a:solidFill>
              </a:rPr>
              <a:t>See </a:t>
            </a:r>
            <a:r>
              <a:rPr lang="en-US" sz="1100" dirty="0" err="1">
                <a:solidFill>
                  <a:schemeClr val="accent6">
                    <a:lumMod val="60000"/>
                    <a:lumOff val="40000"/>
                  </a:schemeClr>
                </a:solidFill>
              </a:rPr>
              <a:t>jupyter</a:t>
            </a:r>
            <a:r>
              <a:rPr lang="en-US" sz="1100" dirty="0">
                <a:solidFill>
                  <a:schemeClr val="accent6">
                    <a:lumMod val="60000"/>
                    <a:lumOff val="40000"/>
                  </a:schemeClr>
                </a:solidFill>
              </a:rPr>
              <a:t> notebook for code</a:t>
            </a:r>
            <a:endParaRPr lang="en-US" dirty="0">
              <a:solidFill>
                <a:schemeClr val="accent6">
                  <a:lumMod val="60000"/>
                  <a:lumOff val="40000"/>
                </a:schemeClr>
              </a:solidFill>
            </a:endParaRPr>
          </a:p>
        </p:txBody>
      </p:sp>
      <p:cxnSp>
        <p:nvCxnSpPr>
          <p:cNvPr id="9" name="Straight Arrow Connector 8">
            <a:extLst>
              <a:ext uri="{FF2B5EF4-FFF2-40B4-BE49-F238E27FC236}">
                <a16:creationId xmlns:a16="http://schemas.microsoft.com/office/drawing/2014/main" id="{CA459F31-71BB-AE25-E1EE-2F9BC2D923FB}"/>
              </a:ext>
            </a:extLst>
          </p:cNvPr>
          <p:cNvCxnSpPr/>
          <p:nvPr/>
        </p:nvCxnSpPr>
        <p:spPr>
          <a:xfrm flipV="1">
            <a:off x="8769010" y="5904546"/>
            <a:ext cx="151001" cy="318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83817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6678"/>
            <a:ext cx="10515600" cy="515718"/>
          </a:xfrm>
        </p:spPr>
        <p:txBody>
          <a:bodyPr>
            <a:normAutofit fontScale="90000"/>
          </a:bodyPr>
          <a:lstStyle/>
          <a:p>
            <a:r>
              <a:rPr lang="en-US" dirty="0"/>
              <a:t>Decision Tree </a:t>
            </a:r>
            <a:r>
              <a:rPr lang="en-US" dirty="0" err="1"/>
              <a:t>Regressor</a:t>
            </a:r>
            <a:r>
              <a:rPr lang="en-US" dirty="0"/>
              <a:t>(p2)</a:t>
            </a:r>
          </a:p>
        </p:txBody>
      </p:sp>
      <p:sp>
        <p:nvSpPr>
          <p:cNvPr id="3" name="Content Placeholder 2"/>
          <p:cNvSpPr>
            <a:spLocks noGrp="1"/>
          </p:cNvSpPr>
          <p:nvPr>
            <p:ph idx="1"/>
          </p:nvPr>
        </p:nvSpPr>
        <p:spPr>
          <a:xfrm>
            <a:off x="218114" y="693110"/>
            <a:ext cx="4991449" cy="1076967"/>
          </a:xfrm>
        </p:spPr>
        <p:txBody>
          <a:bodyPr>
            <a:noAutofit/>
          </a:bodyPr>
          <a:lstStyle/>
          <a:p>
            <a:pPr marL="0" indent="0">
              <a:buNone/>
            </a:pPr>
            <a:r>
              <a:rPr lang="en-US" sz="1800" dirty="0"/>
              <a:t>2.For each feature in the dataset:</a:t>
            </a:r>
            <a:br>
              <a:rPr lang="en-US" sz="1800" dirty="0"/>
            </a:br>
            <a:r>
              <a:rPr lang="en-US" sz="1800" dirty="0"/>
              <a:t>a. Sort the feature values in ascending order.</a:t>
            </a:r>
            <a:br>
              <a:rPr lang="en-US" sz="1800" dirty="0"/>
            </a:br>
            <a:r>
              <a:rPr lang="en-US" sz="1800" dirty="0"/>
              <a:t>b. Consider all midpoints between adjacent values as potential split points.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912" y="1837188"/>
            <a:ext cx="4555012" cy="4966283"/>
          </a:xfrm>
          <a:prstGeom prst="rect">
            <a:avLst/>
          </a:prstGeom>
        </p:spPr>
      </p:pic>
      <p:sp>
        <p:nvSpPr>
          <p:cNvPr id="8" name="Content Placeholder 2"/>
          <p:cNvSpPr txBox="1">
            <a:spLocks/>
          </p:cNvSpPr>
          <p:nvPr/>
        </p:nvSpPr>
        <p:spPr>
          <a:xfrm>
            <a:off x="5914239" y="693110"/>
            <a:ext cx="6182686" cy="947680"/>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accent6">
                    <a:lumMod val="60000"/>
                    <a:lumOff val="40000"/>
                  </a:schemeClr>
                </a:solidFill>
              </a:rPr>
              <a:t>3. For each potential split point:</a:t>
            </a:r>
            <a:br>
              <a:rPr lang="en-US" dirty="0">
                <a:solidFill>
                  <a:schemeClr val="accent6">
                    <a:lumMod val="60000"/>
                    <a:lumOff val="40000"/>
                  </a:schemeClr>
                </a:solidFill>
              </a:rPr>
            </a:br>
            <a:r>
              <a:rPr lang="en-US" dirty="0">
                <a:solidFill>
                  <a:schemeClr val="accent6">
                    <a:lumMod val="60000"/>
                    <a:lumOff val="40000"/>
                  </a:schemeClr>
                </a:solidFill>
              </a:rPr>
              <a:t>a. Calculate the mean squared error (MSE) of the current node.</a:t>
            </a:r>
            <a:br>
              <a:rPr lang="en-US" dirty="0">
                <a:solidFill>
                  <a:schemeClr val="accent6">
                    <a:lumMod val="60000"/>
                    <a:lumOff val="40000"/>
                  </a:schemeClr>
                </a:solidFill>
              </a:rPr>
            </a:br>
            <a:r>
              <a:rPr lang="en-US" dirty="0">
                <a:solidFill>
                  <a:schemeClr val="accent6">
                    <a:lumMod val="60000"/>
                    <a:lumOff val="40000"/>
                  </a:schemeClr>
                </a:solidFill>
              </a:rPr>
              <a:t>b. Compute the weighted average of errors for the resulting split.</a:t>
            </a:r>
            <a:endParaRPr lang="en-US" sz="1800" dirty="0">
              <a:solidFill>
                <a:schemeClr val="accent6">
                  <a:lumMod val="60000"/>
                  <a:lumOff val="40000"/>
                </a:schemeClr>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3549" y="1854945"/>
            <a:ext cx="4706761" cy="4630476"/>
          </a:xfrm>
          <a:prstGeom prst="rect">
            <a:avLst/>
          </a:prstGeom>
        </p:spPr>
      </p:pic>
      <p:cxnSp>
        <p:nvCxnSpPr>
          <p:cNvPr id="11" name="Straight Connector 10"/>
          <p:cNvCxnSpPr/>
          <p:nvPr/>
        </p:nvCxnSpPr>
        <p:spPr>
          <a:xfrm>
            <a:off x="5578679" y="973123"/>
            <a:ext cx="25167" cy="5444455"/>
          </a:xfrm>
          <a:prstGeom prst="line">
            <a:avLst/>
          </a:prstGeom>
        </p:spPr>
        <p:style>
          <a:lnRef idx="3">
            <a:schemeClr val="dk1"/>
          </a:lnRef>
          <a:fillRef idx="0">
            <a:schemeClr val="dk1"/>
          </a:fillRef>
          <a:effectRef idx="2">
            <a:schemeClr val="dk1"/>
          </a:effectRef>
          <a:fontRef idx="minor">
            <a:schemeClr val="tx1"/>
          </a:fontRef>
        </p:style>
      </p:cxnSp>
      <p:sp>
        <p:nvSpPr>
          <p:cNvPr id="12" name="TextBox 11"/>
          <p:cNvSpPr txBox="1"/>
          <p:nvPr/>
        </p:nvSpPr>
        <p:spPr>
          <a:xfrm>
            <a:off x="10109675" y="1640790"/>
            <a:ext cx="1547218" cy="430887"/>
          </a:xfrm>
          <a:prstGeom prst="rect">
            <a:avLst/>
          </a:prstGeom>
          <a:noFill/>
        </p:spPr>
        <p:txBody>
          <a:bodyPr wrap="none" rtlCol="0">
            <a:spAutoFit/>
          </a:bodyPr>
          <a:lstStyle/>
          <a:p>
            <a:r>
              <a:rPr lang="en-US" sz="1100" dirty="0">
                <a:solidFill>
                  <a:schemeClr val="accent6">
                    <a:lumMod val="60000"/>
                    <a:lumOff val="40000"/>
                  </a:schemeClr>
                </a:solidFill>
              </a:rPr>
              <a:t>(43 – 33.25)^2 = 95.06</a:t>
            </a:r>
          </a:p>
          <a:p>
            <a:r>
              <a:rPr lang="en-US" sz="1100" dirty="0">
                <a:solidFill>
                  <a:schemeClr val="accent6">
                    <a:lumMod val="60000"/>
                    <a:lumOff val="40000"/>
                  </a:schemeClr>
                </a:solidFill>
              </a:rPr>
              <a:t>(19 – 33.25)^2 = 203.06</a:t>
            </a:r>
          </a:p>
        </p:txBody>
      </p:sp>
      <p:cxnSp>
        <p:nvCxnSpPr>
          <p:cNvPr id="14" name="Straight Arrow Connector 13"/>
          <p:cNvCxnSpPr/>
          <p:nvPr/>
        </p:nvCxnSpPr>
        <p:spPr>
          <a:xfrm flipH="1">
            <a:off x="8879080" y="1914258"/>
            <a:ext cx="1136591" cy="58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9031480" y="2066658"/>
            <a:ext cx="1136591" cy="58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8899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735"/>
            <a:ext cx="10515600" cy="515718"/>
          </a:xfrm>
        </p:spPr>
        <p:txBody>
          <a:bodyPr>
            <a:normAutofit fontScale="90000"/>
          </a:bodyPr>
          <a:lstStyle/>
          <a:p>
            <a:r>
              <a:rPr lang="en-US" dirty="0"/>
              <a:t>Decision Tree </a:t>
            </a:r>
            <a:r>
              <a:rPr lang="en-US" dirty="0" err="1"/>
              <a:t>Regressor</a:t>
            </a:r>
            <a:r>
              <a:rPr lang="en-US" dirty="0"/>
              <a:t>(p3)</a:t>
            </a:r>
          </a:p>
        </p:txBody>
      </p:sp>
      <p:sp>
        <p:nvSpPr>
          <p:cNvPr id="3" name="Content Placeholder 2"/>
          <p:cNvSpPr>
            <a:spLocks noGrp="1"/>
          </p:cNvSpPr>
          <p:nvPr>
            <p:ph idx="1"/>
          </p:nvPr>
        </p:nvSpPr>
        <p:spPr>
          <a:xfrm>
            <a:off x="5847128" y="911224"/>
            <a:ext cx="6056849" cy="816907"/>
          </a:xfrm>
        </p:spPr>
        <p:txBody>
          <a:bodyPr>
            <a:noAutofit/>
          </a:bodyPr>
          <a:lstStyle/>
          <a:p>
            <a:pPr marL="0" indent="0">
              <a:buNone/>
            </a:pPr>
            <a:r>
              <a:rPr lang="en-US" sz="1800" dirty="0"/>
              <a:t>4. After evaluating all features and split points, select the one with lowest weighted average of MSE.</a:t>
            </a:r>
            <a:endParaRPr lang="en-US" sz="11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970" y="2291793"/>
            <a:ext cx="4706761" cy="3689667"/>
          </a:xfrm>
          <a:prstGeom prst="rect">
            <a:avLst/>
          </a:prstGeom>
        </p:spPr>
      </p:pic>
      <p:cxnSp>
        <p:nvCxnSpPr>
          <p:cNvPr id="5" name="Straight Connector 4"/>
          <p:cNvCxnSpPr/>
          <p:nvPr/>
        </p:nvCxnSpPr>
        <p:spPr>
          <a:xfrm>
            <a:off x="5603846" y="973123"/>
            <a:ext cx="25167" cy="5444455"/>
          </a:xfrm>
          <a:prstGeom prst="line">
            <a:avLst/>
          </a:prstGeom>
        </p:spPr>
        <p:style>
          <a:lnRef idx="3">
            <a:schemeClr val="dk1"/>
          </a:lnRef>
          <a:fillRef idx="0">
            <a:schemeClr val="dk1"/>
          </a:fillRef>
          <a:effectRef idx="2">
            <a:schemeClr val="dk1"/>
          </a:effectRef>
          <a:fontRef idx="minor">
            <a:schemeClr val="tx1"/>
          </a:fontRef>
        </p:style>
      </p:cxn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5149" y="1643285"/>
            <a:ext cx="5859832" cy="230378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23833" y="4095660"/>
            <a:ext cx="2470982" cy="2756573"/>
          </a:xfrm>
          <a:prstGeom prst="rect">
            <a:avLst/>
          </a:prstGeom>
        </p:spPr>
      </p:pic>
      <p:sp>
        <p:nvSpPr>
          <p:cNvPr id="8" name="TextBox 7"/>
          <p:cNvSpPr txBox="1"/>
          <p:nvPr/>
        </p:nvSpPr>
        <p:spPr>
          <a:xfrm>
            <a:off x="645952" y="6300132"/>
            <a:ext cx="1923925" cy="261610"/>
          </a:xfrm>
          <a:prstGeom prst="rect">
            <a:avLst/>
          </a:prstGeom>
          <a:noFill/>
        </p:spPr>
        <p:txBody>
          <a:bodyPr wrap="none" rtlCol="0">
            <a:spAutoFit/>
          </a:bodyPr>
          <a:lstStyle/>
          <a:p>
            <a:r>
              <a:rPr lang="en-US" sz="1100" dirty="0">
                <a:solidFill>
                  <a:schemeClr val="accent6">
                    <a:lumMod val="60000"/>
                    <a:lumOff val="40000"/>
                  </a:schemeClr>
                </a:solidFill>
              </a:rPr>
              <a:t>See </a:t>
            </a:r>
            <a:r>
              <a:rPr lang="en-US" sz="1100" dirty="0" err="1">
                <a:solidFill>
                  <a:schemeClr val="accent6">
                    <a:lumMod val="60000"/>
                    <a:lumOff val="40000"/>
                  </a:schemeClr>
                </a:solidFill>
              </a:rPr>
              <a:t>jupyter</a:t>
            </a:r>
            <a:r>
              <a:rPr lang="en-US" sz="1100" dirty="0">
                <a:solidFill>
                  <a:schemeClr val="accent6">
                    <a:lumMod val="60000"/>
                    <a:lumOff val="40000"/>
                  </a:schemeClr>
                </a:solidFill>
              </a:rPr>
              <a:t> notebook for code</a:t>
            </a:r>
            <a:endParaRPr lang="en-US" dirty="0">
              <a:solidFill>
                <a:schemeClr val="accent6">
                  <a:lumMod val="60000"/>
                  <a:lumOff val="40000"/>
                </a:schemeClr>
              </a:solidFill>
            </a:endParaRPr>
          </a:p>
        </p:txBody>
      </p:sp>
      <p:sp>
        <p:nvSpPr>
          <p:cNvPr id="9" name="TextBox 8"/>
          <p:cNvSpPr txBox="1"/>
          <p:nvPr/>
        </p:nvSpPr>
        <p:spPr>
          <a:xfrm>
            <a:off x="8818236" y="6452532"/>
            <a:ext cx="1923925" cy="261610"/>
          </a:xfrm>
          <a:prstGeom prst="rect">
            <a:avLst/>
          </a:prstGeom>
          <a:noFill/>
        </p:spPr>
        <p:txBody>
          <a:bodyPr wrap="none" rtlCol="0">
            <a:spAutoFit/>
          </a:bodyPr>
          <a:lstStyle/>
          <a:p>
            <a:r>
              <a:rPr lang="en-US" sz="1100" dirty="0">
                <a:solidFill>
                  <a:schemeClr val="accent6">
                    <a:lumMod val="60000"/>
                    <a:lumOff val="40000"/>
                  </a:schemeClr>
                </a:solidFill>
              </a:rPr>
              <a:t>See </a:t>
            </a:r>
            <a:r>
              <a:rPr lang="en-US" sz="1100" dirty="0" err="1">
                <a:solidFill>
                  <a:schemeClr val="accent6">
                    <a:lumMod val="60000"/>
                    <a:lumOff val="40000"/>
                  </a:schemeClr>
                </a:solidFill>
              </a:rPr>
              <a:t>jupyter</a:t>
            </a:r>
            <a:r>
              <a:rPr lang="en-US" sz="1100" dirty="0">
                <a:solidFill>
                  <a:schemeClr val="accent6">
                    <a:lumMod val="60000"/>
                    <a:lumOff val="40000"/>
                  </a:schemeClr>
                </a:solidFill>
              </a:rPr>
              <a:t> notebook for code</a:t>
            </a:r>
            <a:endParaRPr lang="en-US" dirty="0">
              <a:solidFill>
                <a:schemeClr val="accent6">
                  <a:lumMod val="60000"/>
                  <a:lumOff val="40000"/>
                </a:schemeClr>
              </a:solidFill>
            </a:endParaRPr>
          </a:p>
        </p:txBody>
      </p:sp>
      <p:cxnSp>
        <p:nvCxnSpPr>
          <p:cNvPr id="11" name="Straight Arrow Connector 10"/>
          <p:cNvCxnSpPr/>
          <p:nvPr/>
        </p:nvCxnSpPr>
        <p:spPr>
          <a:xfrm flipV="1">
            <a:off x="1317072" y="5981460"/>
            <a:ext cx="151001" cy="318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flipH="1" flipV="1">
            <a:off x="8662982" y="5922628"/>
            <a:ext cx="759262" cy="5299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57555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726"/>
            <a:ext cx="5007123" cy="515718"/>
          </a:xfrm>
        </p:spPr>
        <p:txBody>
          <a:bodyPr>
            <a:noAutofit/>
          </a:bodyPr>
          <a:lstStyle/>
          <a:p>
            <a:r>
              <a:rPr lang="en-US" sz="3200" dirty="0"/>
              <a:t>Decision Tree </a:t>
            </a:r>
            <a:r>
              <a:rPr lang="en-US" sz="3200" dirty="0" err="1"/>
              <a:t>Regressor</a:t>
            </a:r>
            <a:r>
              <a:rPr lang="en-US" sz="3200" dirty="0"/>
              <a:t>(p4)</a:t>
            </a:r>
          </a:p>
        </p:txBody>
      </p:sp>
      <p:sp>
        <p:nvSpPr>
          <p:cNvPr id="3" name="Content Placeholder 2"/>
          <p:cNvSpPr>
            <a:spLocks noGrp="1"/>
          </p:cNvSpPr>
          <p:nvPr>
            <p:ph idx="1"/>
          </p:nvPr>
        </p:nvSpPr>
        <p:spPr>
          <a:xfrm>
            <a:off x="5452844" y="818945"/>
            <a:ext cx="6635692" cy="607183"/>
          </a:xfrm>
        </p:spPr>
        <p:txBody>
          <a:bodyPr>
            <a:noAutofit/>
          </a:bodyPr>
          <a:lstStyle/>
          <a:p>
            <a:pPr marL="0" indent="0">
              <a:buNone/>
            </a:pPr>
            <a:r>
              <a:rPr lang="en-US" sz="1800" dirty="0"/>
              <a:t>6. Recursively repeat steps 2–5 for each child node. (Continue until a stopping criterion is met.)</a:t>
            </a:r>
            <a:endParaRPr lang="en-US" sz="9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847" y="1786394"/>
            <a:ext cx="3783601" cy="4751297"/>
          </a:xfrm>
          <a:prstGeom prst="rect">
            <a:avLst/>
          </a:prstGeom>
        </p:spPr>
      </p:pic>
      <p:cxnSp>
        <p:nvCxnSpPr>
          <p:cNvPr id="5" name="Straight Connector 4"/>
          <p:cNvCxnSpPr/>
          <p:nvPr/>
        </p:nvCxnSpPr>
        <p:spPr>
          <a:xfrm>
            <a:off x="5259897" y="973123"/>
            <a:ext cx="25167" cy="5444455"/>
          </a:xfrm>
          <a:prstGeom prst="line">
            <a:avLst/>
          </a:prstGeom>
        </p:spPr>
        <p:style>
          <a:lnRef idx="3">
            <a:schemeClr val="dk1"/>
          </a:lnRef>
          <a:fillRef idx="0">
            <a:schemeClr val="dk1"/>
          </a:fillRef>
          <a:effectRef idx="2">
            <a:schemeClr val="dk1"/>
          </a:effectRef>
          <a:fontRef idx="minor">
            <a:schemeClr val="tx1"/>
          </a:fontRef>
        </p:style>
      </p:cxnSp>
      <p:sp>
        <p:nvSpPr>
          <p:cNvPr id="10" name="TextBox 9"/>
          <p:cNvSpPr txBox="1"/>
          <p:nvPr/>
        </p:nvSpPr>
        <p:spPr>
          <a:xfrm>
            <a:off x="444616" y="679507"/>
            <a:ext cx="4555222" cy="1077218"/>
          </a:xfrm>
          <a:prstGeom prst="rect">
            <a:avLst/>
          </a:prstGeom>
          <a:noFill/>
        </p:spPr>
        <p:txBody>
          <a:bodyPr wrap="square" rtlCol="0">
            <a:spAutoFit/>
          </a:bodyPr>
          <a:lstStyle/>
          <a:p>
            <a:r>
              <a:rPr lang="en-US" sz="1600" dirty="0">
                <a:solidFill>
                  <a:schemeClr val="accent6">
                    <a:lumMod val="60000"/>
                    <a:lumOff val="40000"/>
                  </a:schemeClr>
                </a:solidFill>
              </a:rPr>
              <a:t>5. Create two child nodes based on the chosen feature and split point:</a:t>
            </a:r>
            <a:br>
              <a:rPr lang="en-US" sz="1600" dirty="0">
                <a:solidFill>
                  <a:schemeClr val="accent6">
                    <a:lumMod val="60000"/>
                    <a:lumOff val="40000"/>
                  </a:schemeClr>
                </a:solidFill>
              </a:rPr>
            </a:br>
            <a:r>
              <a:rPr lang="en-US" sz="1600" dirty="0">
                <a:solidFill>
                  <a:schemeClr val="accent6">
                    <a:lumMod val="60000"/>
                    <a:lumOff val="40000"/>
                  </a:schemeClr>
                </a:solidFill>
              </a:rPr>
              <a:t>- Left child: samples with feature value &lt;= split point</a:t>
            </a:r>
            <a:br>
              <a:rPr lang="en-US" sz="1600" dirty="0">
                <a:solidFill>
                  <a:schemeClr val="accent6">
                    <a:lumMod val="60000"/>
                    <a:lumOff val="40000"/>
                  </a:schemeClr>
                </a:solidFill>
              </a:rPr>
            </a:br>
            <a:r>
              <a:rPr lang="en-US" sz="1600" dirty="0">
                <a:solidFill>
                  <a:schemeClr val="accent6">
                    <a:lumMod val="60000"/>
                    <a:lumOff val="40000"/>
                  </a:schemeClr>
                </a:solidFill>
              </a:rPr>
              <a:t>- Right child: samples with feature value &gt; split point</a:t>
            </a: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7521" y="1351000"/>
            <a:ext cx="4810955" cy="5449850"/>
          </a:xfrm>
          <a:prstGeom prst="rect">
            <a:avLst/>
          </a:prstGeom>
        </p:spPr>
      </p:pic>
    </p:spTree>
    <p:extLst>
      <p:ext uri="{BB962C8B-B14F-4D97-AF65-F5344CB8AC3E}">
        <p14:creationId xmlns:p14="http://schemas.microsoft.com/office/powerpoint/2010/main" val="399012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5067"/>
            <a:ext cx="5973661" cy="515718"/>
          </a:xfrm>
        </p:spPr>
        <p:txBody>
          <a:bodyPr>
            <a:normAutofit fontScale="90000"/>
          </a:bodyPr>
          <a:lstStyle/>
          <a:p>
            <a:r>
              <a:rPr lang="en-US" dirty="0"/>
              <a:t>Decision Tree </a:t>
            </a:r>
            <a:r>
              <a:rPr lang="en-US" dirty="0" err="1"/>
              <a:t>Regressor</a:t>
            </a:r>
            <a:r>
              <a:rPr lang="en-US" dirty="0"/>
              <a:t>(p5)</a:t>
            </a:r>
          </a:p>
        </p:txBody>
      </p:sp>
      <p:cxnSp>
        <p:nvCxnSpPr>
          <p:cNvPr id="5" name="Straight Connector 4"/>
          <p:cNvCxnSpPr/>
          <p:nvPr/>
        </p:nvCxnSpPr>
        <p:spPr>
          <a:xfrm>
            <a:off x="5259897" y="973123"/>
            <a:ext cx="25167" cy="5444455"/>
          </a:xfrm>
          <a:prstGeom prst="line">
            <a:avLst/>
          </a:prstGeom>
        </p:spPr>
        <p:style>
          <a:lnRef idx="3">
            <a:schemeClr val="dk1"/>
          </a:lnRef>
          <a:fillRef idx="0">
            <a:schemeClr val="dk1"/>
          </a:fillRef>
          <a:effectRef idx="2">
            <a:schemeClr val="dk1"/>
          </a:effectRef>
          <a:fontRef idx="minor">
            <a:schemeClr val="tx1"/>
          </a:fontRef>
        </p:style>
      </p:cxnSp>
      <p:sp>
        <p:nvSpPr>
          <p:cNvPr id="10" name="TextBox 9"/>
          <p:cNvSpPr txBox="1"/>
          <p:nvPr/>
        </p:nvSpPr>
        <p:spPr>
          <a:xfrm>
            <a:off x="444616" y="679507"/>
            <a:ext cx="4555222" cy="923330"/>
          </a:xfrm>
          <a:prstGeom prst="rect">
            <a:avLst/>
          </a:prstGeom>
          <a:noFill/>
        </p:spPr>
        <p:txBody>
          <a:bodyPr wrap="square" rtlCol="0">
            <a:spAutoFit/>
          </a:bodyPr>
          <a:lstStyle/>
          <a:p>
            <a:r>
              <a:rPr lang="en-US" dirty="0">
                <a:solidFill>
                  <a:schemeClr val="accent6">
                    <a:lumMod val="60000"/>
                    <a:lumOff val="40000"/>
                  </a:schemeClr>
                </a:solidFill>
              </a:rPr>
              <a:t>7. At each leaf node, assign the average target value of the samples in that node as the prediction.</a:t>
            </a:r>
            <a:endParaRPr lang="en-US" sz="1600" dirty="0">
              <a:solidFill>
                <a:schemeClr val="accent6">
                  <a:lumMod val="60000"/>
                  <a:lumOff val="40000"/>
                </a:schemeClr>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105" y="1831200"/>
            <a:ext cx="4937624" cy="35268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9173" y="966087"/>
            <a:ext cx="6487344" cy="3429743"/>
          </a:xfrm>
          <a:prstGeom prst="rect">
            <a:avLst/>
          </a:prstGeom>
        </p:spPr>
      </p:pic>
      <p:sp>
        <p:nvSpPr>
          <p:cNvPr id="11" name="TextBox 10"/>
          <p:cNvSpPr txBox="1"/>
          <p:nvPr/>
        </p:nvSpPr>
        <p:spPr>
          <a:xfrm>
            <a:off x="6484696" y="4706222"/>
            <a:ext cx="1923925" cy="261610"/>
          </a:xfrm>
          <a:prstGeom prst="rect">
            <a:avLst/>
          </a:prstGeom>
          <a:noFill/>
        </p:spPr>
        <p:txBody>
          <a:bodyPr wrap="none" rtlCol="0">
            <a:spAutoFit/>
          </a:bodyPr>
          <a:lstStyle/>
          <a:p>
            <a:r>
              <a:rPr lang="en-US" sz="1100" dirty="0">
                <a:solidFill>
                  <a:schemeClr val="accent6">
                    <a:lumMod val="60000"/>
                    <a:lumOff val="40000"/>
                  </a:schemeClr>
                </a:solidFill>
              </a:rPr>
              <a:t>See </a:t>
            </a:r>
            <a:r>
              <a:rPr lang="en-US" sz="1100" dirty="0" err="1">
                <a:solidFill>
                  <a:schemeClr val="accent6">
                    <a:lumMod val="60000"/>
                    <a:lumOff val="40000"/>
                  </a:schemeClr>
                </a:solidFill>
              </a:rPr>
              <a:t>jupyter</a:t>
            </a:r>
            <a:r>
              <a:rPr lang="en-US" sz="1100" dirty="0">
                <a:solidFill>
                  <a:schemeClr val="accent6">
                    <a:lumMod val="60000"/>
                    <a:lumOff val="40000"/>
                  </a:schemeClr>
                </a:solidFill>
              </a:rPr>
              <a:t> notebook for code</a:t>
            </a:r>
            <a:endParaRPr lang="en-US" dirty="0">
              <a:solidFill>
                <a:schemeClr val="accent6">
                  <a:lumMod val="60000"/>
                  <a:lumOff val="40000"/>
                </a:schemeClr>
              </a:solidFill>
            </a:endParaRPr>
          </a:p>
        </p:txBody>
      </p:sp>
      <p:cxnSp>
        <p:nvCxnSpPr>
          <p:cNvPr id="12" name="Straight Arrow Connector 11"/>
          <p:cNvCxnSpPr/>
          <p:nvPr/>
        </p:nvCxnSpPr>
        <p:spPr>
          <a:xfrm flipV="1">
            <a:off x="7155816" y="4387550"/>
            <a:ext cx="151001" cy="318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57051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(p6)</a:t>
            </a:r>
          </a:p>
        </p:txBody>
      </p:sp>
      <p:cxnSp>
        <p:nvCxnSpPr>
          <p:cNvPr id="5" name="Straight Connector 4"/>
          <p:cNvCxnSpPr/>
          <p:nvPr/>
        </p:nvCxnSpPr>
        <p:spPr>
          <a:xfrm>
            <a:off x="5259897" y="973123"/>
            <a:ext cx="25167" cy="5444455"/>
          </a:xfrm>
          <a:prstGeom prst="line">
            <a:avLst/>
          </a:prstGeom>
        </p:spPr>
        <p:style>
          <a:lnRef idx="3">
            <a:schemeClr val="dk1"/>
          </a:lnRef>
          <a:fillRef idx="0">
            <a:schemeClr val="dk1"/>
          </a:fillRef>
          <a:effectRef idx="2">
            <a:schemeClr val="dk1"/>
          </a:effectRef>
          <a:fontRef idx="minor">
            <a:schemeClr val="tx1"/>
          </a:fontRef>
        </p:style>
      </p:cxnSp>
      <p:sp>
        <p:nvSpPr>
          <p:cNvPr id="10" name="TextBox 9"/>
          <p:cNvSpPr txBox="1"/>
          <p:nvPr/>
        </p:nvSpPr>
        <p:spPr>
          <a:xfrm>
            <a:off x="209725" y="679507"/>
            <a:ext cx="4991449" cy="2031325"/>
          </a:xfrm>
          <a:prstGeom prst="rect">
            <a:avLst/>
          </a:prstGeom>
          <a:noFill/>
        </p:spPr>
        <p:txBody>
          <a:bodyPr wrap="square" rtlCol="0">
            <a:spAutoFit/>
          </a:bodyPr>
          <a:lstStyle/>
          <a:p>
            <a:r>
              <a:rPr lang="en-US" sz="1400" b="1" dirty="0">
                <a:solidFill>
                  <a:schemeClr val="accent6">
                    <a:lumMod val="60000"/>
                    <a:lumOff val="40000"/>
                  </a:schemeClr>
                </a:solidFill>
              </a:rPr>
              <a:t>Regression/Prediction Step</a:t>
            </a:r>
          </a:p>
          <a:p>
            <a:r>
              <a:rPr lang="en-US" sz="1400" dirty="0">
                <a:solidFill>
                  <a:schemeClr val="accent6">
                    <a:lumMod val="60000"/>
                    <a:lumOff val="40000"/>
                  </a:schemeClr>
                </a:solidFill>
              </a:rPr>
              <a:t>Here’s how a regression tree makes predictions for new data:</a:t>
            </a:r>
            <a:br>
              <a:rPr lang="en-US" sz="1400" dirty="0">
                <a:solidFill>
                  <a:schemeClr val="accent6">
                    <a:lumMod val="60000"/>
                    <a:lumOff val="40000"/>
                  </a:schemeClr>
                </a:solidFill>
              </a:rPr>
            </a:br>
            <a:r>
              <a:rPr lang="en-US" sz="1400" dirty="0">
                <a:solidFill>
                  <a:schemeClr val="accent6">
                    <a:lumMod val="60000"/>
                    <a:lumOff val="40000"/>
                  </a:schemeClr>
                </a:solidFill>
              </a:rPr>
              <a:t>1. Start at the top (root) of the tree.</a:t>
            </a:r>
            <a:br>
              <a:rPr lang="en-US" sz="1400" dirty="0">
                <a:solidFill>
                  <a:schemeClr val="accent6">
                    <a:lumMod val="60000"/>
                    <a:lumOff val="40000"/>
                  </a:schemeClr>
                </a:solidFill>
              </a:rPr>
            </a:br>
            <a:r>
              <a:rPr lang="en-US" sz="1400" dirty="0">
                <a:solidFill>
                  <a:schemeClr val="accent6">
                    <a:lumMod val="60000"/>
                    <a:lumOff val="40000"/>
                  </a:schemeClr>
                </a:solidFill>
              </a:rPr>
              <a:t>2. At each decision point (node):</a:t>
            </a:r>
            <a:br>
              <a:rPr lang="en-US" sz="1400" dirty="0">
                <a:solidFill>
                  <a:schemeClr val="accent6">
                    <a:lumMod val="60000"/>
                    <a:lumOff val="40000"/>
                  </a:schemeClr>
                </a:solidFill>
              </a:rPr>
            </a:br>
            <a:r>
              <a:rPr lang="en-US" sz="1400" dirty="0">
                <a:solidFill>
                  <a:schemeClr val="accent6">
                    <a:lumMod val="60000"/>
                    <a:lumOff val="40000"/>
                  </a:schemeClr>
                </a:solidFill>
              </a:rPr>
              <a:t>- Look at the feature and split value.</a:t>
            </a:r>
            <a:br>
              <a:rPr lang="en-US" sz="1400" dirty="0">
                <a:solidFill>
                  <a:schemeClr val="accent6">
                    <a:lumMod val="60000"/>
                    <a:lumOff val="40000"/>
                  </a:schemeClr>
                </a:solidFill>
              </a:rPr>
            </a:br>
            <a:r>
              <a:rPr lang="en-US" sz="1400" dirty="0">
                <a:solidFill>
                  <a:schemeClr val="accent6">
                    <a:lumMod val="60000"/>
                    <a:lumOff val="40000"/>
                  </a:schemeClr>
                </a:solidFill>
              </a:rPr>
              <a:t>- If the data point’s feature value is smaller or equal, go left.</a:t>
            </a:r>
            <a:br>
              <a:rPr lang="en-US" sz="1400" dirty="0">
                <a:solidFill>
                  <a:schemeClr val="accent6">
                    <a:lumMod val="60000"/>
                    <a:lumOff val="40000"/>
                  </a:schemeClr>
                </a:solidFill>
              </a:rPr>
            </a:br>
            <a:r>
              <a:rPr lang="en-US" sz="1400" dirty="0">
                <a:solidFill>
                  <a:schemeClr val="accent6">
                    <a:lumMod val="60000"/>
                    <a:lumOff val="40000"/>
                  </a:schemeClr>
                </a:solidFill>
              </a:rPr>
              <a:t>- If it’s larger, go right.</a:t>
            </a:r>
            <a:br>
              <a:rPr lang="en-US" sz="1400" dirty="0">
                <a:solidFill>
                  <a:schemeClr val="accent6">
                    <a:lumMod val="60000"/>
                    <a:lumOff val="40000"/>
                  </a:schemeClr>
                </a:solidFill>
              </a:rPr>
            </a:br>
            <a:r>
              <a:rPr lang="en-US" sz="1400" dirty="0">
                <a:solidFill>
                  <a:schemeClr val="accent6">
                    <a:lumMod val="60000"/>
                    <a:lumOff val="40000"/>
                  </a:schemeClr>
                </a:solidFill>
              </a:rPr>
              <a:t>3. Keep moving down the tree until you reach the end (a leaf).</a:t>
            </a:r>
            <a:br>
              <a:rPr lang="en-US" sz="1400" dirty="0">
                <a:solidFill>
                  <a:schemeClr val="accent6">
                    <a:lumMod val="60000"/>
                    <a:lumOff val="40000"/>
                  </a:schemeClr>
                </a:solidFill>
              </a:rPr>
            </a:br>
            <a:r>
              <a:rPr lang="en-US" sz="1400" dirty="0">
                <a:solidFill>
                  <a:schemeClr val="accent6">
                    <a:lumMod val="60000"/>
                    <a:lumOff val="40000"/>
                  </a:schemeClr>
                </a:solidFill>
              </a:rPr>
              <a:t>4. The prediction is the average value stored in that leaf.</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6975" y="533606"/>
            <a:ext cx="3909264" cy="4815071"/>
          </a:xfrm>
          <a:prstGeom prst="rect">
            <a:avLst/>
          </a:prstGeom>
        </p:spPr>
      </p:pic>
      <p:sp>
        <p:nvSpPr>
          <p:cNvPr id="11" name="TextBox 10"/>
          <p:cNvSpPr txBox="1"/>
          <p:nvPr/>
        </p:nvSpPr>
        <p:spPr>
          <a:xfrm>
            <a:off x="5905855" y="5687735"/>
            <a:ext cx="1923925" cy="261610"/>
          </a:xfrm>
          <a:prstGeom prst="rect">
            <a:avLst/>
          </a:prstGeom>
          <a:noFill/>
        </p:spPr>
        <p:txBody>
          <a:bodyPr wrap="none" rtlCol="0">
            <a:spAutoFit/>
          </a:bodyPr>
          <a:lstStyle/>
          <a:p>
            <a:r>
              <a:rPr lang="en-US" sz="1100" dirty="0">
                <a:solidFill>
                  <a:schemeClr val="accent6">
                    <a:lumMod val="60000"/>
                    <a:lumOff val="40000"/>
                  </a:schemeClr>
                </a:solidFill>
              </a:rPr>
              <a:t>See </a:t>
            </a:r>
            <a:r>
              <a:rPr lang="en-US" sz="1100" dirty="0" err="1">
                <a:solidFill>
                  <a:schemeClr val="accent6">
                    <a:lumMod val="60000"/>
                    <a:lumOff val="40000"/>
                  </a:schemeClr>
                </a:solidFill>
              </a:rPr>
              <a:t>jupyter</a:t>
            </a:r>
            <a:r>
              <a:rPr lang="en-US" sz="1100" dirty="0">
                <a:solidFill>
                  <a:schemeClr val="accent6">
                    <a:lumMod val="60000"/>
                    <a:lumOff val="40000"/>
                  </a:schemeClr>
                </a:solidFill>
              </a:rPr>
              <a:t> notebook for code</a:t>
            </a:r>
            <a:endParaRPr lang="en-US" dirty="0">
              <a:solidFill>
                <a:schemeClr val="accent6">
                  <a:lumMod val="60000"/>
                  <a:lumOff val="40000"/>
                </a:schemeClr>
              </a:solidFill>
            </a:endParaRPr>
          </a:p>
        </p:txBody>
      </p:sp>
      <p:cxnSp>
        <p:nvCxnSpPr>
          <p:cNvPr id="12" name="Straight Arrow Connector 11"/>
          <p:cNvCxnSpPr/>
          <p:nvPr/>
        </p:nvCxnSpPr>
        <p:spPr>
          <a:xfrm flipV="1">
            <a:off x="6576975" y="5369063"/>
            <a:ext cx="151001" cy="318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289" y="2767606"/>
            <a:ext cx="3571803" cy="4098521"/>
          </a:xfrm>
          <a:prstGeom prst="rect">
            <a:avLst/>
          </a:prstGeom>
        </p:spPr>
      </p:pic>
    </p:spTree>
    <p:extLst>
      <p:ext uri="{BB962C8B-B14F-4D97-AF65-F5344CB8AC3E}">
        <p14:creationId xmlns:p14="http://schemas.microsoft.com/office/powerpoint/2010/main" val="1719154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(p7)</a:t>
            </a:r>
          </a:p>
        </p:txBody>
      </p:sp>
      <p:cxnSp>
        <p:nvCxnSpPr>
          <p:cNvPr id="5" name="Straight Connector 4"/>
          <p:cNvCxnSpPr/>
          <p:nvPr/>
        </p:nvCxnSpPr>
        <p:spPr>
          <a:xfrm>
            <a:off x="5259897" y="973123"/>
            <a:ext cx="25167" cy="5444455"/>
          </a:xfrm>
          <a:prstGeom prst="line">
            <a:avLst/>
          </a:prstGeom>
        </p:spPr>
        <p:style>
          <a:lnRef idx="3">
            <a:schemeClr val="dk1"/>
          </a:lnRef>
          <a:fillRef idx="0">
            <a:schemeClr val="dk1"/>
          </a:fillRef>
          <a:effectRef idx="2">
            <a:schemeClr val="dk1"/>
          </a:effectRef>
          <a:fontRef idx="minor">
            <a:schemeClr val="tx1"/>
          </a:fontRef>
        </p:style>
      </p:cxnSp>
      <p:sp>
        <p:nvSpPr>
          <p:cNvPr id="10" name="TextBox 9"/>
          <p:cNvSpPr txBox="1"/>
          <p:nvPr/>
        </p:nvSpPr>
        <p:spPr>
          <a:xfrm>
            <a:off x="209725" y="679507"/>
            <a:ext cx="4991449" cy="5109091"/>
          </a:xfrm>
          <a:prstGeom prst="rect">
            <a:avLst/>
          </a:prstGeom>
          <a:noFill/>
        </p:spPr>
        <p:txBody>
          <a:bodyPr wrap="square" rtlCol="0">
            <a:spAutoFit/>
          </a:bodyPr>
          <a:lstStyle/>
          <a:p>
            <a:r>
              <a:rPr lang="en-US" sz="2800" b="1" dirty="0">
                <a:solidFill>
                  <a:schemeClr val="accent6">
                    <a:lumMod val="60000"/>
                    <a:lumOff val="40000"/>
                  </a:schemeClr>
                </a:solidFill>
              </a:rPr>
              <a:t>Pre-pruning vs Post-pruning</a:t>
            </a:r>
          </a:p>
          <a:p>
            <a:r>
              <a:rPr lang="en-US" sz="1400" dirty="0">
                <a:solidFill>
                  <a:schemeClr val="accent6">
                    <a:lumMod val="60000"/>
                    <a:lumOff val="40000"/>
                  </a:schemeClr>
                </a:solidFill>
              </a:rPr>
              <a:t>After building the tree, the only thing we need to worry about is the method to make the tree smaller to prevent overfitting. In general, the method of pruning can be categorized as:</a:t>
            </a:r>
          </a:p>
          <a:p>
            <a:r>
              <a:rPr lang="en-US" b="1" dirty="0">
                <a:solidFill>
                  <a:schemeClr val="accent6">
                    <a:lumMod val="60000"/>
                    <a:lumOff val="40000"/>
                  </a:schemeClr>
                </a:solidFill>
              </a:rPr>
              <a:t>Pre-pruning</a:t>
            </a:r>
          </a:p>
          <a:p>
            <a:r>
              <a:rPr lang="en-US" sz="1400" dirty="0">
                <a:solidFill>
                  <a:schemeClr val="accent6">
                    <a:lumMod val="60000"/>
                    <a:lumOff val="40000"/>
                  </a:schemeClr>
                </a:solidFill>
              </a:rPr>
              <a:t>Pre-pruning, also known as early stopping, involves halting the growth of a decision tree during the training process based on certain predefined criteria. This approach aims to prevent the tree from becoming too complex and overfitting the training data. Common pre-pruning techniques include:</a:t>
            </a:r>
          </a:p>
          <a:p>
            <a:r>
              <a:rPr lang="en-US" sz="1400" b="1" dirty="0">
                <a:solidFill>
                  <a:schemeClr val="accent6">
                    <a:lumMod val="60000"/>
                    <a:lumOff val="40000"/>
                  </a:schemeClr>
                </a:solidFill>
              </a:rPr>
              <a:t>Maximum depth</a:t>
            </a:r>
            <a:r>
              <a:rPr lang="en-US" sz="1400" dirty="0">
                <a:solidFill>
                  <a:schemeClr val="accent6">
                    <a:lumMod val="60000"/>
                    <a:lumOff val="40000"/>
                  </a:schemeClr>
                </a:solidFill>
              </a:rPr>
              <a:t>: Limiting how deep the tree can grow.</a:t>
            </a:r>
          </a:p>
          <a:p>
            <a:r>
              <a:rPr lang="en-US" sz="1400" b="1" dirty="0">
                <a:solidFill>
                  <a:schemeClr val="accent6">
                    <a:lumMod val="60000"/>
                    <a:lumOff val="40000"/>
                  </a:schemeClr>
                </a:solidFill>
              </a:rPr>
              <a:t>Minimum samples for split</a:t>
            </a:r>
            <a:r>
              <a:rPr lang="en-US" sz="1400" dirty="0">
                <a:solidFill>
                  <a:schemeClr val="accent6">
                    <a:lumMod val="60000"/>
                    <a:lumOff val="40000"/>
                  </a:schemeClr>
                </a:solidFill>
              </a:rPr>
              <a:t>: Requiring a minimum number of samples to justify splitting a node.</a:t>
            </a:r>
          </a:p>
          <a:p>
            <a:r>
              <a:rPr lang="en-US" sz="1400" b="1" dirty="0">
                <a:solidFill>
                  <a:schemeClr val="accent6">
                    <a:lumMod val="60000"/>
                    <a:lumOff val="40000"/>
                  </a:schemeClr>
                </a:solidFill>
              </a:rPr>
              <a:t>Minimum samples per leaf</a:t>
            </a:r>
            <a:r>
              <a:rPr lang="en-US" sz="1400" dirty="0">
                <a:solidFill>
                  <a:schemeClr val="accent6">
                    <a:lumMod val="60000"/>
                    <a:lumOff val="40000"/>
                  </a:schemeClr>
                </a:solidFill>
              </a:rPr>
              <a:t>: Ensuring each leaf node has at least a certain number of samples.</a:t>
            </a:r>
          </a:p>
          <a:p>
            <a:r>
              <a:rPr lang="en-US" sz="1400" b="1" dirty="0">
                <a:solidFill>
                  <a:schemeClr val="accent6">
                    <a:lumMod val="60000"/>
                    <a:lumOff val="40000"/>
                  </a:schemeClr>
                </a:solidFill>
              </a:rPr>
              <a:t>Maximum number of leaf nodes</a:t>
            </a:r>
            <a:r>
              <a:rPr lang="en-US" sz="1400" dirty="0">
                <a:solidFill>
                  <a:schemeClr val="accent6">
                    <a:lumMod val="60000"/>
                    <a:lumOff val="40000"/>
                  </a:schemeClr>
                </a:solidFill>
              </a:rPr>
              <a:t>: Restricting the total number of leaf nodes in the tree.</a:t>
            </a:r>
          </a:p>
          <a:p>
            <a:r>
              <a:rPr lang="en-US" sz="1400" b="1" dirty="0">
                <a:solidFill>
                  <a:schemeClr val="accent6">
                    <a:lumMod val="60000"/>
                    <a:lumOff val="40000"/>
                  </a:schemeClr>
                </a:solidFill>
              </a:rPr>
              <a:t>Minimum impurity decrease</a:t>
            </a:r>
            <a:r>
              <a:rPr lang="en-US" sz="1400" dirty="0">
                <a:solidFill>
                  <a:schemeClr val="accent6">
                    <a:lumMod val="60000"/>
                    <a:lumOff val="40000"/>
                  </a:schemeClr>
                </a:solidFill>
              </a:rPr>
              <a:t>: Only allowing splits that decrease impurity by a specified amount.</a:t>
            </a:r>
          </a:p>
          <a:p>
            <a:r>
              <a:rPr lang="en-US" sz="1400" dirty="0">
                <a:solidFill>
                  <a:schemeClr val="accent6">
                    <a:lumMod val="60000"/>
                    <a:lumOff val="40000"/>
                  </a:schemeClr>
                </a:solidFill>
              </a:rPr>
              <a:t>These methods stop the tree’s growth when the specified conditions are met, effectively “pruning” the tree during its construction phase.</a:t>
            </a:r>
          </a:p>
        </p:txBody>
      </p:sp>
      <p:sp>
        <p:nvSpPr>
          <p:cNvPr id="11" name="TextBox 10"/>
          <p:cNvSpPr txBox="1"/>
          <p:nvPr/>
        </p:nvSpPr>
        <p:spPr>
          <a:xfrm>
            <a:off x="5486405" y="725447"/>
            <a:ext cx="6476296" cy="2585323"/>
          </a:xfrm>
          <a:prstGeom prst="rect">
            <a:avLst/>
          </a:prstGeom>
          <a:noFill/>
        </p:spPr>
        <p:txBody>
          <a:bodyPr wrap="square" rtlCol="0">
            <a:spAutoFit/>
          </a:bodyPr>
          <a:lstStyle/>
          <a:p>
            <a:r>
              <a:rPr lang="en-US" b="1" dirty="0">
                <a:solidFill>
                  <a:schemeClr val="accent6">
                    <a:lumMod val="60000"/>
                    <a:lumOff val="40000"/>
                  </a:schemeClr>
                </a:solidFill>
              </a:rPr>
              <a:t>Post-pruning</a:t>
            </a:r>
          </a:p>
          <a:p>
            <a:r>
              <a:rPr lang="en-US" sz="1600" dirty="0">
                <a:solidFill>
                  <a:schemeClr val="accent6">
                    <a:lumMod val="60000"/>
                    <a:lumOff val="40000"/>
                  </a:schemeClr>
                </a:solidFill>
              </a:rPr>
              <a:t>Post-pruning, on the other hand, allows the decision tree to grow to its full extent and then prunes it back to reduce complexity. This approach first builds a complete tree and then removes or collapses branches that don’t significantly contribute to the model’s performance. One common post-pruning technique is called </a:t>
            </a:r>
            <a:r>
              <a:rPr lang="en-US" sz="1600" b="1" dirty="0">
                <a:solidFill>
                  <a:schemeClr val="accent6">
                    <a:lumMod val="60000"/>
                    <a:lumOff val="40000"/>
                  </a:schemeClr>
                </a:solidFill>
              </a:rPr>
              <a:t>Cost-Complexity Pruning.</a:t>
            </a:r>
          </a:p>
          <a:p>
            <a:r>
              <a:rPr lang="en-US" sz="1600" b="1" dirty="0">
                <a:solidFill>
                  <a:schemeClr val="accent6">
                    <a:lumMod val="60000"/>
                    <a:lumOff val="40000"/>
                  </a:schemeClr>
                </a:solidFill>
              </a:rPr>
              <a:t>Cost Complexity Pruning</a:t>
            </a:r>
          </a:p>
          <a:p>
            <a:r>
              <a:rPr lang="en-US" sz="1600" b="1" dirty="0">
                <a:solidFill>
                  <a:schemeClr val="accent6">
                    <a:lumMod val="60000"/>
                    <a:lumOff val="40000"/>
                  </a:schemeClr>
                </a:solidFill>
              </a:rPr>
              <a:t>Step 1: Calculate the Impurity for Each Node</a:t>
            </a:r>
          </a:p>
          <a:p>
            <a:r>
              <a:rPr lang="en-US" sz="1600" dirty="0">
                <a:solidFill>
                  <a:schemeClr val="accent6">
                    <a:lumMod val="60000"/>
                    <a:lumOff val="40000"/>
                  </a:schemeClr>
                </a:solidFill>
              </a:rPr>
              <a:t>For each interim node, calculate the impurity (MSE for regression case). We then sorted this value from the lowest to highest.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164" y="3348320"/>
            <a:ext cx="5172036" cy="3428369"/>
          </a:xfrm>
          <a:prstGeom prst="rect">
            <a:avLst/>
          </a:prstGeom>
        </p:spPr>
      </p:pic>
    </p:spTree>
    <p:extLst>
      <p:ext uri="{BB962C8B-B14F-4D97-AF65-F5344CB8AC3E}">
        <p14:creationId xmlns:p14="http://schemas.microsoft.com/office/powerpoint/2010/main" val="3768215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(p8)</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551" y="772817"/>
            <a:ext cx="11327091" cy="3646596"/>
          </a:xfrm>
          <a:prstGeom prst="rect">
            <a:avLst/>
          </a:prstGeom>
        </p:spPr>
      </p:pic>
      <p:sp>
        <p:nvSpPr>
          <p:cNvPr id="8" name="TextBox 7"/>
          <p:cNvSpPr txBox="1"/>
          <p:nvPr/>
        </p:nvSpPr>
        <p:spPr>
          <a:xfrm>
            <a:off x="3120707" y="4899169"/>
            <a:ext cx="1923925" cy="261610"/>
          </a:xfrm>
          <a:prstGeom prst="rect">
            <a:avLst/>
          </a:prstGeom>
          <a:noFill/>
        </p:spPr>
        <p:txBody>
          <a:bodyPr wrap="none" rtlCol="0">
            <a:spAutoFit/>
          </a:bodyPr>
          <a:lstStyle/>
          <a:p>
            <a:r>
              <a:rPr lang="en-US" sz="1100" dirty="0">
                <a:solidFill>
                  <a:schemeClr val="accent6">
                    <a:lumMod val="60000"/>
                    <a:lumOff val="40000"/>
                  </a:schemeClr>
                </a:solidFill>
              </a:rPr>
              <a:t>See </a:t>
            </a:r>
            <a:r>
              <a:rPr lang="en-US" sz="1100" dirty="0" err="1">
                <a:solidFill>
                  <a:schemeClr val="accent6">
                    <a:lumMod val="60000"/>
                    <a:lumOff val="40000"/>
                  </a:schemeClr>
                </a:solidFill>
              </a:rPr>
              <a:t>jupyter</a:t>
            </a:r>
            <a:r>
              <a:rPr lang="en-US" sz="1100" dirty="0">
                <a:solidFill>
                  <a:schemeClr val="accent6">
                    <a:lumMod val="60000"/>
                    <a:lumOff val="40000"/>
                  </a:schemeClr>
                </a:solidFill>
              </a:rPr>
              <a:t> notebook for code</a:t>
            </a:r>
            <a:endParaRPr lang="en-US" dirty="0">
              <a:solidFill>
                <a:schemeClr val="accent6">
                  <a:lumMod val="60000"/>
                  <a:lumOff val="40000"/>
                </a:schemeClr>
              </a:solidFill>
            </a:endParaRPr>
          </a:p>
        </p:txBody>
      </p:sp>
      <p:cxnSp>
        <p:nvCxnSpPr>
          <p:cNvPr id="9" name="Straight Arrow Connector 8"/>
          <p:cNvCxnSpPr/>
          <p:nvPr/>
        </p:nvCxnSpPr>
        <p:spPr>
          <a:xfrm flipV="1">
            <a:off x="3791827" y="4580497"/>
            <a:ext cx="151001" cy="318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5612235" y="4647501"/>
            <a:ext cx="5494774" cy="276999"/>
          </a:xfrm>
          <a:prstGeom prst="rect">
            <a:avLst/>
          </a:prstGeom>
          <a:noFill/>
        </p:spPr>
        <p:txBody>
          <a:bodyPr wrap="none" rtlCol="0">
            <a:spAutoFit/>
          </a:bodyPr>
          <a:lstStyle/>
          <a:p>
            <a:r>
              <a:rPr lang="en-US" sz="1200" dirty="0">
                <a:solidFill>
                  <a:schemeClr val="accent6">
                    <a:lumMod val="60000"/>
                    <a:lumOff val="40000"/>
                  </a:schemeClr>
                </a:solidFill>
              </a:rPr>
              <a:t>In this </a:t>
            </a:r>
            <a:r>
              <a:rPr lang="en-US" sz="1200" dirty="0" err="1">
                <a:solidFill>
                  <a:schemeClr val="accent6">
                    <a:lumMod val="60000"/>
                    <a:lumOff val="40000"/>
                  </a:schemeClr>
                </a:solidFill>
              </a:rPr>
              <a:t>scikit</a:t>
            </a:r>
            <a:r>
              <a:rPr lang="en-US" sz="1200" dirty="0">
                <a:solidFill>
                  <a:schemeClr val="accent6">
                    <a:lumMod val="60000"/>
                    <a:lumOff val="40000"/>
                  </a:schemeClr>
                </a:solidFill>
              </a:rPr>
              <a:t> learn output, the impurity are shown as “</a:t>
            </a:r>
            <a:r>
              <a:rPr lang="en-US" sz="1200" dirty="0" err="1">
                <a:solidFill>
                  <a:schemeClr val="accent6">
                    <a:lumMod val="60000"/>
                    <a:lumOff val="40000"/>
                  </a:schemeClr>
                </a:solidFill>
              </a:rPr>
              <a:t>squared_error</a:t>
            </a:r>
            <a:r>
              <a:rPr lang="en-US" sz="1200" dirty="0">
                <a:solidFill>
                  <a:schemeClr val="accent6">
                    <a:lumMod val="60000"/>
                    <a:lumOff val="40000"/>
                  </a:schemeClr>
                </a:solidFill>
              </a:rPr>
              <a:t>” for each nodes.</a:t>
            </a:r>
          </a:p>
        </p:txBody>
      </p:sp>
    </p:spTree>
    <p:extLst>
      <p:ext uri="{BB962C8B-B14F-4D97-AF65-F5344CB8AC3E}">
        <p14:creationId xmlns:p14="http://schemas.microsoft.com/office/powerpoint/2010/main" val="2427231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(p9)</a:t>
            </a:r>
          </a:p>
        </p:txBody>
      </p:sp>
      <p:cxnSp>
        <p:nvCxnSpPr>
          <p:cNvPr id="5" name="Straight Connector 4"/>
          <p:cNvCxnSpPr/>
          <p:nvPr/>
        </p:nvCxnSpPr>
        <p:spPr>
          <a:xfrm>
            <a:off x="5259897" y="973123"/>
            <a:ext cx="25167" cy="5444455"/>
          </a:xfrm>
          <a:prstGeom prst="line">
            <a:avLst/>
          </a:prstGeom>
        </p:spPr>
        <p:style>
          <a:lnRef idx="3">
            <a:schemeClr val="dk1"/>
          </a:lnRef>
          <a:fillRef idx="0">
            <a:schemeClr val="dk1"/>
          </a:fillRef>
          <a:effectRef idx="2">
            <a:schemeClr val="dk1"/>
          </a:effectRef>
          <a:fontRef idx="minor">
            <a:schemeClr val="tx1"/>
          </a:fontRef>
        </p:style>
      </p:cxnSp>
      <p:sp>
        <p:nvSpPr>
          <p:cNvPr id="11" name="TextBox 10"/>
          <p:cNvSpPr txBox="1"/>
          <p:nvPr/>
        </p:nvSpPr>
        <p:spPr>
          <a:xfrm>
            <a:off x="5486405" y="725447"/>
            <a:ext cx="6476296" cy="1200329"/>
          </a:xfrm>
          <a:prstGeom prst="rect">
            <a:avLst/>
          </a:prstGeom>
          <a:noFill/>
        </p:spPr>
        <p:txBody>
          <a:bodyPr wrap="square" rtlCol="0">
            <a:spAutoFit/>
          </a:bodyPr>
          <a:lstStyle/>
          <a:p>
            <a:r>
              <a:rPr lang="en-US" b="1" dirty="0">
                <a:solidFill>
                  <a:schemeClr val="accent6">
                    <a:lumMod val="60000"/>
                    <a:lumOff val="40000"/>
                  </a:schemeClr>
                </a:solidFill>
              </a:rPr>
              <a:t>Step 2: Create Subtrees by Trimming The Weakest Link</a:t>
            </a:r>
          </a:p>
          <a:p>
            <a:r>
              <a:rPr lang="en-US" dirty="0">
                <a:solidFill>
                  <a:schemeClr val="accent6">
                    <a:lumMod val="60000"/>
                    <a:lumOff val="40000"/>
                  </a:schemeClr>
                </a:solidFill>
              </a:rPr>
              <a:t>The goal is to gradually turn the interim nodes into leaves starting from the </a:t>
            </a:r>
            <a:r>
              <a:rPr lang="en-US" b="1" dirty="0">
                <a:solidFill>
                  <a:schemeClr val="accent6">
                    <a:lumMod val="60000"/>
                    <a:lumOff val="40000"/>
                  </a:schemeClr>
                </a:solidFill>
              </a:rPr>
              <a:t>node with the lowest MSE</a:t>
            </a:r>
            <a:r>
              <a:rPr lang="en-US" dirty="0">
                <a:solidFill>
                  <a:schemeClr val="accent6">
                    <a:lumMod val="60000"/>
                    <a:lumOff val="40000"/>
                  </a:schemeClr>
                </a:solidFill>
              </a:rPr>
              <a:t> (= weakest link). We can create a path of pruning based on that.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238" y="1543574"/>
            <a:ext cx="5004337" cy="360184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4423" y="1925776"/>
            <a:ext cx="3888988" cy="4932224"/>
          </a:xfrm>
          <a:prstGeom prst="rect">
            <a:avLst/>
          </a:prstGeom>
        </p:spPr>
      </p:pic>
    </p:spTree>
    <p:extLst>
      <p:ext uri="{BB962C8B-B14F-4D97-AF65-F5344CB8AC3E}">
        <p14:creationId xmlns:p14="http://schemas.microsoft.com/office/powerpoint/2010/main" val="3308767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(p10)</a:t>
            </a:r>
          </a:p>
        </p:txBody>
      </p:sp>
      <p:cxnSp>
        <p:nvCxnSpPr>
          <p:cNvPr id="5" name="Straight Connector 4"/>
          <p:cNvCxnSpPr/>
          <p:nvPr/>
        </p:nvCxnSpPr>
        <p:spPr>
          <a:xfrm>
            <a:off x="5259897" y="973123"/>
            <a:ext cx="25167" cy="5444455"/>
          </a:xfrm>
          <a:prstGeom prst="line">
            <a:avLst/>
          </a:prstGeom>
        </p:spPr>
        <p:style>
          <a:lnRef idx="3">
            <a:schemeClr val="dk1"/>
          </a:lnRef>
          <a:fillRef idx="0">
            <a:schemeClr val="dk1"/>
          </a:fillRef>
          <a:effectRef idx="2">
            <a:schemeClr val="dk1"/>
          </a:effectRef>
          <a:fontRef idx="minor">
            <a:schemeClr val="tx1"/>
          </a:fontRef>
        </p:style>
      </p:cxn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561" y="637562"/>
            <a:ext cx="4581512" cy="6150023"/>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7736" y="729842"/>
            <a:ext cx="5891783" cy="5975952"/>
          </a:xfrm>
          <a:prstGeom prst="rect">
            <a:avLst/>
          </a:prstGeom>
        </p:spPr>
      </p:pic>
    </p:spTree>
    <p:extLst>
      <p:ext uri="{BB962C8B-B14F-4D97-AF65-F5344CB8AC3E}">
        <p14:creationId xmlns:p14="http://schemas.microsoft.com/office/powerpoint/2010/main" val="110849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(p11)</a:t>
            </a:r>
          </a:p>
        </p:txBody>
      </p:sp>
      <p:cxnSp>
        <p:nvCxnSpPr>
          <p:cNvPr id="5" name="Straight Connector 4"/>
          <p:cNvCxnSpPr/>
          <p:nvPr/>
        </p:nvCxnSpPr>
        <p:spPr>
          <a:xfrm>
            <a:off x="5360565" y="973123"/>
            <a:ext cx="25167" cy="5444455"/>
          </a:xfrm>
          <a:prstGeom prst="line">
            <a:avLst/>
          </a:prstGeom>
        </p:spPr>
        <p:style>
          <a:lnRef idx="3">
            <a:schemeClr val="dk1"/>
          </a:lnRef>
          <a:fillRef idx="0">
            <a:schemeClr val="dk1"/>
          </a:fillRef>
          <a:effectRef idx="2">
            <a:schemeClr val="dk1"/>
          </a:effectRef>
          <a:fontRef idx="minor">
            <a:schemeClr val="tx1"/>
          </a:fontRef>
        </p:style>
      </p:cxn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69" y="1090567"/>
            <a:ext cx="5178846" cy="4872258"/>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3831" y="1006679"/>
            <a:ext cx="6478141" cy="2869036"/>
          </a:xfrm>
          <a:prstGeom prst="rect">
            <a:avLst/>
          </a:prstGeom>
        </p:spPr>
      </p:pic>
    </p:spTree>
    <p:extLst>
      <p:ext uri="{BB962C8B-B14F-4D97-AF65-F5344CB8AC3E}">
        <p14:creationId xmlns:p14="http://schemas.microsoft.com/office/powerpoint/2010/main" val="1897912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(p12)</a:t>
            </a:r>
          </a:p>
        </p:txBody>
      </p:sp>
      <p:cxnSp>
        <p:nvCxnSpPr>
          <p:cNvPr id="5" name="Straight Connector 4"/>
          <p:cNvCxnSpPr/>
          <p:nvPr/>
        </p:nvCxnSpPr>
        <p:spPr>
          <a:xfrm>
            <a:off x="5360565" y="973123"/>
            <a:ext cx="25167" cy="5444455"/>
          </a:xfrm>
          <a:prstGeom prst="line">
            <a:avLst/>
          </a:prstGeom>
        </p:spPr>
        <p:style>
          <a:lnRef idx="3">
            <a:schemeClr val="dk1"/>
          </a:lnRef>
          <a:fillRef idx="0">
            <a:schemeClr val="dk1"/>
          </a:fillRef>
          <a:effectRef idx="2">
            <a:schemeClr val="dk1"/>
          </a:effectRef>
          <a:fontRef idx="minor">
            <a:schemeClr val="tx1"/>
          </a:fontRef>
        </p:style>
      </p:cxn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140" y="1435549"/>
            <a:ext cx="5154146" cy="2440166"/>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2253" y="973123"/>
            <a:ext cx="3786103" cy="5485601"/>
          </a:xfrm>
          <a:prstGeom prst="rect">
            <a:avLst/>
          </a:prstGeom>
        </p:spPr>
      </p:pic>
    </p:spTree>
    <p:extLst>
      <p:ext uri="{BB962C8B-B14F-4D97-AF65-F5344CB8AC3E}">
        <p14:creationId xmlns:p14="http://schemas.microsoft.com/office/powerpoint/2010/main" val="2872960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(p13)</a:t>
            </a:r>
          </a:p>
        </p:txBody>
      </p:sp>
      <p:cxnSp>
        <p:nvCxnSpPr>
          <p:cNvPr id="5" name="Straight Connector 4"/>
          <p:cNvCxnSpPr/>
          <p:nvPr/>
        </p:nvCxnSpPr>
        <p:spPr>
          <a:xfrm>
            <a:off x="5360565" y="973123"/>
            <a:ext cx="25167" cy="5444455"/>
          </a:xfrm>
          <a:prstGeom prst="line">
            <a:avLst/>
          </a:prstGeom>
        </p:spPr>
        <p:style>
          <a:lnRef idx="3">
            <a:schemeClr val="dk1"/>
          </a:lnRef>
          <a:fillRef idx="0">
            <a:schemeClr val="dk1"/>
          </a:fillRef>
          <a:effectRef idx="2">
            <a:schemeClr val="dk1"/>
          </a:effectRef>
          <a:fontRef idx="minor">
            <a:schemeClr val="tx1"/>
          </a:fontRef>
        </p:style>
      </p:cxnSp>
      <p:sp>
        <p:nvSpPr>
          <p:cNvPr id="7" name="TextBox 6"/>
          <p:cNvSpPr txBox="1"/>
          <p:nvPr/>
        </p:nvSpPr>
        <p:spPr>
          <a:xfrm>
            <a:off x="167780" y="796953"/>
            <a:ext cx="4496499" cy="1477328"/>
          </a:xfrm>
          <a:prstGeom prst="rect">
            <a:avLst/>
          </a:prstGeom>
          <a:noFill/>
        </p:spPr>
        <p:txBody>
          <a:bodyPr wrap="square" rtlCol="0">
            <a:spAutoFit/>
          </a:bodyPr>
          <a:lstStyle/>
          <a:p>
            <a:r>
              <a:rPr lang="en-US" b="1" dirty="0">
                <a:solidFill>
                  <a:schemeClr val="accent6">
                    <a:lumMod val="60000"/>
                    <a:lumOff val="40000"/>
                  </a:schemeClr>
                </a:solidFill>
              </a:rPr>
              <a:t>Step 5: Select the Alpha</a:t>
            </a:r>
          </a:p>
          <a:p>
            <a:r>
              <a:rPr lang="en-US" dirty="0">
                <a:solidFill>
                  <a:schemeClr val="accent6">
                    <a:lumMod val="60000"/>
                    <a:lumOff val="40000"/>
                  </a:schemeClr>
                </a:solidFill>
              </a:rPr>
              <a:t>The value of alpha control which subtree we will end up with. The </a:t>
            </a:r>
            <a:r>
              <a:rPr lang="en-US" b="1" dirty="0">
                <a:solidFill>
                  <a:schemeClr val="accent6">
                    <a:lumMod val="60000"/>
                    <a:lumOff val="40000"/>
                  </a:schemeClr>
                </a:solidFill>
              </a:rPr>
              <a:t>subtree with the lowest cost will be the final tree</a:t>
            </a:r>
            <a:r>
              <a:rPr lang="en-US" dirty="0">
                <a:solidFill>
                  <a:schemeClr val="accent6">
                    <a:lumMod val="60000"/>
                    <a:lumOff val="40000"/>
                  </a:schemeClr>
                </a:solidFill>
              </a:rPr>
              <a:t>.</a:t>
            </a:r>
          </a:p>
          <a:p>
            <a:endParaRPr lang="en-US" dirty="0">
              <a:solidFill>
                <a:schemeClr val="accent6">
                  <a:lumMod val="60000"/>
                  <a:lumOff val="40000"/>
                </a:schemeClr>
              </a:solidFill>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115" y="2127873"/>
            <a:ext cx="4706224" cy="4645888"/>
          </a:xfrm>
          <a:prstGeom prst="rect">
            <a:avLst/>
          </a:prstGeom>
        </p:spPr>
      </p:pic>
      <p:sp>
        <p:nvSpPr>
          <p:cNvPr id="9" name="TextBox 8"/>
          <p:cNvSpPr txBox="1"/>
          <p:nvPr/>
        </p:nvSpPr>
        <p:spPr>
          <a:xfrm>
            <a:off x="5561901" y="813732"/>
            <a:ext cx="4787056" cy="923330"/>
          </a:xfrm>
          <a:prstGeom prst="rect">
            <a:avLst/>
          </a:prstGeom>
          <a:noFill/>
        </p:spPr>
        <p:txBody>
          <a:bodyPr wrap="square" rtlCol="0">
            <a:spAutoFit/>
          </a:bodyPr>
          <a:lstStyle/>
          <a:p>
            <a:r>
              <a:rPr lang="en-US" dirty="0">
                <a:solidFill>
                  <a:schemeClr val="accent6">
                    <a:lumMod val="60000"/>
                    <a:lumOff val="40000"/>
                  </a:schemeClr>
                </a:solidFill>
              </a:rPr>
              <a:t>While we can freely set the </a:t>
            </a:r>
            <a:r>
              <a:rPr lang="en-US" i="1" dirty="0">
                <a:solidFill>
                  <a:schemeClr val="accent6">
                    <a:lumMod val="60000"/>
                    <a:lumOff val="40000"/>
                  </a:schemeClr>
                </a:solidFill>
              </a:rPr>
              <a:t>α</a:t>
            </a:r>
            <a:r>
              <a:rPr lang="en-US" dirty="0">
                <a:solidFill>
                  <a:schemeClr val="accent6">
                    <a:lumMod val="60000"/>
                    <a:lumOff val="40000"/>
                  </a:schemeClr>
                </a:solidFill>
              </a:rPr>
              <a:t>, in </a:t>
            </a:r>
            <a:r>
              <a:rPr lang="en-US" dirty="0" err="1">
                <a:solidFill>
                  <a:schemeClr val="accent6">
                    <a:lumMod val="60000"/>
                    <a:lumOff val="40000"/>
                  </a:schemeClr>
                </a:solidFill>
              </a:rPr>
              <a:t>scikit</a:t>
            </a:r>
            <a:r>
              <a:rPr lang="en-US" dirty="0">
                <a:solidFill>
                  <a:schemeClr val="accent6">
                    <a:lumMod val="60000"/>
                    <a:lumOff val="40000"/>
                  </a:schemeClr>
                </a:solidFill>
              </a:rPr>
              <a:t>-learn, you can also get the smallest value of </a:t>
            </a:r>
            <a:r>
              <a:rPr lang="en-US" i="1" dirty="0">
                <a:solidFill>
                  <a:schemeClr val="accent6">
                    <a:lumMod val="60000"/>
                    <a:lumOff val="40000"/>
                  </a:schemeClr>
                </a:solidFill>
              </a:rPr>
              <a:t>α</a:t>
            </a:r>
            <a:r>
              <a:rPr lang="en-US" dirty="0">
                <a:solidFill>
                  <a:schemeClr val="accent6">
                    <a:lumMod val="60000"/>
                    <a:lumOff val="40000"/>
                  </a:schemeClr>
                </a:solidFill>
              </a:rPr>
              <a:t> to obtain a particular subtree. This is called </a:t>
            </a:r>
            <a:r>
              <a:rPr lang="en-US" b="1" dirty="0">
                <a:solidFill>
                  <a:schemeClr val="accent6">
                    <a:lumMod val="60000"/>
                    <a:lumOff val="40000"/>
                  </a:schemeClr>
                </a:solidFill>
              </a:rPr>
              <a:t>effective </a:t>
            </a:r>
            <a:r>
              <a:rPr lang="en-US" b="1" i="1" dirty="0">
                <a:solidFill>
                  <a:schemeClr val="accent6">
                    <a:lumMod val="60000"/>
                    <a:lumOff val="40000"/>
                  </a:schemeClr>
                </a:solidFill>
              </a:rPr>
              <a:t>α</a:t>
            </a:r>
            <a:r>
              <a:rPr lang="en-US" i="1" dirty="0">
                <a:solidFill>
                  <a:schemeClr val="accent6">
                    <a:lumMod val="60000"/>
                    <a:lumOff val="40000"/>
                  </a:schemeClr>
                </a:solidFill>
              </a:rPr>
              <a:t>.</a:t>
            </a:r>
            <a:endParaRPr lang="en-US" dirty="0">
              <a:solidFill>
                <a:schemeClr val="accent6">
                  <a:lumMod val="60000"/>
                  <a:lumOff val="40000"/>
                </a:schemeClr>
              </a:solidFill>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7873" y="1996580"/>
            <a:ext cx="2603906" cy="4785351"/>
          </a:xfrm>
          <a:prstGeom prst="rect">
            <a:avLst/>
          </a:prstGeom>
        </p:spPr>
      </p:pic>
    </p:spTree>
    <p:extLst>
      <p:ext uri="{BB962C8B-B14F-4D97-AF65-F5344CB8AC3E}">
        <p14:creationId xmlns:p14="http://schemas.microsoft.com/office/powerpoint/2010/main" val="378859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(p14)</a:t>
            </a:r>
          </a:p>
        </p:txBody>
      </p:sp>
      <p:cxnSp>
        <p:nvCxnSpPr>
          <p:cNvPr id="5" name="Straight Connector 4"/>
          <p:cNvCxnSpPr/>
          <p:nvPr/>
        </p:nvCxnSpPr>
        <p:spPr>
          <a:xfrm>
            <a:off x="5360565" y="973123"/>
            <a:ext cx="25167" cy="5444455"/>
          </a:xfrm>
          <a:prstGeom prst="line">
            <a:avLst/>
          </a:prstGeom>
        </p:spPr>
        <p:style>
          <a:lnRef idx="3">
            <a:schemeClr val="dk1"/>
          </a:lnRef>
          <a:fillRef idx="0">
            <a:schemeClr val="dk1"/>
          </a:fillRef>
          <a:effectRef idx="2">
            <a:schemeClr val="dk1"/>
          </a:effectRef>
          <a:fontRef idx="minor">
            <a:schemeClr val="tx1"/>
          </a:fontRef>
        </p:style>
      </p:cxn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90" y="1001820"/>
            <a:ext cx="5169151" cy="2186038"/>
          </a:xfrm>
          <a:prstGeom prst="rect">
            <a:avLst/>
          </a:prstGeom>
        </p:spPr>
      </p:pic>
      <p:sp>
        <p:nvSpPr>
          <p:cNvPr id="4" name="TextBox 3"/>
          <p:cNvSpPr txBox="1"/>
          <p:nvPr/>
        </p:nvSpPr>
        <p:spPr>
          <a:xfrm>
            <a:off x="5629013" y="931178"/>
            <a:ext cx="5412153" cy="3539430"/>
          </a:xfrm>
          <a:prstGeom prst="rect">
            <a:avLst/>
          </a:prstGeom>
          <a:noFill/>
        </p:spPr>
        <p:txBody>
          <a:bodyPr wrap="square" rtlCol="0">
            <a:spAutoFit/>
          </a:bodyPr>
          <a:lstStyle/>
          <a:p>
            <a:r>
              <a:rPr lang="en-US" sz="1400" b="1" dirty="0">
                <a:solidFill>
                  <a:schemeClr val="accent6">
                    <a:lumMod val="60000"/>
                    <a:lumOff val="40000"/>
                  </a:schemeClr>
                </a:solidFill>
              </a:rPr>
              <a:t>Final Remarks</a:t>
            </a:r>
          </a:p>
          <a:p>
            <a:r>
              <a:rPr lang="en-US" sz="1400" dirty="0">
                <a:solidFill>
                  <a:schemeClr val="accent6">
                    <a:lumMod val="60000"/>
                    <a:lumOff val="40000"/>
                  </a:schemeClr>
                </a:solidFill>
              </a:rPr>
              <a:t>Pre-pruning methods are generally faster and more memory-efficient, as they prevent the tree from growing too large in the first place.</a:t>
            </a:r>
          </a:p>
          <a:p>
            <a:r>
              <a:rPr lang="en-US" sz="1400" dirty="0">
                <a:solidFill>
                  <a:schemeClr val="accent6">
                    <a:lumMod val="60000"/>
                    <a:lumOff val="40000"/>
                  </a:schemeClr>
                </a:solidFill>
              </a:rPr>
              <a:t>Post-pruning can potentially create more optimal trees, as it considers the entire tree structure before making pruning decisions. However, it can be more computationally expensive.</a:t>
            </a:r>
          </a:p>
          <a:p>
            <a:endParaRPr lang="en-US" sz="1400" dirty="0">
              <a:solidFill>
                <a:schemeClr val="accent6">
                  <a:lumMod val="60000"/>
                  <a:lumOff val="40000"/>
                </a:schemeClr>
              </a:solidFill>
            </a:endParaRPr>
          </a:p>
          <a:p>
            <a:r>
              <a:rPr lang="en-US" sz="1400" dirty="0">
                <a:solidFill>
                  <a:schemeClr val="accent6">
                    <a:lumMod val="60000"/>
                    <a:lumOff val="40000"/>
                  </a:schemeClr>
                </a:solidFill>
              </a:rPr>
              <a:t>Both approaches aim to find a balance between model complexity and performance, with the goal of creating a model that generalizes well to unseen data. The choice between pre-pruning and post-pruning (or a combination of both) often depends on the specific dataset, the problem at hand, and of course, computational resources available.</a:t>
            </a:r>
          </a:p>
          <a:p>
            <a:r>
              <a:rPr lang="en-US" sz="1400" dirty="0">
                <a:solidFill>
                  <a:schemeClr val="accent6">
                    <a:lumMod val="60000"/>
                    <a:lumOff val="40000"/>
                  </a:schemeClr>
                </a:solidFill>
              </a:rPr>
              <a:t>In practice, it’s common to use a combination of these methods, like applying some pre-pruning criteria to prevent excessively large trees, and then using post-pruning for fine-tuning the model’s complexity.</a:t>
            </a:r>
          </a:p>
          <a:p>
            <a:endParaRPr lang="en-US" sz="1400" dirty="0">
              <a:solidFill>
                <a:schemeClr val="accent6">
                  <a:lumMod val="60000"/>
                  <a:lumOff val="40000"/>
                </a:schemeClr>
              </a:solidFill>
            </a:endParaRPr>
          </a:p>
        </p:txBody>
      </p:sp>
      <p:sp>
        <p:nvSpPr>
          <p:cNvPr id="11" name="TextBox 10"/>
          <p:cNvSpPr txBox="1"/>
          <p:nvPr/>
        </p:nvSpPr>
        <p:spPr>
          <a:xfrm>
            <a:off x="973123" y="3464650"/>
            <a:ext cx="1923925" cy="261610"/>
          </a:xfrm>
          <a:prstGeom prst="rect">
            <a:avLst/>
          </a:prstGeom>
          <a:noFill/>
        </p:spPr>
        <p:txBody>
          <a:bodyPr wrap="none" rtlCol="0">
            <a:spAutoFit/>
          </a:bodyPr>
          <a:lstStyle/>
          <a:p>
            <a:r>
              <a:rPr lang="en-US" sz="1100" dirty="0">
                <a:solidFill>
                  <a:schemeClr val="accent6">
                    <a:lumMod val="60000"/>
                    <a:lumOff val="40000"/>
                  </a:schemeClr>
                </a:solidFill>
              </a:rPr>
              <a:t>See </a:t>
            </a:r>
            <a:r>
              <a:rPr lang="en-US" sz="1100" dirty="0" err="1">
                <a:solidFill>
                  <a:schemeClr val="accent6">
                    <a:lumMod val="60000"/>
                    <a:lumOff val="40000"/>
                  </a:schemeClr>
                </a:solidFill>
              </a:rPr>
              <a:t>jupyter</a:t>
            </a:r>
            <a:r>
              <a:rPr lang="en-US" sz="1100" dirty="0">
                <a:solidFill>
                  <a:schemeClr val="accent6">
                    <a:lumMod val="60000"/>
                    <a:lumOff val="40000"/>
                  </a:schemeClr>
                </a:solidFill>
              </a:rPr>
              <a:t> notebook for code</a:t>
            </a:r>
            <a:endParaRPr lang="en-US" dirty="0">
              <a:solidFill>
                <a:schemeClr val="accent6">
                  <a:lumMod val="60000"/>
                  <a:lumOff val="40000"/>
                </a:schemeClr>
              </a:solidFill>
            </a:endParaRPr>
          </a:p>
        </p:txBody>
      </p:sp>
      <p:cxnSp>
        <p:nvCxnSpPr>
          <p:cNvPr id="12" name="Straight Arrow Connector 11"/>
          <p:cNvCxnSpPr/>
          <p:nvPr/>
        </p:nvCxnSpPr>
        <p:spPr>
          <a:xfrm flipV="1">
            <a:off x="1644243" y="3145978"/>
            <a:ext cx="151001" cy="318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28569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8097890" y="6223218"/>
            <a:ext cx="1923925" cy="261610"/>
          </a:xfrm>
          <a:prstGeom prst="rect">
            <a:avLst/>
          </a:prstGeom>
          <a:noFill/>
        </p:spPr>
        <p:txBody>
          <a:bodyPr wrap="none" rtlCol="0">
            <a:spAutoFit/>
          </a:bodyPr>
          <a:lstStyle/>
          <a:p>
            <a:r>
              <a:rPr lang="en-US" sz="1100" dirty="0">
                <a:solidFill>
                  <a:schemeClr val="accent6">
                    <a:lumMod val="60000"/>
                    <a:lumOff val="40000"/>
                  </a:schemeClr>
                </a:solidFill>
              </a:rPr>
              <a:t>See </a:t>
            </a:r>
            <a:r>
              <a:rPr lang="en-US" sz="1100" dirty="0" err="1">
                <a:solidFill>
                  <a:schemeClr val="accent6">
                    <a:lumMod val="60000"/>
                    <a:lumOff val="40000"/>
                  </a:schemeClr>
                </a:solidFill>
              </a:rPr>
              <a:t>jupyter</a:t>
            </a:r>
            <a:r>
              <a:rPr lang="en-US" sz="1100" dirty="0">
                <a:solidFill>
                  <a:schemeClr val="accent6">
                    <a:lumMod val="60000"/>
                    <a:lumOff val="40000"/>
                  </a:schemeClr>
                </a:solidFill>
              </a:rPr>
              <a:t> notebook for code</a:t>
            </a:r>
            <a:endParaRPr lang="en-US" dirty="0">
              <a:solidFill>
                <a:schemeClr val="accent6">
                  <a:lumMod val="60000"/>
                  <a:lumOff val="40000"/>
                </a:schemeClr>
              </a:solidFill>
            </a:endParaRPr>
          </a:p>
        </p:txBody>
      </p:sp>
      <p:cxnSp>
        <p:nvCxnSpPr>
          <p:cNvPr id="9" name="Straight Arrow Connector 8"/>
          <p:cNvCxnSpPr/>
          <p:nvPr/>
        </p:nvCxnSpPr>
        <p:spPr>
          <a:xfrm flipV="1">
            <a:off x="8769010" y="5904546"/>
            <a:ext cx="151001" cy="318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C10801EA-2696-298D-361F-0C519CB28315}"/>
              </a:ext>
            </a:extLst>
          </p:cNvPr>
          <p:cNvSpPr txBox="1"/>
          <p:nvPr/>
        </p:nvSpPr>
        <p:spPr>
          <a:xfrm flipH="1">
            <a:off x="1444752" y="1344168"/>
            <a:ext cx="1325880" cy="369332"/>
          </a:xfrm>
          <a:prstGeom prst="rect">
            <a:avLst/>
          </a:prstGeom>
          <a:noFill/>
        </p:spPr>
        <p:txBody>
          <a:bodyPr wrap="square" rtlCol="0">
            <a:spAutoFit/>
          </a:bodyPr>
          <a:lstStyle/>
          <a:p>
            <a:r>
              <a:rPr lang="en-US" dirty="0">
                <a:solidFill>
                  <a:schemeClr val="accent6">
                    <a:lumMod val="60000"/>
                    <a:lumOff val="40000"/>
                  </a:schemeClr>
                </a:solidFill>
              </a:rPr>
              <a:t>EXTRA</a:t>
            </a:r>
          </a:p>
        </p:txBody>
      </p:sp>
    </p:spTree>
    <p:extLst>
      <p:ext uri="{BB962C8B-B14F-4D97-AF65-F5344CB8AC3E}">
        <p14:creationId xmlns:p14="http://schemas.microsoft.com/office/powerpoint/2010/main" val="22866700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172</TotalTime>
  <Words>1100</Words>
  <Application>Microsoft Office PowerPoint</Application>
  <PresentationFormat>Widescreen</PresentationFormat>
  <Paragraphs>73</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PowerPoint Presentation</vt:lpstr>
      <vt:lpstr>PowerPoint Presentation</vt:lpstr>
      <vt:lpstr>Decision Tree Regressor(p1)</vt:lpstr>
      <vt:lpstr>Decision Tree Regressor(p2)</vt:lpstr>
      <vt:lpstr>Decision Tree Regressor(p3)</vt:lpstr>
      <vt:lpstr>Decision Tree Regressor(p4)</vt:lpstr>
      <vt:lpstr>Decision Tree Regressor(p5)</vt:lpstr>
      <vt:lpstr>Decision Tree Regressor(p6)</vt:lpstr>
      <vt:lpstr>Decision Tree Regressor(p7)</vt:lpstr>
      <vt:lpstr>Decision Tree Regressor(p8)</vt:lpstr>
      <vt:lpstr>Decision Tree Regressor(p9)</vt:lpstr>
      <vt:lpstr>Decision Tree Regressor(p10)</vt:lpstr>
      <vt:lpstr>Decision Tree Regressor(p11)</vt:lpstr>
      <vt:lpstr>Decision Tree Regressor(p12)</vt:lpstr>
      <vt:lpstr>Decision Tree Regressor(p13)</vt:lpstr>
      <vt:lpstr>Decision Tree Regressor(p14)</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38</cp:revision>
  <dcterms:created xsi:type="dcterms:W3CDTF">2025-09-22T02:44:38Z</dcterms:created>
  <dcterms:modified xsi:type="dcterms:W3CDTF">2026-02-28T09:40:30Z</dcterms:modified>
</cp:coreProperties>
</file>