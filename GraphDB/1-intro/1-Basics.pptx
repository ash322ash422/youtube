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7" r:id="rId2"/>
    <p:sldId id="275" r:id="rId3"/>
    <p:sldId id="278" r:id="rId4"/>
    <p:sldId id="279" r:id="rId5"/>
    <p:sldId id="280" r:id="rId6"/>
    <p:sldId id="281" r:id="rId7"/>
    <p:sldId id="282" r:id="rId8"/>
    <p:sldId id="288" r:id="rId9"/>
    <p:sldId id="284" r:id="rId10"/>
    <p:sldId id="283" r:id="rId11"/>
    <p:sldId id="277" r:id="rId12"/>
    <p:sldId id="286" r:id="rId13"/>
    <p:sldId id="287" r:id="rId14"/>
    <p:sldId id="285" r:id="rId15"/>
    <p:sldId id="27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Graph DB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5E1C549-05C2-509B-7E55-FC53425D92E1}"/>
              </a:ext>
            </a:extLst>
          </p:cNvPr>
          <p:cNvSpPr txBox="1"/>
          <p:nvPr/>
        </p:nvSpPr>
        <p:spPr>
          <a:xfrm>
            <a:off x="841248" y="989552"/>
            <a:ext cx="83621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Graph Database (Graph DB)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type of database designed to store and manage data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relationships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rather than tables.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rows and columns (like in SQL), it uses a structure similar to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network or graph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0E893-7F9C-7B65-4546-F74D9CD5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F0745DE-AD65-16EA-9D5F-160AF14831F8}"/>
              </a:ext>
            </a:extLst>
          </p:cNvPr>
          <p:cNvSpPr txBox="1"/>
          <p:nvPr/>
        </p:nvSpPr>
        <p:spPr>
          <a:xfrm>
            <a:off x="841248" y="989552"/>
            <a:ext cx="83621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Idea (Intuition)</a:t>
            </a:r>
          </a:p>
          <a:p>
            <a:pPr marL="457200" indent="-457200">
              <a:buAutoNum type="arabicPeriod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Think of social media: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→ follow → your friend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friend → likes → a post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 post → belongs to → a topic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naturally a graph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a table.</a:t>
            </a:r>
          </a:p>
        </p:txBody>
      </p:sp>
    </p:spTree>
    <p:extLst>
      <p:ext uri="{BB962C8B-B14F-4D97-AF65-F5344CB8AC3E}">
        <p14:creationId xmlns:p14="http://schemas.microsoft.com/office/powerpoint/2010/main" val="1955919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F0D5-D219-B491-9B65-F647D9E9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19B09B9-B553-1672-86C9-B105DF8AC0BB}"/>
              </a:ext>
            </a:extLst>
          </p:cNvPr>
          <p:cNvSpPr txBox="1"/>
          <p:nvPr/>
        </p:nvSpPr>
        <p:spPr>
          <a:xfrm>
            <a:off x="192024" y="331184"/>
            <a:ext cx="836218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Basic Components of a Graph DB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Nodes (Entities)</a:t>
            </a:r>
          </a:p>
          <a:p>
            <a:pPr marL="457200" indent="-457200">
              <a:buAutoNum type="arabicPeriod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Represent objects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Person, Product, City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Node: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Node: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Course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Node: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Delhi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7728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2DBA7-B16F-2E9F-9E8C-D916F0B21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66BA6E-8A83-2CCF-9BA8-6FBB1A4417CF}"/>
              </a:ext>
            </a:extLst>
          </p:cNvPr>
          <p:cNvSpPr txBox="1"/>
          <p:nvPr/>
        </p:nvSpPr>
        <p:spPr>
          <a:xfrm>
            <a:off x="192024" y="331184"/>
            <a:ext cx="83621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Basic Components of a Graph DB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Relationships (Edges)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Define how nodes are connected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first-class citizens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(very important!)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Ash →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Python Course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Ash →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LIVES_IN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Delhi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317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CAD47-E728-E3B5-F9E6-5BD103518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3AD63E1-85D4-E65E-544E-D370AE6D9C80}"/>
              </a:ext>
            </a:extLst>
          </p:cNvPr>
          <p:cNvSpPr txBox="1"/>
          <p:nvPr/>
        </p:nvSpPr>
        <p:spPr>
          <a:xfrm>
            <a:off x="192024" y="331184"/>
            <a:ext cx="83621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Basic Components of a Graph DB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Properties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Additional information about nodes/relationships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Node (Ash): {age: 30, role: Trainer}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Relationship: { since: 2022 }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293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660E2-64E9-8E3E-6B0B-063DC295E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25AD05F-6BC6-272C-9D68-5081A1E4455E}"/>
              </a:ext>
            </a:extLst>
          </p:cNvPr>
          <p:cNvSpPr txBox="1"/>
          <p:nvPr/>
        </p:nvSpPr>
        <p:spPr>
          <a:xfrm>
            <a:off x="192024" y="331184"/>
            <a:ext cx="83621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How It Looks (Simple Graph)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(Ash) ---TEACHES---&gt; (Python Course)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|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└---LIVES_IN---&gt; (Delhi)</a:t>
            </a:r>
          </a:p>
        </p:txBody>
      </p:sp>
    </p:spTree>
    <p:extLst>
      <p:ext uri="{BB962C8B-B14F-4D97-AF65-F5344CB8AC3E}">
        <p14:creationId xmlns:p14="http://schemas.microsoft.com/office/powerpoint/2010/main" val="4106861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4D031-8990-B1BC-F83A-48A2A0F9C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228D394-F464-2836-2C33-38A70D0A243A}"/>
              </a:ext>
            </a:extLst>
          </p:cNvPr>
          <p:cNvSpPr txBox="1"/>
          <p:nvPr/>
        </p:nvSpPr>
        <p:spPr>
          <a:xfrm>
            <a:off x="192024" y="331184"/>
            <a:ext cx="494690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more examples: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Social Network + Content Graph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Nodes: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Person: Ash, Ravi, Neha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Post: Post1, Post2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City: Delhi, Mumbai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Topic: AI, Travel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2B778-C7FE-55AB-35CA-5BF3E1BE5581}"/>
              </a:ext>
            </a:extLst>
          </p:cNvPr>
          <p:cNvSpPr txBox="1"/>
          <p:nvPr/>
        </p:nvSpPr>
        <p:spPr>
          <a:xfrm>
            <a:off x="6135624" y="343883"/>
            <a:ext cx="581558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Relationships: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(Ash) ---FOLLOWS---&gt; (Ravi)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(Ash) ---FOLLOWS---&gt; (Neha)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(Ravi) ---FOLLOWS---&gt; (Neha)</a:t>
            </a:r>
          </a:p>
          <a:p>
            <a:pPr rtl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(Ash) ---CREATED---&gt; (Post1)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(Ravi) ---CREATED---&gt; (Post2)</a:t>
            </a:r>
          </a:p>
          <a:p>
            <a:pPr rtl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(Post1) ---ABOUT---&gt; (AI)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(Post2) ---ABOUT---&gt; (Travel)</a:t>
            </a:r>
          </a:p>
          <a:p>
            <a:pPr rtl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(Neha) ---LIKES---&gt; (Post1)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(Ash) ---LIKES---&gt; (Post2)</a:t>
            </a:r>
          </a:p>
          <a:p>
            <a:pPr rtl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(Ash) ---LIVES_IN---&gt; (Delhi)</a:t>
            </a:r>
          </a:p>
          <a:p>
            <a:pPr rtl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(Ravi) ---LIVES_IN---&gt; (Mumbai)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797C98-9965-ED3F-9993-7389712A5CC3}"/>
              </a:ext>
            </a:extLst>
          </p:cNvPr>
          <p:cNvSpPr txBox="1"/>
          <p:nvPr/>
        </p:nvSpPr>
        <p:spPr>
          <a:xfrm>
            <a:off x="406908" y="5676638"/>
            <a:ext cx="61904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Q: Find posts liked by people Ash follows ?</a:t>
            </a:r>
          </a:p>
        </p:txBody>
      </p:sp>
    </p:spTree>
    <p:extLst>
      <p:ext uri="{BB962C8B-B14F-4D97-AF65-F5344CB8AC3E}">
        <p14:creationId xmlns:p14="http://schemas.microsoft.com/office/powerpoint/2010/main" val="1966452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E8007-FD01-AE27-11B1-44FFAE3E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7509A48-5C1C-31CF-2B24-9DED63E06D08}"/>
              </a:ext>
            </a:extLst>
          </p:cNvPr>
          <p:cNvSpPr txBox="1"/>
          <p:nvPr/>
        </p:nvSpPr>
        <p:spPr>
          <a:xfrm>
            <a:off x="192024" y="331184"/>
            <a:ext cx="9372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Query Example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graph databases like Neo4j, you use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Cypher query language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MATCH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a:Person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{name: "Ash"})-[:TEACHES]-&gt;(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c:Course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RETURN c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Meaning: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courses that Ash teaches</a:t>
            </a:r>
          </a:p>
        </p:txBody>
      </p:sp>
    </p:spTree>
    <p:extLst>
      <p:ext uri="{BB962C8B-B14F-4D97-AF65-F5344CB8AC3E}">
        <p14:creationId xmlns:p14="http://schemas.microsoft.com/office/powerpoint/2010/main" val="24243408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CE9BE-F493-2B54-E8FD-512F9CC79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C6E4FA-7879-1E73-CE86-66A185EF38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41409"/>
              </p:ext>
            </p:extLst>
          </p:nvPr>
        </p:nvGraphicFramePr>
        <p:xfrm>
          <a:off x="563880" y="1751870"/>
          <a:ext cx="10515600" cy="2286000"/>
        </p:xfrm>
        <a:graphic>
          <a:graphicData uri="http://schemas.openxmlformats.org/drawingml/2006/table">
            <a:tbl>
              <a:tblPr/>
              <a:tblGrid>
                <a:gridCol w="2380488">
                  <a:extLst>
                    <a:ext uri="{9D8B030D-6E8A-4147-A177-3AD203B41FA5}">
                      <a16:colId xmlns:a16="http://schemas.microsoft.com/office/drawing/2014/main" val="1351662544"/>
                    </a:ext>
                  </a:extLst>
                </a:gridCol>
                <a:gridCol w="4261104">
                  <a:extLst>
                    <a:ext uri="{9D8B030D-6E8A-4147-A177-3AD203B41FA5}">
                      <a16:colId xmlns:a16="http://schemas.microsoft.com/office/drawing/2014/main" val="1365095997"/>
                    </a:ext>
                  </a:extLst>
                </a:gridCol>
                <a:gridCol w="3874008">
                  <a:extLst>
                    <a:ext uri="{9D8B030D-6E8A-4147-A177-3AD203B41FA5}">
                      <a16:colId xmlns:a16="http://schemas.microsoft.com/office/drawing/2014/main" val="6883841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Graph DB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Relational DB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1527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Nodes &amp; Edges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Tables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248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Relationships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Direct &amp; 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Via JOINs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866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Fast for connections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Slow for complex joins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5196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Networks, recommendations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Structured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3982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506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FDE64-B147-12CE-9BB8-04F7C4B0B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96F18C-019C-9579-52DD-ACF2F0A2D05F}"/>
              </a:ext>
            </a:extLst>
          </p:cNvPr>
          <p:cNvSpPr txBox="1"/>
          <p:nvPr/>
        </p:nvSpPr>
        <p:spPr>
          <a:xfrm>
            <a:off x="859536" y="709875"/>
            <a:ext cx="83439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6. Why Graph Databases Are Powerful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1. Relationship-heavy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Social networks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detection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2. Faster queries for connections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expensive JOINs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3. Flexible schema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Easy to evolve data</a:t>
            </a:r>
          </a:p>
        </p:txBody>
      </p:sp>
    </p:spTree>
    <p:extLst>
      <p:ext uri="{BB962C8B-B14F-4D97-AF65-F5344CB8AC3E}">
        <p14:creationId xmlns:p14="http://schemas.microsoft.com/office/powerpoint/2010/main" val="1486332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0F53E-BB46-DC58-4679-EBA97A5C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A2E83-E46F-10A2-E0E8-A8B487F677B4}"/>
              </a:ext>
            </a:extLst>
          </p:cNvPr>
          <p:cNvSpPr txBox="1"/>
          <p:nvPr/>
        </p:nvSpPr>
        <p:spPr>
          <a:xfrm>
            <a:off x="859536" y="709875"/>
            <a:ext cx="83439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7. Real-World Use Cases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Social Media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Facebook uses graph-like structures for connections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Should You Use Graph DB?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it when: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highly connected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 relationship queries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building: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engines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(RAG + knowledge graph 🔥)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Network analysis systems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53250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1717B-624E-09F7-87BA-A6E009A70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DFFEA0-2958-DC67-0D2A-3C162823705C}"/>
              </a:ext>
            </a:extLst>
          </p:cNvPr>
          <p:cNvSpPr txBox="1"/>
          <p:nvPr/>
        </p:nvSpPr>
        <p:spPr>
          <a:xfrm>
            <a:off x="859536" y="709875"/>
            <a:ext cx="83439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8. Popular Graph Databases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Neo4j (most popular)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Amazon Neptune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ArangoDB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TigerGraph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5950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FA39A-1B9F-B70E-2C30-2DD4EB4F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631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46EE9-FF52-444E-D66D-C1A35AA8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4162-5614-3830-1ED3-E415B4C8C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D4FBDF-8D62-FF8C-2958-F3850C64BE2B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578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1043</TotalTime>
  <Words>567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175</cp:revision>
  <dcterms:created xsi:type="dcterms:W3CDTF">2025-09-22T02:44:38Z</dcterms:created>
  <dcterms:modified xsi:type="dcterms:W3CDTF">2026-03-23T03:01:52Z</dcterms:modified>
</cp:coreProperties>
</file>