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7" r:id="rId2"/>
    <p:sldId id="275" r:id="rId3"/>
    <p:sldId id="290" r:id="rId4"/>
    <p:sldId id="278" r:id="rId5"/>
    <p:sldId id="279" r:id="rId6"/>
    <p:sldId id="289" r:id="rId7"/>
    <p:sldId id="280" r:id="rId8"/>
    <p:sldId id="281" r:id="rId9"/>
    <p:sldId id="288" r:id="rId10"/>
    <p:sldId id="291" r:id="rId11"/>
    <p:sldId id="296" r:id="rId12"/>
    <p:sldId id="295" r:id="rId13"/>
    <p:sldId id="284" r:id="rId14"/>
    <p:sldId id="294" r:id="rId15"/>
    <p:sldId id="297" r:id="rId16"/>
    <p:sldId id="293" r:id="rId17"/>
    <p:sldId id="283" r:id="rId18"/>
    <p:sldId id="277" r:id="rId19"/>
    <p:sldId id="286" r:id="rId20"/>
    <p:sldId id="287" r:id="rId21"/>
    <p:sldId id="285" r:id="rId22"/>
    <p:sldId id="27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477520" y="1003776"/>
            <a:ext cx="102920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DB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5E1C549-05C2-509B-7E55-FC53425D92E1}"/>
              </a:ext>
            </a:extLst>
          </p:cNvPr>
          <p:cNvSpPr txBox="1"/>
          <p:nvPr/>
        </p:nvSpPr>
        <p:spPr>
          <a:xfrm>
            <a:off x="841248" y="989552"/>
            <a:ext cx="836218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Graph Database (Graph DB)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type of database designed to store and manage data based on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tables.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Instead of rows and columns (like in SQL), it uses a structure similar to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network or 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EF1A-D973-97F6-D12B-C34DEE671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363C7BE-DCC7-D15B-3489-D924D3AF0960}"/>
              </a:ext>
            </a:extLst>
          </p:cNvPr>
          <p:cNvSpPr txBox="1"/>
          <p:nvPr/>
        </p:nvSpPr>
        <p:spPr>
          <a:xfrm>
            <a:off x="603504" y="1053560"/>
            <a:ext cx="1073505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Need for </a:t>
            </a:r>
            <a:r>
              <a:rPr lang="en-US" sz="24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GraphDB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Vector databases fail when an AI needs to understand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multi-hop relationships, exact logic, or structural hierarchies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because vectors only measure superficial semantic similarity (how close words are in meaning), not actual connections.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prime example where a Vector DB fails</a:t>
            </a:r>
          </a:p>
          <a:p>
            <a:pPr marL="457200" indent="-457200">
              <a:buAutoNum type="arabicParenR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Networking: 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“Find posts liked by people Ash follows ?”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2)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Corporate Supply Chain Risk Management &amp; Compliance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"Are we sourcing components from any supplier owned by or connected to </a:t>
            </a:r>
            <a:r>
              <a:rPr lang="en-US" sz="2400" b="1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Company X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which was recently blacklisted?"</a:t>
            </a:r>
          </a:p>
        </p:txBody>
      </p:sp>
    </p:spTree>
    <p:extLst>
      <p:ext uri="{BB962C8B-B14F-4D97-AF65-F5344CB8AC3E}">
        <p14:creationId xmlns:p14="http://schemas.microsoft.com/office/powerpoint/2010/main" val="4104936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0E893-7F9C-7B65-4546-F74D9CD5B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F0745DE-AD65-16EA-9D5F-160AF14831F8}"/>
              </a:ext>
            </a:extLst>
          </p:cNvPr>
          <p:cNvSpPr txBox="1"/>
          <p:nvPr/>
        </p:nvSpPr>
        <p:spPr>
          <a:xfrm>
            <a:off x="1042416" y="901452"/>
            <a:ext cx="83621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Core Idea (Intuition)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Think of social media: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→ follow → your friend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Your friend → likes → a post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That post → belongs to → a topic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naturally a graph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not a table.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C65B778-7039-6828-A88B-096C16F546C3}"/>
              </a:ext>
            </a:extLst>
          </p:cNvPr>
          <p:cNvSpPr/>
          <p:nvPr/>
        </p:nvSpPr>
        <p:spPr>
          <a:xfrm>
            <a:off x="1417320" y="4617720"/>
            <a:ext cx="1353312" cy="9509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You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AF522B1-2673-8467-5BBF-49BE56B24A45}"/>
              </a:ext>
            </a:extLst>
          </p:cNvPr>
          <p:cNvSpPr/>
          <p:nvPr/>
        </p:nvSpPr>
        <p:spPr>
          <a:xfrm>
            <a:off x="3791712" y="4706112"/>
            <a:ext cx="2023872" cy="9509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Fredo</a:t>
            </a:r>
          </a:p>
          <a:p>
            <a:pPr algn="ctr"/>
            <a:r>
              <a:rPr lang="en-US" sz="2800" dirty="0"/>
              <a:t>(Friend)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63313806-64CE-069D-474A-2A5519CF224C}"/>
              </a:ext>
            </a:extLst>
          </p:cNvPr>
          <p:cNvSpPr/>
          <p:nvPr/>
        </p:nvSpPr>
        <p:spPr>
          <a:xfrm>
            <a:off x="2889504" y="4974336"/>
            <a:ext cx="749808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7A2013B-BBDA-D424-B522-6CD50DD3B47E}"/>
              </a:ext>
            </a:extLst>
          </p:cNvPr>
          <p:cNvSpPr/>
          <p:nvPr/>
        </p:nvSpPr>
        <p:spPr>
          <a:xfrm>
            <a:off x="7007352" y="4715256"/>
            <a:ext cx="2023872" cy="9509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Post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653BA85-B94E-9777-4EEA-A440E25AA5CF}"/>
              </a:ext>
            </a:extLst>
          </p:cNvPr>
          <p:cNvSpPr/>
          <p:nvPr/>
        </p:nvSpPr>
        <p:spPr>
          <a:xfrm>
            <a:off x="6036564" y="4974336"/>
            <a:ext cx="749808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98CC8A8-43DF-A148-8574-DEA20DACDB36}"/>
              </a:ext>
            </a:extLst>
          </p:cNvPr>
          <p:cNvSpPr/>
          <p:nvPr/>
        </p:nvSpPr>
        <p:spPr>
          <a:xfrm>
            <a:off x="10024872" y="4631436"/>
            <a:ext cx="2023872" cy="95097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Stocks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74890C8F-F060-5BD4-677F-BCEE460A70C8}"/>
              </a:ext>
            </a:extLst>
          </p:cNvPr>
          <p:cNvSpPr/>
          <p:nvPr/>
        </p:nvSpPr>
        <p:spPr>
          <a:xfrm>
            <a:off x="9153144" y="5079492"/>
            <a:ext cx="749808" cy="265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291F78-CFBC-155C-CFB9-7FAA9D025CFF}"/>
              </a:ext>
            </a:extLst>
          </p:cNvPr>
          <p:cNvSpPr txBox="1"/>
          <p:nvPr/>
        </p:nvSpPr>
        <p:spPr>
          <a:xfrm>
            <a:off x="2666685" y="4512671"/>
            <a:ext cx="11222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Follows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CDA9414-6804-8464-1994-88915D945373}"/>
              </a:ext>
            </a:extLst>
          </p:cNvPr>
          <p:cNvSpPr txBox="1"/>
          <p:nvPr/>
        </p:nvSpPr>
        <p:spPr>
          <a:xfrm>
            <a:off x="5784630" y="4518767"/>
            <a:ext cx="788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Likes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3DEDC61-D9D7-EB39-3802-C83B0DA505A5}"/>
              </a:ext>
            </a:extLst>
          </p:cNvPr>
          <p:cNvSpPr txBox="1"/>
          <p:nvPr/>
        </p:nvSpPr>
        <p:spPr>
          <a:xfrm>
            <a:off x="8778059" y="4475279"/>
            <a:ext cx="14945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Belongs to</a:t>
            </a:r>
          </a:p>
        </p:txBody>
      </p:sp>
    </p:spTree>
    <p:extLst>
      <p:ext uri="{BB962C8B-B14F-4D97-AF65-F5344CB8AC3E}">
        <p14:creationId xmlns:p14="http://schemas.microsoft.com/office/powerpoint/2010/main" val="1955919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FF0D5-D219-B491-9B65-F647D9E9B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9B09B9-B553-1672-86C9-B105DF8AC0BB}"/>
              </a:ext>
            </a:extLst>
          </p:cNvPr>
          <p:cNvSpPr txBox="1"/>
          <p:nvPr/>
        </p:nvSpPr>
        <p:spPr>
          <a:xfrm>
            <a:off x="1618488" y="1401032"/>
            <a:ext cx="83621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Basic Components of a Graph DB</a:t>
            </a:r>
          </a:p>
        </p:txBody>
      </p:sp>
    </p:spTree>
    <p:extLst>
      <p:ext uri="{BB962C8B-B14F-4D97-AF65-F5344CB8AC3E}">
        <p14:creationId xmlns:p14="http://schemas.microsoft.com/office/powerpoint/2010/main" val="6777283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644EE-1EF6-3983-2656-03DFA273B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4FC7FFC-5144-36AE-4D2A-B29E05728C43}"/>
              </a:ext>
            </a:extLst>
          </p:cNvPr>
          <p:cNvSpPr txBox="1"/>
          <p:nvPr/>
        </p:nvSpPr>
        <p:spPr>
          <a:xfrm>
            <a:off x="192024" y="331184"/>
            <a:ext cx="83621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Nodes (Entities)</a:t>
            </a:r>
          </a:p>
          <a:p>
            <a:pPr marL="457200" indent="-457200">
              <a:buAutoNum type="arabicPeriod"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 objects  -  Example: Person, Product, City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Ash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Node: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Delhi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C9C4981-71A4-F4DA-0BDB-E4732FE304E8}"/>
              </a:ext>
            </a:extLst>
          </p:cNvPr>
          <p:cNvSpPr/>
          <p:nvPr/>
        </p:nvSpPr>
        <p:spPr>
          <a:xfrm>
            <a:off x="722376" y="3008840"/>
            <a:ext cx="2679192" cy="14534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Ash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5272EC6-C67F-EA6F-247E-564769059879}"/>
              </a:ext>
            </a:extLst>
          </p:cNvPr>
          <p:cNvSpPr/>
          <p:nvPr/>
        </p:nvSpPr>
        <p:spPr>
          <a:xfrm>
            <a:off x="6440426" y="3429000"/>
            <a:ext cx="2868166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Python Course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747E2A9-4690-8CE6-CEBF-FEB1671E781B}"/>
              </a:ext>
            </a:extLst>
          </p:cNvPr>
          <p:cNvSpPr/>
          <p:nvPr/>
        </p:nvSpPr>
        <p:spPr>
          <a:xfrm>
            <a:off x="6821424" y="5340632"/>
            <a:ext cx="1591056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Delhi</a:t>
            </a:r>
          </a:p>
        </p:txBody>
      </p:sp>
    </p:spTree>
    <p:extLst>
      <p:ext uri="{BB962C8B-B14F-4D97-AF65-F5344CB8AC3E}">
        <p14:creationId xmlns:p14="http://schemas.microsoft.com/office/powerpoint/2010/main" val="268254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2DBA7-B16F-2E9F-9E8C-D916F0B21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866BA6E-8A83-2CCF-9BA8-6FBB1A4417CF}"/>
              </a:ext>
            </a:extLst>
          </p:cNvPr>
          <p:cNvSpPr txBox="1"/>
          <p:nvPr/>
        </p:nvSpPr>
        <p:spPr>
          <a:xfrm>
            <a:off x="192024" y="331184"/>
            <a:ext cx="83621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Relationships (Edges)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Define how nodes are connected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They are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first-class citizens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(very important!)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Ash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TEACHES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Python Course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Ash →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LIVES_IN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→ Delhi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C3257FE-A44F-AA81-1768-D48C7FC9242C}"/>
              </a:ext>
            </a:extLst>
          </p:cNvPr>
          <p:cNvSpPr/>
          <p:nvPr/>
        </p:nvSpPr>
        <p:spPr>
          <a:xfrm>
            <a:off x="722376" y="3008840"/>
            <a:ext cx="2679192" cy="14534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Ash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845B29-7BDB-99E5-D8B3-117C97BE827B}"/>
              </a:ext>
            </a:extLst>
          </p:cNvPr>
          <p:cNvSpPr/>
          <p:nvPr/>
        </p:nvSpPr>
        <p:spPr>
          <a:xfrm>
            <a:off x="6440426" y="3429000"/>
            <a:ext cx="2868166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Python Course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E499FEC1-708E-E774-5B7F-69C872D0C6F6}"/>
              </a:ext>
            </a:extLst>
          </p:cNvPr>
          <p:cNvSpPr/>
          <p:nvPr/>
        </p:nvSpPr>
        <p:spPr>
          <a:xfrm>
            <a:off x="4800600" y="3785616"/>
            <a:ext cx="95097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4CFDA6-1860-A432-E2F3-E3700DD74B61}"/>
              </a:ext>
            </a:extLst>
          </p:cNvPr>
          <p:cNvSpPr txBox="1"/>
          <p:nvPr/>
        </p:nvSpPr>
        <p:spPr>
          <a:xfrm>
            <a:off x="4367403" y="3018164"/>
            <a:ext cx="18173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TEACHES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3CD2358-A0FA-9E44-D28D-A66ECF864130}"/>
              </a:ext>
            </a:extLst>
          </p:cNvPr>
          <p:cNvSpPr/>
          <p:nvPr/>
        </p:nvSpPr>
        <p:spPr>
          <a:xfrm>
            <a:off x="6821424" y="5340632"/>
            <a:ext cx="1591056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Delhi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99CC68BD-7F9C-1E39-97BC-B2D86A5002AF}"/>
              </a:ext>
            </a:extLst>
          </p:cNvPr>
          <p:cNvSpPr/>
          <p:nvPr/>
        </p:nvSpPr>
        <p:spPr>
          <a:xfrm rot="1414725">
            <a:off x="4271159" y="5001987"/>
            <a:ext cx="227252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150A6F2-F838-B06E-D636-EE3D88AD9920}"/>
              </a:ext>
            </a:extLst>
          </p:cNvPr>
          <p:cNvSpPr txBox="1"/>
          <p:nvPr/>
        </p:nvSpPr>
        <p:spPr>
          <a:xfrm>
            <a:off x="4120514" y="5713481"/>
            <a:ext cx="18139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LIVES_IN</a:t>
            </a:r>
          </a:p>
        </p:txBody>
      </p:sp>
    </p:spTree>
    <p:extLst>
      <p:ext uri="{BB962C8B-B14F-4D97-AF65-F5344CB8AC3E}">
        <p14:creationId xmlns:p14="http://schemas.microsoft.com/office/powerpoint/2010/main" val="20093173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DCAD47-E728-E3B5-F9E6-5BD103518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3AD63E1-85D4-E65E-544E-D370AE6D9C80}"/>
              </a:ext>
            </a:extLst>
          </p:cNvPr>
          <p:cNvSpPr txBox="1"/>
          <p:nvPr/>
        </p:nvSpPr>
        <p:spPr>
          <a:xfrm>
            <a:off x="192024" y="331184"/>
            <a:ext cx="836218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Properties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Additional information about nodes/relationships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👉 Example: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 (Ash): {age: 30, role: Trainer}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Relationship: { since: 2022 }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2D2026F-3363-24D3-DC72-F73E81B0E9CB}"/>
              </a:ext>
            </a:extLst>
          </p:cNvPr>
          <p:cNvSpPr/>
          <p:nvPr/>
        </p:nvSpPr>
        <p:spPr>
          <a:xfrm>
            <a:off x="722376" y="3008840"/>
            <a:ext cx="2679192" cy="14534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Ash</a:t>
            </a:r>
          </a:p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{age: 30,</a:t>
            </a:r>
          </a:p>
          <a:p>
            <a:pPr algn="ctr"/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role: Trainer}</a:t>
            </a:r>
            <a:endParaRPr 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76705A4-DC33-38B1-D4D8-EA0263F66F91}"/>
              </a:ext>
            </a:extLst>
          </p:cNvPr>
          <p:cNvSpPr/>
          <p:nvPr/>
        </p:nvSpPr>
        <p:spPr>
          <a:xfrm>
            <a:off x="6440426" y="3429000"/>
            <a:ext cx="2868166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Python Course</a:t>
            </a:r>
          </a:p>
          <a:p>
            <a:pPr algn="ctr"/>
            <a:r>
              <a:rPr lang="en-US" sz="2400" dirty="0"/>
              <a:t>{Cost: 300 }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0E79E258-756F-FF7F-AAC2-925933B79093}"/>
              </a:ext>
            </a:extLst>
          </p:cNvPr>
          <p:cNvSpPr/>
          <p:nvPr/>
        </p:nvSpPr>
        <p:spPr>
          <a:xfrm>
            <a:off x="4800600" y="3785616"/>
            <a:ext cx="95097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255465-1211-E2AF-90D2-7DB5E0A9A353}"/>
              </a:ext>
            </a:extLst>
          </p:cNvPr>
          <p:cNvSpPr txBox="1"/>
          <p:nvPr/>
        </p:nvSpPr>
        <p:spPr>
          <a:xfrm>
            <a:off x="4367403" y="3018164"/>
            <a:ext cx="18173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TEACHES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{since: 2022}</a:t>
            </a:r>
            <a:endParaRPr lang="en-US" dirty="0">
              <a:highlight>
                <a:srgbClr val="800000"/>
              </a:highlight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CABCFF-49C2-15E7-E992-5BB07A246A4F}"/>
              </a:ext>
            </a:extLst>
          </p:cNvPr>
          <p:cNvSpPr/>
          <p:nvPr/>
        </p:nvSpPr>
        <p:spPr>
          <a:xfrm>
            <a:off x="6821424" y="5340632"/>
            <a:ext cx="1591056" cy="103327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Delhi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BF24E424-0AE1-17D5-BDF7-DE165A4294A1}"/>
              </a:ext>
            </a:extLst>
          </p:cNvPr>
          <p:cNvSpPr/>
          <p:nvPr/>
        </p:nvSpPr>
        <p:spPr>
          <a:xfrm rot="1414725">
            <a:off x="4271159" y="5001987"/>
            <a:ext cx="2272526" cy="47548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D0E11D-84A8-933E-D5D3-E3DC93DB236E}"/>
              </a:ext>
            </a:extLst>
          </p:cNvPr>
          <p:cNvSpPr txBox="1"/>
          <p:nvPr/>
        </p:nvSpPr>
        <p:spPr>
          <a:xfrm>
            <a:off x="4120514" y="5713481"/>
            <a:ext cx="181394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LIVES_IN</a:t>
            </a:r>
          </a:p>
          <a:p>
            <a:pPr algn="ctr"/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  <a:highlight>
                  <a:srgbClr val="800000"/>
                </a:highlight>
              </a:rPr>
              <a:t>{since: 1998}</a:t>
            </a:r>
            <a:endParaRPr lang="en-US" dirty="0">
              <a:highlight>
                <a:srgbClr val="80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572930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4D031-8990-B1BC-F83A-48A2A0F9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228D394-F464-2836-2C33-38A70D0A243A}"/>
              </a:ext>
            </a:extLst>
          </p:cNvPr>
          <p:cNvSpPr txBox="1"/>
          <p:nvPr/>
        </p:nvSpPr>
        <p:spPr>
          <a:xfrm>
            <a:off x="192024" y="331184"/>
            <a:ext cx="566013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Query example: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Network + Content Graph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Nodes: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Person: Ash, Ravi, Neha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Post: Post1, Post2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City: Delhi, Tokyo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Topic: AI, Travel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797C98-9965-ED3F-9993-7389712A5CC3}"/>
              </a:ext>
            </a:extLst>
          </p:cNvPr>
          <p:cNvSpPr txBox="1"/>
          <p:nvPr/>
        </p:nvSpPr>
        <p:spPr>
          <a:xfrm>
            <a:off x="192024" y="5283446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Suppose you want to answer following: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Find topics liked by people Ash follows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C2F19D-BA93-FAE5-FC1E-CCDE6E508696}"/>
              </a:ext>
            </a:extLst>
          </p:cNvPr>
          <p:cNvSpPr txBox="1"/>
          <p:nvPr/>
        </p:nvSpPr>
        <p:spPr>
          <a:xfrm>
            <a:off x="7379208" y="887123"/>
            <a:ext cx="490118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Relationships: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(Ash) ---FOLLOWS---&gt; (Ravi)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(Ash) ---FOLLOWS---&gt; (Neha)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(Ravi) ---FOLLOWS---&gt; (Neha)</a:t>
            </a: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(Ash) ---CREATED---&gt; (Post1)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(Ravi) ---CREATED---&gt; (Post2)</a:t>
            </a: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(Post1) ---ABOUT---&gt; (AI)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(Post2) ---ABOUT---&gt; (Travel)</a:t>
            </a: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(Neha) ---LIKES---&gt; (Post1)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(Ash) ---LIKES---&gt; (Post2)</a:t>
            </a:r>
          </a:p>
          <a:p>
            <a:pPr rtl="0"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  <a:latin typeface="Courier New" panose="02070309020205020404" pitchFamily="49" charset="0"/>
            </a:endParaRP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(Ash) ---LIVES_IN---&gt; (Delhi)</a:t>
            </a:r>
          </a:p>
          <a:p>
            <a:pPr rtl="0"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urier New" panose="02070309020205020404" pitchFamily="49" charset="0"/>
              </a:rPr>
              <a:t>(Ravi) ---LIVES_IN---&gt; (Tokyo)</a:t>
            </a:r>
          </a:p>
        </p:txBody>
      </p:sp>
    </p:spTree>
    <p:extLst>
      <p:ext uri="{BB962C8B-B14F-4D97-AF65-F5344CB8AC3E}">
        <p14:creationId xmlns:p14="http://schemas.microsoft.com/office/powerpoint/2010/main" val="1966452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20EC3-D3C2-A977-B3F9-83643DBF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17C54C-D7FF-26D3-9D34-334248B7CC57}"/>
              </a:ext>
            </a:extLst>
          </p:cNvPr>
          <p:cNvSpPr txBox="1"/>
          <p:nvPr/>
        </p:nvSpPr>
        <p:spPr>
          <a:xfrm>
            <a:off x="7653528" y="603659"/>
            <a:ext cx="5166360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// 1. Create the People (Pink Nodes)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ash:Person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'Ash'})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ravi:Person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'Ravi'})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neha:Person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'Neha'})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// 2. Create the Cities (Blue Nodes)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delhi:City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'Delhi'})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tokyo:City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'Tokyo'})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// 3. Create the Posts (Green Nodes)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(post1:Post {name: 'Post1'})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(post2:Post {name: 'Post2'})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// 4. Create the Topics (Yellow Nodes)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ai:Topic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'AI'})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travel:Topic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'Travel'})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87867-27DA-0FD5-0ABC-EBFF826EE92F}"/>
              </a:ext>
            </a:extLst>
          </p:cNvPr>
          <p:cNvSpPr txBox="1"/>
          <p:nvPr/>
        </p:nvSpPr>
        <p:spPr>
          <a:xfrm>
            <a:off x="406908" y="567663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STEP1: Create Nodes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9C9994-3724-135B-E0F7-74CFFEF62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2" y="1"/>
            <a:ext cx="7248166" cy="46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984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D2822-B526-60A3-36D5-EB04325AA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B47A1E-21BE-4262-DC51-2A72F5E38E6E}"/>
              </a:ext>
            </a:extLst>
          </p:cNvPr>
          <p:cNvSpPr txBox="1"/>
          <p:nvPr/>
        </p:nvSpPr>
        <p:spPr>
          <a:xfrm>
            <a:off x="7516368" y="731675"/>
            <a:ext cx="516636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// 5. Connect the Relationships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(ash)-[: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Lives_in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]-&gt;(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delhi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(ash)-[:Follows]-&gt;(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ravi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(ash)-[:Follows]-&gt;(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neha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(ash)-[:Created]-&gt;(post1)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(ash)-[:Likes]-&gt;(post2)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ravi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)-[:Follows]-&gt;(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neha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ravi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)-[:Created]-&gt;(post2)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ravi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Lives_in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]-&gt;(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tokyo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</a:t>
            </a:r>
            <a:r>
              <a:rPr lang="en-US" sz="20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neha</a:t>
            </a: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)-[:Likes]-&gt;(post1)</a:t>
            </a:r>
          </a:p>
          <a:p>
            <a:pPr>
              <a:buNone/>
            </a:pPr>
            <a:endParaRPr lang="en-US" sz="20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(post1)-[:About]-&gt;(ai)</a:t>
            </a:r>
          </a:p>
          <a:p>
            <a:pPr>
              <a:buNone/>
            </a:pPr>
            <a:r>
              <a:rPr lang="en-US" sz="2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CREATE (post2)-[:About]-&gt;(travel)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E2BA8-1CD3-5CD7-AC38-187956145B73}"/>
              </a:ext>
            </a:extLst>
          </p:cNvPr>
          <p:cNvSpPr txBox="1"/>
          <p:nvPr/>
        </p:nvSpPr>
        <p:spPr>
          <a:xfrm>
            <a:off x="425196" y="5630918"/>
            <a:ext cx="61904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STEP2: Create relationships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34049E-52EB-C0F5-19A3-7159FD893D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2" y="1"/>
            <a:ext cx="7248166" cy="46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48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D88A5-4913-1606-644D-66939E52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A6E635-C1CD-6E5A-441B-A8966EFB4DD1}"/>
              </a:ext>
            </a:extLst>
          </p:cNvPr>
          <p:cNvSpPr txBox="1"/>
          <p:nvPr/>
        </p:nvSpPr>
        <p:spPr>
          <a:xfrm>
            <a:off x="406908" y="5676638"/>
            <a:ext cx="619048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Q: Find topics liked by people Ash follows 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 (Visually): AI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DC3EA1-01A7-9254-7775-0801CA7F0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92" y="1"/>
            <a:ext cx="7248166" cy="465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7841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E8007-FD01-AE27-11B1-44FFAE3E3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7509A48-5C1C-31CF-2B24-9DED63E06D08}"/>
              </a:ext>
            </a:extLst>
          </p:cNvPr>
          <p:cNvSpPr txBox="1"/>
          <p:nvPr/>
        </p:nvSpPr>
        <p:spPr>
          <a:xfrm>
            <a:off x="137160" y="164360"/>
            <a:ext cx="90159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Query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graph databases like Neo4j, you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Cypher query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Q: Find out where Ash lives.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p:Person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'Ash'})-[: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Lives_in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c:City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c.name AS City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Delhi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54CDC4-9EDC-D190-D444-B49D3DCAD7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995" y="2825496"/>
            <a:ext cx="6279845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3408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62E74-DA92-05FB-1776-C0EB85BE2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CAC1BD-FE13-6E4C-1150-D75DC1D0FEB4}"/>
              </a:ext>
            </a:extLst>
          </p:cNvPr>
          <p:cNvSpPr txBox="1"/>
          <p:nvPr/>
        </p:nvSpPr>
        <p:spPr>
          <a:xfrm>
            <a:off x="137160" y="164360"/>
            <a:ext cx="90159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Query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graph databases like Neo4j, you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Cypher query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Q: Find all the people Ash follows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p:Person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'Ash'})-[:Follows]-&gt;(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p:Person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p.name AS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FollowedPerson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Ravi and Neha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EFBE84-5012-735D-A516-6128D7C49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995" y="2825496"/>
            <a:ext cx="6279845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1447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81DD-0B24-17F1-CBD9-CE3413F1E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144203A-D9EE-64BF-CA52-E9761ACF7E5F}"/>
              </a:ext>
            </a:extLst>
          </p:cNvPr>
          <p:cNvSpPr txBox="1"/>
          <p:nvPr/>
        </p:nvSpPr>
        <p:spPr>
          <a:xfrm>
            <a:off x="137160" y="164360"/>
            <a:ext cx="1078992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Query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graph databases like Neo4j, you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Cypher query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Q: what kind of post Ash likes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p:Person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'Ash'})-[:Likes]-&gt;(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post:Post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)-[:About]-&gt;(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t:Topic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t.name AS Topic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Travel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C0B1F2-BA03-A0CD-8DAD-7B3FA4BF1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995" y="2825496"/>
            <a:ext cx="6279845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881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6FCDF-1E3E-AE96-9963-B910F2BFB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A63B7CF-27EF-E10F-E4CF-0C65959701F0}"/>
              </a:ext>
            </a:extLst>
          </p:cNvPr>
          <p:cNvSpPr txBox="1"/>
          <p:nvPr/>
        </p:nvSpPr>
        <p:spPr>
          <a:xfrm>
            <a:off x="137160" y="164360"/>
            <a:ext cx="1205484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Query Example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graph databases like Neo4j, you use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Cypher query language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Q: Find topics liked by people Ash follows ?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p:Person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{name: 'Ash'})-[:Follows]-&gt;(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f:Person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)-[:Likes]-&gt;(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post:Post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)-[:About]-&gt;(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t:Topic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RETURN DISTINCT t.name AS Topic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Answer: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A41FC6-9539-B25D-E101-02D3F3852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995" y="2825496"/>
            <a:ext cx="6279845" cy="403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49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E9BE-F493-2B54-E8FD-512F9CC794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2C6E4FA-7879-1E73-CE86-66A185EF3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841409"/>
              </p:ext>
            </p:extLst>
          </p:nvPr>
        </p:nvGraphicFramePr>
        <p:xfrm>
          <a:off x="563880" y="1751870"/>
          <a:ext cx="10515600" cy="2286000"/>
        </p:xfrm>
        <a:graphic>
          <a:graphicData uri="http://schemas.openxmlformats.org/drawingml/2006/table">
            <a:tbl>
              <a:tblPr/>
              <a:tblGrid>
                <a:gridCol w="2380488">
                  <a:extLst>
                    <a:ext uri="{9D8B030D-6E8A-4147-A177-3AD203B41FA5}">
                      <a16:colId xmlns:a16="http://schemas.microsoft.com/office/drawing/2014/main" val="1351662544"/>
                    </a:ext>
                  </a:extLst>
                </a:gridCol>
                <a:gridCol w="4261104">
                  <a:extLst>
                    <a:ext uri="{9D8B030D-6E8A-4147-A177-3AD203B41FA5}">
                      <a16:colId xmlns:a16="http://schemas.microsoft.com/office/drawing/2014/main" val="1365095997"/>
                    </a:ext>
                  </a:extLst>
                </a:gridCol>
                <a:gridCol w="3874008">
                  <a:extLst>
                    <a:ext uri="{9D8B030D-6E8A-4147-A177-3AD203B41FA5}">
                      <a16:colId xmlns:a16="http://schemas.microsoft.com/office/drawing/2014/main" val="6883841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Graph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u="sng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Relational DB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15274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Nodes &amp; Edges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Tables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248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Relationships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Direct &amp; 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Via JOINs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8663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Fast for connections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Slow for complex joins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51962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Use Case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Networks, recommendations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Structured data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398239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0D64B0D-F331-5CF4-38DA-39DA15009DAA}"/>
              </a:ext>
            </a:extLst>
          </p:cNvPr>
          <p:cNvSpPr txBox="1"/>
          <p:nvPr/>
        </p:nvSpPr>
        <p:spPr>
          <a:xfrm>
            <a:off x="859536" y="709875"/>
            <a:ext cx="83439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Comparison: Graph Databases vs Relation DB</a:t>
            </a:r>
          </a:p>
        </p:txBody>
      </p:sp>
    </p:spTree>
    <p:extLst>
      <p:ext uri="{BB962C8B-B14F-4D97-AF65-F5344CB8AC3E}">
        <p14:creationId xmlns:p14="http://schemas.microsoft.com/office/powerpoint/2010/main" val="780506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FDE64-B147-12CE-9BB8-04F7C4B0B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96F18C-019C-9579-52DD-ACF2F0A2D05F}"/>
              </a:ext>
            </a:extLst>
          </p:cNvPr>
          <p:cNvSpPr txBox="1"/>
          <p:nvPr/>
        </p:nvSpPr>
        <p:spPr>
          <a:xfrm>
            <a:off x="859536" y="709875"/>
            <a:ext cx="83439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6. Why Graph Databases Are Powerful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a. Relationship-heavy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networks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Fraud detection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systems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b. Faster queries for connections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expensive JOINs </a:t>
            </a:r>
          </a:p>
        </p:txBody>
      </p:sp>
    </p:spTree>
    <p:extLst>
      <p:ext uri="{BB962C8B-B14F-4D97-AF65-F5344CB8AC3E}">
        <p14:creationId xmlns:p14="http://schemas.microsoft.com/office/powerpoint/2010/main" val="14863329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0F53E-BB46-DC58-4679-EBA97A5C8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2A2E83-E46F-10A2-E0E8-A8B487F677B4}"/>
              </a:ext>
            </a:extLst>
          </p:cNvPr>
          <p:cNvSpPr txBox="1"/>
          <p:nvPr/>
        </p:nvSpPr>
        <p:spPr>
          <a:xfrm>
            <a:off x="859536" y="709875"/>
            <a:ext cx="83439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7. Real-World Use Cases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Social Media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Facebook uses graph-like structures for connections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When Should You Use Graph DB?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it when: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highly connected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need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fast relationship queries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are building: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Recommendation engines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Chatbots (RAG + knowledge graph 🔥)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Network analysis systems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5325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1717B-624E-09F7-87BA-A6E009A70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5DFFEA0-2958-DC67-0D2A-3C162823705C}"/>
              </a:ext>
            </a:extLst>
          </p:cNvPr>
          <p:cNvSpPr txBox="1"/>
          <p:nvPr/>
        </p:nvSpPr>
        <p:spPr>
          <a:xfrm>
            <a:off x="859536" y="709875"/>
            <a:ext cx="83439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8. Popular Graph Databases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Neo4j (most popular)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Amazon Neptune </a:t>
            </a:r>
          </a:p>
        </p:txBody>
      </p:sp>
    </p:spTree>
    <p:extLst>
      <p:ext uri="{BB962C8B-B14F-4D97-AF65-F5344CB8AC3E}">
        <p14:creationId xmlns:p14="http://schemas.microsoft.com/office/powerpoint/2010/main" val="25059509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FA39A-1B9F-B70E-2C30-2DD4EB4F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46311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46EE9-FF52-444E-D66D-C1A35AA863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C4162-5614-3830-1ED3-E415B4C8C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D4FBDF-8D62-FF8C-2958-F3850C64BE2B}"/>
              </a:ext>
            </a:extLst>
          </p:cNvPr>
          <p:cNvSpPr txBox="1"/>
          <p:nvPr/>
        </p:nvSpPr>
        <p:spPr>
          <a:xfrm>
            <a:off x="274320" y="933117"/>
            <a:ext cx="116586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Ffnbksdfd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Fdslj;f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Fl;ds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57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1289</TotalTime>
  <Words>1101</Words>
  <Application>Microsoft Office PowerPoint</Application>
  <PresentationFormat>Widescreen</PresentationFormat>
  <Paragraphs>219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198</cp:revision>
  <dcterms:created xsi:type="dcterms:W3CDTF">2025-09-22T02:44:38Z</dcterms:created>
  <dcterms:modified xsi:type="dcterms:W3CDTF">2026-07-23T19:23:05Z</dcterms:modified>
</cp:coreProperties>
</file>